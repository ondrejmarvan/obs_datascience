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_rels/notesSlide9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8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CV Balanced Accuracy</c:v>
                </c:pt>
              </c:strCache>
            </c:strRef>
          </c:tx>
          <c:spPr>
            <a:solidFill>
              <a:srgbClr val="e94560"/>
            </a:solidFill>
            <a:ln w="0">
              <a:noFill/>
            </a:ln>
          </c:spPr>
          <c:invertIfNegative val="0"/>
          <c:dLbls>
            <c:txPr>
              <a:bodyPr wrap="squar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;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Logistic Reg.</c:v>
                </c:pt>
                <c:pt idx="1">
                  <c:v>LinearSVC</c:v>
                </c:pt>
                <c:pt idx="2">
                  <c:v>KNN</c:v>
                </c:pt>
                <c:pt idx="3">
                  <c:v>Dummy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0.6608</c:v>
                </c:pt>
                <c:pt idx="1">
                  <c:v>0.6566</c:v>
                </c:pt>
                <c:pt idx="2">
                  <c:v>0.5124</c:v>
                </c:pt>
                <c:pt idx="3">
                  <c:v>0.5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Validation Balanced Accuracy</c:v>
                </c:pt>
              </c:strCache>
            </c:strRef>
          </c:tx>
          <c:spPr>
            <a:solidFill>
              <a:srgbClr val="e88ea0"/>
            </a:solidFill>
            <a:ln w="0">
              <a:noFill/>
            </a:ln>
          </c:spPr>
          <c:invertIfNegative val="0"/>
          <c:dLbls>
            <c:txPr>
              <a:bodyPr wrap="squar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;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Logistic Reg.</c:v>
                </c:pt>
                <c:pt idx="1">
                  <c:v>LinearSVC</c:v>
                </c:pt>
                <c:pt idx="2">
                  <c:v>KNN</c:v>
                </c:pt>
                <c:pt idx="3">
                  <c:v>Dummy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4"/>
                <c:pt idx="0">
                  <c:v>0.6598</c:v>
                </c:pt>
                <c:pt idx="1">
                  <c:v>0.6565</c:v>
                </c:pt>
                <c:pt idx="2">
                  <c:v>0.5084</c:v>
                </c:pt>
                <c:pt idx="3">
                  <c:v>0.5</c:v>
                </c:pt>
              </c:numCache>
            </c:numRef>
          </c:val>
        </c:ser>
        <c:gapWidth val="150"/>
        <c:overlap val="0"/>
        <c:axId val="59173864"/>
        <c:axId val="20995657"/>
      </c:barChart>
      <c:catAx>
        <c:axId val="5917386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pc="-1" strike="noStrike">
                <a:solidFill>
                  <a:srgbClr val="aabbcc"/>
                </a:solidFill>
                <a:latin typeface="Arial"/>
              </a:defRPr>
            </a:pPr>
          </a:p>
        </c:txPr>
        <c:crossAx val="20995657"/>
        <c:crosses val="autoZero"/>
        <c:auto val="1"/>
        <c:lblAlgn val="ctr"/>
        <c:lblOffset val="100"/>
        <c:noMultiLvlLbl val="0"/>
      </c:catAx>
      <c:valAx>
        <c:axId val="20995657"/>
        <c:scaling>
          <c:orientation val="minMax"/>
          <c:max val="0.72"/>
          <c:min val="0.45"/>
        </c:scaling>
        <c:delete val="0"/>
        <c:axPos val="l"/>
        <c:majorGridlines>
          <c:spPr>
            <a:ln w="6480">
              <a:solidFill>
                <a:srgbClr val="2a3f5a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pc="-1" strike="noStrike">
                <a:solidFill>
                  <a:srgbClr val="aabbcc"/>
                </a:solidFill>
                <a:latin typeface="Arial"/>
              </a:defRPr>
            </a:pPr>
          </a:p>
        </c:txPr>
        <c:crossAx val="59173864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b="0" sz="1000" spc="-1" strike="noStrike">
              <a:solidFill>
                <a:srgbClr val="000000"/>
              </a:solidFill>
              <a:latin typeface="Calibri"/>
            </a:defRPr>
          </a:pPr>
        </a:p>
      </c:txPr>
    </c:legend>
    <c:plotVisOnly val="1"/>
    <c:dispBlanksAs val="span"/>
  </c:chart>
  <c:spPr>
    <a:solidFill>
      <a:srgbClr val="1f2f47"/>
    </a:solidFill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CV RMSE (USD)</c:v>
                </c:pt>
              </c:strCache>
            </c:strRef>
          </c:tx>
          <c:spPr>
            <a:solidFill>
              <a:srgbClr val="0f9b8e"/>
            </a:solidFill>
            <a:ln w="0">
              <a:noFill/>
            </a:ln>
          </c:spPr>
          <c:invertIfNegative val="0"/>
          <c:dLbls>
            <c:numFmt formatCode="\$#,##0" sourceLinked="0"/>
            <c:txPr>
              <a:bodyPr wrap="square"/>
              <a:lstStyle/>
              <a:p>
                <a:pPr>
                  <a:defRPr b="0" sz="900" spc="-1" strike="noStrik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3"/>
                <c:pt idx="0">
                  <c:v>Elastic Net</c:v>
                </c:pt>
                <c:pt idx="1">
                  <c:v>KNN Regressor</c:v>
                </c:pt>
                <c:pt idx="2">
                  <c:v>LinearSVR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3"/>
                <c:pt idx="0">
                  <c:v>90024</c:v>
                </c:pt>
                <c:pt idx="1">
                  <c:v>92536</c:v>
                </c:pt>
                <c:pt idx="2">
                  <c:v>93430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Val RMSE (USD)</c:v>
                </c:pt>
              </c:strCache>
            </c:strRef>
          </c:tx>
          <c:spPr>
            <a:solidFill>
              <a:srgbClr val="4fc8bd"/>
            </a:solidFill>
            <a:ln w="0">
              <a:noFill/>
            </a:ln>
          </c:spPr>
          <c:invertIfNegative val="0"/>
          <c:dLbls>
            <c:numFmt formatCode="\$#,##0" sourceLinked="0"/>
            <c:txPr>
              <a:bodyPr wrap="square"/>
              <a:lstStyle/>
              <a:p>
                <a:pPr>
                  <a:defRPr b="0" sz="900" spc="-1" strike="noStrik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3"/>
                <c:pt idx="0">
                  <c:v>Elastic Net</c:v>
                </c:pt>
                <c:pt idx="1">
                  <c:v>KNN Regressor</c:v>
                </c:pt>
                <c:pt idx="2">
                  <c:v>LinearSVR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3"/>
                <c:pt idx="0">
                  <c:v>66658</c:v>
                </c:pt>
                <c:pt idx="1">
                  <c:v>68341</c:v>
                </c:pt>
                <c:pt idx="2">
                  <c:v>67139</c:v>
                </c:pt>
              </c:numCache>
            </c:numRef>
          </c:val>
        </c:ser>
        <c:gapWidth val="150"/>
        <c:overlap val="0"/>
        <c:axId val="93042650"/>
        <c:axId val="41700534"/>
      </c:barChart>
      <c:catAx>
        <c:axId val="93042650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pc="-1" strike="noStrike">
                <a:solidFill>
                  <a:srgbClr val="aabbcc"/>
                </a:solidFill>
                <a:latin typeface="Arial"/>
              </a:defRPr>
            </a:pPr>
          </a:p>
        </c:txPr>
        <c:crossAx val="41700534"/>
        <c:crosses val="autoZero"/>
        <c:auto val="1"/>
        <c:lblAlgn val="ctr"/>
        <c:lblOffset val="100"/>
        <c:noMultiLvlLbl val="0"/>
      </c:catAx>
      <c:valAx>
        <c:axId val="41700534"/>
        <c:scaling>
          <c:orientation val="minMax"/>
          <c:max val="100000"/>
          <c:min val="55000"/>
        </c:scaling>
        <c:delete val="0"/>
        <c:axPos val="l"/>
        <c:majorGridlines>
          <c:spPr>
            <a:ln w="6480">
              <a:solidFill>
                <a:srgbClr val="2a3f5a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pc="-1" strike="noStrike">
                <a:solidFill>
                  <a:srgbClr val="aabbcc"/>
                </a:solidFill>
                <a:latin typeface="Arial"/>
              </a:defRPr>
            </a:pPr>
          </a:p>
        </c:txPr>
        <c:crossAx val="93042650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b="0" sz="1000" spc="-1" strike="noStrike">
              <a:solidFill>
                <a:srgbClr val="000000"/>
              </a:solidFill>
              <a:latin typeface="Calibri"/>
            </a:defRPr>
          </a:pPr>
        </a:p>
      </c:txPr>
    </c:legend>
    <c:plotVisOnly val="1"/>
    <c:dispBlanksAs val="span"/>
  </c:chart>
  <c:spPr>
    <a:solidFill>
      <a:srgbClr val="1f2f47"/>
    </a:solidFill>
    <a:ln w="0">
      <a:noFill/>
    </a:ln>
  </c:spPr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BE0D366B-61BC-432F-878B-5A019CBEC80E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0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0A59C422-273B-4D6E-99B8-76428EEA0A3F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0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1D00167D-0E5D-4FAB-AE0F-55A4AC300E3A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0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DC86B751-5D9D-40F8-A64C-2388A936E2CF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1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1F7A9D64-35A0-418B-B55E-A65801BC1A4A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1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5832A865-3EDA-44DE-BC56-5F74302A6D21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1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E5EC88B9-A075-4BC2-9D8B-54078CC86738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2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EB50E776-C390-435A-A7C5-92D849C7484C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2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124C2A61-9788-4ED9-9295-903395B61DC9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2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B4AD89F9-D3ED-4C8A-B164-DD17BB7F55B6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2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PlaceHolder 3"/>
          <p:cNvSpPr>
            <a:spLocks noGrp="1"/>
          </p:cNvSpPr>
          <p:nvPr>
            <p:ph type="sldNum" idx="1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913CC3B5-E44D-4384-9CC9-BD7F6E24DE1F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3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PlaceHolder 3"/>
          <p:cNvSpPr>
            <a:spLocks noGrp="1"/>
          </p:cNvSpPr>
          <p:nvPr>
            <p:ph type="sldNum" idx="1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9C670C31-AEB1-4E32-A0CF-97724A5DDF13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3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PlaceHolder 3"/>
          <p:cNvSpPr>
            <a:spLocks noGrp="1"/>
          </p:cNvSpPr>
          <p:nvPr>
            <p:ph type="sldNum" idx="1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EAB42EA7-D740-4004-957A-05DC1FC0410C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3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PlaceHolder 3"/>
          <p:cNvSpPr>
            <a:spLocks noGrp="1"/>
          </p:cNvSpPr>
          <p:nvPr>
            <p:ph type="sldNum" idx="1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4D434A3E-11B4-459C-9D52-7AE43B33D564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4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PlaceHolder 3"/>
          <p:cNvSpPr>
            <a:spLocks noGrp="1"/>
          </p:cNvSpPr>
          <p:nvPr>
            <p:ph type="sldNum" idx="1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44A570EB-7D16-4896-998E-35A5A8597A6F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530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4114440" cy="514332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Shape 1"/>
          <p:cNvSpPr/>
          <p:nvPr/>
        </p:nvSpPr>
        <p:spPr>
          <a:xfrm>
            <a:off x="4114800" y="0"/>
            <a:ext cx="54360" cy="514332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" name="Text 2"/>
          <p:cNvSpPr/>
          <p:nvPr/>
        </p:nvSpPr>
        <p:spPr>
          <a:xfrm>
            <a:off x="365760" y="457200"/>
            <a:ext cx="3474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200" spc="-1" strike="noStrike">
                <a:solidFill>
                  <a:srgbClr val="e94560"/>
                </a:solidFill>
                <a:latin typeface="Calibri"/>
              </a:rPr>
              <a:t>ML1</a:t>
            </a:r>
            <a:endParaRPr b="0" lang="en-US" sz="6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365760" y="1188720"/>
            <a:ext cx="34743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800" spc="-1" strike="noStrike">
                <a:solidFill>
                  <a:srgbClr val="ffffff"/>
                </a:solidFill>
                <a:latin typeface="Calibri"/>
              </a:rPr>
              <a:t>Projects</a:t>
            </a:r>
            <a:endParaRPr b="0" lang="en-US" sz="3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365760" y="1965960"/>
            <a:ext cx="347436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chemeClr val="lt1"/>
                </a:solidFill>
                <a:latin typeface="Calibri"/>
              </a:rPr>
              <a:t>Restaurant Closure Classification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chemeClr val="lt1"/>
                </a:solidFill>
                <a:latin typeface="Calibri"/>
              </a:rPr>
              <a:t>&amp; Developer Salary Regression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4434840" y="1371600"/>
            <a:ext cx="44802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Allen Nyombayire Mukundwa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Ondřej Marvan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Text 6"/>
          <p:cNvSpPr/>
          <p:nvPr/>
        </p:nvSpPr>
        <p:spPr>
          <a:xfrm>
            <a:off x="4434840" y="2267640"/>
            <a:ext cx="44802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8899aa"/>
                </a:solidFill>
                <a:latin typeface="Calibri"/>
              </a:rPr>
              <a:t>Master's in Data Science &amp; Business Analytics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8899aa"/>
                </a:solidFill>
                <a:latin typeface="Calibri"/>
              </a:rPr>
              <a:t>WNE UW  ·  ML1 2025/2026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Shape 7"/>
          <p:cNvSpPr/>
          <p:nvPr/>
        </p:nvSpPr>
        <p:spPr>
          <a:xfrm>
            <a:off x="4434840" y="4206240"/>
            <a:ext cx="2194200" cy="548280"/>
          </a:xfrm>
          <a:prstGeom prst="rect">
            <a:avLst/>
          </a:prstGeom>
          <a:solidFill>
            <a:srgbClr val="1a1a2e"/>
          </a:solidFill>
          <a:ln w="15240">
            <a:solidFill>
              <a:srgbClr val="e945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" name="Text 8"/>
          <p:cNvSpPr/>
          <p:nvPr/>
        </p:nvSpPr>
        <p:spPr>
          <a:xfrm>
            <a:off x="4434840" y="4206240"/>
            <a:ext cx="21942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97" strike="noStrike">
                <a:solidFill>
                  <a:srgbClr val="e94560"/>
                </a:solidFill>
                <a:latin typeface="Calibri"/>
              </a:rPr>
              <a:t>TASK 1  Classification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Shape 9"/>
          <p:cNvSpPr/>
          <p:nvPr/>
        </p:nvSpPr>
        <p:spPr>
          <a:xfrm>
            <a:off x="6812280" y="4206240"/>
            <a:ext cx="2194200" cy="548280"/>
          </a:xfrm>
          <a:prstGeom prst="rect">
            <a:avLst/>
          </a:prstGeom>
          <a:solidFill>
            <a:srgbClr val="1a1a2e"/>
          </a:solidFill>
          <a:ln w="15240">
            <a:solidFill>
              <a:srgbClr val="0f9b8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Text 10"/>
          <p:cNvSpPr/>
          <p:nvPr/>
        </p:nvSpPr>
        <p:spPr>
          <a:xfrm>
            <a:off x="6812280" y="4206240"/>
            <a:ext cx="21942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97" strike="noStrike">
                <a:solidFill>
                  <a:srgbClr val="0f9b8e"/>
                </a:solidFill>
                <a:latin typeface="Calibri"/>
              </a:rPr>
              <a:t>TASK 2  Regression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0"/>
          <p:cNvSpPr/>
          <p:nvPr/>
        </p:nvSpPr>
        <p:spPr>
          <a:xfrm>
            <a:off x="457200" y="27432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1a1a2e"/>
                </a:solidFill>
                <a:latin typeface="Calibri"/>
              </a:rPr>
              <a:t>Agenda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Shape 1"/>
          <p:cNvSpPr/>
          <p:nvPr/>
        </p:nvSpPr>
        <p:spPr>
          <a:xfrm>
            <a:off x="457200" y="1097280"/>
            <a:ext cx="2651400" cy="365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a"/>
            </a:solidFill>
            <a:round/>
          </a:ln>
          <a:effectLst>
            <a:outerShdw algn="bl" blurRad="127080" dir="8100000" dist="37674" rotWithShape="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" name="Shape 2"/>
          <p:cNvSpPr/>
          <p:nvPr/>
        </p:nvSpPr>
        <p:spPr>
          <a:xfrm>
            <a:off x="457200" y="1097280"/>
            <a:ext cx="2651400" cy="45684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Text 3"/>
          <p:cNvSpPr/>
          <p:nvPr/>
        </p:nvSpPr>
        <p:spPr>
          <a:xfrm>
            <a:off x="457200" y="1115640"/>
            <a:ext cx="26514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</a:rPr>
              <a:t>01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Text 4"/>
          <p:cNvSpPr/>
          <p:nvPr/>
        </p:nvSpPr>
        <p:spPr>
          <a:xfrm>
            <a:off x="621720" y="1719000"/>
            <a:ext cx="23313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a1a2e"/>
                </a:solidFill>
                <a:latin typeface="Calibri"/>
              </a:rPr>
              <a:t>Restaurant Classification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Text 5"/>
          <p:cNvSpPr/>
          <p:nvPr/>
        </p:nvSpPr>
        <p:spPr>
          <a:xfrm>
            <a:off x="621720" y="2395800"/>
            <a:ext cx="2331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002060"/>
                </a:solidFill>
                <a:latin typeface="Calibri"/>
              </a:rPr>
              <a:t>Problem · Data · Models · Results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Shape 6"/>
          <p:cNvSpPr/>
          <p:nvPr/>
        </p:nvSpPr>
        <p:spPr>
          <a:xfrm>
            <a:off x="3291840" y="1097280"/>
            <a:ext cx="2651400" cy="365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a"/>
            </a:solidFill>
            <a:round/>
          </a:ln>
          <a:effectLst>
            <a:outerShdw algn="bl" blurRad="127080" dir="8100000" dist="37674" rotWithShape="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" name="Shape 7"/>
          <p:cNvSpPr/>
          <p:nvPr/>
        </p:nvSpPr>
        <p:spPr>
          <a:xfrm>
            <a:off x="3291840" y="1097280"/>
            <a:ext cx="2651400" cy="456840"/>
          </a:xfrm>
          <a:prstGeom prst="rect">
            <a:avLst/>
          </a:prstGeom>
          <a:solidFill>
            <a:srgbClr val="0f9b8e"/>
          </a:solidFill>
          <a:ln w="12700">
            <a:solidFill>
              <a:srgbClr val="0f9b8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7" name="Text 8"/>
          <p:cNvSpPr/>
          <p:nvPr/>
        </p:nvSpPr>
        <p:spPr>
          <a:xfrm>
            <a:off x="3291840" y="1115640"/>
            <a:ext cx="26514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</a:rPr>
              <a:t>02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Text 9"/>
          <p:cNvSpPr/>
          <p:nvPr/>
        </p:nvSpPr>
        <p:spPr>
          <a:xfrm>
            <a:off x="3456360" y="1719000"/>
            <a:ext cx="23313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a1a2e"/>
                </a:solidFill>
                <a:latin typeface="Calibri"/>
              </a:rPr>
              <a:t>Developer Salary Regression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Text 10"/>
          <p:cNvSpPr/>
          <p:nvPr/>
        </p:nvSpPr>
        <p:spPr>
          <a:xfrm>
            <a:off x="3456360" y="2395800"/>
            <a:ext cx="2331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002060"/>
                </a:solidFill>
                <a:latin typeface="Calibri"/>
              </a:rPr>
              <a:t>Problem · Data · Feature Engineering · Results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Shape 11"/>
          <p:cNvSpPr/>
          <p:nvPr/>
        </p:nvSpPr>
        <p:spPr>
          <a:xfrm>
            <a:off x="6126480" y="1097280"/>
            <a:ext cx="2651400" cy="365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a"/>
            </a:solidFill>
            <a:round/>
          </a:ln>
          <a:effectLst>
            <a:outerShdw algn="bl" blurRad="127080" dir="8100000" dist="37674" rotWithShape="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Shape 12"/>
          <p:cNvSpPr/>
          <p:nvPr/>
        </p:nvSpPr>
        <p:spPr>
          <a:xfrm>
            <a:off x="6126480" y="1097280"/>
            <a:ext cx="2651400" cy="4568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" name="Text 13"/>
          <p:cNvSpPr/>
          <p:nvPr/>
        </p:nvSpPr>
        <p:spPr>
          <a:xfrm>
            <a:off x="6126480" y="1115640"/>
            <a:ext cx="26514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</a:rPr>
              <a:t>03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Text 14"/>
          <p:cNvSpPr/>
          <p:nvPr/>
        </p:nvSpPr>
        <p:spPr>
          <a:xfrm>
            <a:off x="6291000" y="1719000"/>
            <a:ext cx="23313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a1a2e"/>
                </a:solidFill>
                <a:latin typeface="Calibri"/>
              </a:rPr>
              <a:t>Summary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Text 15"/>
          <p:cNvSpPr/>
          <p:nvPr/>
        </p:nvSpPr>
        <p:spPr>
          <a:xfrm>
            <a:off x="6291000" y="2395800"/>
            <a:ext cx="2331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002060"/>
                </a:solidFill>
                <a:latin typeface="Calibri"/>
              </a:rPr>
              <a:t>Both tasks compared side-by-side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0"/>
          <p:cNvSpPr/>
          <p:nvPr/>
        </p:nvSpPr>
        <p:spPr>
          <a:xfrm>
            <a:off x="0" y="0"/>
            <a:ext cx="3474360" cy="514332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Text 1"/>
          <p:cNvSpPr/>
          <p:nvPr/>
        </p:nvSpPr>
        <p:spPr>
          <a:xfrm>
            <a:off x="274320" y="384120"/>
            <a:ext cx="2925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398" strike="noStrike">
                <a:solidFill>
                  <a:srgbClr val="b0c8d8"/>
                </a:solidFill>
                <a:latin typeface="Calibri"/>
              </a:rPr>
              <a:t>TASK 1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Text 2"/>
          <p:cNvSpPr/>
          <p:nvPr/>
        </p:nvSpPr>
        <p:spPr>
          <a:xfrm>
            <a:off x="274320" y="777240"/>
            <a:ext cx="292572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ffffff"/>
                </a:solidFill>
                <a:latin typeface="Calibri"/>
              </a:rPr>
              <a:t>The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ffffff"/>
                </a:solidFill>
                <a:latin typeface="Calibri"/>
              </a:rPr>
              <a:t>Problem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Text 3"/>
          <p:cNvSpPr/>
          <p:nvPr/>
        </p:nvSpPr>
        <p:spPr>
          <a:xfrm>
            <a:off x="274320" y="2377440"/>
            <a:ext cx="29257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200" spc="-1" strike="noStrike">
                <a:solidFill>
                  <a:srgbClr val="ffffff"/>
                </a:solidFill>
                <a:latin typeface="Calibri"/>
              </a:rPr>
              <a:t>90.2%</a:t>
            </a:r>
            <a:endParaRPr b="0" lang="en-US" sz="5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Text 4"/>
          <p:cNvSpPr/>
          <p:nvPr/>
        </p:nvSpPr>
        <p:spPr>
          <a:xfrm>
            <a:off x="274320" y="3127320"/>
            <a:ext cx="2925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8dae6"/>
                </a:solidFill>
                <a:latin typeface="Calibri"/>
              </a:rPr>
              <a:t>restaurants are OPEN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Shape 5"/>
          <p:cNvSpPr/>
          <p:nvPr/>
        </p:nvSpPr>
        <p:spPr>
          <a:xfrm>
            <a:off x="457200" y="3456360"/>
            <a:ext cx="2559960" cy="365400"/>
          </a:xfrm>
          <a:prstGeom prst="rect">
            <a:avLst/>
          </a:prstGeom>
          <a:solidFill>
            <a:srgbClr val="c03048"/>
          </a:solidFill>
          <a:ln w="12700">
            <a:solidFill>
              <a:srgbClr val="c0304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Text 6"/>
          <p:cNvSpPr/>
          <p:nvPr/>
        </p:nvSpPr>
        <p:spPr>
          <a:xfrm>
            <a:off x="457200" y="3456360"/>
            <a:ext cx="2559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9.8% CLOSED  ← minority class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Shape 7"/>
          <p:cNvSpPr/>
          <p:nvPr/>
        </p:nvSpPr>
        <p:spPr>
          <a:xfrm>
            <a:off x="3657600" y="457200"/>
            <a:ext cx="54360" cy="109692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" name="Text 8"/>
          <p:cNvSpPr/>
          <p:nvPr/>
        </p:nvSpPr>
        <p:spPr>
          <a:xfrm>
            <a:off x="3886200" y="530280"/>
            <a:ext cx="5028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a1a2e"/>
                </a:solidFill>
                <a:latin typeface="Calibri"/>
              </a:rPr>
              <a:t>The challenge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Text 9"/>
          <p:cNvSpPr/>
          <p:nvPr/>
        </p:nvSpPr>
        <p:spPr>
          <a:xfrm>
            <a:off x="3886200" y="877680"/>
            <a:ext cx="50288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002060"/>
                </a:solidFill>
                <a:latin typeface="Calibri"/>
              </a:rPr>
              <a:t>Plain accuracy is useless always predicting 'open' gives 90.2% accuracy but catches zero closures.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Shape 10"/>
          <p:cNvSpPr/>
          <p:nvPr/>
        </p:nvSpPr>
        <p:spPr>
          <a:xfrm>
            <a:off x="3657600" y="1938600"/>
            <a:ext cx="54360" cy="109692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Text 11"/>
          <p:cNvSpPr/>
          <p:nvPr/>
        </p:nvSpPr>
        <p:spPr>
          <a:xfrm>
            <a:off x="3886200" y="2011680"/>
            <a:ext cx="5028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a1a2e"/>
                </a:solidFill>
                <a:latin typeface="Calibri"/>
              </a:rPr>
              <a:t>Our metric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Text 12"/>
          <p:cNvSpPr/>
          <p:nvPr/>
        </p:nvSpPr>
        <p:spPr>
          <a:xfrm>
            <a:off x="3886200" y="2359080"/>
            <a:ext cx="50288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002060"/>
                </a:solidFill>
                <a:latin typeface="Calibri"/>
              </a:rPr>
              <a:t>Balanced Accuracy  average recall per class  forces the model to detect the minority class.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Shape 13"/>
          <p:cNvSpPr/>
          <p:nvPr/>
        </p:nvSpPr>
        <p:spPr>
          <a:xfrm>
            <a:off x="3657600" y="3420000"/>
            <a:ext cx="54360" cy="109692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9" name="Text 14"/>
          <p:cNvSpPr/>
          <p:nvPr/>
        </p:nvSpPr>
        <p:spPr>
          <a:xfrm>
            <a:off x="3886200" y="3493080"/>
            <a:ext cx="5028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a1a2e"/>
                </a:solidFill>
                <a:latin typeface="Calibri"/>
              </a:rPr>
              <a:t>Our fix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Text 15"/>
          <p:cNvSpPr/>
          <p:nvPr/>
        </p:nvSpPr>
        <p:spPr>
          <a:xfrm>
            <a:off x="3886200" y="3840480"/>
            <a:ext cx="50288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002060"/>
                </a:solidFill>
                <a:latin typeface="Calibri"/>
              </a:rPr>
              <a:t>class_weight="balanced" on all models + 5-fold stratified CV to preserve class ratios in each fold.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8ec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0"/>
          <p:cNvSpPr/>
          <p:nvPr/>
        </p:nvSpPr>
        <p:spPr>
          <a:xfrm>
            <a:off x="457200" y="255960"/>
            <a:ext cx="82292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a1a2e"/>
                </a:solidFill>
                <a:latin typeface="Calibri"/>
              </a:rPr>
              <a:t>TASK 1  —  Data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 1"/>
          <p:cNvSpPr/>
          <p:nvPr/>
        </p:nvSpPr>
        <p:spPr>
          <a:xfrm>
            <a:off x="457200" y="74988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02060"/>
                </a:solidFill>
                <a:latin typeface="Calibri"/>
              </a:rPr>
              <a:t>33,296 restaurants  ·  84 features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Shape 2"/>
          <p:cNvSpPr/>
          <p:nvPr/>
        </p:nvSpPr>
        <p:spPr>
          <a:xfrm>
            <a:off x="320040" y="1170360"/>
            <a:ext cx="2742840" cy="356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2ea"/>
            </a:solidFill>
            <a:round/>
          </a:ln>
          <a:effectLst>
            <a:outerShdw algn="bl" blurRad="127080" dir="8100000" dist="37674" rotWithShape="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Shape 3"/>
          <p:cNvSpPr/>
          <p:nvPr/>
        </p:nvSpPr>
        <p:spPr>
          <a:xfrm>
            <a:off x="320040" y="1170360"/>
            <a:ext cx="2742840" cy="63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" name="Text 4"/>
          <p:cNvSpPr/>
          <p:nvPr/>
        </p:nvSpPr>
        <p:spPr>
          <a:xfrm>
            <a:off x="320040" y="1261800"/>
            <a:ext cx="27428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600" spc="-1" strike="noStrike">
                <a:solidFill>
                  <a:srgbClr val="065a82"/>
                </a:solidFill>
                <a:latin typeface="Calibri"/>
              </a:rPr>
              <a:t>74</a:t>
            </a:r>
            <a:endParaRPr b="0" lang="en-US" sz="4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 5"/>
          <p:cNvSpPr/>
          <p:nvPr/>
        </p:nvSpPr>
        <p:spPr>
          <a:xfrm>
            <a:off x="320040" y="193860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a1a2e"/>
                </a:solidFill>
                <a:latin typeface="Calibri"/>
              </a:rPr>
              <a:t>Numeric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Shape 6"/>
          <p:cNvSpPr/>
          <p:nvPr/>
        </p:nvSpPr>
        <p:spPr>
          <a:xfrm>
            <a:off x="1051560" y="2304360"/>
            <a:ext cx="1279800" cy="18000"/>
          </a:xfrm>
          <a:prstGeom prst="rect">
            <a:avLst/>
          </a:prstGeom>
          <a:solidFill>
            <a:srgbClr val="dde2ea"/>
          </a:solidFill>
          <a:ln w="12700">
            <a:solidFill>
              <a:srgbClr val="dde2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6640" bIns="-2664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Text 7"/>
          <p:cNvSpPr/>
          <p:nvPr/>
        </p:nvSpPr>
        <p:spPr>
          <a:xfrm>
            <a:off x="448200" y="2423160"/>
            <a:ext cx="248688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8899aa"/>
                </a:solidFill>
                <a:latin typeface="Calibri"/>
              </a:rPr>
              <a:t>· </a:t>
            </a:r>
            <a:r>
              <a:rPr b="0" lang="en-US" sz="1050" spc="-1" strike="noStrike">
                <a:solidFill>
                  <a:srgbClr val="002060"/>
                </a:solidFill>
                <a:latin typeface="Calibri"/>
              </a:rPr>
              <a:t>hours open (total / weekdays / weekends)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ext 8"/>
          <p:cNvSpPr/>
          <p:nvPr/>
        </p:nvSpPr>
        <p:spPr>
          <a:xfrm>
            <a:off x="448200" y="2761560"/>
            <a:ext cx="248688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002060"/>
                </a:solidFill>
                <a:latin typeface="Calibri"/>
              </a:rPr>
              <a:t>· ratings average &amp; std deviation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Text 9"/>
          <p:cNvSpPr/>
          <p:nvPr/>
        </p:nvSpPr>
        <p:spPr>
          <a:xfrm>
            <a:off x="448200" y="3099960"/>
            <a:ext cx="248688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002060"/>
                </a:solidFill>
                <a:latin typeface="Calibri"/>
              </a:rPr>
              <a:t>· place age in days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Text 10"/>
          <p:cNvSpPr/>
          <p:nvPr/>
        </p:nvSpPr>
        <p:spPr>
          <a:xfrm>
            <a:off x="448200" y="3438000"/>
            <a:ext cx="248688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8899aa"/>
                </a:solidFill>
                <a:latin typeface="Calibri"/>
              </a:rPr>
              <a:t>· </a:t>
            </a:r>
            <a:r>
              <a:rPr b="0" lang="en-US" sz="1050" spc="-1" strike="noStrike">
                <a:solidFill>
                  <a:srgbClr val="002060"/>
                </a:solidFill>
                <a:latin typeface="Calibri"/>
              </a:rPr>
              <a:t>review text length avg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Text 11"/>
          <p:cNvSpPr/>
          <p:nvPr/>
        </p:nvSpPr>
        <p:spPr>
          <a:xfrm>
            <a:off x="448200" y="3776400"/>
            <a:ext cx="248688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8899aa"/>
                </a:solidFill>
                <a:latin typeface="Calibri"/>
              </a:rPr>
              <a:t>· </a:t>
            </a:r>
            <a:r>
              <a:rPr b="0" lang="en-US" sz="1050" spc="-1" strike="noStrike">
                <a:solidFill>
                  <a:srgbClr val="002060"/>
                </a:solidFill>
                <a:latin typeface="Calibri"/>
              </a:rPr>
              <a:t>competition radius (500m, 1km, 2km)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Text 12"/>
          <p:cNvSpPr/>
          <p:nvPr/>
        </p:nvSpPr>
        <p:spPr>
          <a:xfrm>
            <a:off x="448200" y="4114800"/>
            <a:ext cx="248688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8899aa"/>
                </a:solidFill>
                <a:latin typeface="Calibri"/>
              </a:rPr>
              <a:t>· </a:t>
            </a:r>
            <a:r>
              <a:rPr b="0" lang="en-US" sz="1050" spc="-1" strike="noStrike">
                <a:solidFill>
                  <a:srgbClr val="002060"/>
                </a:solidFill>
                <a:latin typeface="Calibri"/>
              </a:rPr>
              <a:t>resident population &amp; density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Shape 13"/>
          <p:cNvSpPr/>
          <p:nvPr/>
        </p:nvSpPr>
        <p:spPr>
          <a:xfrm>
            <a:off x="3246120" y="1170360"/>
            <a:ext cx="2742840" cy="356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2ea"/>
            </a:solidFill>
            <a:round/>
          </a:ln>
          <a:effectLst>
            <a:outerShdw algn="bl" blurRad="127080" dir="8100000" dist="37674" rotWithShape="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5" name="Shape 14"/>
          <p:cNvSpPr/>
          <p:nvPr/>
        </p:nvSpPr>
        <p:spPr>
          <a:xfrm>
            <a:off x="3246120" y="1170360"/>
            <a:ext cx="2742840" cy="6372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6" name="Text 15"/>
          <p:cNvSpPr/>
          <p:nvPr/>
        </p:nvSpPr>
        <p:spPr>
          <a:xfrm>
            <a:off x="3246120" y="1261800"/>
            <a:ext cx="27428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600" spc="-1" strike="noStrike">
                <a:solidFill>
                  <a:srgbClr val="e94560"/>
                </a:solidFill>
                <a:latin typeface="Calibri"/>
              </a:rPr>
              <a:t>3</a:t>
            </a:r>
            <a:endParaRPr b="0" lang="en-US" sz="4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Text 16"/>
          <p:cNvSpPr/>
          <p:nvPr/>
        </p:nvSpPr>
        <p:spPr>
          <a:xfrm>
            <a:off x="3246120" y="193860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a1a2e"/>
                </a:solidFill>
                <a:latin typeface="Calibri"/>
              </a:rPr>
              <a:t>Categorical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Shape 17"/>
          <p:cNvSpPr/>
          <p:nvPr/>
        </p:nvSpPr>
        <p:spPr>
          <a:xfrm>
            <a:off x="3977640" y="2304360"/>
            <a:ext cx="1279800" cy="18000"/>
          </a:xfrm>
          <a:prstGeom prst="rect">
            <a:avLst/>
          </a:prstGeom>
          <a:solidFill>
            <a:srgbClr val="dde2ea"/>
          </a:solidFill>
          <a:ln w="12700">
            <a:solidFill>
              <a:srgbClr val="dde2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6640" bIns="-2664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9" name="Text 18"/>
          <p:cNvSpPr/>
          <p:nvPr/>
        </p:nvSpPr>
        <p:spPr>
          <a:xfrm>
            <a:off x="3374280" y="2423160"/>
            <a:ext cx="248688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002060"/>
                </a:solidFill>
                <a:latin typeface="Calibri"/>
              </a:rPr>
              <a:t>· category (top 20 restaurant types)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 19"/>
          <p:cNvSpPr/>
          <p:nvPr/>
        </p:nvSpPr>
        <p:spPr>
          <a:xfrm>
            <a:off x="3374280" y="2761560"/>
            <a:ext cx="248688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8899aa"/>
                </a:solidFill>
                <a:latin typeface="Calibri"/>
              </a:rPr>
              <a:t>· </a:t>
            </a:r>
            <a:r>
              <a:rPr b="0" lang="en-US" sz="1050" spc="-1" strike="noStrike">
                <a:solidFill>
                  <a:srgbClr val="002060"/>
                </a:solidFill>
                <a:latin typeface="Calibri"/>
              </a:rPr>
              <a:t>type: bar / cafe / nightclub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 20"/>
          <p:cNvSpPr/>
          <p:nvPr/>
        </p:nvSpPr>
        <p:spPr>
          <a:xfrm>
            <a:off x="3374280" y="3099960"/>
            <a:ext cx="248688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8899aa"/>
                </a:solidFill>
                <a:latin typeface="Calibri"/>
              </a:rPr>
              <a:t>· </a:t>
            </a:r>
            <a:r>
              <a:rPr b="0" lang="en-US" sz="1050" spc="-1" strike="noStrike">
                <a:solidFill>
                  <a:srgbClr val="002060"/>
                </a:solidFill>
                <a:latin typeface="Calibri"/>
              </a:rPr>
              <a:t>type: takeaway / delivery flags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Shape 21"/>
          <p:cNvSpPr/>
          <p:nvPr/>
        </p:nvSpPr>
        <p:spPr>
          <a:xfrm>
            <a:off x="6172200" y="1170360"/>
            <a:ext cx="2742840" cy="356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2ea"/>
            </a:solidFill>
            <a:round/>
          </a:ln>
          <a:effectLst>
            <a:outerShdw algn="bl" blurRad="127080" dir="8100000" dist="37674" rotWithShape="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3" name="Shape 22"/>
          <p:cNvSpPr/>
          <p:nvPr/>
        </p:nvSpPr>
        <p:spPr>
          <a:xfrm>
            <a:off x="6172200" y="1170360"/>
            <a:ext cx="2742840" cy="63720"/>
          </a:xfrm>
          <a:prstGeom prst="rect">
            <a:avLst/>
          </a:prstGeom>
          <a:solidFill>
            <a:srgbClr val="0f9b8e"/>
          </a:solidFill>
          <a:ln w="12700">
            <a:solidFill>
              <a:srgbClr val="0f9b8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4" name="Text 23"/>
          <p:cNvSpPr/>
          <p:nvPr/>
        </p:nvSpPr>
        <p:spPr>
          <a:xfrm>
            <a:off x="6172200" y="1261800"/>
            <a:ext cx="27428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600" spc="-1" strike="noStrike">
                <a:solidFill>
                  <a:srgbClr val="0f9b8e"/>
                </a:solidFill>
                <a:latin typeface="Calibri"/>
              </a:rPr>
              <a:t>7</a:t>
            </a:r>
            <a:endParaRPr b="0" lang="en-US" sz="4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 24"/>
          <p:cNvSpPr/>
          <p:nvPr/>
        </p:nvSpPr>
        <p:spPr>
          <a:xfrm>
            <a:off x="6172200" y="193860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a1a2e"/>
                </a:solidFill>
                <a:latin typeface="Calibri"/>
              </a:rPr>
              <a:t>Boolean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Shape 25"/>
          <p:cNvSpPr/>
          <p:nvPr/>
        </p:nvSpPr>
        <p:spPr>
          <a:xfrm>
            <a:off x="6903720" y="2304360"/>
            <a:ext cx="1279800" cy="18000"/>
          </a:xfrm>
          <a:prstGeom prst="rect">
            <a:avLst/>
          </a:prstGeom>
          <a:solidFill>
            <a:srgbClr val="dde2ea"/>
          </a:solidFill>
          <a:ln w="12700">
            <a:solidFill>
              <a:srgbClr val="dde2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6640" bIns="-2664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7" name="Text 26"/>
          <p:cNvSpPr/>
          <p:nvPr/>
        </p:nvSpPr>
        <p:spPr>
          <a:xfrm>
            <a:off x="6300360" y="2423160"/>
            <a:ext cx="248688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8899aa"/>
                </a:solidFill>
                <a:latin typeface="Calibri"/>
              </a:rPr>
              <a:t>· </a:t>
            </a:r>
            <a:r>
              <a:rPr b="0" lang="en-US" sz="1050" spc="-1" strike="noStrike">
                <a:solidFill>
                  <a:srgbClr val="002060"/>
                </a:solidFill>
                <a:latin typeface="Calibri"/>
              </a:rPr>
              <a:t>has_photo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 27"/>
          <p:cNvSpPr/>
          <p:nvPr/>
        </p:nvSpPr>
        <p:spPr>
          <a:xfrm>
            <a:off x="6300360" y="2761560"/>
            <a:ext cx="248688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8899aa"/>
                </a:solidFill>
                <a:latin typeface="Calibri"/>
              </a:rPr>
              <a:t>· </a:t>
            </a:r>
            <a:r>
              <a:rPr b="0" lang="en-US" sz="1050" spc="-1" strike="noStrike">
                <a:solidFill>
                  <a:srgbClr val="002060"/>
                </a:solidFill>
                <a:latin typeface="Calibri"/>
              </a:rPr>
              <a:t>affiliated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 28"/>
          <p:cNvSpPr/>
          <p:nvPr/>
        </p:nvSpPr>
        <p:spPr>
          <a:xfrm>
            <a:off x="6300360" y="3099960"/>
            <a:ext cx="248688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002060"/>
                </a:solidFill>
                <a:latin typeface="Calibri"/>
              </a:rPr>
              <a:t>· type_meal_delivery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 29"/>
          <p:cNvSpPr/>
          <p:nvPr/>
        </p:nvSpPr>
        <p:spPr>
          <a:xfrm>
            <a:off x="6300360" y="3438000"/>
            <a:ext cx="248688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8899aa"/>
                </a:solidFill>
                <a:latin typeface="Calibri"/>
              </a:rPr>
              <a:t>· </a:t>
            </a:r>
            <a:r>
              <a:rPr b="0" lang="en-US" sz="1050" spc="-1" strike="noStrike">
                <a:solidFill>
                  <a:srgbClr val="002060"/>
                </a:solidFill>
                <a:latin typeface="Calibri"/>
              </a:rPr>
              <a:t>weekends_only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 30"/>
          <p:cNvSpPr/>
          <p:nvPr/>
        </p:nvSpPr>
        <p:spPr>
          <a:xfrm>
            <a:off x="6300360" y="3776400"/>
            <a:ext cx="248688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8899aa"/>
                </a:solidFill>
                <a:latin typeface="Calibri"/>
              </a:rPr>
              <a:t>· </a:t>
            </a:r>
            <a:r>
              <a:rPr b="0" lang="en-US" sz="1050" spc="-1" strike="noStrike">
                <a:solidFill>
                  <a:srgbClr val="002060"/>
                </a:solidFill>
                <a:latin typeface="Calibri"/>
              </a:rPr>
              <a:t>workdays_only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 31"/>
          <p:cNvSpPr/>
          <p:nvPr/>
        </p:nvSpPr>
        <p:spPr>
          <a:xfrm>
            <a:off x="6300360" y="4114800"/>
            <a:ext cx="248688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8899aa"/>
                </a:solidFill>
                <a:latin typeface="Calibri"/>
              </a:rPr>
              <a:t>· </a:t>
            </a:r>
            <a:r>
              <a:rPr b="0" lang="en-US" sz="1050" spc="-1" strike="noStrike">
                <a:solidFill>
                  <a:srgbClr val="002060"/>
                </a:solidFill>
                <a:latin typeface="Calibri"/>
              </a:rPr>
              <a:t>mornings_only / evenings_only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Shape 32"/>
          <p:cNvSpPr/>
          <p:nvPr/>
        </p:nvSpPr>
        <p:spPr>
          <a:xfrm>
            <a:off x="0" y="4883040"/>
            <a:ext cx="9143640" cy="2556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4" name="Text 33"/>
          <p:cNvSpPr/>
          <p:nvPr/>
        </p:nvSpPr>
        <p:spPr>
          <a:xfrm>
            <a:off x="274320" y="4883040"/>
            <a:ext cx="8595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29" strike="noStrike">
                <a:solidFill>
                  <a:srgbClr val="ffffff"/>
                </a:solidFill>
                <a:latin typeface="Calibri"/>
              </a:rPr>
              <a:t>PIPELINE  ·  Numeric: Median Imputation + StandardScaler   |   Categorical: Mode Imputation + OneHotEncoder (ignore unknown)   |   Boolean: passthrough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0"/>
          <p:cNvSpPr/>
          <p:nvPr/>
        </p:nvSpPr>
        <p:spPr>
          <a:xfrm>
            <a:off x="457200" y="255960"/>
            <a:ext cx="82292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a1a2e"/>
                </a:solidFill>
                <a:latin typeface="Calibri"/>
              </a:rPr>
              <a:t>TASK 1  —  Models Tested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Text 1"/>
          <p:cNvSpPr/>
          <p:nvPr/>
        </p:nvSpPr>
        <p:spPr>
          <a:xfrm>
            <a:off x="457200" y="74988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02060"/>
                </a:solidFill>
                <a:latin typeface="Calibri"/>
              </a:rPr>
              <a:t>5-fold stratified CV  ·  Metric: Balanced Accuracy  ·  GridSearchCV for all hyperparameters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Shape 2"/>
          <p:cNvSpPr/>
          <p:nvPr/>
        </p:nvSpPr>
        <p:spPr>
          <a:xfrm>
            <a:off x="320040" y="1170360"/>
            <a:ext cx="2742840" cy="3748680"/>
          </a:xfrm>
          <a:prstGeom prst="rect">
            <a:avLst/>
          </a:prstGeom>
          <a:solidFill>
            <a:srgbClr val="fff5f7"/>
          </a:solidFill>
          <a:ln w="19050">
            <a:solidFill>
              <a:srgbClr val="e94560"/>
            </a:solidFill>
            <a:round/>
          </a:ln>
          <a:effectLst>
            <a:outerShdw algn="bl" blurRad="127080" dir="8100000" dist="37674" rotWithShape="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8" name="Shape 3"/>
          <p:cNvSpPr/>
          <p:nvPr/>
        </p:nvSpPr>
        <p:spPr>
          <a:xfrm>
            <a:off x="1920240" y="1170360"/>
            <a:ext cx="1142640" cy="31068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9" name="Text 4"/>
          <p:cNvSpPr/>
          <p:nvPr/>
        </p:nvSpPr>
        <p:spPr>
          <a:xfrm>
            <a:off x="1920240" y="1170360"/>
            <a:ext cx="11426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199" strike="noStrike">
                <a:solidFill>
                  <a:srgbClr val="ffffff"/>
                </a:solidFill>
                <a:latin typeface="Calibri"/>
              </a:rPr>
              <a:t>WINNER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 5"/>
          <p:cNvSpPr/>
          <p:nvPr/>
        </p:nvSpPr>
        <p:spPr>
          <a:xfrm>
            <a:off x="457200" y="1664280"/>
            <a:ext cx="24868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a1a2e"/>
                </a:solidFill>
                <a:latin typeface="Calibri"/>
              </a:rPr>
              <a:t>Logistic Regression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 6"/>
          <p:cNvSpPr/>
          <p:nvPr/>
        </p:nvSpPr>
        <p:spPr>
          <a:xfrm>
            <a:off x="457200" y="2103120"/>
            <a:ext cx="24868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002060"/>
                </a:solidFill>
                <a:latin typeface="Calibri"/>
              </a:rPr>
              <a:t>Linear, interpretable, handles mixed-type features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Shape 7"/>
          <p:cNvSpPr/>
          <p:nvPr/>
        </p:nvSpPr>
        <p:spPr>
          <a:xfrm>
            <a:off x="457200" y="2578680"/>
            <a:ext cx="2486880" cy="13320"/>
          </a:xfrm>
          <a:prstGeom prst="rect">
            <a:avLst/>
          </a:prstGeom>
          <a:solidFill>
            <a:srgbClr val="dde2ea"/>
          </a:solidFill>
          <a:ln w="12700">
            <a:solidFill>
              <a:srgbClr val="dde2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1320" bIns="-3132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3" name="Text 8"/>
          <p:cNvSpPr/>
          <p:nvPr/>
        </p:nvSpPr>
        <p:spPr>
          <a:xfrm>
            <a:off x="457200" y="2651760"/>
            <a:ext cx="2486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a1a2e"/>
                </a:solidFill>
                <a:latin typeface="Calibri"/>
              </a:rPr>
              <a:t>Hyperparameter grid: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 9"/>
          <p:cNvSpPr/>
          <p:nvPr/>
        </p:nvSpPr>
        <p:spPr>
          <a:xfrm>
            <a:off x="457200" y="2962800"/>
            <a:ext cx="24868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8899aa"/>
                </a:solidFill>
                <a:latin typeface="Calibri"/>
              </a:rPr>
              <a:t>· </a:t>
            </a:r>
            <a:r>
              <a:rPr b="0" lang="en-US" sz="1050" spc="-1" strike="noStrike">
                <a:solidFill>
                  <a:srgbClr val="002060"/>
                </a:solidFill>
                <a:latin typeface="Calibri"/>
              </a:rPr>
              <a:t>solver: liblinear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 10"/>
          <p:cNvSpPr/>
          <p:nvPr/>
        </p:nvSpPr>
        <p:spPr>
          <a:xfrm>
            <a:off x="457200" y="3291840"/>
            <a:ext cx="24868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8899aa"/>
                </a:solidFill>
                <a:latin typeface="Calibri"/>
              </a:rPr>
              <a:t>· </a:t>
            </a:r>
            <a:r>
              <a:rPr b="0" lang="en-US" sz="1050" spc="-1" strike="noStrike">
                <a:solidFill>
                  <a:srgbClr val="002060"/>
                </a:solidFill>
                <a:latin typeface="Calibri"/>
              </a:rPr>
              <a:t>penalty: L1 or L2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Text 11"/>
          <p:cNvSpPr/>
          <p:nvPr/>
        </p:nvSpPr>
        <p:spPr>
          <a:xfrm>
            <a:off x="457200" y="3620880"/>
            <a:ext cx="24868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8899aa"/>
                </a:solidFill>
                <a:latin typeface="Calibri"/>
              </a:rPr>
              <a:t>· </a:t>
            </a:r>
            <a:r>
              <a:rPr b="0" lang="en-US" sz="1050" spc="-1" strike="noStrike">
                <a:solidFill>
                  <a:srgbClr val="002060"/>
                </a:solidFill>
                <a:latin typeface="Calibri"/>
              </a:rPr>
              <a:t>C: [0.001, 0.01, 0.1, 1, 10]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 12"/>
          <p:cNvSpPr/>
          <p:nvPr/>
        </p:nvSpPr>
        <p:spPr>
          <a:xfrm>
            <a:off x="457200" y="3950280"/>
            <a:ext cx="24868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8899aa"/>
                </a:solidFill>
                <a:latin typeface="Calibri"/>
              </a:rPr>
              <a:t>· </a:t>
            </a:r>
            <a:r>
              <a:rPr b="0" lang="en-US" sz="1050" spc="-1" strike="noStrike">
                <a:solidFill>
                  <a:srgbClr val="002060"/>
                </a:solidFill>
                <a:latin typeface="Calibri"/>
              </a:rPr>
              <a:t>class_weight: balanced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Shape 13"/>
          <p:cNvSpPr/>
          <p:nvPr/>
        </p:nvSpPr>
        <p:spPr>
          <a:xfrm>
            <a:off x="3246120" y="1170360"/>
            <a:ext cx="2742840" cy="374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2ea"/>
            </a:solidFill>
            <a:round/>
          </a:ln>
          <a:effectLst>
            <a:outerShdw algn="bl" blurRad="127080" dir="8100000" dist="37674" rotWithShape="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9" name="Text 14"/>
          <p:cNvSpPr/>
          <p:nvPr/>
        </p:nvSpPr>
        <p:spPr>
          <a:xfrm>
            <a:off x="3383280" y="1664280"/>
            <a:ext cx="24868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a1a2e"/>
                </a:solidFill>
                <a:latin typeface="Calibri"/>
              </a:rPr>
              <a:t>Linear SVC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 15"/>
          <p:cNvSpPr/>
          <p:nvPr/>
        </p:nvSpPr>
        <p:spPr>
          <a:xfrm>
            <a:off x="3383280" y="2103120"/>
            <a:ext cx="24868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002060"/>
                </a:solidFill>
                <a:latin typeface="Calibri"/>
              </a:rPr>
              <a:t>Margin-based, often competes with logistic regression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Shape 16"/>
          <p:cNvSpPr/>
          <p:nvPr/>
        </p:nvSpPr>
        <p:spPr>
          <a:xfrm>
            <a:off x="3383280" y="2578680"/>
            <a:ext cx="2486880" cy="13320"/>
          </a:xfrm>
          <a:prstGeom prst="rect">
            <a:avLst/>
          </a:prstGeom>
          <a:solidFill>
            <a:srgbClr val="dde2ea"/>
          </a:solidFill>
          <a:ln w="12700">
            <a:solidFill>
              <a:srgbClr val="dde2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1320" bIns="-3132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2" name="Text 17"/>
          <p:cNvSpPr/>
          <p:nvPr/>
        </p:nvSpPr>
        <p:spPr>
          <a:xfrm>
            <a:off x="3383280" y="2651760"/>
            <a:ext cx="2486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a1a2e"/>
                </a:solidFill>
                <a:latin typeface="Calibri"/>
              </a:rPr>
              <a:t>Hyperparameter grid: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 18"/>
          <p:cNvSpPr/>
          <p:nvPr/>
        </p:nvSpPr>
        <p:spPr>
          <a:xfrm>
            <a:off x="3383280" y="2962800"/>
            <a:ext cx="24868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8899aa"/>
                </a:solidFill>
                <a:latin typeface="Calibri"/>
              </a:rPr>
              <a:t>· </a:t>
            </a:r>
            <a:r>
              <a:rPr b="0" lang="en-US" sz="1050" spc="-1" strike="noStrike">
                <a:solidFill>
                  <a:srgbClr val="002060"/>
                </a:solidFill>
                <a:latin typeface="Calibri"/>
              </a:rPr>
              <a:t>C: [0.001, 0.01, 0.1, 1, 10]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 19"/>
          <p:cNvSpPr/>
          <p:nvPr/>
        </p:nvSpPr>
        <p:spPr>
          <a:xfrm>
            <a:off x="3383280" y="3291840"/>
            <a:ext cx="24868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8899aa"/>
                </a:solidFill>
                <a:latin typeface="Calibri"/>
              </a:rPr>
              <a:t>· </a:t>
            </a:r>
            <a:r>
              <a:rPr b="0" lang="en-US" sz="1050" spc="-1" strike="noStrike">
                <a:solidFill>
                  <a:srgbClr val="002060"/>
                </a:solidFill>
                <a:latin typeface="Calibri"/>
              </a:rPr>
              <a:t>dual: auto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 20"/>
          <p:cNvSpPr/>
          <p:nvPr/>
        </p:nvSpPr>
        <p:spPr>
          <a:xfrm>
            <a:off x="3383280" y="3620880"/>
            <a:ext cx="24868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8899aa"/>
                </a:solidFill>
                <a:latin typeface="Calibri"/>
              </a:rPr>
              <a:t>· </a:t>
            </a:r>
            <a:r>
              <a:rPr b="0" lang="en-US" sz="1050" spc="-1" strike="noStrike">
                <a:solidFill>
                  <a:srgbClr val="002060"/>
                </a:solidFill>
                <a:latin typeface="Calibri"/>
              </a:rPr>
              <a:t>class_weight: balanced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 21"/>
          <p:cNvSpPr/>
          <p:nvPr/>
        </p:nvSpPr>
        <p:spPr>
          <a:xfrm>
            <a:off x="3383280" y="3950280"/>
            <a:ext cx="24868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8899aa"/>
                </a:solidFill>
                <a:latin typeface="Calibri"/>
              </a:rPr>
              <a:t>· </a:t>
            </a:r>
            <a:r>
              <a:rPr b="0" lang="en-US" sz="1050" spc="-1" strike="noStrike">
                <a:solidFill>
                  <a:srgbClr val="002060"/>
                </a:solidFill>
                <a:latin typeface="Calibri"/>
              </a:rPr>
              <a:t>max_iter: 3000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Shape 22"/>
          <p:cNvSpPr/>
          <p:nvPr/>
        </p:nvSpPr>
        <p:spPr>
          <a:xfrm>
            <a:off x="6172200" y="1170360"/>
            <a:ext cx="2742840" cy="374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2ea"/>
            </a:solidFill>
            <a:round/>
          </a:ln>
          <a:effectLst>
            <a:outerShdw algn="bl" blurRad="127080" dir="8100000" dist="37674" rotWithShape="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8" name="Text 23"/>
          <p:cNvSpPr/>
          <p:nvPr/>
        </p:nvSpPr>
        <p:spPr>
          <a:xfrm>
            <a:off x="6309360" y="1664280"/>
            <a:ext cx="24868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a1a2e"/>
                </a:solidFill>
                <a:latin typeface="Calibri"/>
              </a:rPr>
              <a:t>KNN Classifier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 24"/>
          <p:cNvSpPr/>
          <p:nvPr/>
        </p:nvSpPr>
        <p:spPr>
          <a:xfrm>
            <a:off x="6309360" y="2103120"/>
            <a:ext cx="24868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002060"/>
                </a:solidFill>
                <a:latin typeface="Calibri"/>
              </a:rPr>
              <a:t>Distance-based baseline; non-parametric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Shape 25"/>
          <p:cNvSpPr/>
          <p:nvPr/>
        </p:nvSpPr>
        <p:spPr>
          <a:xfrm>
            <a:off x="6309360" y="2578680"/>
            <a:ext cx="2486880" cy="13320"/>
          </a:xfrm>
          <a:prstGeom prst="rect">
            <a:avLst/>
          </a:prstGeom>
          <a:solidFill>
            <a:srgbClr val="dde2ea"/>
          </a:solidFill>
          <a:ln w="12700">
            <a:solidFill>
              <a:srgbClr val="dde2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1320" bIns="-3132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1" name="Text 26"/>
          <p:cNvSpPr/>
          <p:nvPr/>
        </p:nvSpPr>
        <p:spPr>
          <a:xfrm>
            <a:off x="6309360" y="2651760"/>
            <a:ext cx="2486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a1a2e"/>
                </a:solidFill>
                <a:latin typeface="Calibri"/>
              </a:rPr>
              <a:t>Hyperparameter grid: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 27"/>
          <p:cNvSpPr/>
          <p:nvPr/>
        </p:nvSpPr>
        <p:spPr>
          <a:xfrm>
            <a:off x="6309360" y="2962800"/>
            <a:ext cx="24868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002060"/>
                </a:solidFill>
                <a:latin typeface="Calibri"/>
              </a:rPr>
              <a:t>· n_neighbors: [5, 11, 25, 51, 101]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Text 28"/>
          <p:cNvSpPr/>
          <p:nvPr/>
        </p:nvSpPr>
        <p:spPr>
          <a:xfrm>
            <a:off x="6309360" y="3291840"/>
            <a:ext cx="24868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8899aa"/>
                </a:solidFill>
                <a:latin typeface="Calibri"/>
              </a:rPr>
              <a:t>· </a:t>
            </a:r>
            <a:r>
              <a:rPr b="0" lang="en-US" sz="1050" spc="-1" strike="noStrike">
                <a:solidFill>
                  <a:srgbClr val="002060"/>
                </a:solidFill>
                <a:latin typeface="Calibri"/>
              </a:rPr>
              <a:t>weights: uniform / distance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 29"/>
          <p:cNvSpPr/>
          <p:nvPr/>
        </p:nvSpPr>
        <p:spPr>
          <a:xfrm>
            <a:off x="6309360" y="3620880"/>
            <a:ext cx="24868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8899aa"/>
                </a:solidFill>
                <a:latin typeface="Calibri"/>
              </a:rPr>
              <a:t>· </a:t>
            </a:r>
            <a:r>
              <a:rPr b="0" lang="en-US" sz="1050" spc="-1" strike="noStrike">
                <a:solidFill>
                  <a:srgbClr val="002060"/>
                </a:solidFill>
                <a:latin typeface="Calibri"/>
              </a:rPr>
              <a:t>n_jobs: -1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ext 0"/>
          <p:cNvSpPr/>
          <p:nvPr/>
        </p:nvSpPr>
        <p:spPr>
          <a:xfrm>
            <a:off x="457200" y="27432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TASK 1  —  Results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116" name="Chart 0"/>
          <p:cNvGraphicFramePr/>
          <p:nvPr/>
        </p:nvGraphicFramePr>
        <p:xfrm>
          <a:off x="274320" y="1005840"/>
          <a:ext cx="5668920" cy="3840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17" name="Shape 1"/>
          <p:cNvSpPr/>
          <p:nvPr/>
        </p:nvSpPr>
        <p:spPr>
          <a:xfrm>
            <a:off x="6217920" y="1051560"/>
            <a:ext cx="2651400" cy="822600"/>
          </a:xfrm>
          <a:prstGeom prst="rect">
            <a:avLst/>
          </a:prstGeom>
          <a:solidFill>
            <a:srgbClr val="1f2f47"/>
          </a:solidFill>
          <a:ln w="15240">
            <a:solidFill>
              <a:srgbClr val="e945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8" name="Text 2"/>
          <p:cNvSpPr/>
          <p:nvPr/>
        </p:nvSpPr>
        <p:spPr>
          <a:xfrm>
            <a:off x="6309360" y="1106280"/>
            <a:ext cx="1096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e94560"/>
                </a:solidFill>
                <a:latin typeface="Calibri"/>
              </a:rPr>
              <a:t>0.6608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Text 3"/>
          <p:cNvSpPr/>
          <p:nvPr/>
        </p:nvSpPr>
        <p:spPr>
          <a:xfrm>
            <a:off x="7406640" y="1106280"/>
            <a:ext cx="137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aabbcc"/>
                </a:solidFill>
                <a:latin typeface="Calibri"/>
              </a:rPr>
              <a:t>Logistic Reg. CV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Text 4"/>
          <p:cNvSpPr/>
          <p:nvPr/>
        </p:nvSpPr>
        <p:spPr>
          <a:xfrm>
            <a:off x="7406640" y="1398960"/>
            <a:ext cx="137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e94560"/>
                </a:solidFill>
                <a:latin typeface="Calibri"/>
              </a:rPr>
              <a:t>WINNER 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Shape 5"/>
          <p:cNvSpPr/>
          <p:nvPr/>
        </p:nvSpPr>
        <p:spPr>
          <a:xfrm>
            <a:off x="6217920" y="2030040"/>
            <a:ext cx="2651400" cy="822600"/>
          </a:xfrm>
          <a:prstGeom prst="rect">
            <a:avLst/>
          </a:prstGeom>
          <a:solidFill>
            <a:srgbClr val="1f2f47"/>
          </a:solidFill>
          <a:ln w="6350">
            <a:solidFill>
              <a:srgbClr val="2a3f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2" name="Text 6"/>
          <p:cNvSpPr/>
          <p:nvPr/>
        </p:nvSpPr>
        <p:spPr>
          <a:xfrm>
            <a:off x="6309360" y="2084760"/>
            <a:ext cx="1096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e88ea0"/>
                </a:solidFill>
                <a:latin typeface="Calibri"/>
              </a:rPr>
              <a:t>0.6598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Text 7"/>
          <p:cNvSpPr/>
          <p:nvPr/>
        </p:nvSpPr>
        <p:spPr>
          <a:xfrm>
            <a:off x="7406640" y="2084760"/>
            <a:ext cx="137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aabbcc"/>
                </a:solidFill>
                <a:latin typeface="Calibri"/>
              </a:rPr>
              <a:t>Val (held-out)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Text 8"/>
          <p:cNvSpPr/>
          <p:nvPr/>
        </p:nvSpPr>
        <p:spPr>
          <a:xfrm>
            <a:off x="7406640" y="2377440"/>
            <a:ext cx="137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e88ea0"/>
                </a:solidFill>
                <a:latin typeface="Calibri"/>
              </a:rPr>
              <a:t>good generalization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Shape 9"/>
          <p:cNvSpPr/>
          <p:nvPr/>
        </p:nvSpPr>
        <p:spPr>
          <a:xfrm>
            <a:off x="6217920" y="3008520"/>
            <a:ext cx="2651400" cy="822600"/>
          </a:xfrm>
          <a:prstGeom prst="rect">
            <a:avLst/>
          </a:prstGeom>
          <a:solidFill>
            <a:srgbClr val="1f2f47"/>
          </a:solidFill>
          <a:ln w="6350">
            <a:solidFill>
              <a:srgbClr val="2a3f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6" name="Text 10"/>
          <p:cNvSpPr/>
          <p:nvPr/>
        </p:nvSpPr>
        <p:spPr>
          <a:xfrm>
            <a:off x="6309360" y="3063240"/>
            <a:ext cx="1096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8899aa"/>
                </a:solidFill>
                <a:latin typeface="Calibri"/>
              </a:rPr>
              <a:t>0.6566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Text 11"/>
          <p:cNvSpPr/>
          <p:nvPr/>
        </p:nvSpPr>
        <p:spPr>
          <a:xfrm>
            <a:off x="7406640" y="3063240"/>
            <a:ext cx="137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aabbcc"/>
                </a:solidFill>
                <a:latin typeface="Calibri"/>
              </a:rPr>
              <a:t>LinearSVC CV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Text 12"/>
          <p:cNvSpPr/>
          <p:nvPr/>
        </p:nvSpPr>
        <p:spPr>
          <a:xfrm>
            <a:off x="7406640" y="3355920"/>
            <a:ext cx="137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8899aa"/>
                </a:solidFill>
                <a:latin typeface="Calibri"/>
              </a:rPr>
              <a:t>close second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Shape 13"/>
          <p:cNvSpPr/>
          <p:nvPr/>
        </p:nvSpPr>
        <p:spPr>
          <a:xfrm>
            <a:off x="6217920" y="3986640"/>
            <a:ext cx="2651400" cy="822600"/>
          </a:xfrm>
          <a:prstGeom prst="rect">
            <a:avLst/>
          </a:prstGeom>
          <a:solidFill>
            <a:srgbClr val="1f2f47"/>
          </a:solidFill>
          <a:ln w="6350">
            <a:solidFill>
              <a:srgbClr val="2a3f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0" name="Text 14"/>
          <p:cNvSpPr/>
          <p:nvPr/>
        </p:nvSpPr>
        <p:spPr>
          <a:xfrm>
            <a:off x="6309360" y="4041720"/>
            <a:ext cx="1096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44556a"/>
                </a:solidFill>
                <a:latin typeface="Calibri"/>
              </a:rPr>
              <a:t>0.5124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Text 15"/>
          <p:cNvSpPr/>
          <p:nvPr/>
        </p:nvSpPr>
        <p:spPr>
          <a:xfrm>
            <a:off x="7406640" y="4041720"/>
            <a:ext cx="137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aabbcc"/>
                </a:solidFill>
                <a:latin typeface="Calibri"/>
              </a:rPr>
              <a:t>KNN CV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Text 16"/>
          <p:cNvSpPr/>
          <p:nvPr/>
        </p:nvSpPr>
        <p:spPr>
          <a:xfrm>
            <a:off x="7406640" y="4334400"/>
            <a:ext cx="137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chemeClr val="lt1">
                    <a:lumMod val="75000"/>
                  </a:schemeClr>
                </a:solidFill>
                <a:latin typeface="Calibri"/>
              </a:rPr>
              <a:t>near random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Text 0"/>
          <p:cNvSpPr/>
          <p:nvPr/>
        </p:nvSpPr>
        <p:spPr>
          <a:xfrm>
            <a:off x="457200" y="255960"/>
            <a:ext cx="82292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a1a2e"/>
                </a:solidFill>
                <a:latin typeface="Calibri"/>
              </a:rPr>
              <a:t>TASK 1  —  Key Takeaways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Shape 1"/>
          <p:cNvSpPr/>
          <p:nvPr/>
        </p:nvSpPr>
        <p:spPr>
          <a:xfrm>
            <a:off x="365760" y="1005840"/>
            <a:ext cx="4114440" cy="1801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2ea"/>
            </a:solidFill>
            <a:round/>
          </a:ln>
          <a:effectLst>
            <a:outerShdw algn="bl" blurRad="127080" dir="8100000" dist="37674" rotWithShape="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5" name="Shape 2"/>
          <p:cNvSpPr/>
          <p:nvPr/>
        </p:nvSpPr>
        <p:spPr>
          <a:xfrm>
            <a:off x="365760" y="1005840"/>
            <a:ext cx="712800" cy="180108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6" name="Text 3"/>
          <p:cNvSpPr/>
          <p:nvPr/>
        </p:nvSpPr>
        <p:spPr>
          <a:xfrm>
            <a:off x="365760" y="1005840"/>
            <a:ext cx="712800" cy="180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L1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 4"/>
          <p:cNvSpPr/>
          <p:nvPr/>
        </p:nvSpPr>
        <p:spPr>
          <a:xfrm>
            <a:off x="1234440" y="1188720"/>
            <a:ext cx="3108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1a1a2e"/>
                </a:solidFill>
                <a:latin typeface="Calibri"/>
              </a:rPr>
              <a:t>L1 penalty beats L2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 5"/>
          <p:cNvSpPr/>
          <p:nvPr/>
        </p:nvSpPr>
        <p:spPr>
          <a:xfrm>
            <a:off x="1234440" y="1572840"/>
            <a:ext cx="31086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Sparse regularization wins only a subset of the 86 features carry real signal. Many are redundant or irrelevant; L1 pushes their coefficients to zero.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Shape 6"/>
          <p:cNvSpPr/>
          <p:nvPr/>
        </p:nvSpPr>
        <p:spPr>
          <a:xfrm>
            <a:off x="4754880" y="1005840"/>
            <a:ext cx="4114440" cy="1801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2ea"/>
            </a:solidFill>
            <a:round/>
          </a:ln>
          <a:effectLst>
            <a:outerShdw algn="bl" blurRad="127080" dir="8100000" dist="37674" rotWithShape="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0" name="Shape 7"/>
          <p:cNvSpPr/>
          <p:nvPr/>
        </p:nvSpPr>
        <p:spPr>
          <a:xfrm>
            <a:off x="4754880" y="1005840"/>
            <a:ext cx="712800" cy="180108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1" name="Text 8"/>
          <p:cNvSpPr/>
          <p:nvPr/>
        </p:nvSpPr>
        <p:spPr>
          <a:xfrm>
            <a:off x="4754880" y="1005840"/>
            <a:ext cx="712800" cy="180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≈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Text 9"/>
          <p:cNvSpPr/>
          <p:nvPr/>
        </p:nvSpPr>
        <p:spPr>
          <a:xfrm>
            <a:off x="5623560" y="1188720"/>
            <a:ext cx="3108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1a1a2e"/>
                </a:solidFill>
                <a:latin typeface="Calibri"/>
              </a:rPr>
              <a:t>CV ≈ Validation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 10"/>
          <p:cNvSpPr/>
          <p:nvPr/>
        </p:nvSpPr>
        <p:spPr>
          <a:xfrm>
            <a:off x="5623560" y="1572840"/>
            <a:ext cx="31086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0.6608 CV vs 0.6598 validation minimal gap. Good generalization, no meaningful overfitting despite high feature count.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Shape 11"/>
          <p:cNvSpPr/>
          <p:nvPr/>
        </p:nvSpPr>
        <p:spPr>
          <a:xfrm>
            <a:off x="365760" y="2990160"/>
            <a:ext cx="4114440" cy="1801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2ea"/>
            </a:solidFill>
            <a:round/>
          </a:ln>
          <a:effectLst>
            <a:outerShdw algn="bl" blurRad="127080" dir="8100000" dist="37674" rotWithShape="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5" name="Shape 12"/>
          <p:cNvSpPr/>
          <p:nvPr/>
        </p:nvSpPr>
        <p:spPr>
          <a:xfrm>
            <a:off x="365760" y="2990160"/>
            <a:ext cx="712800" cy="180108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6" name="Text 13"/>
          <p:cNvSpPr/>
          <p:nvPr/>
        </p:nvSpPr>
        <p:spPr>
          <a:xfrm>
            <a:off x="365760" y="2990160"/>
            <a:ext cx="712800" cy="180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KNN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Text 14"/>
          <p:cNvSpPr/>
          <p:nvPr/>
        </p:nvSpPr>
        <p:spPr>
          <a:xfrm>
            <a:off x="1234440" y="3173040"/>
            <a:ext cx="3108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1a1a2e"/>
                </a:solidFill>
                <a:latin typeface="Calibri"/>
              </a:rPr>
              <a:t>KNN barely beats random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Text 15"/>
          <p:cNvSpPr/>
          <p:nvPr/>
        </p:nvSpPr>
        <p:spPr>
          <a:xfrm>
            <a:off x="1234440" y="3557160"/>
            <a:ext cx="31086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Score of 0.51 in 86-dimensional mixed data. Euclidean distance loses meaning at high dimension the curse of dimensionality is very real here.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Shape 16"/>
          <p:cNvSpPr/>
          <p:nvPr/>
        </p:nvSpPr>
        <p:spPr>
          <a:xfrm>
            <a:off x="4754880" y="2990160"/>
            <a:ext cx="4114440" cy="1801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2ea"/>
            </a:solidFill>
            <a:round/>
          </a:ln>
          <a:effectLst>
            <a:outerShdw algn="bl" blurRad="127080" dir="8100000" dist="37674" rotWithShape="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0" name="Shape 17"/>
          <p:cNvSpPr/>
          <p:nvPr/>
        </p:nvSpPr>
        <p:spPr>
          <a:xfrm>
            <a:off x="4754880" y="2990160"/>
            <a:ext cx="712800" cy="180108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1" name="Text 18"/>
          <p:cNvSpPr/>
          <p:nvPr/>
        </p:nvSpPr>
        <p:spPr>
          <a:xfrm>
            <a:off x="4754880" y="2990160"/>
            <a:ext cx="712800" cy="180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+16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 19"/>
          <p:cNvSpPr/>
          <p:nvPr/>
        </p:nvSpPr>
        <p:spPr>
          <a:xfrm>
            <a:off x="5623560" y="3173040"/>
            <a:ext cx="3108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1a1a2e"/>
                </a:solidFill>
                <a:latin typeface="Calibri"/>
              </a:rPr>
              <a:t>+16 pp over dummy baseline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Text 20"/>
          <p:cNvSpPr/>
          <p:nvPr/>
        </p:nvSpPr>
        <p:spPr>
          <a:xfrm>
            <a:off x="5623560" y="3557160"/>
            <a:ext cx="31086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Always predicting 'open' gives 0.50. Our model reaches 0.66 a 16 percentage point gain, confirming real, learnable signal exists in these features.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9b8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Shape 0"/>
          <p:cNvSpPr/>
          <p:nvPr/>
        </p:nvSpPr>
        <p:spPr>
          <a:xfrm>
            <a:off x="5029200" y="0"/>
            <a:ext cx="4114440" cy="5143320"/>
          </a:xfrm>
          <a:prstGeom prst="rect">
            <a:avLst/>
          </a:prstGeom>
          <a:solidFill>
            <a:srgbClr val="0d8178"/>
          </a:solidFill>
          <a:ln w="12700">
            <a:solidFill>
              <a:srgbClr val="0d817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5" name="Text 1"/>
          <p:cNvSpPr/>
          <p:nvPr/>
        </p:nvSpPr>
        <p:spPr>
          <a:xfrm>
            <a:off x="457200" y="868680"/>
            <a:ext cx="45716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497" strike="noStrike">
                <a:solidFill>
                  <a:srgbClr val="c8dae6"/>
                </a:solidFill>
                <a:latin typeface="Calibri"/>
              </a:rPr>
              <a:t>TASK 2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Text 2"/>
          <p:cNvSpPr/>
          <p:nvPr/>
        </p:nvSpPr>
        <p:spPr>
          <a:xfrm>
            <a:off x="457200" y="1353240"/>
            <a:ext cx="457164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Calibri"/>
              </a:rPr>
              <a:t>Developer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Calibri"/>
              </a:rPr>
              <a:t>Salary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Calibri"/>
              </a:rPr>
              <a:t>Regression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" name="Text 3"/>
          <p:cNvSpPr/>
          <p:nvPr/>
        </p:nvSpPr>
        <p:spPr>
          <a:xfrm>
            <a:off x="457200" y="3886200"/>
            <a:ext cx="4571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</a:rPr>
              <a:t>2,512 developers   ·   40 features   ·   RMSE metric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" name="Text 4"/>
          <p:cNvSpPr/>
          <p:nvPr/>
        </p:nvSpPr>
        <p:spPr>
          <a:xfrm>
            <a:off x="5394960" y="1234440"/>
            <a:ext cx="347436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ffffff"/>
                </a:solidFill>
                <a:latin typeface="Calibri"/>
              </a:rPr>
              <a:t>$40,829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Text 5"/>
          <p:cNvSpPr/>
          <p:nvPr/>
        </p:nvSpPr>
        <p:spPr>
          <a:xfrm>
            <a:off x="5394960" y="1828800"/>
            <a:ext cx="3474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c0d5e2"/>
                </a:solidFill>
                <a:latin typeface="Calibri"/>
              </a:rPr>
              <a:t>median salary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Text 6"/>
          <p:cNvSpPr/>
          <p:nvPr/>
        </p:nvSpPr>
        <p:spPr>
          <a:xfrm>
            <a:off x="5394960" y="2377440"/>
            <a:ext cx="347436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ffffff"/>
                </a:solidFill>
                <a:latin typeface="Calibri"/>
              </a:rPr>
              <a:t>$4.77M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Text 7"/>
          <p:cNvSpPr/>
          <p:nvPr/>
        </p:nvSpPr>
        <p:spPr>
          <a:xfrm>
            <a:off x="5394960" y="2971800"/>
            <a:ext cx="3474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c0d5e2"/>
                </a:solidFill>
                <a:latin typeface="Calibri"/>
              </a:rPr>
              <a:t>maximum salary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Text 8"/>
          <p:cNvSpPr/>
          <p:nvPr/>
        </p:nvSpPr>
        <p:spPr>
          <a:xfrm>
            <a:off x="5394960" y="3520440"/>
            <a:ext cx="347436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ffffff"/>
                </a:solidFill>
                <a:latin typeface="Calibri"/>
              </a:rPr>
              <a:t>33.1×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Text 9"/>
          <p:cNvSpPr/>
          <p:nvPr/>
        </p:nvSpPr>
        <p:spPr>
          <a:xfrm>
            <a:off x="5394960" y="4114800"/>
            <a:ext cx="3474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c0d5e2"/>
                </a:solidFill>
                <a:latin typeface="Calibri"/>
              </a:rPr>
              <a:t>skewness extreme tail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8ec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Text 0"/>
          <p:cNvSpPr/>
          <p:nvPr/>
        </p:nvSpPr>
        <p:spPr>
          <a:xfrm>
            <a:off x="457200" y="255960"/>
            <a:ext cx="82292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a1a2e"/>
                </a:solidFill>
                <a:latin typeface="Calibri"/>
              </a:rPr>
              <a:t>TASK 2  —  Data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Text 1"/>
          <p:cNvSpPr/>
          <p:nvPr/>
        </p:nvSpPr>
        <p:spPr>
          <a:xfrm>
            <a:off x="457200" y="74988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02060"/>
                </a:solidFill>
                <a:latin typeface="Calibri"/>
              </a:rPr>
              <a:t>2,512 developers  ·  40 features  ·  Stack Overflow Developer Survey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Shape 2"/>
          <p:cNvSpPr/>
          <p:nvPr/>
        </p:nvSpPr>
        <p:spPr>
          <a:xfrm>
            <a:off x="320040" y="1170360"/>
            <a:ext cx="2742840" cy="329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2ea"/>
            </a:solidFill>
            <a:round/>
          </a:ln>
          <a:effectLst>
            <a:outerShdw algn="bl" blurRad="127080" dir="8100000" dist="37674" rotWithShape="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7" name="Shape 3"/>
          <p:cNvSpPr/>
          <p:nvPr/>
        </p:nvSpPr>
        <p:spPr>
          <a:xfrm>
            <a:off x="320040" y="1170360"/>
            <a:ext cx="2742840" cy="63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8" name="Text 4"/>
          <p:cNvSpPr/>
          <p:nvPr/>
        </p:nvSpPr>
        <p:spPr>
          <a:xfrm>
            <a:off x="320040" y="1261800"/>
            <a:ext cx="2742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600" spc="-1" strike="noStrike">
                <a:solidFill>
                  <a:srgbClr val="065a82"/>
                </a:solidFill>
                <a:latin typeface="Calibri"/>
              </a:rPr>
              <a:t>4</a:t>
            </a:r>
            <a:endParaRPr b="0" lang="en-US" sz="4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Text 5"/>
          <p:cNvSpPr/>
          <p:nvPr/>
        </p:nvSpPr>
        <p:spPr>
          <a:xfrm>
            <a:off x="320040" y="192024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a1a2e"/>
                </a:solidFill>
                <a:latin typeface="Calibri"/>
              </a:rPr>
              <a:t>Numeric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Shape 6"/>
          <p:cNvSpPr/>
          <p:nvPr/>
        </p:nvSpPr>
        <p:spPr>
          <a:xfrm>
            <a:off x="1051560" y="2286000"/>
            <a:ext cx="1279800" cy="13320"/>
          </a:xfrm>
          <a:prstGeom prst="rect">
            <a:avLst/>
          </a:prstGeom>
          <a:solidFill>
            <a:srgbClr val="dde2ea"/>
          </a:solidFill>
          <a:ln w="12700">
            <a:solidFill>
              <a:srgbClr val="dde2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1320" bIns="-3132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1" name="Text 7"/>
          <p:cNvSpPr/>
          <p:nvPr/>
        </p:nvSpPr>
        <p:spPr>
          <a:xfrm>
            <a:off x="448200" y="2395800"/>
            <a:ext cx="248688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8899aa"/>
                </a:solidFill>
                <a:latin typeface="Calibri"/>
              </a:rPr>
              <a:t>· </a:t>
            </a:r>
            <a:r>
              <a:rPr b="0" lang="en-US" sz="1050" spc="-1" strike="noStrike">
                <a:solidFill>
                  <a:srgbClr val="002060"/>
                </a:solidFill>
                <a:latin typeface="Calibri"/>
              </a:rPr>
              <a:t>coding.years.total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Text 8"/>
          <p:cNvSpPr/>
          <p:nvPr/>
        </p:nvSpPr>
        <p:spPr>
          <a:xfrm>
            <a:off x="448200" y="2734200"/>
            <a:ext cx="248688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8899aa"/>
                </a:solidFill>
                <a:latin typeface="Calibri"/>
              </a:rPr>
              <a:t>· </a:t>
            </a:r>
            <a:r>
              <a:rPr b="0" lang="en-US" sz="1050" spc="-1" strike="noStrike">
                <a:solidFill>
                  <a:srgbClr val="002060"/>
                </a:solidFill>
                <a:latin typeface="Calibri"/>
              </a:rPr>
              <a:t>coding.years.professional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Text 9"/>
          <p:cNvSpPr/>
          <p:nvPr/>
        </p:nvSpPr>
        <p:spPr>
          <a:xfrm>
            <a:off x="448200" y="3072240"/>
            <a:ext cx="248688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002060"/>
                </a:solidFill>
                <a:latin typeface="Calibri"/>
              </a:rPr>
              <a:t>· experience.years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Text 10"/>
          <p:cNvSpPr/>
          <p:nvPr/>
        </p:nvSpPr>
        <p:spPr>
          <a:xfrm>
            <a:off x="448200" y="3410640"/>
            <a:ext cx="248688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8899aa"/>
                </a:solidFill>
                <a:latin typeface="Calibri"/>
              </a:rPr>
              <a:t>· </a:t>
            </a:r>
            <a:r>
              <a:rPr b="0" lang="en-US" sz="1050" spc="-1" strike="noStrike">
                <a:solidFill>
                  <a:srgbClr val="002060"/>
                </a:solidFill>
                <a:latin typeface="Calibri"/>
              </a:rPr>
              <a:t>job.satisfaction (0–10)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Shape 11"/>
          <p:cNvSpPr/>
          <p:nvPr/>
        </p:nvSpPr>
        <p:spPr>
          <a:xfrm>
            <a:off x="3246120" y="1170360"/>
            <a:ext cx="2742840" cy="329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2ea"/>
            </a:solidFill>
            <a:round/>
          </a:ln>
          <a:effectLst>
            <a:outerShdw algn="bl" blurRad="127080" dir="8100000" dist="37674" rotWithShape="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6" name="Shape 12"/>
          <p:cNvSpPr/>
          <p:nvPr/>
        </p:nvSpPr>
        <p:spPr>
          <a:xfrm>
            <a:off x="3246120" y="1170360"/>
            <a:ext cx="2742840" cy="63720"/>
          </a:xfrm>
          <a:prstGeom prst="rect">
            <a:avLst/>
          </a:prstGeom>
          <a:solidFill>
            <a:srgbClr val="0f9b8e"/>
          </a:solidFill>
          <a:ln w="12700">
            <a:solidFill>
              <a:srgbClr val="0f9b8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7" name="Text 13"/>
          <p:cNvSpPr/>
          <p:nvPr/>
        </p:nvSpPr>
        <p:spPr>
          <a:xfrm>
            <a:off x="3246120" y="1261800"/>
            <a:ext cx="2742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600" spc="-1" strike="noStrike">
                <a:solidFill>
                  <a:srgbClr val="0f9b8e"/>
                </a:solidFill>
                <a:latin typeface="Calibri"/>
              </a:rPr>
              <a:t>21</a:t>
            </a:r>
            <a:endParaRPr b="0" lang="en-US" sz="4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Text 14"/>
          <p:cNvSpPr/>
          <p:nvPr/>
        </p:nvSpPr>
        <p:spPr>
          <a:xfrm>
            <a:off x="3246120" y="192024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a1a2e"/>
                </a:solidFill>
                <a:latin typeface="Calibri"/>
              </a:rPr>
              <a:t>Categorical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Shape 15"/>
          <p:cNvSpPr/>
          <p:nvPr/>
        </p:nvSpPr>
        <p:spPr>
          <a:xfrm>
            <a:off x="3977640" y="2286000"/>
            <a:ext cx="1279800" cy="13320"/>
          </a:xfrm>
          <a:prstGeom prst="rect">
            <a:avLst/>
          </a:prstGeom>
          <a:solidFill>
            <a:srgbClr val="dde2ea"/>
          </a:solidFill>
          <a:ln w="12700">
            <a:solidFill>
              <a:srgbClr val="dde2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1320" bIns="-3132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0" name="Text 16"/>
          <p:cNvSpPr/>
          <p:nvPr/>
        </p:nvSpPr>
        <p:spPr>
          <a:xfrm>
            <a:off x="3374280" y="2395800"/>
            <a:ext cx="248688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8899aa"/>
                </a:solidFill>
                <a:latin typeface="Calibri"/>
              </a:rPr>
              <a:t>· </a:t>
            </a:r>
            <a:r>
              <a:rPr b="0" lang="en-US" sz="1050" spc="-1" strike="noStrike">
                <a:solidFill>
                  <a:srgbClr val="002060"/>
                </a:solidFill>
                <a:latin typeface="Calibri"/>
              </a:rPr>
              <a:t>region (18 values)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Text 17"/>
          <p:cNvSpPr/>
          <p:nvPr/>
        </p:nvSpPr>
        <p:spPr>
          <a:xfrm>
            <a:off x="3374280" y="2734200"/>
            <a:ext cx="248688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002060"/>
                </a:solidFill>
                <a:latin typeface="Calibri"/>
              </a:rPr>
              <a:t>· age.group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Text 18"/>
          <p:cNvSpPr/>
          <p:nvPr/>
        </p:nvSpPr>
        <p:spPr>
          <a:xfrm>
            <a:off x="3374280" y="3072240"/>
            <a:ext cx="248688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8899aa"/>
                </a:solidFill>
                <a:latin typeface="Calibri"/>
              </a:rPr>
              <a:t>· </a:t>
            </a:r>
            <a:r>
              <a:rPr b="0" lang="en-US" sz="1050" spc="-1" strike="noStrike">
                <a:solidFill>
                  <a:srgbClr val="002060"/>
                </a:solidFill>
                <a:latin typeface="Calibri"/>
              </a:rPr>
              <a:t>employment.type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Text 19"/>
          <p:cNvSpPr/>
          <p:nvPr/>
        </p:nvSpPr>
        <p:spPr>
          <a:xfrm>
            <a:off x="3374280" y="3410640"/>
            <a:ext cx="248688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002060"/>
                </a:solidFill>
                <a:latin typeface="Calibri"/>
              </a:rPr>
              <a:t>· work.location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Text 20"/>
          <p:cNvSpPr/>
          <p:nvPr/>
        </p:nvSpPr>
        <p:spPr>
          <a:xfrm>
            <a:off x="3374280" y="3749040"/>
            <a:ext cx="248688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002060"/>
                </a:solidFill>
                <a:latin typeface="Calibri"/>
              </a:rPr>
              <a:t>· education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Text 21"/>
          <p:cNvSpPr/>
          <p:nvPr/>
        </p:nvSpPr>
        <p:spPr>
          <a:xfrm>
            <a:off x="3374280" y="4087440"/>
            <a:ext cx="248688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8899aa"/>
                </a:solidFill>
                <a:latin typeface="Calibri"/>
              </a:rPr>
              <a:t>· </a:t>
            </a:r>
            <a:r>
              <a:rPr b="0" lang="en-US" sz="1050" spc="-1" strike="noStrike">
                <a:solidFill>
                  <a:srgbClr val="002060"/>
                </a:solidFill>
                <a:latin typeface="Calibri"/>
              </a:rPr>
              <a:t>company.size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Shape 22"/>
          <p:cNvSpPr/>
          <p:nvPr/>
        </p:nvSpPr>
        <p:spPr>
          <a:xfrm>
            <a:off x="6172200" y="1146960"/>
            <a:ext cx="2742840" cy="329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2ea"/>
            </a:solidFill>
            <a:round/>
          </a:ln>
          <a:effectLst>
            <a:outerShdw algn="bl" blurRad="127080" dir="8100000" dist="37674" rotWithShape="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7" name="Shape 23"/>
          <p:cNvSpPr/>
          <p:nvPr/>
        </p:nvSpPr>
        <p:spPr>
          <a:xfrm>
            <a:off x="6172200" y="1170360"/>
            <a:ext cx="2742840" cy="63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8" name="Text 24"/>
          <p:cNvSpPr/>
          <p:nvPr/>
        </p:nvSpPr>
        <p:spPr>
          <a:xfrm>
            <a:off x="6172200" y="1261800"/>
            <a:ext cx="2742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600" spc="-1" strike="noStrike">
                <a:solidFill>
                  <a:srgbClr val="f5a623"/>
                </a:solidFill>
                <a:latin typeface="Calibri"/>
              </a:rPr>
              <a:t>15</a:t>
            </a:r>
            <a:endParaRPr b="0" lang="en-US" sz="4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Text 25"/>
          <p:cNvSpPr/>
          <p:nvPr/>
        </p:nvSpPr>
        <p:spPr>
          <a:xfrm>
            <a:off x="6172200" y="192024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a1a2e"/>
                </a:solidFill>
                <a:latin typeface="Calibri"/>
              </a:rPr>
              <a:t>Multi-label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Shape 26"/>
          <p:cNvSpPr/>
          <p:nvPr/>
        </p:nvSpPr>
        <p:spPr>
          <a:xfrm>
            <a:off x="6903720" y="2286000"/>
            <a:ext cx="1279800" cy="13320"/>
          </a:xfrm>
          <a:prstGeom prst="rect">
            <a:avLst/>
          </a:prstGeom>
          <a:solidFill>
            <a:srgbClr val="dde2ea"/>
          </a:solidFill>
          <a:ln w="12700">
            <a:solidFill>
              <a:srgbClr val="dde2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1320" bIns="-3132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1" name="Text 27"/>
          <p:cNvSpPr/>
          <p:nvPr/>
        </p:nvSpPr>
        <p:spPr>
          <a:xfrm>
            <a:off x="6300360" y="2395800"/>
            <a:ext cx="248688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8899aa"/>
                </a:solidFill>
                <a:latin typeface="Calibri"/>
              </a:rPr>
              <a:t>· </a:t>
            </a:r>
            <a:r>
              <a:rPr b="0" lang="en-US" sz="1050" spc="-1" strike="noStrike">
                <a:solidFill>
                  <a:srgbClr val="002060"/>
                </a:solidFill>
                <a:latin typeface="Calibri"/>
              </a:rPr>
              <a:t>prog.languages (40 unique)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Text 28"/>
          <p:cNvSpPr/>
          <p:nvPr/>
        </p:nvSpPr>
        <p:spPr>
          <a:xfrm>
            <a:off x="6300360" y="2734200"/>
            <a:ext cx="248688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8899aa"/>
                </a:solidFill>
                <a:latin typeface="Calibri"/>
              </a:rPr>
              <a:t>· </a:t>
            </a:r>
            <a:r>
              <a:rPr b="0" lang="en-US" sz="1050" spc="-1" strike="noStrike">
                <a:solidFill>
                  <a:srgbClr val="002060"/>
                </a:solidFill>
                <a:latin typeface="Calibri"/>
              </a:rPr>
              <a:t>databases (29 unique)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Text 29"/>
          <p:cNvSpPr/>
          <p:nvPr/>
        </p:nvSpPr>
        <p:spPr>
          <a:xfrm>
            <a:off x="6300360" y="3072240"/>
            <a:ext cx="248688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8899aa"/>
                </a:solidFill>
                <a:latin typeface="Calibri"/>
              </a:rPr>
              <a:t>· </a:t>
            </a:r>
            <a:r>
              <a:rPr b="0" lang="en-US" sz="1050" spc="-1" strike="noStrike">
                <a:solidFill>
                  <a:srgbClr val="002060"/>
                </a:solidFill>
                <a:latin typeface="Calibri"/>
              </a:rPr>
              <a:t>cloud.platforms (25 unique)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Text 30"/>
          <p:cNvSpPr/>
          <p:nvPr/>
        </p:nvSpPr>
        <p:spPr>
          <a:xfrm>
            <a:off x="6300360" y="3410640"/>
            <a:ext cx="248688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002060"/>
                </a:solidFill>
                <a:latin typeface="Calibri"/>
              </a:rPr>
              <a:t>· side.coding, how.learned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Shape 0"/>
          <p:cNvSpPr/>
          <p:nvPr/>
        </p:nvSpPr>
        <p:spPr>
          <a:xfrm>
            <a:off x="0" y="0"/>
            <a:ext cx="3474360" cy="5143320"/>
          </a:xfrm>
          <a:prstGeom prst="rect">
            <a:avLst/>
          </a:prstGeom>
          <a:solidFill>
            <a:srgbClr val="0f9b8e"/>
          </a:solidFill>
          <a:ln w="12700">
            <a:solidFill>
              <a:srgbClr val="0f9b8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6" name="Text 1"/>
          <p:cNvSpPr/>
          <p:nvPr/>
        </p:nvSpPr>
        <p:spPr>
          <a:xfrm>
            <a:off x="274320" y="384120"/>
            <a:ext cx="2925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398" strike="noStrike">
                <a:solidFill>
                  <a:srgbClr val="b0c8d8"/>
                </a:solidFill>
                <a:latin typeface="Calibri"/>
              </a:rPr>
              <a:t>TASK 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Text 2"/>
          <p:cNvSpPr/>
          <p:nvPr/>
        </p:nvSpPr>
        <p:spPr>
          <a:xfrm>
            <a:off x="274320" y="777240"/>
            <a:ext cx="292572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300" spc="-1" strike="noStrike">
                <a:solidFill>
                  <a:srgbClr val="ffffff"/>
                </a:solidFill>
                <a:latin typeface="Calibri"/>
              </a:rPr>
              <a:t>Feature</a:t>
            </a:r>
            <a:endParaRPr b="0" lang="en-US" sz="3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300" spc="-1" strike="noStrike">
                <a:solidFill>
                  <a:srgbClr val="ffffff"/>
                </a:solidFill>
                <a:latin typeface="Calibri"/>
              </a:rPr>
              <a:t>Engineering</a:t>
            </a:r>
            <a:endParaRPr b="0" lang="en-US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Shape 3"/>
          <p:cNvSpPr/>
          <p:nvPr/>
        </p:nvSpPr>
        <p:spPr>
          <a:xfrm>
            <a:off x="228600" y="2286000"/>
            <a:ext cx="3017160" cy="383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9" name="Text 4"/>
          <p:cNvSpPr/>
          <p:nvPr/>
        </p:nvSpPr>
        <p:spPr>
          <a:xfrm>
            <a:off x="228600" y="2286000"/>
            <a:ext cx="3017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f9b8e"/>
                </a:solidFill>
                <a:latin typeface="Calibri"/>
              </a:rPr>
              <a:t>"Python;JavaScript;SQL"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Text 5"/>
          <p:cNvSpPr/>
          <p:nvPr/>
        </p:nvSpPr>
        <p:spPr>
          <a:xfrm>
            <a:off x="274320" y="274320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c0d5e2"/>
                </a:solidFill>
                <a:latin typeface="Calibri"/>
              </a:rPr>
              <a:t>↓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Text 6"/>
          <p:cNvSpPr/>
          <p:nvPr/>
        </p:nvSpPr>
        <p:spPr>
          <a:xfrm>
            <a:off x="274320" y="3182040"/>
            <a:ext cx="29257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200+ binary features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Text 7"/>
          <p:cNvSpPr/>
          <p:nvPr/>
        </p:nvSpPr>
        <p:spPr>
          <a:xfrm>
            <a:off x="274320" y="3566160"/>
            <a:ext cx="2925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chemeClr val="lt1">
                    <a:lumMod val="95000"/>
                  </a:schemeClr>
                </a:solidFill>
                <a:latin typeface="Calibri"/>
              </a:rPr>
              <a:t>one MultiLabelBinarizer per column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Shape 8"/>
          <p:cNvSpPr/>
          <p:nvPr/>
        </p:nvSpPr>
        <p:spPr>
          <a:xfrm>
            <a:off x="3657600" y="411480"/>
            <a:ext cx="54360" cy="1188360"/>
          </a:xfrm>
          <a:prstGeom prst="rect">
            <a:avLst/>
          </a:prstGeom>
          <a:solidFill>
            <a:srgbClr val="0f9b8e"/>
          </a:solidFill>
          <a:ln w="12700">
            <a:solidFill>
              <a:srgbClr val="0f9b8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4" name="Text 9"/>
          <p:cNvSpPr/>
          <p:nvPr/>
        </p:nvSpPr>
        <p:spPr>
          <a:xfrm>
            <a:off x="3886200" y="484560"/>
            <a:ext cx="5028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a1a2e"/>
                </a:solidFill>
                <a:latin typeface="Calibri"/>
              </a:rPr>
              <a:t>Why multi-label encoding?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Text 10"/>
          <p:cNvSpPr/>
          <p:nvPr/>
        </p:nvSpPr>
        <p:spPr>
          <a:xfrm>
            <a:off x="3886200" y="831960"/>
            <a:ext cx="50288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002060"/>
                </a:solidFill>
                <a:latin typeface="Calibri"/>
              </a:rPr>
              <a:t>sklearn's built-in OHE can't handle semicolon-separated lists. We built a custom MultiLabelColumnEncoder transformer one MultiLabelBinarizer per column, fully Pipeline- and GridSearchCV-compatible.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Shape 11"/>
          <p:cNvSpPr/>
          <p:nvPr/>
        </p:nvSpPr>
        <p:spPr>
          <a:xfrm>
            <a:off x="3657600" y="1938600"/>
            <a:ext cx="54360" cy="1188360"/>
          </a:xfrm>
          <a:prstGeom prst="rect">
            <a:avLst/>
          </a:prstGeom>
          <a:solidFill>
            <a:srgbClr val="0f9b8e"/>
          </a:solidFill>
          <a:ln w="12700">
            <a:solidFill>
              <a:srgbClr val="0f9b8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7" name="Text 12"/>
          <p:cNvSpPr/>
          <p:nvPr/>
        </p:nvSpPr>
        <p:spPr>
          <a:xfrm>
            <a:off x="3886200" y="2011680"/>
            <a:ext cx="5028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a1a2e"/>
                </a:solidFill>
                <a:latin typeface="Calibri"/>
              </a:rPr>
              <a:t>Why log-transform the target?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Text 13"/>
          <p:cNvSpPr/>
          <p:nvPr/>
        </p:nvSpPr>
        <p:spPr>
          <a:xfrm>
            <a:off x="3886200" y="2359080"/>
            <a:ext cx="50288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002060"/>
                </a:solidFill>
                <a:latin typeface="Calibri"/>
              </a:rPr>
              <a:t>Salary skewness = 33. Training on raw USD makes the loss dominated by $1M+ earners. log1p(salary) compresses the scale  the model learns the typical developer, not just outliers.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Shape 14"/>
          <p:cNvSpPr/>
          <p:nvPr/>
        </p:nvSpPr>
        <p:spPr>
          <a:xfrm>
            <a:off x="3657600" y="3465720"/>
            <a:ext cx="54360" cy="1188360"/>
          </a:xfrm>
          <a:prstGeom prst="rect">
            <a:avLst/>
          </a:prstGeom>
          <a:solidFill>
            <a:srgbClr val="0f9b8e"/>
          </a:solidFill>
          <a:ln w="12700">
            <a:solidFill>
              <a:srgbClr val="0f9b8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0" name="Text 15"/>
          <p:cNvSpPr/>
          <p:nvPr/>
        </p:nvSpPr>
        <p:spPr>
          <a:xfrm>
            <a:off x="3886200" y="3538800"/>
            <a:ext cx="5028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a1a2e"/>
                </a:solidFill>
                <a:latin typeface="Calibri"/>
              </a:rPr>
              <a:t>TransformedTargetRegressor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Text 16"/>
          <p:cNvSpPr/>
          <p:nvPr/>
        </p:nvSpPr>
        <p:spPr>
          <a:xfrm>
            <a:off x="3886200" y="3886200"/>
            <a:ext cx="50288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002060"/>
                </a:solidFill>
                <a:latin typeface="Calibri"/>
              </a:rPr>
              <a:t>Wraps Elastic Net so it trains on log1p(salary) internally and applies expm1 to produce USD predictions. Clean, no manual inverse steps, compatible with sklearn pipelines.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Text 0"/>
          <p:cNvSpPr/>
          <p:nvPr/>
        </p:nvSpPr>
        <p:spPr>
          <a:xfrm>
            <a:off x="457200" y="27432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TASK 2  —  Results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" name="Text 1"/>
          <p:cNvSpPr/>
          <p:nvPr/>
        </p:nvSpPr>
        <p:spPr>
          <a:xfrm>
            <a:off x="457200" y="749880"/>
            <a:ext cx="8229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8899aa"/>
                </a:solidFill>
                <a:latin typeface="Calibri"/>
              </a:rPr>
              <a:t>5-fold KFold CV  ·  RMSE (USD)  ·  All models: log-transformed target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214" name="Chart 0"/>
          <p:cNvGraphicFramePr/>
          <p:nvPr/>
        </p:nvGraphicFramePr>
        <p:xfrm>
          <a:off x="274320" y="1097280"/>
          <a:ext cx="5120280" cy="3748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15" name="Shape 2"/>
          <p:cNvSpPr/>
          <p:nvPr/>
        </p:nvSpPr>
        <p:spPr>
          <a:xfrm>
            <a:off x="5715000" y="1143000"/>
            <a:ext cx="3154320" cy="1051200"/>
          </a:xfrm>
          <a:prstGeom prst="rect">
            <a:avLst/>
          </a:prstGeom>
          <a:solidFill>
            <a:srgbClr val="1f2f47"/>
          </a:solidFill>
          <a:ln w="15240">
            <a:solidFill>
              <a:srgbClr val="0f9b8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6" name="Text 3"/>
          <p:cNvSpPr/>
          <p:nvPr/>
        </p:nvSpPr>
        <p:spPr>
          <a:xfrm>
            <a:off x="5852160" y="1216080"/>
            <a:ext cx="1828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$90,024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7" name="Text 4"/>
          <p:cNvSpPr/>
          <p:nvPr/>
        </p:nvSpPr>
        <p:spPr>
          <a:xfrm>
            <a:off x="5852160" y="171000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8899aa"/>
                </a:solidFill>
                <a:latin typeface="Calibri"/>
              </a:rPr>
              <a:t>log RMSE: 1.371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" name="Text 5"/>
          <p:cNvSpPr/>
          <p:nvPr/>
        </p:nvSpPr>
        <p:spPr>
          <a:xfrm>
            <a:off x="7589520" y="1216080"/>
            <a:ext cx="1188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aabbcc"/>
                </a:solidFill>
                <a:latin typeface="Calibri"/>
              </a:rPr>
              <a:t>Elastic Net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" name="Text 6"/>
          <p:cNvSpPr/>
          <p:nvPr/>
        </p:nvSpPr>
        <p:spPr>
          <a:xfrm>
            <a:off x="7589520" y="1527120"/>
            <a:ext cx="1188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50" spc="-1" strike="noStrike">
                <a:solidFill>
                  <a:srgbClr val="0f9b8e"/>
                </a:solidFill>
                <a:latin typeface="Calibri"/>
              </a:rPr>
              <a:t>CV RMSE  ·  WINNER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" name="Shape 7"/>
          <p:cNvSpPr/>
          <p:nvPr/>
        </p:nvSpPr>
        <p:spPr>
          <a:xfrm>
            <a:off x="5715000" y="2377440"/>
            <a:ext cx="3154320" cy="1051200"/>
          </a:xfrm>
          <a:prstGeom prst="rect">
            <a:avLst/>
          </a:prstGeom>
          <a:solidFill>
            <a:srgbClr val="1f2f47"/>
          </a:solidFill>
          <a:ln w="6350">
            <a:solidFill>
              <a:srgbClr val="2a3f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1" name="Text 8"/>
          <p:cNvSpPr/>
          <p:nvPr/>
        </p:nvSpPr>
        <p:spPr>
          <a:xfrm>
            <a:off x="5852160" y="2450520"/>
            <a:ext cx="1828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chemeClr val="lt1">
                    <a:lumMod val="95000"/>
                  </a:schemeClr>
                </a:solidFill>
                <a:latin typeface="Calibri"/>
              </a:rPr>
              <a:t>$92,536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Text 9"/>
          <p:cNvSpPr/>
          <p:nvPr/>
        </p:nvSpPr>
        <p:spPr>
          <a:xfrm>
            <a:off x="5852160" y="294444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8899aa"/>
                </a:solidFill>
                <a:latin typeface="Calibri"/>
              </a:rPr>
              <a:t>log RMSE: 1.465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" name="Text 10"/>
          <p:cNvSpPr/>
          <p:nvPr/>
        </p:nvSpPr>
        <p:spPr>
          <a:xfrm>
            <a:off x="7589520" y="2450520"/>
            <a:ext cx="1188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aabbcc"/>
                </a:solidFill>
                <a:latin typeface="Calibri"/>
              </a:rPr>
              <a:t>KNN Regressor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" name="Text 11"/>
          <p:cNvSpPr/>
          <p:nvPr/>
        </p:nvSpPr>
        <p:spPr>
          <a:xfrm>
            <a:off x="7589520" y="2761560"/>
            <a:ext cx="1188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50" spc="-1" strike="noStrike">
                <a:solidFill>
                  <a:srgbClr val="44657a"/>
                </a:solidFill>
                <a:latin typeface="Calibri"/>
              </a:rPr>
              <a:t>CV RMSE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5" name="Shape 12"/>
          <p:cNvSpPr/>
          <p:nvPr/>
        </p:nvSpPr>
        <p:spPr>
          <a:xfrm>
            <a:off x="5715000" y="3611880"/>
            <a:ext cx="3154320" cy="1051200"/>
          </a:xfrm>
          <a:prstGeom prst="rect">
            <a:avLst/>
          </a:prstGeom>
          <a:solidFill>
            <a:srgbClr val="1f2f47"/>
          </a:solidFill>
          <a:ln w="6350">
            <a:solidFill>
              <a:srgbClr val="2a3f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6" name="Text 13"/>
          <p:cNvSpPr/>
          <p:nvPr/>
        </p:nvSpPr>
        <p:spPr>
          <a:xfrm>
            <a:off x="5852160" y="3684960"/>
            <a:ext cx="1828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chemeClr val="lt1">
                    <a:lumMod val="95000"/>
                  </a:schemeClr>
                </a:solidFill>
                <a:latin typeface="Calibri"/>
              </a:rPr>
              <a:t>$93,430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" name="Text 14"/>
          <p:cNvSpPr/>
          <p:nvPr/>
        </p:nvSpPr>
        <p:spPr>
          <a:xfrm>
            <a:off x="5852160" y="417888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8899aa"/>
                </a:solidFill>
                <a:latin typeface="Calibri"/>
              </a:rPr>
              <a:t>log RMSE: 1.447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" name="Text 15"/>
          <p:cNvSpPr/>
          <p:nvPr/>
        </p:nvSpPr>
        <p:spPr>
          <a:xfrm>
            <a:off x="7589520" y="3684960"/>
            <a:ext cx="1188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aabbcc"/>
                </a:solidFill>
                <a:latin typeface="Calibri"/>
              </a:rPr>
              <a:t>LinearSVR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9" name="Text 16"/>
          <p:cNvSpPr/>
          <p:nvPr/>
        </p:nvSpPr>
        <p:spPr>
          <a:xfrm>
            <a:off x="7589520" y="3996000"/>
            <a:ext cx="1188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50" spc="-1" strike="noStrike">
                <a:solidFill>
                  <a:srgbClr val="44657a"/>
                </a:solidFill>
                <a:latin typeface="Calibri"/>
              </a:rPr>
              <a:t>CV RMSE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Text 0"/>
          <p:cNvSpPr/>
          <p:nvPr/>
        </p:nvSpPr>
        <p:spPr>
          <a:xfrm>
            <a:off x="457200" y="255960"/>
            <a:ext cx="82292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a1a2e"/>
                </a:solidFill>
                <a:latin typeface="Calibri"/>
              </a:rPr>
              <a:t>TASK 2  —  Key Takeaways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Shape 1"/>
          <p:cNvSpPr/>
          <p:nvPr/>
        </p:nvSpPr>
        <p:spPr>
          <a:xfrm>
            <a:off x="365760" y="1005840"/>
            <a:ext cx="4114440" cy="1801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2ea"/>
            </a:solidFill>
            <a:round/>
          </a:ln>
          <a:effectLst>
            <a:outerShdw algn="bl" blurRad="127080" dir="8100000" dist="37674" rotWithShape="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2" name="Shape 2"/>
          <p:cNvSpPr/>
          <p:nvPr/>
        </p:nvSpPr>
        <p:spPr>
          <a:xfrm>
            <a:off x="365760" y="1005840"/>
            <a:ext cx="712800" cy="1801080"/>
          </a:xfrm>
          <a:prstGeom prst="rect">
            <a:avLst/>
          </a:prstGeom>
          <a:solidFill>
            <a:srgbClr val="0f9b8e"/>
          </a:solidFill>
          <a:ln w="12700">
            <a:solidFill>
              <a:srgbClr val="0f9b8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3" name="Text 3"/>
          <p:cNvSpPr/>
          <p:nvPr/>
        </p:nvSpPr>
        <p:spPr>
          <a:xfrm>
            <a:off x="365760" y="1005840"/>
            <a:ext cx="712800" cy="180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log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Text 4"/>
          <p:cNvSpPr/>
          <p:nvPr/>
        </p:nvSpPr>
        <p:spPr>
          <a:xfrm>
            <a:off x="1234440" y="1188720"/>
            <a:ext cx="3108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1a1a2e"/>
                </a:solidFill>
                <a:latin typeface="Calibri"/>
              </a:rPr>
              <a:t>Log transform is essential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Text 5"/>
          <p:cNvSpPr/>
          <p:nvPr/>
        </p:nvSpPr>
        <p:spPr>
          <a:xfrm>
            <a:off x="1234440" y="1572840"/>
            <a:ext cx="31086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Skewness 33 → −1.6 after log1p. Training on raw USD lets extreme earners dominate. Log scale gives the model a fair chance to learn the typical developer salary.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Shape 6"/>
          <p:cNvSpPr/>
          <p:nvPr/>
        </p:nvSpPr>
        <p:spPr>
          <a:xfrm>
            <a:off x="4754880" y="1005840"/>
            <a:ext cx="4114440" cy="1801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2ea"/>
            </a:solidFill>
            <a:round/>
          </a:ln>
          <a:effectLst>
            <a:outerShdw algn="bl" blurRad="127080" dir="8100000" dist="37674" rotWithShape="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7" name="Shape 7"/>
          <p:cNvSpPr/>
          <p:nvPr/>
        </p:nvSpPr>
        <p:spPr>
          <a:xfrm>
            <a:off x="4754880" y="1005840"/>
            <a:ext cx="712800" cy="1801080"/>
          </a:xfrm>
          <a:prstGeom prst="rect">
            <a:avLst/>
          </a:prstGeom>
          <a:solidFill>
            <a:srgbClr val="0f9b8e"/>
          </a:solidFill>
          <a:ln w="12700">
            <a:solidFill>
              <a:srgbClr val="0f9b8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8" name="Text 8"/>
          <p:cNvSpPr/>
          <p:nvPr/>
        </p:nvSpPr>
        <p:spPr>
          <a:xfrm>
            <a:off x="4754880" y="1005840"/>
            <a:ext cx="712800" cy="180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α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Text 9"/>
          <p:cNvSpPr/>
          <p:nvPr/>
        </p:nvSpPr>
        <p:spPr>
          <a:xfrm>
            <a:off x="5623560" y="1188720"/>
            <a:ext cx="3108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1a1a2e"/>
                </a:solidFill>
                <a:latin typeface="Calibri"/>
              </a:rPr>
              <a:t>Elastic Net wins (mostly Ridge)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Text 10"/>
          <p:cNvSpPr/>
          <p:nvPr/>
        </p:nvSpPr>
        <p:spPr>
          <a:xfrm>
            <a:off x="5623560" y="1572840"/>
            <a:ext cx="31086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Best: α=0.1, l1_ratio=0.1  nearly pure Ridge. Some L1 shrinkage helps, but features aren't sparse: most programming languages, regions, and tools carry partial signal.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Shape 11"/>
          <p:cNvSpPr/>
          <p:nvPr/>
        </p:nvSpPr>
        <p:spPr>
          <a:xfrm>
            <a:off x="365760" y="2990160"/>
            <a:ext cx="4114440" cy="1801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2ea"/>
            </a:solidFill>
            <a:round/>
          </a:ln>
          <a:effectLst>
            <a:outerShdw algn="bl" blurRad="127080" dir="8100000" dist="37674" rotWithShape="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2" name="Shape 12"/>
          <p:cNvSpPr/>
          <p:nvPr/>
        </p:nvSpPr>
        <p:spPr>
          <a:xfrm>
            <a:off x="365760" y="2990160"/>
            <a:ext cx="712800" cy="1801080"/>
          </a:xfrm>
          <a:prstGeom prst="rect">
            <a:avLst/>
          </a:prstGeom>
          <a:solidFill>
            <a:srgbClr val="0f9b8e"/>
          </a:solidFill>
          <a:ln w="12700">
            <a:solidFill>
              <a:srgbClr val="0f9b8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3" name="Text 13"/>
          <p:cNvSpPr/>
          <p:nvPr/>
        </p:nvSpPr>
        <p:spPr>
          <a:xfrm>
            <a:off x="365760" y="2990160"/>
            <a:ext cx="712800" cy="180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24%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Text 14"/>
          <p:cNvSpPr/>
          <p:nvPr/>
        </p:nvSpPr>
        <p:spPr>
          <a:xfrm>
            <a:off x="1234440" y="3173040"/>
            <a:ext cx="3108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1a1a2e"/>
                </a:solidFill>
                <a:latin typeface="Calibri"/>
              </a:rPr>
              <a:t>Real signal in the features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Text 15"/>
          <p:cNvSpPr/>
          <p:nvPr/>
        </p:nvSpPr>
        <p:spPr>
          <a:xfrm>
            <a:off x="1234440" y="3557160"/>
            <a:ext cx="31086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Log RMSE 1.81 (baseline) → 1.37 (Elastic Net): −24% improvement. USD-scale RMSE difference looks small due to extreme outliers, but the log scale tells the truth.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Shape 16"/>
          <p:cNvSpPr/>
          <p:nvPr/>
        </p:nvSpPr>
        <p:spPr>
          <a:xfrm>
            <a:off x="4754880" y="2990160"/>
            <a:ext cx="4114440" cy="1801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2ea"/>
            </a:solidFill>
            <a:round/>
          </a:ln>
          <a:effectLst>
            <a:outerShdw algn="bl" blurRad="127080" dir="8100000" dist="37674" rotWithShape="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7" name="Shape 17"/>
          <p:cNvSpPr/>
          <p:nvPr/>
        </p:nvSpPr>
        <p:spPr>
          <a:xfrm>
            <a:off x="4754880" y="2990160"/>
            <a:ext cx="712800" cy="1801080"/>
          </a:xfrm>
          <a:prstGeom prst="rect">
            <a:avLst/>
          </a:prstGeom>
          <a:solidFill>
            <a:srgbClr val="0f9b8e"/>
          </a:solidFill>
          <a:ln w="12700">
            <a:solidFill>
              <a:srgbClr val="0f9b8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8" name="Text 18"/>
          <p:cNvSpPr/>
          <p:nvPr/>
        </p:nvSpPr>
        <p:spPr>
          <a:xfrm>
            <a:off x="4754880" y="2990160"/>
            <a:ext cx="712800" cy="180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200+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Text 19"/>
          <p:cNvSpPr/>
          <p:nvPr/>
        </p:nvSpPr>
        <p:spPr>
          <a:xfrm>
            <a:off x="5623560" y="3173040"/>
            <a:ext cx="3108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1a1a2e"/>
                </a:solidFill>
                <a:latin typeface="Calibri"/>
              </a:rPr>
              <a:t>Multi-label encoding matters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Text 20"/>
          <p:cNvSpPr/>
          <p:nvPr/>
        </p:nvSpPr>
        <p:spPr>
          <a:xfrm>
            <a:off x="5623560" y="3557160"/>
            <a:ext cx="31086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15 semicolon-separated columns produce 200+ binary features. Programming language and platform choices have meaningful salary signal getting this encoding right is crucial.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Text 0"/>
          <p:cNvSpPr/>
          <p:nvPr/>
        </p:nvSpPr>
        <p:spPr>
          <a:xfrm>
            <a:off x="457200" y="25596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1a1a2e"/>
                </a:solidFill>
                <a:latin typeface="Calibri"/>
              </a:rPr>
              <a:t>Summary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Shape 1"/>
          <p:cNvSpPr/>
          <p:nvPr/>
        </p:nvSpPr>
        <p:spPr>
          <a:xfrm>
            <a:off x="320040" y="960120"/>
            <a:ext cx="3977280" cy="3840120"/>
          </a:xfrm>
          <a:prstGeom prst="rect">
            <a:avLst/>
          </a:prstGeom>
          <a:solidFill>
            <a:srgbClr val="fff5f7"/>
          </a:solidFill>
          <a:ln w="15240">
            <a:solidFill>
              <a:srgbClr val="e94560"/>
            </a:solidFill>
            <a:round/>
          </a:ln>
          <a:effectLst>
            <a:outerShdw algn="bl" blurRad="127080" dir="8100000" dist="37674" rotWithShape="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3" name="Shape 2"/>
          <p:cNvSpPr/>
          <p:nvPr/>
        </p:nvSpPr>
        <p:spPr>
          <a:xfrm>
            <a:off x="320040" y="960120"/>
            <a:ext cx="3977280" cy="45684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4" name="Text 3"/>
          <p:cNvSpPr/>
          <p:nvPr/>
        </p:nvSpPr>
        <p:spPr>
          <a:xfrm>
            <a:off x="320040" y="960120"/>
            <a:ext cx="3977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7" strike="noStrike">
                <a:solidFill>
                  <a:srgbClr val="ffffff"/>
                </a:solidFill>
                <a:latin typeface="Calibri"/>
              </a:rPr>
              <a:t>TASK 1  ·  Classification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Text 4"/>
          <p:cNvSpPr/>
          <p:nvPr/>
        </p:nvSpPr>
        <p:spPr>
          <a:xfrm>
            <a:off x="502920" y="1572840"/>
            <a:ext cx="123408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e94560"/>
                </a:solidFill>
                <a:latin typeface="Calibri"/>
              </a:rPr>
              <a:t>Dataset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Text 5"/>
          <p:cNvSpPr/>
          <p:nvPr/>
        </p:nvSpPr>
        <p:spPr>
          <a:xfrm>
            <a:off x="1783080" y="1572840"/>
            <a:ext cx="237708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</a:rPr>
              <a:t>33,296 restaurants  ·  86 features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Text 6"/>
          <p:cNvSpPr/>
          <p:nvPr/>
        </p:nvSpPr>
        <p:spPr>
          <a:xfrm>
            <a:off x="502920" y="1947600"/>
            <a:ext cx="123408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e94560"/>
                </a:solidFill>
                <a:latin typeface="Calibri"/>
              </a:rPr>
              <a:t>Target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Text 7"/>
          <p:cNvSpPr/>
          <p:nvPr/>
        </p:nvSpPr>
        <p:spPr>
          <a:xfrm>
            <a:off x="1783080" y="1947600"/>
            <a:ext cx="237708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</a:rPr>
              <a:t>status_closed (binary)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Text 8"/>
          <p:cNvSpPr/>
          <p:nvPr/>
        </p:nvSpPr>
        <p:spPr>
          <a:xfrm>
            <a:off x="502920" y="2322720"/>
            <a:ext cx="123408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e94560"/>
                </a:solidFill>
                <a:latin typeface="Calibri"/>
              </a:rPr>
              <a:t>Challenge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Text 9"/>
          <p:cNvSpPr/>
          <p:nvPr/>
        </p:nvSpPr>
        <p:spPr>
          <a:xfrm>
            <a:off x="1783080" y="2322720"/>
            <a:ext cx="237708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</a:rPr>
              <a:t>Class imbalance — 9.8% closed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Text 10"/>
          <p:cNvSpPr/>
          <p:nvPr/>
        </p:nvSpPr>
        <p:spPr>
          <a:xfrm>
            <a:off x="502920" y="2697480"/>
            <a:ext cx="123408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e94560"/>
                </a:solidFill>
                <a:latin typeface="Calibri"/>
              </a:rPr>
              <a:t>Metric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Text 11"/>
          <p:cNvSpPr/>
          <p:nvPr/>
        </p:nvSpPr>
        <p:spPr>
          <a:xfrm>
            <a:off x="1783080" y="2697480"/>
            <a:ext cx="237708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</a:rPr>
              <a:t>Balanced Accuracy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Text 12"/>
          <p:cNvSpPr/>
          <p:nvPr/>
        </p:nvSpPr>
        <p:spPr>
          <a:xfrm>
            <a:off x="502920" y="3072240"/>
            <a:ext cx="123408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e94560"/>
                </a:solidFill>
                <a:latin typeface="Calibri"/>
              </a:rPr>
              <a:t>Best model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Text 13"/>
          <p:cNvSpPr/>
          <p:nvPr/>
        </p:nvSpPr>
        <p:spPr>
          <a:xfrm>
            <a:off x="1783080" y="3072240"/>
            <a:ext cx="237708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</a:rPr>
              <a:t>Logistic Regression (L1, C=10)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Text 14"/>
          <p:cNvSpPr/>
          <p:nvPr/>
        </p:nvSpPr>
        <p:spPr>
          <a:xfrm>
            <a:off x="502920" y="3447360"/>
            <a:ext cx="123408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e94560"/>
                </a:solidFill>
                <a:latin typeface="Calibri"/>
              </a:rPr>
              <a:t>CV score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Text 15"/>
          <p:cNvSpPr/>
          <p:nvPr/>
        </p:nvSpPr>
        <p:spPr>
          <a:xfrm>
            <a:off x="1783080" y="3447360"/>
            <a:ext cx="237708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</a:rPr>
              <a:t>0.6608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Text 16"/>
          <p:cNvSpPr/>
          <p:nvPr/>
        </p:nvSpPr>
        <p:spPr>
          <a:xfrm>
            <a:off x="502920" y="3822120"/>
            <a:ext cx="123408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e94560"/>
                </a:solidFill>
                <a:latin typeface="Calibri"/>
              </a:rPr>
              <a:t>Val score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Text 17"/>
          <p:cNvSpPr/>
          <p:nvPr/>
        </p:nvSpPr>
        <p:spPr>
          <a:xfrm>
            <a:off x="1783080" y="3822120"/>
            <a:ext cx="237708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</a:rPr>
              <a:t>0.6598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Text 18"/>
          <p:cNvSpPr/>
          <p:nvPr/>
        </p:nvSpPr>
        <p:spPr>
          <a:xfrm>
            <a:off x="502920" y="4197240"/>
            <a:ext cx="123408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e94560"/>
                </a:solidFill>
                <a:latin typeface="Calibri"/>
              </a:rPr>
              <a:t>vs baseline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Text 19"/>
          <p:cNvSpPr/>
          <p:nvPr/>
        </p:nvSpPr>
        <p:spPr>
          <a:xfrm>
            <a:off x="1783080" y="4197240"/>
            <a:ext cx="237708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</a:rPr>
              <a:t>+16 percentage points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Shape 20"/>
          <p:cNvSpPr/>
          <p:nvPr/>
        </p:nvSpPr>
        <p:spPr>
          <a:xfrm>
            <a:off x="4846320" y="960120"/>
            <a:ext cx="3977280" cy="3840120"/>
          </a:xfrm>
          <a:prstGeom prst="rect">
            <a:avLst/>
          </a:prstGeom>
          <a:solidFill>
            <a:srgbClr val="f0fafa"/>
          </a:solidFill>
          <a:ln w="15240">
            <a:solidFill>
              <a:srgbClr val="0f9b8e"/>
            </a:solidFill>
            <a:round/>
          </a:ln>
          <a:effectLst>
            <a:outerShdw algn="bl" blurRad="127080" dir="8100000" dist="37674" rotWithShape="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72" name="Shape 21"/>
          <p:cNvSpPr/>
          <p:nvPr/>
        </p:nvSpPr>
        <p:spPr>
          <a:xfrm>
            <a:off x="4846320" y="960120"/>
            <a:ext cx="3977280" cy="456840"/>
          </a:xfrm>
          <a:prstGeom prst="rect">
            <a:avLst/>
          </a:prstGeom>
          <a:solidFill>
            <a:srgbClr val="0f9b8e"/>
          </a:solidFill>
          <a:ln w="12700">
            <a:solidFill>
              <a:srgbClr val="0f9b8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73" name="Text 22"/>
          <p:cNvSpPr/>
          <p:nvPr/>
        </p:nvSpPr>
        <p:spPr>
          <a:xfrm>
            <a:off x="4846320" y="960120"/>
            <a:ext cx="3977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7" strike="noStrike">
                <a:solidFill>
                  <a:srgbClr val="ffffff"/>
                </a:solidFill>
                <a:latin typeface="Calibri"/>
              </a:rPr>
              <a:t>TASK 2  ·  Regression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Text 23"/>
          <p:cNvSpPr/>
          <p:nvPr/>
        </p:nvSpPr>
        <p:spPr>
          <a:xfrm>
            <a:off x="5029200" y="1572840"/>
            <a:ext cx="123408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0f9b8e"/>
                </a:solidFill>
                <a:latin typeface="Calibri"/>
              </a:rPr>
              <a:t>Dataset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Text 24"/>
          <p:cNvSpPr/>
          <p:nvPr/>
        </p:nvSpPr>
        <p:spPr>
          <a:xfrm>
            <a:off x="6309360" y="1572840"/>
            <a:ext cx="237708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</a:rPr>
              <a:t>2,512 developers  ·  40 features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Text 25"/>
          <p:cNvSpPr/>
          <p:nvPr/>
        </p:nvSpPr>
        <p:spPr>
          <a:xfrm>
            <a:off x="5029200" y="1947600"/>
            <a:ext cx="123408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0f9b8e"/>
                </a:solidFill>
                <a:latin typeface="Calibri"/>
              </a:rPr>
              <a:t>Target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Text 26"/>
          <p:cNvSpPr/>
          <p:nvPr/>
        </p:nvSpPr>
        <p:spPr>
          <a:xfrm>
            <a:off x="6309360" y="1947600"/>
            <a:ext cx="237708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</a:rPr>
              <a:t>annual salary (USD)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Text 27"/>
          <p:cNvSpPr/>
          <p:nvPr/>
        </p:nvSpPr>
        <p:spPr>
          <a:xfrm>
            <a:off x="5029200" y="2322720"/>
            <a:ext cx="123408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0f9b8e"/>
                </a:solidFill>
                <a:latin typeface="Calibri"/>
              </a:rPr>
              <a:t>Challenge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Text 28"/>
          <p:cNvSpPr/>
          <p:nvPr/>
        </p:nvSpPr>
        <p:spPr>
          <a:xfrm>
            <a:off x="6309360" y="2322720"/>
            <a:ext cx="237708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</a:rPr>
              <a:t>Heavy tail — max salary $4.77M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Text 29"/>
          <p:cNvSpPr/>
          <p:nvPr/>
        </p:nvSpPr>
        <p:spPr>
          <a:xfrm>
            <a:off x="5029200" y="2697480"/>
            <a:ext cx="123408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0f9b8e"/>
                </a:solidFill>
                <a:latin typeface="Calibri"/>
              </a:rPr>
              <a:t>Metric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Text 30"/>
          <p:cNvSpPr/>
          <p:nvPr/>
        </p:nvSpPr>
        <p:spPr>
          <a:xfrm>
            <a:off x="6309360" y="2697480"/>
            <a:ext cx="237708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</a:rPr>
              <a:t>RMSE (USD)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Text 31"/>
          <p:cNvSpPr/>
          <p:nvPr/>
        </p:nvSpPr>
        <p:spPr>
          <a:xfrm>
            <a:off x="5029200" y="3072240"/>
            <a:ext cx="123408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0f9b8e"/>
                </a:solidFill>
                <a:latin typeface="Calibri"/>
              </a:rPr>
              <a:t>Best model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Text 32"/>
          <p:cNvSpPr/>
          <p:nvPr/>
        </p:nvSpPr>
        <p:spPr>
          <a:xfrm>
            <a:off x="6309360" y="3072240"/>
            <a:ext cx="237708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</a:rPr>
              <a:t>Elastic Net (α=0.1, l1=0.1)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Text 33"/>
          <p:cNvSpPr/>
          <p:nvPr/>
        </p:nvSpPr>
        <p:spPr>
          <a:xfrm>
            <a:off x="5029200" y="3447360"/>
            <a:ext cx="123408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0f9b8e"/>
                </a:solidFill>
                <a:latin typeface="Calibri"/>
              </a:rPr>
              <a:t>CV RMSE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Text 34"/>
          <p:cNvSpPr/>
          <p:nvPr/>
        </p:nvSpPr>
        <p:spPr>
          <a:xfrm>
            <a:off x="6309360" y="3447360"/>
            <a:ext cx="237708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</a:rPr>
              <a:t>$90,024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Text 35"/>
          <p:cNvSpPr/>
          <p:nvPr/>
        </p:nvSpPr>
        <p:spPr>
          <a:xfrm>
            <a:off x="5029200" y="3822120"/>
            <a:ext cx="123408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0f9b8e"/>
                </a:solidFill>
                <a:latin typeface="Calibri"/>
              </a:rPr>
              <a:t>Log RMSE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Text 36"/>
          <p:cNvSpPr/>
          <p:nvPr/>
        </p:nvSpPr>
        <p:spPr>
          <a:xfrm>
            <a:off x="6309360" y="3822120"/>
            <a:ext cx="237708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</a:rPr>
              <a:t>1.371  (vs baseline 1.81)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Text 37"/>
          <p:cNvSpPr/>
          <p:nvPr/>
        </p:nvSpPr>
        <p:spPr>
          <a:xfrm>
            <a:off x="5029200" y="4197240"/>
            <a:ext cx="123408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0f9b8e"/>
                </a:solidFill>
                <a:latin typeface="Calibri"/>
              </a:rPr>
              <a:t>Improvement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Text 38"/>
          <p:cNvSpPr/>
          <p:nvPr/>
        </p:nvSpPr>
        <p:spPr>
          <a:xfrm>
            <a:off x="6309360" y="4197240"/>
            <a:ext cx="237708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</a:rPr>
              <a:t>−</a:t>
            </a:r>
            <a:r>
              <a:rPr b="0" lang="en-US" sz="1050" spc="-1" strike="noStrike">
                <a:solidFill>
                  <a:srgbClr val="1a1a2e"/>
                </a:solidFill>
                <a:latin typeface="Calibri"/>
              </a:rPr>
              <a:t>24% log RMSE vs median baseline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Shape 0"/>
          <p:cNvSpPr/>
          <p:nvPr/>
        </p:nvSpPr>
        <p:spPr>
          <a:xfrm>
            <a:off x="0" y="0"/>
            <a:ext cx="9143640" cy="8208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7440" bIns="3744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1" name="Shape 1"/>
          <p:cNvSpPr/>
          <p:nvPr/>
        </p:nvSpPr>
        <p:spPr>
          <a:xfrm>
            <a:off x="0" y="5061240"/>
            <a:ext cx="9143640" cy="82080"/>
          </a:xfrm>
          <a:prstGeom prst="rect">
            <a:avLst/>
          </a:prstGeom>
          <a:solidFill>
            <a:srgbClr val="0f9b8e"/>
          </a:solidFill>
          <a:ln w="12700">
            <a:solidFill>
              <a:srgbClr val="0f9b8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7440" bIns="3744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2" name="Text 2"/>
          <p:cNvSpPr/>
          <p:nvPr/>
        </p:nvSpPr>
        <p:spPr>
          <a:xfrm>
            <a:off x="914400" y="960120"/>
            <a:ext cx="731484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400" spc="-1" strike="noStrike">
                <a:solidFill>
                  <a:srgbClr val="ffffff"/>
                </a:solidFill>
                <a:latin typeface="Calibri"/>
              </a:rPr>
              <a:t>Thank you</a:t>
            </a:r>
            <a:endParaRPr b="0" lang="en-US" sz="6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3" name="Text 3"/>
          <p:cNvSpPr/>
          <p:nvPr/>
        </p:nvSpPr>
        <p:spPr>
          <a:xfrm>
            <a:off x="914400" y="2286000"/>
            <a:ext cx="73148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800" spc="-1" strike="noStrike">
                <a:solidFill>
                  <a:srgbClr val="8899aa"/>
                </a:solidFill>
                <a:latin typeface="Calibri"/>
              </a:rPr>
              <a:t>Questions?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4" name="Shape 4"/>
          <p:cNvSpPr/>
          <p:nvPr/>
        </p:nvSpPr>
        <p:spPr>
          <a:xfrm>
            <a:off x="3200400" y="3154680"/>
            <a:ext cx="2742840" cy="18000"/>
          </a:xfrm>
          <a:prstGeom prst="rect">
            <a:avLst/>
          </a:prstGeom>
          <a:solidFill>
            <a:srgbClr val="2a3f5a"/>
          </a:solidFill>
          <a:ln w="12700">
            <a:solidFill>
              <a:srgbClr val="2a3f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6640" bIns="-2664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5" name="Text 5"/>
          <p:cNvSpPr/>
          <p:nvPr/>
        </p:nvSpPr>
        <p:spPr>
          <a:xfrm>
            <a:off x="914400" y="3364920"/>
            <a:ext cx="7314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8899aa"/>
                </a:solidFill>
                <a:latin typeface="Calibri"/>
              </a:rPr>
              <a:t>Allen Nyombayire Mukundwa  ·  Ondřej Marvan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6" name="Text 6"/>
          <p:cNvSpPr/>
          <p:nvPr/>
        </p:nvSpPr>
        <p:spPr>
          <a:xfrm>
            <a:off x="914400" y="373068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4556a"/>
                </a:solidFill>
                <a:latin typeface="Calibri"/>
              </a:rPr>
              <a:t>ML1 2025/2026  ·  WNE UW  ·  May 2026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7" name="Shape 7"/>
          <p:cNvSpPr/>
          <p:nvPr/>
        </p:nvSpPr>
        <p:spPr>
          <a:xfrm>
            <a:off x="2834640" y="4251960"/>
            <a:ext cx="1554120" cy="456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45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8" name="Text 8"/>
          <p:cNvSpPr/>
          <p:nvPr/>
        </p:nvSpPr>
        <p:spPr>
          <a:xfrm>
            <a:off x="2834640" y="4251960"/>
            <a:ext cx="1554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199" strike="noStrike">
                <a:solidFill>
                  <a:srgbClr val="e94560"/>
                </a:solidFill>
                <a:latin typeface="Calibri"/>
              </a:rPr>
              <a:t>TASK 1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9" name="Shape 9"/>
          <p:cNvSpPr/>
          <p:nvPr/>
        </p:nvSpPr>
        <p:spPr>
          <a:xfrm>
            <a:off x="4754880" y="4251960"/>
            <a:ext cx="1554120" cy="456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f9b8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0" name="Text 10"/>
          <p:cNvSpPr/>
          <p:nvPr/>
        </p:nvSpPr>
        <p:spPr>
          <a:xfrm>
            <a:off x="4754880" y="4251960"/>
            <a:ext cx="1554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199" strike="noStrike">
                <a:solidFill>
                  <a:srgbClr val="0f9b8e"/>
                </a:solidFill>
                <a:latin typeface="Calibri"/>
              </a:rPr>
              <a:t>TASK 2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229</TotalTime>
  <Application>LibreOffice/24.2.7.2$Linux_X86_64 LibreOffice_project/420$Build-2</Application>
  <AppVersion>15.0000</AppVersion>
  <Words>1159</Words>
  <Paragraphs>233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2026-05-28T18:13:57Z</dcterms:created>
  <dc:creator>PptxGenJS</dc:creator>
  <dc:description/>
  <dc:language>en-US</dc:language>
  <cp:lastModifiedBy/>
  <dcterms:modified xsi:type="dcterms:W3CDTF">2026-05-29T18:10:53Z</dcterms:modified>
  <cp:revision>4</cp:revision>
  <dc:subject>PptxGenJS Presentation</dc:subject>
  <dc:title>ML1 Projects — WNE UW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14</vt:i4>
  </property>
  <property fmtid="{D5CDD505-2E9C-101B-9397-08002B2CF9AE}" pid="3" name="PresentationFormat">
    <vt:lpwstr>On-screen Show (16:9)</vt:lpwstr>
  </property>
  <property fmtid="{D5CDD505-2E9C-101B-9397-08002B2CF9AE}" pid="4" name="Slides">
    <vt:i4>14</vt:i4>
  </property>
</Properties>
</file>