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79" r:id="rId4"/>
    <p:sldId id="280" r:id="rId5"/>
    <p:sldId id="278" r:id="rId6"/>
    <p:sldId id="262" r:id="rId7"/>
    <p:sldId id="263" r:id="rId8"/>
    <p:sldId id="277" r:id="rId9"/>
    <p:sldId id="261" r:id="rId10"/>
    <p:sldId id="260" r:id="rId11"/>
    <p:sldId id="264" r:id="rId12"/>
    <p:sldId id="265" r:id="rId13"/>
    <p:sldId id="268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8943B-753F-45C2-B9E6-CAFA3E8F5341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4E5A640-CC6A-4AD7-8870-6655A9A0D982}">
      <dgm:prSet/>
      <dgm:spPr/>
      <dgm:t>
        <a:bodyPr/>
        <a:lstStyle/>
        <a:p>
          <a:pPr>
            <a:defRPr b="1"/>
          </a:pPr>
          <a:r>
            <a:rPr lang="en-US"/>
            <a:t>sp</a:t>
          </a:r>
        </a:p>
      </dgm:t>
    </dgm:pt>
    <dgm:pt modelId="{D55F5993-6204-49D8-B382-FF427F2645A5}" type="parTrans" cxnId="{1DBA24B7-3A0A-4FB3-A1D0-2995383FDBDD}">
      <dgm:prSet/>
      <dgm:spPr/>
      <dgm:t>
        <a:bodyPr/>
        <a:lstStyle/>
        <a:p>
          <a:endParaRPr lang="en-US"/>
        </a:p>
      </dgm:t>
    </dgm:pt>
    <dgm:pt modelId="{97F4BC67-76D7-4A28-8AE4-F251F689863A}" type="sibTrans" cxnId="{1DBA24B7-3A0A-4FB3-A1D0-2995383FDBDD}">
      <dgm:prSet/>
      <dgm:spPr/>
      <dgm:t>
        <a:bodyPr/>
        <a:lstStyle/>
        <a:p>
          <a:endParaRPr lang="en-US"/>
        </a:p>
      </dgm:t>
    </dgm:pt>
    <dgm:pt modelId="{F694A86F-39DE-4BAD-A883-FF34743F95DC}">
      <dgm:prSet/>
      <dgm:spPr/>
      <dgm:t>
        <a:bodyPr/>
        <a:lstStyle/>
        <a:p>
          <a:r>
            <a:rPr lang="en-US"/>
            <a:t>S4 objects</a:t>
          </a:r>
        </a:p>
      </dgm:t>
    </dgm:pt>
    <dgm:pt modelId="{B3016B8C-1BED-4D3A-9DAD-2429386F3CBD}" type="parTrans" cxnId="{EEDE6942-5693-407F-9A65-90ED1CFF59EE}">
      <dgm:prSet/>
      <dgm:spPr/>
      <dgm:t>
        <a:bodyPr/>
        <a:lstStyle/>
        <a:p>
          <a:endParaRPr lang="en-US"/>
        </a:p>
      </dgm:t>
    </dgm:pt>
    <dgm:pt modelId="{21F66EEA-16CD-413A-9055-B2277A79B900}" type="sibTrans" cxnId="{EEDE6942-5693-407F-9A65-90ED1CFF59EE}">
      <dgm:prSet/>
      <dgm:spPr/>
      <dgm:t>
        <a:bodyPr/>
        <a:lstStyle/>
        <a:p>
          <a:endParaRPr lang="en-US"/>
        </a:p>
      </dgm:t>
    </dgm:pt>
    <dgm:pt modelId="{04B89030-B60B-4E37-AFA8-942B76F2A6E4}">
      <dgm:prSet/>
      <dgm:spPr/>
      <dgm:t>
        <a:bodyPr/>
        <a:lstStyle/>
        <a:p>
          <a:r>
            <a:rPr lang="en-US"/>
            <a:t>Slot storage</a:t>
          </a:r>
        </a:p>
        <a:p>
          <a:r>
            <a:rPr lang="en-US"/>
            <a:t>Older and well developed</a:t>
          </a:r>
        </a:p>
      </dgm:t>
    </dgm:pt>
    <dgm:pt modelId="{216234E1-017E-4615-B094-F76482C9FE4D}" type="parTrans" cxnId="{29D53325-6495-46CB-AF57-1D769879D293}">
      <dgm:prSet/>
      <dgm:spPr/>
      <dgm:t>
        <a:bodyPr/>
        <a:lstStyle/>
        <a:p>
          <a:endParaRPr lang="en-US"/>
        </a:p>
      </dgm:t>
    </dgm:pt>
    <dgm:pt modelId="{0998F05B-4243-47D0-9D4D-8F6A5E91B8EA}" type="sibTrans" cxnId="{29D53325-6495-46CB-AF57-1D769879D293}">
      <dgm:prSet/>
      <dgm:spPr/>
      <dgm:t>
        <a:bodyPr/>
        <a:lstStyle/>
        <a:p>
          <a:endParaRPr lang="en-US"/>
        </a:p>
      </dgm:t>
    </dgm:pt>
    <dgm:pt modelId="{D4DAC99D-4B07-431F-97B2-030808C4F198}">
      <dgm:prSet/>
      <dgm:spPr/>
      <dgm:t>
        <a:bodyPr/>
        <a:lstStyle/>
        <a:p>
          <a:r>
            <a:rPr lang="en-US" u="sng"/>
            <a:t>Compatible with statistical and </a:t>
          </a:r>
          <a:br>
            <a:rPr lang="en-US" u="sng"/>
          </a:br>
          <a:r>
            <a:rPr lang="en-US" u="sng"/>
            <a:t>econometrical packages</a:t>
          </a:r>
        </a:p>
      </dgm:t>
    </dgm:pt>
    <dgm:pt modelId="{D51C9722-3303-45EA-9B4D-394D902BC7A7}" type="parTrans" cxnId="{AF750074-EE36-4853-B226-DE2736D1BB16}">
      <dgm:prSet/>
      <dgm:spPr/>
      <dgm:t>
        <a:bodyPr/>
        <a:lstStyle/>
        <a:p>
          <a:endParaRPr lang="en-US"/>
        </a:p>
      </dgm:t>
    </dgm:pt>
    <dgm:pt modelId="{FDF4D679-8BC6-4B62-A54F-1939ECFE1113}" type="sibTrans" cxnId="{AF750074-EE36-4853-B226-DE2736D1BB16}">
      <dgm:prSet/>
      <dgm:spPr/>
      <dgm:t>
        <a:bodyPr/>
        <a:lstStyle/>
        <a:p>
          <a:endParaRPr lang="en-US"/>
        </a:p>
      </dgm:t>
    </dgm:pt>
    <dgm:pt modelId="{E3CAE072-4129-4FB0-8A05-51B1322B5C66}">
      <dgm:prSet/>
      <dgm:spPr/>
      <dgm:t>
        <a:bodyPr/>
        <a:lstStyle/>
        <a:p>
          <a:pPr>
            <a:defRPr b="1"/>
          </a:pPr>
          <a:r>
            <a:rPr lang="en-US"/>
            <a:t>sf</a:t>
          </a:r>
        </a:p>
      </dgm:t>
    </dgm:pt>
    <dgm:pt modelId="{DCC3BA1E-7FF8-4B88-AA7F-15D6D6E4F3E3}" type="parTrans" cxnId="{A433B0C4-03DE-45D4-B7BC-1BB06B4DF596}">
      <dgm:prSet/>
      <dgm:spPr/>
      <dgm:t>
        <a:bodyPr/>
        <a:lstStyle/>
        <a:p>
          <a:endParaRPr lang="en-US"/>
        </a:p>
      </dgm:t>
    </dgm:pt>
    <dgm:pt modelId="{44EC44AB-209A-40E7-A943-DD9784D6DC9F}" type="sibTrans" cxnId="{A433B0C4-03DE-45D4-B7BC-1BB06B4DF596}">
      <dgm:prSet/>
      <dgm:spPr/>
      <dgm:t>
        <a:bodyPr/>
        <a:lstStyle/>
        <a:p>
          <a:endParaRPr lang="en-US"/>
        </a:p>
      </dgm:t>
    </dgm:pt>
    <dgm:pt modelId="{9A8508B6-0DE8-4AF8-A4D2-B9A5365E4F4C}">
      <dgm:prSet/>
      <dgm:spPr/>
      <dgm:t>
        <a:bodyPr/>
        <a:lstStyle/>
        <a:p>
          <a:r>
            <a:rPr lang="en-US"/>
            <a:t>Data frames</a:t>
          </a:r>
        </a:p>
      </dgm:t>
    </dgm:pt>
    <dgm:pt modelId="{E39502E3-8E34-4D2E-A05F-BAFEB6C7F1F0}" type="parTrans" cxnId="{6572616D-106E-4951-A868-500D88C941B2}">
      <dgm:prSet/>
      <dgm:spPr/>
      <dgm:t>
        <a:bodyPr/>
        <a:lstStyle/>
        <a:p>
          <a:endParaRPr lang="en-US"/>
        </a:p>
      </dgm:t>
    </dgm:pt>
    <dgm:pt modelId="{13488641-C44E-4C65-845C-B74DC5AF958F}" type="sibTrans" cxnId="{6572616D-106E-4951-A868-500D88C941B2}">
      <dgm:prSet/>
      <dgm:spPr/>
      <dgm:t>
        <a:bodyPr/>
        <a:lstStyle/>
        <a:p>
          <a:endParaRPr lang="en-US"/>
        </a:p>
      </dgm:t>
    </dgm:pt>
    <dgm:pt modelId="{3AEC5E66-695E-41DF-BBFC-772E5761ADE9}">
      <dgm:prSet/>
      <dgm:spPr/>
      <dgm:t>
        <a:bodyPr/>
        <a:lstStyle/>
        <a:p>
          <a:r>
            <a:rPr lang="en-US"/>
            <a:t>Simple features</a:t>
          </a:r>
        </a:p>
        <a:p>
          <a:r>
            <a:rPr lang="en-US"/>
            <a:t>Dynamically developing</a:t>
          </a:r>
        </a:p>
      </dgm:t>
    </dgm:pt>
    <dgm:pt modelId="{82B01E2F-971D-4B98-BE85-795B8A3374EF}" type="parTrans" cxnId="{0B9E3825-AC77-41B4-AE9C-6D8AD1652AA5}">
      <dgm:prSet/>
      <dgm:spPr/>
      <dgm:t>
        <a:bodyPr/>
        <a:lstStyle/>
        <a:p>
          <a:endParaRPr lang="en-US"/>
        </a:p>
      </dgm:t>
    </dgm:pt>
    <dgm:pt modelId="{D332A485-08CB-4095-A930-09EA892937C5}" type="sibTrans" cxnId="{0B9E3825-AC77-41B4-AE9C-6D8AD1652AA5}">
      <dgm:prSet/>
      <dgm:spPr/>
      <dgm:t>
        <a:bodyPr/>
        <a:lstStyle/>
        <a:p>
          <a:endParaRPr lang="en-US"/>
        </a:p>
      </dgm:t>
    </dgm:pt>
    <dgm:pt modelId="{67DBD6D9-0CA5-4046-AACF-CC95D92536E1}">
      <dgm:prSet/>
      <dgm:spPr/>
      <dgm:t>
        <a:bodyPr/>
        <a:lstStyle/>
        <a:p>
          <a:r>
            <a:rPr lang="en-US" u="sng"/>
            <a:t>Compatible with tidyverse </a:t>
          </a:r>
          <a:br>
            <a:rPr lang="en-US" u="sng"/>
          </a:br>
          <a:r>
            <a:rPr lang="en-US" u="sng"/>
            <a:t>and ggplot2</a:t>
          </a:r>
          <a:endParaRPr lang="pl-PL" u="sng"/>
        </a:p>
        <a:p>
          <a:r>
            <a:rPr lang="pl-PL"/>
            <a:t>Compatible with </a:t>
          </a:r>
          <a:r>
            <a:rPr lang="en-US"/>
            <a:t>statistical packages</a:t>
          </a:r>
        </a:p>
      </dgm:t>
    </dgm:pt>
    <dgm:pt modelId="{584C86AD-61B8-4ADA-BD4E-15DDC4935C02}" type="parTrans" cxnId="{5628420E-3D50-4E5C-BFD3-3D600325AF19}">
      <dgm:prSet/>
      <dgm:spPr/>
      <dgm:t>
        <a:bodyPr/>
        <a:lstStyle/>
        <a:p>
          <a:endParaRPr lang="en-US"/>
        </a:p>
      </dgm:t>
    </dgm:pt>
    <dgm:pt modelId="{F26F9438-F429-48CA-92F5-966BC214EF52}" type="sibTrans" cxnId="{5628420E-3D50-4E5C-BFD3-3D600325AF19}">
      <dgm:prSet/>
      <dgm:spPr/>
      <dgm:t>
        <a:bodyPr/>
        <a:lstStyle/>
        <a:p>
          <a:endParaRPr lang="en-US"/>
        </a:p>
      </dgm:t>
    </dgm:pt>
    <dgm:pt modelId="{40D5EB8E-932A-4C90-826B-1B6A51DA0827}" type="pres">
      <dgm:prSet presAssocID="{3D58943B-753F-45C2-B9E6-CAFA3E8F5341}" presName="root" presStyleCnt="0">
        <dgm:presLayoutVars>
          <dgm:dir/>
          <dgm:resizeHandles val="exact"/>
        </dgm:presLayoutVars>
      </dgm:prSet>
      <dgm:spPr/>
    </dgm:pt>
    <dgm:pt modelId="{6AA0B173-ABB9-4215-BD42-93CEBBEDCFA0}" type="pres">
      <dgm:prSet presAssocID="{24E5A640-CC6A-4AD7-8870-6655A9A0D982}" presName="compNode" presStyleCnt="0"/>
      <dgm:spPr/>
    </dgm:pt>
    <dgm:pt modelId="{1CB3D3E1-50F8-439F-A5D8-609E718C8A03}" type="pres">
      <dgm:prSet presAssocID="{24E5A640-CC6A-4AD7-8870-6655A9A0D98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ysk z wypełnieniem pełnym"/>
        </a:ext>
      </dgm:extLst>
    </dgm:pt>
    <dgm:pt modelId="{30FBB0A9-5E71-4DB1-A6B1-74FE00B006A7}" type="pres">
      <dgm:prSet presAssocID="{24E5A640-CC6A-4AD7-8870-6655A9A0D982}" presName="iconSpace" presStyleCnt="0"/>
      <dgm:spPr/>
    </dgm:pt>
    <dgm:pt modelId="{A0D77BD2-4306-4365-A005-C27E45639CB0}" type="pres">
      <dgm:prSet presAssocID="{24E5A640-CC6A-4AD7-8870-6655A9A0D982}" presName="parTx" presStyleLbl="revTx" presStyleIdx="0" presStyleCnt="4">
        <dgm:presLayoutVars>
          <dgm:chMax val="0"/>
          <dgm:chPref val="0"/>
        </dgm:presLayoutVars>
      </dgm:prSet>
      <dgm:spPr/>
    </dgm:pt>
    <dgm:pt modelId="{13FEACEB-3668-4D29-998F-B67E9079276A}" type="pres">
      <dgm:prSet presAssocID="{24E5A640-CC6A-4AD7-8870-6655A9A0D982}" presName="txSpace" presStyleCnt="0"/>
      <dgm:spPr/>
    </dgm:pt>
    <dgm:pt modelId="{78A1C93E-D171-4999-8836-8E2BBEB90E5B}" type="pres">
      <dgm:prSet presAssocID="{24E5A640-CC6A-4AD7-8870-6655A9A0D982}" presName="desTx" presStyleLbl="revTx" presStyleIdx="1" presStyleCnt="4">
        <dgm:presLayoutVars/>
      </dgm:prSet>
      <dgm:spPr/>
    </dgm:pt>
    <dgm:pt modelId="{21A71FC0-08DE-47BB-B1EC-5638C6BF0EB5}" type="pres">
      <dgm:prSet presAssocID="{97F4BC67-76D7-4A28-8AE4-F251F689863A}" presName="sibTrans" presStyleCnt="0"/>
      <dgm:spPr/>
    </dgm:pt>
    <dgm:pt modelId="{961253A8-EEBD-4446-A497-9C4E7F0A2A0A}" type="pres">
      <dgm:prSet presAssocID="{E3CAE072-4129-4FB0-8A05-51B1322B5C66}" presName="compNode" presStyleCnt="0"/>
      <dgm:spPr/>
    </dgm:pt>
    <dgm:pt modelId="{F14421C3-4851-40AD-8B30-C49248D84A92}" type="pres">
      <dgm:prSet presAssocID="{E3CAE072-4129-4FB0-8A05-51B1322B5C6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kulary 3D z wypełnieniem pełnym"/>
        </a:ext>
      </dgm:extLst>
    </dgm:pt>
    <dgm:pt modelId="{C5C318CE-28DC-491F-A696-BB90AD5E15C8}" type="pres">
      <dgm:prSet presAssocID="{E3CAE072-4129-4FB0-8A05-51B1322B5C66}" presName="iconSpace" presStyleCnt="0"/>
      <dgm:spPr/>
    </dgm:pt>
    <dgm:pt modelId="{32F61932-5FE8-4396-BBB1-7983164A7FAF}" type="pres">
      <dgm:prSet presAssocID="{E3CAE072-4129-4FB0-8A05-51B1322B5C66}" presName="parTx" presStyleLbl="revTx" presStyleIdx="2" presStyleCnt="4">
        <dgm:presLayoutVars>
          <dgm:chMax val="0"/>
          <dgm:chPref val="0"/>
        </dgm:presLayoutVars>
      </dgm:prSet>
      <dgm:spPr/>
    </dgm:pt>
    <dgm:pt modelId="{9437DD6E-D042-4FD3-AB69-5BE21673D651}" type="pres">
      <dgm:prSet presAssocID="{E3CAE072-4129-4FB0-8A05-51B1322B5C66}" presName="txSpace" presStyleCnt="0"/>
      <dgm:spPr/>
    </dgm:pt>
    <dgm:pt modelId="{13A72EEE-EF11-4D2A-82F5-ADB1E2D8463A}" type="pres">
      <dgm:prSet presAssocID="{E3CAE072-4129-4FB0-8A05-51B1322B5C66}" presName="desTx" presStyleLbl="revTx" presStyleIdx="3" presStyleCnt="4">
        <dgm:presLayoutVars/>
      </dgm:prSet>
      <dgm:spPr/>
    </dgm:pt>
  </dgm:ptLst>
  <dgm:cxnLst>
    <dgm:cxn modelId="{5A7D880B-049E-44FC-95CC-EA63616CBC9D}" type="presOf" srcId="{D4DAC99D-4B07-431F-97B2-030808C4F198}" destId="{78A1C93E-D171-4999-8836-8E2BBEB90E5B}" srcOrd="0" destOrd="2" presId="urn:microsoft.com/office/officeart/2018/5/layout/CenteredIconLabelDescriptionList"/>
    <dgm:cxn modelId="{5628420E-3D50-4E5C-BFD3-3D600325AF19}" srcId="{E3CAE072-4129-4FB0-8A05-51B1322B5C66}" destId="{67DBD6D9-0CA5-4046-AACF-CC95D92536E1}" srcOrd="2" destOrd="0" parTransId="{584C86AD-61B8-4ADA-BD4E-15DDC4935C02}" sibTransId="{F26F9438-F429-48CA-92F5-966BC214EF52}"/>
    <dgm:cxn modelId="{29D53325-6495-46CB-AF57-1D769879D293}" srcId="{24E5A640-CC6A-4AD7-8870-6655A9A0D982}" destId="{04B89030-B60B-4E37-AFA8-942B76F2A6E4}" srcOrd="1" destOrd="0" parTransId="{216234E1-017E-4615-B094-F76482C9FE4D}" sibTransId="{0998F05B-4243-47D0-9D4D-8F6A5E91B8EA}"/>
    <dgm:cxn modelId="{0B9E3825-AC77-41B4-AE9C-6D8AD1652AA5}" srcId="{E3CAE072-4129-4FB0-8A05-51B1322B5C66}" destId="{3AEC5E66-695E-41DF-BBFC-772E5761ADE9}" srcOrd="1" destOrd="0" parTransId="{82B01E2F-971D-4B98-BE85-795B8A3374EF}" sibTransId="{D332A485-08CB-4095-A930-09EA892937C5}"/>
    <dgm:cxn modelId="{D0B0C430-0E97-4D12-B367-6AF3B6C8353C}" type="presOf" srcId="{3AEC5E66-695E-41DF-BBFC-772E5761ADE9}" destId="{13A72EEE-EF11-4D2A-82F5-ADB1E2D8463A}" srcOrd="0" destOrd="1" presId="urn:microsoft.com/office/officeart/2018/5/layout/CenteredIconLabelDescriptionList"/>
    <dgm:cxn modelId="{D9ED893A-2B41-4C26-AD2B-9A0F33F66738}" type="presOf" srcId="{9A8508B6-0DE8-4AF8-A4D2-B9A5365E4F4C}" destId="{13A72EEE-EF11-4D2A-82F5-ADB1E2D8463A}" srcOrd="0" destOrd="0" presId="urn:microsoft.com/office/officeart/2018/5/layout/CenteredIconLabelDescriptionList"/>
    <dgm:cxn modelId="{EEDE6942-5693-407F-9A65-90ED1CFF59EE}" srcId="{24E5A640-CC6A-4AD7-8870-6655A9A0D982}" destId="{F694A86F-39DE-4BAD-A883-FF34743F95DC}" srcOrd="0" destOrd="0" parTransId="{B3016B8C-1BED-4D3A-9DAD-2429386F3CBD}" sibTransId="{21F66EEA-16CD-413A-9055-B2277A79B900}"/>
    <dgm:cxn modelId="{8A41BE5E-DB4C-4294-A963-8E179787511D}" type="presOf" srcId="{67DBD6D9-0CA5-4046-AACF-CC95D92536E1}" destId="{13A72EEE-EF11-4D2A-82F5-ADB1E2D8463A}" srcOrd="0" destOrd="2" presId="urn:microsoft.com/office/officeart/2018/5/layout/CenteredIconLabelDescriptionList"/>
    <dgm:cxn modelId="{6572616D-106E-4951-A868-500D88C941B2}" srcId="{E3CAE072-4129-4FB0-8A05-51B1322B5C66}" destId="{9A8508B6-0DE8-4AF8-A4D2-B9A5365E4F4C}" srcOrd="0" destOrd="0" parTransId="{E39502E3-8E34-4D2E-A05F-BAFEB6C7F1F0}" sibTransId="{13488641-C44E-4C65-845C-B74DC5AF958F}"/>
    <dgm:cxn modelId="{C64D2B6E-EA71-4A65-9C60-3702D6652A93}" type="presOf" srcId="{E3CAE072-4129-4FB0-8A05-51B1322B5C66}" destId="{32F61932-5FE8-4396-BBB1-7983164A7FAF}" srcOrd="0" destOrd="0" presId="urn:microsoft.com/office/officeart/2018/5/layout/CenteredIconLabelDescriptionList"/>
    <dgm:cxn modelId="{AF750074-EE36-4853-B226-DE2736D1BB16}" srcId="{24E5A640-CC6A-4AD7-8870-6655A9A0D982}" destId="{D4DAC99D-4B07-431F-97B2-030808C4F198}" srcOrd="2" destOrd="0" parTransId="{D51C9722-3303-45EA-9B4D-394D902BC7A7}" sibTransId="{FDF4D679-8BC6-4B62-A54F-1939ECFE1113}"/>
    <dgm:cxn modelId="{D1EC7C8C-84D1-4911-AE46-89FB2A06C696}" type="presOf" srcId="{24E5A640-CC6A-4AD7-8870-6655A9A0D982}" destId="{A0D77BD2-4306-4365-A005-C27E45639CB0}" srcOrd="0" destOrd="0" presId="urn:microsoft.com/office/officeart/2018/5/layout/CenteredIconLabelDescriptionList"/>
    <dgm:cxn modelId="{648214A3-CD7C-4FC2-9125-6A4A26C4FC1A}" type="presOf" srcId="{F694A86F-39DE-4BAD-A883-FF34743F95DC}" destId="{78A1C93E-D171-4999-8836-8E2BBEB90E5B}" srcOrd="0" destOrd="0" presId="urn:microsoft.com/office/officeart/2018/5/layout/CenteredIconLabelDescriptionList"/>
    <dgm:cxn modelId="{62D0EFA7-7611-4732-8337-89CD2B38CA4C}" type="presOf" srcId="{3D58943B-753F-45C2-B9E6-CAFA3E8F5341}" destId="{40D5EB8E-932A-4C90-826B-1B6A51DA0827}" srcOrd="0" destOrd="0" presId="urn:microsoft.com/office/officeart/2018/5/layout/CenteredIconLabelDescriptionList"/>
    <dgm:cxn modelId="{1DBA24B7-3A0A-4FB3-A1D0-2995383FDBDD}" srcId="{3D58943B-753F-45C2-B9E6-CAFA3E8F5341}" destId="{24E5A640-CC6A-4AD7-8870-6655A9A0D982}" srcOrd="0" destOrd="0" parTransId="{D55F5993-6204-49D8-B382-FF427F2645A5}" sibTransId="{97F4BC67-76D7-4A28-8AE4-F251F689863A}"/>
    <dgm:cxn modelId="{A433B0C4-03DE-45D4-B7BC-1BB06B4DF596}" srcId="{3D58943B-753F-45C2-B9E6-CAFA3E8F5341}" destId="{E3CAE072-4129-4FB0-8A05-51B1322B5C66}" srcOrd="1" destOrd="0" parTransId="{DCC3BA1E-7FF8-4B88-AA7F-15D6D6E4F3E3}" sibTransId="{44EC44AB-209A-40E7-A943-DD9784D6DC9F}"/>
    <dgm:cxn modelId="{0709ACE6-9FD1-4635-8064-EA791945CE2F}" type="presOf" srcId="{04B89030-B60B-4E37-AFA8-942B76F2A6E4}" destId="{78A1C93E-D171-4999-8836-8E2BBEB90E5B}" srcOrd="0" destOrd="1" presId="urn:microsoft.com/office/officeart/2018/5/layout/CenteredIconLabelDescriptionList"/>
    <dgm:cxn modelId="{F6257E90-765F-4C9B-AE53-8E46C924DF76}" type="presParOf" srcId="{40D5EB8E-932A-4C90-826B-1B6A51DA0827}" destId="{6AA0B173-ABB9-4215-BD42-93CEBBEDCFA0}" srcOrd="0" destOrd="0" presId="urn:microsoft.com/office/officeart/2018/5/layout/CenteredIconLabelDescriptionList"/>
    <dgm:cxn modelId="{19ED5550-12E0-49B0-A7C9-6306432A2707}" type="presParOf" srcId="{6AA0B173-ABB9-4215-BD42-93CEBBEDCFA0}" destId="{1CB3D3E1-50F8-439F-A5D8-609E718C8A03}" srcOrd="0" destOrd="0" presId="urn:microsoft.com/office/officeart/2018/5/layout/CenteredIconLabelDescriptionList"/>
    <dgm:cxn modelId="{B35A4601-BC8C-4E15-AE6E-3783CE31A8B8}" type="presParOf" srcId="{6AA0B173-ABB9-4215-BD42-93CEBBEDCFA0}" destId="{30FBB0A9-5E71-4DB1-A6B1-74FE00B006A7}" srcOrd="1" destOrd="0" presId="urn:microsoft.com/office/officeart/2018/5/layout/CenteredIconLabelDescriptionList"/>
    <dgm:cxn modelId="{CF54AA4B-5A5E-4589-BDBF-A3F0C40C7FE8}" type="presParOf" srcId="{6AA0B173-ABB9-4215-BD42-93CEBBEDCFA0}" destId="{A0D77BD2-4306-4365-A005-C27E45639CB0}" srcOrd="2" destOrd="0" presId="urn:microsoft.com/office/officeart/2018/5/layout/CenteredIconLabelDescriptionList"/>
    <dgm:cxn modelId="{DC859057-6179-45A6-B8C6-8F1DDBA3EA6A}" type="presParOf" srcId="{6AA0B173-ABB9-4215-BD42-93CEBBEDCFA0}" destId="{13FEACEB-3668-4D29-998F-B67E9079276A}" srcOrd="3" destOrd="0" presId="urn:microsoft.com/office/officeart/2018/5/layout/CenteredIconLabelDescriptionList"/>
    <dgm:cxn modelId="{ED0CEE9D-08A2-410F-9D1C-A722E8A43108}" type="presParOf" srcId="{6AA0B173-ABB9-4215-BD42-93CEBBEDCFA0}" destId="{78A1C93E-D171-4999-8836-8E2BBEB90E5B}" srcOrd="4" destOrd="0" presId="urn:microsoft.com/office/officeart/2018/5/layout/CenteredIconLabelDescriptionList"/>
    <dgm:cxn modelId="{ACDACE00-0D0D-4FD5-A753-302DD64F6458}" type="presParOf" srcId="{40D5EB8E-932A-4C90-826B-1B6A51DA0827}" destId="{21A71FC0-08DE-47BB-B1EC-5638C6BF0EB5}" srcOrd="1" destOrd="0" presId="urn:microsoft.com/office/officeart/2018/5/layout/CenteredIconLabelDescriptionList"/>
    <dgm:cxn modelId="{6CC4A7FF-6976-4D1F-9D84-E1B91BC14493}" type="presParOf" srcId="{40D5EB8E-932A-4C90-826B-1B6A51DA0827}" destId="{961253A8-EEBD-4446-A497-9C4E7F0A2A0A}" srcOrd="2" destOrd="0" presId="urn:microsoft.com/office/officeart/2018/5/layout/CenteredIconLabelDescriptionList"/>
    <dgm:cxn modelId="{B7585C7D-4980-4D02-B1FF-A786257F9CF6}" type="presParOf" srcId="{961253A8-EEBD-4446-A497-9C4E7F0A2A0A}" destId="{F14421C3-4851-40AD-8B30-C49248D84A92}" srcOrd="0" destOrd="0" presId="urn:microsoft.com/office/officeart/2018/5/layout/CenteredIconLabelDescriptionList"/>
    <dgm:cxn modelId="{30F7A8E0-8B03-4363-A63A-C9F9F475AFA7}" type="presParOf" srcId="{961253A8-EEBD-4446-A497-9C4E7F0A2A0A}" destId="{C5C318CE-28DC-491F-A696-BB90AD5E15C8}" srcOrd="1" destOrd="0" presId="urn:microsoft.com/office/officeart/2018/5/layout/CenteredIconLabelDescriptionList"/>
    <dgm:cxn modelId="{F3FE320A-72BD-490C-A166-959441C64DE9}" type="presParOf" srcId="{961253A8-EEBD-4446-A497-9C4E7F0A2A0A}" destId="{32F61932-5FE8-4396-BBB1-7983164A7FAF}" srcOrd="2" destOrd="0" presId="urn:microsoft.com/office/officeart/2018/5/layout/CenteredIconLabelDescriptionList"/>
    <dgm:cxn modelId="{EC3E2334-4F29-4AED-9790-74509EAD8EF4}" type="presParOf" srcId="{961253A8-EEBD-4446-A497-9C4E7F0A2A0A}" destId="{9437DD6E-D042-4FD3-AB69-5BE21673D651}" srcOrd="3" destOrd="0" presId="urn:microsoft.com/office/officeart/2018/5/layout/CenteredIconLabelDescriptionList"/>
    <dgm:cxn modelId="{7687A61B-67AE-4F5D-94BC-7DAE8FE6EF92}" type="presParOf" srcId="{961253A8-EEBD-4446-A497-9C4E7F0A2A0A}" destId="{13A72EEE-EF11-4D2A-82F5-ADB1E2D8463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3D3E1-50F8-439F-A5D8-609E718C8A03}">
      <dsp:nvSpPr>
        <dsp:cNvPr id="0" name=""/>
        <dsp:cNvSpPr/>
      </dsp:nvSpPr>
      <dsp:spPr>
        <a:xfrm>
          <a:off x="1963800" y="62289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77BD2-4306-4365-A005-C27E45639CB0}">
      <dsp:nvSpPr>
        <dsp:cNvPr id="0" name=""/>
        <dsp:cNvSpPr/>
      </dsp:nvSpPr>
      <dsp:spPr>
        <a:xfrm>
          <a:off x="559800" y="175609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sp</a:t>
          </a:r>
        </a:p>
      </dsp:txBody>
      <dsp:txXfrm>
        <a:off x="559800" y="1756092"/>
        <a:ext cx="4320000" cy="648000"/>
      </dsp:txXfrm>
    </dsp:sp>
    <dsp:sp modelId="{78A1C93E-D171-4999-8836-8E2BBEB90E5B}">
      <dsp:nvSpPr>
        <dsp:cNvPr id="0" name=""/>
        <dsp:cNvSpPr/>
      </dsp:nvSpPr>
      <dsp:spPr>
        <a:xfrm>
          <a:off x="559800" y="2488651"/>
          <a:ext cx="4320000" cy="1801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S4 objects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Slot storage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Older and well developed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Compatible with statistical and </a:t>
          </a:r>
          <a:br>
            <a:rPr lang="en-US" sz="1700" u="sng" kern="1200"/>
          </a:br>
          <a:r>
            <a:rPr lang="en-US" sz="1700" u="sng" kern="1200"/>
            <a:t>econometrical packages</a:t>
          </a:r>
        </a:p>
      </dsp:txBody>
      <dsp:txXfrm>
        <a:off x="559800" y="2488651"/>
        <a:ext cx="4320000" cy="1801603"/>
      </dsp:txXfrm>
    </dsp:sp>
    <dsp:sp modelId="{F14421C3-4851-40AD-8B30-C49248D84A92}">
      <dsp:nvSpPr>
        <dsp:cNvPr id="0" name=""/>
        <dsp:cNvSpPr/>
      </dsp:nvSpPr>
      <dsp:spPr>
        <a:xfrm>
          <a:off x="7039800" y="62289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F61932-5FE8-4396-BBB1-7983164A7FAF}">
      <dsp:nvSpPr>
        <dsp:cNvPr id="0" name=""/>
        <dsp:cNvSpPr/>
      </dsp:nvSpPr>
      <dsp:spPr>
        <a:xfrm>
          <a:off x="5635800" y="1756092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sf</a:t>
          </a:r>
        </a:p>
      </dsp:txBody>
      <dsp:txXfrm>
        <a:off x="5635800" y="1756092"/>
        <a:ext cx="4320000" cy="648000"/>
      </dsp:txXfrm>
    </dsp:sp>
    <dsp:sp modelId="{13A72EEE-EF11-4D2A-82F5-ADB1E2D8463A}">
      <dsp:nvSpPr>
        <dsp:cNvPr id="0" name=""/>
        <dsp:cNvSpPr/>
      </dsp:nvSpPr>
      <dsp:spPr>
        <a:xfrm>
          <a:off x="5635800" y="2488651"/>
          <a:ext cx="4320000" cy="18016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frames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Simple features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Dynamically developing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u="sng" kern="1200"/>
            <a:t>Compatible with tidyverse </a:t>
          </a:r>
          <a:br>
            <a:rPr lang="en-US" sz="1700" u="sng" kern="1200"/>
          </a:br>
          <a:r>
            <a:rPr lang="en-US" sz="1700" u="sng" kern="1200"/>
            <a:t>and ggplot2</a:t>
          </a:r>
          <a:endParaRPr lang="pl-PL" sz="1700" u="sng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Compatible with </a:t>
          </a:r>
          <a:r>
            <a:rPr lang="en-US" sz="1700" kern="1200"/>
            <a:t>statistical packages</a:t>
          </a:r>
        </a:p>
      </dsp:txBody>
      <dsp:txXfrm>
        <a:off x="5635800" y="2488651"/>
        <a:ext cx="4320000" cy="1801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98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18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3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67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54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88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7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6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77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10909-73DA-435C-A39B-805F1D1F2571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DE48A0-29EF-419E-8C6C-0E567C262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30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earthdatascience.org/courses/use-data-open-source-python/intro-vector-data-python/spatial-data-vector-shapefiles/geographic-vs-projected-coordinate-reference-systems-python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BDE04E58-53EF-4209-8A54-662EFBF10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 to spatial data in R (sf)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1DC68C2-30E2-43B6-90A3-D4DDC7020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dr Maria Kubara</a:t>
            </a:r>
          </a:p>
        </p:txBody>
      </p:sp>
    </p:spTree>
    <p:extLst>
      <p:ext uri="{BB962C8B-B14F-4D97-AF65-F5344CB8AC3E}">
        <p14:creationId xmlns:p14="http://schemas.microsoft.com/office/powerpoint/2010/main" val="281248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874A9A-1C03-477B-B449-D2D1D694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What</a:t>
            </a:r>
            <a:r>
              <a:rPr lang="pl-PL" b="1" dirty="0"/>
              <a:t> </a:t>
            </a:r>
            <a:r>
              <a:rPr lang="pl-PL" b="1" dirty="0" err="1"/>
              <a:t>is</a:t>
            </a:r>
            <a:r>
              <a:rPr lang="pl-PL" b="1" dirty="0"/>
              <a:t> </a:t>
            </a:r>
            <a:r>
              <a:rPr lang="pl-PL" b="1" dirty="0" err="1"/>
              <a:t>geospatial</a:t>
            </a:r>
            <a:r>
              <a:rPr lang="pl-PL" b="1" dirty="0"/>
              <a:t> data?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FBA85D2-1E38-4327-937D-11EE9B103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b="1" dirty="0" err="1"/>
              <a:t>Geospatial</a:t>
            </a:r>
            <a:r>
              <a:rPr lang="pl-PL" b="1" dirty="0"/>
              <a:t> data = data with </a:t>
            </a:r>
            <a:r>
              <a:rPr lang="pl-PL" b="1" dirty="0" err="1"/>
              <a:t>location</a:t>
            </a:r>
            <a:endParaRPr lang="pl-PL" dirty="0"/>
          </a:p>
          <a:p>
            <a:r>
              <a:rPr lang="pl-PL" dirty="0" err="1"/>
              <a:t>Each</a:t>
            </a:r>
            <a:r>
              <a:rPr lang="pl-PL" dirty="0"/>
              <a:t> </a:t>
            </a:r>
            <a:r>
              <a:rPr lang="pl-PL" dirty="0" err="1"/>
              <a:t>observation</a:t>
            </a:r>
            <a:r>
              <a:rPr lang="pl-PL" dirty="0"/>
              <a:t> </a:t>
            </a:r>
            <a:r>
              <a:rPr lang="pl-PL" dirty="0" err="1"/>
              <a:t>has</a:t>
            </a:r>
            <a:r>
              <a:rPr lang="pl-PL" dirty="0"/>
              <a:t>:</a:t>
            </a:r>
          </a:p>
          <a:p>
            <a:pPr lvl="1"/>
            <a:r>
              <a:rPr lang="pl-PL" b="1" dirty="0" err="1"/>
              <a:t>attributes</a:t>
            </a:r>
            <a:r>
              <a:rPr lang="pl-PL" dirty="0"/>
              <a:t> (</a:t>
            </a:r>
            <a:r>
              <a:rPr lang="pl-PL" dirty="0" err="1"/>
              <a:t>what</a:t>
            </a:r>
            <a:r>
              <a:rPr lang="pl-PL" dirty="0"/>
              <a:t>?)</a:t>
            </a:r>
          </a:p>
          <a:p>
            <a:pPr lvl="1"/>
            <a:r>
              <a:rPr lang="pl-PL" b="1" dirty="0"/>
              <a:t>geometry</a:t>
            </a:r>
            <a:r>
              <a:rPr lang="pl-PL" dirty="0"/>
              <a:t> (</a:t>
            </a:r>
            <a:r>
              <a:rPr lang="pl-PL" dirty="0" err="1"/>
              <a:t>where</a:t>
            </a:r>
            <a:r>
              <a:rPr lang="pl-PL" dirty="0"/>
              <a:t>?)</a:t>
            </a:r>
          </a:p>
          <a:p>
            <a:r>
              <a:rPr lang="pl-PL" dirty="0" err="1"/>
              <a:t>Location</a:t>
            </a:r>
            <a:r>
              <a:rPr lang="pl-PL" dirty="0"/>
              <a:t> </a:t>
            </a:r>
            <a:r>
              <a:rPr lang="pl-PL" dirty="0" err="1"/>
              <a:t>can</a:t>
            </a:r>
            <a:r>
              <a:rPr lang="pl-PL" dirty="0"/>
              <a:t> be </a:t>
            </a:r>
            <a:r>
              <a:rPr lang="pl-PL" dirty="0" err="1"/>
              <a:t>represented</a:t>
            </a:r>
            <a:r>
              <a:rPr lang="pl-PL" dirty="0"/>
              <a:t> as:</a:t>
            </a:r>
          </a:p>
          <a:p>
            <a:pPr lvl="1"/>
            <a:r>
              <a:rPr lang="pl-PL" b="1" dirty="0" err="1"/>
              <a:t>points</a:t>
            </a:r>
            <a:r>
              <a:rPr lang="pl-PL" dirty="0"/>
              <a:t> (</a:t>
            </a:r>
            <a:r>
              <a:rPr lang="pl-PL" dirty="0" err="1"/>
              <a:t>events</a:t>
            </a:r>
            <a:r>
              <a:rPr lang="pl-PL" dirty="0"/>
              <a:t>, </a:t>
            </a:r>
            <a:r>
              <a:rPr lang="pl-PL" dirty="0" err="1"/>
              <a:t>firms</a:t>
            </a:r>
            <a:r>
              <a:rPr lang="pl-PL" dirty="0"/>
              <a:t>, </a:t>
            </a:r>
            <a:r>
              <a:rPr lang="pl-PL" dirty="0" err="1"/>
              <a:t>people</a:t>
            </a:r>
            <a:r>
              <a:rPr lang="pl-PL" dirty="0"/>
              <a:t>)</a:t>
            </a:r>
          </a:p>
          <a:p>
            <a:pPr lvl="1"/>
            <a:r>
              <a:rPr lang="pl-PL" b="1" dirty="0"/>
              <a:t>lines</a:t>
            </a:r>
            <a:r>
              <a:rPr lang="pl-PL" dirty="0"/>
              <a:t> (</a:t>
            </a:r>
            <a:r>
              <a:rPr lang="pl-PL" dirty="0" err="1"/>
              <a:t>roads</a:t>
            </a:r>
            <a:r>
              <a:rPr lang="pl-PL" dirty="0"/>
              <a:t>, </a:t>
            </a:r>
            <a:r>
              <a:rPr lang="pl-PL" dirty="0" err="1"/>
              <a:t>rivers</a:t>
            </a:r>
            <a:r>
              <a:rPr lang="pl-PL" dirty="0"/>
              <a:t>, </a:t>
            </a:r>
            <a:r>
              <a:rPr lang="pl-PL" dirty="0" err="1"/>
              <a:t>flows</a:t>
            </a:r>
            <a:r>
              <a:rPr lang="pl-PL" dirty="0"/>
              <a:t>)</a:t>
            </a:r>
          </a:p>
          <a:p>
            <a:pPr lvl="1"/>
            <a:r>
              <a:rPr lang="pl-PL" b="1" dirty="0" err="1"/>
              <a:t>polygons</a:t>
            </a:r>
            <a:r>
              <a:rPr lang="pl-PL" dirty="0"/>
              <a:t> (regions, </a:t>
            </a:r>
            <a:r>
              <a:rPr lang="pl-PL" dirty="0" err="1"/>
              <a:t>districts</a:t>
            </a:r>
            <a:r>
              <a:rPr lang="pl-PL" dirty="0"/>
              <a:t>, </a:t>
            </a:r>
            <a:r>
              <a:rPr lang="pl-PL" dirty="0" err="1"/>
              <a:t>markets</a:t>
            </a:r>
            <a:r>
              <a:rPr lang="pl-PL" dirty="0"/>
              <a:t>)</a:t>
            </a:r>
            <a:br>
              <a:rPr lang="pl-PL" dirty="0"/>
            </a:br>
            <a:endParaRPr lang="pl-PL" dirty="0"/>
          </a:p>
          <a:p>
            <a:pPr marL="0" indent="0">
              <a:buNone/>
            </a:pPr>
            <a:r>
              <a:rPr lang="pl-PL" dirty="0"/>
              <a:t>👉 </a:t>
            </a:r>
            <a:r>
              <a:rPr lang="pl-PL" i="1" dirty="0"/>
              <a:t>Same </a:t>
            </a:r>
            <a:r>
              <a:rPr lang="pl-PL" i="1" dirty="0" err="1"/>
              <a:t>logic</a:t>
            </a:r>
            <a:r>
              <a:rPr lang="pl-PL" i="1" dirty="0"/>
              <a:t> as a </a:t>
            </a:r>
            <a:r>
              <a:rPr lang="pl-PL" i="1" dirty="0" err="1"/>
              <a:t>table</a:t>
            </a:r>
            <a:r>
              <a:rPr lang="pl-PL" i="1" dirty="0"/>
              <a:t> (</a:t>
            </a:r>
            <a:r>
              <a:rPr lang="pl-PL" i="1" dirty="0" err="1"/>
              <a:t>features</a:t>
            </a:r>
            <a:r>
              <a:rPr lang="pl-PL" i="1" dirty="0"/>
              <a:t>, </a:t>
            </a:r>
            <a:r>
              <a:rPr lang="pl-PL" i="1" dirty="0" err="1"/>
              <a:t>attributes</a:t>
            </a:r>
            <a:r>
              <a:rPr lang="pl-PL" i="1" dirty="0"/>
              <a:t>) — but with </a:t>
            </a:r>
            <a:r>
              <a:rPr lang="pl-PL" i="1" dirty="0" err="1"/>
              <a:t>space</a:t>
            </a:r>
            <a:r>
              <a:rPr lang="pl-PL" i="1" dirty="0"/>
              <a:t> </a:t>
            </a:r>
            <a:r>
              <a:rPr lang="pl-PL" i="1" dirty="0" err="1"/>
              <a:t>attached</a:t>
            </a:r>
            <a:r>
              <a:rPr lang="pl-PL" i="1" dirty="0"/>
              <a:t>.</a:t>
            </a:r>
            <a:endParaRPr lang="pl-PL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B24C0C5-6B27-2C1C-70AE-977A05CD43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0" b="9124"/>
          <a:stretch>
            <a:fillRect/>
          </a:stretch>
        </p:blipFill>
        <p:spPr bwMode="auto">
          <a:xfrm>
            <a:off x="6690076" y="1198725"/>
            <a:ext cx="5501924" cy="350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25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5707A5-17B1-B44E-C98B-BA86EC97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/>
              <a:t>Geometry vs </a:t>
            </a:r>
            <a:r>
              <a:rPr lang="pl-PL" b="1" dirty="0" err="1"/>
              <a:t>attributes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8FF8BB8-3A11-E474-5D28-334E4053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5059" cy="4351338"/>
          </a:xfrm>
        </p:spPr>
        <p:txBody>
          <a:bodyPr>
            <a:normAutofit lnSpcReduction="10000"/>
          </a:bodyPr>
          <a:lstStyle/>
          <a:p>
            <a:r>
              <a:rPr lang="pl-PL" b="1" dirty="0" err="1"/>
              <a:t>Two</a:t>
            </a:r>
            <a:r>
              <a:rPr lang="pl-PL" b="1" dirty="0"/>
              <a:t> </a:t>
            </a:r>
            <a:r>
              <a:rPr lang="pl-PL" b="1" dirty="0" err="1"/>
              <a:t>inseparable</a:t>
            </a:r>
            <a:r>
              <a:rPr lang="pl-PL" b="1" dirty="0"/>
              <a:t> </a:t>
            </a:r>
            <a:r>
              <a:rPr lang="pl-PL" b="1" dirty="0" err="1"/>
              <a:t>components</a:t>
            </a:r>
            <a:r>
              <a:rPr lang="pl-PL" b="1" dirty="0"/>
              <a:t> of </a:t>
            </a:r>
            <a:r>
              <a:rPr lang="pl-PL" b="1" dirty="0" err="1"/>
              <a:t>spatial</a:t>
            </a:r>
            <a:r>
              <a:rPr lang="pl-PL" b="1" dirty="0"/>
              <a:t> data</a:t>
            </a:r>
            <a:endParaRPr lang="pl-PL" dirty="0"/>
          </a:p>
          <a:p>
            <a:r>
              <a:rPr lang="pl-PL" b="1" dirty="0" err="1"/>
              <a:t>Attributes</a:t>
            </a:r>
            <a:endParaRPr lang="pl-PL" dirty="0"/>
          </a:p>
          <a:p>
            <a:pPr lvl="1"/>
            <a:r>
              <a:rPr lang="pl-PL" dirty="0" err="1"/>
              <a:t>variables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analyse</a:t>
            </a:r>
            <a:r>
              <a:rPr lang="pl-PL" dirty="0"/>
              <a:t> (</a:t>
            </a:r>
            <a:r>
              <a:rPr lang="pl-PL" dirty="0" err="1"/>
              <a:t>prices</a:t>
            </a:r>
            <a:r>
              <a:rPr lang="pl-PL" dirty="0"/>
              <a:t>, </a:t>
            </a:r>
            <a:r>
              <a:rPr lang="pl-PL" dirty="0" err="1"/>
              <a:t>counts</a:t>
            </a:r>
            <a:r>
              <a:rPr lang="pl-PL" dirty="0"/>
              <a:t>, </a:t>
            </a:r>
            <a:r>
              <a:rPr lang="pl-PL" dirty="0" err="1"/>
              <a:t>rates</a:t>
            </a:r>
            <a:r>
              <a:rPr lang="pl-PL" dirty="0"/>
              <a:t>)</a:t>
            </a:r>
          </a:p>
          <a:p>
            <a:r>
              <a:rPr lang="pl-PL" b="1" dirty="0"/>
              <a:t>Geometry</a:t>
            </a:r>
            <a:endParaRPr lang="pl-PL" dirty="0"/>
          </a:p>
          <a:p>
            <a:pPr lvl="1"/>
            <a:r>
              <a:rPr lang="pl-PL" dirty="0" err="1"/>
              <a:t>coordinates</a:t>
            </a:r>
            <a:r>
              <a:rPr lang="pl-PL" dirty="0"/>
              <a:t> </a:t>
            </a:r>
            <a:r>
              <a:rPr lang="pl-PL" dirty="0" err="1"/>
              <a:t>defining</a:t>
            </a:r>
            <a:r>
              <a:rPr lang="pl-PL" dirty="0"/>
              <a:t> </a:t>
            </a:r>
            <a:br>
              <a:rPr lang="pl-PL" dirty="0"/>
            </a:br>
            <a:r>
              <a:rPr lang="pl-PL" dirty="0" err="1"/>
              <a:t>location</a:t>
            </a:r>
            <a:r>
              <a:rPr lang="pl-PL" dirty="0"/>
              <a:t> </a:t>
            </a:r>
            <a:r>
              <a:rPr lang="pl-PL" dirty="0" err="1"/>
              <a:t>or</a:t>
            </a:r>
            <a:r>
              <a:rPr lang="pl-PL" dirty="0"/>
              <a:t> </a:t>
            </a:r>
            <a:r>
              <a:rPr lang="pl-PL" dirty="0" err="1"/>
              <a:t>extent</a:t>
            </a:r>
            <a:endParaRPr lang="pl-PL" dirty="0"/>
          </a:p>
          <a:p>
            <a:pPr lvl="1"/>
            <a:r>
              <a:rPr lang="pl-PL" dirty="0" err="1"/>
              <a:t>how</a:t>
            </a:r>
            <a:r>
              <a:rPr lang="pl-PL" dirty="0"/>
              <a:t> </a:t>
            </a:r>
            <a:r>
              <a:rPr lang="pl-PL" dirty="0" err="1"/>
              <a:t>objects</a:t>
            </a:r>
            <a:r>
              <a:rPr lang="pl-PL" dirty="0"/>
              <a:t> </a:t>
            </a:r>
            <a:r>
              <a:rPr lang="pl-PL" dirty="0" err="1"/>
              <a:t>relate</a:t>
            </a:r>
            <a:r>
              <a:rPr lang="pl-PL" dirty="0"/>
              <a:t> in </a:t>
            </a:r>
            <a:r>
              <a:rPr lang="pl-PL" dirty="0" err="1"/>
              <a:t>space</a:t>
            </a:r>
            <a:endParaRPr lang="pl-PL" dirty="0"/>
          </a:p>
          <a:p>
            <a:r>
              <a:rPr lang="pl-PL" dirty="0" err="1"/>
              <a:t>Spatial</a:t>
            </a:r>
            <a:r>
              <a:rPr lang="pl-PL" dirty="0"/>
              <a:t> </a:t>
            </a:r>
            <a:r>
              <a:rPr lang="pl-PL" dirty="0" err="1"/>
              <a:t>analysis</a:t>
            </a:r>
            <a:r>
              <a:rPr lang="pl-PL" dirty="0"/>
              <a:t> = </a:t>
            </a:r>
            <a:r>
              <a:rPr lang="pl-PL" dirty="0" err="1"/>
              <a:t>working</a:t>
            </a:r>
            <a:r>
              <a:rPr lang="pl-PL" dirty="0"/>
              <a:t> with </a:t>
            </a:r>
            <a:r>
              <a:rPr lang="pl-PL" b="1" dirty="0" err="1"/>
              <a:t>both</a:t>
            </a:r>
            <a:r>
              <a:rPr lang="pl-PL" b="1" dirty="0"/>
              <a:t> </a:t>
            </a:r>
            <a:r>
              <a:rPr lang="pl-PL" b="1" dirty="0" err="1"/>
              <a:t>at</a:t>
            </a:r>
            <a:r>
              <a:rPr lang="pl-PL" b="1" dirty="0"/>
              <a:t> the same </a:t>
            </a:r>
            <a:r>
              <a:rPr lang="pl-PL" b="1" dirty="0" err="1"/>
              <a:t>time</a:t>
            </a:r>
            <a:endParaRPr lang="pl-PL" dirty="0"/>
          </a:p>
        </p:txBody>
      </p:sp>
      <p:pic>
        <p:nvPicPr>
          <p:cNvPr id="6" name="Obraz 5" descr="Obraz zawierający tekst, pismo odręczne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5A9D9ACC-32A0-F3CC-BFDE-E3B657E16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5"/>
          <a:stretch>
            <a:fillRect/>
          </a:stretch>
        </p:blipFill>
        <p:spPr>
          <a:xfrm>
            <a:off x="5607424" y="1825625"/>
            <a:ext cx="6584576" cy="360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48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753A5-F6D9-4D53-3283-986DB23C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5C978D-BF67-C40C-2081-E7B87F664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Coordinate</a:t>
            </a:r>
            <a:r>
              <a:rPr lang="pl-PL" b="1" dirty="0"/>
              <a:t> Reference Systems (CRS)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6EE3C3B-2751-402C-22BF-513D72030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4808"/>
            <a:ext cx="10515600" cy="52130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l-PL" sz="3800" b="1" dirty="0" err="1"/>
              <a:t>What</a:t>
            </a:r>
            <a:r>
              <a:rPr lang="pl-PL" sz="3800" b="1" dirty="0"/>
              <a:t> </a:t>
            </a:r>
            <a:r>
              <a:rPr lang="pl-PL" sz="3800" b="1" dirty="0" err="1"/>
              <a:t>is</a:t>
            </a:r>
            <a:r>
              <a:rPr lang="pl-PL" sz="3800" b="1" dirty="0"/>
              <a:t> a CRS?</a:t>
            </a:r>
            <a:endParaRPr lang="pl-PL" sz="3800" dirty="0"/>
          </a:p>
          <a:p>
            <a:r>
              <a:rPr lang="pl-PL" sz="3800" dirty="0"/>
              <a:t>A CRS </a:t>
            </a:r>
            <a:r>
              <a:rPr lang="pl-PL" sz="3800" dirty="0" err="1"/>
              <a:t>defines</a:t>
            </a:r>
            <a:r>
              <a:rPr lang="pl-PL" sz="3800" dirty="0"/>
              <a:t> </a:t>
            </a:r>
            <a:r>
              <a:rPr lang="pl-PL" sz="3800" b="1" dirty="0" err="1"/>
              <a:t>how</a:t>
            </a:r>
            <a:r>
              <a:rPr lang="pl-PL" sz="3800" b="1" dirty="0"/>
              <a:t> </a:t>
            </a:r>
            <a:r>
              <a:rPr lang="pl-PL" sz="3800" b="1" dirty="0" err="1"/>
              <a:t>coordinates</a:t>
            </a:r>
            <a:r>
              <a:rPr lang="pl-PL" sz="3800" b="1" dirty="0"/>
              <a:t> map to the Earth</a:t>
            </a:r>
            <a:endParaRPr lang="pl-PL" sz="3800" dirty="0"/>
          </a:p>
          <a:p>
            <a:r>
              <a:rPr lang="pl-PL" sz="3800" dirty="0"/>
              <a:t>It </a:t>
            </a:r>
            <a:r>
              <a:rPr lang="pl-PL" sz="3800" dirty="0" err="1"/>
              <a:t>answers</a:t>
            </a:r>
            <a:r>
              <a:rPr lang="pl-PL" sz="3800" dirty="0"/>
              <a:t>:</a:t>
            </a:r>
          </a:p>
          <a:p>
            <a:pPr lvl="1"/>
            <a:r>
              <a:rPr lang="pl-PL" sz="3200" i="1" dirty="0" err="1"/>
              <a:t>What</a:t>
            </a:r>
            <a:r>
              <a:rPr lang="pl-PL" sz="3200" i="1" dirty="0"/>
              <a:t> do </a:t>
            </a:r>
            <a:r>
              <a:rPr lang="pl-PL" sz="3200" i="1" dirty="0" err="1"/>
              <a:t>these</a:t>
            </a:r>
            <a:r>
              <a:rPr lang="pl-PL" sz="3200" i="1" dirty="0"/>
              <a:t> </a:t>
            </a:r>
            <a:r>
              <a:rPr lang="pl-PL" sz="3200" i="1" dirty="0" err="1"/>
              <a:t>numbers</a:t>
            </a:r>
            <a:r>
              <a:rPr lang="pl-PL" sz="3200" i="1" dirty="0"/>
              <a:t> </a:t>
            </a:r>
            <a:r>
              <a:rPr lang="pl-PL" sz="3200" i="1" dirty="0" err="1"/>
              <a:t>mean</a:t>
            </a:r>
            <a:r>
              <a:rPr lang="pl-PL" sz="3200" i="1" dirty="0"/>
              <a:t>?</a:t>
            </a:r>
            <a:endParaRPr lang="pl-PL" sz="3200" dirty="0"/>
          </a:p>
          <a:p>
            <a:pPr lvl="1"/>
            <a:r>
              <a:rPr lang="pl-PL" sz="3200" i="1" dirty="0" err="1"/>
              <a:t>Are</a:t>
            </a:r>
            <a:r>
              <a:rPr lang="pl-PL" sz="3200" i="1" dirty="0"/>
              <a:t> </a:t>
            </a:r>
            <a:r>
              <a:rPr lang="pl-PL" sz="3200" i="1" dirty="0" err="1"/>
              <a:t>they</a:t>
            </a:r>
            <a:r>
              <a:rPr lang="pl-PL" sz="3200" i="1" dirty="0"/>
              <a:t> </a:t>
            </a:r>
            <a:r>
              <a:rPr lang="pl-PL" sz="3200" i="1" dirty="0" err="1"/>
              <a:t>degrees</a:t>
            </a:r>
            <a:r>
              <a:rPr lang="pl-PL" sz="3200" i="1" dirty="0"/>
              <a:t> </a:t>
            </a:r>
            <a:r>
              <a:rPr lang="pl-PL" sz="3200" i="1" dirty="0" err="1"/>
              <a:t>or</a:t>
            </a:r>
            <a:r>
              <a:rPr lang="pl-PL" sz="3200" i="1" dirty="0"/>
              <a:t> </a:t>
            </a:r>
            <a:r>
              <a:rPr lang="pl-PL" sz="3200" i="1" dirty="0" err="1"/>
              <a:t>meters</a:t>
            </a:r>
            <a:r>
              <a:rPr lang="pl-PL" sz="3200" i="1" dirty="0"/>
              <a:t>?</a:t>
            </a:r>
            <a:br>
              <a:rPr lang="pl-PL" sz="3200" dirty="0"/>
            </a:br>
            <a:endParaRPr lang="pl-PL" sz="3200" dirty="0"/>
          </a:p>
          <a:p>
            <a:pPr marL="0" indent="0">
              <a:buNone/>
            </a:pPr>
            <a:r>
              <a:rPr lang="pl-PL" sz="3800" dirty="0" err="1"/>
              <a:t>Two</a:t>
            </a:r>
            <a:r>
              <a:rPr lang="pl-PL" sz="3800" dirty="0"/>
              <a:t> </a:t>
            </a:r>
            <a:r>
              <a:rPr lang="pl-PL" sz="3800" dirty="0" err="1"/>
              <a:t>common</a:t>
            </a:r>
            <a:r>
              <a:rPr lang="pl-PL" sz="3800" dirty="0"/>
              <a:t> </a:t>
            </a:r>
            <a:r>
              <a:rPr lang="pl-PL" sz="3800" dirty="0" err="1"/>
              <a:t>cases</a:t>
            </a:r>
            <a:r>
              <a:rPr lang="pl-PL" sz="3800" dirty="0"/>
              <a:t>:</a:t>
            </a:r>
          </a:p>
          <a:p>
            <a:r>
              <a:rPr lang="pl-PL" sz="3800" b="1" dirty="0" err="1"/>
              <a:t>Geographic</a:t>
            </a:r>
            <a:r>
              <a:rPr lang="pl-PL" sz="3800" b="1" dirty="0"/>
              <a:t> CRS</a:t>
            </a:r>
            <a:endParaRPr lang="pl-PL" sz="3800" dirty="0"/>
          </a:p>
          <a:p>
            <a:pPr lvl="1"/>
            <a:r>
              <a:rPr lang="pl-PL" sz="3200" dirty="0" err="1"/>
              <a:t>longitude</a:t>
            </a:r>
            <a:r>
              <a:rPr lang="pl-PL" sz="3200" dirty="0"/>
              <a:t> / </a:t>
            </a:r>
            <a:r>
              <a:rPr lang="pl-PL" sz="3200" dirty="0" err="1"/>
              <a:t>latitude</a:t>
            </a:r>
            <a:r>
              <a:rPr lang="pl-PL" sz="3200" dirty="0"/>
              <a:t> (</a:t>
            </a:r>
            <a:r>
              <a:rPr lang="pl-PL" sz="3200" dirty="0" err="1"/>
              <a:t>degrees</a:t>
            </a:r>
            <a:r>
              <a:rPr lang="pl-PL" sz="3200" dirty="0"/>
              <a:t>)</a:t>
            </a:r>
          </a:p>
          <a:p>
            <a:r>
              <a:rPr lang="pl-PL" sz="3800" b="1" dirty="0" err="1"/>
              <a:t>Projected</a:t>
            </a:r>
            <a:r>
              <a:rPr lang="pl-PL" sz="3800" b="1" dirty="0"/>
              <a:t> CRS</a:t>
            </a:r>
            <a:endParaRPr lang="pl-PL" sz="3800" dirty="0"/>
          </a:p>
          <a:p>
            <a:pPr lvl="1"/>
            <a:r>
              <a:rPr lang="pl-PL" sz="3200" dirty="0" err="1"/>
              <a:t>flat</a:t>
            </a:r>
            <a:r>
              <a:rPr lang="pl-PL" sz="3200" dirty="0"/>
              <a:t> map (</a:t>
            </a:r>
            <a:r>
              <a:rPr lang="pl-PL" sz="3200" dirty="0" err="1"/>
              <a:t>meters</a:t>
            </a:r>
            <a:r>
              <a:rPr lang="pl-PL" sz="3200" dirty="0"/>
              <a:t>, </a:t>
            </a:r>
            <a:r>
              <a:rPr lang="pl-PL" sz="3200" dirty="0" err="1"/>
              <a:t>kilometers</a:t>
            </a:r>
            <a:r>
              <a:rPr lang="pl-PL" sz="3200" dirty="0"/>
              <a:t>)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/>
              <a:t>⚠️ </a:t>
            </a:r>
            <a:r>
              <a:rPr lang="pl-PL" i="1" dirty="0" err="1"/>
              <a:t>Distances</a:t>
            </a:r>
            <a:r>
              <a:rPr lang="pl-PL" i="1" dirty="0"/>
              <a:t>, </a:t>
            </a:r>
            <a:r>
              <a:rPr lang="pl-PL" i="1" dirty="0" err="1"/>
              <a:t>buffers</a:t>
            </a:r>
            <a:r>
              <a:rPr lang="pl-PL" i="1" dirty="0"/>
              <a:t>, and </a:t>
            </a:r>
            <a:r>
              <a:rPr lang="pl-PL" i="1" dirty="0" err="1"/>
              <a:t>areas</a:t>
            </a:r>
            <a:r>
              <a:rPr lang="pl-PL" i="1" dirty="0"/>
              <a:t> </a:t>
            </a:r>
            <a:r>
              <a:rPr lang="pl-PL" i="1" dirty="0" err="1"/>
              <a:t>only</a:t>
            </a:r>
            <a:r>
              <a:rPr lang="pl-PL" i="1" dirty="0"/>
              <a:t> </a:t>
            </a:r>
            <a:r>
              <a:rPr lang="pl-PL" i="1" dirty="0" err="1"/>
              <a:t>make</a:t>
            </a:r>
            <a:r>
              <a:rPr lang="pl-PL" i="1" dirty="0"/>
              <a:t> </a:t>
            </a:r>
            <a:r>
              <a:rPr lang="pl-PL" i="1" dirty="0" err="1"/>
              <a:t>sense</a:t>
            </a:r>
            <a:r>
              <a:rPr lang="pl-PL" i="1" dirty="0"/>
              <a:t> with the </a:t>
            </a:r>
            <a:r>
              <a:rPr lang="pl-PL" i="1" dirty="0" err="1"/>
              <a:t>right</a:t>
            </a:r>
            <a:r>
              <a:rPr lang="pl-PL" i="1" dirty="0"/>
              <a:t> CRS.</a:t>
            </a:r>
          </a:p>
          <a:p>
            <a:pPr marL="0" indent="0">
              <a:buNone/>
            </a:pPr>
            <a:r>
              <a:rPr lang="pl-PL" dirty="0"/>
              <a:t>Nice </a:t>
            </a:r>
            <a:r>
              <a:rPr lang="pl-PL" dirty="0" err="1"/>
              <a:t>resource</a:t>
            </a:r>
            <a:r>
              <a:rPr lang="pl-PL" dirty="0"/>
              <a:t>: </a:t>
            </a:r>
            <a:r>
              <a:rPr lang="pl-PL" dirty="0">
                <a:hlinkClick r:id="rId2"/>
              </a:rPr>
              <a:t>https://earthdatascience.org/courses/use-data-open-source-python/intro-vector-data-python/spatial-data-vector-shapefiles/geographic-vs-projected-coordinate-reference-systems-python/</a:t>
            </a:r>
            <a:r>
              <a:rPr lang="pl-PL" dirty="0"/>
              <a:t> </a:t>
            </a:r>
          </a:p>
        </p:txBody>
      </p:sp>
      <p:pic>
        <p:nvPicPr>
          <p:cNvPr id="2050" name="Picture 2" descr="projection surfaces graphic">
            <a:extLst>
              <a:ext uri="{FF2B5EF4-FFF2-40B4-BE49-F238E27FC236}">
                <a16:creationId xmlns:a16="http://schemas.microsoft.com/office/drawing/2014/main" id="{2C5C2946-8125-7F48-C3C5-C0341C4E0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0860" y="1424808"/>
            <a:ext cx="4141368" cy="287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0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04D35-E056-DE80-D4BA-18BDCF86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AA9D3D6-86C6-058E-120A-97CBCCD73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store spatial data in R (historically)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A8390E-9EC9-7FB8-C965-3372CC0E8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ESRI shapefiles – an old, golden standard for spatial data storage</a:t>
            </a:r>
          </a:p>
          <a:p>
            <a:r>
              <a:rPr lang="en-US" dirty="0"/>
              <a:t>GDAL and GEOS software to read and manipulate the data</a:t>
            </a:r>
          </a:p>
          <a:p>
            <a:r>
              <a:rPr lang="pl-PL" b="1" dirty="0" err="1"/>
              <a:t>Early</a:t>
            </a:r>
            <a:r>
              <a:rPr lang="pl-PL" b="1" dirty="0"/>
              <a:t> R </a:t>
            </a:r>
            <a:r>
              <a:rPr lang="pl-PL" b="1" dirty="0" err="1"/>
              <a:t>solution</a:t>
            </a:r>
            <a:endParaRPr lang="pl-PL" dirty="0"/>
          </a:p>
          <a:p>
            <a:pPr lvl="1"/>
            <a:r>
              <a:rPr lang="pl-PL" b="1" dirty="0" err="1"/>
              <a:t>sp</a:t>
            </a:r>
            <a:r>
              <a:rPr lang="pl-PL" dirty="0"/>
              <a:t> </a:t>
            </a:r>
            <a:r>
              <a:rPr lang="pl-PL" dirty="0" err="1"/>
              <a:t>package</a:t>
            </a:r>
            <a:r>
              <a:rPr lang="pl-PL" dirty="0"/>
              <a:t> (2003)</a:t>
            </a:r>
          </a:p>
          <a:p>
            <a:pPr lvl="1"/>
            <a:r>
              <a:rPr lang="pl-PL" dirty="0"/>
              <a:t>S4 </a:t>
            </a:r>
            <a:r>
              <a:rPr lang="pl-PL" dirty="0" err="1"/>
              <a:t>classes</a:t>
            </a:r>
            <a:r>
              <a:rPr lang="pl-PL" dirty="0"/>
              <a:t> with </a:t>
            </a:r>
            <a:r>
              <a:rPr lang="pl-PL" dirty="0" err="1"/>
              <a:t>slots</a:t>
            </a:r>
            <a:endParaRPr lang="pl-PL" dirty="0"/>
          </a:p>
          <a:p>
            <a:pPr lvl="1"/>
            <a:r>
              <a:rPr lang="pl-PL" dirty="0" err="1"/>
              <a:t>many</a:t>
            </a:r>
            <a:r>
              <a:rPr lang="pl-PL" dirty="0"/>
              <a:t> </a:t>
            </a:r>
            <a:r>
              <a:rPr lang="pl-PL" dirty="0" err="1"/>
              <a:t>dependencies</a:t>
            </a:r>
            <a:endParaRPr lang="pl-PL" dirty="0"/>
          </a:p>
          <a:p>
            <a:pPr lvl="1"/>
            <a:r>
              <a:rPr lang="pl-PL" dirty="0" err="1"/>
              <a:t>powerful</a:t>
            </a:r>
            <a:r>
              <a:rPr lang="pl-PL" dirty="0"/>
              <a:t>, but heavy</a:t>
            </a:r>
          </a:p>
          <a:p>
            <a:r>
              <a:rPr lang="pl-PL" b="1" dirty="0" err="1"/>
              <a:t>Key</a:t>
            </a:r>
            <a:r>
              <a:rPr lang="pl-PL" b="1" dirty="0"/>
              <a:t> </a:t>
            </a:r>
            <a:r>
              <a:rPr lang="pl-PL" b="1" dirty="0" err="1"/>
              <a:t>limitations</a:t>
            </a:r>
            <a:endParaRPr lang="pl-PL" dirty="0"/>
          </a:p>
          <a:p>
            <a:pPr lvl="1"/>
            <a:r>
              <a:rPr lang="pl-PL" dirty="0" err="1"/>
              <a:t>complex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 (not </a:t>
            </a:r>
            <a:r>
              <a:rPr lang="pl-PL" dirty="0" err="1"/>
              <a:t>data.frame</a:t>
            </a:r>
            <a:r>
              <a:rPr lang="pl-PL" dirty="0"/>
              <a:t>)</a:t>
            </a:r>
          </a:p>
          <a:p>
            <a:pPr lvl="1"/>
            <a:r>
              <a:rPr lang="pl-PL" dirty="0" err="1"/>
              <a:t>difficult</a:t>
            </a:r>
            <a:r>
              <a:rPr lang="pl-PL" dirty="0"/>
              <a:t> </a:t>
            </a:r>
            <a:r>
              <a:rPr lang="pl-PL" dirty="0" err="1"/>
              <a:t>integration</a:t>
            </a:r>
            <a:r>
              <a:rPr lang="pl-PL" dirty="0"/>
              <a:t> with </a:t>
            </a:r>
            <a:r>
              <a:rPr lang="pl-PL" dirty="0" err="1"/>
              <a:t>tidyverse</a:t>
            </a:r>
            <a:endParaRPr lang="pl-PL" dirty="0"/>
          </a:p>
          <a:p>
            <a:pPr lvl="1"/>
            <a:r>
              <a:rPr lang="pl-PL" dirty="0" err="1"/>
              <a:t>issues</a:t>
            </a:r>
            <a:r>
              <a:rPr lang="pl-PL" dirty="0"/>
              <a:t> with geometry </a:t>
            </a:r>
            <a:r>
              <a:rPr lang="pl-PL" dirty="0" err="1"/>
              <a:t>handling</a:t>
            </a:r>
            <a:r>
              <a:rPr lang="pl-PL" dirty="0"/>
              <a:t> (</a:t>
            </a:r>
            <a:r>
              <a:rPr lang="pl-PL" dirty="0" err="1"/>
              <a:t>e.g</a:t>
            </a:r>
            <a:r>
              <a:rPr lang="pl-PL" dirty="0"/>
              <a:t>. </a:t>
            </a:r>
            <a:r>
              <a:rPr lang="pl-PL" dirty="0" err="1"/>
              <a:t>polygon</a:t>
            </a:r>
            <a:r>
              <a:rPr lang="pl-PL" dirty="0"/>
              <a:t> </a:t>
            </a:r>
            <a:r>
              <a:rPr lang="pl-PL" dirty="0" err="1"/>
              <a:t>holes</a:t>
            </a:r>
            <a:r>
              <a:rPr lang="pl-PL" dirty="0"/>
              <a:t>)</a:t>
            </a:r>
          </a:p>
          <a:p>
            <a:pPr lvl="1"/>
            <a:r>
              <a:rPr lang="pl-PL" dirty="0" err="1"/>
              <a:t>accuracy</a:t>
            </a:r>
            <a:r>
              <a:rPr lang="pl-PL" dirty="0"/>
              <a:t> </a:t>
            </a:r>
            <a:r>
              <a:rPr lang="pl-PL" dirty="0" err="1"/>
              <a:t>problems</a:t>
            </a:r>
            <a:r>
              <a:rPr lang="pl-PL" dirty="0"/>
              <a:t> </a:t>
            </a:r>
            <a:r>
              <a:rPr lang="pl-PL" dirty="0" err="1"/>
              <a:t>after</a:t>
            </a:r>
            <a:r>
              <a:rPr lang="pl-PL" dirty="0"/>
              <a:t> </a:t>
            </a:r>
            <a:r>
              <a:rPr lang="pl-PL" dirty="0" err="1"/>
              <a:t>transformations</a:t>
            </a:r>
            <a:endParaRPr lang="pl-PL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754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8F54B81-8ECC-41F0-8D36-6AF60C27C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S4 class for data storage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57AF035-3986-420A-8253-CD522D389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022" y="1341967"/>
            <a:ext cx="11760200" cy="5150908"/>
          </a:xfrm>
        </p:spPr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getClass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("Spatial")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"Spatial" [package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Slots:                             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Name:     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proj4string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Class:      matrix         CRS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Known Subclasses: 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directly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SpatialMultiPoints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directly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SpatialGrid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directly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SpatialLines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directly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SpatialPolygons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directly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SpatialPixels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SpatialMultiPointsDataFrame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SpatialMultiPoints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SpatialGridDataFrame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SpatialGrid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SpatialLinesDataFrame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SpatialLines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SpatialPixelsDataFrame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3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SpatialPolygonsDataFrame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by class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SpatialPolygons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", distance 2</a:t>
            </a:r>
          </a:p>
          <a:p>
            <a:pPr marL="0" indent="0"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slotNames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    "proj4string"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slotNames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SpatialPointsDataFrame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[1] "data"      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coords.nrs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 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       "proj4string"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readOGR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("data", "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wojewodztwa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")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16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jedn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spTransform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CRS("+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longlat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+datum=NAD83"))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class(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SpatialPolygonsDataFrame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(,"package")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[1] 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87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8E6D8B-E21B-47B6-B293-2C89680B0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00" y="194733"/>
            <a:ext cx="11952111" cy="6468533"/>
          </a:xfrm>
        </p:spPr>
        <p:txBody>
          <a:bodyPr numCol="2">
            <a:normAutofit fontScale="40000" lnSpcReduction="20000"/>
          </a:bodyPr>
          <a:lstStyle/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Formal class '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SpatialPolygonsDataFrame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' [package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data       :'</a:t>
            </a:r>
            <a:r>
              <a:rPr lang="en-US" sz="25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2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': 16 obs. of  29 variables: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..$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iip_przest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[1:16] "PL.PZGIK.200" "PL.PZGIK.200"...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..$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jpt_sjr_ko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[1:16] "WOJ" "WOJ" "WOJ" "WOJ" ...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..$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jpt_kod_je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[1:16] "16" "26" "04" "14" ...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..$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jpt_nazwa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_: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[1:16]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opolskie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świętokrzyskie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 ...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[…]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polygons   :List of 16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..$ :Formal class 'Polygons' [package "</a:t>
            </a:r>
            <a:r>
              <a:rPr lang="en-US" sz="25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Polygons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:List of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..$ :Formal class 'Polygon' [package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17.9 50.6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1.2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hole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ringDir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[1:23869, 1:2]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16.9 16.9 16.9 ...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plotOrder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17.9 50.6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ID  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"0"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1.2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..$ :Formal class 'Polygons' [package "</a:t>
            </a:r>
            <a:r>
              <a:rPr lang="en-US" sz="25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Polygons :List of 4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..$ :Formal class 'Polygon' [package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20.8 50.8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1.49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hole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ringDir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..@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: num [1:24862, 1:2] 19.7 19.7 19.7...</a:t>
            </a:r>
          </a:p>
          <a:p>
            <a:pPr marL="0" indent="0">
              <a:buNone/>
            </a:pPr>
            <a:r>
              <a:rPr lang="en-US" sz="2500" b="1" dirty="0">
                <a:latin typeface="Courier New" panose="02070309020205020404" pitchFamily="49" charset="0"/>
                <a:cs typeface="Courier New" panose="02070309020205020404" pitchFamily="49" charset="0"/>
              </a:rPr>
              <a:t>	[…]</a:t>
            </a: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plotOrder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[1:4] 1 2 3 4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20.8 50.8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ID  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"1"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1.49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..$ :Formal class 'Polygons' [package "</a:t>
            </a:r>
            <a:r>
              <a:rPr lang="en-US" sz="2500" dirty="0" err="1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highlight>
                  <a:srgbClr val="00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Polygons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:List of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..$ :Formal class 'Polygon' [package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"] with 5 slots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18.5 53.1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2.41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hole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FALSE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ringDir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.. .. .. 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coords</a:t>
            </a:r>
            <a:r>
              <a:rPr lang="en-US" sz="2500" dirty="0">
                <a:highlight>
                  <a:srgbClr val="FF00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[1:23150, 1:2] 17.2 17.2 17.2...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plotOrder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int 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labpt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[1:2] 18.5 53.1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ID  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"2"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area     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num 2.41</a:t>
            </a:r>
          </a:p>
          <a:p>
            <a:pPr marL="0" indent="0">
              <a:buNone/>
            </a:pPr>
            <a:r>
              <a:rPr lang="en-US" sz="2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proj4string:Formal class 'CRS' [package "</a:t>
            </a:r>
            <a:r>
              <a:rPr lang="en-US" sz="2500" dirty="0" err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500" dirty="0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"] with 1 slot</a:t>
            </a:r>
          </a:p>
          <a:p>
            <a:pPr marL="0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.. .. </a:t>
            </a:r>
            <a:r>
              <a:rPr lang="en-US" sz="2500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..@ </a:t>
            </a:r>
            <a:r>
              <a:rPr lang="en-US" sz="2500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projargs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chr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"+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proj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longlat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+datum=NAD83 +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no_defs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208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96716544-42A6-4537-9C49-3E60004AE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341" y="398061"/>
            <a:ext cx="8173318" cy="6061878"/>
          </a:xfrm>
        </p:spPr>
      </p:pic>
      <p:sp>
        <p:nvSpPr>
          <p:cNvPr id="7" name="pole tekstowe 6">
            <a:extLst>
              <a:ext uri="{FF2B5EF4-FFF2-40B4-BE49-F238E27FC236}">
                <a16:creationId xmlns:a16="http://schemas.microsoft.com/office/drawing/2014/main" id="{70914D8D-D133-4A19-91C4-2A0F4FEF6240}"/>
              </a:ext>
            </a:extLst>
          </p:cNvPr>
          <p:cNvSpPr txBox="1"/>
          <p:nvPr/>
        </p:nvSpPr>
        <p:spPr>
          <a:xfrm>
            <a:off x="8497361" y="6459939"/>
            <a:ext cx="3785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Source: https://r-spatial.github.io/sf/</a:t>
            </a:r>
          </a:p>
        </p:txBody>
      </p:sp>
    </p:spTree>
    <p:extLst>
      <p:ext uri="{BB962C8B-B14F-4D97-AF65-F5344CB8AC3E}">
        <p14:creationId xmlns:p14="http://schemas.microsoft.com/office/powerpoint/2010/main" val="3485168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F3B230-FDC6-4007-A2B3-F17080B3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features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FDCEAF-C415-4D68-8454-EB19F0D37F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New standard for spatial data representation</a:t>
            </a:r>
          </a:p>
          <a:p>
            <a:pPr lvl="1"/>
            <a:r>
              <a:rPr lang="en-US" dirty="0"/>
              <a:t>Herring, J. (2011). </a:t>
            </a:r>
            <a:r>
              <a:rPr lang="en-US" dirty="0" err="1"/>
              <a:t>Opengis</a:t>
            </a:r>
            <a:r>
              <a:rPr lang="en-US" dirty="0"/>
              <a:t>® implementation standard for geographic information-simple feature access-part 1: Common architecture [corrigendum].</a:t>
            </a:r>
          </a:p>
          <a:p>
            <a:r>
              <a:rPr lang="en-US" dirty="0"/>
              <a:t>Introduced to R via </a:t>
            </a:r>
            <a:r>
              <a:rPr lang="en-US" b="1" dirty="0"/>
              <a:t>sf</a:t>
            </a:r>
            <a:r>
              <a:rPr lang="en-US" dirty="0"/>
              <a:t> package</a:t>
            </a:r>
          </a:p>
          <a:p>
            <a:pPr lvl="1"/>
            <a:r>
              <a:rPr lang="en-US" dirty="0" err="1"/>
              <a:t>Pebesma</a:t>
            </a:r>
            <a:r>
              <a:rPr lang="en-US" dirty="0"/>
              <a:t>, E. J. (2018). Simple features for R: Standardized support for spatial vector data. </a:t>
            </a:r>
            <a:r>
              <a:rPr lang="en-US" i="1" dirty="0"/>
              <a:t>R J.</a:t>
            </a:r>
            <a:r>
              <a:rPr lang="en-US" dirty="0"/>
              <a:t>, </a:t>
            </a:r>
            <a:r>
              <a:rPr lang="en-US" i="1" dirty="0"/>
              <a:t>10</a:t>
            </a:r>
            <a:r>
              <a:rPr lang="en-US" dirty="0"/>
              <a:t>(1), 439.</a:t>
            </a:r>
          </a:p>
          <a:p>
            <a:r>
              <a:rPr lang="en-US" dirty="0"/>
              <a:t>A way to store spatial data in unified data frames </a:t>
            </a:r>
          </a:p>
          <a:p>
            <a:r>
              <a:rPr lang="en-US" dirty="0" err="1"/>
              <a:t>Utilising</a:t>
            </a:r>
            <a:r>
              <a:rPr lang="en-US" dirty="0"/>
              <a:t> list-columns from </a:t>
            </a:r>
            <a:r>
              <a:rPr lang="en-US" dirty="0" err="1"/>
              <a:t>tibbles</a:t>
            </a:r>
            <a:r>
              <a:rPr lang="en-US" dirty="0"/>
              <a:t> to store geometries</a:t>
            </a:r>
          </a:p>
        </p:txBody>
      </p:sp>
    </p:spTree>
    <p:extLst>
      <p:ext uri="{BB962C8B-B14F-4D97-AF65-F5344CB8AC3E}">
        <p14:creationId xmlns:p14="http://schemas.microsoft.com/office/powerpoint/2010/main" val="3521696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F3B230-FDC6-4007-A2B3-F17080B3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features – description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9FDCEAF-C415-4D68-8454-EB19F0D3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047"/>
            <a:ext cx="7633447" cy="47919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Feature – items or objects that have spatial location or extent</a:t>
            </a:r>
          </a:p>
          <a:p>
            <a:pPr lvl="1"/>
            <a:r>
              <a:rPr lang="en-US" dirty="0"/>
              <a:t>Building, road, administrative boarders of a country</a:t>
            </a:r>
          </a:p>
          <a:p>
            <a:r>
              <a:rPr lang="en-US" dirty="0"/>
              <a:t>Each feature has a </a:t>
            </a:r>
            <a:r>
              <a:rPr lang="en-US" i="1" dirty="0"/>
              <a:t>geometry</a:t>
            </a:r>
            <a:r>
              <a:rPr lang="en-US" dirty="0"/>
              <a:t> – definition of the spatial properties of a feature (point, point set, </a:t>
            </a:r>
            <a:r>
              <a:rPr lang="en-US" dirty="0" err="1"/>
              <a:t>linestring</a:t>
            </a:r>
            <a:r>
              <a:rPr lang="en-US" dirty="0"/>
              <a:t>, set of </a:t>
            </a:r>
            <a:r>
              <a:rPr lang="en-US" dirty="0" err="1"/>
              <a:t>linestrings</a:t>
            </a:r>
            <a:r>
              <a:rPr lang="en-US" dirty="0"/>
              <a:t>, polygon, set of polygons or a combination of these)</a:t>
            </a:r>
          </a:p>
          <a:p>
            <a:r>
              <a:rPr lang="en-US" dirty="0"/>
              <a:t>The </a:t>
            </a:r>
            <a:r>
              <a:rPr lang="en-US" i="1" dirty="0"/>
              <a:t>simple</a:t>
            </a:r>
            <a:r>
              <a:rPr lang="en-US" dirty="0"/>
              <a:t> aspect – all geometries are represented as a collection of points connected by straight line segments</a:t>
            </a:r>
          </a:p>
          <a:p>
            <a:r>
              <a:rPr lang="en-US" dirty="0"/>
              <a:t>Features can have </a:t>
            </a:r>
            <a:r>
              <a:rPr lang="en-US" i="1" dirty="0"/>
              <a:t>attributes</a:t>
            </a:r>
            <a:r>
              <a:rPr lang="en-US" dirty="0"/>
              <a:t> (color, name, measured quantity) </a:t>
            </a:r>
          </a:p>
        </p:txBody>
      </p:sp>
      <p:pic>
        <p:nvPicPr>
          <p:cNvPr id="6" name="Obraz 5" descr="Obraz zawierający Czcionka, tekst&#10;&#10;Zawartość wygenerowana przez AI może być niepoprawna.">
            <a:extLst>
              <a:ext uri="{FF2B5EF4-FFF2-40B4-BE49-F238E27FC236}">
                <a16:creationId xmlns:a16="http://schemas.microsoft.com/office/drawing/2014/main" id="{27880815-9C3F-0958-494C-18C39840FD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1061" y="1003766"/>
            <a:ext cx="3960118" cy="1833563"/>
          </a:xfrm>
          <a:prstGeom prst="rect">
            <a:avLst/>
          </a:prstGeom>
        </p:spPr>
      </p:pic>
      <p:pic>
        <p:nvPicPr>
          <p:cNvPr id="8" name="Obraz 7" descr="Obraz zawierający pismo odręczne, tekst, Czcionka&#10;&#10;Zawartość wygenerowana przez AI może być niepoprawna.">
            <a:extLst>
              <a:ext uri="{FF2B5EF4-FFF2-40B4-BE49-F238E27FC236}">
                <a16:creationId xmlns:a16="http://schemas.microsoft.com/office/drawing/2014/main" id="{98BDB909-C44A-172C-FB9B-82872B04C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3308" y="3263119"/>
            <a:ext cx="3016210" cy="306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833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94EC02-BEA1-42CE-8633-511D4B4A2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sf geometries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19A6302-20B6-4F43-ADED-0767E2A6C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53372"/>
          </a:xfrm>
        </p:spPr>
        <p:txBody>
          <a:bodyPr numCol="2">
            <a:normAutofit fontScale="92500"/>
          </a:bodyPr>
          <a:lstStyle/>
          <a:p>
            <a:r>
              <a:rPr lang="en-US" sz="3000" dirty="0"/>
              <a:t>Point </a:t>
            </a:r>
          </a:p>
          <a:p>
            <a:r>
              <a:rPr lang="en-US" sz="3000" dirty="0"/>
              <a:t>Point set </a:t>
            </a:r>
          </a:p>
          <a:p>
            <a:r>
              <a:rPr lang="en-US" sz="3000" dirty="0" err="1"/>
              <a:t>Linestring</a:t>
            </a:r>
            <a:r>
              <a:rPr lang="en-US" sz="3000" dirty="0"/>
              <a:t> </a:t>
            </a:r>
          </a:p>
          <a:p>
            <a:r>
              <a:rPr lang="en-US" sz="3000" dirty="0"/>
              <a:t>Set of </a:t>
            </a:r>
            <a:r>
              <a:rPr lang="en-US" sz="3000" dirty="0" err="1"/>
              <a:t>linestrings</a:t>
            </a:r>
            <a:endParaRPr lang="en-US" sz="3000" dirty="0"/>
          </a:p>
          <a:p>
            <a:r>
              <a:rPr lang="en-US" sz="3000" dirty="0"/>
              <a:t>Polygon</a:t>
            </a:r>
          </a:p>
          <a:p>
            <a:r>
              <a:rPr lang="en-US" sz="3000" dirty="0"/>
              <a:t>Set of polygons </a:t>
            </a:r>
          </a:p>
          <a:p>
            <a:endParaRPr lang="en-US" sz="3000" dirty="0"/>
          </a:p>
          <a:p>
            <a:r>
              <a:rPr lang="en-US" sz="3000" dirty="0"/>
              <a:t>Building</a:t>
            </a:r>
          </a:p>
          <a:p>
            <a:r>
              <a:rPr lang="en-US" sz="3000" dirty="0"/>
              <a:t>Schools in Warsaw</a:t>
            </a:r>
          </a:p>
          <a:p>
            <a:r>
              <a:rPr lang="en-US" sz="3000" dirty="0"/>
              <a:t>Vistula river</a:t>
            </a:r>
          </a:p>
          <a:p>
            <a:r>
              <a:rPr lang="en-US" sz="3000" dirty="0"/>
              <a:t>Highways in Poland</a:t>
            </a:r>
          </a:p>
          <a:p>
            <a:r>
              <a:rPr lang="en-US" sz="3000" dirty="0"/>
              <a:t>Border of a country</a:t>
            </a:r>
          </a:p>
          <a:p>
            <a:r>
              <a:rPr lang="en-US" sz="3000" dirty="0"/>
              <a:t>Borders of voivodeships in Poland</a:t>
            </a:r>
          </a:p>
          <a:p>
            <a:endParaRPr lang="en-US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3D55E07-34E8-490C-BFCA-7E5043FF8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979" y="365125"/>
            <a:ext cx="1325563" cy="1325563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53BE90D-9F03-424F-8CD5-5740FE244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155" y="1913369"/>
            <a:ext cx="2228850" cy="204787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FEEF251-362D-4A8F-90F2-476399E819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890" t="12803" r="9189" b="16738"/>
          <a:stretch/>
        </p:blipFill>
        <p:spPr>
          <a:xfrm>
            <a:off x="7965979" y="4944631"/>
            <a:ext cx="2037614" cy="1913369"/>
          </a:xfrm>
          <a:prstGeom prst="rect">
            <a:avLst/>
          </a:prstGeom>
        </p:spPr>
      </p:pic>
      <p:pic>
        <p:nvPicPr>
          <p:cNvPr id="1026" name="Picture 2" descr="sf/README.md at master · r-spatial/sf · GitHub">
            <a:extLst>
              <a:ext uri="{FF2B5EF4-FFF2-40B4-BE49-F238E27FC236}">
                <a16:creationId xmlns:a16="http://schemas.microsoft.com/office/drawing/2014/main" id="{0A728544-1C01-4CD9-B564-131CE7885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470" y="1587973"/>
            <a:ext cx="1724025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43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ymbol zastępczy zawartości 4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E8F0F7CC-BC71-4CCA-B688-B837DD9D12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5" r="14369" b="19328"/>
          <a:stretch/>
        </p:blipFill>
        <p:spPr>
          <a:xfrm>
            <a:off x="1045038" y="302822"/>
            <a:ext cx="10101924" cy="6252356"/>
          </a:xfrm>
        </p:spPr>
      </p:pic>
    </p:spTree>
    <p:extLst>
      <p:ext uri="{BB962C8B-B14F-4D97-AF65-F5344CB8AC3E}">
        <p14:creationId xmlns:p14="http://schemas.microsoft.com/office/powerpoint/2010/main" val="466885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Symbol zastępczy zawartości 5">
            <a:extLst>
              <a:ext uri="{FF2B5EF4-FFF2-40B4-BE49-F238E27FC236}">
                <a16:creationId xmlns:a16="http://schemas.microsoft.com/office/drawing/2014/main" id="{1FF38E9A-F117-4832-AFC1-BA67F0A485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884132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3135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87692B-C3B0-4C21-9B42-23895868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 err="1"/>
              <a:t>sf</a:t>
            </a:r>
            <a:r>
              <a:rPr lang="pl-PL" b="1" dirty="0"/>
              <a:t> ↔ </a:t>
            </a:r>
            <a:r>
              <a:rPr lang="pl-PL" b="1" dirty="0" err="1"/>
              <a:t>sp</a:t>
            </a:r>
            <a:r>
              <a:rPr lang="pl-PL" b="1" dirty="0"/>
              <a:t>: </a:t>
            </a:r>
            <a:r>
              <a:rPr lang="pl-PL" b="1" dirty="0" err="1"/>
              <a:t>conversion</a:t>
            </a:r>
            <a:r>
              <a:rPr lang="pl-PL" b="1" dirty="0"/>
              <a:t> </a:t>
            </a:r>
            <a:r>
              <a:rPr lang="pl-PL" b="1" dirty="0" err="1"/>
              <a:t>bridge</a:t>
            </a:r>
            <a:r>
              <a:rPr lang="pl-PL" b="1" dirty="0"/>
              <a:t> (</a:t>
            </a:r>
            <a:r>
              <a:rPr lang="pl-PL" b="1" dirty="0" err="1"/>
              <a:t>legacy</a:t>
            </a:r>
            <a:r>
              <a:rPr lang="pl-PL" b="1" dirty="0"/>
              <a:t> </a:t>
            </a:r>
            <a:r>
              <a:rPr lang="pl-PL" b="1" dirty="0" err="1"/>
              <a:t>compatibility</a:t>
            </a:r>
            <a:r>
              <a:rPr lang="pl-PL" b="1" dirty="0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D7255B-A781-4884-8A47-6875F6D00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7647" cy="4351338"/>
          </a:xfrm>
        </p:spPr>
        <p:txBody>
          <a:bodyPr/>
          <a:lstStyle/>
          <a:p>
            <a:r>
              <a:rPr lang="pl-PL" b="1" dirty="0" err="1"/>
              <a:t>Today</a:t>
            </a:r>
            <a:r>
              <a:rPr lang="pl-PL" b="1" dirty="0"/>
              <a:t> we </a:t>
            </a:r>
            <a:r>
              <a:rPr lang="pl-PL" b="1" dirty="0" err="1"/>
              <a:t>work</a:t>
            </a:r>
            <a:r>
              <a:rPr lang="pl-PL" b="1" dirty="0"/>
              <a:t> in </a:t>
            </a:r>
            <a:r>
              <a:rPr lang="pl-PL" b="1" dirty="0" err="1"/>
              <a:t>sf</a:t>
            </a:r>
            <a:r>
              <a:rPr lang="pl-PL" dirty="0"/>
              <a:t> (</a:t>
            </a:r>
            <a:r>
              <a:rPr lang="pl-PL" dirty="0" err="1"/>
              <a:t>tidy</a:t>
            </a:r>
            <a:r>
              <a:rPr lang="pl-PL" dirty="0"/>
              <a:t> + modern </a:t>
            </a:r>
            <a:r>
              <a:rPr lang="pl-PL" dirty="0" err="1"/>
              <a:t>ecosystem</a:t>
            </a:r>
            <a:r>
              <a:rPr lang="pl-PL" dirty="0"/>
              <a:t>)</a:t>
            </a:r>
          </a:p>
          <a:p>
            <a:r>
              <a:rPr lang="pl-PL" dirty="0"/>
              <a:t>But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may</a:t>
            </a:r>
            <a:r>
              <a:rPr lang="pl-PL" dirty="0"/>
              <a:t> </a:t>
            </a:r>
            <a:r>
              <a:rPr lang="pl-PL" dirty="0" err="1"/>
              <a:t>still</a:t>
            </a:r>
            <a:r>
              <a:rPr lang="pl-PL" dirty="0"/>
              <a:t> </a:t>
            </a:r>
            <a:r>
              <a:rPr lang="pl-PL" dirty="0" err="1"/>
              <a:t>meet</a:t>
            </a:r>
            <a:r>
              <a:rPr lang="pl-PL" dirty="0"/>
              <a:t> </a:t>
            </a:r>
            <a:r>
              <a:rPr lang="pl-PL" b="1" dirty="0" err="1"/>
              <a:t>legacy</a:t>
            </a:r>
            <a:r>
              <a:rPr lang="pl-PL" b="1" dirty="0"/>
              <a:t> </a:t>
            </a:r>
            <a:r>
              <a:rPr lang="pl-PL" b="1" dirty="0" err="1"/>
              <a:t>workflows</a:t>
            </a:r>
            <a:r>
              <a:rPr lang="pl-PL" b="1" dirty="0"/>
              <a:t> in </a:t>
            </a:r>
            <a:r>
              <a:rPr lang="pl-PL" b="1" dirty="0" err="1"/>
              <a:t>sp</a:t>
            </a:r>
            <a:endParaRPr lang="pl-PL" dirty="0"/>
          </a:p>
          <a:p>
            <a:pPr lvl="1"/>
            <a:r>
              <a:rPr lang="pl-PL" dirty="0" err="1"/>
              <a:t>older</a:t>
            </a:r>
            <a:r>
              <a:rPr lang="pl-PL" dirty="0"/>
              <a:t> </a:t>
            </a:r>
            <a:r>
              <a:rPr lang="pl-PL" dirty="0" err="1"/>
              <a:t>packages</a:t>
            </a:r>
            <a:r>
              <a:rPr lang="pl-PL" dirty="0"/>
              <a:t> / </a:t>
            </a:r>
            <a:r>
              <a:rPr lang="pl-PL" dirty="0" err="1"/>
              <a:t>older</a:t>
            </a:r>
            <a:r>
              <a:rPr lang="pl-PL" dirty="0"/>
              <a:t> </a:t>
            </a:r>
            <a:r>
              <a:rPr lang="pl-PL" dirty="0" err="1"/>
              <a:t>code</a:t>
            </a:r>
            <a:r>
              <a:rPr lang="pl-PL" dirty="0"/>
              <a:t> / </a:t>
            </a:r>
            <a:r>
              <a:rPr lang="pl-PL" dirty="0" err="1"/>
              <a:t>older</a:t>
            </a:r>
            <a:r>
              <a:rPr lang="pl-PL" dirty="0"/>
              <a:t> </a:t>
            </a:r>
            <a:r>
              <a:rPr lang="pl-PL" dirty="0" err="1"/>
              <a:t>papers</a:t>
            </a:r>
            <a:endParaRPr lang="pl-PL" dirty="0"/>
          </a:p>
          <a:p>
            <a:r>
              <a:rPr lang="pl-PL" dirty="0" err="1"/>
              <a:t>So</a:t>
            </a:r>
            <a:r>
              <a:rPr lang="pl-PL" dirty="0"/>
              <a:t> the </a:t>
            </a:r>
            <a:r>
              <a:rPr lang="pl-PL" dirty="0" err="1"/>
              <a:t>key</a:t>
            </a:r>
            <a:r>
              <a:rPr lang="pl-PL" dirty="0"/>
              <a:t> </a:t>
            </a:r>
            <a:r>
              <a:rPr lang="pl-PL" dirty="0" err="1"/>
              <a:t>practical</a:t>
            </a:r>
            <a:r>
              <a:rPr lang="pl-PL" dirty="0"/>
              <a:t> </a:t>
            </a:r>
            <a:r>
              <a:rPr lang="pl-PL" dirty="0" err="1"/>
              <a:t>skill</a:t>
            </a:r>
            <a:r>
              <a:rPr lang="pl-PL" dirty="0"/>
              <a:t> </a:t>
            </a:r>
            <a:r>
              <a:rPr lang="pl-PL" dirty="0" err="1"/>
              <a:t>is</a:t>
            </a:r>
            <a:r>
              <a:rPr lang="pl-PL" dirty="0"/>
              <a:t>: </a:t>
            </a:r>
            <a:r>
              <a:rPr lang="pl-PL" b="1" dirty="0" err="1"/>
              <a:t>convert</a:t>
            </a:r>
            <a:r>
              <a:rPr lang="pl-PL" b="1" dirty="0"/>
              <a:t>, </a:t>
            </a:r>
            <a:r>
              <a:rPr lang="pl-PL" b="1" dirty="0" err="1"/>
              <a:t>work</a:t>
            </a:r>
            <a:r>
              <a:rPr lang="pl-PL" b="1" dirty="0"/>
              <a:t>, return</a:t>
            </a:r>
          </a:p>
          <a:p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b="1" dirty="0" err="1"/>
              <a:t>sf</a:t>
            </a:r>
            <a:r>
              <a:rPr lang="pl-PL" b="1" dirty="0"/>
              <a:t> as </a:t>
            </a:r>
            <a:r>
              <a:rPr lang="pl-PL" b="1" dirty="0" err="1"/>
              <a:t>default</a:t>
            </a:r>
            <a:r>
              <a:rPr lang="pl-PL" dirty="0"/>
              <a:t>, </a:t>
            </a:r>
            <a:r>
              <a:rPr lang="pl-PL" dirty="0" err="1"/>
              <a:t>convert</a:t>
            </a:r>
            <a:r>
              <a:rPr lang="pl-PL" dirty="0"/>
              <a:t> to </a:t>
            </a:r>
            <a:r>
              <a:rPr lang="pl-PL" b="1" dirty="0" err="1"/>
              <a:t>sp</a:t>
            </a:r>
            <a:r>
              <a:rPr lang="pl-PL" b="1" dirty="0"/>
              <a:t> </a:t>
            </a:r>
            <a:r>
              <a:rPr lang="pl-PL" b="1" dirty="0" err="1"/>
              <a:t>only</a:t>
            </a:r>
            <a:r>
              <a:rPr lang="pl-PL" b="1" dirty="0"/>
              <a:t> </a:t>
            </a:r>
            <a:r>
              <a:rPr lang="pl-PL" b="1" dirty="0" err="1"/>
              <a:t>when</a:t>
            </a:r>
            <a:r>
              <a:rPr lang="pl-PL" b="1" dirty="0"/>
              <a:t> </a:t>
            </a:r>
            <a:r>
              <a:rPr lang="pl-PL" b="1" dirty="0" err="1"/>
              <a:t>you</a:t>
            </a:r>
            <a:r>
              <a:rPr lang="pl-PL" b="1" dirty="0"/>
              <a:t> </a:t>
            </a:r>
            <a:r>
              <a:rPr lang="pl-PL" b="1" dirty="0" err="1"/>
              <a:t>must</a:t>
            </a:r>
            <a:r>
              <a:rPr lang="pl-PL" dirty="0"/>
              <a:t>.</a:t>
            </a:r>
          </a:p>
          <a:p>
            <a:endParaRPr lang="pl-PL" dirty="0"/>
          </a:p>
          <a:p>
            <a:pPr lvl="2"/>
            <a:endParaRPr lang="pl-PL" dirty="0"/>
          </a:p>
        </p:txBody>
      </p:sp>
      <p:pic>
        <p:nvPicPr>
          <p:cNvPr id="5" name="Obraz 4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C0C126FA-0A31-0FEB-F19D-E668A40DC6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847" y="2491254"/>
            <a:ext cx="5815106" cy="244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53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1155</TotalTime>
  <Words>1498</Words>
  <Application>Microsoft Macintosh PowerPoint</Application>
  <PresentationFormat>Panoramiczny</PresentationFormat>
  <Paragraphs>174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Courier New</vt:lpstr>
      <vt:lpstr>Office Theme</vt:lpstr>
      <vt:lpstr>Intro to spatial data in R (sf)</vt:lpstr>
      <vt:lpstr>What is geospatial data?</vt:lpstr>
      <vt:lpstr>Geometry vs attributes</vt:lpstr>
      <vt:lpstr>Coordinate Reference Systems (CRS)</vt:lpstr>
      <vt:lpstr>How to store spatial data in R (historically)</vt:lpstr>
      <vt:lpstr>S4 class for data storage </vt:lpstr>
      <vt:lpstr>Prezentacja programu PowerPoint</vt:lpstr>
      <vt:lpstr>Prezentacja programu PowerPoint</vt:lpstr>
      <vt:lpstr>Simple features</vt:lpstr>
      <vt:lpstr>Simple features – description</vt:lpstr>
      <vt:lpstr>Examples of sf geometries</vt:lpstr>
      <vt:lpstr>Prezentacja programu PowerPoint</vt:lpstr>
      <vt:lpstr>Prezentacja programu PowerPoint</vt:lpstr>
      <vt:lpstr>sf ↔ sp: conversion bridge (legacy compatibility)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 – new way into spatial</dc:title>
  <dc:creator>Maria Kubara</dc:creator>
  <cp:lastModifiedBy>Maria Kubara</cp:lastModifiedBy>
  <cp:revision>12</cp:revision>
  <dcterms:created xsi:type="dcterms:W3CDTF">2021-02-25T12:08:25Z</dcterms:created>
  <dcterms:modified xsi:type="dcterms:W3CDTF">2026-02-06T17:56:54Z</dcterms:modified>
</cp:coreProperties>
</file>