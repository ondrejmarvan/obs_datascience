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7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58" r:id="rId12"/>
    <p:sldId id="259" r:id="rId13"/>
    <p:sldId id="269" r:id="rId14"/>
    <p:sldId id="270" r:id="rId15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51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9B562DF-9099-4048-902B-229E285824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76D283CD-48EF-497E-A4A1-9F3EF24BF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68B8E244-3E9D-4A43-BA27-EF6A62FBC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1B71B-97BB-44A2-9F8A-D0081C095CEB}" type="datetimeFigureOut">
              <a:rPr lang="pl-PL" smtClean="0"/>
              <a:t>18.03.2026</a:t>
            </a:fld>
            <a:endParaRPr lang="pl-PL" dirty="0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69042FD-C65E-4BDD-834D-1B3907AB9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05C87E77-B4A4-468D-80C9-B3AAED15B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3F106-4EFF-4F99-9763-BF5F6BC1C189}" type="slidenum">
              <a:rPr lang="pl-PL" smtClean="0"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9156546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C4BBB82-52AE-4662-BAB1-ACF99B7D9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latin typeface="Atkinson Hyperlegible" pitchFamily="50" charset="0"/>
              </a:defRPr>
            </a:lvl1pPr>
          </a:lstStyle>
          <a:p>
            <a:r>
              <a:rPr lang="pl-PL" dirty="0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614B87F-F450-4EFD-A96B-A90EF8E933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tkinson Hyperlegible" pitchFamily="50" charset="0"/>
              </a:defRPr>
            </a:lvl1pPr>
            <a:lvl2pPr>
              <a:defRPr>
                <a:solidFill>
                  <a:schemeClr val="tx1"/>
                </a:solidFill>
                <a:latin typeface="Atkinson Hyperlegible" pitchFamily="50" charset="0"/>
              </a:defRPr>
            </a:lvl2pPr>
            <a:lvl3pPr>
              <a:defRPr>
                <a:solidFill>
                  <a:schemeClr val="tx1"/>
                </a:solidFill>
                <a:latin typeface="Atkinson Hyperlegible" pitchFamily="50" charset="0"/>
              </a:defRPr>
            </a:lvl3pPr>
            <a:lvl4pPr>
              <a:defRPr>
                <a:solidFill>
                  <a:schemeClr val="tx1"/>
                </a:solidFill>
                <a:latin typeface="Atkinson Hyperlegible" pitchFamily="50" charset="0"/>
              </a:defRPr>
            </a:lvl4pPr>
            <a:lvl5pPr>
              <a:defRPr>
                <a:solidFill>
                  <a:schemeClr val="tx1"/>
                </a:solidFill>
                <a:latin typeface="Atkinson Hyperlegible" pitchFamily="50" charset="0"/>
              </a:defRPr>
            </a:lvl5pPr>
          </a:lstStyle>
          <a:p>
            <a:pPr lvl="0"/>
            <a:r>
              <a:rPr lang="pl-PL" dirty="0"/>
              <a:t>Edytuj style wzorca tekstu</a:t>
            </a:r>
          </a:p>
          <a:p>
            <a:pPr lvl="1"/>
            <a:r>
              <a:rPr lang="pl-PL" dirty="0"/>
              <a:t>Drugi poziom</a:t>
            </a:r>
          </a:p>
          <a:p>
            <a:pPr lvl="2"/>
            <a:r>
              <a:rPr lang="pl-PL" dirty="0"/>
              <a:t>Trzeci poziom</a:t>
            </a:r>
          </a:p>
          <a:p>
            <a:pPr lvl="3"/>
            <a:r>
              <a:rPr lang="pl-PL" dirty="0"/>
              <a:t>Czwarty poziom</a:t>
            </a:r>
          </a:p>
          <a:p>
            <a:pPr lvl="4"/>
            <a:r>
              <a:rPr lang="pl-PL" dirty="0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1F32A4C6-6BBB-4642-AA16-7E4D6E5AF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1B71B-97BB-44A2-9F8A-D0081C095CEB}" type="datetimeFigureOut">
              <a:rPr lang="pl-PL" smtClean="0"/>
              <a:t>18.03.2026</a:t>
            </a:fld>
            <a:endParaRPr lang="pl-PL" dirty="0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14D3F83-6E7B-4127-A9B6-6C232F68E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DE269422-CE4F-4A48-B65D-B8C684696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3F106-4EFF-4F99-9763-BF5F6BC1C189}" type="slidenum">
              <a:rPr lang="pl-PL" smtClean="0"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8919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7D296C8-5926-4645-A99B-1D089BC43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792D2365-55CA-4E7C-AE44-FFD1789710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509E051A-7AA3-4136-8BB1-814F6EAA2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1B71B-97BB-44A2-9F8A-D0081C095CEB}" type="datetimeFigureOut">
              <a:rPr lang="pl-PL" smtClean="0"/>
              <a:t>18.03.2026</a:t>
            </a:fld>
            <a:endParaRPr lang="pl-PL" dirty="0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6D86D147-4DF5-4C95-9546-606679BEB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030F31E9-9ACC-4CB8-937C-F578D5726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3F106-4EFF-4F99-9763-BF5F6BC1C189}" type="slidenum">
              <a:rPr lang="pl-PL" smtClean="0"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720773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A8A0EE5-809B-4B89-9438-81AB180D2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CBFF2C8-E164-4AB0-AC5C-10A8EE862E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F471C83C-00F0-4870-988F-29A57202E6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8624D1E4-66A4-4D57-BCA4-31F849077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1B71B-97BB-44A2-9F8A-D0081C095CEB}" type="datetimeFigureOut">
              <a:rPr lang="pl-PL" smtClean="0"/>
              <a:t>18.03.2026</a:t>
            </a:fld>
            <a:endParaRPr lang="pl-PL" dirty="0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1F788F41-75DB-4BC1-AA41-FC4D38D1D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DD6F3B63-DA42-4706-B670-A30E23B99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3F106-4EFF-4F99-9763-BF5F6BC1C189}" type="slidenum">
              <a:rPr lang="pl-PL" smtClean="0"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808595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AD9F20C-5B11-4529-B8A9-8337D86C5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B776E69F-1969-46FB-B386-7EE4A77CA8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14A32676-76AB-4A6F-BCDF-2AFCBC072C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18560E72-27E6-4ADF-804E-EAA6B67AE5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32B6F556-9DE6-4974-A4D5-22C0390282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BD3449FE-38F3-40F3-99AF-4A6496D22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1B71B-97BB-44A2-9F8A-D0081C095CEB}" type="datetimeFigureOut">
              <a:rPr lang="pl-PL" smtClean="0"/>
              <a:t>18.03.2026</a:t>
            </a:fld>
            <a:endParaRPr lang="pl-PL" dirty="0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C2DAEB79-C6BF-4277-9DE2-29CCC6BC1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BFA87A97-48EA-4751-8F39-005CF246E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3F106-4EFF-4F99-9763-BF5F6BC1C189}" type="slidenum">
              <a:rPr lang="pl-PL" smtClean="0"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028598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37507CF-7C08-448E-89C9-D022C2685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25D0553B-2E6E-4001-ABC5-66B7BD70A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1B71B-97BB-44A2-9F8A-D0081C095CEB}" type="datetimeFigureOut">
              <a:rPr lang="pl-PL" smtClean="0"/>
              <a:t>18.03.2026</a:t>
            </a:fld>
            <a:endParaRPr lang="pl-PL" dirty="0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4F5C685F-6ABE-4415-AC6C-36BBF4621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BB41F08C-C930-41BB-893F-921B0A4CC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3F106-4EFF-4F99-9763-BF5F6BC1C189}" type="slidenum">
              <a:rPr lang="pl-PL" smtClean="0"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922615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168BDDFB-A22B-4C43-A0A8-44B5587AE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1B71B-97BB-44A2-9F8A-D0081C095CEB}" type="datetimeFigureOut">
              <a:rPr lang="pl-PL" smtClean="0"/>
              <a:t>18.03.2026</a:t>
            </a:fld>
            <a:endParaRPr lang="pl-PL" dirty="0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80076499-B362-4F3B-A63A-F3C32EBCA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0E799D33-1C22-4D06-A4A9-C04D96554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3F106-4EFF-4F99-9763-BF5F6BC1C189}" type="slidenum">
              <a:rPr lang="pl-PL" smtClean="0"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551199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61163D6-73CC-4CDA-A1CC-062FE5053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BAB969A-87D1-4B9C-8860-E41437D30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D220CF83-83DD-4225-9652-D90AC8C2FD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4066A6AB-98CB-4063-BF72-3C7D470BD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1B71B-97BB-44A2-9F8A-D0081C095CEB}" type="datetimeFigureOut">
              <a:rPr lang="pl-PL" smtClean="0"/>
              <a:t>18.03.2026</a:t>
            </a:fld>
            <a:endParaRPr lang="pl-PL" dirty="0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0757CC6A-ED35-44FF-8AC9-70C0538E0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A00A6C56-6B3E-4A9C-9BD9-DBA7F86C1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3F106-4EFF-4F99-9763-BF5F6BC1C189}" type="slidenum">
              <a:rPr lang="pl-PL" smtClean="0"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337081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A52F471-7B5D-4B43-9DFB-6CA17D7B4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00ABBEAA-E7E6-454C-86B1-52C6B4699A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 dirty="0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9ED319B3-40E1-43B2-83A9-24347179CE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7F953D72-9865-4BFB-A830-494D38825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1B71B-97BB-44A2-9F8A-D0081C095CEB}" type="datetimeFigureOut">
              <a:rPr lang="pl-PL" smtClean="0"/>
              <a:t>18.03.2026</a:t>
            </a:fld>
            <a:endParaRPr lang="pl-PL" dirty="0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10F992C9-1E73-4CC2-BA17-E311154C0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5150A061-8F90-47B2-92D5-5BA8E86B4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3F106-4EFF-4F99-9763-BF5F6BC1C189}" type="slidenum">
              <a:rPr lang="pl-PL" smtClean="0"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1191525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9580772-698A-4489-90A6-C74603AC8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A1854B21-2A62-4A07-9B93-F06332C9E6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831237E7-1F42-4580-9A54-964771F37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1B71B-97BB-44A2-9F8A-D0081C095CEB}" type="datetimeFigureOut">
              <a:rPr lang="pl-PL" smtClean="0"/>
              <a:t>18.03.2026</a:t>
            </a:fld>
            <a:endParaRPr lang="pl-PL" dirty="0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77004A35-E2D7-4573-AA3D-061DFEB91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9B1C032-D11B-471E-96F5-DD7410FBA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3F106-4EFF-4F99-9763-BF5F6BC1C189}" type="slidenum">
              <a:rPr lang="pl-PL" smtClean="0"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3180426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434FC7AD-3C8C-4FA0-A628-67799DD0F2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0C45B0A9-45E6-40BE-A11B-7BC4A50A44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78090F7-C558-4DC9-9280-8ECDDA644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1B71B-97BB-44A2-9F8A-D0081C095CEB}" type="datetimeFigureOut">
              <a:rPr lang="pl-PL" smtClean="0"/>
              <a:t>18.03.2026</a:t>
            </a:fld>
            <a:endParaRPr lang="pl-PL" dirty="0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C3DE4F46-94E2-48CE-80C7-E0856A242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0A5F86E3-DD26-4874-AFE9-B02FC9935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3F106-4EFF-4F99-9763-BF5F6BC1C189}" type="slidenum">
              <a:rPr lang="pl-PL" smtClean="0"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512497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3B8B3AFE-1FFC-49DC-AFAF-DC72567BE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7FA0A231-DF40-4822-9EAF-311A90E410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831C6F25-F37E-4FC9-8F91-04CEDA3A44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61B71B-97BB-44A2-9F8A-D0081C095CEB}" type="datetimeFigureOut">
              <a:rPr lang="pl-PL" smtClean="0"/>
              <a:t>18.03.2026</a:t>
            </a:fld>
            <a:endParaRPr lang="pl-PL" dirty="0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B8D554E9-6BDA-4A16-A600-5BBB0A84A3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 dirty="0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7810BBAC-7A52-41E8-9B74-85DD1A41CE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13F106-4EFF-4F99-9763-BF5F6BC1C189}" type="slidenum">
              <a:rPr lang="pl-PL" smtClean="0"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912100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rcompanion.org/handbook/index.htm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D828FF1-5EA3-446E-89A7-2954F5ED8F7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b="1" dirty="0">
                <a:latin typeface="Atkinson Hyperlegible" pitchFamily="50" charset="0"/>
              </a:rPr>
              <a:t>Functions</a:t>
            </a:r>
            <a:r>
              <a:rPr lang="pl-PL" b="1" dirty="0">
                <a:latin typeface="Atkinson Hyperlegible" pitchFamily="50" charset="0"/>
              </a:rPr>
              <a:t> in R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7A1622F6-9218-4515-9119-A286988B291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6453028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237E9-5402-E5EA-9F0F-140BEEFDB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Functional programming </a:t>
            </a:r>
            <a:r>
              <a:rPr lang="en-US" dirty="0">
                <a:sym typeface="Wingdings" panose="05000000000000000000" pitchFamily="2" charset="2"/>
              </a:rPr>
              <a:t> Advantages</a:t>
            </a:r>
            <a:br>
              <a:rPr lang="en-US" dirty="0">
                <a:sym typeface="Wingdings" panose="05000000000000000000" pitchFamily="2" charset="2"/>
              </a:rPr>
            </a:br>
            <a:r>
              <a:rPr lang="en-US" dirty="0">
                <a:sym typeface="Wingdings" panose="05000000000000000000" pitchFamily="2" charset="2"/>
              </a:rPr>
              <a:t>why do we wan to use it?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40ECF1-A9A1-2BDB-A6DB-823718EDE6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b="1" i="0" dirty="0">
                <a:effectLst/>
              </a:rPr>
              <a:t>Functional programming can be beneficial in R for several reasons:</a:t>
            </a:r>
          </a:p>
          <a:p>
            <a:pPr algn="just">
              <a:buFont typeface="+mj-lt"/>
              <a:buAutoNum type="arabicPeriod"/>
            </a:pPr>
            <a:r>
              <a:rPr lang="en-US" i="0" dirty="0">
                <a:effectLst/>
              </a:rPr>
              <a:t>Thanks to Functional programming we can write </a:t>
            </a:r>
            <a:r>
              <a:rPr lang="en-US" b="1" i="0" dirty="0">
                <a:effectLst/>
              </a:rPr>
              <a:t>more concise and readable code</a:t>
            </a:r>
          </a:p>
          <a:p>
            <a:pPr algn="just">
              <a:buFont typeface="+mj-lt"/>
              <a:buAutoNum type="arabicPeriod"/>
            </a:pPr>
            <a:r>
              <a:rPr lang="en-US" i="0" dirty="0">
                <a:effectLst/>
              </a:rPr>
              <a:t>Functional programming </a:t>
            </a:r>
            <a:r>
              <a:rPr lang="en-US" b="1" i="0" dirty="0">
                <a:effectLst/>
              </a:rPr>
              <a:t>encourages the use of reusable code </a:t>
            </a:r>
            <a:r>
              <a:rPr lang="en-US" i="0" dirty="0">
                <a:effectLst/>
              </a:rPr>
              <a:t>blocks in the form of functions. This can make your </a:t>
            </a:r>
            <a:r>
              <a:rPr lang="en-US" b="1" i="0" dirty="0">
                <a:effectLst/>
              </a:rPr>
              <a:t>code more modular </a:t>
            </a:r>
            <a:r>
              <a:rPr lang="en-US" i="0" dirty="0">
                <a:effectLst/>
              </a:rPr>
              <a:t>and easier to maintain</a:t>
            </a:r>
          </a:p>
          <a:p>
            <a:pPr algn="just">
              <a:buFont typeface="+mj-lt"/>
              <a:buAutoNum type="arabicPeriod"/>
            </a:pPr>
            <a:r>
              <a:rPr lang="en-US" i="0" dirty="0">
                <a:effectLst/>
              </a:rPr>
              <a:t>Functional programming </a:t>
            </a:r>
            <a:r>
              <a:rPr lang="en-US" b="1" dirty="0"/>
              <a:t>r</a:t>
            </a:r>
            <a:r>
              <a:rPr lang="en-US" b="1" i="0" dirty="0">
                <a:effectLst/>
              </a:rPr>
              <a:t>educe the likelihood of errors due to code duplication</a:t>
            </a:r>
          </a:p>
          <a:p>
            <a:pPr algn="just">
              <a:buFont typeface="+mj-lt"/>
              <a:buAutoNum type="arabicPeriod"/>
            </a:pPr>
            <a:r>
              <a:rPr lang="en-US" i="0" dirty="0">
                <a:effectLst/>
              </a:rPr>
              <a:t>Helps with Debugging</a:t>
            </a:r>
            <a:endParaRPr lang="en-US" dirty="0"/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84562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FCA8A5B-BD01-4372-AF35-F1FB0BED5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Syntax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92F98B6-E7B8-4D87-B903-303005DBCD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5000" dirty="0" err="1"/>
              <a:t>name_of_function</a:t>
            </a:r>
            <a:r>
              <a:rPr lang="en-US" sz="5000" dirty="0"/>
              <a:t> &lt;- </a:t>
            </a:r>
            <a:r>
              <a:rPr lang="en-US" sz="5000" b="1" dirty="0"/>
              <a:t>function</a:t>
            </a:r>
            <a:r>
              <a:rPr lang="en-US" sz="5000" dirty="0"/>
              <a:t>(</a:t>
            </a:r>
            <a:r>
              <a:rPr lang="en-US" sz="5000" u="sng" dirty="0"/>
              <a:t>arguments</a:t>
            </a:r>
            <a:r>
              <a:rPr lang="en-US" sz="5000" dirty="0"/>
              <a:t>){</a:t>
            </a:r>
          </a:p>
          <a:p>
            <a:pPr marL="0" indent="0">
              <a:buNone/>
            </a:pPr>
            <a:endParaRPr lang="en-US" sz="5000" dirty="0"/>
          </a:p>
          <a:p>
            <a:pPr marL="0" indent="0">
              <a:buNone/>
            </a:pPr>
            <a:r>
              <a:rPr lang="en-US" sz="5000" dirty="0"/>
              <a:t> &gt;&gt; </a:t>
            </a:r>
            <a:r>
              <a:rPr lang="en-US" sz="5000" dirty="0">
                <a:solidFill>
                  <a:srgbClr val="C00000"/>
                </a:solidFill>
              </a:rPr>
              <a:t>do the math here using </a:t>
            </a:r>
            <a:r>
              <a:rPr lang="en-US" sz="5000" u="sng" dirty="0">
                <a:solidFill>
                  <a:srgbClr val="C00000"/>
                </a:solidFill>
              </a:rPr>
              <a:t>arguments </a:t>
            </a:r>
            <a:r>
              <a:rPr lang="en-US" sz="5000" dirty="0"/>
              <a:t>&lt;&lt;</a:t>
            </a:r>
          </a:p>
          <a:p>
            <a:pPr marL="0" indent="0">
              <a:buNone/>
            </a:pPr>
            <a:r>
              <a:rPr lang="en-US" sz="5000" dirty="0"/>
              <a:t> </a:t>
            </a:r>
            <a:r>
              <a:rPr lang="en-US" sz="5000" b="1" dirty="0"/>
              <a:t>return</a:t>
            </a:r>
            <a:r>
              <a:rPr lang="en-US" sz="5000" dirty="0"/>
              <a:t>(</a:t>
            </a:r>
            <a:r>
              <a:rPr lang="en-US" sz="5000" b="1" dirty="0" err="1">
                <a:solidFill>
                  <a:schemeClr val="accent1">
                    <a:lumMod val="75000"/>
                  </a:schemeClr>
                </a:solidFill>
              </a:rPr>
              <a:t>result_of_doing_math_back_there</a:t>
            </a:r>
            <a:r>
              <a:rPr lang="en-US" sz="5000" dirty="0"/>
              <a:t>)</a:t>
            </a:r>
          </a:p>
          <a:p>
            <a:pPr marL="0" indent="0">
              <a:buNone/>
            </a:pPr>
            <a:endParaRPr lang="en-US" sz="5000" dirty="0"/>
          </a:p>
          <a:p>
            <a:pPr marL="0" indent="0">
              <a:buNone/>
            </a:pPr>
            <a:r>
              <a:rPr lang="en-US" sz="5000" dirty="0"/>
              <a:t>}</a:t>
            </a:r>
          </a:p>
          <a:p>
            <a:endParaRPr lang="pl-PL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DE615EA-5687-C7DC-7C32-64F3A745C6AC}"/>
              </a:ext>
            </a:extLst>
          </p:cNvPr>
          <p:cNvCxnSpPr/>
          <p:nvPr/>
        </p:nvCxnSpPr>
        <p:spPr>
          <a:xfrm>
            <a:off x="1782147" y="4001294"/>
            <a:ext cx="1259633" cy="1278294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C12C35F-6C3F-9B8F-B784-467334106520}"/>
              </a:ext>
            </a:extLst>
          </p:cNvPr>
          <p:cNvSpPr txBox="1"/>
          <p:nvPr/>
        </p:nvSpPr>
        <p:spPr>
          <a:xfrm>
            <a:off x="3311589" y="4476939"/>
            <a:ext cx="679346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latin typeface="Atkinson Hyperlegible" pitchFamily="50" charset="0"/>
              </a:rPr>
              <a:t>return</a:t>
            </a:r>
            <a:r>
              <a:rPr lang="en-US" sz="2500" dirty="0">
                <a:latin typeface="Atkinson Hyperlegible" pitchFamily="50" charset="0"/>
              </a:rPr>
              <a:t> returns to global environment the specified value.</a:t>
            </a:r>
          </a:p>
          <a:p>
            <a:r>
              <a:rPr lang="en-US" sz="2500" dirty="0">
                <a:latin typeface="Atkinson Hyperlegible" pitchFamily="50" charset="0"/>
              </a:rPr>
              <a:t>it is not necessary to use it but </a:t>
            </a:r>
            <a:r>
              <a:rPr lang="en-US" sz="2500" b="1" dirty="0">
                <a:latin typeface="Atkinson Hyperlegible" pitchFamily="50" charset="0"/>
              </a:rPr>
              <a:t>recommended as it is more elegant!!!</a:t>
            </a:r>
          </a:p>
        </p:txBody>
      </p:sp>
    </p:spTree>
    <p:extLst>
      <p:ext uri="{BB962C8B-B14F-4D97-AF65-F5344CB8AC3E}">
        <p14:creationId xmlns:p14="http://schemas.microsoft.com/office/powerpoint/2010/main" val="4646012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5E0DA-4E5C-6153-4048-B0C3F66B4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869" y="771879"/>
            <a:ext cx="4984102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How to return </a:t>
            </a:r>
            <a:r>
              <a:rPr lang="en-US" dirty="0">
                <a:solidFill>
                  <a:srgbClr val="C00000"/>
                </a:solidFill>
              </a:rPr>
              <a:t>many objects</a:t>
            </a:r>
            <a:r>
              <a:rPr lang="en-US" dirty="0"/>
              <a:t> in R as a function output?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BF0779-2ED6-F077-FA58-0F0486BC54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7571" y="3074598"/>
            <a:ext cx="4704184" cy="2635736"/>
          </a:xfrm>
        </p:spPr>
        <p:txBody>
          <a:bodyPr/>
          <a:lstStyle/>
          <a:p>
            <a:pPr marL="0" indent="0">
              <a:buNone/>
            </a:pPr>
            <a:r>
              <a:rPr lang="en-US" b="1" dirty="0" err="1"/>
              <a:t>my_function</a:t>
            </a:r>
            <a:r>
              <a:rPr lang="en-US" b="1" dirty="0"/>
              <a:t> </a:t>
            </a:r>
            <a:r>
              <a:rPr lang="en-US" dirty="0"/>
              <a:t>&lt;- function(x) {</a:t>
            </a:r>
          </a:p>
          <a:p>
            <a:pPr marL="0" indent="0">
              <a:buNone/>
            </a:pPr>
            <a:r>
              <a:rPr lang="en-US" dirty="0"/>
              <a:t>  y &lt;- x * 2</a:t>
            </a:r>
          </a:p>
          <a:p>
            <a:pPr marL="0" indent="0">
              <a:buNone/>
            </a:pPr>
            <a:r>
              <a:rPr lang="en-US" dirty="0"/>
              <a:t>  z &lt;- x + 3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b="1" dirty="0"/>
              <a:t>return(list(y, z))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1C89E76-735C-9926-9D74-7EA6C98EB1D5}"/>
              </a:ext>
            </a:extLst>
          </p:cNvPr>
          <p:cNvSpPr txBox="1">
            <a:spLocks/>
          </p:cNvSpPr>
          <p:nvPr/>
        </p:nvSpPr>
        <p:spPr>
          <a:xfrm>
            <a:off x="6096000" y="2976401"/>
            <a:ext cx="4704184" cy="241669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 err="1"/>
              <a:t>my_function</a:t>
            </a:r>
            <a:r>
              <a:rPr lang="en-US" b="1" dirty="0"/>
              <a:t> </a:t>
            </a:r>
            <a:r>
              <a:rPr lang="en-US" dirty="0"/>
              <a:t>&lt;- function(x) 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  y &lt;- x * 2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  z &lt;- x + 3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  </a:t>
            </a:r>
            <a:r>
              <a:rPr lang="en-US" b="1" dirty="0"/>
              <a:t>return(z)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}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DA6D533-5F02-9685-F319-520CCF48A8F5}"/>
              </a:ext>
            </a:extLst>
          </p:cNvPr>
          <p:cNvSpPr txBox="1">
            <a:spLocks/>
          </p:cNvSpPr>
          <p:nvPr/>
        </p:nvSpPr>
        <p:spPr>
          <a:xfrm>
            <a:off x="6232850" y="771879"/>
            <a:ext cx="513028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latin typeface="Atkinson Hyperlegible" pitchFamily="50" charset="0"/>
              </a:rPr>
              <a:t>How to return </a:t>
            </a:r>
            <a:r>
              <a:rPr lang="en-US" sz="4000" b="1" dirty="0">
                <a:solidFill>
                  <a:srgbClr val="C00000"/>
                </a:solidFill>
                <a:latin typeface="Atkinson Hyperlegible" pitchFamily="50" charset="0"/>
              </a:rPr>
              <a:t>single</a:t>
            </a:r>
            <a:r>
              <a:rPr lang="en-US" sz="4000" b="1" dirty="0">
                <a:latin typeface="Atkinson Hyperlegible" pitchFamily="50" charset="0"/>
              </a:rPr>
              <a:t> object in R as a function output?</a:t>
            </a:r>
          </a:p>
        </p:txBody>
      </p:sp>
    </p:spTree>
    <p:extLst>
      <p:ext uri="{BB962C8B-B14F-4D97-AF65-F5344CB8AC3E}">
        <p14:creationId xmlns:p14="http://schemas.microsoft.com/office/powerpoint/2010/main" val="34665848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F95AA-3537-72AD-6A4D-F07F8D19D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return of the function is so important?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BB32B8-9918-DCF6-9B50-70AC41796B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653" y="1900269"/>
            <a:ext cx="5189376" cy="4351338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The return statement in a function is important because it specifies the value that the function should output or return to the calling code</a:t>
            </a:r>
            <a:r>
              <a:rPr lang="en-US" dirty="0"/>
              <a:t>. </a:t>
            </a:r>
          </a:p>
          <a:p>
            <a:r>
              <a:rPr lang="en-US" dirty="0"/>
              <a:t>Without the return statement, the function would still execute its code but if the last line is a assign variable then nothing will be returned!!!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40329F-F835-E8F2-AD90-8EE1B00484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0902" y="1529690"/>
            <a:ext cx="3223098" cy="4512336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060B4C2-7B0B-6CE8-D3EF-33C82B29BEAE}"/>
              </a:ext>
            </a:extLst>
          </p:cNvPr>
          <p:cNvCxnSpPr>
            <a:cxnSpLocks/>
          </p:cNvCxnSpPr>
          <p:nvPr/>
        </p:nvCxnSpPr>
        <p:spPr>
          <a:xfrm>
            <a:off x="7728327" y="3638700"/>
            <a:ext cx="1787639" cy="0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F8E6CB7-E6D1-D2FA-2032-008ACC5A4B2D}"/>
              </a:ext>
            </a:extLst>
          </p:cNvPr>
          <p:cNvSpPr txBox="1"/>
          <p:nvPr/>
        </p:nvSpPr>
        <p:spPr>
          <a:xfrm>
            <a:off x="9556731" y="2850694"/>
            <a:ext cx="22860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 the last line is assigning a variable without return nothing will be return to global environment once the function is called!!!</a:t>
            </a:r>
          </a:p>
        </p:txBody>
      </p:sp>
    </p:spTree>
    <p:extLst>
      <p:ext uri="{BB962C8B-B14F-4D97-AF65-F5344CB8AC3E}">
        <p14:creationId xmlns:p14="http://schemas.microsoft.com/office/powerpoint/2010/main" val="10557407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F1C5E-5AA7-E19E-3B62-07839C3C9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0" dirty="0">
                <a:solidFill>
                  <a:srgbClr val="374151"/>
                </a:solidFill>
                <a:effectLst/>
              </a:rPr>
              <a:t>Defensive programming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0C48E-ED5F-7293-5122-DC1D5CDDEC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 algn="just">
              <a:buNone/>
            </a:pPr>
            <a:r>
              <a:rPr lang="en-US" b="0" i="0" dirty="0">
                <a:effectLst/>
              </a:rPr>
              <a:t>Defensive programming is a In R, defensive programming can be particularly important because R is an interpreted </a:t>
            </a:r>
            <a:r>
              <a:rPr lang="en-US" b="1" dirty="0"/>
              <a:t>programming technique that aims to reduce the likelihood of bugs and errors by anticipating potential problems and incorporating error handling and defensive checks into the code.</a:t>
            </a:r>
          </a:p>
          <a:p>
            <a:pPr algn="just">
              <a:buFont typeface="+mj-lt"/>
              <a:buAutoNum type="arabicPeriod"/>
            </a:pPr>
            <a:r>
              <a:rPr lang="en-US" b="1" i="0" dirty="0">
                <a:solidFill>
                  <a:srgbClr val="C00000"/>
                </a:solidFill>
                <a:effectLst/>
              </a:rPr>
              <a:t>Input validation</a:t>
            </a:r>
            <a:r>
              <a:rPr lang="en-US" b="1" i="0" dirty="0">
                <a:effectLst/>
              </a:rPr>
              <a:t>: Before processing any input data, it is important to validate the data to ensure that it is in the expected data type and within the expected range of values</a:t>
            </a:r>
            <a:r>
              <a:rPr lang="en-US" b="0" i="0" dirty="0">
                <a:effectLst/>
              </a:rPr>
              <a:t>. For example, if a function expects a numeric input, it should check that the input is a numeric type and that it is within a reasonable range of values.</a:t>
            </a:r>
          </a:p>
          <a:p>
            <a:pPr algn="just">
              <a:buFont typeface="+mj-lt"/>
              <a:buAutoNum type="arabicPeriod"/>
            </a:pPr>
            <a:r>
              <a:rPr lang="en-US" b="1" dirty="0">
                <a:solidFill>
                  <a:srgbClr val="C00000"/>
                </a:solidFill>
              </a:rPr>
              <a:t>Error handling</a:t>
            </a:r>
            <a:r>
              <a:rPr lang="en-US" b="0" i="0" dirty="0">
                <a:effectLst/>
              </a:rPr>
              <a:t>: It is important to include error handling in your code to detect and handle unexpected conditions that may occur during the execution of the code. </a:t>
            </a:r>
            <a:r>
              <a:rPr lang="en-US" b="1" i="0" dirty="0">
                <a:effectLst/>
              </a:rPr>
              <a:t>This can include using try-catch statements </a:t>
            </a:r>
            <a:r>
              <a:rPr lang="en-US" b="0" i="0" dirty="0">
                <a:effectLst/>
              </a:rPr>
              <a:t>to handle errors or incorporating code to log errors and notify the user of unexpected results.</a:t>
            </a:r>
          </a:p>
          <a:p>
            <a:pPr algn="just">
              <a:buFont typeface="+mj-lt"/>
              <a:buAutoNum type="arabicPeriod"/>
            </a:pPr>
            <a:r>
              <a:rPr lang="en-US" b="1" dirty="0">
                <a:solidFill>
                  <a:srgbClr val="C00000"/>
                </a:solidFill>
              </a:rPr>
              <a:t>Defensive coding</a:t>
            </a:r>
            <a:r>
              <a:rPr lang="en-US" b="0" i="0" dirty="0">
                <a:effectLst/>
              </a:rPr>
              <a:t>: For example, </a:t>
            </a:r>
            <a:r>
              <a:rPr lang="en-US" b="1" i="0" dirty="0">
                <a:effectLst/>
              </a:rPr>
              <a:t>you can use conditional statements </a:t>
            </a:r>
            <a:r>
              <a:rPr lang="en-US" b="0" i="0" dirty="0">
                <a:effectLst/>
              </a:rPr>
              <a:t>and defensive checks to ensure that your code behaves correctly in unexpected situations.</a:t>
            </a:r>
          </a:p>
        </p:txBody>
      </p:sp>
    </p:spTree>
    <p:extLst>
      <p:ext uri="{BB962C8B-B14F-4D97-AF65-F5344CB8AC3E}">
        <p14:creationId xmlns:p14="http://schemas.microsoft.com/office/powerpoint/2010/main" val="20303866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31DB5-2A17-1045-6A64-BEE3D564A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 is vectorized!!!!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5C7D68-E132-E50A-6299-A065D967BF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890" y="2208804"/>
            <a:ext cx="5153621" cy="3575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4010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36191-2F89-659B-A1EC-9F3A7DA84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arguments in 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6AFAFB-825E-9442-406B-BBE352B2BD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>
              <a:buFont typeface="+mj-lt"/>
              <a:buAutoNum type="arabicPeriod"/>
            </a:pPr>
            <a:r>
              <a:rPr lang="en-US" b="1" i="0" dirty="0">
                <a:solidFill>
                  <a:srgbClr val="374151"/>
                </a:solidFill>
                <a:effectLst/>
              </a:rPr>
              <a:t>Required arguments</a:t>
            </a:r>
            <a:r>
              <a:rPr lang="en-US" b="0" i="0" dirty="0">
                <a:solidFill>
                  <a:srgbClr val="374151"/>
                </a:solidFill>
                <a:effectLst/>
              </a:rPr>
              <a:t>: These are arguments that must be included when calling the function and have no default value. If a required argument is not provided, an error will occur.</a:t>
            </a:r>
          </a:p>
          <a:p>
            <a:pPr algn="just">
              <a:buFont typeface="+mj-lt"/>
              <a:buAutoNum type="arabicPeriod"/>
            </a:pPr>
            <a:r>
              <a:rPr lang="en-US" b="1" i="0" dirty="0">
                <a:solidFill>
                  <a:srgbClr val="374151"/>
                </a:solidFill>
                <a:effectLst/>
              </a:rPr>
              <a:t>Optional arguments</a:t>
            </a:r>
            <a:r>
              <a:rPr lang="en-US" b="0" i="0" dirty="0">
                <a:solidFill>
                  <a:srgbClr val="374151"/>
                </a:solidFill>
                <a:effectLst/>
              </a:rPr>
              <a:t>: These are arguments that are not required and have default values. If a value is not provided for an optional argument, the default value will be used.</a:t>
            </a:r>
          </a:p>
          <a:p>
            <a:pPr algn="just">
              <a:buFont typeface="+mj-lt"/>
              <a:buAutoNum type="arabicPeriod"/>
            </a:pPr>
            <a:r>
              <a:rPr lang="en-US" b="1" i="0" dirty="0">
                <a:solidFill>
                  <a:srgbClr val="374151"/>
                </a:solidFill>
                <a:effectLst/>
              </a:rPr>
              <a:t>Default arguments</a:t>
            </a:r>
            <a:r>
              <a:rPr lang="en-US" b="0" i="0" dirty="0">
                <a:solidFill>
                  <a:srgbClr val="374151"/>
                </a:solidFill>
                <a:effectLst/>
              </a:rPr>
              <a:t>: These are arguments that have default values and are not required to be specified when calling the function. If a value is not provided for a default argument, the default value will be used.</a:t>
            </a:r>
          </a:p>
          <a:p>
            <a:pPr marL="0" indent="0" algn="just">
              <a:buNone/>
            </a:pPr>
            <a:r>
              <a:rPr lang="en-US" b="1" i="0" dirty="0">
                <a:solidFill>
                  <a:srgbClr val="374151"/>
                </a:solidFill>
                <a:effectLst/>
              </a:rPr>
              <a:t>Understanding the different types of arguments in R can be helpful when writing functions or working with existing functions, as it can help you understand how to call a function correctly and what types of inputs are expected.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88633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90FCB-003D-1D5D-BF29-9D6CBDEC8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Lazy evaluation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7E7272-D276-E12E-20E8-444A5D2100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en-US" b="0" i="0" dirty="0">
                <a:effectLst/>
              </a:rPr>
              <a:t>n R, lazy evaluation is a feature of the language that delays the evaluation of an expression until its value is actually needed. This means that expressions are not immediately evaluated when they are assigned to a variable or passed as an argument to a function. Instead, the expression is stored as a promise, which is essentially a placeholder for the value of the expression.</a:t>
            </a:r>
          </a:p>
          <a:p>
            <a:pPr algn="just"/>
            <a:r>
              <a:rPr lang="en-US" b="0" i="0" dirty="0">
                <a:effectLst/>
              </a:rPr>
              <a:t>When the value of the expression is needed (for example, when it is printed to the console or used in a calculation), the promise is forced and the expression is evaluated. This can help improve the performance of R code, especially when dealing with large datasets or complex computations, as it avoids unnecessary computations.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3619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0560E-ACC6-F96C-93C9-9FD06F108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wrapper … and FUN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E2A79A-DF26-D849-3CA8-C54CA291AF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670" y="1377755"/>
            <a:ext cx="4663760" cy="287104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210C026-519D-4340-2A5D-123A5EE43E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670" y="4468617"/>
            <a:ext cx="7372322" cy="180155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CFAE71B-7183-99BB-F900-34762DF02B86}"/>
              </a:ext>
            </a:extLst>
          </p:cNvPr>
          <p:cNvSpPr txBox="1"/>
          <p:nvPr/>
        </p:nvSpPr>
        <p:spPr>
          <a:xfrm>
            <a:off x="6008914" y="1644130"/>
            <a:ext cx="5131837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latin typeface="Atkinson Hyperlegible" pitchFamily="50" charset="0"/>
              </a:rPr>
              <a:t>…</a:t>
            </a:r>
            <a:r>
              <a:rPr lang="en-US" sz="2500" dirty="0">
                <a:latin typeface="Atkinson Hyperlegible" pitchFamily="50" charset="0"/>
              </a:rPr>
              <a:t> </a:t>
            </a:r>
            <a:r>
              <a:rPr lang="en-US" sz="2500" dirty="0">
                <a:latin typeface="Atkinson Hyperlegible" pitchFamily="50" charset="0"/>
                <a:sym typeface="Wingdings" panose="05000000000000000000" pitchFamily="2" charset="2"/>
              </a:rPr>
              <a:t> allow for additional parameters, any parameters in spot where you put it.</a:t>
            </a:r>
          </a:p>
          <a:p>
            <a:r>
              <a:rPr lang="en-US" sz="2500" b="1" dirty="0">
                <a:latin typeface="Atkinson Hyperlegible" pitchFamily="50" charset="0"/>
                <a:sym typeface="Wingdings" panose="05000000000000000000" pitchFamily="2" charset="2"/>
              </a:rPr>
              <a:t>FUN</a:t>
            </a:r>
            <a:r>
              <a:rPr lang="en-US" sz="2500" dirty="0">
                <a:latin typeface="Atkinson Hyperlegible" pitchFamily="50" charset="0"/>
                <a:sym typeface="Wingdings" panose="05000000000000000000" pitchFamily="2" charset="2"/>
              </a:rPr>
              <a:t>  as function can be an argument of another function we </a:t>
            </a:r>
          </a:p>
          <a:p>
            <a:r>
              <a:rPr lang="en-US" sz="2500" dirty="0">
                <a:latin typeface="Atkinson Hyperlegible" pitchFamily="50" charset="0"/>
                <a:sym typeface="Wingdings" panose="05000000000000000000" pitchFamily="2" charset="2"/>
              </a:rPr>
              <a:t>specify that using </a:t>
            </a:r>
            <a:r>
              <a:rPr lang="en-US" sz="2500" b="1" dirty="0">
                <a:latin typeface="Atkinson Hyperlegible" pitchFamily="50" charset="0"/>
                <a:sym typeface="Wingdings" panose="05000000000000000000" pitchFamily="2" charset="2"/>
              </a:rPr>
              <a:t>FUN (</a:t>
            </a:r>
            <a:r>
              <a:rPr lang="en-US" sz="2500" dirty="0">
                <a:latin typeface="Atkinson Hyperlegible" pitchFamily="50" charset="0"/>
                <a:sym typeface="Wingdings" panose="05000000000000000000" pitchFamily="2" charset="2"/>
              </a:rPr>
              <a:t>argument is another function (used in apply family))</a:t>
            </a:r>
          </a:p>
        </p:txBody>
      </p:sp>
      <p:pic>
        <p:nvPicPr>
          <p:cNvPr id="2050" name="Picture 2" descr="MATRIOSZKA mała drewniana 5w1 Montessori 10132840683 - Allegro.pl">
            <a:extLst>
              <a:ext uri="{FF2B5EF4-FFF2-40B4-BE49-F238E27FC236}">
                <a16:creationId xmlns:a16="http://schemas.microsoft.com/office/drawing/2014/main" id="{79164FA9-D978-A8DD-B1D3-DCFEB7E065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5708" y="4492604"/>
            <a:ext cx="3500936" cy="20991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40457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5FDF66B-F3AB-44D2-B9E5-D824ED455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remarks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7382027-68B7-4659-A373-31B9C93CF0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b="1" dirty="0"/>
              <a:t>Why</a:t>
            </a:r>
            <a:r>
              <a:rPr lang="pl-PL" b="1" dirty="0"/>
              <a:t> return </a:t>
            </a:r>
            <a:r>
              <a:rPr lang="en-AU" b="1" dirty="0"/>
              <a:t>is</a:t>
            </a:r>
            <a:r>
              <a:rPr lang="pl-PL" b="1" dirty="0"/>
              <a:t> </a:t>
            </a:r>
            <a:r>
              <a:rPr lang="en-AU" b="1" dirty="0"/>
              <a:t>important</a:t>
            </a:r>
            <a:r>
              <a:rPr lang="pl-PL" b="1" dirty="0"/>
              <a:t>?</a:t>
            </a:r>
          </a:p>
          <a:p>
            <a:r>
              <a:rPr lang="en-AU" dirty="0"/>
              <a:t>If</a:t>
            </a:r>
            <a:r>
              <a:rPr lang="pl-PL" dirty="0"/>
              <a:t> we </a:t>
            </a:r>
            <a:r>
              <a:rPr lang="en-US" dirty="0"/>
              <a:t>do not specify what we want to return R will return the last used value</a:t>
            </a:r>
          </a:p>
          <a:p>
            <a:pPr marL="0" indent="0">
              <a:buNone/>
            </a:pPr>
            <a:r>
              <a:rPr lang="pl-PL" b="1" dirty="0"/>
              <a:t>How to return </a:t>
            </a:r>
            <a:r>
              <a:rPr lang="en-US" b="1" dirty="0"/>
              <a:t>many elements</a:t>
            </a:r>
            <a:r>
              <a:rPr lang="pl-PL" b="1" dirty="0"/>
              <a:t>?</a:t>
            </a:r>
          </a:p>
          <a:p>
            <a:r>
              <a:rPr lang="pl-PL" dirty="0"/>
              <a:t>Using list </a:t>
            </a:r>
          </a:p>
          <a:p>
            <a:pPr marL="0" indent="0">
              <a:buNone/>
            </a:pPr>
            <a:r>
              <a:rPr lang="en-US" b="1" dirty="0"/>
              <a:t>How to retrieve values from a list?</a:t>
            </a:r>
            <a:endParaRPr lang="pl-PL" b="1" dirty="0"/>
          </a:p>
          <a:p>
            <a:r>
              <a:rPr lang="en-AU" dirty="0"/>
              <a:t>Vectorization</a:t>
            </a:r>
            <a:r>
              <a:rPr lang="pl-PL" dirty="0"/>
              <a:t> in </a:t>
            </a:r>
            <a:r>
              <a:rPr lang="en-AU" dirty="0"/>
              <a:t>functions</a:t>
            </a:r>
          </a:p>
          <a:p>
            <a:r>
              <a:rPr lang="pl-PL" dirty="0"/>
              <a:t>Error </a:t>
            </a:r>
            <a:r>
              <a:rPr lang="en-US" dirty="0"/>
              <a:t>handling</a:t>
            </a:r>
            <a:r>
              <a:rPr lang="pl-PL" dirty="0"/>
              <a:t>, </a:t>
            </a:r>
            <a:r>
              <a:rPr lang="en-AU" dirty="0"/>
              <a:t>defensive</a:t>
            </a:r>
            <a:r>
              <a:rPr lang="pl-PL" dirty="0"/>
              <a:t> </a:t>
            </a:r>
            <a:r>
              <a:rPr lang="en-AU" dirty="0"/>
              <a:t>programming</a:t>
            </a:r>
            <a:r>
              <a:rPr lang="pl-PL" dirty="0"/>
              <a:t> – </a:t>
            </a:r>
            <a:r>
              <a:rPr lang="en-US" dirty="0"/>
              <a:t>next class</a:t>
            </a:r>
          </a:p>
        </p:txBody>
      </p:sp>
    </p:spTree>
    <p:extLst>
      <p:ext uri="{BB962C8B-B14F-4D97-AF65-F5344CB8AC3E}">
        <p14:creationId xmlns:p14="http://schemas.microsoft.com/office/powerpoint/2010/main" val="8798035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7905243-7043-411B-B473-DE65DA70A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Parameters of the functions 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829089F-76EA-4C63-9328-73DE5A7C21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Parameters of the functions:</a:t>
            </a:r>
          </a:p>
          <a:p>
            <a:r>
              <a:rPr lang="en-US" dirty="0"/>
              <a:t>Can be varied</a:t>
            </a:r>
          </a:p>
          <a:p>
            <a:r>
              <a:rPr lang="en-US" dirty="0"/>
              <a:t>Can be constant</a:t>
            </a:r>
          </a:p>
          <a:p>
            <a:r>
              <a:rPr lang="en-US" dirty="0"/>
              <a:t>Can be null</a:t>
            </a:r>
          </a:p>
          <a:p>
            <a:r>
              <a:rPr lang="en-US" dirty="0"/>
              <a:t>unlimited list of parameters </a:t>
            </a:r>
            <a:r>
              <a:rPr lang="pl-PL" dirty="0">
                <a:sym typeface="Wingdings" panose="05000000000000000000" pitchFamily="2" charset="2"/>
              </a:rPr>
              <a:t> …</a:t>
            </a:r>
            <a:endParaRPr lang="pl-PL" dirty="0"/>
          </a:p>
          <a:p>
            <a:pPr marL="0" indent="0">
              <a:buNone/>
            </a:pPr>
            <a:r>
              <a:rPr lang="en-US" b="1" dirty="0"/>
              <a:t>Lazy programming</a:t>
            </a:r>
          </a:p>
          <a:p>
            <a:r>
              <a:rPr lang="en-US" dirty="0"/>
              <a:t>Example with </a:t>
            </a:r>
            <a:r>
              <a:rPr lang="en-US" dirty="0" err="1"/>
              <a:t>ggplot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08887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5E179-346E-E240-9CBC-28B22EB13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Iris data</a:t>
            </a:r>
          </a:p>
        </p:txBody>
      </p:sp>
      <p:pic>
        <p:nvPicPr>
          <p:cNvPr id="3074" name="Picture 2" descr="In-Database Machine Learning with Db2, Python, and H2O Driverless AI">
            <a:extLst>
              <a:ext uri="{FF2B5EF4-FFF2-40B4-BE49-F238E27FC236}">
                <a16:creationId xmlns:a16="http://schemas.microsoft.com/office/drawing/2014/main" id="{028E2DED-A6CE-6823-18B8-43E327B614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621" y="1835798"/>
            <a:ext cx="6125030" cy="3445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982EEE0-9B7E-1AB2-2C86-E61F8C16CD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5635" y="1835798"/>
            <a:ext cx="4282801" cy="1422024"/>
          </a:xfrm>
          <a:prstGeom prst="rect">
            <a:avLst/>
          </a:prstGeom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8D183CCF-E56D-319F-FBAF-33B5ED1726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4660" y="3402932"/>
            <a:ext cx="2635120" cy="2635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82413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80BA0-65D8-9671-D90E-529802BB2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Statistical book recommendation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249CE9-51B8-F878-8658-C3FD324F44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b="1" i="0" dirty="0">
                <a:solidFill>
                  <a:srgbClr val="000000"/>
                </a:solidFill>
                <a:effectLst/>
              </a:rPr>
              <a:t>Summary and Analysis of Extension Program Evaluation in R</a:t>
            </a:r>
          </a:p>
          <a:p>
            <a:pPr marL="0" indent="0" algn="l">
              <a:buNone/>
            </a:pPr>
            <a:r>
              <a:rPr lang="en-US" b="1" i="0" dirty="0">
                <a:solidFill>
                  <a:srgbClr val="000000"/>
                </a:solidFill>
                <a:effectLst/>
              </a:rPr>
              <a:t>Salvatore S. </a:t>
            </a:r>
            <a:r>
              <a:rPr lang="en-US" b="1" i="0" dirty="0" err="1">
                <a:solidFill>
                  <a:srgbClr val="000000"/>
                </a:solidFill>
                <a:effectLst/>
              </a:rPr>
              <a:t>Mangiafico</a:t>
            </a:r>
            <a:endParaRPr lang="en-US" b="1" i="0" dirty="0">
              <a:solidFill>
                <a:srgbClr val="000000"/>
              </a:solidFill>
              <a:effectLst/>
            </a:endParaRPr>
          </a:p>
          <a:p>
            <a:pPr marL="0" indent="0">
              <a:buNone/>
            </a:pPr>
            <a:endParaRPr lang="en-US" dirty="0">
              <a:hlinkClick r:id="rId2"/>
            </a:endParaRPr>
          </a:p>
          <a:p>
            <a:r>
              <a:rPr lang="en-US" dirty="0">
                <a:hlinkClick r:id="rId2"/>
              </a:rPr>
              <a:t>https://rcompanion.org/handbook/index.html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20842326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4789</TotalTime>
  <Words>941</Words>
  <Application>Microsoft Macintosh PowerPoint</Application>
  <PresentationFormat>Panoramiczny</PresentationFormat>
  <Paragraphs>72</Paragraphs>
  <Slides>14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5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14</vt:i4>
      </vt:variant>
    </vt:vector>
  </HeadingPairs>
  <TitlesOfParts>
    <vt:vector size="20" baseType="lpstr">
      <vt:lpstr>Arial</vt:lpstr>
      <vt:lpstr>Atkinson Hyperlegible</vt:lpstr>
      <vt:lpstr>Calibri</vt:lpstr>
      <vt:lpstr>Calibri Light</vt:lpstr>
      <vt:lpstr>Wingdings</vt:lpstr>
      <vt:lpstr>Motyw pakietu Office</vt:lpstr>
      <vt:lpstr>Functions in R</vt:lpstr>
      <vt:lpstr>Functional programming  Advantages why do we wan to use it?</vt:lpstr>
      <vt:lpstr>Syntax</vt:lpstr>
      <vt:lpstr>How to return many objects in R as a function output?</vt:lpstr>
      <vt:lpstr>Why return of the function is so important?</vt:lpstr>
      <vt:lpstr>Defensive programming</vt:lpstr>
      <vt:lpstr>R is vectorized!!!!</vt:lpstr>
      <vt:lpstr>Types of arguments in R</vt:lpstr>
      <vt:lpstr>Lazy evaluation </vt:lpstr>
      <vt:lpstr>Function wrapper … and FUN </vt:lpstr>
      <vt:lpstr>Some remarks</vt:lpstr>
      <vt:lpstr>Parameters of the functions </vt:lpstr>
      <vt:lpstr>Iris data</vt:lpstr>
      <vt:lpstr>Statistical book recommendation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Functions in R</dc:title>
  <dc:creator>Ewa Weychert</dc:creator>
  <cp:lastModifiedBy>Monika Kot</cp:lastModifiedBy>
  <cp:revision>46</cp:revision>
  <dcterms:created xsi:type="dcterms:W3CDTF">2022-03-01T14:54:39Z</dcterms:created>
  <dcterms:modified xsi:type="dcterms:W3CDTF">2026-03-18T21:13:22Z</dcterms:modified>
</cp:coreProperties>
</file>