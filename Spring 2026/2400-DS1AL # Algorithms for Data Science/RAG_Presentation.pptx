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19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59B4FB5D-1997-4E9C-B951-E5F34F5E4625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43B8F2F-E251-44FA-B214-E0168A79729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5BE108F-4C9A-4FC5-8958-B0548CAADBB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94CD25D-F1AC-4D4E-9234-D3E5692832D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02386FE-FD42-490C-AB38-92A580ED119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9F723BB-F1A1-4759-B2AC-1A0D8F6E1EB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CBD434D-98DB-455D-B849-C48C2417101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F3E69D9-7F8B-4988-965C-20FC45E3ECD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2FB852-95AC-4985-AEB8-11DB8E10F53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8CFE8D1-0AA6-46E8-BD4F-432CBA92A3A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BDAF05F-A782-44E5-BA55-E908118D24A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4D8D35A-BE50-40E6-8B6B-A1CE6EDA383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D161450-2FDC-4B70-93A8-462739E525C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E318C25-A979-4B49-945C-E099C55A081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2EED85-A46D-40DB-9F3E-29543C2FE8A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A4C33BB-B569-450C-99E0-89BED33194B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F041F23-3E3B-412E-85DD-6381EE805D6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98F3F1A-0CCA-47A4-BA37-BBFD1C891DC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F366E51-11EF-4A15-B69F-ABB7479BDEE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F21C4E1-5BF7-4A70-995A-DE3878186D0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D3D0118-C4A0-47EA-91B3-A95E0DCF44B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B7F789F-CFA9-4190-9E8E-13CC56C1294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C2040F7-939B-459E-912F-C51FB2413BB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7D8B071-5CDB-4F7D-BF27-7046EB1B710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530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640080" y="1737360"/>
            <a:ext cx="7863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111111"/>
                </a:solidFill>
                <a:latin typeface="Calibri"/>
                <a:ea typeface="Calibri"/>
              </a:rPr>
              <a:t>RAG Retrieval Pipeline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640080" y="260604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555555"/>
                </a:solidFill>
                <a:latin typeface="Calibri"/>
                <a:ea typeface="Calibri"/>
              </a:rPr>
              <a:t>How retrieval keeps language models honest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640080" y="4206240"/>
            <a:ext cx="7863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555555"/>
                </a:solidFill>
                <a:latin typeface="Calibri"/>
                <a:ea typeface="Calibri"/>
              </a:rPr>
              <a:t>Algorithms for Data Science  ·  </a:t>
            </a:r>
            <a:r>
              <a:rPr b="0" lang="en-US" sz="1400" spc="-1" strike="noStrike">
                <a:solidFill>
                  <a:srgbClr val="555555"/>
                </a:solidFill>
                <a:latin typeface="Calibri"/>
                <a:ea typeface="Calibri"/>
              </a:rPr>
              <a:t>Ivan Semeniuk </a:t>
            </a:r>
            <a:r>
              <a:rPr b="0" lang="en-US" sz="1400" spc="-1" strike="noStrike">
                <a:solidFill>
                  <a:srgbClr val="555555"/>
                </a:solidFill>
                <a:latin typeface="Calibri"/>
                <a:ea typeface="Calibri"/>
              </a:rPr>
              <a:t>&amp; </a:t>
            </a:r>
            <a:r>
              <a:rPr b="0" lang="en-US" sz="1400" spc="-1" strike="noStrike">
                <a:solidFill>
                  <a:srgbClr val="555555"/>
                </a:solidFill>
                <a:latin typeface="Calibri"/>
                <a:ea typeface="Calibri"/>
              </a:rPr>
              <a:t>Ondřej Marvan 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0"/>
          <p:cNvSpPr/>
          <p:nvPr/>
        </p:nvSpPr>
        <p:spPr>
          <a:xfrm>
            <a:off x="548640" y="411480"/>
            <a:ext cx="8046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11111"/>
                </a:solidFill>
                <a:latin typeface="Calibri"/>
                <a:ea typeface="Calibri"/>
              </a:rPr>
              <a:t>The Problem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Text 1"/>
          <p:cNvSpPr/>
          <p:nvPr/>
        </p:nvSpPr>
        <p:spPr>
          <a:xfrm>
            <a:off x="548640" y="1417320"/>
            <a:ext cx="804636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900" spc="-1" strike="noStrike">
                <a:solidFill>
                  <a:srgbClr val="111111"/>
                </a:solidFill>
                <a:latin typeface="Calibri"/>
                <a:ea typeface="Calibri"/>
              </a:rPr>
              <a:t>Large language models hallucinate. They produce fluent, confident answers from memory — and those answers are sometimes simply wrong.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0"/>
          <p:cNvSpPr/>
          <p:nvPr/>
        </p:nvSpPr>
        <p:spPr>
          <a:xfrm>
            <a:off x="548640" y="411480"/>
            <a:ext cx="8046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11111"/>
                </a:solidFill>
                <a:latin typeface="Calibri"/>
                <a:ea typeface="Calibri"/>
              </a:rPr>
              <a:t>The Fix: Retrieval-Augmented Generation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Text 1"/>
          <p:cNvSpPr/>
          <p:nvPr/>
        </p:nvSpPr>
        <p:spPr>
          <a:xfrm>
            <a:off x="548640" y="1417320"/>
            <a:ext cx="804636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900" spc="-1" strike="noStrike">
                <a:solidFill>
                  <a:srgbClr val="111111"/>
                </a:solidFill>
                <a:latin typeface="Calibri"/>
                <a:ea typeface="Calibri"/>
              </a:rPr>
              <a:t>Before the model answers, retrieve real passages from a trusted corpus and pass them in as context. The model grounds its answer in evidence instead of inventing it.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0"/>
          <p:cNvSpPr/>
          <p:nvPr/>
        </p:nvSpPr>
        <p:spPr>
          <a:xfrm>
            <a:off x="548640" y="411480"/>
            <a:ext cx="8046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11111"/>
                </a:solidFill>
                <a:latin typeface="Calibri"/>
                <a:ea typeface="Calibri"/>
              </a:rPr>
              <a:t>What We Built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Text 1"/>
          <p:cNvSpPr/>
          <p:nvPr/>
        </p:nvSpPr>
        <p:spPr>
          <a:xfrm>
            <a:off x="548640" y="1417320"/>
            <a:ext cx="804636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900" spc="-1" strike="noStrike">
                <a:solidFill>
                  <a:srgbClr val="111111"/>
                </a:solidFill>
                <a:latin typeface="Calibri"/>
                <a:ea typeface="Calibri"/>
              </a:rPr>
              <a:t>The retrieval half: given a question and 100 paragraphs about the Apollo program, return the 3 most relevant ones.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900" spc="-1" strike="noStrike">
                <a:solidFill>
                  <a:srgbClr val="111111"/>
                </a:solidFill>
                <a:latin typeface="Calibri"/>
                <a:ea typeface="Calibri"/>
              </a:rPr>
              <a:t>No LLM. No embeddings. No third-party libraries — Python standard library only, so every step is visible.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0"/>
          <p:cNvSpPr/>
          <p:nvPr/>
        </p:nvSpPr>
        <p:spPr>
          <a:xfrm>
            <a:off x="548640" y="411480"/>
            <a:ext cx="8046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11111"/>
                </a:solidFill>
                <a:latin typeface="Calibri"/>
                <a:ea typeface="Calibri"/>
              </a:rPr>
              <a:t>The Pipeline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Text 1"/>
          <p:cNvSpPr/>
          <p:nvPr/>
        </p:nvSpPr>
        <p:spPr>
          <a:xfrm>
            <a:off x="548640" y="1417320"/>
            <a:ext cx="80463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900" spc="-1" strike="noStrike">
                <a:solidFill>
                  <a:srgbClr val="111111"/>
                </a:solidFill>
                <a:latin typeface="Calibri"/>
                <a:ea typeface="Calibri"/>
              </a:rPr>
              <a:t>Two independent rankers run on the same question, then a fusion step merges them.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Shape 2"/>
          <p:cNvSpPr/>
          <p:nvPr/>
        </p:nvSpPr>
        <p:spPr>
          <a:xfrm>
            <a:off x="548640" y="2286000"/>
            <a:ext cx="8046360" cy="1645560"/>
          </a:xfrm>
          <a:prstGeom prst="rect">
            <a:avLst/>
          </a:prstGeom>
          <a:solidFill>
            <a:srgbClr val="f6f7f9"/>
          </a:solidFill>
          <a:ln w="12700">
            <a:solidFill>
              <a:srgbClr val="e4e6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 3"/>
          <p:cNvSpPr/>
          <p:nvPr/>
        </p:nvSpPr>
        <p:spPr>
          <a:xfrm>
            <a:off x="713160" y="2395800"/>
            <a:ext cx="7717320" cy="142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6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11111"/>
                </a:solidFill>
                <a:latin typeface="Consolas"/>
                <a:ea typeface="Consolas"/>
              </a:rPr>
              <a:t>question ──► BM25 ranker            ──► list A ┐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11111"/>
                </a:solidFill>
                <a:latin typeface="Consolas"/>
                <a:ea typeface="Consolas"/>
              </a:rPr>
              <a:t>                                              ├─► </a:t>
            </a:r>
            <a:r>
              <a:rPr b="0" lang="en-US" sz="1350" spc="-1" strike="noStrike">
                <a:solidFill>
                  <a:srgbClr val="111111"/>
                </a:solidFill>
                <a:latin typeface="Consolas"/>
                <a:ea typeface="Consolas"/>
              </a:rPr>
              <a:t>RRF + min-heap ──► top </a:t>
            </a:r>
            <a:r>
              <a:rPr b="0" lang="en-US" sz="1350" spc="-1" strike="noStrike">
                <a:solidFill>
                  <a:srgbClr val="1750eb"/>
                </a:solidFill>
                <a:latin typeface="Consolas"/>
                <a:ea typeface="Consolas"/>
              </a:rPr>
              <a:t>3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11111"/>
                </a:solidFill>
                <a:latin typeface="Consolas"/>
                <a:ea typeface="Consolas"/>
              </a:rPr>
              <a:t>question ──► char-trigram ranker  ──► list B ┘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0"/>
          <p:cNvSpPr/>
          <p:nvPr/>
        </p:nvSpPr>
        <p:spPr>
          <a:xfrm>
            <a:off x="548640" y="411480"/>
            <a:ext cx="8046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11111"/>
                </a:solidFill>
                <a:latin typeface="Calibri"/>
                <a:ea typeface="Calibri"/>
              </a:rPr>
              <a:t>Input &amp; Output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 1"/>
          <p:cNvSpPr/>
          <p:nvPr/>
        </p:nvSpPr>
        <p:spPr>
          <a:xfrm>
            <a:off x="548640" y="1417320"/>
            <a:ext cx="804636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900" spc="-1" strike="noStrike">
                <a:solidFill>
                  <a:srgbClr val="111111"/>
                </a:solidFill>
                <a:latin typeface="Calibri"/>
                <a:ea typeface="Calibri"/>
              </a:rPr>
              <a:t>Input:  a free-text question, plus the corpus of 100 paragraphs.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900" spc="-1" strike="noStrike">
                <a:solidFill>
                  <a:srgbClr val="111111"/>
                </a:solidFill>
                <a:latin typeface="Calibri"/>
                <a:ea typeface="Calibri"/>
              </a:rPr>
              <a:t>Output:  the top 3 paragraphs — what a full system would hand to the LLM.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900" spc="-1" strike="noStrike">
                <a:solidFill>
                  <a:srgbClr val="111111"/>
                </a:solidFill>
                <a:latin typeface="Calibri"/>
                <a:ea typeface="Calibri"/>
              </a:rPr>
              <a:t>Both rankers emit the same shape, list of (doc_id, score), which is what makes them fusable.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0"/>
          <p:cNvSpPr/>
          <p:nvPr/>
        </p:nvSpPr>
        <p:spPr>
          <a:xfrm>
            <a:off x="548640" y="411480"/>
            <a:ext cx="8046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11111"/>
                </a:solidFill>
                <a:latin typeface="Calibri"/>
                <a:ea typeface="Calibri"/>
              </a:rPr>
              <a:t>Algorithm 1 — BM25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 1"/>
          <p:cNvSpPr/>
          <p:nvPr/>
        </p:nvSpPr>
        <p:spPr>
          <a:xfrm>
            <a:off x="548640" y="1417320"/>
            <a:ext cx="804636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900" spc="-1" strike="noStrike">
                <a:solidFill>
                  <a:srgbClr val="111111"/>
                </a:solidFill>
                <a:latin typeface="Calibri"/>
                <a:ea typeface="Calibri"/>
              </a:rPr>
              <a:t>The classic keyword ranker. It scores a paragraph by how many query words it contains, weighting rare words more than common ones, with diminishing returns for repeats.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0"/>
          <p:cNvSpPr/>
          <p:nvPr/>
        </p:nvSpPr>
        <p:spPr>
          <a:xfrm>
            <a:off x="548640" y="411480"/>
            <a:ext cx="8046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11111"/>
                </a:solidFill>
                <a:latin typeface="Calibri"/>
                <a:ea typeface="Calibri"/>
              </a:rPr>
              <a:t>BM25 — The Score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Shape 1"/>
          <p:cNvSpPr/>
          <p:nvPr/>
        </p:nvSpPr>
        <p:spPr>
          <a:xfrm>
            <a:off x="548640" y="1463040"/>
            <a:ext cx="8046360" cy="3108600"/>
          </a:xfrm>
          <a:prstGeom prst="rect">
            <a:avLst/>
          </a:prstGeom>
          <a:solidFill>
            <a:srgbClr val="f6f7f9"/>
          </a:solidFill>
          <a:ln w="12700">
            <a:solidFill>
              <a:srgbClr val="e4e6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 2"/>
          <p:cNvSpPr/>
          <p:nvPr/>
        </p:nvSpPr>
        <p:spPr>
          <a:xfrm>
            <a:off x="713160" y="1572840"/>
            <a:ext cx="7717320" cy="28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6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627a"/>
                </a:solidFill>
                <a:latin typeface="Consolas"/>
                <a:ea typeface="Consolas"/>
              </a:rPr>
              <a:t>score</a:t>
            </a:r>
            <a:r>
              <a:rPr b="0" lang="en-US" sz="1400" spc="-1" strike="noStrike">
                <a:solidFill>
                  <a:srgbClr val="111111"/>
                </a:solidFill>
                <a:latin typeface="Consolas"/>
                <a:ea typeface="Consolas"/>
              </a:rPr>
              <a:t>(q,d) = Σ  </a:t>
            </a:r>
            <a:r>
              <a:rPr b="0" lang="en-US" sz="1400" spc="-1" strike="noStrike">
                <a:solidFill>
                  <a:srgbClr val="00627a"/>
                </a:solidFill>
                <a:latin typeface="Consolas"/>
                <a:ea typeface="Consolas"/>
              </a:rPr>
              <a:t>IDF</a:t>
            </a:r>
            <a:r>
              <a:rPr b="0" lang="en-US" sz="1400" spc="-1" strike="noStrike">
                <a:solidFill>
                  <a:srgbClr val="111111"/>
                </a:solidFill>
                <a:latin typeface="Consolas"/>
                <a:ea typeface="Consolas"/>
              </a:rPr>
              <a:t>(t) · </a:t>
            </a:r>
            <a:r>
              <a:rPr b="0" lang="en-US" sz="1400" spc="-1" strike="noStrike">
                <a:solidFill>
                  <a:srgbClr val="00627a"/>
                </a:solidFill>
                <a:latin typeface="Consolas"/>
                <a:ea typeface="Consolas"/>
              </a:rPr>
              <a:t>f</a:t>
            </a:r>
            <a:r>
              <a:rPr b="0" lang="en-US" sz="1400" spc="-1" strike="noStrike">
                <a:solidFill>
                  <a:srgbClr val="111111"/>
                </a:solidFill>
                <a:latin typeface="Consolas"/>
                <a:ea typeface="Consolas"/>
              </a:rPr>
              <a:t>(t,d)·(k1+</a:t>
            </a:r>
            <a:r>
              <a:rPr b="0" lang="en-US" sz="1400" spc="-1" strike="noStrike">
                <a:solidFill>
                  <a:srgbClr val="1750eb"/>
                </a:solidFill>
                <a:latin typeface="Consolas"/>
                <a:ea typeface="Consolas"/>
              </a:rPr>
              <a:t>1</a:t>
            </a:r>
            <a:r>
              <a:rPr b="0" lang="en-US" sz="1400" spc="-1" strike="noStrike">
                <a:solidFill>
                  <a:srgbClr val="111111"/>
                </a:solidFill>
                <a:latin typeface="Consolas"/>
                <a:ea typeface="Consolas"/>
              </a:rPr>
              <a:t>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11111"/>
                </a:solidFill>
                <a:latin typeface="Consolas"/>
                <a:ea typeface="Consolas"/>
              </a:rPr>
              <a:t>             </a:t>
            </a:r>
            <a:r>
              <a:rPr b="0" lang="en-US" sz="1400" spc="-1" strike="noStrike">
                <a:solidFill>
                  <a:srgbClr val="111111"/>
                </a:solidFill>
                <a:latin typeface="Consolas"/>
                <a:ea typeface="Consolas"/>
              </a:rPr>
              <a:t>t        ─────────────────────────────────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11111"/>
                </a:solidFill>
                <a:latin typeface="Consolas"/>
                <a:ea typeface="Consolas"/>
              </a:rPr>
              <a:t>                      </a:t>
            </a:r>
            <a:r>
              <a:rPr b="0" lang="en-US" sz="1400" spc="-1" strike="noStrike">
                <a:solidFill>
                  <a:srgbClr val="00627a"/>
                </a:solidFill>
                <a:latin typeface="Consolas"/>
                <a:ea typeface="Consolas"/>
              </a:rPr>
              <a:t>f</a:t>
            </a:r>
            <a:r>
              <a:rPr b="0" lang="en-US" sz="1400" spc="-1" strike="noStrike">
                <a:solidFill>
                  <a:srgbClr val="111111"/>
                </a:solidFill>
                <a:latin typeface="Consolas"/>
                <a:ea typeface="Consolas"/>
              </a:rPr>
              <a:t>(t,d) + k1·(</a:t>
            </a:r>
            <a:r>
              <a:rPr b="0" lang="en-US" sz="1400" spc="-1" strike="noStrike">
                <a:solidFill>
                  <a:srgbClr val="1750eb"/>
                </a:solidFill>
                <a:latin typeface="Consolas"/>
                <a:ea typeface="Consolas"/>
              </a:rPr>
              <a:t>1</a:t>
            </a:r>
            <a:r>
              <a:rPr b="0" lang="en-US" sz="1400" spc="-1" strike="noStrike">
                <a:solidFill>
                  <a:srgbClr val="111111"/>
                </a:solidFill>
                <a:latin typeface="Consolas"/>
                <a:ea typeface="Consolas"/>
              </a:rPr>
              <a:t> − b + b·|d|/avgdl)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11111"/>
                </a:solidFill>
                <a:latin typeface="Consolas"/>
                <a:ea typeface="Consolas"/>
              </a:rPr>
              <a:t> 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627a"/>
                </a:solidFill>
                <a:latin typeface="Consolas"/>
                <a:ea typeface="Consolas"/>
              </a:rPr>
              <a:t>IDF</a:t>
            </a:r>
            <a:r>
              <a:rPr b="0" lang="en-US" sz="1400" spc="-1" strike="noStrike">
                <a:solidFill>
                  <a:srgbClr val="111111"/>
                </a:solidFill>
                <a:latin typeface="Consolas"/>
                <a:ea typeface="Consolas"/>
              </a:rPr>
              <a:t>(t) = </a:t>
            </a:r>
            <a:r>
              <a:rPr b="0" lang="en-US" sz="1400" spc="-1" strike="noStrike">
                <a:solidFill>
                  <a:srgbClr val="00627a"/>
                </a:solidFill>
                <a:latin typeface="Consolas"/>
                <a:ea typeface="Consolas"/>
              </a:rPr>
              <a:t>ln</a:t>
            </a:r>
            <a:r>
              <a:rPr b="0" lang="en-US" sz="1400" spc="-1" strike="noStrike">
                <a:solidFill>
                  <a:srgbClr val="111111"/>
                </a:solidFill>
                <a:latin typeface="Consolas"/>
                <a:ea typeface="Consolas"/>
              </a:rPr>
              <a:t>( </a:t>
            </a:r>
            <a:r>
              <a:rPr b="0" lang="en-US" sz="1400" spc="-1" strike="noStrike">
                <a:solidFill>
                  <a:srgbClr val="1750eb"/>
                </a:solidFill>
                <a:latin typeface="Consolas"/>
                <a:ea typeface="Consolas"/>
              </a:rPr>
              <a:t>1</a:t>
            </a:r>
            <a:r>
              <a:rPr b="0" lang="en-US" sz="1400" spc="-1" strike="noStrike">
                <a:solidFill>
                  <a:srgbClr val="111111"/>
                </a:solidFill>
                <a:latin typeface="Consolas"/>
                <a:ea typeface="Consolas"/>
              </a:rPr>
              <a:t> + (N − </a:t>
            </a:r>
            <a:r>
              <a:rPr b="0" lang="en-US" sz="1400" spc="-1" strike="noStrike">
                <a:solidFill>
                  <a:srgbClr val="00627a"/>
                </a:solidFill>
                <a:latin typeface="Consolas"/>
                <a:ea typeface="Consolas"/>
              </a:rPr>
              <a:t>n</a:t>
            </a:r>
            <a:r>
              <a:rPr b="0" lang="en-US" sz="1400" spc="-1" strike="noStrike">
                <a:solidFill>
                  <a:srgbClr val="111111"/>
                </a:solidFill>
                <a:latin typeface="Consolas"/>
                <a:ea typeface="Consolas"/>
              </a:rPr>
              <a:t>(t) + </a:t>
            </a:r>
            <a:r>
              <a:rPr b="0" lang="en-US" sz="1400" spc="-1" strike="noStrike">
                <a:solidFill>
                  <a:srgbClr val="1750eb"/>
                </a:solidFill>
                <a:latin typeface="Consolas"/>
                <a:ea typeface="Consolas"/>
              </a:rPr>
              <a:t>0.5</a:t>
            </a:r>
            <a:r>
              <a:rPr b="0" lang="en-US" sz="1400" spc="-1" strike="noStrike">
                <a:solidFill>
                  <a:srgbClr val="111111"/>
                </a:solidFill>
                <a:latin typeface="Consolas"/>
                <a:ea typeface="Consolas"/>
              </a:rPr>
              <a:t>) / (</a:t>
            </a:r>
            <a:r>
              <a:rPr b="0" lang="en-US" sz="1400" spc="-1" strike="noStrike">
                <a:solidFill>
                  <a:srgbClr val="00627a"/>
                </a:solidFill>
                <a:latin typeface="Consolas"/>
                <a:ea typeface="Consolas"/>
              </a:rPr>
              <a:t>n</a:t>
            </a:r>
            <a:r>
              <a:rPr b="0" lang="en-US" sz="1400" spc="-1" strike="noStrike">
                <a:solidFill>
                  <a:srgbClr val="111111"/>
                </a:solidFill>
                <a:latin typeface="Consolas"/>
                <a:ea typeface="Consolas"/>
              </a:rPr>
              <a:t>(t) + </a:t>
            </a:r>
            <a:r>
              <a:rPr b="0" lang="en-US" sz="1400" spc="-1" strike="noStrike">
                <a:solidFill>
                  <a:srgbClr val="1750eb"/>
                </a:solidFill>
                <a:latin typeface="Consolas"/>
                <a:ea typeface="Consolas"/>
              </a:rPr>
              <a:t>0.5</a:t>
            </a:r>
            <a:r>
              <a:rPr b="0" lang="en-US" sz="1400" spc="-1" strike="noStrike">
                <a:solidFill>
                  <a:srgbClr val="111111"/>
                </a:solidFill>
                <a:latin typeface="Consolas"/>
                <a:ea typeface="Consolas"/>
              </a:rPr>
              <a:t>) 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11111"/>
                </a:solidFill>
                <a:latin typeface="Consolas"/>
                <a:ea typeface="Consolas"/>
              </a:rPr>
              <a:t> 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11111"/>
                </a:solidFill>
                <a:latin typeface="Consolas"/>
                <a:ea typeface="Consolas"/>
              </a:rPr>
              <a:t>k1 = </a:t>
            </a:r>
            <a:r>
              <a:rPr b="0" lang="en-US" sz="1400" spc="-1" strike="noStrike">
                <a:solidFill>
                  <a:srgbClr val="1750eb"/>
                </a:solidFill>
                <a:latin typeface="Consolas"/>
                <a:ea typeface="Consolas"/>
              </a:rPr>
              <a:t>1.5</a:t>
            </a:r>
            <a:r>
              <a:rPr b="0" lang="en-US" sz="1400" spc="-1" strike="noStrike">
                <a:solidFill>
                  <a:srgbClr val="111111"/>
                </a:solidFill>
                <a:latin typeface="Consolas"/>
                <a:ea typeface="Consolas"/>
              </a:rPr>
              <a:t>  (term-frequency saturation)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11111"/>
                </a:solidFill>
                <a:latin typeface="Consolas"/>
                <a:ea typeface="Consolas"/>
              </a:rPr>
              <a:t>b  = </a:t>
            </a:r>
            <a:r>
              <a:rPr b="0" lang="en-US" sz="1400" spc="-1" strike="noStrike">
                <a:solidFill>
                  <a:srgbClr val="1750eb"/>
                </a:solidFill>
                <a:latin typeface="Consolas"/>
                <a:ea typeface="Consolas"/>
              </a:rPr>
              <a:t>0.75</a:t>
            </a:r>
            <a:r>
              <a:rPr b="0" lang="en-US" sz="1400" spc="-1" strike="noStrike">
                <a:solidFill>
                  <a:srgbClr val="111111"/>
                </a:solidFill>
                <a:latin typeface="Consolas"/>
                <a:ea typeface="Consolas"/>
              </a:rPr>
              <a:t> (length normalisation)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0"/>
          <p:cNvSpPr/>
          <p:nvPr/>
        </p:nvSpPr>
        <p:spPr>
          <a:xfrm>
            <a:off x="548640" y="411480"/>
            <a:ext cx="8046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11111"/>
                </a:solidFill>
                <a:latin typeface="Calibri"/>
                <a:ea typeface="Calibri"/>
              </a:rPr>
              <a:t>BM25 — Inverted Index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Text 1"/>
          <p:cNvSpPr/>
          <p:nvPr/>
        </p:nvSpPr>
        <p:spPr>
          <a:xfrm>
            <a:off x="548640" y="1417320"/>
            <a:ext cx="8046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900" spc="-1" strike="noStrike">
                <a:solidFill>
                  <a:srgbClr val="111111"/>
                </a:solidFill>
                <a:latin typeface="Calibri"/>
                <a:ea typeface="Calibri"/>
              </a:rPr>
              <a:t>Built once at startup: a hash map from term to the documents that contain it.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Shape 2"/>
          <p:cNvSpPr/>
          <p:nvPr/>
        </p:nvSpPr>
        <p:spPr>
          <a:xfrm>
            <a:off x="548640" y="2240280"/>
            <a:ext cx="8046360" cy="2011320"/>
          </a:xfrm>
          <a:prstGeom prst="rect">
            <a:avLst/>
          </a:prstGeom>
          <a:solidFill>
            <a:srgbClr val="f6f7f9"/>
          </a:solidFill>
          <a:ln w="12700">
            <a:solidFill>
              <a:srgbClr val="e4e6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 3"/>
          <p:cNvSpPr/>
          <p:nvPr/>
        </p:nvSpPr>
        <p:spPr>
          <a:xfrm>
            <a:off x="713160" y="2350080"/>
            <a:ext cx="7717320" cy="179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6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8c8c8c"/>
                </a:solidFill>
                <a:latin typeface="Consolas"/>
                <a:ea typeface="Consolas"/>
              </a:rPr>
              <a:t># index: term -&gt; {doc_id: term_frequency}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33b3"/>
                </a:solidFill>
                <a:latin typeface="Consolas"/>
                <a:ea typeface="Consolas"/>
              </a:rPr>
              <a:t>for</a:t>
            </a:r>
            <a:r>
              <a:rPr b="0" lang="en-US" sz="1400" spc="-1" strike="noStrike">
                <a:solidFill>
                  <a:srgbClr val="111111"/>
                </a:solidFill>
                <a:latin typeface="Consolas"/>
                <a:ea typeface="Consolas"/>
              </a:rPr>
              <a:t> doc_id, text </a:t>
            </a:r>
            <a:r>
              <a:rPr b="0" lang="en-US" sz="1400" spc="-1" strike="noStrike">
                <a:solidFill>
                  <a:srgbClr val="0033b3"/>
                </a:solidFill>
                <a:latin typeface="Consolas"/>
                <a:ea typeface="Consolas"/>
              </a:rPr>
              <a:t>in</a:t>
            </a:r>
            <a:r>
              <a:rPr b="0" lang="en-US" sz="1400" spc="-1" strike="noStrike">
                <a:solidFill>
                  <a:srgbClr val="111111"/>
                </a:solidFill>
                <a:latin typeface="Consolas"/>
                <a:ea typeface="Consolas"/>
              </a:rPr>
              <a:t> </a:t>
            </a:r>
            <a:r>
              <a:rPr b="0" lang="en-US" sz="1400" spc="-1" strike="noStrike">
                <a:solidFill>
                  <a:srgbClr val="00627a"/>
                </a:solidFill>
                <a:latin typeface="Consolas"/>
                <a:ea typeface="Consolas"/>
              </a:rPr>
              <a:t>enumerate</a:t>
            </a:r>
            <a:r>
              <a:rPr b="0" lang="en-US" sz="1400" spc="-1" strike="noStrike">
                <a:solidFill>
                  <a:srgbClr val="111111"/>
                </a:solidFill>
                <a:latin typeface="Consolas"/>
                <a:ea typeface="Consolas"/>
              </a:rPr>
              <a:t>(docs):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11111"/>
                </a:solidFill>
                <a:latin typeface="Consolas"/>
                <a:ea typeface="Consolas"/>
              </a:rPr>
              <a:t>    </a:t>
            </a:r>
            <a:r>
              <a:rPr b="0" lang="en-US" sz="1400" spc="-1" strike="noStrike">
                <a:solidFill>
                  <a:srgbClr val="0033b3"/>
                </a:solidFill>
                <a:latin typeface="Consolas"/>
                <a:ea typeface="Consolas"/>
              </a:rPr>
              <a:t>for</a:t>
            </a:r>
            <a:r>
              <a:rPr b="0" lang="en-US" sz="1400" spc="-1" strike="noStrike">
                <a:solidFill>
                  <a:srgbClr val="111111"/>
                </a:solidFill>
                <a:latin typeface="Consolas"/>
                <a:ea typeface="Consolas"/>
              </a:rPr>
              <a:t> tok </a:t>
            </a:r>
            <a:r>
              <a:rPr b="0" lang="en-US" sz="1400" spc="-1" strike="noStrike">
                <a:solidFill>
                  <a:srgbClr val="0033b3"/>
                </a:solidFill>
                <a:latin typeface="Consolas"/>
                <a:ea typeface="Consolas"/>
              </a:rPr>
              <a:t>in</a:t>
            </a:r>
            <a:r>
              <a:rPr b="0" lang="en-US" sz="1400" spc="-1" strike="noStrike">
                <a:solidFill>
                  <a:srgbClr val="111111"/>
                </a:solidFill>
                <a:latin typeface="Consolas"/>
                <a:ea typeface="Consolas"/>
              </a:rPr>
              <a:t> </a:t>
            </a:r>
            <a:r>
              <a:rPr b="0" lang="en-US" sz="1400" spc="-1" strike="noStrike">
                <a:solidFill>
                  <a:srgbClr val="00627a"/>
                </a:solidFill>
                <a:latin typeface="Consolas"/>
                <a:ea typeface="Consolas"/>
              </a:rPr>
              <a:t>tokenize</a:t>
            </a:r>
            <a:r>
              <a:rPr b="0" lang="en-US" sz="1400" spc="-1" strike="noStrike">
                <a:solidFill>
                  <a:srgbClr val="111111"/>
                </a:solidFill>
                <a:latin typeface="Consolas"/>
                <a:ea typeface="Consolas"/>
              </a:rPr>
              <a:t>(text):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11111"/>
                </a:solidFill>
                <a:latin typeface="Consolas"/>
                <a:ea typeface="Consolas"/>
              </a:rPr>
              <a:t>        </a:t>
            </a:r>
            <a:r>
              <a:rPr b="0" lang="en-US" sz="1400" spc="-1" strike="noStrike">
                <a:solidFill>
                  <a:srgbClr val="111111"/>
                </a:solidFill>
                <a:latin typeface="Consolas"/>
                <a:ea typeface="Consolas"/>
              </a:rPr>
              <a:t>postings = index.</a:t>
            </a:r>
            <a:r>
              <a:rPr b="0" lang="en-US" sz="1400" spc="-1" strike="noStrike">
                <a:solidFill>
                  <a:srgbClr val="00627a"/>
                </a:solidFill>
                <a:latin typeface="Consolas"/>
                <a:ea typeface="Consolas"/>
              </a:rPr>
              <a:t>setdefault</a:t>
            </a:r>
            <a:r>
              <a:rPr b="0" lang="en-US" sz="1400" spc="-1" strike="noStrike">
                <a:solidFill>
                  <a:srgbClr val="111111"/>
                </a:solidFill>
                <a:latin typeface="Consolas"/>
                <a:ea typeface="Consolas"/>
              </a:rPr>
              <a:t>(tok, {})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11111"/>
                </a:solidFill>
                <a:latin typeface="Consolas"/>
                <a:ea typeface="Consolas"/>
              </a:rPr>
              <a:t>        </a:t>
            </a:r>
            <a:r>
              <a:rPr b="0" lang="en-US" sz="1400" spc="-1" strike="noStrike">
                <a:solidFill>
                  <a:srgbClr val="111111"/>
                </a:solidFill>
                <a:latin typeface="Consolas"/>
                <a:ea typeface="Consolas"/>
              </a:rPr>
              <a:t>postings[doc_id] = postings.</a:t>
            </a:r>
            <a:r>
              <a:rPr b="0" lang="en-US" sz="1400" spc="-1" strike="noStrike">
                <a:solidFill>
                  <a:srgbClr val="00627a"/>
                </a:solidFill>
                <a:latin typeface="Consolas"/>
                <a:ea typeface="Consolas"/>
              </a:rPr>
              <a:t>get</a:t>
            </a:r>
            <a:r>
              <a:rPr b="0" lang="en-US" sz="1400" spc="-1" strike="noStrike">
                <a:solidFill>
                  <a:srgbClr val="111111"/>
                </a:solidFill>
                <a:latin typeface="Consolas"/>
                <a:ea typeface="Consolas"/>
              </a:rPr>
              <a:t>(doc_id, </a:t>
            </a:r>
            <a:r>
              <a:rPr b="0" lang="en-US" sz="1400" spc="-1" strike="noStrike">
                <a:solidFill>
                  <a:srgbClr val="1750eb"/>
                </a:solidFill>
                <a:latin typeface="Consolas"/>
                <a:ea typeface="Consolas"/>
              </a:rPr>
              <a:t>0</a:t>
            </a:r>
            <a:r>
              <a:rPr b="0" lang="en-US" sz="1400" spc="-1" strike="noStrike">
                <a:solidFill>
                  <a:srgbClr val="111111"/>
                </a:solidFill>
                <a:latin typeface="Consolas"/>
                <a:ea typeface="Consolas"/>
              </a:rPr>
              <a:t>) + </a:t>
            </a:r>
            <a:r>
              <a:rPr b="0" lang="en-US" sz="1400" spc="-1" strike="noStrike">
                <a:solidFill>
                  <a:srgbClr val="1750eb"/>
                </a:solidFill>
                <a:latin typeface="Consolas"/>
                <a:ea typeface="Consolas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0"/>
          <p:cNvSpPr/>
          <p:nvPr/>
        </p:nvSpPr>
        <p:spPr>
          <a:xfrm>
            <a:off x="548640" y="411480"/>
            <a:ext cx="8046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11111"/>
                </a:solidFill>
                <a:latin typeface="Calibri"/>
                <a:ea typeface="Calibri"/>
              </a:rPr>
              <a:t>BM25 — Complexity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Text 1"/>
          <p:cNvSpPr/>
          <p:nvPr/>
        </p:nvSpPr>
        <p:spPr>
          <a:xfrm>
            <a:off x="548640" y="1417320"/>
            <a:ext cx="804636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900" spc="-1" strike="noStrike">
                <a:solidFill>
                  <a:srgbClr val="111111"/>
                </a:solidFill>
                <a:latin typeface="Calibri"/>
                <a:ea typeface="Calibri"/>
              </a:rPr>
              <a:t>Build the index:  O(N)  — one pass over all tokens.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900" spc="-1" strike="noStrike">
                <a:solidFill>
                  <a:srgbClr val="111111"/>
                </a:solidFill>
                <a:latin typeface="Calibri"/>
                <a:ea typeface="Calibri"/>
              </a:rPr>
              <a:t>Answer a query:   O(|Q| · P)  — query terms × postings length.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900" spc="-1" strike="noStrike">
                <a:solidFill>
                  <a:srgbClr val="111111"/>
                </a:solidFill>
                <a:latin typeface="Calibri"/>
                <a:ea typeface="Calibri"/>
              </a:rPr>
              <a:t>Why a hash map? O(1) average lookup, and we never need terms in sorted order — a tree would add a log factor for nothing.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900" spc="-1" strike="noStrike">
                <a:solidFill>
                  <a:srgbClr val="111111"/>
                </a:solidFill>
                <a:latin typeface="Calibri"/>
                <a:ea typeface="Calibri"/>
              </a:rPr>
              <a:t>Strength: precise on correct spelling.  Weakness: a typo is an unknown word it cannot match.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0"/>
          <p:cNvSpPr/>
          <p:nvPr/>
        </p:nvSpPr>
        <p:spPr>
          <a:xfrm>
            <a:off x="548640" y="411480"/>
            <a:ext cx="8046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11111"/>
                </a:solidFill>
                <a:latin typeface="Calibri"/>
                <a:ea typeface="Calibri"/>
              </a:rPr>
              <a:t>Algorithm 2 — Char-Trigram Overlap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 1"/>
          <p:cNvSpPr/>
          <p:nvPr/>
        </p:nvSpPr>
        <p:spPr>
          <a:xfrm>
            <a:off x="548640" y="1417320"/>
            <a:ext cx="804636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900" spc="-1" strike="noStrike">
                <a:solidFill>
                  <a:srgbClr val="111111"/>
                </a:solidFill>
                <a:latin typeface="Calibri"/>
                <a:ea typeface="Calibri"/>
              </a:rPr>
              <a:t>A fuzzy ranker. Each text becomes a set of overlapping 3-character chunks; the score is how many of the query's chunks the document shares.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0"/>
          <p:cNvSpPr/>
          <p:nvPr/>
        </p:nvSpPr>
        <p:spPr>
          <a:xfrm>
            <a:off x="548640" y="411480"/>
            <a:ext cx="8046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11111"/>
                </a:solidFill>
                <a:latin typeface="Calibri"/>
                <a:ea typeface="Calibri"/>
              </a:rPr>
              <a:t>Trigrams — How It Works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Shape 1"/>
          <p:cNvSpPr/>
          <p:nvPr/>
        </p:nvSpPr>
        <p:spPr>
          <a:xfrm>
            <a:off x="548640" y="1463040"/>
            <a:ext cx="8046360" cy="2834280"/>
          </a:xfrm>
          <a:prstGeom prst="rect">
            <a:avLst/>
          </a:prstGeom>
          <a:solidFill>
            <a:srgbClr val="f6f7f9"/>
          </a:solidFill>
          <a:ln w="12700">
            <a:solidFill>
              <a:srgbClr val="e4e6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 2"/>
          <p:cNvSpPr/>
          <p:nvPr/>
        </p:nvSpPr>
        <p:spPr>
          <a:xfrm>
            <a:off x="713160" y="1572840"/>
            <a:ext cx="7717320" cy="261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6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0033b3"/>
                </a:solidFill>
                <a:latin typeface="Consolas"/>
                <a:ea typeface="Consolas"/>
              </a:rPr>
              <a:t>def</a:t>
            </a:r>
            <a:r>
              <a:rPr b="0" lang="en-US" sz="1450" spc="-1" strike="noStrike">
                <a:solidFill>
                  <a:srgbClr val="111111"/>
                </a:solidFill>
                <a:latin typeface="Consolas"/>
                <a:ea typeface="Consolas"/>
              </a:rPr>
              <a:t> </a:t>
            </a:r>
            <a:r>
              <a:rPr b="0" lang="en-US" sz="1450" spc="-1" strike="noStrike">
                <a:solidFill>
                  <a:srgbClr val="00627a"/>
                </a:solidFill>
                <a:latin typeface="Consolas"/>
                <a:ea typeface="Consolas"/>
              </a:rPr>
              <a:t>trigrams</a:t>
            </a:r>
            <a:r>
              <a:rPr b="0" lang="en-US" sz="1450" spc="-1" strike="noStrike">
                <a:solidFill>
                  <a:srgbClr val="111111"/>
                </a:solidFill>
                <a:latin typeface="Consolas"/>
                <a:ea typeface="Consolas"/>
              </a:rPr>
              <a:t>(text):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111111"/>
                </a:solidFill>
                <a:latin typeface="Consolas"/>
                <a:ea typeface="Consolas"/>
              </a:rPr>
              <a:t>    </a:t>
            </a:r>
            <a:r>
              <a:rPr b="0" lang="en-US" sz="1450" spc="-1" strike="noStrike">
                <a:solidFill>
                  <a:srgbClr val="111111"/>
                </a:solidFill>
                <a:latin typeface="Consolas"/>
                <a:ea typeface="Consolas"/>
              </a:rPr>
              <a:t>t = text.</a:t>
            </a:r>
            <a:r>
              <a:rPr b="0" lang="en-US" sz="1450" spc="-1" strike="noStrike">
                <a:solidFill>
                  <a:srgbClr val="00627a"/>
                </a:solidFill>
                <a:latin typeface="Consolas"/>
                <a:ea typeface="Consolas"/>
              </a:rPr>
              <a:t>lower</a:t>
            </a:r>
            <a:r>
              <a:rPr b="0" lang="en-US" sz="1450" spc="-1" strike="noStrike">
                <a:solidFill>
                  <a:srgbClr val="111111"/>
                </a:solidFill>
                <a:latin typeface="Consolas"/>
                <a:ea typeface="Consolas"/>
              </a:rPr>
              <a:t>()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111111"/>
                </a:solidFill>
                <a:latin typeface="Consolas"/>
                <a:ea typeface="Consolas"/>
              </a:rPr>
              <a:t>    </a:t>
            </a:r>
            <a:r>
              <a:rPr b="0" lang="en-US" sz="1450" spc="-1" strike="noStrike">
                <a:solidFill>
                  <a:srgbClr val="0033b3"/>
                </a:solidFill>
                <a:latin typeface="Consolas"/>
                <a:ea typeface="Consolas"/>
              </a:rPr>
              <a:t>return</a:t>
            </a:r>
            <a:r>
              <a:rPr b="0" lang="en-US" sz="1450" spc="-1" strike="noStrike">
                <a:solidFill>
                  <a:srgbClr val="111111"/>
                </a:solidFill>
                <a:latin typeface="Consolas"/>
                <a:ea typeface="Consolas"/>
              </a:rPr>
              <a:t> {t[i:i+</a:t>
            </a:r>
            <a:r>
              <a:rPr b="0" lang="en-US" sz="1450" spc="-1" strike="noStrike">
                <a:solidFill>
                  <a:srgbClr val="1750eb"/>
                </a:solidFill>
                <a:latin typeface="Consolas"/>
                <a:ea typeface="Consolas"/>
              </a:rPr>
              <a:t>3</a:t>
            </a:r>
            <a:r>
              <a:rPr b="0" lang="en-US" sz="1450" spc="-1" strike="noStrike">
                <a:solidFill>
                  <a:srgbClr val="111111"/>
                </a:solidFill>
                <a:latin typeface="Consolas"/>
                <a:ea typeface="Consolas"/>
              </a:rPr>
              <a:t>] </a:t>
            </a:r>
            <a:r>
              <a:rPr b="0" lang="en-US" sz="1450" spc="-1" strike="noStrike">
                <a:solidFill>
                  <a:srgbClr val="0033b3"/>
                </a:solidFill>
                <a:latin typeface="Consolas"/>
                <a:ea typeface="Consolas"/>
              </a:rPr>
              <a:t>for</a:t>
            </a:r>
            <a:r>
              <a:rPr b="0" lang="en-US" sz="1450" spc="-1" strike="noStrike">
                <a:solidFill>
                  <a:srgbClr val="111111"/>
                </a:solidFill>
                <a:latin typeface="Consolas"/>
                <a:ea typeface="Consolas"/>
              </a:rPr>
              <a:t> i </a:t>
            </a:r>
            <a:r>
              <a:rPr b="0" lang="en-US" sz="1450" spc="-1" strike="noStrike">
                <a:solidFill>
                  <a:srgbClr val="0033b3"/>
                </a:solidFill>
                <a:latin typeface="Consolas"/>
                <a:ea typeface="Consolas"/>
              </a:rPr>
              <a:t>in</a:t>
            </a:r>
            <a:r>
              <a:rPr b="0" lang="en-US" sz="1450" spc="-1" strike="noStrike">
                <a:solidFill>
                  <a:srgbClr val="111111"/>
                </a:solidFill>
                <a:latin typeface="Consolas"/>
                <a:ea typeface="Consolas"/>
              </a:rPr>
              <a:t> </a:t>
            </a:r>
            <a:r>
              <a:rPr b="0" lang="en-US" sz="1450" spc="-1" strike="noStrike">
                <a:solidFill>
                  <a:srgbClr val="00627a"/>
                </a:solidFill>
                <a:latin typeface="Consolas"/>
                <a:ea typeface="Consolas"/>
              </a:rPr>
              <a:t>range</a:t>
            </a:r>
            <a:r>
              <a:rPr b="0" lang="en-US" sz="1450" spc="-1" strike="noStrike">
                <a:solidFill>
                  <a:srgbClr val="111111"/>
                </a:solidFill>
                <a:latin typeface="Consolas"/>
                <a:ea typeface="Consolas"/>
              </a:rPr>
              <a:t>(</a:t>
            </a:r>
            <a:r>
              <a:rPr b="0" lang="en-US" sz="1450" spc="-1" strike="noStrike">
                <a:solidFill>
                  <a:srgbClr val="00627a"/>
                </a:solidFill>
                <a:latin typeface="Consolas"/>
                <a:ea typeface="Consolas"/>
              </a:rPr>
              <a:t>len</a:t>
            </a:r>
            <a:r>
              <a:rPr b="0" lang="en-US" sz="1450" spc="-1" strike="noStrike">
                <a:solidFill>
                  <a:srgbClr val="111111"/>
                </a:solidFill>
                <a:latin typeface="Consolas"/>
                <a:ea typeface="Consolas"/>
              </a:rPr>
              <a:t>(t) - </a:t>
            </a:r>
            <a:r>
              <a:rPr b="0" lang="en-US" sz="1450" spc="-1" strike="noStrike">
                <a:solidFill>
                  <a:srgbClr val="1750eb"/>
                </a:solidFill>
                <a:latin typeface="Consolas"/>
                <a:ea typeface="Consolas"/>
              </a:rPr>
              <a:t>2</a:t>
            </a:r>
            <a:r>
              <a:rPr b="0" lang="en-US" sz="1450" spc="-1" strike="noStrike">
                <a:solidFill>
                  <a:srgbClr val="111111"/>
                </a:solidFill>
                <a:latin typeface="Consolas"/>
                <a:ea typeface="Consolas"/>
              </a:rPr>
              <a:t>)}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111111"/>
                </a:solidFill>
                <a:latin typeface="Consolas"/>
                <a:ea typeface="Consolas"/>
              </a:rPr>
              <a:t> 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8c8c8c"/>
                </a:solidFill>
                <a:latin typeface="Consolas"/>
                <a:ea typeface="Consolas"/>
              </a:rPr>
              <a:t># "apollo" -&gt; {'apo', 'pol', 'oll', 'llo'}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8c8c8c"/>
                </a:solidFill>
                <a:latin typeface="Consolas"/>
                <a:ea typeface="Consolas"/>
              </a:rPr>
              <a:t># a typo only breaks one or two chunks,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8c8c8c"/>
                </a:solidFill>
                <a:latin typeface="Consolas"/>
                <a:ea typeface="Consolas"/>
              </a:rPr>
              <a:t># so 'apolo' still overlaps heavily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0"/>
          <p:cNvSpPr/>
          <p:nvPr/>
        </p:nvSpPr>
        <p:spPr>
          <a:xfrm>
            <a:off x="548640" y="411480"/>
            <a:ext cx="8046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11111"/>
                </a:solidFill>
                <a:latin typeface="Calibri"/>
                <a:ea typeface="Calibri"/>
              </a:rPr>
              <a:t>Trigrams — Score &amp; Honest Limit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1"/>
          <p:cNvSpPr/>
          <p:nvPr/>
        </p:nvSpPr>
        <p:spPr>
          <a:xfrm>
            <a:off x="548640" y="1417320"/>
            <a:ext cx="8046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900" spc="-1" strike="noStrike">
                <a:solidFill>
                  <a:srgbClr val="111111"/>
                </a:solidFill>
                <a:latin typeface="Calibri"/>
                <a:ea typeface="Calibri"/>
              </a:rPr>
              <a:t>score(q,d) = | T(q) ∩ T(d) |  /  | T(q) |        (between 0 and 1)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2"/>
          <p:cNvSpPr/>
          <p:nvPr/>
        </p:nvSpPr>
        <p:spPr>
          <a:xfrm>
            <a:off x="548640" y="2286000"/>
            <a:ext cx="804636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900" spc="-1" strike="noStrike">
                <a:solidFill>
                  <a:srgbClr val="111111"/>
                </a:solidFill>
                <a:latin typeface="Calibri"/>
                <a:ea typeface="Calibri"/>
              </a:rPr>
              <a:t>This gives typo / fuzzy tolerance — not meaning. For a full sentence, common chunks like "the" appear everywhere and drown out the rare ones. So we use it specifically as a fuzzy safety net.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0"/>
          <p:cNvSpPr/>
          <p:nvPr/>
        </p:nvSpPr>
        <p:spPr>
          <a:xfrm>
            <a:off x="548640" y="411480"/>
            <a:ext cx="8046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11111"/>
                </a:solidFill>
                <a:latin typeface="Calibri"/>
                <a:ea typeface="Calibri"/>
              </a:rPr>
              <a:t>Trigrams — Complexity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1"/>
          <p:cNvSpPr/>
          <p:nvPr/>
        </p:nvSpPr>
        <p:spPr>
          <a:xfrm>
            <a:off x="548640" y="1417320"/>
            <a:ext cx="804636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900" spc="-1" strike="noStrike">
                <a:solidFill>
                  <a:srgbClr val="111111"/>
                </a:solidFill>
                <a:latin typeface="Calibri"/>
                <a:ea typeface="Calibri"/>
              </a:rPr>
              <a:t>Per query:  O(D · L)  — it rebuilds a trigram set for every document, every query.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900" spc="-1" strike="noStrike">
                <a:solidFill>
                  <a:srgbClr val="111111"/>
                </a:solidFill>
                <a:latin typeface="Calibri"/>
                <a:ea typeface="Calibri"/>
              </a:rPr>
              <a:t>Why a set? The intersection is the hot loop: set intersection is about O(min size), where two lists would be quadratic.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900" spc="-1" strike="noStrike">
                <a:solidFill>
                  <a:srgbClr val="111111"/>
                </a:solidFill>
                <a:latin typeface="Calibri"/>
                <a:ea typeface="Calibri"/>
              </a:rPr>
              <a:t>This stage is our bottleneck.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0"/>
          <p:cNvSpPr/>
          <p:nvPr/>
        </p:nvSpPr>
        <p:spPr>
          <a:xfrm>
            <a:off x="548640" y="411480"/>
            <a:ext cx="8046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11111"/>
                </a:solidFill>
                <a:latin typeface="Calibri"/>
                <a:ea typeface="Calibri"/>
              </a:rPr>
              <a:t>Algorithm 3 — Reciprocal Rank Fusion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 1"/>
          <p:cNvSpPr/>
          <p:nvPr/>
        </p:nvSpPr>
        <p:spPr>
          <a:xfrm>
            <a:off x="548640" y="1417320"/>
            <a:ext cx="804636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900" spc="-1" strike="noStrike">
                <a:solidFill>
                  <a:srgbClr val="111111"/>
                </a:solidFill>
                <a:latin typeface="Calibri"/>
                <a:ea typeface="Calibri"/>
              </a:rPr>
              <a:t>BM25 scores are unbounded; trigram scores live in [0,1]. Adding them is meaningless. RRF ignores the scores and uses only rank position, which is scale-free.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0"/>
          <p:cNvSpPr/>
          <p:nvPr/>
        </p:nvSpPr>
        <p:spPr>
          <a:xfrm>
            <a:off x="548640" y="411480"/>
            <a:ext cx="8046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11111"/>
                </a:solidFill>
                <a:latin typeface="Calibri"/>
                <a:ea typeface="Calibri"/>
              </a:rPr>
              <a:t>RRF — The Formula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Shape 1"/>
          <p:cNvSpPr/>
          <p:nvPr/>
        </p:nvSpPr>
        <p:spPr>
          <a:xfrm>
            <a:off x="548640" y="1463040"/>
            <a:ext cx="8046360" cy="3108600"/>
          </a:xfrm>
          <a:prstGeom prst="rect">
            <a:avLst/>
          </a:prstGeom>
          <a:solidFill>
            <a:srgbClr val="f6f7f9"/>
          </a:solidFill>
          <a:ln w="12700">
            <a:solidFill>
              <a:srgbClr val="e4e6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2"/>
          <p:cNvSpPr/>
          <p:nvPr/>
        </p:nvSpPr>
        <p:spPr>
          <a:xfrm>
            <a:off x="713160" y="1572840"/>
            <a:ext cx="7717320" cy="28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6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627a"/>
                </a:solidFill>
                <a:latin typeface="Consolas"/>
                <a:ea typeface="Consolas"/>
              </a:rPr>
              <a:t>RRF</a:t>
            </a:r>
            <a:r>
              <a:rPr b="0" lang="en-US" sz="1400" spc="-1" strike="noStrike">
                <a:solidFill>
                  <a:srgbClr val="111111"/>
                </a:solidFill>
                <a:latin typeface="Consolas"/>
                <a:ea typeface="Consolas"/>
              </a:rPr>
              <a:t>(d) = Σ   </a:t>
            </a:r>
            <a:r>
              <a:rPr b="0" lang="en-US" sz="1400" spc="-1" strike="noStrike">
                <a:solidFill>
                  <a:srgbClr val="1750eb"/>
                </a:solidFill>
                <a:latin typeface="Consolas"/>
                <a:ea typeface="Consolas"/>
              </a:rPr>
              <a:t>1</a:t>
            </a:r>
            <a:r>
              <a:rPr b="0" lang="en-US" sz="1400" spc="-1" strike="noStrike">
                <a:solidFill>
                  <a:srgbClr val="111111"/>
                </a:solidFill>
                <a:latin typeface="Consolas"/>
                <a:ea typeface="Consolas"/>
              </a:rPr>
              <a:t> / (rrf_k + </a:t>
            </a:r>
            <a:r>
              <a:rPr b="0" lang="en-US" sz="1400" spc="-1" strike="noStrike">
                <a:solidFill>
                  <a:srgbClr val="00627a"/>
                </a:solidFill>
                <a:latin typeface="Consolas"/>
                <a:ea typeface="Consolas"/>
              </a:rPr>
              <a:t>rank_i</a:t>
            </a:r>
            <a:r>
              <a:rPr b="0" lang="en-US" sz="1400" spc="-1" strike="noStrike">
                <a:solidFill>
                  <a:srgbClr val="111111"/>
                </a:solidFill>
                <a:latin typeface="Consolas"/>
                <a:ea typeface="Consolas"/>
              </a:rPr>
              <a:t>(d) + </a:t>
            </a:r>
            <a:r>
              <a:rPr b="0" lang="en-US" sz="1400" spc="-1" strike="noStrike">
                <a:solidFill>
                  <a:srgbClr val="1750eb"/>
                </a:solidFill>
                <a:latin typeface="Consolas"/>
                <a:ea typeface="Consolas"/>
              </a:rPr>
              <a:t>1</a:t>
            </a:r>
            <a:r>
              <a:rPr b="0" lang="en-US" sz="1400" spc="-1" strike="noStrike">
                <a:solidFill>
                  <a:srgbClr val="111111"/>
                </a:solidFill>
                <a:latin typeface="Consolas"/>
                <a:ea typeface="Consolas"/>
              </a:rPr>
              <a:t>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11111"/>
                </a:solidFill>
                <a:latin typeface="Consolas"/>
                <a:ea typeface="Consolas"/>
              </a:rPr>
              <a:t>         </a:t>
            </a:r>
            <a:r>
              <a:rPr b="0" lang="en-US" sz="1400" spc="-1" strike="noStrike">
                <a:solidFill>
                  <a:srgbClr val="111111"/>
                </a:solidFill>
                <a:latin typeface="Consolas"/>
                <a:ea typeface="Consolas"/>
              </a:rPr>
              <a:t>lists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11111"/>
                </a:solidFill>
                <a:latin typeface="Consolas"/>
                <a:ea typeface="Consolas"/>
              </a:rPr>
              <a:t> 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8c8c8c"/>
                </a:solidFill>
                <a:latin typeface="Consolas"/>
                <a:ea typeface="Consolas"/>
              </a:rPr>
              <a:t># rrf_k = 60   (default from the RRF paper)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8c8c8c"/>
                </a:solidFill>
                <a:latin typeface="Consolas"/>
                <a:ea typeface="Consolas"/>
              </a:rPr>
              <a:t># rank is 0-indexed; a doc missing from 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8c8c8c"/>
                </a:solidFill>
                <a:latin typeface="Consolas"/>
                <a:ea typeface="Consolas"/>
              </a:rPr>
              <a:t># list simply contributes nothing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11111"/>
                </a:solidFill>
                <a:latin typeface="Consolas"/>
                <a:ea typeface="Consolas"/>
              </a:rPr>
              <a:t> 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33b3"/>
                </a:solidFill>
                <a:latin typeface="Consolas"/>
                <a:ea typeface="Consolas"/>
              </a:rPr>
              <a:t>for</a:t>
            </a:r>
            <a:r>
              <a:rPr b="0" lang="en-US" sz="1400" spc="-1" strike="noStrike">
                <a:solidFill>
                  <a:srgbClr val="111111"/>
                </a:solidFill>
                <a:latin typeface="Consolas"/>
                <a:ea typeface="Consolas"/>
              </a:rPr>
              <a:t> rank, (doc_id, _) </a:t>
            </a:r>
            <a:r>
              <a:rPr b="0" lang="en-US" sz="1400" spc="-1" strike="noStrike">
                <a:solidFill>
                  <a:srgbClr val="0033b3"/>
                </a:solidFill>
                <a:latin typeface="Consolas"/>
                <a:ea typeface="Consolas"/>
              </a:rPr>
              <a:t>in</a:t>
            </a:r>
            <a:r>
              <a:rPr b="0" lang="en-US" sz="1400" spc="-1" strike="noStrike">
                <a:solidFill>
                  <a:srgbClr val="111111"/>
                </a:solidFill>
                <a:latin typeface="Consolas"/>
                <a:ea typeface="Consolas"/>
              </a:rPr>
              <a:t> </a:t>
            </a:r>
            <a:r>
              <a:rPr b="0" lang="en-US" sz="1400" spc="-1" strike="noStrike">
                <a:solidFill>
                  <a:srgbClr val="00627a"/>
                </a:solidFill>
                <a:latin typeface="Consolas"/>
                <a:ea typeface="Consolas"/>
              </a:rPr>
              <a:t>enumerate</a:t>
            </a:r>
            <a:r>
              <a:rPr b="0" lang="en-US" sz="1400" spc="-1" strike="noStrike">
                <a:solidFill>
                  <a:srgbClr val="111111"/>
                </a:solidFill>
                <a:latin typeface="Consolas"/>
                <a:ea typeface="Consolas"/>
              </a:rPr>
              <a:t>(ranked):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11111"/>
                </a:solidFill>
                <a:latin typeface="Consolas"/>
                <a:ea typeface="Consolas"/>
              </a:rPr>
              <a:t>    </a:t>
            </a:r>
            <a:r>
              <a:rPr b="0" lang="en-US" sz="1400" spc="-1" strike="noStrike">
                <a:solidFill>
                  <a:srgbClr val="111111"/>
                </a:solidFill>
                <a:latin typeface="Consolas"/>
                <a:ea typeface="Consolas"/>
              </a:rPr>
              <a:t>scores[doc_id] += </a:t>
            </a:r>
            <a:r>
              <a:rPr b="0" lang="en-US" sz="1400" spc="-1" strike="noStrike">
                <a:solidFill>
                  <a:srgbClr val="1750eb"/>
                </a:solidFill>
                <a:latin typeface="Consolas"/>
                <a:ea typeface="Consolas"/>
              </a:rPr>
              <a:t>1.0</a:t>
            </a:r>
            <a:r>
              <a:rPr b="0" lang="en-US" sz="1400" spc="-1" strike="noStrike">
                <a:solidFill>
                  <a:srgbClr val="111111"/>
                </a:solidFill>
                <a:latin typeface="Consolas"/>
                <a:ea typeface="Consolas"/>
              </a:rPr>
              <a:t> / (rrf_k + rank + </a:t>
            </a:r>
            <a:r>
              <a:rPr b="0" lang="en-US" sz="1400" spc="-1" strike="noStrike">
                <a:solidFill>
                  <a:srgbClr val="1750eb"/>
                </a:solidFill>
                <a:latin typeface="Consolas"/>
                <a:ea typeface="Consolas"/>
              </a:rPr>
              <a:t>1</a:t>
            </a:r>
            <a:r>
              <a:rPr b="0" lang="en-US" sz="1400" spc="-1" strike="noStrike">
                <a:solidFill>
                  <a:srgbClr val="111111"/>
                </a:solidFill>
                <a:latin typeface="Consolas"/>
                <a:ea typeface="Consolas"/>
              </a:rPr>
              <a:t>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 0"/>
          <p:cNvSpPr/>
          <p:nvPr/>
        </p:nvSpPr>
        <p:spPr>
          <a:xfrm>
            <a:off x="548640" y="411480"/>
            <a:ext cx="8046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11111"/>
                </a:solidFill>
                <a:latin typeface="Calibri"/>
                <a:ea typeface="Calibri"/>
              </a:rPr>
              <a:t>RRF — Min-Heap Top-K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1"/>
          <p:cNvSpPr/>
          <p:nvPr/>
        </p:nvSpPr>
        <p:spPr>
          <a:xfrm>
            <a:off x="548640" y="1417320"/>
            <a:ext cx="8046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900" spc="-1" strike="noStrike">
                <a:solidFill>
                  <a:srgbClr val="111111"/>
                </a:solidFill>
                <a:latin typeface="Calibri"/>
                <a:ea typeface="Calibri"/>
              </a:rPr>
              <a:t>Keep only the best 3 with a size-k heap instead of sorting all 100.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Shape 2"/>
          <p:cNvSpPr/>
          <p:nvPr/>
        </p:nvSpPr>
        <p:spPr>
          <a:xfrm>
            <a:off x="548640" y="2240280"/>
            <a:ext cx="8046360" cy="1828440"/>
          </a:xfrm>
          <a:prstGeom prst="rect">
            <a:avLst/>
          </a:prstGeom>
          <a:solidFill>
            <a:srgbClr val="f6f7f9"/>
          </a:solidFill>
          <a:ln w="12700">
            <a:solidFill>
              <a:srgbClr val="e4e6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3"/>
          <p:cNvSpPr/>
          <p:nvPr/>
        </p:nvSpPr>
        <p:spPr>
          <a:xfrm>
            <a:off x="713160" y="2350080"/>
            <a:ext cx="7717320" cy="160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6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33b3"/>
                </a:solidFill>
                <a:latin typeface="Consolas"/>
                <a:ea typeface="Consolas"/>
              </a:rPr>
              <a:t>for</a:t>
            </a:r>
            <a:r>
              <a:rPr b="0" lang="en-US" sz="1400" spc="-1" strike="noStrike">
                <a:solidFill>
                  <a:srgbClr val="111111"/>
                </a:solidFill>
                <a:latin typeface="Consolas"/>
                <a:ea typeface="Consolas"/>
              </a:rPr>
              <a:t> doc_id, score </a:t>
            </a:r>
            <a:r>
              <a:rPr b="0" lang="en-US" sz="1400" spc="-1" strike="noStrike">
                <a:solidFill>
                  <a:srgbClr val="0033b3"/>
                </a:solidFill>
                <a:latin typeface="Consolas"/>
                <a:ea typeface="Consolas"/>
              </a:rPr>
              <a:t>in</a:t>
            </a:r>
            <a:r>
              <a:rPr b="0" lang="en-US" sz="1400" spc="-1" strike="noStrike">
                <a:solidFill>
                  <a:srgbClr val="111111"/>
                </a:solidFill>
                <a:latin typeface="Consolas"/>
                <a:ea typeface="Consolas"/>
              </a:rPr>
              <a:t> scores.</a:t>
            </a:r>
            <a:r>
              <a:rPr b="0" lang="en-US" sz="1400" spc="-1" strike="noStrike">
                <a:solidFill>
                  <a:srgbClr val="00627a"/>
                </a:solidFill>
                <a:latin typeface="Consolas"/>
                <a:ea typeface="Consolas"/>
              </a:rPr>
              <a:t>items</a:t>
            </a:r>
            <a:r>
              <a:rPr b="0" lang="en-US" sz="1400" spc="-1" strike="noStrike">
                <a:solidFill>
                  <a:srgbClr val="111111"/>
                </a:solidFill>
                <a:latin typeface="Consolas"/>
                <a:ea typeface="Consolas"/>
              </a:rPr>
              <a:t>():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11111"/>
                </a:solidFill>
                <a:latin typeface="Consolas"/>
                <a:ea typeface="Consolas"/>
              </a:rPr>
              <a:t>    </a:t>
            </a:r>
            <a:r>
              <a:rPr b="0" lang="en-US" sz="1400" spc="-1" strike="noStrike">
                <a:solidFill>
                  <a:srgbClr val="0033b3"/>
                </a:solidFill>
                <a:latin typeface="Consolas"/>
                <a:ea typeface="Consolas"/>
              </a:rPr>
              <a:t>if</a:t>
            </a:r>
            <a:r>
              <a:rPr b="0" lang="en-US" sz="1400" spc="-1" strike="noStrike">
                <a:solidFill>
                  <a:srgbClr val="111111"/>
                </a:solidFill>
                <a:latin typeface="Consolas"/>
                <a:ea typeface="Consolas"/>
              </a:rPr>
              <a:t> </a:t>
            </a:r>
            <a:r>
              <a:rPr b="0" lang="en-US" sz="1400" spc="-1" strike="noStrike">
                <a:solidFill>
                  <a:srgbClr val="00627a"/>
                </a:solidFill>
                <a:latin typeface="Consolas"/>
                <a:ea typeface="Consolas"/>
              </a:rPr>
              <a:t>len</a:t>
            </a:r>
            <a:r>
              <a:rPr b="0" lang="en-US" sz="1400" spc="-1" strike="noStrike">
                <a:solidFill>
                  <a:srgbClr val="111111"/>
                </a:solidFill>
                <a:latin typeface="Consolas"/>
                <a:ea typeface="Consolas"/>
              </a:rPr>
              <a:t>(heap) &lt; k: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11111"/>
                </a:solidFill>
                <a:latin typeface="Consolas"/>
                <a:ea typeface="Consolas"/>
              </a:rPr>
              <a:t>        </a:t>
            </a:r>
            <a:r>
              <a:rPr b="0" lang="en-US" sz="1400" spc="-1" strike="noStrike">
                <a:solidFill>
                  <a:srgbClr val="111111"/>
                </a:solidFill>
                <a:latin typeface="Consolas"/>
                <a:ea typeface="Consolas"/>
              </a:rPr>
              <a:t>heapq.</a:t>
            </a:r>
            <a:r>
              <a:rPr b="0" lang="en-US" sz="1400" spc="-1" strike="noStrike">
                <a:solidFill>
                  <a:srgbClr val="00627a"/>
                </a:solidFill>
                <a:latin typeface="Consolas"/>
                <a:ea typeface="Consolas"/>
              </a:rPr>
              <a:t>heappush</a:t>
            </a:r>
            <a:r>
              <a:rPr b="0" lang="en-US" sz="1400" spc="-1" strike="noStrike">
                <a:solidFill>
                  <a:srgbClr val="111111"/>
                </a:solidFill>
                <a:latin typeface="Consolas"/>
                <a:ea typeface="Consolas"/>
              </a:rPr>
              <a:t>(heap, key)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11111"/>
                </a:solidFill>
                <a:latin typeface="Consolas"/>
                <a:ea typeface="Consolas"/>
              </a:rPr>
              <a:t>    </a:t>
            </a:r>
            <a:r>
              <a:rPr b="0" lang="en-US" sz="1400" spc="-1" strike="noStrike">
                <a:solidFill>
                  <a:srgbClr val="0033b3"/>
                </a:solidFill>
                <a:latin typeface="Consolas"/>
                <a:ea typeface="Consolas"/>
              </a:rPr>
              <a:t>elif</a:t>
            </a:r>
            <a:r>
              <a:rPr b="0" lang="en-US" sz="1400" spc="-1" strike="noStrike">
                <a:solidFill>
                  <a:srgbClr val="111111"/>
                </a:solidFill>
                <a:latin typeface="Consolas"/>
                <a:ea typeface="Consolas"/>
              </a:rPr>
              <a:t> key &gt; heap[</a:t>
            </a:r>
            <a:r>
              <a:rPr b="0" lang="en-US" sz="1400" spc="-1" strike="noStrike">
                <a:solidFill>
                  <a:srgbClr val="1750eb"/>
                </a:solidFill>
                <a:latin typeface="Consolas"/>
                <a:ea typeface="Consolas"/>
              </a:rPr>
              <a:t>0</a:t>
            </a:r>
            <a:r>
              <a:rPr b="0" lang="en-US" sz="1400" spc="-1" strike="noStrike">
                <a:solidFill>
                  <a:srgbClr val="111111"/>
                </a:solidFill>
                <a:latin typeface="Consolas"/>
                <a:ea typeface="Consolas"/>
              </a:rPr>
              <a:t>]: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11111"/>
                </a:solidFill>
                <a:latin typeface="Consolas"/>
                <a:ea typeface="Consolas"/>
              </a:rPr>
              <a:t>        </a:t>
            </a:r>
            <a:r>
              <a:rPr b="0" lang="en-US" sz="1400" spc="-1" strike="noStrike">
                <a:solidFill>
                  <a:srgbClr val="111111"/>
                </a:solidFill>
                <a:latin typeface="Consolas"/>
                <a:ea typeface="Consolas"/>
              </a:rPr>
              <a:t>heapq.</a:t>
            </a:r>
            <a:r>
              <a:rPr b="0" lang="en-US" sz="1400" spc="-1" strike="noStrike">
                <a:solidFill>
                  <a:srgbClr val="00627a"/>
                </a:solidFill>
                <a:latin typeface="Consolas"/>
                <a:ea typeface="Consolas"/>
              </a:rPr>
              <a:t>heapreplace</a:t>
            </a:r>
            <a:r>
              <a:rPr b="0" lang="en-US" sz="1400" spc="-1" strike="noStrike">
                <a:solidFill>
                  <a:srgbClr val="111111"/>
                </a:solidFill>
                <a:latin typeface="Consolas"/>
                <a:ea typeface="Consolas"/>
              </a:rPr>
              <a:t>(heap, key)   </a:t>
            </a:r>
            <a:r>
              <a:rPr b="0" lang="en-US" sz="1400" spc="-1" strike="noStrike">
                <a:solidFill>
                  <a:srgbClr val="8c8c8c"/>
                </a:solidFill>
                <a:latin typeface="Consolas"/>
                <a:ea typeface="Consolas"/>
              </a:rPr>
              <a:t># O(log k)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0"/>
          <p:cNvSpPr/>
          <p:nvPr/>
        </p:nvSpPr>
        <p:spPr>
          <a:xfrm>
            <a:off x="548640" y="411480"/>
            <a:ext cx="8046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11111"/>
                </a:solidFill>
                <a:latin typeface="Calibri"/>
                <a:ea typeface="Calibri"/>
              </a:rPr>
              <a:t>RRF — Deterministic Ties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1"/>
          <p:cNvSpPr/>
          <p:nvPr/>
        </p:nvSpPr>
        <p:spPr>
          <a:xfrm>
            <a:off x="548640" y="1417320"/>
            <a:ext cx="804636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900" spc="-1" strike="noStrike">
                <a:solidFill>
                  <a:srgbClr val="111111"/>
                </a:solidFill>
                <a:latin typeface="Calibri"/>
                <a:ea typeface="Calibri"/>
              </a:rPr>
              <a:t>Top-k selection costs O(D · log k), versus O(D · log D) for a full sort — we never order the documents we discard.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900" spc="-1" strike="noStrike">
                <a:solidFill>
                  <a:srgbClr val="111111"/>
                </a:solidFill>
                <a:latin typeface="Calibri"/>
                <a:ea typeface="Calibri"/>
              </a:rPr>
              <a:t>Ties are broken on purpose: by score, then best rank in any list, then doc_id — so the same query always returns the same order.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 0"/>
          <p:cNvSpPr/>
          <p:nvPr/>
        </p:nvSpPr>
        <p:spPr>
          <a:xfrm>
            <a:off x="548640" y="411480"/>
            <a:ext cx="8046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11111"/>
                </a:solidFill>
                <a:latin typeface="Calibri"/>
                <a:ea typeface="Calibri"/>
              </a:rPr>
              <a:t>Data Structures — Why Each One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6" name="Table 0"/>
          <p:cNvGraphicFramePr/>
          <p:nvPr/>
        </p:nvGraphicFramePr>
        <p:xfrm>
          <a:off x="548640" y="1463040"/>
          <a:ext cx="8046360" cy="2863080"/>
        </p:xfrm>
        <a:graphic>
          <a:graphicData uri="http://schemas.openxmlformats.org/drawingml/2006/table">
            <a:tbl>
              <a:tblPr/>
              <a:tblGrid>
                <a:gridCol w="1645920"/>
                <a:gridCol w="3108960"/>
                <a:gridCol w="3291840"/>
              </a:tblGrid>
              <a:tr h="457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500" spc="-1" strike="noStrike">
                          <a:solidFill>
                            <a:srgbClr val="111111"/>
                          </a:solidFill>
                          <a:latin typeface="Calibri"/>
                          <a:ea typeface="Calibri"/>
                        </a:rPr>
                        <a:t>Structure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de0e5"/>
                      </a:solidFill>
                      <a:prstDash val="solid"/>
                    </a:lnL>
                    <a:lnR w="12240">
                      <a:solidFill>
                        <a:srgbClr val="dde0e5"/>
                      </a:solidFill>
                      <a:prstDash val="solid"/>
                    </a:lnR>
                    <a:lnT w="12240">
                      <a:solidFill>
                        <a:srgbClr val="dde0e5"/>
                      </a:solidFill>
                      <a:prstDash val="solid"/>
                    </a:lnT>
                    <a:lnB w="12240">
                      <a:solidFill>
                        <a:srgbClr val="dde0e5"/>
                      </a:solidFill>
                      <a:prstDash val="solid"/>
                    </a:lnB>
                    <a:solidFill>
                      <a:srgbClr val="eff1f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500" spc="-1" strike="noStrike">
                          <a:solidFill>
                            <a:srgbClr val="111111"/>
                          </a:solidFill>
                          <a:latin typeface="Calibri"/>
                          <a:ea typeface="Calibri"/>
                        </a:rPr>
                        <a:t>Used for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de0e5"/>
                      </a:solidFill>
                      <a:prstDash val="solid"/>
                    </a:lnL>
                    <a:lnR w="12240">
                      <a:solidFill>
                        <a:srgbClr val="dde0e5"/>
                      </a:solidFill>
                      <a:prstDash val="solid"/>
                    </a:lnR>
                    <a:lnT w="12240">
                      <a:solidFill>
                        <a:srgbClr val="dde0e5"/>
                      </a:solidFill>
                      <a:prstDash val="solid"/>
                    </a:lnT>
                    <a:lnB w="12240">
                      <a:solidFill>
                        <a:srgbClr val="dde0e5"/>
                      </a:solidFill>
                      <a:prstDash val="solid"/>
                    </a:lnB>
                    <a:solidFill>
                      <a:srgbClr val="eff1f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500" spc="-1" strike="noStrike">
                          <a:solidFill>
                            <a:srgbClr val="111111"/>
                          </a:solidFill>
                          <a:latin typeface="Calibri"/>
                          <a:ea typeface="Calibri"/>
                        </a:rPr>
                        <a:t>Why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de0e5"/>
                      </a:solidFill>
                      <a:prstDash val="solid"/>
                    </a:lnL>
                    <a:lnR w="12240">
                      <a:solidFill>
                        <a:srgbClr val="dde0e5"/>
                      </a:solidFill>
                      <a:prstDash val="solid"/>
                    </a:lnR>
                    <a:lnT w="12240">
                      <a:solidFill>
                        <a:srgbClr val="dde0e5"/>
                      </a:solidFill>
                      <a:prstDash val="solid"/>
                    </a:lnT>
                    <a:lnB w="12240">
                      <a:solidFill>
                        <a:srgbClr val="dde0e5"/>
                      </a:solidFill>
                      <a:prstDash val="solid"/>
                    </a:lnB>
                    <a:solidFill>
                      <a:srgbClr val="eff1f4"/>
                    </a:solidFill>
                  </a:tcPr>
                </a:tc>
              </a:tr>
              <a:tr h="5666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111111"/>
                          </a:solidFill>
                          <a:latin typeface="Calibri"/>
                          <a:ea typeface="Calibri"/>
                        </a:rPr>
                        <a:t>Hash map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de0e5"/>
                      </a:solidFill>
                      <a:prstDash val="solid"/>
                    </a:lnL>
                    <a:lnR w="12240">
                      <a:solidFill>
                        <a:srgbClr val="dde0e5"/>
                      </a:solidFill>
                      <a:prstDash val="solid"/>
                    </a:lnR>
                    <a:lnT w="12240">
                      <a:solidFill>
                        <a:srgbClr val="dde0e5"/>
                      </a:solidFill>
                      <a:prstDash val="solid"/>
                    </a:lnT>
                    <a:lnB w="12240">
                      <a:solidFill>
                        <a:srgbClr val="dde0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111111"/>
                          </a:solidFill>
                          <a:latin typeface="Calibri"/>
                          <a:ea typeface="Calibri"/>
                        </a:rPr>
                        <a:t>Inverted index, RRF accumulator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de0e5"/>
                      </a:solidFill>
                      <a:prstDash val="solid"/>
                    </a:lnL>
                    <a:lnR w="12240">
                      <a:solidFill>
                        <a:srgbClr val="dde0e5"/>
                      </a:solidFill>
                      <a:prstDash val="solid"/>
                    </a:lnR>
                    <a:lnT w="12240">
                      <a:solidFill>
                        <a:srgbClr val="dde0e5"/>
                      </a:solidFill>
                      <a:prstDash val="solid"/>
                    </a:lnT>
                    <a:lnB w="12240">
                      <a:solidFill>
                        <a:srgbClr val="dde0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111111"/>
                          </a:solidFill>
                          <a:latin typeface="Calibri"/>
                          <a:ea typeface="Calibri"/>
                        </a:rPr>
                        <a:t>O(1) lookup; no ordered traversal needed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de0e5"/>
                      </a:solidFill>
                      <a:prstDash val="solid"/>
                    </a:lnL>
                    <a:lnR w="12240">
                      <a:solidFill>
                        <a:srgbClr val="dde0e5"/>
                      </a:solidFill>
                      <a:prstDash val="solid"/>
                    </a:lnR>
                    <a:lnT w="12240">
                      <a:solidFill>
                        <a:srgbClr val="dde0e5"/>
                      </a:solidFill>
                      <a:prstDash val="solid"/>
                    </a:lnT>
                    <a:lnB w="12240">
                      <a:solidFill>
                        <a:srgbClr val="dde0e5"/>
                      </a:solidFill>
                      <a:prstDash val="solid"/>
                    </a:lnB>
                    <a:noFill/>
                  </a:tcPr>
                </a:tc>
              </a:tr>
              <a:tr h="5666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111111"/>
                          </a:solidFill>
                          <a:latin typeface="Calibri"/>
                          <a:ea typeface="Calibri"/>
                        </a:rPr>
                        <a:t>Set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de0e5"/>
                      </a:solidFill>
                      <a:prstDash val="solid"/>
                    </a:lnL>
                    <a:lnR w="12240">
                      <a:solidFill>
                        <a:srgbClr val="dde0e5"/>
                      </a:solidFill>
                      <a:prstDash val="solid"/>
                    </a:lnR>
                    <a:lnT w="12240">
                      <a:solidFill>
                        <a:srgbClr val="dde0e5"/>
                      </a:solidFill>
                      <a:prstDash val="solid"/>
                    </a:lnT>
                    <a:lnB w="12240">
                      <a:solidFill>
                        <a:srgbClr val="dde0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111111"/>
                          </a:solidFill>
                          <a:latin typeface="Calibri"/>
                          <a:ea typeface="Calibri"/>
                        </a:rPr>
                        <a:t>Trigram representation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de0e5"/>
                      </a:solidFill>
                      <a:prstDash val="solid"/>
                    </a:lnL>
                    <a:lnR w="12240">
                      <a:solidFill>
                        <a:srgbClr val="dde0e5"/>
                      </a:solidFill>
                      <a:prstDash val="solid"/>
                    </a:lnR>
                    <a:lnT w="12240">
                      <a:solidFill>
                        <a:srgbClr val="dde0e5"/>
                      </a:solidFill>
                      <a:prstDash val="solid"/>
                    </a:lnT>
                    <a:lnB w="12240">
                      <a:solidFill>
                        <a:srgbClr val="dde0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111111"/>
                          </a:solidFill>
                          <a:latin typeface="Calibri"/>
                          <a:ea typeface="Calibri"/>
                        </a:rPr>
                        <a:t>Fast intersection (the hot path)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de0e5"/>
                      </a:solidFill>
                      <a:prstDash val="solid"/>
                    </a:lnL>
                    <a:lnR w="12240">
                      <a:solidFill>
                        <a:srgbClr val="dde0e5"/>
                      </a:solidFill>
                      <a:prstDash val="solid"/>
                    </a:lnR>
                    <a:lnT w="12240">
                      <a:solidFill>
                        <a:srgbClr val="dde0e5"/>
                      </a:solidFill>
                      <a:prstDash val="solid"/>
                    </a:lnT>
                    <a:lnB w="12240">
                      <a:solidFill>
                        <a:srgbClr val="dde0e5"/>
                      </a:solidFill>
                      <a:prstDash val="solid"/>
                    </a:lnB>
                    <a:noFill/>
                  </a:tcPr>
                </a:tc>
              </a:tr>
              <a:tr h="5666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111111"/>
                          </a:solidFill>
                          <a:latin typeface="Calibri"/>
                          <a:ea typeface="Calibri"/>
                        </a:rPr>
                        <a:t>Min-heap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de0e5"/>
                      </a:solidFill>
                      <a:prstDash val="solid"/>
                    </a:lnL>
                    <a:lnR w="12240">
                      <a:solidFill>
                        <a:srgbClr val="dde0e5"/>
                      </a:solidFill>
                      <a:prstDash val="solid"/>
                    </a:lnR>
                    <a:lnT w="12240">
                      <a:solidFill>
                        <a:srgbClr val="dde0e5"/>
                      </a:solidFill>
                      <a:prstDash val="solid"/>
                    </a:lnT>
                    <a:lnB w="12240">
                      <a:solidFill>
                        <a:srgbClr val="dde0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111111"/>
                          </a:solidFill>
                          <a:latin typeface="Calibri"/>
                          <a:ea typeface="Calibri"/>
                        </a:rPr>
                        <a:t>RRF top-k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de0e5"/>
                      </a:solidFill>
                      <a:prstDash val="solid"/>
                    </a:lnL>
                    <a:lnR w="12240">
                      <a:solidFill>
                        <a:srgbClr val="dde0e5"/>
                      </a:solidFill>
                      <a:prstDash val="solid"/>
                    </a:lnR>
                    <a:lnT w="12240">
                      <a:solidFill>
                        <a:srgbClr val="dde0e5"/>
                      </a:solidFill>
                      <a:prstDash val="solid"/>
                    </a:lnT>
                    <a:lnB w="12240">
                      <a:solidFill>
                        <a:srgbClr val="dde0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111111"/>
                          </a:solidFill>
                          <a:latin typeface="Calibri"/>
                          <a:ea typeface="Calibri"/>
                        </a:rPr>
                        <a:t>O(D log k) beats a full O(D log D) sort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de0e5"/>
                      </a:solidFill>
                      <a:prstDash val="solid"/>
                    </a:lnL>
                    <a:lnR w="12240">
                      <a:solidFill>
                        <a:srgbClr val="dde0e5"/>
                      </a:solidFill>
                      <a:prstDash val="solid"/>
                    </a:lnR>
                    <a:lnT w="12240">
                      <a:solidFill>
                        <a:srgbClr val="dde0e5"/>
                      </a:solidFill>
                      <a:prstDash val="solid"/>
                    </a:lnT>
                    <a:lnB w="12240">
                      <a:solidFill>
                        <a:srgbClr val="dde0e5"/>
                      </a:solidFill>
                      <a:prstDash val="solid"/>
                    </a:lnB>
                    <a:noFill/>
                  </a:tcPr>
                </a:tc>
              </a:tr>
              <a:tr h="5666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111111"/>
                          </a:solidFill>
                          <a:latin typeface="Calibri"/>
                          <a:ea typeface="Calibri"/>
                        </a:rPr>
                        <a:t>List + sort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de0e5"/>
                      </a:solidFill>
                      <a:prstDash val="solid"/>
                    </a:lnL>
                    <a:lnR w="12240">
                      <a:solidFill>
                        <a:srgbClr val="dde0e5"/>
                      </a:solidFill>
                      <a:prstDash val="solid"/>
                    </a:lnR>
                    <a:lnT w="12240">
                      <a:solidFill>
                        <a:srgbClr val="dde0e5"/>
                      </a:solidFill>
                      <a:prstDash val="solid"/>
                    </a:lnT>
                    <a:lnB w="12240">
                      <a:solidFill>
                        <a:srgbClr val="dde0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111111"/>
                          </a:solidFill>
                          <a:latin typeface="Calibri"/>
                          <a:ea typeface="Calibri"/>
                        </a:rPr>
                        <a:t>BM25 final ranking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de0e5"/>
                      </a:solidFill>
                      <a:prstDash val="solid"/>
                    </a:lnL>
                    <a:lnR w="12240">
                      <a:solidFill>
                        <a:srgbClr val="dde0e5"/>
                      </a:solidFill>
                      <a:prstDash val="solid"/>
                    </a:lnR>
                    <a:lnT w="12240">
                      <a:solidFill>
                        <a:srgbClr val="dde0e5"/>
                      </a:solidFill>
                      <a:prstDash val="solid"/>
                    </a:lnT>
                    <a:lnB w="12240">
                      <a:solidFill>
                        <a:srgbClr val="dde0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111111"/>
                          </a:solidFill>
                          <a:latin typeface="Calibri"/>
                          <a:ea typeface="Calibri"/>
                        </a:rPr>
                        <a:t>Here we do want everything ordered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de0e5"/>
                      </a:solidFill>
                      <a:prstDash val="solid"/>
                    </a:lnL>
                    <a:lnR w="12240">
                      <a:solidFill>
                        <a:srgbClr val="dde0e5"/>
                      </a:solidFill>
                      <a:prstDash val="solid"/>
                    </a:lnR>
                    <a:lnT w="12240">
                      <a:solidFill>
                        <a:srgbClr val="dde0e5"/>
                      </a:solidFill>
                      <a:prstDash val="solid"/>
                    </a:lnT>
                    <a:lnB w="12240">
                      <a:solidFill>
                        <a:srgbClr val="dde0e5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 0"/>
          <p:cNvSpPr/>
          <p:nvPr/>
        </p:nvSpPr>
        <p:spPr>
          <a:xfrm>
            <a:off x="548640" y="411480"/>
            <a:ext cx="8046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11111"/>
                </a:solidFill>
                <a:latin typeface="Calibri"/>
                <a:ea typeface="Calibri"/>
              </a:rPr>
              <a:t>The Bottleneck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 1"/>
          <p:cNvSpPr/>
          <p:nvPr/>
        </p:nvSpPr>
        <p:spPr>
          <a:xfrm>
            <a:off x="548640" y="1417320"/>
            <a:ext cx="804636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900" spc="-1" strike="noStrike">
                <a:solidFill>
                  <a:srgbClr val="111111"/>
                </a:solidFill>
                <a:latin typeface="Calibri"/>
                <a:ea typeface="Calibri"/>
              </a:rPr>
              <a:t>The trigram ranker, at O(D · L), rescans every document on every query — while BM25 skips documents with no matching term.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900" spc="-1" strike="noStrike">
                <a:solidFill>
                  <a:srgbClr val="111111"/>
                </a:solidFill>
                <a:latin typeface="Calibri"/>
                <a:ea typeface="Calibri"/>
              </a:rPr>
              <a:t>Fine at 100 documents (milliseconds). At millions, replace the per-query scan with a precomputed inverted trigram index — the same shape as the BM25 index.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 0"/>
          <p:cNvSpPr/>
          <p:nvPr/>
        </p:nvSpPr>
        <p:spPr>
          <a:xfrm>
            <a:off x="548640" y="411480"/>
            <a:ext cx="8046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11111"/>
                </a:solidFill>
                <a:latin typeface="Calibri"/>
                <a:ea typeface="Calibri"/>
              </a:rPr>
              <a:t>Live Demo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1"/>
          <p:cNvSpPr/>
          <p:nvPr/>
        </p:nvSpPr>
        <p:spPr>
          <a:xfrm>
            <a:off x="548640" y="1417320"/>
            <a:ext cx="8046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900" spc="-1" strike="noStrike">
                <a:solidFill>
                  <a:srgbClr val="111111"/>
                </a:solidFill>
                <a:latin typeface="Calibri"/>
                <a:ea typeface="Calibri"/>
              </a:rPr>
              <a:t>Run: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2"/>
          <p:cNvSpPr/>
          <p:nvPr/>
        </p:nvSpPr>
        <p:spPr>
          <a:xfrm>
            <a:off x="548640" y="1783080"/>
            <a:ext cx="8046360" cy="548280"/>
          </a:xfrm>
          <a:prstGeom prst="rect">
            <a:avLst/>
          </a:prstGeom>
          <a:solidFill>
            <a:srgbClr val="f6f7f9"/>
          </a:solidFill>
          <a:ln w="12700">
            <a:solidFill>
              <a:srgbClr val="e4e6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3"/>
          <p:cNvSpPr/>
          <p:nvPr/>
        </p:nvSpPr>
        <p:spPr>
          <a:xfrm>
            <a:off x="713160" y="1892880"/>
            <a:ext cx="77173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6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11111"/>
                </a:solidFill>
                <a:latin typeface="Consolas"/>
                <a:ea typeface="Consolas"/>
              </a:rPr>
              <a:t>python main.py --demo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4"/>
          <p:cNvSpPr/>
          <p:nvPr/>
        </p:nvSpPr>
        <p:spPr>
          <a:xfrm>
            <a:off x="548640" y="2560320"/>
            <a:ext cx="804636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111111"/>
                </a:solidFill>
                <a:latin typeface="Calibri"/>
                <a:ea typeface="Calibri"/>
              </a:rPr>
              <a:t>1.  "who was the first person on the moon"  →  BM25 nails it.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111111"/>
                </a:solidFill>
                <a:latin typeface="Calibri"/>
                <a:ea typeface="Calibri"/>
              </a:rPr>
              <a:t>2.  "armstrng moon walk"  →  BM25 alone misses Armstrong; fusion brings him back. The whole point.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111111"/>
                </a:solidFill>
                <a:latin typeface="Calibri"/>
                <a:ea typeface="Calibri"/>
              </a:rPr>
              <a:t>3.  "crew killed disaster fire"  →  retrieves both Apollo 1 and Apollo 13.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 0"/>
          <p:cNvSpPr/>
          <p:nvPr/>
        </p:nvSpPr>
        <p:spPr>
          <a:xfrm>
            <a:off x="548640" y="411480"/>
            <a:ext cx="8046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11111"/>
                </a:solidFill>
                <a:latin typeface="Calibri"/>
                <a:ea typeface="Calibri"/>
              </a:rPr>
              <a:t>Summary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1"/>
          <p:cNvSpPr/>
          <p:nvPr/>
        </p:nvSpPr>
        <p:spPr>
          <a:xfrm>
            <a:off x="548640" y="1417320"/>
            <a:ext cx="804636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900" spc="-1" strike="noStrike">
                <a:solidFill>
                  <a:srgbClr val="111111"/>
                </a:solidFill>
                <a:latin typeface="Calibri"/>
                <a:ea typeface="Calibri"/>
              </a:rPr>
              <a:t>Two complementary rankers — exact (BM25) and fuzzy (trigrams).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900" spc="-1" strike="noStrike">
                <a:solidFill>
                  <a:srgbClr val="111111"/>
                </a:solidFill>
                <a:latin typeface="Calibri"/>
                <a:ea typeface="Calibri"/>
              </a:rPr>
              <a:t>Fusion uses ranks, not scores, so scales never clash.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900" spc="-1" strike="noStrike">
                <a:solidFill>
                  <a:srgbClr val="111111"/>
                </a:solidFill>
                <a:latin typeface="Calibri"/>
                <a:ea typeface="Calibri"/>
              </a:rPr>
              <a:t>A min-heap gives the top 3 without a full sort.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900" spc="-1" strike="noStrike">
                <a:solidFill>
                  <a:srgbClr val="111111"/>
                </a:solidFill>
                <a:latin typeface="Calibri"/>
                <a:ea typeface="Calibri"/>
              </a:rPr>
              <a:t>The bottleneck is identified, and scales with a trigram index.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900" spc="-1" strike="noStrike">
                <a:solidFill>
                  <a:srgbClr val="111111"/>
                </a:solidFill>
                <a:latin typeface="Calibri"/>
                <a:ea typeface="Calibri"/>
              </a:rPr>
              <a:t>Every data structure was chosen for its access pattern.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 0"/>
          <p:cNvSpPr/>
          <p:nvPr/>
        </p:nvSpPr>
        <p:spPr>
          <a:xfrm>
            <a:off x="640080" y="1920240"/>
            <a:ext cx="7863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111111"/>
                </a:solidFill>
                <a:latin typeface="Calibri"/>
                <a:ea typeface="Calibri"/>
              </a:rPr>
              <a:t>Thank you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1"/>
          <p:cNvSpPr/>
          <p:nvPr/>
        </p:nvSpPr>
        <p:spPr>
          <a:xfrm>
            <a:off x="640080" y="2788920"/>
            <a:ext cx="7863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555555"/>
                </a:solidFill>
                <a:latin typeface="Calibri"/>
                <a:ea typeface="Calibri"/>
              </a:rPr>
              <a:t>Questions?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2026-05-31T12:42:14Z</dcterms:created>
  <dc:creator>Ondřej Marván &amp; Ivan Semeniuk</dc:creator>
  <dc:description/>
  <dc:language>en-US</dc:language>
  <cp:lastModifiedBy/>
  <dcterms:modified xsi:type="dcterms:W3CDTF">2026-05-31T18:42:26Z</dcterms:modified>
  <cp:revision>3</cp:revision>
  <dc:subject>PptxGenJS Presentation</dc:subject>
  <dc:title>RAG Retrieval Pipeline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23</vt:i4>
  </property>
  <property fmtid="{D5CDD505-2E9C-101B-9397-08002B2CF9AE}" pid="3" name="PresentationFormat">
    <vt:lpwstr>On-screen Show (16:9)</vt:lpwstr>
  </property>
  <property fmtid="{D5CDD505-2E9C-101B-9397-08002B2CF9AE}" pid="4" name="Slides">
    <vt:i4>23</vt:i4>
  </property>
</Properties>
</file>