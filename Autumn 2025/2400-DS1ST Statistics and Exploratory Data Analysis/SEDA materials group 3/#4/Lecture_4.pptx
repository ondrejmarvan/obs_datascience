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iNGZjCqjUm++ksH2Irp0q9yDW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7DDF9B-F1F0-4D8E-8223-A6BB75848A53}">
  <a:tblStyle styleId="{737DDF9B-F1F0-4D8E-8223-A6BB75848A5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40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Wiem, że robiliście tak żeby fioletowy nie gryzł się z szarym, ale czerń i szarość przytła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Green N(0,5); Blue N(0,0.5), Red N(0,1)</a:t>
            </a:r>
            <a:endParaRPr/>
          </a:p>
        </p:txBody>
      </p:sp>
      <p:sp>
        <p:nvSpPr>
          <p:cNvPr id="660" name="Google Shape;66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/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" type="body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/>
          <p:nvPr>
            <p:ph type="ctrTitle"/>
          </p:nvPr>
        </p:nvSpPr>
        <p:spPr>
          <a:xfrm>
            <a:off x="1143000" y="1124530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28" name="Google Shape;28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3"/>
          <p:cNvSpPr txBox="1"/>
          <p:nvPr>
            <p:ph type="title"/>
          </p:nvPr>
        </p:nvSpPr>
        <p:spPr>
          <a:xfrm>
            <a:off x="623888" y="1712423"/>
            <a:ext cx="78867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" type="body"/>
          </p:nvPr>
        </p:nvSpPr>
        <p:spPr>
          <a:xfrm>
            <a:off x="623888" y="455263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 txBox="1"/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633845" y="1828801"/>
            <a:ext cx="38862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2" type="body"/>
          </p:nvPr>
        </p:nvSpPr>
        <p:spPr>
          <a:xfrm>
            <a:off x="4629150" y="1828801"/>
            <a:ext cx="38862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>
  <p:cSld name="Porównani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"/>
          <p:cNvSpPr txBox="1"/>
          <p:nvPr>
            <p:ph idx="1" type="body"/>
          </p:nvPr>
        </p:nvSpPr>
        <p:spPr>
          <a:xfrm>
            <a:off x="633845" y="1681851"/>
            <a:ext cx="386715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6" name="Google Shape;46;p35"/>
          <p:cNvSpPr txBox="1"/>
          <p:nvPr>
            <p:ph idx="2" type="body"/>
          </p:nvPr>
        </p:nvSpPr>
        <p:spPr>
          <a:xfrm>
            <a:off x="633845" y="2507551"/>
            <a:ext cx="3867150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3" type="body"/>
          </p:nvPr>
        </p:nvSpPr>
        <p:spPr>
          <a:xfrm>
            <a:off x="4629150" y="1681851"/>
            <a:ext cx="38862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35"/>
          <p:cNvSpPr txBox="1"/>
          <p:nvPr>
            <p:ph idx="4" type="body"/>
          </p:nvPr>
        </p:nvSpPr>
        <p:spPr>
          <a:xfrm>
            <a:off x="4629150" y="2507551"/>
            <a:ext cx="3886201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52" name="Google Shape;52;p35"/>
          <p:cNvSpPr txBox="1"/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>
  <p:cSld name="Tylko tytuł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57" name="Google Shape;57;p36"/>
          <p:cNvSpPr txBox="1"/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630936" y="457201"/>
            <a:ext cx="294894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630936" y="2057399"/>
            <a:ext cx="294894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630936" y="457200"/>
            <a:ext cx="29489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630936" y="2057400"/>
            <a:ext cx="294894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2401526" y="61119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4623594" y="2280443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623094" y="365919"/>
            <a:ext cx="5811837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25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25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41.png"/><Relationship Id="rId6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38.png"/><Relationship Id="rId11" Type="http://schemas.openxmlformats.org/officeDocument/2006/relationships/image" Target="../media/image40.png"/><Relationship Id="rId10" Type="http://schemas.openxmlformats.org/officeDocument/2006/relationships/oleObject" Target="../embeddings/oleObject2.bin"/><Relationship Id="rId9" Type="http://schemas.openxmlformats.org/officeDocument/2006/relationships/oleObject" Target="../embeddings/oleObject2.bin"/><Relationship Id="rId5" Type="http://schemas.openxmlformats.org/officeDocument/2006/relationships/image" Target="../media/image42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3.bin"/><Relationship Id="rId10" Type="http://schemas.openxmlformats.org/officeDocument/2006/relationships/image" Target="../media/image39.png"/><Relationship Id="rId9" Type="http://schemas.openxmlformats.org/officeDocument/2006/relationships/image" Target="../media/image36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35.png"/><Relationship Id="rId7" Type="http://schemas.openxmlformats.org/officeDocument/2006/relationships/oleObject" Target="../embeddings/oleObject4.bin"/><Relationship Id="rId8" Type="http://schemas.openxmlformats.org/officeDocument/2006/relationships/oleObject" Target="../embeddings/oleObject4.bin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r-statistics.co/Top50-Ggplot2-Visualizations-MasterList-R-Code.html" TargetMode="External"/><Relationship Id="rId4" Type="http://schemas.openxmlformats.org/officeDocument/2006/relationships/hyperlink" Target="http://www.cookbook-r.com/Graphs/Plotting_distributions_(ggplot2)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29772" y="2576771"/>
            <a:ext cx="8161867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Graphical analysis of data (I)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Marcin Chlebus, Ewa Cukrowska-Torzewska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of Economic Sciences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Warsaw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4: 24-25.10.2017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519" y="4739895"/>
            <a:ext cx="2571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Zajęcia 1. Wprowadzenie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0" y="6301558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2211" y="5227082"/>
            <a:ext cx="1101789" cy="10430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-1527717" y="153701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Types of graphs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110" name="Google Shape;110;p2"/>
          <p:cNvGrpSpPr/>
          <p:nvPr/>
        </p:nvGrpSpPr>
        <p:grpSpPr>
          <a:xfrm>
            <a:off x="465141" y="1276144"/>
            <a:ext cx="8213717" cy="5462324"/>
            <a:chOff x="375385" y="2342"/>
            <a:chExt cx="8213717" cy="5462324"/>
          </a:xfrm>
        </p:grpSpPr>
        <p:sp>
          <p:nvSpPr>
            <p:cNvPr id="111" name="Google Shape;111;p2"/>
            <p:cNvSpPr/>
            <p:nvPr/>
          </p:nvSpPr>
          <p:spPr>
            <a:xfrm>
              <a:off x="7038072" y="1634295"/>
              <a:ext cx="202308" cy="157800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2" name="Google Shape;112;p2"/>
            <p:cNvSpPr/>
            <p:nvPr/>
          </p:nvSpPr>
          <p:spPr>
            <a:xfrm>
              <a:off x="7038072" y="1634295"/>
              <a:ext cx="202308" cy="6204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3" name="Google Shape;113;p2"/>
            <p:cNvSpPr/>
            <p:nvPr/>
          </p:nvSpPr>
          <p:spPr>
            <a:xfrm>
              <a:off x="4313653" y="676703"/>
              <a:ext cx="3263907" cy="283231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4" name="Google Shape;114;p2"/>
            <p:cNvSpPr/>
            <p:nvPr/>
          </p:nvSpPr>
          <p:spPr>
            <a:xfrm>
              <a:off x="5406118" y="1634295"/>
              <a:ext cx="202308" cy="157800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5" name="Google Shape;115;p2"/>
            <p:cNvSpPr/>
            <p:nvPr/>
          </p:nvSpPr>
          <p:spPr>
            <a:xfrm>
              <a:off x="5406118" y="1634295"/>
              <a:ext cx="202308" cy="6204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6" name="Google Shape;116;p2"/>
            <p:cNvSpPr/>
            <p:nvPr/>
          </p:nvSpPr>
          <p:spPr>
            <a:xfrm>
              <a:off x="4313653" y="676703"/>
              <a:ext cx="1631953" cy="283231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7" name="Google Shape;117;p2"/>
            <p:cNvSpPr/>
            <p:nvPr/>
          </p:nvSpPr>
          <p:spPr>
            <a:xfrm>
              <a:off x="3774164" y="1634295"/>
              <a:ext cx="202308" cy="6204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8" name="Google Shape;118;p2"/>
            <p:cNvSpPr/>
            <p:nvPr/>
          </p:nvSpPr>
          <p:spPr>
            <a:xfrm>
              <a:off x="4267933" y="676703"/>
              <a:ext cx="91440" cy="283231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9" name="Google Shape;119;p2"/>
            <p:cNvSpPr/>
            <p:nvPr/>
          </p:nvSpPr>
          <p:spPr>
            <a:xfrm>
              <a:off x="2142211" y="1634295"/>
              <a:ext cx="202308" cy="349319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0" name="Google Shape;120;p2"/>
            <p:cNvSpPr/>
            <p:nvPr/>
          </p:nvSpPr>
          <p:spPr>
            <a:xfrm>
              <a:off x="2142211" y="1634295"/>
              <a:ext cx="202308" cy="253559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1" name="Google Shape;121;p2"/>
            <p:cNvSpPr/>
            <p:nvPr/>
          </p:nvSpPr>
          <p:spPr>
            <a:xfrm>
              <a:off x="2142211" y="1634295"/>
              <a:ext cx="202308" cy="157800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" name="Google Shape;122;p2"/>
            <p:cNvSpPr/>
            <p:nvPr/>
          </p:nvSpPr>
          <p:spPr>
            <a:xfrm>
              <a:off x="2142211" y="1634295"/>
              <a:ext cx="202308" cy="6204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3" name="Google Shape;123;p2"/>
            <p:cNvSpPr/>
            <p:nvPr/>
          </p:nvSpPr>
          <p:spPr>
            <a:xfrm>
              <a:off x="2681699" y="676703"/>
              <a:ext cx="1631953" cy="283231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4" name="Google Shape;124;p2"/>
            <p:cNvSpPr/>
            <p:nvPr/>
          </p:nvSpPr>
          <p:spPr>
            <a:xfrm>
              <a:off x="510257" y="1634295"/>
              <a:ext cx="202308" cy="253559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5" name="Google Shape;125;p2"/>
            <p:cNvSpPr/>
            <p:nvPr/>
          </p:nvSpPr>
          <p:spPr>
            <a:xfrm>
              <a:off x="510257" y="1634295"/>
              <a:ext cx="202308" cy="157800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6" name="Google Shape;126;p2"/>
            <p:cNvSpPr/>
            <p:nvPr/>
          </p:nvSpPr>
          <p:spPr>
            <a:xfrm>
              <a:off x="510257" y="1634295"/>
              <a:ext cx="202308" cy="6204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7" name="Google Shape;127;p2"/>
            <p:cNvSpPr/>
            <p:nvPr/>
          </p:nvSpPr>
          <p:spPr>
            <a:xfrm>
              <a:off x="1049746" y="676703"/>
              <a:ext cx="3263907" cy="283231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8" name="Google Shape;128;p2"/>
            <p:cNvSpPr/>
            <p:nvPr/>
          </p:nvSpPr>
          <p:spPr>
            <a:xfrm>
              <a:off x="3639292" y="2342"/>
              <a:ext cx="1348722" cy="674361"/>
            </a:xfrm>
            <a:prstGeom prst="rect">
              <a:avLst/>
            </a:prstGeom>
            <a:solidFill>
              <a:srgbClr val="B5293B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3639292" y="2342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Graphical visualization of data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75385" y="959934"/>
              <a:ext cx="1348722" cy="67436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375385" y="959934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Graphs</a:t>
              </a: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for summarizing categorical variables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712565" y="1917527"/>
              <a:ext cx="1348722" cy="67436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712565" y="1917527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Bar chart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12565" y="2875120"/>
              <a:ext cx="1348722" cy="67436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712565" y="2875120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Spine plot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712565" y="3832713"/>
              <a:ext cx="1348722" cy="67436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712565" y="3832713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Pie chart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007338" y="959934"/>
              <a:ext cx="1348722" cy="67436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2007338" y="959934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Graphs for  summarizing continous variables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2344519" y="1917527"/>
              <a:ext cx="1348722" cy="67436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2344519" y="1917527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Dot plot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2344519" y="2875120"/>
              <a:ext cx="1348722" cy="67436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 txBox="1"/>
            <p:nvPr/>
          </p:nvSpPr>
          <p:spPr>
            <a:xfrm>
              <a:off x="2344519" y="2875120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Histogram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2344519" y="3832713"/>
              <a:ext cx="1348722" cy="67436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2344519" y="3832713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Kernel densities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2344519" y="4790305"/>
              <a:ext cx="1348722" cy="67436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344519" y="4790305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Box plot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3639292" y="959934"/>
              <a:ext cx="1348722" cy="674361"/>
            </a:xfrm>
            <a:prstGeom prst="rect">
              <a:avLst/>
            </a:prstGeom>
            <a:solidFill>
              <a:srgbClr val="B5293B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3639292" y="959934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Graphs for time-series data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3976473" y="1917527"/>
              <a:ext cx="1348722" cy="674361"/>
            </a:xfrm>
            <a:prstGeom prst="rect">
              <a:avLst/>
            </a:prstGeom>
            <a:solidFill>
              <a:srgbClr val="B5293B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 txBox="1"/>
            <p:nvPr/>
          </p:nvSpPr>
          <p:spPr>
            <a:xfrm>
              <a:off x="3976473" y="1917527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Run chart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5271246" y="959934"/>
              <a:ext cx="1348722" cy="674361"/>
            </a:xfrm>
            <a:prstGeom prst="rect">
              <a:avLst/>
            </a:prstGeom>
            <a:solidFill>
              <a:srgbClr val="B5293B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5271246" y="959934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Graphs for the relation between two or more variables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5608426" y="1917527"/>
              <a:ext cx="1348722" cy="674361"/>
            </a:xfrm>
            <a:prstGeom prst="rect">
              <a:avLst/>
            </a:prstGeom>
            <a:solidFill>
              <a:srgbClr val="B5293B"/>
            </a:solidFill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5608426" y="1917527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Mosaic plots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5608426" y="2875120"/>
              <a:ext cx="1348722" cy="674361"/>
            </a:xfrm>
            <a:prstGeom prst="rect">
              <a:avLst/>
            </a:prstGeom>
            <a:solidFill>
              <a:srgbClr val="B5293B"/>
            </a:solidFill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"/>
            <p:cNvSpPr txBox="1"/>
            <p:nvPr/>
          </p:nvSpPr>
          <p:spPr>
            <a:xfrm>
              <a:off x="5608426" y="2875120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Scatter plot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903200" y="959934"/>
              <a:ext cx="1348722" cy="674361"/>
            </a:xfrm>
            <a:prstGeom prst="rect">
              <a:avLst/>
            </a:prstGeom>
            <a:solidFill>
              <a:srgbClr val="B5293B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6903200" y="959934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Other graphs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7240380" y="1917527"/>
              <a:ext cx="1348722" cy="674361"/>
            </a:xfrm>
            <a:prstGeom prst="rect">
              <a:avLst/>
            </a:prstGeom>
            <a:solidFill>
              <a:srgbClr val="B5293B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 txBox="1"/>
            <p:nvPr/>
          </p:nvSpPr>
          <p:spPr>
            <a:xfrm>
              <a:off x="7240380" y="1917527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QQ plot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7240380" y="2875120"/>
              <a:ext cx="1348722" cy="674361"/>
            </a:xfrm>
            <a:prstGeom prst="rect">
              <a:avLst/>
            </a:prstGeom>
            <a:solidFill>
              <a:srgbClr val="B5293B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"/>
            <p:cNvSpPr txBox="1"/>
            <p:nvPr/>
          </p:nvSpPr>
          <p:spPr>
            <a:xfrm>
              <a:off x="7240380" y="2875120"/>
              <a:ext cx="1348722" cy="67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Violin plot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2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66" name="Google Shape;166;p2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b="1" sz="11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Categorical data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83" name="Google Shape;183;p3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266700" y="1219247"/>
            <a:ext cx="870383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Categorical data include: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l-P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Nominal data 🡪 the values cannot be ordered (e.g. male-female)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l-P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Ordinal data 🡪 the values can be ordered but the differences between the values are not informative (e.g. education level)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l-P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Discrete data 🡪 the values are counted (e.g. the number of children)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certain number of values of the categorical variable that we want to plot!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Bar chart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266700" y="1219247"/>
            <a:ext cx="870383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categorical variable may be summarized by one-dimensional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easiest way to summarize the data is a bar chart, where the area of the bar represents the count for its category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4"/>
          <p:cNvGraphicFramePr/>
          <p:nvPr/>
        </p:nvGraphicFramePr>
        <p:xfrm>
          <a:off x="488708" y="30938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{737DDF9B-F1F0-4D8E-8223-A6BB75848A53}</a:tableStyleId>
              </a:tblPr>
              <a:tblGrid>
                <a:gridCol w="925675"/>
                <a:gridCol w="925675"/>
              </a:tblGrid>
              <a:tr h="28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000" u="none" cap="none" strike="noStrike">
                          <a:solidFill>
                            <a:schemeClr val="lt1"/>
                          </a:solidFill>
                        </a:rPr>
                        <a:t>Female</a:t>
                      </a:r>
                      <a:endParaRPr b="1" i="0" sz="1000" u="none" cap="none" strike="noStrike">
                        <a:solidFill>
                          <a:schemeClr val="lt1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100" u="none" cap="none" strike="noStrike">
                          <a:solidFill>
                            <a:schemeClr val="lt1"/>
                          </a:solidFill>
                        </a:rPr>
                        <a:t>Male</a:t>
                      </a:r>
                      <a:endParaRPr b="1" i="0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828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2959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3085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8" name="Google Shape;2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8719" y="4231046"/>
            <a:ext cx="2826317" cy="256937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4"/>
          <p:cNvGraphicFramePr/>
          <p:nvPr/>
        </p:nvGraphicFramePr>
        <p:xfrm>
          <a:off x="2792954" y="304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{737DDF9B-F1F0-4D8E-8223-A6BB75848A53}</a:tableStyleId>
              </a:tblPr>
              <a:tblGrid>
                <a:gridCol w="874350"/>
                <a:gridCol w="424875"/>
                <a:gridCol w="517225"/>
                <a:gridCol w="6835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college/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graduate degree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ged or none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school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some college</a:t>
                      </a:r>
                      <a:endParaRPr/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2144</a:t>
                      </a:r>
                      <a:endParaRPr/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1114</a:t>
                      </a:r>
                      <a:endParaRPr/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1699</a:t>
                      </a:r>
                      <a:endParaRPr/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1087</a:t>
                      </a:r>
                      <a:endParaRPr/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0" name="Google Shape;21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565" y="4505728"/>
            <a:ext cx="2460834" cy="2237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0860" y="3916406"/>
            <a:ext cx="3189676" cy="28997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2" name="Google Shape;212;p4"/>
          <p:cNvGraphicFramePr/>
          <p:nvPr/>
        </p:nvGraphicFramePr>
        <p:xfrm>
          <a:off x="5851698" y="32309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{737DDF9B-F1F0-4D8E-8223-A6BB75848A53}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000" u="none" cap="none" strike="noStrike">
                          <a:solidFill>
                            <a:schemeClr val="lt1"/>
                          </a:solidFill>
                        </a:rPr>
                        <a:t>0</a:t>
                      </a:r>
                      <a:endParaRPr b="1" i="0" sz="1000" u="none" cap="none" strike="noStrike">
                        <a:solidFill>
                          <a:schemeClr val="lt1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100" u="none" cap="none" strike="noStrike">
                          <a:solidFill>
                            <a:schemeClr val="lt1"/>
                          </a:solidFill>
                        </a:rPr>
                        <a:t>1</a:t>
                      </a:r>
                      <a:endParaRPr b="1" i="0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100" u="none" cap="none" strike="noStrike">
                          <a:solidFill>
                            <a:schemeClr val="lt1"/>
                          </a:solidFill>
                        </a:rPr>
                        <a:t>2</a:t>
                      </a:r>
                      <a:endParaRPr b="1" i="0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100" u="none" cap="none" strike="noStrike">
                          <a:solidFill>
                            <a:schemeClr val="lt1"/>
                          </a:solidFill>
                        </a:rPr>
                        <a:t>3</a:t>
                      </a:r>
                      <a:endParaRPr b="1" i="0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100" u="none" cap="none" strike="noStrike">
                          <a:solidFill>
                            <a:schemeClr val="lt1"/>
                          </a:solidFill>
                        </a:rPr>
                        <a:t>4</a:t>
                      </a:r>
                      <a:endParaRPr b="1" i="0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000" u="none" cap="none" strike="noStrike"/>
                        <a:t>6703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2051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1801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762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275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Bar chart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266700" y="1219247"/>
            <a:ext cx="870383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many situations it is desirable to look at the distribution of a subgroup of a categorical variable</a:t>
            </a:r>
            <a:r>
              <a:rPr b="1"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e.g. education by gender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854" y="3112655"/>
            <a:ext cx="3714099" cy="2521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2098" y="3112655"/>
            <a:ext cx="4761902" cy="2601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Spine plot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1" name="Google Shape;2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266700" y="1219247"/>
            <a:ext cx="87038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the bar chart shows the absolute counts of the subgroup, the spine plot shows the proportions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566" y="2419576"/>
            <a:ext cx="4587119" cy="4195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93893" y="2937489"/>
            <a:ext cx="5247619" cy="22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7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Pie chart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1" name="Google Shape;2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7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7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266700" y="1219247"/>
            <a:ext cx="87038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Pie chart is also a useful chart to summarize proportions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„slice” of the pie represents the relative size of a given category in the data.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2126" y="2624870"/>
            <a:ext cx="6712530" cy="2887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Graphs for categorical variables in R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266700" y="1219247"/>
            <a:ext cx="870383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 1: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package „car” and use the dataset „Salaries” from that package. The dataset contains salaries of the nine-month academic salary for Assistant Professors, Associate Professors and Professors in a college in the U.S. Using the dataset: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categorical variables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visualize the data using the graphs for categorical variables.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Continous variables</a:t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266700" y="1219247"/>
            <a:ext cx="870383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opposed to discrete and categorical variables, which are counted, </a:t>
            </a:r>
            <a:r>
              <a:rPr b="1"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continous variables are measured.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lenght, height, weight,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wages, hours of work, prices, etc.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Dot plot</a:t>
            </a:r>
            <a:endParaRPr/>
          </a:p>
        </p:txBody>
      </p:sp>
      <p:sp>
        <p:nvSpPr>
          <p:cNvPr id="315" name="Google Shape;315;p10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6" name="Google Shape;3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18" name="Google Shape;318;p10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266700" y="1219247"/>
            <a:ext cx="870383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simpliest way to plot the values of one continous variable is the dot plot.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the points are distributed along only one axis, overplotting is a serious problem.  </a:t>
            </a:r>
            <a:endParaRPr/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8060" y="2670874"/>
            <a:ext cx="4887758" cy="267063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0"/>
          <p:cNvSpPr txBox="1"/>
          <p:nvPr/>
        </p:nvSpPr>
        <p:spPr>
          <a:xfrm>
            <a:off x="1164246" y="5451029"/>
            <a:ext cx="53338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Graphic of large datasets – Visualizing a Milion; Antony Unwin et al. (2006)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2278" y="2965896"/>
            <a:ext cx="4179994" cy="382279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Wilkinson dot plot</a:t>
            </a:r>
            <a:endParaRPr/>
          </a:p>
        </p:txBody>
      </p:sp>
      <p:sp>
        <p:nvSpPr>
          <p:cNvPr id="337" name="Google Shape;337;p11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266700" y="1219247"/>
            <a:ext cx="870383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plot each dot represents one observation of a given value of x variable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may not be efficient way of visualizing </a:t>
            </a:r>
            <a:r>
              <a:rPr b="1"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datasets</a:t>
            </a: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it performs well in the case of </a:t>
            </a:r>
            <a:r>
              <a:rPr b="1"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samples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1"/>
          <p:cNvCxnSpPr/>
          <p:nvPr/>
        </p:nvCxnSpPr>
        <p:spPr>
          <a:xfrm>
            <a:off x="4794941" y="2410371"/>
            <a:ext cx="977786" cy="993343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48" name="Google Shape;34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350" y="2922780"/>
            <a:ext cx="4107067" cy="3756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9" name="Google Shape;349;p11"/>
          <p:cNvCxnSpPr/>
          <p:nvPr/>
        </p:nvCxnSpPr>
        <p:spPr>
          <a:xfrm>
            <a:off x="1520679" y="2641828"/>
            <a:ext cx="271867" cy="152377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Cleveland dot plot</a:t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59" name="Google Shape;359;p12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61" name="Google Shape;361;p12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12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12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266700" y="1219247"/>
            <a:ext cx="870383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Cleveland dot plots are sometimes used instead of bar graphs.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advantage of these plots over bar plots is that they are easier to read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usually pertain to two variables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698" y="2652253"/>
            <a:ext cx="4013739" cy="3670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0437" y="2652253"/>
            <a:ext cx="4381085" cy="400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Dot plot</a:t>
            </a:r>
            <a:endParaRPr/>
          </a:p>
        </p:txBody>
      </p:sp>
      <p:sp>
        <p:nvSpPr>
          <p:cNvPr id="376" name="Google Shape;376;p13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7" name="Google Shape;3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3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79" name="Google Shape;379;p13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81" name="Google Shape;381;p13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13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13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13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266700" y="1219247"/>
            <a:ext cx="870383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 2: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dataset „Salaries”.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simple dot plot to visualize data on Professors’ salaries.  </a:t>
            </a:r>
            <a:endParaRPr/>
          </a:p>
          <a:p>
            <a:pPr indent="268288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you say about the distribution of the salaries based on this plot?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Wilkinson dot plot to visualize data on Professors' salaries. </a:t>
            </a:r>
            <a:endParaRPr/>
          </a:p>
          <a:p>
            <a:pPr indent="268288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you say about the distrubtion of the salaries based on this plot?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to use Cleveland dot plot to visualize data on Professor’s salaries.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Histogram</a:t>
            </a:r>
            <a:endParaRPr/>
          </a:p>
        </p:txBody>
      </p:sp>
      <p:sp>
        <p:nvSpPr>
          <p:cNvPr id="394" name="Google Shape;394;p14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96" name="Google Shape;396;p14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98" name="Google Shape;398;p14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14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14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14"/>
          <p:cNvSpPr txBox="1"/>
          <p:nvPr/>
        </p:nvSpPr>
        <p:spPr>
          <a:xfrm>
            <a:off x="266700" y="1219247"/>
            <a:ext cx="8703836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Histogram is very often used to represent counts </a:t>
            </a:r>
            <a:endParaRPr/>
          </a:p>
          <a:p>
            <a:pPr indent="0" lvl="0" marL="2682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distribution of the continous variable.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interpretation of the histograms makes them somewhat comparable to bar charts for categorical variables nd Wilkinson dot plots for small samples.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difference between the histogram and the bar chart is that </a:t>
            </a:r>
            <a:r>
              <a:rPr b="1" lang="pl-P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the bins of a histogram is not determined a priori and the bins are set to represent the continous scale of the data</a:t>
            </a: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(i.e. we need to create „categories” for the continous scale)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determine histogram we need to specify bins width and the starting position of the first bin.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3164" y="984667"/>
            <a:ext cx="3009709" cy="2460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Histogram</a:t>
            </a:r>
            <a:endParaRPr/>
          </a:p>
        </p:txBody>
      </p:sp>
      <p:sp>
        <p:nvSpPr>
          <p:cNvPr id="412" name="Google Shape;412;p15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14" name="Google Shape;414;p15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16" name="Google Shape;416;p15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266700" y="1219247"/>
            <a:ext cx="87038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3600" y="1219247"/>
            <a:ext cx="5166936" cy="471600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3" name="Google Shape;423;p15"/>
          <p:cNvGraphicFramePr/>
          <p:nvPr/>
        </p:nvGraphicFramePr>
        <p:xfrm>
          <a:off x="1985819" y="109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{737DDF9B-F1F0-4D8E-8223-A6BB75848A53}</a:tableStyleId>
              </a:tblPr>
              <a:tblGrid>
                <a:gridCol w="1173625"/>
                <a:gridCol w="448425"/>
              </a:tblGrid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100" u="none" cap="none" strike="noStrike">
                          <a:solidFill>
                            <a:schemeClr val="lt1"/>
                          </a:solidFill>
                        </a:rPr>
                        <a:t>"Category" = bin</a:t>
                      </a:r>
                      <a:endParaRPr b="1" i="0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100" u="none" cap="none" strike="noStrike">
                          <a:solidFill>
                            <a:schemeClr val="lt1"/>
                          </a:solidFill>
                        </a:rPr>
                        <a:t>Count</a:t>
                      </a:r>
                      <a:endParaRPr b="1" i="0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0-5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105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5-10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169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10-15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809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15-20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1459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20-25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1179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25-30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764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30-35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525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35-40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361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40-45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192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45-50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126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50-55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90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55-60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50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60-65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41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65-70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26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70-75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36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75-80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80-85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85-90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90-95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95-100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100-105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105-110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110-115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115-120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120-125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125-130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130-135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135-140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140-145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145-150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100" u="none" cap="none" strike="noStrike"/>
                        <a:t>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25" marB="0" marR="7025" marL="70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24" name="Google Shape;4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721" y="1099625"/>
            <a:ext cx="1021976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" name="Google Shape;425;p15"/>
          <p:cNvCxnSpPr/>
          <p:nvPr/>
        </p:nvCxnSpPr>
        <p:spPr>
          <a:xfrm>
            <a:off x="1249093" y="1442385"/>
            <a:ext cx="736724" cy="598851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6" name="Google Shape;426;p15"/>
          <p:cNvCxnSpPr/>
          <p:nvPr/>
        </p:nvCxnSpPr>
        <p:spPr>
          <a:xfrm>
            <a:off x="1261555" y="1665523"/>
            <a:ext cx="736724" cy="598851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7" name="Google Shape;427;p15"/>
          <p:cNvCxnSpPr/>
          <p:nvPr/>
        </p:nvCxnSpPr>
        <p:spPr>
          <a:xfrm flipH="1" rot="10800000">
            <a:off x="1290895" y="1519986"/>
            <a:ext cx="694922" cy="1987412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8" name="Google Shape;428;p15"/>
          <p:cNvCxnSpPr/>
          <p:nvPr/>
        </p:nvCxnSpPr>
        <p:spPr>
          <a:xfrm flipH="1" rot="10800000">
            <a:off x="1282456" y="2929182"/>
            <a:ext cx="703361" cy="165233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6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Histogram</a:t>
            </a:r>
            <a:endParaRPr/>
          </a:p>
        </p:txBody>
      </p:sp>
      <p:sp>
        <p:nvSpPr>
          <p:cNvPr id="436" name="Google Shape;436;p16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38" name="Google Shape;438;p16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40" name="Google Shape;440;p16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5" name="Google Shape;4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8066" y="1542815"/>
            <a:ext cx="4622617" cy="3575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0200" y="1542815"/>
            <a:ext cx="4716546" cy="3648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7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7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Density plot (kernel density)</a:t>
            </a:r>
            <a:endParaRPr/>
          </a:p>
        </p:txBody>
      </p:sp>
      <p:sp>
        <p:nvSpPr>
          <p:cNvPr id="454" name="Google Shape;454;p17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58" name="Google Shape;458;p17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17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17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17"/>
          <p:cNvSpPr txBox="1"/>
          <p:nvPr/>
        </p:nvSpPr>
        <p:spPr>
          <a:xfrm>
            <a:off x="266700" y="1219247"/>
            <a:ext cx="8703836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density plot is a variation of histogram </a:t>
            </a:r>
            <a:endParaRPr/>
          </a:p>
          <a:p>
            <a:pPr indent="0" lvl="0" marL="2682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uses kernel smoothing function </a:t>
            </a:r>
            <a:endParaRPr/>
          </a:p>
          <a:p>
            <a:pPr indent="0" lvl="0" marL="2682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smooth the distribution.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Compared to histograms, density plots are better at determining the shape of the distribution because they are not affected by the number of bins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formally, kernel smoothing functions smooth out the contribution of each observed data point (x) over a local neighborhood of that data point (x(i)):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4" name="Google Shape;4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166" y="4871057"/>
            <a:ext cx="2806700" cy="74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5" name="Google Shape;465;p17"/>
          <p:cNvCxnSpPr/>
          <p:nvPr/>
        </p:nvCxnSpPr>
        <p:spPr>
          <a:xfrm rot="10800000">
            <a:off x="3352463" y="5222409"/>
            <a:ext cx="1041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6" name="Google Shape;466;p17"/>
          <p:cNvSpPr txBox="1"/>
          <p:nvPr/>
        </p:nvSpPr>
        <p:spPr>
          <a:xfrm>
            <a:off x="4393563" y="5035676"/>
            <a:ext cx="38688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estimated density at any point 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7"/>
          <p:cNvCxnSpPr/>
          <p:nvPr/>
        </p:nvCxnSpPr>
        <p:spPr>
          <a:xfrm rot="10800000">
            <a:off x="3015862" y="5617182"/>
            <a:ext cx="673202" cy="18839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8" name="Google Shape;468;p17"/>
          <p:cNvSpPr txBox="1"/>
          <p:nvPr/>
        </p:nvSpPr>
        <p:spPr>
          <a:xfrm>
            <a:off x="3689064" y="5747309"/>
            <a:ext cx="48196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Bandwidth = smoothing parameter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size of the neighborhood around x(i):</a:t>
            </a:r>
            <a:endParaRPr/>
          </a:p>
        </p:txBody>
      </p:sp>
      <p:cxnSp>
        <p:nvCxnSpPr>
          <p:cNvPr id="469" name="Google Shape;469;p17"/>
          <p:cNvCxnSpPr/>
          <p:nvPr/>
        </p:nvCxnSpPr>
        <p:spPr>
          <a:xfrm flipH="1" rot="10800000">
            <a:off x="1629917" y="5606914"/>
            <a:ext cx="139143" cy="28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0" name="Google Shape;470;p17"/>
          <p:cNvSpPr txBox="1"/>
          <p:nvPr/>
        </p:nvSpPr>
        <p:spPr>
          <a:xfrm>
            <a:off x="383115" y="5870595"/>
            <a:ext cx="481967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function –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determines the weight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to each x at point x(i)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their proximity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063" y="1271141"/>
            <a:ext cx="3417304" cy="21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8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Density plot (kernel density)</a:t>
            </a:r>
            <a:endParaRPr/>
          </a:p>
        </p:txBody>
      </p:sp>
      <p:sp>
        <p:nvSpPr>
          <p:cNvPr id="479" name="Google Shape;479;p18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81" name="Google Shape;481;p18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83" name="Google Shape;483;p18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18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18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18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18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8" name="Google Shape;4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0199" y="3983211"/>
            <a:ext cx="4320411" cy="265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611" y="1357003"/>
            <a:ext cx="4267588" cy="2626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9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9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Density plot (kernel density)</a:t>
            </a:r>
            <a:endParaRPr/>
          </a:p>
        </p:txBody>
      </p:sp>
      <p:sp>
        <p:nvSpPr>
          <p:cNvPr id="497" name="Google Shape;497;p19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99" name="Google Shape;499;p19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01" name="Google Shape;501;p19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19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19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19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19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6" name="Google Shape;5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500" y="4211781"/>
            <a:ext cx="3861000" cy="23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5501" y="1723034"/>
            <a:ext cx="3860999" cy="23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02" y="1224688"/>
            <a:ext cx="3860998" cy="23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45500" y="4243202"/>
            <a:ext cx="3861000" cy="23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9"/>
          <p:cNvSpPr/>
          <p:nvPr/>
        </p:nvSpPr>
        <p:spPr>
          <a:xfrm>
            <a:off x="5449819" y="1106838"/>
            <a:ext cx="3520719" cy="584775"/>
          </a:xfrm>
          <a:prstGeom prst="rect">
            <a:avLst/>
          </a:prstGeom>
          <a:solidFill>
            <a:srgbClr val="B5293B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Too large h will oversmooth the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Too small h will undersmooth the data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0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Histogram and density plot</a:t>
            </a:r>
            <a:endParaRPr/>
          </a:p>
        </p:txBody>
      </p:sp>
      <p:sp>
        <p:nvSpPr>
          <p:cNvPr id="518" name="Google Shape;518;p20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20" name="Google Shape;520;p20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22" name="Google Shape;522;p20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20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20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20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20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20"/>
          <p:cNvSpPr txBox="1"/>
          <p:nvPr/>
        </p:nvSpPr>
        <p:spPr>
          <a:xfrm>
            <a:off x="266700" y="1219247"/>
            <a:ext cx="8703836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 3: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dataset „Salaries”.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histograms and density plots for Professors’ salaries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histograms and density plots for Professors’ salaries by sex/rank/discipline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Intepret the graphs.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1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1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Histogram and density plot</a:t>
            </a:r>
            <a:endParaRPr/>
          </a:p>
        </p:txBody>
      </p:sp>
      <p:sp>
        <p:nvSpPr>
          <p:cNvPr id="535" name="Google Shape;535;p21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37" name="Google Shape;537;p21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39" name="Google Shape;539;p21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p21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21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21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21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p21"/>
          <p:cNvSpPr txBox="1"/>
          <p:nvPr/>
        </p:nvSpPr>
        <p:spPr>
          <a:xfrm>
            <a:off x="266700" y="1219247"/>
            <a:ext cx="870383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 4: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will you interpret the area filled with blue on the following density graph?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493" y="2800847"/>
            <a:ext cx="5706708" cy="3433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2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2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Box plot</a:t>
            </a:r>
            <a:endParaRPr/>
          </a:p>
        </p:txBody>
      </p:sp>
      <p:sp>
        <p:nvSpPr>
          <p:cNvPr id="553" name="Google Shape;553;p22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55" name="Google Shape;555;p22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57" name="Google Shape;557;p22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22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22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22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22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p22"/>
          <p:cNvSpPr txBox="1"/>
          <p:nvPr/>
        </p:nvSpPr>
        <p:spPr>
          <a:xfrm>
            <a:off x="266700" y="1219247"/>
            <a:ext cx="8703836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Boxplots are a mixture of summary information (like histograms) and information on individual points (like dot plots).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summarizes the distribution by plotting quartiles.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Outliers are often plotted as individual points 🡪 boxplot is often used to detect outliers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on03.files.wordpress.com/2011/10/boxplot.jpg" id="563" name="Google Shape;5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079" y="3299255"/>
            <a:ext cx="3868120" cy="3514463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2"/>
          <p:cNvSpPr txBox="1"/>
          <p:nvPr/>
        </p:nvSpPr>
        <p:spPr>
          <a:xfrm>
            <a:off x="1118937" y="6577075"/>
            <a:ext cx="48366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https://lon03.wordpress.com/</a:t>
            </a:r>
            <a:endParaRPr/>
          </a:p>
        </p:txBody>
      </p:sp>
      <p:cxnSp>
        <p:nvCxnSpPr>
          <p:cNvPr id="565" name="Google Shape;565;p22"/>
          <p:cNvCxnSpPr/>
          <p:nvPr/>
        </p:nvCxnSpPr>
        <p:spPr>
          <a:xfrm flipH="1" rot="10800000">
            <a:off x="2887579" y="4959927"/>
            <a:ext cx="2686850" cy="370063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6" name="Google Shape;566;p22"/>
          <p:cNvCxnSpPr/>
          <p:nvPr/>
        </p:nvCxnSpPr>
        <p:spPr>
          <a:xfrm flipH="1" rot="10800000">
            <a:off x="2654968" y="3907689"/>
            <a:ext cx="2791326" cy="866273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7" name="Google Shape;567;p22"/>
          <p:cNvSpPr txBox="1"/>
          <p:nvPr/>
        </p:nvSpPr>
        <p:spPr>
          <a:xfrm>
            <a:off x="5770094" y="4775626"/>
            <a:ext cx="11592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2"/>
          <p:cNvSpPr txBox="1"/>
          <p:nvPr/>
        </p:nvSpPr>
        <p:spPr>
          <a:xfrm>
            <a:off x="5678904" y="3446024"/>
            <a:ext cx="31510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Whisker – it is set using the IQR rule (1.5+/- IQR)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3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3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Box plot</a:t>
            </a:r>
            <a:endParaRPr/>
          </a:p>
        </p:txBody>
      </p:sp>
      <p:sp>
        <p:nvSpPr>
          <p:cNvPr id="576" name="Google Shape;576;p23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78" name="Google Shape;578;p23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80" name="Google Shape;580;p23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p23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p23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" name="Google Shape;583;p23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23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23"/>
          <p:cNvSpPr txBox="1"/>
          <p:nvPr/>
        </p:nvSpPr>
        <p:spPr>
          <a:xfrm>
            <a:off x="266700" y="1219247"/>
            <a:ext cx="870383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 5: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the boxplot for salaries data.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your graph give answers to the following questions: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the range, the three quartiles and the interquartile range? Check your answers with calculating the relevant quartiles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40th percentile is equal to 100 000, about how much of the sample earns between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91 000 and 100 000?</a:t>
            </a:r>
            <a:endParaRPr/>
          </a:p>
          <a:p>
            <a:pPr indent="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how many outliers can you identify in the data?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4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4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Data visualization in R</a:t>
            </a:r>
            <a:endParaRPr/>
          </a:p>
        </p:txBody>
      </p:sp>
      <p:sp>
        <p:nvSpPr>
          <p:cNvPr id="593" name="Google Shape;593;p24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95" name="Google Shape;595;p24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97" name="Google Shape;597;p24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24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24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24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24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b="1" sz="11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24"/>
          <p:cNvSpPr txBox="1"/>
          <p:nvPr/>
        </p:nvSpPr>
        <p:spPr>
          <a:xfrm>
            <a:off x="266700" y="1219247"/>
            <a:ext cx="870383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3" name="Google Shape;603;p24"/>
          <p:cNvGraphicFramePr/>
          <p:nvPr/>
        </p:nvGraphicFramePr>
        <p:xfrm>
          <a:off x="376869" y="1099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{737DDF9B-F1F0-4D8E-8223-A6BB75848A53}</a:tableStyleId>
              </a:tblPr>
              <a:tblGrid>
                <a:gridCol w="2033825"/>
                <a:gridCol w="2697025"/>
                <a:gridCol w="3435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Built in functions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Ggplot package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293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 bar chart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bars &lt;- table(var1)</a:t>
                      </a:r>
                      <a:br>
                        <a:rPr lang="pl-PL" sz="1400" u="none" cap="none" strike="noStrike"/>
                      </a:br>
                      <a:r>
                        <a:rPr lang="pl-PL" sz="1400" u="none" cap="none" strike="noStrike"/>
                        <a:t>barplot(bars)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ggplot(data=., aes(x=var1)+ geom_bar(stat="count")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3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Stacked bar chart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bars &lt;- table(var1,var2)</a:t>
                      </a:r>
                      <a:br>
                        <a:rPr lang="pl-PL" sz="1400" u="none" cap="none" strike="noStrike"/>
                      </a:br>
                      <a:r>
                        <a:rPr lang="pl-PL" sz="1400" u="none" cap="none" strike="noStrike"/>
                        <a:t>barplot(bars)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ggplot(data=., aes(x=var1, fill=var2))+ geom_bar(stat="count")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3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Grouped bar chart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bars &lt;- table(var1,var2)</a:t>
                      </a:r>
                      <a:br>
                        <a:rPr lang="pl-PL" sz="1400" u="none" cap="none" strike="noStrike"/>
                      </a:br>
                      <a:r>
                        <a:rPr lang="pl-PL" sz="1400" u="none" cap="none" strike="noStrike"/>
                        <a:t>barplot(bars, beside=TRUE)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ggplot(data=., aes(x=var1, fill=var2))+ geom_bar(stat="count", position="dodge")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3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Spine plot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spineplot(var1 ~ var2)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ggplot(data=., aes(x=var1, fill=var2))+ geom_bar(stat="count", position="fill")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04" name="Google Shape;6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047" y="1678998"/>
            <a:ext cx="1562769" cy="879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929" y="2846186"/>
            <a:ext cx="1562769" cy="101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929" y="4093292"/>
            <a:ext cx="1513028" cy="973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3813" y="5376657"/>
            <a:ext cx="1519411" cy="1235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5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5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Data visualization in R</a:t>
            </a:r>
            <a:endParaRPr/>
          </a:p>
        </p:txBody>
      </p:sp>
      <p:sp>
        <p:nvSpPr>
          <p:cNvPr id="615" name="Google Shape;615;p25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25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17" name="Google Shape;617;p25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25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19" name="Google Shape;619;p25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25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25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25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3" name="Google Shape;623;p25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b="1" sz="11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25"/>
          <p:cNvSpPr txBox="1"/>
          <p:nvPr/>
        </p:nvSpPr>
        <p:spPr>
          <a:xfrm>
            <a:off x="266700" y="1219247"/>
            <a:ext cx="870383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5" name="Google Shape;625;p25"/>
          <p:cNvGraphicFramePr/>
          <p:nvPr/>
        </p:nvGraphicFramePr>
        <p:xfrm>
          <a:off x="376869" y="1099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{737DDF9B-F1F0-4D8E-8223-A6BB75848A53}</a:tableStyleId>
              </a:tblPr>
              <a:tblGrid>
                <a:gridCol w="2033825"/>
                <a:gridCol w="2852675"/>
                <a:gridCol w="3280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Built in functions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Ggplot package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293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Pie chart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slices &lt;- table(var1)</a:t>
                      </a:r>
                      <a:br>
                        <a:rPr lang="pl-PL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pl-PL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pie(slices)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 &lt;- ggplot(data=., aes(x="", fill=var1))+geom_bar()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 + coord_polar(theta="y", start=0)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3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Dot plot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plot(var1, type='p')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3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Wilkinson dot plot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available with built in funcitons.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use: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install.packages("BHH2")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library(BHH2)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dotPlot(var1)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ggplot(data=., aes(x=var1)) + geom_dotplot()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3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Cleveland dot plot</a:t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dotchart(var1)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ggplot(data=., aes(x=var1, y=reorder(var2, var1))) + geom_point()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26" name="Google Shape;6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410" y="1694663"/>
            <a:ext cx="938915" cy="8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410" y="2996404"/>
            <a:ext cx="1261608" cy="68658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9" name="Google Shape;629;p25"/>
          <p:cNvGraphicFramePr/>
          <p:nvPr/>
        </p:nvGraphicFramePr>
        <p:xfrm>
          <a:off x="450094" y="4140279"/>
          <a:ext cx="1308878" cy="877380"/>
        </p:xfrm>
        <a:graphic>
          <a:graphicData uri="http://schemas.openxmlformats.org/presentationml/2006/ole">
            <mc:AlternateContent>
              <mc:Choice Requires="v">
                <p:oleObj r:id="rId6" imgH="877380" imgW="1308878" progId="Paint.Picture" spid="_x0000_s1">
                  <p:embed/>
                </p:oleObj>
              </mc:Choice>
              <mc:Fallback>
                <p:oleObj r:id="rId7" imgH="877380" imgW="1308878" progId="Paint.Picture">
                  <p:embed/>
                  <p:pic>
                    <p:nvPicPr>
                      <p:cNvPr id="629" name="Google Shape;629;p25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0094" y="4140279"/>
                        <a:ext cx="1308878" cy="877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0" name="Google Shape;630;p25"/>
          <p:cNvSpPr/>
          <p:nvPr/>
        </p:nvSpPr>
        <p:spPr>
          <a:xfrm flipH="1" rot="10800000">
            <a:off x="450094" y="5042662"/>
            <a:ext cx="62946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1" name="Google Shape;631;p25"/>
          <p:cNvGraphicFramePr/>
          <p:nvPr/>
        </p:nvGraphicFramePr>
        <p:xfrm>
          <a:off x="450094" y="5481810"/>
          <a:ext cx="1101573" cy="970433"/>
        </p:xfrm>
        <a:graphic>
          <a:graphicData uri="http://schemas.openxmlformats.org/presentationml/2006/ole">
            <mc:AlternateContent>
              <mc:Choice Requires="v">
                <p:oleObj r:id="rId9" imgH="970433" imgW="1101573" progId="Paint.Picture" spid="_x0000_s2">
                  <p:embed/>
                </p:oleObj>
              </mc:Choice>
              <mc:Fallback>
                <p:oleObj r:id="rId10" imgH="970433" imgW="1101573" progId="Paint.Picture">
                  <p:embed/>
                  <p:pic>
                    <p:nvPicPr>
                      <p:cNvPr id="631" name="Google Shape;631;p25"/>
                      <p:cNvPicPr preferRelativeResize="0"/>
                      <p:nvPr/>
                    </p:nvPicPr>
                    <p:blipFill rotWithShape="1">
                      <a:blip r:embed="rId1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0094" y="5481810"/>
                        <a:ext cx="1101573" cy="970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6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6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l-PL"/>
              <a:t>Data visualization in R</a:t>
            </a:r>
            <a:endParaRPr/>
          </a:p>
        </p:txBody>
      </p:sp>
      <p:sp>
        <p:nvSpPr>
          <p:cNvPr id="639" name="Google Shape;639;p26"/>
          <p:cNvSpPr txBox="1"/>
          <p:nvPr/>
        </p:nvSpPr>
        <p:spPr>
          <a:xfrm>
            <a:off x="4914128" y="996109"/>
            <a:ext cx="1258073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projekcie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41" name="Google Shape;641;p26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43" name="Google Shape;643;p26"/>
          <p:cNvSpPr txBox="1"/>
          <p:nvPr/>
        </p:nvSpPr>
        <p:spPr>
          <a:xfrm>
            <a:off x="7760179" y="15142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4" name="Google Shape;644;p26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5" name="Google Shape;645;p26"/>
          <p:cNvSpPr txBox="1"/>
          <p:nvPr/>
        </p:nvSpPr>
        <p:spPr>
          <a:xfrm>
            <a:off x="1000881" y="-33762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6" name="Google Shape;646;p26"/>
          <p:cNvSpPr txBox="1"/>
          <p:nvPr/>
        </p:nvSpPr>
        <p:spPr>
          <a:xfrm>
            <a:off x="2163918" y="-44044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for continous variables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26"/>
          <p:cNvSpPr txBox="1"/>
          <p:nvPr/>
        </p:nvSpPr>
        <p:spPr>
          <a:xfrm>
            <a:off x="3202126" y="6150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</a:t>
            </a:r>
            <a:endParaRPr b="1" sz="11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26"/>
          <p:cNvSpPr txBox="1"/>
          <p:nvPr/>
        </p:nvSpPr>
        <p:spPr>
          <a:xfrm>
            <a:off x="266700" y="1219247"/>
            <a:ext cx="870383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1252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9" name="Google Shape;649;p26"/>
          <p:cNvGraphicFramePr/>
          <p:nvPr/>
        </p:nvGraphicFramePr>
        <p:xfrm>
          <a:off x="376869" y="1099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{737DDF9B-F1F0-4D8E-8223-A6BB75848A53}</a:tableStyleId>
              </a:tblPr>
              <a:tblGrid>
                <a:gridCol w="2033825"/>
                <a:gridCol w="2852675"/>
                <a:gridCol w="3280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Built in functions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/>
                        <a:t>Ggplot package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293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Histogram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hist(var1)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ggplot(data=., aes(x=var1)) +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geom_histogram()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3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Kernel density</a:t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&lt;- density(var1) 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plot(d) 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ggplot(data=., aes(x=var1)) + geom_density()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3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Boxplot</a:t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boxplot(var1)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ggplot(data=., aes(x="", y=var1)) + geom_boxplot()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0" name="Google Shape;650;p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6"/>
          <p:cNvSpPr/>
          <p:nvPr/>
        </p:nvSpPr>
        <p:spPr>
          <a:xfrm flipH="1" rot="10800000">
            <a:off x="450094" y="5042543"/>
            <a:ext cx="6294703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1305212" y="243174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3" name="Google Shape;653;p26"/>
          <p:cNvGraphicFramePr/>
          <p:nvPr/>
        </p:nvGraphicFramePr>
        <p:xfrm>
          <a:off x="450094" y="1831260"/>
          <a:ext cx="1800188" cy="784697"/>
        </p:xfrm>
        <a:graphic>
          <a:graphicData uri="http://schemas.openxmlformats.org/presentationml/2006/ole">
            <mc:AlternateContent>
              <mc:Choice Requires="v">
                <p:oleObj r:id="rId4" imgH="784697" imgW="1800188" progId="Paint.Picture" spid="_x0000_s1">
                  <p:embed/>
                </p:oleObj>
              </mc:Choice>
              <mc:Fallback>
                <p:oleObj r:id="rId5" imgH="784697" imgW="1800188" progId="Paint.Picture">
                  <p:embed/>
                  <p:pic>
                    <p:nvPicPr>
                      <p:cNvPr id="653" name="Google Shape;653;p2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0094" y="1831260"/>
                        <a:ext cx="1800188" cy="784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4" name="Google Shape;654;p26"/>
          <p:cNvSpPr/>
          <p:nvPr/>
        </p:nvSpPr>
        <p:spPr>
          <a:xfrm flipH="1" rot="10800000">
            <a:off x="450094" y="2641994"/>
            <a:ext cx="7119044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5" name="Google Shape;655;p26"/>
          <p:cNvGraphicFramePr/>
          <p:nvPr/>
        </p:nvGraphicFramePr>
        <p:xfrm>
          <a:off x="450094" y="3032221"/>
          <a:ext cx="1238417" cy="1371899"/>
        </p:xfrm>
        <a:graphic>
          <a:graphicData uri="http://schemas.openxmlformats.org/presentationml/2006/ole">
            <mc:AlternateContent>
              <mc:Choice Requires="v">
                <p:oleObj r:id="rId7" imgH="1371899" imgW="1238417" progId="Paint.Picture" spid="_x0000_s2">
                  <p:embed/>
                </p:oleObj>
              </mc:Choice>
              <mc:Fallback>
                <p:oleObj r:id="rId8" imgH="1371899" imgW="1238417" progId="Paint.Picture">
                  <p:embed/>
                  <p:pic>
                    <p:nvPicPr>
                      <p:cNvPr id="655" name="Google Shape;655;p26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0094" y="3032221"/>
                        <a:ext cx="1238417" cy="1371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56" name="Google Shape;656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5400000">
            <a:off x="381341" y="5041689"/>
            <a:ext cx="1580682" cy="1033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7"/>
          <p:cNvSpPr/>
          <p:nvPr/>
        </p:nvSpPr>
        <p:spPr>
          <a:xfrm>
            <a:off x="1" y="614877"/>
            <a:ext cx="138564" cy="484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7"/>
          <p:cNvSpPr txBox="1"/>
          <p:nvPr>
            <p:ph type="title"/>
          </p:nvPr>
        </p:nvSpPr>
        <p:spPr>
          <a:xfrm>
            <a:off x="138565" y="620957"/>
            <a:ext cx="8831973" cy="59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88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pl-PL"/>
              <a:t>Bibliography</a:t>
            </a:r>
            <a:endParaRPr b="1"/>
          </a:p>
        </p:txBody>
      </p:sp>
      <p:sp>
        <p:nvSpPr>
          <p:cNvPr id="664" name="Google Shape;664;p27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65" name="Google Shape;665;p27"/>
          <p:cNvSpPr txBox="1"/>
          <p:nvPr/>
        </p:nvSpPr>
        <p:spPr>
          <a:xfrm>
            <a:off x="7610742" y="124767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p27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67" name="Google Shape;667;p27"/>
          <p:cNvSpPr txBox="1"/>
          <p:nvPr/>
        </p:nvSpPr>
        <p:spPr>
          <a:xfrm>
            <a:off x="57709" y="48766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27"/>
          <p:cNvSpPr txBox="1"/>
          <p:nvPr/>
        </p:nvSpPr>
        <p:spPr>
          <a:xfrm>
            <a:off x="1000881" y="58598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9" name="Google Shape;669;p27"/>
          <p:cNvSpPr txBox="1"/>
          <p:nvPr/>
        </p:nvSpPr>
        <p:spPr>
          <a:xfrm>
            <a:off x="3202126" y="135395"/>
            <a:ext cx="125807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27"/>
          <p:cNvSpPr txBox="1"/>
          <p:nvPr/>
        </p:nvSpPr>
        <p:spPr>
          <a:xfrm>
            <a:off x="2163918" y="66789"/>
            <a:ext cx="125807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1" name="Google Shape;671;p27"/>
          <p:cNvSpPr txBox="1"/>
          <p:nvPr/>
        </p:nvSpPr>
        <p:spPr>
          <a:xfrm>
            <a:off x="4365163" y="-15288"/>
            <a:ext cx="125807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 and shape in R</a:t>
            </a:r>
            <a:endParaRPr/>
          </a:p>
        </p:txBody>
      </p:sp>
      <p:sp>
        <p:nvSpPr>
          <p:cNvPr id="672" name="Google Shape;672;p27"/>
          <p:cNvSpPr txBox="1"/>
          <p:nvPr/>
        </p:nvSpPr>
        <p:spPr>
          <a:xfrm>
            <a:off x="7787154" y="133404"/>
            <a:ext cx="14415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b="1" sz="1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27"/>
          <p:cNvSpPr txBox="1"/>
          <p:nvPr/>
        </p:nvSpPr>
        <p:spPr>
          <a:xfrm>
            <a:off x="0" y="1337950"/>
            <a:ext cx="873345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 txBox="1"/>
          <p:nvPr>
            <p:ph idx="1" type="body"/>
          </p:nvPr>
        </p:nvSpPr>
        <p:spPr>
          <a:xfrm>
            <a:off x="338569" y="1596439"/>
            <a:ext cx="8528339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l-PL"/>
              <a:t>Antony Unwin, Martin Theus, Heike Hofmann, Graphics of Large Datasets Visualizing a Million. Springer 2006.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l-PL"/>
              <a:t>Winston Chang. Practical Recipes for Visualizing Data. R Graphics Cookbook. O’Reilly 2012.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l-PL"/>
              <a:t>For data visualization using ggplot: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l-PL" u="sng">
                <a:solidFill>
                  <a:schemeClr val="hlink"/>
                </a:solidFill>
                <a:hlinkClick r:id="rId3"/>
              </a:rPr>
              <a:t>http://r-statistics.co/Top50-Ggplot2-Visualizations-MasterList-R-Code.html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l-PL" u="sng">
                <a:solidFill>
                  <a:schemeClr val="hlink"/>
                </a:solidFill>
                <a:hlinkClick r:id="rId4"/>
              </a:rPr>
              <a:t>http://www.cookbook-r.com/Graphs/Plotting_distributions_(ggplot2)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l-PL"/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8"/>
          <p:cNvSpPr txBox="1"/>
          <p:nvPr/>
        </p:nvSpPr>
        <p:spPr>
          <a:xfrm>
            <a:off x="686745" y="2874931"/>
            <a:ext cx="747743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for your attention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for practice!</a:t>
            </a:r>
            <a:endParaRPr/>
          </a:p>
        </p:txBody>
      </p:sp>
      <p:pic>
        <p:nvPicPr>
          <p:cNvPr id="680" name="Google Shape;6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192" y="6199129"/>
            <a:ext cx="2353106" cy="658871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8"/>
          <p:cNvSpPr/>
          <p:nvPr/>
        </p:nvSpPr>
        <p:spPr>
          <a:xfrm>
            <a:off x="0" y="1501"/>
            <a:ext cx="9144000" cy="556442"/>
          </a:xfrm>
          <a:prstGeom prst="rect">
            <a:avLst/>
          </a:prstGeom>
          <a:solidFill>
            <a:srgbClr val="B5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2016-03-12T15:08:02Z</dcterms:created>
  <dc:creator>Peter</dc:creator>
</cp:coreProperties>
</file>