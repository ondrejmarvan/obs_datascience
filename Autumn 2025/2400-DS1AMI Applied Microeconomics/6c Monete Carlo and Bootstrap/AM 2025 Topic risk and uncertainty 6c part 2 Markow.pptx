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58" r:id="rId3"/>
    <p:sldId id="28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3" r:id="rId13"/>
    <p:sldId id="275" r:id="rId14"/>
    <p:sldId id="266" r:id="rId15"/>
    <p:sldId id="271" r:id="rId16"/>
    <p:sldId id="277" r:id="rId17"/>
    <p:sldId id="278" r:id="rId18"/>
    <p:sldId id="279" r:id="rId19"/>
    <p:sldId id="276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4064E-E12F-4863-A5FD-BC4530A98F37}" type="datetimeFigureOut">
              <a:rPr lang="pl-PL" smtClean="0"/>
              <a:t>18.12.2024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18ECB-067D-4625-9672-FC0F24B086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911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CustomShape 2"/>
          <p:cNvSpPr/>
          <p:nvPr/>
        </p:nvSpPr>
        <p:spPr>
          <a:xfrm>
            <a:off x="3884760" y="8685360"/>
            <a:ext cx="2971800" cy="45720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6798" rIns="89997" bIns="46798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F4C38F-350D-4F27-90DB-48D8DDCA7592}" type="slidenum">
              <a:rPr kumimoji="0" lang="pl-PL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566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7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5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0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04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93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09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12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60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54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2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36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C877B-43D9-455E-957D-0B2E9A7AD74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18/12/2024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EAA52-DF87-4C2C-8580-DFD7B42B9767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34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share/67630e05-549c-8010-af8c-42d32b9b033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7dsfNFA9LRE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ursera.org/course/modelthinkin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1974180" y="1556792"/>
            <a:ext cx="8101080" cy="35056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ctr"/>
            <a:r>
              <a:rPr lang="en-US" sz="5400" b="1" i="1" spc="-1" dirty="0">
                <a:solidFill>
                  <a:srgbClr val="215968"/>
                </a:solidFill>
              </a:rPr>
              <a:t>Risk and uncertainty </a:t>
            </a:r>
          </a:p>
          <a:p>
            <a:pPr algn="ctr"/>
            <a:r>
              <a:rPr lang="pl-PL" sz="5400" b="1" i="1" spc="-1" dirty="0">
                <a:solidFill>
                  <a:srgbClr val="215968"/>
                </a:solidFill>
              </a:rPr>
              <a:t> </a:t>
            </a:r>
          </a:p>
          <a:p>
            <a:pPr algn="ctr"/>
            <a:r>
              <a:rPr lang="en-GB" sz="5400" b="1" i="1" spc="-1" dirty="0">
                <a:solidFill>
                  <a:srgbClr val="215968"/>
                </a:solidFill>
              </a:rPr>
              <a:t>Topic </a:t>
            </a:r>
            <a:r>
              <a:rPr lang="pl-PL" sz="5400" b="1" i="1" spc="-1" dirty="0">
                <a:solidFill>
                  <a:srgbClr val="215968"/>
                </a:solidFill>
              </a:rPr>
              <a:t>6b</a:t>
            </a:r>
            <a:r>
              <a:rPr lang="en-GB" sz="5400" b="1" i="1" spc="-1" dirty="0">
                <a:solidFill>
                  <a:srgbClr val="215968"/>
                </a:solidFill>
              </a:rPr>
              <a:t> </a:t>
            </a:r>
            <a:r>
              <a:rPr lang="pl-PL" sz="5400" b="1" i="1" spc="-1" dirty="0">
                <a:solidFill>
                  <a:srgbClr val="215968"/>
                </a:solidFill>
              </a:rPr>
              <a:t>Part 2 </a:t>
            </a:r>
          </a:p>
          <a:p>
            <a:pPr algn="ctr"/>
            <a:endParaRPr lang="pl-PL" sz="5400" b="1" i="1" spc="-1" dirty="0">
              <a:solidFill>
                <a:srgbClr val="215968"/>
              </a:solidFill>
            </a:endParaRPr>
          </a:p>
          <a:p>
            <a:pPr algn="ctr"/>
            <a:r>
              <a:rPr lang="en-US" sz="5400" b="1" dirty="0">
                <a:solidFill>
                  <a:srgbClr val="4BACC6">
                    <a:lumMod val="50000"/>
                  </a:srgbClr>
                </a:solidFill>
              </a:rPr>
              <a:t>Markov chain</a:t>
            </a:r>
            <a:endParaRPr lang="pl-PL" sz="5400" b="1" i="1" spc="-1" dirty="0">
              <a:solidFill>
                <a:srgbClr val="215968"/>
              </a:solidFill>
            </a:endParaRPr>
          </a:p>
          <a:p>
            <a:pPr algn="ctr"/>
            <a:endParaRPr lang="pl-PL" sz="3200" b="1" i="1" spc="-1" dirty="0">
              <a:solidFill>
                <a:srgbClr val="215968"/>
              </a:solidFill>
            </a:endParaRPr>
          </a:p>
          <a:p>
            <a:pPr algn="ctr"/>
            <a:endParaRPr lang="en-GB" sz="3200" b="1" i="1" spc="-1" dirty="0">
              <a:solidFill>
                <a:srgbClr val="215968"/>
              </a:solidFill>
              <a:latin typeface="Calibri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1716240" y="696960"/>
            <a:ext cx="8616960" cy="720720"/>
          </a:xfrm>
          <a:prstGeom prst="rect">
            <a:avLst/>
          </a:prstGeom>
          <a:solidFill>
            <a:srgbClr val="2159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r>
              <a:rPr lang="pl-PL" sz="3200" b="1" spc="-1">
                <a:solidFill>
                  <a:srgbClr val="FFFFFF"/>
                </a:solidFill>
                <a:latin typeface="Calibri"/>
              </a:rPr>
              <a:t>WNE UW</a:t>
            </a:r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7" name="Picture 3"/>
          <p:cNvPicPr/>
          <p:nvPr/>
        </p:nvPicPr>
        <p:blipFill>
          <a:blip r:embed="rId3"/>
          <a:stretch/>
        </p:blipFill>
        <p:spPr>
          <a:xfrm>
            <a:off x="9577925" y="351855"/>
            <a:ext cx="2338200" cy="1898640"/>
          </a:xfrm>
          <a:prstGeom prst="rect">
            <a:avLst/>
          </a:prstGeom>
          <a:ln>
            <a:noFill/>
          </a:ln>
          <a:effectLst>
            <a:outerShdw dist="139498" dir="270000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791066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/>
          <p:cNvSpPr/>
          <p:nvPr/>
        </p:nvSpPr>
        <p:spPr>
          <a:xfrm>
            <a:off x="221381" y="1143000"/>
            <a:ext cx="1188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The popularity of Markov processes for analyzing risky situations is amazing</a:t>
            </a:r>
            <a:r>
              <a:rPr lang="pl-PL" sz="3200" dirty="0">
                <a:solidFill>
                  <a:srgbClr val="4BACC6">
                    <a:lumMod val="50000"/>
                  </a:srgbClr>
                </a:solidFill>
              </a:rPr>
              <a:t> (</a:t>
            </a:r>
            <a:r>
              <a:rPr lang="pl-PL" sz="1600" dirty="0">
                <a:solidFill>
                  <a:srgbClr val="4BACC6">
                    <a:lumMod val="50000"/>
                  </a:srgbClr>
                </a:solidFill>
                <a:hlinkClick r:id="rId2"/>
              </a:rPr>
              <a:t>https://chatgpt.com/share/67630e05-549c-8010-af8c-42d32b9b033f</a:t>
            </a:r>
            <a:r>
              <a:rPr lang="pl-PL" sz="3200" dirty="0">
                <a:solidFill>
                  <a:srgbClr val="4BACC6">
                    <a:lumMod val="50000"/>
                  </a:srgbClr>
                </a:solidFill>
              </a:rPr>
              <a:t>).</a:t>
            </a: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 It is worth to know the powerful tool. We will focus on the Markov chains model. It is a good example of how to model situations that seem random and unpredicted. </a:t>
            </a:r>
          </a:p>
        </p:txBody>
      </p:sp>
      <p:sp>
        <p:nvSpPr>
          <p:cNvPr id="3" name="TextShape 1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/>
            <a:r>
              <a:rPr lang="pl-PL" sz="3600" b="1" i="1" spc="-1" dirty="0" err="1">
                <a:solidFill>
                  <a:srgbClr val="215968"/>
                </a:solidFill>
              </a:rPr>
              <a:t>Intro</a:t>
            </a:r>
            <a:endParaRPr lang="en-GB" sz="2400" b="1" i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877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8B07-DE1D-4202-FCBD-CAD30841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47B38B46-2241-4ED0-C6C5-75A7A1990560}"/>
              </a:ext>
            </a:extLst>
          </p:cNvPr>
          <p:cNvSpPr/>
          <p:nvPr/>
        </p:nvSpPr>
        <p:spPr>
          <a:xfrm>
            <a:off x="221381" y="1143000"/>
            <a:ext cx="1179227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Problem: I would like to know how many lecture materials I should prepare, i.e., how many students will be in my lecture after 10 weeks and how many copies to make. How can I model the uncertain demand for the copies?  A more professional name for the problem: Customer Churn or Retention Model :) </a:t>
            </a:r>
          </a:p>
          <a:p>
            <a:pPr algn="just"/>
            <a:endParaRPr lang="en-US" sz="3200" dirty="0">
              <a:solidFill>
                <a:srgbClr val="4BACC6">
                  <a:lumMod val="50000"/>
                </a:srgbClr>
              </a:solidFill>
            </a:endParaRPr>
          </a:p>
          <a:p>
            <a:pPr algn="just"/>
            <a:endParaRPr lang="en-US" sz="3200" dirty="0">
              <a:solidFill>
                <a:srgbClr val="4BACC6">
                  <a:lumMod val="50000"/>
                </a:srgbClr>
              </a:solidFill>
            </a:endParaRPr>
          </a:p>
          <a:p>
            <a:pPr algn="just"/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I can count the number of students at the beginning of the lectures, estimate the flow of students, extend my observation to the future (Markov chain), and find the steady-state of the model. How do I do it? </a:t>
            </a:r>
            <a:endParaRPr lang="en-GB" sz="3200" dirty="0">
              <a:solidFill>
                <a:srgbClr val="4BACC6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3" name="TextShape 1">
            <a:extLst>
              <a:ext uri="{FF2B5EF4-FFF2-40B4-BE49-F238E27FC236}">
                <a16:creationId xmlns:a16="http://schemas.microsoft.com/office/drawing/2014/main" id="{1425AEE6-4798-377F-FACC-E40D81C3033D}"/>
              </a:ext>
            </a:extLst>
          </p:cNvPr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/>
            <a:r>
              <a:rPr lang="pl-PL" sz="3600" b="1" i="1" spc="-1" dirty="0" err="1">
                <a:solidFill>
                  <a:srgbClr val="215968"/>
                </a:solidFill>
              </a:rPr>
              <a:t>Intro</a:t>
            </a:r>
            <a:endParaRPr lang="en-GB" sz="2400" b="1" i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769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/>
          <p:cNvSpPr txBox="1"/>
          <p:nvPr/>
        </p:nvSpPr>
        <p:spPr>
          <a:xfrm>
            <a:off x="433137" y="1192818"/>
            <a:ext cx="112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1)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Time is discrete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--&gt;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applied microeconomics lectures every Friday</a:t>
            </a:r>
            <a:endParaRPr lang="pl-PL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  <p:sp>
        <p:nvSpPr>
          <p:cNvPr id="65" name="Prostokąt 64"/>
          <p:cNvSpPr/>
          <p:nvPr/>
        </p:nvSpPr>
        <p:spPr>
          <a:xfrm>
            <a:off x="407764" y="3302644"/>
            <a:ext cx="1169469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2)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Limited number of states</a:t>
            </a:r>
            <a:endParaRPr lang="pl-PL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PRSNT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 --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the student is present on the lecture</a:t>
            </a:r>
            <a:endParaRPr lang="pl-PL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ABSNT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 --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the student is absent</a:t>
            </a:r>
            <a:endParaRPr lang="pl-PL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3) We know/estimate the probabilities of changing the state from the period t 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to  t 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+1</a:t>
            </a:r>
            <a:endParaRPr lang="en-US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We can estimate 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the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transition matrix</a:t>
            </a:r>
          </a:p>
        </p:txBody>
      </p:sp>
      <p:grpSp>
        <p:nvGrpSpPr>
          <p:cNvPr id="74" name="Grupa 73"/>
          <p:cNvGrpSpPr/>
          <p:nvPr/>
        </p:nvGrpSpPr>
        <p:grpSpPr>
          <a:xfrm>
            <a:off x="1688497" y="2227812"/>
            <a:ext cx="8693085" cy="936193"/>
            <a:chOff x="323528" y="1808820"/>
            <a:chExt cx="7632848" cy="936193"/>
          </a:xfrm>
        </p:grpSpPr>
        <p:cxnSp>
          <p:nvCxnSpPr>
            <p:cNvPr id="58" name="Łącznik prosty ze strzałką 57"/>
            <p:cNvCxnSpPr/>
            <p:nvPr/>
          </p:nvCxnSpPr>
          <p:spPr>
            <a:xfrm>
              <a:off x="323528" y="1916832"/>
              <a:ext cx="763284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Łącznik prostoliniowy 59"/>
            <p:cNvCxnSpPr/>
            <p:nvPr/>
          </p:nvCxnSpPr>
          <p:spPr>
            <a:xfrm>
              <a:off x="1763688" y="1808820"/>
              <a:ext cx="0" cy="21602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Łącznik prostoliniowy 60"/>
            <p:cNvCxnSpPr/>
            <p:nvPr/>
          </p:nvCxnSpPr>
          <p:spPr>
            <a:xfrm>
              <a:off x="2555776" y="1808820"/>
              <a:ext cx="0" cy="21602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Łącznik prostoliniowy 61"/>
            <p:cNvCxnSpPr/>
            <p:nvPr/>
          </p:nvCxnSpPr>
          <p:spPr>
            <a:xfrm>
              <a:off x="5508104" y="1808820"/>
              <a:ext cx="0" cy="21602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6" name="Text Box 18"/>
            <p:cNvSpPr txBox="1">
              <a:spLocks noChangeArrowheads="1"/>
            </p:cNvSpPr>
            <p:nvPr/>
          </p:nvSpPr>
          <p:spPr bwMode="auto">
            <a:xfrm>
              <a:off x="1371530" y="2192638"/>
              <a:ext cx="10198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l-PL" sz="2800" dirty="0">
                  <a:solidFill>
                    <a:prstClr val="black"/>
                  </a:solidFill>
                  <a:latin typeface="Times New Roman" pitchFamily="18" charset="0"/>
                </a:rPr>
                <a:t>   0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67" name="Text Box 18"/>
            <p:cNvSpPr txBox="1">
              <a:spLocks noChangeArrowheads="1"/>
            </p:cNvSpPr>
            <p:nvPr/>
          </p:nvSpPr>
          <p:spPr bwMode="auto">
            <a:xfrm>
              <a:off x="2087298" y="2192638"/>
              <a:ext cx="72008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l-PL" sz="2800" dirty="0">
                  <a:solidFill>
                    <a:prstClr val="black"/>
                  </a:solidFill>
                  <a:latin typeface="Times New Roman" pitchFamily="18" charset="0"/>
                </a:rPr>
                <a:t>    1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68" name="Prostokąt 67"/>
            <p:cNvSpPr/>
            <p:nvPr/>
          </p:nvSpPr>
          <p:spPr>
            <a:xfrm>
              <a:off x="5187708" y="2221793"/>
              <a:ext cx="66321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l-PL" sz="2800" dirty="0">
                  <a:solidFill>
                    <a:prstClr val="black"/>
                  </a:solidFill>
                  <a:latin typeface="Times New Roman" pitchFamily="18" charset="0"/>
                </a:rPr>
                <a:t>t +1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69" name="Prostokąt 68"/>
            <p:cNvSpPr/>
            <p:nvPr/>
          </p:nvSpPr>
          <p:spPr>
            <a:xfrm>
              <a:off x="4333183" y="2209139"/>
              <a:ext cx="24940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l-PL" sz="2800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cxnSp>
          <p:nvCxnSpPr>
            <p:cNvPr id="70" name="Łącznik prostoliniowy 69"/>
            <p:cNvCxnSpPr/>
            <p:nvPr/>
          </p:nvCxnSpPr>
          <p:spPr>
            <a:xfrm>
              <a:off x="4463988" y="1818140"/>
              <a:ext cx="0" cy="21602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1" name="Text Box 18"/>
            <p:cNvSpPr txBox="1">
              <a:spLocks noChangeArrowheads="1"/>
            </p:cNvSpPr>
            <p:nvPr/>
          </p:nvSpPr>
          <p:spPr bwMode="auto">
            <a:xfrm>
              <a:off x="3203847" y="2209139"/>
              <a:ext cx="81674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l-PL" sz="2800" dirty="0">
                  <a:solidFill>
                    <a:prstClr val="black"/>
                  </a:solidFill>
                  <a:latin typeface="Times New Roman" pitchFamily="18" charset="0"/>
                </a:rPr>
                <a:t> …</a:t>
              </a:r>
              <a:endParaRPr lang="en-US" sz="28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sp>
        <p:nvSpPr>
          <p:cNvPr id="19" name="TextShape 1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/>
            <a:r>
              <a:rPr lang="pl-PL" sz="3600" b="1" i="1" spc="-1" dirty="0" err="1">
                <a:solidFill>
                  <a:srgbClr val="215968"/>
                </a:solidFill>
              </a:rPr>
              <a:t>Assumptions</a:t>
            </a:r>
            <a:endParaRPr lang="en-GB" sz="2400" b="1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8044853" y="2640785"/>
            <a:ext cx="9301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l-PL" sz="2800" dirty="0">
                <a:solidFill>
                  <a:prstClr val="black"/>
                </a:solidFill>
                <a:latin typeface="Times New Roman" pitchFamily="18" charset="0"/>
              </a:rPr>
              <a:t> …</a:t>
            </a:r>
            <a:endParaRPr lang="en-US" sz="2800" dirty="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25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a 10"/>
          <p:cNvGrpSpPr/>
          <p:nvPr/>
        </p:nvGrpSpPr>
        <p:grpSpPr>
          <a:xfrm>
            <a:off x="559531" y="1296300"/>
            <a:ext cx="4821818" cy="2778538"/>
            <a:chOff x="319860" y="1524077"/>
            <a:chExt cx="6232893" cy="2543768"/>
          </a:xfrm>
        </p:grpSpPr>
        <p:grpSp>
          <p:nvGrpSpPr>
            <p:cNvPr id="2" name="Grupa 1"/>
            <p:cNvGrpSpPr/>
            <p:nvPr/>
          </p:nvGrpSpPr>
          <p:grpSpPr>
            <a:xfrm>
              <a:off x="319860" y="1524077"/>
              <a:ext cx="5476275" cy="2543768"/>
              <a:chOff x="1146109" y="3539423"/>
              <a:chExt cx="6518107" cy="2907550"/>
            </a:xfrm>
          </p:grpSpPr>
          <p:grpSp>
            <p:nvGrpSpPr>
              <p:cNvPr id="10" name="Group 22"/>
              <p:cNvGrpSpPr>
                <a:grpSpLocks/>
              </p:cNvGrpSpPr>
              <p:nvPr/>
            </p:nvGrpSpPr>
            <p:grpSpPr bwMode="auto">
              <a:xfrm>
                <a:off x="1579446" y="3539423"/>
                <a:ext cx="5178652" cy="1570799"/>
                <a:chOff x="1848" y="2561"/>
                <a:chExt cx="1408" cy="665"/>
              </a:xfrm>
            </p:grpSpPr>
            <p:sp>
              <p:nvSpPr>
                <p:cNvPr id="1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461" y="2561"/>
                  <a:ext cx="385" cy="1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200" dirty="0">
                      <a:solidFill>
                        <a:prstClr val="black"/>
                      </a:solidFill>
                      <a:latin typeface="Times New Roman" pitchFamily="18" charset="0"/>
                    </a:rPr>
                    <a:t>0.</a:t>
                  </a:r>
                  <a:r>
                    <a:rPr lang="pl-PL" sz="1200" dirty="0">
                      <a:solidFill>
                        <a:prstClr val="black"/>
                      </a:solidFill>
                      <a:latin typeface="Times New Roman" pitchFamily="18" charset="0"/>
                    </a:rPr>
                    <a:t>15</a:t>
                  </a:r>
                  <a:endParaRPr lang="en-US" sz="1200" dirty="0">
                    <a:solidFill>
                      <a:prstClr val="black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8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848" y="2978"/>
                  <a:ext cx="228" cy="1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200" dirty="0">
                      <a:solidFill>
                        <a:prstClr val="black"/>
                      </a:solidFill>
                      <a:latin typeface="Times New Roman" pitchFamily="18" charset="0"/>
                    </a:rPr>
                    <a:t>0.</a:t>
                  </a:r>
                  <a:r>
                    <a:rPr lang="pl-PL" sz="1200" dirty="0">
                      <a:solidFill>
                        <a:prstClr val="black"/>
                      </a:solidFill>
                      <a:latin typeface="Times New Roman" pitchFamily="18" charset="0"/>
                    </a:rPr>
                    <a:t>85</a:t>
                  </a:r>
                  <a:endParaRPr lang="en-US" sz="1200" dirty="0">
                    <a:solidFill>
                      <a:prstClr val="black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9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913" y="3103"/>
                  <a:ext cx="343" cy="1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200">
                      <a:solidFill>
                        <a:prstClr val="black"/>
                      </a:solidFill>
                      <a:latin typeface="Times New Roman" pitchFamily="18" charset="0"/>
                    </a:rPr>
                    <a:t>0.8</a:t>
                  </a:r>
                </a:p>
              </p:txBody>
            </p:sp>
          </p:grpSp>
          <p:sp>
            <p:nvSpPr>
              <p:cNvPr id="45" name="Elipsa 44"/>
              <p:cNvSpPr/>
              <p:nvPr/>
            </p:nvSpPr>
            <p:spPr>
              <a:xfrm>
                <a:off x="2332893" y="5043078"/>
                <a:ext cx="1501180" cy="988747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4BACC6">
                        <a:lumMod val="50000"/>
                      </a:srgbClr>
                    </a:solidFill>
                    <a:latin typeface="Calibri"/>
                  </a:rPr>
                  <a:t>PRSNT</a:t>
                </a:r>
                <a:endParaRPr lang="pl-PL" sz="1200" dirty="0">
                  <a:solidFill>
                    <a:srgbClr val="4BACC6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6" name="Elipsa 45"/>
              <p:cNvSpPr/>
              <p:nvPr/>
            </p:nvSpPr>
            <p:spPr>
              <a:xfrm>
                <a:off x="4954602" y="4707833"/>
                <a:ext cx="1601959" cy="988747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4BACC6">
                        <a:lumMod val="50000"/>
                      </a:srgbClr>
                    </a:solidFill>
                    <a:latin typeface="Calibri"/>
                  </a:rPr>
                  <a:t>ABSNT</a:t>
                </a:r>
                <a:endParaRPr lang="pl-PL" sz="1200" dirty="0">
                  <a:solidFill>
                    <a:srgbClr val="4BACC6">
                      <a:lumMod val="50000"/>
                    </a:srgbClr>
                  </a:solidFill>
                  <a:latin typeface="Calibri"/>
                </a:endParaRPr>
              </a:p>
            </p:txBody>
          </p:sp>
          <p:sp>
            <p:nvSpPr>
              <p:cNvPr id="48" name="Dowolny kształt 47"/>
              <p:cNvSpPr/>
              <p:nvPr/>
            </p:nvSpPr>
            <p:spPr>
              <a:xfrm>
                <a:off x="1146109" y="4200805"/>
                <a:ext cx="1501398" cy="1329404"/>
              </a:xfrm>
              <a:custGeom>
                <a:avLst/>
                <a:gdLst>
                  <a:gd name="connsiteX0" fmla="*/ 1501398 w 1501398"/>
                  <a:gd name="connsiteY0" fmla="*/ 861572 h 1329404"/>
                  <a:gd name="connsiteX1" fmla="*/ 842179 w 1501398"/>
                  <a:gd name="connsiteY1" fmla="*/ 335 h 1329404"/>
                  <a:gd name="connsiteX2" fmla="*/ 2207 w 1501398"/>
                  <a:gd name="connsiteY2" fmla="*/ 946632 h 1329404"/>
                  <a:gd name="connsiteX3" fmla="*/ 1107993 w 1501398"/>
                  <a:gd name="connsiteY3" fmla="*/ 1329404 h 1329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1398" h="1329404">
                    <a:moveTo>
                      <a:pt x="1501398" y="861572"/>
                    </a:moveTo>
                    <a:cubicBezTo>
                      <a:pt x="1296721" y="423865"/>
                      <a:pt x="1092044" y="-13842"/>
                      <a:pt x="842179" y="335"/>
                    </a:cubicBezTo>
                    <a:cubicBezTo>
                      <a:pt x="592314" y="14512"/>
                      <a:pt x="-42095" y="725120"/>
                      <a:pt x="2207" y="946632"/>
                    </a:cubicBezTo>
                    <a:cubicBezTo>
                      <a:pt x="46509" y="1168144"/>
                      <a:pt x="858128" y="1263837"/>
                      <a:pt x="1107993" y="1329404"/>
                    </a:cubicBezTo>
                  </a:path>
                </a:pathLst>
              </a:custGeom>
              <a:noFill/>
              <a:ln w="34925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0" name="Dowolny kształt 49"/>
              <p:cNvSpPr/>
              <p:nvPr/>
            </p:nvSpPr>
            <p:spPr>
              <a:xfrm>
                <a:off x="2987749" y="3990289"/>
                <a:ext cx="2838893" cy="1060176"/>
              </a:xfrm>
              <a:custGeom>
                <a:avLst/>
                <a:gdLst>
                  <a:gd name="connsiteX0" fmla="*/ 0 w 2838893"/>
                  <a:gd name="connsiteY0" fmla="*/ 1060176 h 1060176"/>
                  <a:gd name="connsiteX1" fmla="*/ 478465 w 2838893"/>
                  <a:gd name="connsiteY1" fmla="*/ 60716 h 1060176"/>
                  <a:gd name="connsiteX2" fmla="*/ 2424223 w 2838893"/>
                  <a:gd name="connsiteY2" fmla="*/ 177674 h 1060176"/>
                  <a:gd name="connsiteX3" fmla="*/ 2838893 w 2838893"/>
                  <a:gd name="connsiteY3" fmla="*/ 730567 h 106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38893" h="1060176">
                    <a:moveTo>
                      <a:pt x="0" y="1060176"/>
                    </a:moveTo>
                    <a:cubicBezTo>
                      <a:pt x="37214" y="633988"/>
                      <a:pt x="74428" y="207800"/>
                      <a:pt x="478465" y="60716"/>
                    </a:cubicBezTo>
                    <a:cubicBezTo>
                      <a:pt x="882502" y="-86368"/>
                      <a:pt x="2030818" y="66032"/>
                      <a:pt x="2424223" y="177674"/>
                    </a:cubicBezTo>
                    <a:cubicBezTo>
                      <a:pt x="2817628" y="289316"/>
                      <a:pt x="2785730" y="617153"/>
                      <a:pt x="2838893" y="730567"/>
                    </a:cubicBezTo>
                  </a:path>
                </a:pathLst>
              </a:custGeom>
              <a:noFill/>
              <a:ln w="31750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" name="Dowolny kształt 50"/>
              <p:cNvSpPr/>
              <p:nvPr/>
            </p:nvSpPr>
            <p:spPr>
              <a:xfrm rot="741321" flipH="1">
                <a:off x="6258155" y="4072089"/>
                <a:ext cx="1406061" cy="1343376"/>
              </a:xfrm>
              <a:custGeom>
                <a:avLst/>
                <a:gdLst>
                  <a:gd name="connsiteX0" fmla="*/ 1501398 w 1501398"/>
                  <a:gd name="connsiteY0" fmla="*/ 861572 h 1329404"/>
                  <a:gd name="connsiteX1" fmla="*/ 842179 w 1501398"/>
                  <a:gd name="connsiteY1" fmla="*/ 335 h 1329404"/>
                  <a:gd name="connsiteX2" fmla="*/ 2207 w 1501398"/>
                  <a:gd name="connsiteY2" fmla="*/ 946632 h 1329404"/>
                  <a:gd name="connsiteX3" fmla="*/ 1107993 w 1501398"/>
                  <a:gd name="connsiteY3" fmla="*/ 1329404 h 1329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1398" h="1329404">
                    <a:moveTo>
                      <a:pt x="1501398" y="861572"/>
                    </a:moveTo>
                    <a:cubicBezTo>
                      <a:pt x="1296721" y="423865"/>
                      <a:pt x="1092044" y="-13842"/>
                      <a:pt x="842179" y="335"/>
                    </a:cubicBezTo>
                    <a:cubicBezTo>
                      <a:pt x="592314" y="14512"/>
                      <a:pt x="-42095" y="725120"/>
                      <a:pt x="2207" y="946632"/>
                    </a:cubicBezTo>
                    <a:cubicBezTo>
                      <a:pt x="46509" y="1168144"/>
                      <a:pt x="858128" y="1263837"/>
                      <a:pt x="1107993" y="1329404"/>
                    </a:cubicBezTo>
                  </a:path>
                </a:pathLst>
              </a:custGeom>
              <a:noFill/>
              <a:ln w="34925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" name="Dowolny kształt 51"/>
              <p:cNvSpPr/>
              <p:nvPr/>
            </p:nvSpPr>
            <p:spPr>
              <a:xfrm flipH="1" flipV="1">
                <a:off x="3262191" y="5616676"/>
                <a:ext cx="2471385" cy="830297"/>
              </a:xfrm>
              <a:custGeom>
                <a:avLst/>
                <a:gdLst>
                  <a:gd name="connsiteX0" fmla="*/ 0 w 2838893"/>
                  <a:gd name="connsiteY0" fmla="*/ 1060176 h 1060176"/>
                  <a:gd name="connsiteX1" fmla="*/ 478465 w 2838893"/>
                  <a:gd name="connsiteY1" fmla="*/ 60716 h 1060176"/>
                  <a:gd name="connsiteX2" fmla="*/ 2424223 w 2838893"/>
                  <a:gd name="connsiteY2" fmla="*/ 177674 h 1060176"/>
                  <a:gd name="connsiteX3" fmla="*/ 2838893 w 2838893"/>
                  <a:gd name="connsiteY3" fmla="*/ 730567 h 106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38893" h="1060176">
                    <a:moveTo>
                      <a:pt x="0" y="1060176"/>
                    </a:moveTo>
                    <a:cubicBezTo>
                      <a:pt x="37214" y="633988"/>
                      <a:pt x="74428" y="207800"/>
                      <a:pt x="478465" y="60716"/>
                    </a:cubicBezTo>
                    <a:cubicBezTo>
                      <a:pt x="882502" y="-86368"/>
                      <a:pt x="2030818" y="66032"/>
                      <a:pt x="2424223" y="177674"/>
                    </a:cubicBezTo>
                    <a:cubicBezTo>
                      <a:pt x="2817628" y="289316"/>
                      <a:pt x="2785730" y="617153"/>
                      <a:pt x="2838893" y="730567"/>
                    </a:cubicBezTo>
                  </a:path>
                </a:pathLst>
              </a:custGeom>
              <a:noFill/>
              <a:ln w="31750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3" name="Text Box 20"/>
              <p:cNvSpPr txBox="1">
                <a:spLocks noChangeArrowheads="1"/>
              </p:cNvSpPr>
              <p:nvPr/>
            </p:nvSpPr>
            <p:spPr bwMode="auto">
              <a:xfrm>
                <a:off x="6750867" y="4559533"/>
                <a:ext cx="691467" cy="2898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200" dirty="0">
                    <a:solidFill>
                      <a:prstClr val="black"/>
                    </a:solidFill>
                    <a:latin typeface="Times New Roman" pitchFamily="18" charset="0"/>
                  </a:rPr>
                  <a:t>0.</a:t>
                </a:r>
                <a:r>
                  <a:rPr lang="pl-PL" sz="1200" dirty="0">
                    <a:solidFill>
                      <a:prstClr val="black"/>
                    </a:solidFill>
                    <a:latin typeface="Times New Roman" pitchFamily="18" charset="0"/>
                  </a:rPr>
                  <a:t>9</a:t>
                </a:r>
                <a:endParaRPr lang="en-US" sz="12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" name="Strzałka w dół 2"/>
            <p:cNvSpPr/>
            <p:nvPr/>
          </p:nvSpPr>
          <p:spPr>
            <a:xfrm rot="14292825">
              <a:off x="5957222" y="2350247"/>
              <a:ext cx="504056" cy="68700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2769234" y="3550751"/>
              <a:ext cx="567004" cy="253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solidFill>
                    <a:prstClr val="black"/>
                  </a:solidFill>
                  <a:latin typeface="Times New Roman" pitchFamily="18" charset="0"/>
                </a:rPr>
                <a:t>0.</a:t>
              </a:r>
              <a:r>
                <a:rPr lang="pl-PL" sz="12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endParaRPr lang="en-US" sz="12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upa 4"/>
          <p:cNvGrpSpPr/>
          <p:nvPr/>
        </p:nvGrpSpPr>
        <p:grpSpPr>
          <a:xfrm>
            <a:off x="5912131" y="1901816"/>
            <a:ext cx="5641617" cy="1928009"/>
            <a:chOff x="7036670" y="3213486"/>
            <a:chExt cx="3608975" cy="10348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pole tekstowe 8"/>
                <p:cNvSpPr txBox="1"/>
                <p:nvPr/>
              </p:nvSpPr>
              <p:spPr>
                <a:xfrm>
                  <a:off x="7036670" y="3643465"/>
                  <a:ext cx="3608975" cy="4023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sz="2400" b="0" i="1" smtClean="0">
                            <a:solidFill>
                              <a:srgbClr val="4BACC6">
                                <a:lumMod val="50000"/>
                              </a:srgbClr>
                            </a:solidFill>
                            <a:effectLst/>
                            <a:latin typeface="Cambria Math"/>
                          </a:rPr>
                          <m:t>𝑃</m:t>
                        </m:r>
                        <m:r>
                          <a:rPr lang="pl-PL" sz="2400" b="0" i="1" smtClean="0">
                            <a:solidFill>
                              <a:srgbClr val="4BACC6">
                                <a:lumMod val="50000"/>
                              </a:srgbClr>
                            </a:solidFill>
                            <a:effectLst/>
                            <a:latin typeface="Cambria Math"/>
                          </a:rPr>
                          <m:t>=    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l-PL" sz="2400" i="1">
                                <a:solidFill>
                                  <a:srgbClr val="4BACC6">
                                    <a:lumMod val="50000"/>
                                  </a:srgb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l-PL" sz="2400" i="1">
                                    <a:solidFill>
                                      <a:srgbClr val="4BACC6">
                                        <a:lumMod val="50000"/>
                                      </a:srgb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pl-PL" sz="2400" b="0" i="1">
                                      <a:solidFill>
                                        <a:srgbClr val="4BACC6">
                                          <a:lumMod val="50000"/>
                                        </a:srgbClr>
                                      </a:solidFill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  <m:r>
                                    <a:rPr lang="pl-PL" sz="2400" b="0" i="1">
                                      <a:solidFill>
                                        <a:srgbClr val="4BACC6">
                                          <a:lumMod val="50000"/>
                                        </a:srgbClr>
                                      </a:solidFill>
                                      <a:effectLst/>
                                      <a:latin typeface="Cambria Math"/>
                                    </a:rPr>
                                    <m:t>.85</m:t>
                                  </m:r>
                                </m:e>
                                <m:e>
                                  <m:r>
                                    <a:rPr lang="pl-PL" sz="2400" b="0" i="1">
                                      <a:solidFill>
                                        <a:srgbClr val="4BACC6">
                                          <a:lumMod val="50000"/>
                                        </a:srgbClr>
                                      </a:solidFill>
                                      <a:effectLst/>
                                      <a:latin typeface="Cambria Math"/>
                                    </a:rPr>
                                    <m:t>0.1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pl-PL" sz="2400" b="0" i="1">
                                      <a:solidFill>
                                        <a:srgbClr val="4BACC6">
                                          <a:lumMod val="50000"/>
                                        </a:srgbClr>
                                      </a:solidFill>
                                      <a:effectLst/>
                                      <a:latin typeface="Cambria Math"/>
                                    </a:rPr>
                                    <m:t>0.15</m:t>
                                  </m:r>
                                </m:e>
                                <m:e>
                                  <m:r>
                                    <a:rPr lang="pl-PL" sz="2400" b="0" i="1">
                                      <a:solidFill>
                                        <a:srgbClr val="4BACC6">
                                          <a:lumMod val="50000"/>
                                        </a:srgbClr>
                                      </a:solidFill>
                                      <a:effectLst/>
                                      <a:latin typeface="Cambria Math"/>
                                    </a:rPr>
                                    <m:t>0.9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pl-PL" sz="2000" dirty="0">
                    <a:solidFill>
                      <a:srgbClr val="4BACC6">
                        <a:lumMod val="50000"/>
                      </a:srgbClr>
                    </a:solidFill>
                    <a:effectLst/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9" name="pole tekstowe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670" y="3643465"/>
                  <a:ext cx="3608975" cy="40236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Prostokąt 28"/>
            <p:cNvSpPr/>
            <p:nvPr/>
          </p:nvSpPr>
          <p:spPr>
            <a:xfrm>
              <a:off x="8603292" y="3213486"/>
              <a:ext cx="1461369" cy="1982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PRSNT</a:t>
              </a:r>
              <a:r>
                <a:rPr lang="pl-PL" baseline="-25000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 t</a:t>
              </a:r>
              <a:r>
                <a:rPr lang="pl-PL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    </a:t>
              </a:r>
              <a:r>
                <a:rPr lang="en-US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ABSNT</a:t>
              </a:r>
              <a:r>
                <a:rPr lang="pl-PL" baseline="-25000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t</a:t>
              </a:r>
              <a:endParaRPr lang="pl-PL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endParaRPr>
            </a:p>
          </p:txBody>
        </p:sp>
        <p:sp>
          <p:nvSpPr>
            <p:cNvPr id="30" name="Prostokąt 29"/>
            <p:cNvSpPr/>
            <p:nvPr/>
          </p:nvSpPr>
          <p:spPr>
            <a:xfrm>
              <a:off x="7154292" y="3583549"/>
              <a:ext cx="1400720" cy="6647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PRSNT</a:t>
              </a:r>
              <a:r>
                <a:rPr lang="pl-PL" baseline="-25000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 t+1</a:t>
              </a:r>
              <a:r>
                <a:rPr lang="pl-PL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    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endParaRPr lang="pl-PL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endParaRP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ABSNT</a:t>
              </a:r>
              <a:r>
                <a:rPr lang="pl-PL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 </a:t>
              </a:r>
              <a:r>
                <a:rPr lang="pl-PL" baseline="-25000" dirty="0">
                  <a:solidFill>
                    <a:srgbClr val="4BACC6">
                      <a:lumMod val="50000"/>
                    </a:srgbClr>
                  </a:solidFill>
                  <a:latin typeface="Arial" pitchFamily="34" charset="0"/>
                </a:rPr>
                <a:t>t + 1</a:t>
              </a:r>
              <a:endParaRPr lang="pl-PL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endParaRPr>
            </a:p>
          </p:txBody>
        </p:sp>
      </p:grpSp>
      <p:grpSp>
        <p:nvGrpSpPr>
          <p:cNvPr id="6" name="Grupa 5"/>
          <p:cNvGrpSpPr/>
          <p:nvPr/>
        </p:nvGrpSpPr>
        <p:grpSpPr>
          <a:xfrm>
            <a:off x="7136905" y="4876777"/>
            <a:ext cx="4732836" cy="1226649"/>
            <a:chOff x="6257268" y="5166704"/>
            <a:chExt cx="4981511" cy="12266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pole tekstowe 30"/>
                <p:cNvSpPr txBox="1"/>
                <p:nvPr/>
              </p:nvSpPr>
              <p:spPr>
                <a:xfrm>
                  <a:off x="7299314" y="5677760"/>
                  <a:ext cx="3863250" cy="5305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sz="16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Cambria Math"/>
                          </a:rPr>
                          <m:t>𝑃</m:t>
                        </m:r>
                        <m:r>
                          <a:rPr lang="pl-PL" sz="16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effectLst/>
                            <a:latin typeface="Cambria Math"/>
                          </a:rPr>
                          <m:t>= 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l-PL" sz="16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l-PL" sz="1600" i="1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pl-PL" sz="16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effectLst/>
                                      <a:latin typeface="Cambria Math"/>
                                    </a:rPr>
                                    <m:t>0</m:t>
                                  </m:r>
                                  <m:r>
                                    <a:rPr lang="pl-PL" sz="16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effectLst/>
                                      <a:latin typeface="Cambria Math"/>
                                    </a:rPr>
                                    <m:t>.85</m:t>
                                  </m:r>
                                </m:e>
                                <m:e>
                                  <m:r>
                                    <a:rPr lang="pl-PL" sz="16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effectLst/>
                                      <a:latin typeface="Cambria Math"/>
                                    </a:rPr>
                                    <m:t>0.15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pl-PL" sz="16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effectLst/>
                                      <a:latin typeface="Cambria Math"/>
                                    </a:rPr>
                                    <m:t>0.1</m:t>
                                  </m:r>
                                </m:e>
                                <m:e>
                                  <m:r>
                                    <a:rPr lang="pl-PL" sz="1600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effectLst/>
                                      <a:latin typeface="Cambria Math"/>
                                    </a:rPr>
                                    <m:t>0.9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pl-PL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31" name="pole tekstowe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9314" y="5677760"/>
                  <a:ext cx="3863250" cy="530594"/>
                </a:xfrm>
                <a:prstGeom prst="rect">
                  <a:avLst/>
                </a:prstGeom>
                <a:blipFill>
                  <a:blip r:embed="rId3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Prostokąt 34"/>
            <p:cNvSpPr/>
            <p:nvPr/>
          </p:nvSpPr>
          <p:spPr>
            <a:xfrm>
              <a:off x="6257268" y="5808578"/>
              <a:ext cx="154766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Alternative notation</a:t>
              </a:r>
              <a:endParaRPr lang="pl-PL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26" name="Prostokąt 25"/>
            <p:cNvSpPr/>
            <p:nvPr/>
          </p:nvSpPr>
          <p:spPr>
            <a:xfrm>
              <a:off x="8786532" y="5166704"/>
              <a:ext cx="245224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PRSNT</a:t>
              </a:r>
              <a:r>
                <a:rPr lang="pl-PL" sz="1400" b="1" baseline="-25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 </a:t>
              </a:r>
              <a:r>
                <a:rPr lang="pl-PL" sz="1400" baseline="-25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t+1</a:t>
              </a:r>
              <a:r>
                <a:rPr lang="pl-PL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   </a:t>
              </a:r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ABSNT</a:t>
              </a:r>
              <a:r>
                <a:rPr lang="pl-PL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 </a:t>
              </a:r>
              <a:r>
                <a:rPr lang="pl-PL" sz="1400" b="1" baseline="-25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t+1</a:t>
              </a:r>
              <a:endParaRPr lang="pl-PL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</a:endParaRPr>
            </a:p>
          </p:txBody>
        </p:sp>
        <p:sp>
          <p:nvSpPr>
            <p:cNvPr id="28" name="Prostokąt 27"/>
            <p:cNvSpPr/>
            <p:nvPr/>
          </p:nvSpPr>
          <p:spPr>
            <a:xfrm>
              <a:off x="7918026" y="5570589"/>
              <a:ext cx="115300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PRSNT</a:t>
              </a:r>
              <a:r>
                <a:rPr lang="pl-PL" sz="1400" b="1" baseline="-25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 t</a:t>
              </a:r>
              <a:r>
                <a:rPr lang="pl-PL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    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endParaRPr lang="pl-PL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</a:endParaRP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ABSNT</a:t>
              </a:r>
              <a:r>
                <a:rPr lang="pl-PL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 </a:t>
              </a:r>
              <a:r>
                <a:rPr lang="pl-PL" sz="1400" b="1" baseline="-25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</a:rPr>
                <a:t>t</a:t>
              </a:r>
              <a:endParaRPr lang="pl-PL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</a:endParaRPr>
            </a:p>
          </p:txBody>
        </p:sp>
      </p:grp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611784"/>
              </p:ext>
            </p:extLst>
          </p:nvPr>
        </p:nvGraphicFramePr>
        <p:xfrm>
          <a:off x="272903" y="4228138"/>
          <a:ext cx="6505534" cy="1875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8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7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115">
                <a:tc>
                  <a:txBody>
                    <a:bodyPr/>
                    <a:lstStyle/>
                    <a:p>
                      <a:pPr algn="ctr"/>
                      <a:r>
                        <a:rPr lang="pl-PL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 +1 </a:t>
                      </a:r>
                      <a:endParaRPr lang="pl-PL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</a:t>
                      </a:r>
                      <a:endParaRPr lang="pl-PL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Was present</a:t>
                      </a:r>
                      <a:endParaRPr lang="pl-PL" sz="2000" b="0" dirty="0"/>
                    </a:p>
                    <a:p>
                      <a:pPr algn="ctr"/>
                      <a:endParaRPr lang="pl-PL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0.85</a:t>
                      </a:r>
                      <a:r>
                        <a:rPr lang="en-US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will be present</a:t>
                      </a:r>
                      <a:endParaRPr lang="pl-PL" sz="2000" b="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pl-PL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0.15</a:t>
                      </a:r>
                      <a:r>
                        <a:rPr lang="en-US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will be absent</a:t>
                      </a:r>
                      <a:endParaRPr lang="pl-PL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13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Was absent</a:t>
                      </a:r>
                      <a:endParaRPr lang="pl-PL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0.9</a:t>
                      </a:r>
                      <a:r>
                        <a:rPr lang="en-US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will be absent</a:t>
                      </a:r>
                      <a:endParaRPr lang="pl-PL" sz="2000" b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0.1 </a:t>
                      </a:r>
                      <a:r>
                        <a:rPr lang="en-US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will be</a:t>
                      </a:r>
                      <a:r>
                        <a:rPr lang="pl-PL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present</a:t>
                      </a:r>
                      <a:endParaRPr lang="pl-PL" sz="2000" b="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Shape 1"/>
          <p:cNvSpPr txBox="1"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The </a:t>
            </a:r>
            <a:r>
              <a:rPr lang="en-US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transition matrix</a:t>
            </a:r>
          </a:p>
        </p:txBody>
      </p:sp>
    </p:spTree>
    <p:extLst>
      <p:ext uri="{BB962C8B-B14F-4D97-AF65-F5344CB8AC3E}">
        <p14:creationId xmlns:p14="http://schemas.microsoft.com/office/powerpoint/2010/main" val="181136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193539" y="1281806"/>
            <a:ext cx="117129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If we know the initial state 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X</a:t>
            </a:r>
            <a:r>
              <a:rPr lang="pl-PL" sz="2400" baseline="-250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0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– </a:t>
            </a: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number of students 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(</a:t>
            </a: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proportion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) </a:t>
            </a: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on the first lecture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, </a:t>
            </a: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we can define the number of students on </a:t>
            </a:r>
            <a:r>
              <a:rPr lang="en-US" sz="2400" i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k</a:t>
            </a: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lecture. </a:t>
            </a:r>
            <a:endParaRPr lang="pl-PL" sz="24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marL="914400" lvl="1" indent="-457200" algn="just" fontAlgn="base"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Simulation solution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</a:p>
          <a:p>
            <a:pPr marL="914400" lvl="1" indent="-457200" algn="just" fontAlgn="base"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Analytical solution – solving system of equations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</a:p>
        </p:txBody>
      </p:sp>
      <p:sp>
        <p:nvSpPr>
          <p:cNvPr id="24" name="Oval 6"/>
          <p:cNvSpPr>
            <a:spLocks noChangeArrowheads="1"/>
          </p:cNvSpPr>
          <p:nvPr/>
        </p:nvSpPr>
        <p:spPr bwMode="auto">
          <a:xfrm>
            <a:off x="3003026" y="3144449"/>
            <a:ext cx="612775" cy="5080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pl-PL" baseline="-25000" dirty="0">
                <a:solidFill>
                  <a:prstClr val="black"/>
                </a:solidFill>
                <a:latin typeface="Times New Roman" pitchFamily="18" charset="0"/>
              </a:rPr>
              <a:t>0</a:t>
            </a:r>
            <a:endParaRPr lang="en-US" baseline="-250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pole tekstowe 34"/>
              <p:cNvSpPr txBox="1"/>
              <p:nvPr/>
            </p:nvSpPr>
            <p:spPr>
              <a:xfrm>
                <a:off x="1270704" y="3185929"/>
                <a:ext cx="1665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l-PL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pl-PL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pl-PL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23  3</m:t>
                          </m:r>
                        </m:e>
                      </m:d>
                    </m:oMath>
                  </m:oMathPara>
                </a14:m>
                <a:endParaRPr lang="pl-PL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5" name="pole tekstow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704" y="3185929"/>
                <a:ext cx="16658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pole tekstowe 36"/>
              <p:cNvSpPr txBox="1"/>
              <p:nvPr/>
            </p:nvSpPr>
            <p:spPr>
              <a:xfrm>
                <a:off x="1027172" y="3747294"/>
                <a:ext cx="2991022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l-PL" i="1">
                          <a:solidFill>
                            <a:prstClr val="black"/>
                          </a:solidFill>
                          <a:latin typeface="Cambria Math"/>
                        </a:rPr>
                        <m:t>=[23 </m:t>
                      </m:r>
                      <m:r>
                        <a:rPr lang="pl-PL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i="1">
                          <a:solidFill>
                            <a:prstClr val="black"/>
                          </a:solidFill>
                          <a:latin typeface="Cambria Math"/>
                        </a:rPr>
                        <m:t>3]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.85</m:t>
                                </m:r>
                              </m:e>
                              <m:e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0.15</m:t>
                                </m:r>
                              </m:e>
                              <m:e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0.9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7" name="pole tekstow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72" y="3747294"/>
                <a:ext cx="2991022" cy="5852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22"/>
          <p:cNvGrpSpPr>
            <a:grpSpLocks/>
          </p:cNvGrpSpPr>
          <p:nvPr/>
        </p:nvGrpSpPr>
        <p:grpSpPr bwMode="auto">
          <a:xfrm>
            <a:off x="4400781" y="3689643"/>
            <a:ext cx="1990725" cy="525463"/>
            <a:chOff x="772" y="2190"/>
            <a:chExt cx="1254" cy="331"/>
          </a:xfrm>
        </p:grpSpPr>
        <p:sp>
          <p:nvSpPr>
            <p:cNvPr id="39" name="Oval 6"/>
            <p:cNvSpPr>
              <a:spLocks noChangeArrowheads="1"/>
            </p:cNvSpPr>
            <p:nvPr/>
          </p:nvSpPr>
          <p:spPr bwMode="auto">
            <a:xfrm>
              <a:off x="772" y="2201"/>
              <a:ext cx="386" cy="320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pl-PL" baseline="-25000" dirty="0">
                  <a:solidFill>
                    <a:prstClr val="black"/>
                  </a:solidFill>
                  <a:latin typeface="Times New Roman" pitchFamily="18" charset="0"/>
                </a:rPr>
                <a:t>0</a:t>
              </a:r>
              <a:endParaRPr lang="en-US" baseline="-250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40" name="Oval 7"/>
            <p:cNvSpPr>
              <a:spLocks noChangeArrowheads="1"/>
            </p:cNvSpPr>
            <p:nvPr/>
          </p:nvSpPr>
          <p:spPr bwMode="auto">
            <a:xfrm>
              <a:off x="1640" y="2190"/>
              <a:ext cx="386" cy="320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pl-PL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endParaRPr lang="en-US" baseline="-250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cxnSp>
          <p:nvCxnSpPr>
            <p:cNvPr id="41" name="AutoShape 12"/>
            <p:cNvCxnSpPr>
              <a:cxnSpLocks noChangeShapeType="1"/>
              <a:stCxn id="39" idx="7"/>
              <a:endCxn id="40" idx="1"/>
            </p:cNvCxnSpPr>
            <p:nvPr/>
          </p:nvCxnSpPr>
          <p:spPr bwMode="auto">
            <a:xfrm rot="16200000">
              <a:off x="1394" y="1940"/>
              <a:ext cx="10" cy="594"/>
            </a:xfrm>
            <a:prstGeom prst="curvedConnector3">
              <a:avLst>
                <a:gd name="adj1" fmla="val 1393750"/>
              </a:avLst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pole tekstowe 41"/>
              <p:cNvSpPr txBox="1"/>
              <p:nvPr/>
            </p:nvSpPr>
            <p:spPr>
              <a:xfrm>
                <a:off x="1207138" y="4363359"/>
                <a:ext cx="4531201" cy="708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l-PL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23  3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l-PL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  <m:r>
                                      <a:rPr lang="pl-PL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.85</m:t>
                                    </m:r>
                                  </m:e>
                                  <m:e>
                                    <m:r>
                                      <a:rPr lang="pl-PL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0.1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l-PL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0.15</m:t>
                                    </m:r>
                                  </m:e>
                                  <m:e>
                                    <m:r>
                                      <a:rPr lang="pl-PL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0.9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.85</m:t>
                                </m:r>
                              </m:e>
                              <m:e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0.15</m:t>
                                </m:r>
                              </m:e>
                              <m:e>
                                <m:r>
                                  <a:rPr lang="pl-PL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0.9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2" name="pole tekstowe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138" y="4363359"/>
                <a:ext cx="4531201" cy="708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a 4"/>
          <p:cNvGrpSpPr/>
          <p:nvPr/>
        </p:nvGrpSpPr>
        <p:grpSpPr>
          <a:xfrm>
            <a:off x="5634715" y="4454991"/>
            <a:ext cx="3444001" cy="525463"/>
            <a:chOff x="4283968" y="4281735"/>
            <a:chExt cx="3444001" cy="525463"/>
          </a:xfrm>
        </p:grpSpPr>
        <p:grpSp>
          <p:nvGrpSpPr>
            <p:cNvPr id="44" name="Group 22"/>
            <p:cNvGrpSpPr>
              <a:grpSpLocks/>
            </p:cNvGrpSpPr>
            <p:nvPr/>
          </p:nvGrpSpPr>
          <p:grpSpPr bwMode="auto">
            <a:xfrm>
              <a:off x="4283968" y="4281735"/>
              <a:ext cx="1990725" cy="525463"/>
              <a:chOff x="772" y="2190"/>
              <a:chExt cx="1254" cy="331"/>
            </a:xfrm>
          </p:grpSpPr>
          <p:sp>
            <p:nvSpPr>
              <p:cNvPr id="47" name="Oval 6"/>
              <p:cNvSpPr>
                <a:spLocks noChangeArrowheads="1"/>
              </p:cNvSpPr>
              <p:nvPr/>
            </p:nvSpPr>
            <p:spPr bwMode="auto">
              <a:xfrm>
                <a:off x="772" y="2201"/>
                <a:ext cx="386" cy="32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i="1" dirty="0">
                    <a:solidFill>
                      <a:prstClr val="black"/>
                    </a:solidFill>
                    <a:latin typeface="Times New Roman" pitchFamily="18" charset="0"/>
                  </a:rPr>
                  <a:t>X</a:t>
                </a:r>
                <a:r>
                  <a:rPr lang="pl-PL" baseline="-25000" dirty="0">
                    <a:solidFill>
                      <a:prstClr val="black"/>
                    </a:solidFill>
                    <a:latin typeface="Times New Roman" pitchFamily="18" charset="0"/>
                  </a:rPr>
                  <a:t>0</a:t>
                </a:r>
                <a:endParaRPr lang="en-US" baseline="-250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9" name="Oval 7"/>
              <p:cNvSpPr>
                <a:spLocks noChangeArrowheads="1"/>
              </p:cNvSpPr>
              <p:nvPr/>
            </p:nvSpPr>
            <p:spPr bwMode="auto">
              <a:xfrm>
                <a:off x="1640" y="2190"/>
                <a:ext cx="386" cy="32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i="1" dirty="0">
                    <a:solidFill>
                      <a:prstClr val="black"/>
                    </a:solidFill>
                    <a:latin typeface="Times New Roman" pitchFamily="18" charset="0"/>
                  </a:rPr>
                  <a:t>X</a:t>
                </a:r>
                <a:r>
                  <a:rPr lang="pl-PL" baseline="-25000" dirty="0">
                    <a:solidFill>
                      <a:prstClr val="black"/>
                    </a:solidFill>
                    <a:latin typeface="Times New Roman" pitchFamily="18" charset="0"/>
                  </a:rPr>
                  <a:t>1</a:t>
                </a:r>
                <a:endParaRPr lang="en-US" baseline="-250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54" name="AutoShape 12"/>
              <p:cNvCxnSpPr>
                <a:cxnSpLocks noChangeShapeType="1"/>
                <a:stCxn id="47" idx="7"/>
                <a:endCxn id="49" idx="1"/>
              </p:cNvCxnSpPr>
              <p:nvPr/>
            </p:nvCxnSpPr>
            <p:spPr bwMode="auto">
              <a:xfrm rot="16200000">
                <a:off x="1394" y="1940"/>
                <a:ext cx="10" cy="594"/>
              </a:xfrm>
              <a:prstGeom prst="curvedConnector3">
                <a:avLst>
                  <a:gd name="adj1" fmla="val 1393750"/>
                </a:avLst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  <p:grpSp>
          <p:nvGrpSpPr>
            <p:cNvPr id="55" name="Group 22"/>
            <p:cNvGrpSpPr>
              <a:grpSpLocks/>
            </p:cNvGrpSpPr>
            <p:nvPr/>
          </p:nvGrpSpPr>
          <p:grpSpPr bwMode="auto">
            <a:xfrm>
              <a:off x="6184919" y="4290463"/>
              <a:ext cx="1543050" cy="508000"/>
              <a:chOff x="1054" y="2190"/>
              <a:chExt cx="972" cy="320"/>
            </a:xfrm>
          </p:grpSpPr>
          <p:sp>
            <p:nvSpPr>
              <p:cNvPr id="57" name="Oval 7"/>
              <p:cNvSpPr>
                <a:spLocks noChangeArrowheads="1"/>
              </p:cNvSpPr>
              <p:nvPr/>
            </p:nvSpPr>
            <p:spPr bwMode="auto">
              <a:xfrm>
                <a:off x="1640" y="2190"/>
                <a:ext cx="386" cy="320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i="1" dirty="0">
                    <a:solidFill>
                      <a:prstClr val="black"/>
                    </a:solidFill>
                    <a:latin typeface="Times New Roman" pitchFamily="18" charset="0"/>
                  </a:rPr>
                  <a:t>X</a:t>
                </a:r>
                <a:r>
                  <a:rPr lang="pl-PL" baseline="-25000" dirty="0">
                    <a:solidFill>
                      <a:prstClr val="black"/>
                    </a:solidFill>
                    <a:latin typeface="Times New Roman" pitchFamily="18" charset="0"/>
                  </a:rPr>
                  <a:t>2</a:t>
                </a:r>
                <a:endParaRPr lang="en-US" baseline="-250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58" name="AutoShape 12"/>
              <p:cNvCxnSpPr>
                <a:cxnSpLocks noChangeShapeType="1"/>
                <a:stCxn id="49" idx="7"/>
                <a:endCxn id="57" idx="1"/>
              </p:cNvCxnSpPr>
              <p:nvPr/>
            </p:nvCxnSpPr>
            <p:spPr bwMode="auto">
              <a:xfrm rot="16200000" flipH="1">
                <a:off x="1373" y="1913"/>
                <a:ext cx="5" cy="643"/>
              </a:xfrm>
              <a:prstGeom prst="curvedConnector3">
                <a:avLst>
                  <a:gd name="adj1" fmla="val -3471528"/>
                </a:avLst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pole tekstowe 58"/>
              <p:cNvSpPr txBox="1"/>
              <p:nvPr/>
            </p:nvSpPr>
            <p:spPr>
              <a:xfrm>
                <a:off x="2200374" y="5982054"/>
                <a:ext cx="17114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pl-PL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l-PL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23  3</m:t>
                              </m:r>
                            </m:e>
                          </m:d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pl-PL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pl-PL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59" name="pole tekstowe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374" y="5982054"/>
                <a:ext cx="17114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trzałka w dół 22"/>
          <p:cNvSpPr/>
          <p:nvPr/>
        </p:nvSpPr>
        <p:spPr>
          <a:xfrm>
            <a:off x="2487461" y="5306161"/>
            <a:ext cx="550576" cy="5314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Simulation solution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2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4985002" y="1208193"/>
            <a:ext cx="70562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Find the number of students on the 2, 3 and 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13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lectures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.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Change the proportion of students in the first lecture X_0: matrix ([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23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], [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3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]);</a:t>
            </a:r>
            <a:endParaRPr lang="pl-PL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  <p:sp>
        <p:nvSpPr>
          <p:cNvPr id="8" name="Prostokąt 7"/>
          <p:cNvSpPr/>
          <p:nvPr/>
        </p:nvSpPr>
        <p:spPr>
          <a:xfrm>
            <a:off x="456860" y="1545077"/>
            <a:ext cx="4104456" cy="47705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kill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all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)$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load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draw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)$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P : matrix([0.85, 0.1], [0.15,0.9])$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X_0: matrix([23], [3])$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((P^^2).X_0)[1][1]$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present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:''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makelist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 (P^^i.X_0)[1][1],i, 0, 20,1)$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not_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present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:''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makelist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((P^^i.X_0)[2][1],i, 0, 20,1)$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draw2d(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xlabel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"Time",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ylabel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"No of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students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at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the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lecture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",   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color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green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key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"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Present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",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yrange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= [0,30],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points_joined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true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points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(''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present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),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color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red,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key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"Not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present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",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points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(''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not_present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))$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803" y="2849627"/>
            <a:ext cx="55626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Simulation solution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432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263092" y="1385481"/>
            <a:ext cx="561794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What will happen when P matrix looks like:</a:t>
            </a:r>
            <a:endParaRPr lang="pl-PL" sz="2800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P: matrix([0,1],[1,0]);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P : matrix([0.25,0.75],[1,0]);</a:t>
            </a: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237" y="1531358"/>
            <a:ext cx="4860032" cy="3412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747" y="3448528"/>
            <a:ext cx="5002365" cy="3511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Simulation solution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19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rostokąt 21"/>
              <p:cNvSpPr/>
              <p:nvPr/>
            </p:nvSpPr>
            <p:spPr>
              <a:xfrm>
                <a:off x="0" y="1138316"/>
                <a:ext cx="12031579" cy="52937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As you can see the process </a:t>
                </a:r>
                <a:r>
                  <a:rPr lang="pl-PL" sz="2600" dirty="0" err="1">
                    <a:solidFill>
                      <a:srgbClr val="4BACC6">
                        <a:lumMod val="50000"/>
                      </a:srgbClr>
                    </a:solidFill>
                  </a:rPr>
                  <a:t>can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 be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 convergent. What are the conditions of convergence? If the Markov process has the following properties 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:  </a:t>
                </a:r>
              </a:p>
              <a:p>
                <a:pPr marL="457200" indent="-457200" algn="just" fontAlgn="base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The state of the process at any moment of time belongs to a finite set of possible states</a:t>
                </a:r>
                <a:endParaRPr lang="ru-RU" sz="2600" dirty="0">
                  <a:solidFill>
                    <a:srgbClr val="4BACC6">
                      <a:lumMod val="50000"/>
                    </a:srgbClr>
                  </a:solidFill>
                </a:endParaRPr>
              </a:p>
              <a:p>
                <a:pPr marL="457200" indent="-457200" algn="just" fontAlgn="base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The future state of the process (t + 1) depends only on the current state of the process (t). History (t-1, t-2, ...) does not affect the future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 --&gt;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 </a:t>
                </a:r>
                <a:r>
                  <a:rPr lang="en-US" sz="2600" dirty="0" err="1">
                    <a:solidFill>
                      <a:srgbClr val="4BACC6">
                        <a:lumMod val="50000"/>
                      </a:srgbClr>
                    </a:solidFill>
                  </a:rPr>
                  <a:t>X</a:t>
                </a:r>
                <a:r>
                  <a:rPr lang="en-US" sz="2600" baseline="-25000" dirty="0" err="1">
                    <a:solidFill>
                      <a:srgbClr val="4BACC6">
                        <a:lumMod val="50000"/>
                      </a:srgbClr>
                    </a:solidFill>
                  </a:rPr>
                  <a:t>t</a:t>
                </a:r>
                <a:r>
                  <a:rPr lang="en-US" sz="2600" baseline="-25000" dirty="0">
                    <a:solidFill>
                      <a:srgbClr val="4BACC6">
                        <a:lumMod val="50000"/>
                      </a:srgbClr>
                    </a:solidFill>
                  </a:rPr>
                  <a:t> + 1 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is a dependent variable on </a:t>
                </a:r>
                <a:r>
                  <a:rPr lang="en-US" sz="2600" dirty="0" err="1">
                    <a:solidFill>
                      <a:srgbClr val="4BACC6">
                        <a:lumMod val="50000"/>
                      </a:srgbClr>
                    </a:solidFill>
                  </a:rPr>
                  <a:t>X</a:t>
                </a:r>
                <a:r>
                  <a:rPr lang="en-US" sz="2600" baseline="-25000" dirty="0" err="1">
                    <a:solidFill>
                      <a:srgbClr val="4BACC6">
                        <a:lumMod val="50000"/>
                      </a:srgbClr>
                    </a:solidFill>
                  </a:rPr>
                  <a:t>t</a:t>
                </a:r>
                <a:r>
                  <a:rPr lang="en-US" sz="2600" dirty="0" err="1">
                    <a:solidFill>
                      <a:srgbClr val="4BACC6">
                        <a:lumMod val="50000"/>
                      </a:srgbClr>
                    </a:solidFill>
                  </a:rPr>
                  <a:t>.</a:t>
                </a:r>
                <a:endParaRPr lang="ru-RU" sz="2600" dirty="0">
                  <a:solidFill>
                    <a:srgbClr val="4BACC6">
                      <a:lumMod val="50000"/>
                    </a:srgbClr>
                  </a:solidFill>
                </a:endParaRPr>
              </a:p>
              <a:p>
                <a:pPr marL="457200" indent="-457200" algn="just" fontAlgn="base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Transformation matrix is stable and does not change over time.</a:t>
                </a:r>
              </a:p>
              <a:p>
                <a:pPr marL="457200" indent="-457200" algn="just" fontAlgn="base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 startAt="3"/>
                </a:pP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It is possibility of transition (direct or indirect) from one state to another. In the graph we can move the arrows from any vertex to any other vertex.</a:t>
                </a:r>
              </a:p>
              <a:p>
                <a:pPr marL="457200" indent="-457200" algn="just" fontAlgn="base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 startAt="3"/>
                </a:pP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System does not fall into the cycle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… P, P</a:t>
                </a:r>
                <a:r>
                  <a:rPr lang="pl-PL" sz="2600" baseline="30000" dirty="0">
                    <a:solidFill>
                      <a:srgbClr val="4BACC6">
                        <a:lumMod val="50000"/>
                      </a:srgbClr>
                    </a:solidFill>
                  </a:rPr>
                  <a:t>2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,P</a:t>
                </a:r>
                <a:r>
                  <a:rPr lang="pl-PL" sz="2600" baseline="30000" dirty="0">
                    <a:solidFill>
                      <a:srgbClr val="4BACC6">
                        <a:lumMod val="50000"/>
                      </a:srgbClr>
                    </a:solidFill>
                  </a:rPr>
                  <a:t>3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, 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are not of the cyclical character. </a:t>
                </a:r>
                <a:endParaRPr lang="pl-PL" sz="2600" dirty="0">
                  <a:solidFill>
                    <a:srgbClr val="4BACC6">
                      <a:lumMod val="50000"/>
                    </a:srgbClr>
                  </a:solidFill>
                </a:endParaRPr>
              </a:p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  <a:sym typeface="Wingdings" pitchFamily="2" charset="2"/>
                  </a:rPr>
                  <a:t> 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This process converges to a unique stationary distribution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pl-PL" sz="2600" b="0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𝜗</m:t>
                    </m:r>
                  </m:oMath>
                </a14:m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 ) 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fulfilling the equation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𝜗</m:t>
                    </m:r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𝜗</m:t>
                    </m:r>
                  </m:oMath>
                </a14:m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  (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or in alternative notation</a:t>
                </a:r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𝜗</m:t>
                    </m:r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r>
                      <a:rPr lang="pl-PL" sz="2600" b="0" i="1">
                        <a:solidFill>
                          <a:srgbClr val="4BACC6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/>
                      </a:rPr>
                      <m:t>𝜗</m:t>
                    </m:r>
                  </m:oMath>
                </a14:m>
                <a:r>
                  <a:rPr lang="pl-PL" sz="2600" dirty="0">
                    <a:solidFill>
                      <a:srgbClr val="4BACC6">
                        <a:lumMod val="50000"/>
                      </a:srgbClr>
                    </a:solidFill>
                  </a:rPr>
                  <a:t> ) (</a:t>
                </a:r>
                <a:r>
                  <a:rPr lang="en-US" sz="2600" dirty="0">
                    <a:solidFill>
                      <a:srgbClr val="4BACC6">
                        <a:lumMod val="50000"/>
                      </a:srgbClr>
                    </a:solidFill>
                  </a:rPr>
                  <a:t>The Ergodic Theorem</a:t>
                </a:r>
                <a:r>
                  <a:rPr lang="pl-PL" sz="2600" i="1" dirty="0">
                    <a:solidFill>
                      <a:srgbClr val="4BACC6">
                        <a:lumMod val="50000"/>
                      </a:srgb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2" name="Prostoką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8316"/>
                <a:ext cx="12031579" cy="5293757"/>
              </a:xfrm>
              <a:prstGeom prst="rect">
                <a:avLst/>
              </a:prstGeom>
              <a:blipFill>
                <a:blip r:embed="rId2"/>
                <a:stretch>
                  <a:fillRect l="-912" t="-1037" r="-861" b="-207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Analytical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solution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99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rostokąt 21"/>
              <p:cNvSpPr/>
              <p:nvPr/>
            </p:nvSpPr>
            <p:spPr>
              <a:xfrm>
                <a:off x="233742" y="1131683"/>
                <a:ext cx="11730460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2800" dirty="0">
                    <a:solidFill>
                      <a:srgbClr val="4BACC6">
                        <a:lumMod val="50000"/>
                      </a:srgbClr>
                    </a:solidFill>
                    <a:effectLst/>
                    <a:latin typeface="Arial" pitchFamily="34" charset="0"/>
                  </a:rPr>
                  <a:t>Stationary state --&gt; Transitions from one state to another are balanced from one period to another, there is no change in the proportion of the population belonging to particular states.</a:t>
                </a:r>
                <a:r>
                  <a:rPr lang="pl-PL" sz="2800" dirty="0">
                    <a:solidFill>
                      <a:srgbClr val="4BACC6">
                        <a:lumMod val="50000"/>
                      </a:srgbClr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pl-PL" sz="2800" b="0" i="1">
                        <a:solidFill>
                          <a:srgbClr val="4BACC6">
                            <a:lumMod val="50000"/>
                          </a:srgbClr>
                        </a:solidFill>
                        <a:effectLst/>
                        <a:latin typeface="Cambria Math"/>
                      </a:rPr>
                      <m:t>𝑃</m:t>
                    </m:r>
                    <m:r>
                      <a:rPr lang="pl-PL" sz="2800" b="0" i="1">
                        <a:solidFill>
                          <a:srgbClr val="4BACC6">
                            <a:lumMod val="50000"/>
                          </a:srgbClr>
                        </a:solidFill>
                        <a:effectLst/>
                        <a:latin typeface="Cambria Math"/>
                        <a:ea typeface="Cambria Math"/>
                      </a:rPr>
                      <m:t>𝜗</m:t>
                    </m:r>
                    <m:r>
                      <a:rPr lang="pl-PL" sz="2800" b="0" i="1">
                        <a:solidFill>
                          <a:srgbClr val="4BACC6">
                            <a:lumMod val="50000"/>
                          </a:srgbClr>
                        </a:solidFill>
                        <a:effectLst/>
                        <a:latin typeface="Cambria Math"/>
                        <a:ea typeface="Cambria Math"/>
                      </a:rPr>
                      <m:t>= </m:t>
                    </m:r>
                    <m:r>
                      <a:rPr lang="pl-PL" sz="2800" b="0" i="1">
                        <a:solidFill>
                          <a:srgbClr val="4BACC6">
                            <a:lumMod val="50000"/>
                          </a:srgbClr>
                        </a:solidFill>
                        <a:effectLst/>
                        <a:latin typeface="Cambria Math"/>
                        <a:ea typeface="Cambria Math"/>
                      </a:rPr>
                      <m:t>𝜗</m:t>
                    </m:r>
                    <m:r>
                      <a:rPr lang="pl-PL" sz="2800" b="0" i="1" smtClean="0">
                        <a:solidFill>
                          <a:srgbClr val="4BACC6">
                            <a:lumMod val="50000"/>
                          </a:srgbClr>
                        </a:solidFill>
                        <a:effectLst/>
                        <a:latin typeface="Cambria Math" panose="02040503050406030204" pitchFamily="18" charset="0"/>
                        <a:ea typeface="Cambria Math"/>
                      </a:rPr>
                      <m:t>. </m:t>
                    </m:r>
                  </m:oMath>
                </a14:m>
                <a:r>
                  <a:rPr lang="en-US" sz="2800" dirty="0">
                    <a:solidFill>
                      <a:srgbClr val="4BACC6">
                        <a:lumMod val="50000"/>
                      </a:srgbClr>
                    </a:solidFill>
                    <a:effectLst/>
                    <a:latin typeface="Arial" pitchFamily="34" charset="0"/>
                  </a:rPr>
                  <a:t>A little bit of transformations and finally</a:t>
                </a:r>
                <a:r>
                  <a:rPr lang="pl-PL" sz="2800" dirty="0">
                    <a:solidFill>
                      <a:srgbClr val="4BACC6">
                        <a:lumMod val="50000"/>
                      </a:srgbClr>
                    </a:solidFill>
                    <a:effectLst/>
                    <a:latin typeface="Arial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800" i="1">
                            <a:solidFill>
                              <a:srgbClr val="4BACC6">
                                <a:lumMod val="50000"/>
                              </a:srgbClr>
                            </a:solidFill>
                            <a:effectLst/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l-PL" sz="2800" b="0" i="1">
                            <a:solidFill>
                              <a:srgbClr val="4BACC6">
                                <a:lumMod val="50000"/>
                              </a:srgbClr>
                            </a:solidFill>
                            <a:effectLst/>
                            <a:latin typeface="Cambria Math"/>
                          </a:rPr>
                          <m:t>𝑃</m:t>
                        </m:r>
                        <m:r>
                          <a:rPr lang="pl-PL" sz="2800" b="0" i="1">
                            <a:solidFill>
                              <a:srgbClr val="4BACC6">
                                <a:lumMod val="50000"/>
                              </a:srgbClr>
                            </a:solidFill>
                            <a:effectLst/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pl-PL" sz="2800" b="0" i="1">
                            <a:solidFill>
                              <a:srgbClr val="4BACC6">
                                <a:lumMod val="50000"/>
                              </a:srgbClr>
                            </a:solidFill>
                            <a:effectLst/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</m:d>
                    <m:r>
                      <a:rPr lang="pl-PL" sz="2800" b="0" i="1">
                        <a:solidFill>
                          <a:srgbClr val="4BACC6">
                            <a:lumMod val="50000"/>
                          </a:srgbClr>
                        </a:solidFill>
                        <a:effectLst/>
                        <a:latin typeface="Cambria Math"/>
                        <a:ea typeface="Cambria Math"/>
                      </a:rPr>
                      <m:t>𝜗</m:t>
                    </m:r>
                    <m:r>
                      <a:rPr lang="pl-PL" sz="2800" b="0" i="1">
                        <a:solidFill>
                          <a:srgbClr val="4BACC6">
                            <a:lumMod val="50000"/>
                          </a:srgbClr>
                        </a:solidFill>
                        <a:effectLst/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endParaRPr lang="pl-PL" i="1" dirty="0">
                  <a:solidFill>
                    <a:srgbClr val="4BACC6">
                      <a:lumMod val="50000"/>
                    </a:srgbClr>
                  </a:solidFill>
                  <a:effectLst/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22" name="Prostoką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42" y="1131683"/>
                <a:ext cx="11730460" cy="1815882"/>
              </a:xfrm>
              <a:prstGeom prst="rect">
                <a:avLst/>
              </a:prstGeom>
              <a:blipFill>
                <a:blip r:embed="rId2"/>
                <a:stretch>
                  <a:fillRect l="-1039" t="-3691" r="-1039" b="-83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/>
              <p:cNvSpPr txBox="1"/>
              <p:nvPr/>
            </p:nvSpPr>
            <p:spPr>
              <a:xfrm>
                <a:off x="8639294" y="4282690"/>
                <a:ext cx="3065026" cy="708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l-PL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l-PL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.</m:t>
                              </m:r>
                              <m:r>
                                <a:rPr lang="pl-PL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0.</m:t>
                              </m:r>
                              <m:r>
                                <a:rPr lang="pl-PL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pl-PL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0.9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pl-PL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𝜗</m:t>
                                  </m:r>
                                </m:e>
                                <m:sub>
                                  <m: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𝜗</m:t>
                                  </m:r>
                                </m:e>
                                <m:sub>
                                  <m: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/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pl-PL" dirty="0">
                    <a:solidFill>
                      <a:prstClr val="black"/>
                    </a:solidFill>
                    <a:latin typeface="Calibri"/>
                  </a:rPr>
                  <a:t>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l-PL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l-PL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𝜗</m:t>
                                  </m:r>
                                </m:e>
                                <m:sub>
                                  <m: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𝜗</m:t>
                                  </m:r>
                                </m:e>
                                <m:sub>
                                  <m:r>
                                    <a:rPr lang="pl-PL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  <m:sup/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pl-PL" dirty="0">
                    <a:solidFill>
                      <a:prstClr val="black"/>
                    </a:solidFill>
                    <a:latin typeface="Calibri"/>
                  </a:rPr>
                  <a:t>  </a:t>
                </a:r>
              </a:p>
            </p:txBody>
          </p:sp>
        </mc:Choice>
        <mc:Fallback xmlns="">
          <p:sp>
            <p:nvSpPr>
              <p:cNvPr id="4" name="pole tekstow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294" y="4282690"/>
                <a:ext cx="3065026" cy="708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rostokąt 2"/>
          <p:cNvSpPr/>
          <p:nvPr/>
        </p:nvSpPr>
        <p:spPr>
          <a:xfrm>
            <a:off x="233742" y="2947565"/>
            <a:ext cx="5184576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kill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all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)$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load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draw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)$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P : matrix([0.85, 0.1], [0.15,0.9]);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v:matrix([v1],[v2]);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N: 23; /*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Number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of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students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*/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eq1: (((P) -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ident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(2)).v)[1][1] = 0$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eq2: (((P) -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ident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(2)).v)[2][1] = 0$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eq3: v1+v2 = 1$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solve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([eq1,eq2,eq3],[v1,v2])$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output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:%[1]; /*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output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is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a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proportion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vector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*/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v1:23*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rhs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output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[1])$ </a:t>
            </a:r>
          </a:p>
          <a:p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v2:23*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rhs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output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[2])$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print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("No of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students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at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the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lecture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",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float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(v1))$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print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("No of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students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outside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",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float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(v2))$</a:t>
            </a:r>
          </a:p>
          <a:p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print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(" 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Change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= ", ''</a:t>
            </a:r>
            <a:r>
              <a:rPr lang="pl-PL" sz="16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P.''v</a:t>
            </a:r>
            <a:r>
              <a:rPr lang="pl-PL" sz="16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- ''v)$</a:t>
            </a:r>
          </a:p>
        </p:txBody>
      </p:sp>
      <p:sp>
        <p:nvSpPr>
          <p:cNvPr id="12" name="Prostokąt 11"/>
          <p:cNvSpPr/>
          <p:nvPr/>
        </p:nvSpPr>
        <p:spPr>
          <a:xfrm>
            <a:off x="6386849" y="2947565"/>
            <a:ext cx="55773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Under the assumption all the proportions sum up to </a:t>
            </a: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1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pl-PL" sz="24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v1 + v1 = 1 </a:t>
            </a:r>
            <a:endParaRPr lang="pl-PL" sz="2400" b="1" i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  <p:sp>
        <p:nvSpPr>
          <p:cNvPr id="11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Analytical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solution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198" y="5274358"/>
            <a:ext cx="4144327" cy="1155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7297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>
            <a:picLocks noChangeAspect="1"/>
          </p:cNvPicPr>
          <p:nvPr/>
        </p:nvPicPr>
        <p:blipFill rotWithShape="1">
          <a:blip r:embed="rId2"/>
          <a:srcRect l="22833" t="2973" r="18761" b="5100"/>
          <a:stretch/>
        </p:blipFill>
        <p:spPr>
          <a:xfrm>
            <a:off x="7134058" y="1983847"/>
            <a:ext cx="4582373" cy="4640019"/>
          </a:xfrm>
          <a:prstGeom prst="rect">
            <a:avLst/>
          </a:prstGeom>
        </p:spPr>
      </p:pic>
      <p:sp>
        <p:nvSpPr>
          <p:cNvPr id="22" name="Prostokąt 21"/>
          <p:cNvSpPr/>
          <p:nvPr/>
        </p:nvSpPr>
        <p:spPr>
          <a:xfrm>
            <a:off x="233742" y="1131683"/>
            <a:ext cx="1007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effectLst/>
                <a:latin typeface="Arial" pitchFamily="34" charset="0"/>
              </a:rPr>
              <a:t>In R</a:t>
            </a:r>
            <a:endParaRPr lang="pl-PL" i="1" dirty="0">
              <a:solidFill>
                <a:srgbClr val="4BACC6">
                  <a:lumMod val="50000"/>
                </a:srgbClr>
              </a:solidFill>
              <a:effectLst/>
              <a:latin typeface="Arial" pitchFamily="34" charset="0"/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541750" y="1857034"/>
            <a:ext cx="6773450" cy="489364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###### Start of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Section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0 ##################################################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######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Check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installation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and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loading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of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required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packages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#######</a:t>
            </a:r>
          </a:p>
          <a:p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requiredPackages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c("diagram", "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markovchain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" ) # list of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required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packages</a:t>
            </a:r>
            <a:endParaRPr lang="pl-PL" sz="12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for(i in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requiredPackages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){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if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(!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require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i,character.only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TRUE))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install.packages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(i)}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for(i in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requiredPackages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){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if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(!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require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i,character.only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TRUE))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library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i,character.only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TRUE) } </a:t>
            </a:r>
          </a:p>
          <a:p>
            <a:endParaRPr lang="pl-PL" sz="12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pl-PL" sz="12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par(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mfrow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=c(1,1))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P &lt;-  matrix(c(0.85, 0.15,0.1,0.9 ),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nrow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2 ,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byrow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=FALSE )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x0 &lt;- matrix(c(200, 30),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ncol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2)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stany &lt;- c("PRSNT","ABSNT")</a:t>
            </a:r>
          </a:p>
          <a:p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row.names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(P) &lt;- stany; </a:t>
            </a:r>
          </a:p>
          <a:p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colnames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(P) &lt;- stany</a:t>
            </a:r>
          </a:p>
          <a:p>
            <a:endParaRPr lang="pl-PL" sz="12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plotmat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P,lwd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1,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box.lwd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2,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cex.txt = 0.7,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box.size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0.1,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box.type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"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circle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",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box.prop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0.4,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box.col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"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light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blue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",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arr.length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=.2,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arr.width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=.2,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self.cex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.4,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self.shifty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-.01,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self.shiftx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.13,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main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"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Transaction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Matrix ")</a:t>
            </a:r>
          </a:p>
        </p:txBody>
      </p:sp>
      <p:sp>
        <p:nvSpPr>
          <p:cNvPr id="11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Analytical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solution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84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233742" y="1131683"/>
            <a:ext cx="1007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effectLst/>
                <a:latin typeface="Arial" pitchFamily="34" charset="0"/>
              </a:rPr>
              <a:t>In R</a:t>
            </a:r>
            <a:endParaRPr lang="pl-PL" i="1" dirty="0">
              <a:solidFill>
                <a:srgbClr val="4BACC6">
                  <a:lumMod val="50000"/>
                </a:srgbClr>
              </a:solidFill>
              <a:effectLst/>
              <a:latin typeface="Arial" pitchFamily="34" charset="0"/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358871" y="2380543"/>
            <a:ext cx="366449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markov_chains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&lt;-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function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(P, x0,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iter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){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wynik &lt;- matrix(0,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nrow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nrow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(P),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ncol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iter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)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p_pow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&lt;- P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wynik[,1] &lt;- x0</a:t>
            </a:r>
          </a:p>
          <a:p>
            <a:endParaRPr lang="pl-PL" sz="12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for(i in 2:iter) {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p_pow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&lt;- P %*%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p_pow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# mnożenie macierzy 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 wynik[,i] &lt;- x0 %*%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p_pow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 }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 return(wynik)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}</a:t>
            </a:r>
          </a:p>
          <a:p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sym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&lt;-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markov_chains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(P, x0, 50 )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plot(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sym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[1,], 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type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 = "l")</a:t>
            </a:r>
          </a:p>
          <a:p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lines(</a:t>
            </a:r>
            <a:r>
              <a:rPr lang="pl-PL" sz="1200" b="1" dirty="0" err="1">
                <a:solidFill>
                  <a:schemeClr val="accent5">
                    <a:lumMod val="50000"/>
                  </a:schemeClr>
                </a:solidFill>
              </a:rPr>
              <a:t>sym</a:t>
            </a:r>
            <a:r>
              <a:rPr lang="pl-PL" sz="1200" b="1" dirty="0">
                <a:solidFill>
                  <a:schemeClr val="accent5">
                    <a:lumMod val="50000"/>
                  </a:schemeClr>
                </a:solidFill>
              </a:rPr>
              <a:t>[2,])</a:t>
            </a:r>
          </a:p>
        </p:txBody>
      </p:sp>
      <p:sp>
        <p:nvSpPr>
          <p:cNvPr id="11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Analytical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solution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921" y="1776823"/>
            <a:ext cx="6530233" cy="4205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526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233742" y="1131683"/>
            <a:ext cx="1007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800" dirty="0">
                <a:solidFill>
                  <a:srgbClr val="4BACC6">
                    <a:lumMod val="50000"/>
                  </a:srgbClr>
                </a:solidFill>
                <a:effectLst/>
                <a:latin typeface="Arial" pitchFamily="34" charset="0"/>
              </a:rPr>
              <a:t>In R</a:t>
            </a:r>
            <a:endParaRPr lang="pl-PL" i="1" dirty="0">
              <a:solidFill>
                <a:srgbClr val="4BACC6">
                  <a:lumMod val="50000"/>
                </a:srgbClr>
              </a:solidFill>
              <a:effectLst/>
              <a:latin typeface="Arial" pitchFamily="34" charset="0"/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233742" y="2062928"/>
            <a:ext cx="4463386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# A 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new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markovchain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object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 ::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markovchain</a:t>
            </a:r>
            <a:endParaRPr lang="pl-PL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pl-PL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PMC&lt;-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new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("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markovchain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",</a:t>
            </a:r>
          </a:p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         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states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=stany,</a:t>
            </a:r>
          </a:p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         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transitionMatrix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=</a:t>
            </a:r>
          </a:p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           P)</a:t>
            </a:r>
          </a:p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PMC</a:t>
            </a:r>
          </a:p>
          <a:p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plot(PMC)</a:t>
            </a:r>
          </a:p>
          <a:p>
            <a:endParaRPr lang="pl-PL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steadyStates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(PMC) # 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proportions</a:t>
            </a:r>
            <a:endParaRPr lang="pl-PL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steadyStates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(PMC)*230 # </a:t>
            </a:r>
            <a:r>
              <a:rPr lang="pl-PL" b="1" dirty="0" err="1">
                <a:solidFill>
                  <a:schemeClr val="accent5">
                    <a:lumMod val="50000"/>
                  </a:schemeClr>
                </a:solidFill>
              </a:rPr>
              <a:t>numbers</a:t>
            </a:r>
            <a:r>
              <a:rPr lang="pl-PL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Analytical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solution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 rotWithShape="1">
          <a:blip r:embed="rId2"/>
          <a:srcRect l="4990" t="2975"/>
          <a:stretch/>
        </p:blipFill>
        <p:spPr>
          <a:xfrm>
            <a:off x="8980369" y="3926116"/>
            <a:ext cx="2912861" cy="2362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Prostokąt 5"/>
          <p:cNvSpPr/>
          <p:nvPr/>
        </p:nvSpPr>
        <p:spPr>
          <a:xfrm>
            <a:off x="4981072" y="1253122"/>
            <a:ext cx="726065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Unnamed Markov chain </a:t>
            </a:r>
          </a:p>
          <a:p>
            <a:r>
              <a:rPr lang="en-US" dirty="0"/>
              <a:t> A  2 - dimensional discrete Markov Chain defined by the following states: </a:t>
            </a:r>
          </a:p>
          <a:p>
            <a:r>
              <a:rPr lang="en-US" dirty="0"/>
              <a:t> PRSNT, ABSNT </a:t>
            </a:r>
          </a:p>
          <a:p>
            <a:r>
              <a:rPr lang="en-US" dirty="0"/>
              <a:t> The transition matrix  (by rows)  is defined as follows: </a:t>
            </a:r>
          </a:p>
          <a:p>
            <a:r>
              <a:rPr lang="en-US" dirty="0"/>
              <a:t>      PRSNT ABSNT</a:t>
            </a:r>
          </a:p>
          <a:p>
            <a:r>
              <a:rPr lang="en-US" dirty="0"/>
              <a:t>PRSNT  0.75  0.25</a:t>
            </a:r>
          </a:p>
          <a:p>
            <a:r>
              <a:rPr lang="en-US" dirty="0"/>
              <a:t>ABSNT  0.10  0.90</a:t>
            </a:r>
            <a:endParaRPr lang="pl-PL" dirty="0"/>
          </a:p>
        </p:txBody>
      </p:sp>
      <p:sp>
        <p:nvSpPr>
          <p:cNvPr id="8" name="Prostokąt 7"/>
          <p:cNvSpPr/>
          <p:nvPr/>
        </p:nvSpPr>
        <p:spPr>
          <a:xfrm>
            <a:off x="4981072" y="4278919"/>
            <a:ext cx="34971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steadyStates</a:t>
            </a:r>
            <a:r>
              <a:rPr lang="en-US" dirty="0"/>
              <a:t>(PMC) # proportions</a:t>
            </a:r>
          </a:p>
          <a:p>
            <a:r>
              <a:rPr lang="en-US" dirty="0"/>
              <a:t>         PRSNT     ABSNT</a:t>
            </a:r>
          </a:p>
          <a:p>
            <a:r>
              <a:rPr lang="en-US" dirty="0"/>
              <a:t>[1,] 0.2857143 0.7142857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7712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0523" y="2303570"/>
            <a:ext cx="2209428" cy="220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Prostokąt 21"/>
          <p:cNvSpPr/>
          <p:nvPr/>
        </p:nvSpPr>
        <p:spPr>
          <a:xfrm>
            <a:off x="552049" y="1376147"/>
            <a:ext cx="849589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Where to apply this type of modelling?</a:t>
            </a:r>
            <a:endParaRPr lang="pl-PL" sz="24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model production processes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modeling of the labor market instead of the states IS / NOT, we can type WORK / NOT WORK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solidFill>
                  <a:srgbClr val="4BACC6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stock market through moving boom, recession, stabilization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Political transition from the state of Democracy, Partial democracy, Dictatorship</a:t>
            </a:r>
            <a:endParaRPr lang="pl-PL" sz="2400" dirty="0">
              <a:solidFill>
                <a:srgbClr val="4BACC6">
                  <a:lumMod val="50000"/>
                </a:srgbClr>
              </a:solidFill>
              <a:latin typeface="Arial" pitchFamily="34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  <a:hlinkClick r:id="rId3"/>
              </a:rPr>
              <a:t>http://www.youtube.com/watch?v=7dsfNFA9LRE</a:t>
            </a:r>
            <a:r>
              <a:rPr lang="en-GB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 It is part of the course:</a:t>
            </a:r>
            <a:r>
              <a:rPr lang="pl-PL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  <a:hlinkClick r:id="rId4"/>
              </a:rPr>
              <a:t>https://www.coursera.org/course/modelthinking</a:t>
            </a:r>
            <a:endParaRPr lang="pl-PL" sz="2400" dirty="0">
              <a:solidFill>
                <a:srgbClr val="4BACC6">
                  <a:lumMod val="50000"/>
                </a:srgbClr>
              </a:solidFill>
              <a:latin typeface="Arial" pitchFamily="34" charset="0"/>
              <a:cs typeface="Arial" panose="020B0604020202020204" pitchFamily="34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pl-PL" sz="24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Social</a:t>
            </a: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 learning model (</a:t>
            </a:r>
            <a:r>
              <a:rPr lang="pl-PL" sz="24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DeGroot</a:t>
            </a: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  <a:cs typeface="Arial" panose="020B0604020202020204" pitchFamily="34" charset="0"/>
              </a:rPr>
              <a:t>) </a:t>
            </a:r>
            <a:endParaRPr lang="en-GB" sz="2400" b="1" dirty="0">
              <a:solidFill>
                <a:srgbClr val="4BACC6">
                  <a:lumMod val="50000"/>
                </a:srgbClr>
              </a:solidFill>
              <a:latin typeface="Arial" pitchFamily="34" charset="0"/>
              <a:cs typeface="Arial" panose="020B0604020202020204" pitchFamily="34" charset="0"/>
            </a:endParaRP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Finance</a:t>
            </a:r>
          </a:p>
        </p:txBody>
      </p:sp>
      <p:sp>
        <p:nvSpPr>
          <p:cNvPr id="5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3545107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107893" y="1138316"/>
            <a:ext cx="830849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600" dirty="0" err="1">
                <a:solidFill>
                  <a:srgbClr val="4BACC6">
                    <a:lumMod val="50000"/>
                  </a:srgbClr>
                </a:solidFill>
              </a:rPr>
              <a:t>Similar</a:t>
            </a:r>
            <a:r>
              <a:rPr lang="pl-PL" sz="2600" dirty="0">
                <a:solidFill>
                  <a:srgbClr val="4BACC6">
                    <a:lumMod val="50000"/>
                  </a:srgbClr>
                </a:solidFill>
              </a:rPr>
              <a:t> to </a:t>
            </a: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Markov chains </a:t>
            </a:r>
            <a:r>
              <a:rPr lang="pl-PL" sz="2600" dirty="0" err="1">
                <a:solidFill>
                  <a:srgbClr val="4BACC6">
                    <a:lumMod val="50000"/>
                  </a:srgbClr>
                </a:solidFill>
              </a:rPr>
              <a:t>is</a:t>
            </a: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 the simple model of social learning (</a:t>
            </a:r>
            <a:r>
              <a:rPr lang="en-US" sz="2600" b="1" dirty="0">
                <a:solidFill>
                  <a:srgbClr val="4BACC6">
                    <a:lumMod val="50000"/>
                  </a:srgbClr>
                </a:solidFill>
              </a:rPr>
              <a:t>DeGroot</a:t>
            </a: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)</a:t>
            </a:r>
            <a:r>
              <a:rPr lang="pl-PL" sz="2600" dirty="0">
                <a:solidFill>
                  <a:srgbClr val="4BACC6">
                    <a:lumMod val="50000"/>
                  </a:srgbClr>
                </a:solidFill>
              </a:rPr>
              <a:t>. </a:t>
            </a: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We have only change the interpretation of the previous model. 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X0 is a vector of initial believes ( 0 – do not believe, 1 believe in climate change) or probability that </a:t>
            </a:r>
            <a:r>
              <a:rPr lang="pl-PL" sz="2600" dirty="0">
                <a:solidFill>
                  <a:srgbClr val="4BACC6">
                    <a:lumMod val="50000"/>
                  </a:srgbClr>
                </a:solidFill>
              </a:rPr>
              <a:t>we </a:t>
            </a:r>
            <a:r>
              <a:rPr lang="pl-PL" sz="2600" dirty="0" err="1">
                <a:solidFill>
                  <a:srgbClr val="4BACC6">
                    <a:lumMod val="50000"/>
                  </a:srgbClr>
                </a:solidFill>
              </a:rPr>
              <a:t>believe</a:t>
            </a:r>
            <a:r>
              <a:rPr lang="pl-PL" sz="2600" dirty="0">
                <a:solidFill>
                  <a:srgbClr val="4BACC6">
                    <a:lumMod val="50000"/>
                  </a:srgbClr>
                </a:solidFill>
              </a:rPr>
              <a:t> </a:t>
            </a: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the statement is true. 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The transaction matrix is now an influence (communication, trust) matrix. The graph shows ow agents influence each other. Agents do believe </a:t>
            </a:r>
            <a:r>
              <a:rPr lang="en-US" sz="2600" dirty="0" err="1">
                <a:solidFill>
                  <a:srgbClr val="4BACC6">
                    <a:lumMod val="50000"/>
                  </a:srgbClr>
                </a:solidFill>
              </a:rPr>
              <a:t>mainy</a:t>
            </a: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 in himself/herself (0.8 and 0.9 ) The influence by other is a week (0.2, 0,1).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600" dirty="0">
                <a:solidFill>
                  <a:srgbClr val="4BACC6">
                    <a:lumMod val="50000"/>
                  </a:srgbClr>
                </a:solidFill>
              </a:rPr>
              <a:t>We can find how agent by social learning (communication) changing their beliefs. It depends on the network structure and their initial beliefs. </a:t>
            </a:r>
          </a:p>
        </p:txBody>
      </p:sp>
      <p:sp>
        <p:nvSpPr>
          <p:cNvPr id="5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Applications/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old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exam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rostokąt 2"/>
              <p:cNvSpPr/>
              <p:nvPr/>
            </p:nvSpPr>
            <p:spPr>
              <a:xfrm>
                <a:off x="9339912" y="1507049"/>
                <a:ext cx="1522253" cy="7496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l-PL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l-PL" sz="24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3" name="Prostoką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912" y="1507049"/>
                <a:ext cx="1522253" cy="749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a 6"/>
          <p:cNvGrpSpPr/>
          <p:nvPr/>
        </p:nvGrpSpPr>
        <p:grpSpPr>
          <a:xfrm>
            <a:off x="8499107" y="2582107"/>
            <a:ext cx="3682011" cy="3371277"/>
            <a:chOff x="319860" y="965015"/>
            <a:chExt cx="5476275" cy="3102831"/>
          </a:xfrm>
        </p:grpSpPr>
        <p:grpSp>
          <p:nvGrpSpPr>
            <p:cNvPr id="8" name="Grupa 7"/>
            <p:cNvGrpSpPr/>
            <p:nvPr/>
          </p:nvGrpSpPr>
          <p:grpSpPr>
            <a:xfrm>
              <a:off x="319860" y="1524075"/>
              <a:ext cx="5476275" cy="2543771"/>
              <a:chOff x="1146109" y="3539420"/>
              <a:chExt cx="6518107" cy="2907553"/>
            </a:xfrm>
          </p:grpSpPr>
          <p:grpSp>
            <p:nvGrpSpPr>
              <p:cNvPr id="11" name="Group 22"/>
              <p:cNvGrpSpPr>
                <a:grpSpLocks/>
              </p:cNvGrpSpPr>
              <p:nvPr/>
            </p:nvGrpSpPr>
            <p:grpSpPr bwMode="auto">
              <a:xfrm>
                <a:off x="1579446" y="3539420"/>
                <a:ext cx="5178652" cy="1634575"/>
                <a:chOff x="1848" y="2561"/>
                <a:chExt cx="1408" cy="692"/>
              </a:xfrm>
            </p:grpSpPr>
            <p:sp>
              <p:nvSpPr>
                <p:cNvPr id="1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461" y="2561"/>
                  <a:ext cx="385" cy="1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600" b="1" dirty="0">
                      <a:solidFill>
                        <a:prstClr val="black"/>
                      </a:solidFill>
                    </a:rPr>
                    <a:t>0.</a:t>
                  </a:r>
                  <a:r>
                    <a:rPr lang="pl-PL" sz="1600" b="1" dirty="0">
                      <a:solidFill>
                        <a:prstClr val="black"/>
                      </a:solidFill>
                    </a:rPr>
                    <a:t>2</a:t>
                  </a:r>
                  <a:endParaRPr lang="en-US" sz="1600" b="1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848" y="2978"/>
                  <a:ext cx="228" cy="1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600" b="1" dirty="0">
                      <a:solidFill>
                        <a:prstClr val="black"/>
                      </a:solidFill>
                    </a:rPr>
                    <a:t>0.</a:t>
                  </a:r>
                  <a:r>
                    <a:rPr lang="pl-PL" sz="1600" b="1" dirty="0">
                      <a:solidFill>
                        <a:prstClr val="black"/>
                      </a:solidFill>
                    </a:rPr>
                    <a:t>8</a:t>
                  </a:r>
                  <a:endParaRPr lang="en-US" sz="1600" b="1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913" y="3103"/>
                  <a:ext cx="343" cy="1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600" b="1">
                      <a:solidFill>
                        <a:prstClr val="black"/>
                      </a:solidFill>
                    </a:rPr>
                    <a:t>0.8</a:t>
                  </a:r>
                </a:p>
              </p:txBody>
            </p:sp>
          </p:grpSp>
          <p:sp>
            <p:nvSpPr>
              <p:cNvPr id="12" name="Elipsa 44"/>
              <p:cNvSpPr/>
              <p:nvPr/>
            </p:nvSpPr>
            <p:spPr>
              <a:xfrm>
                <a:off x="2332891" y="5043078"/>
                <a:ext cx="1798726" cy="988746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l-PL" sz="1600" b="1" dirty="0">
                    <a:solidFill>
                      <a:srgbClr val="4BACC6">
                        <a:lumMod val="50000"/>
                      </a:srgbClr>
                    </a:solidFill>
                  </a:rPr>
                  <a:t>Agent 1</a:t>
                </a:r>
              </a:p>
            </p:txBody>
          </p:sp>
          <p:sp>
            <p:nvSpPr>
              <p:cNvPr id="13" name="Elipsa 45"/>
              <p:cNvSpPr/>
              <p:nvPr/>
            </p:nvSpPr>
            <p:spPr>
              <a:xfrm>
                <a:off x="4812305" y="4707833"/>
                <a:ext cx="1744257" cy="988746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l-PL" sz="1600" b="1" dirty="0">
                    <a:solidFill>
                      <a:srgbClr val="4BACC6">
                        <a:lumMod val="50000"/>
                      </a:srgbClr>
                    </a:solidFill>
                  </a:rPr>
                  <a:t>Agent 2</a:t>
                </a:r>
              </a:p>
            </p:txBody>
          </p:sp>
          <p:sp>
            <p:nvSpPr>
              <p:cNvPr id="14" name="Dowolny kształt 13"/>
              <p:cNvSpPr/>
              <p:nvPr/>
            </p:nvSpPr>
            <p:spPr>
              <a:xfrm>
                <a:off x="1146109" y="4200805"/>
                <a:ext cx="1501398" cy="1329404"/>
              </a:xfrm>
              <a:custGeom>
                <a:avLst/>
                <a:gdLst>
                  <a:gd name="connsiteX0" fmla="*/ 1501398 w 1501398"/>
                  <a:gd name="connsiteY0" fmla="*/ 861572 h 1329404"/>
                  <a:gd name="connsiteX1" fmla="*/ 842179 w 1501398"/>
                  <a:gd name="connsiteY1" fmla="*/ 335 h 1329404"/>
                  <a:gd name="connsiteX2" fmla="*/ 2207 w 1501398"/>
                  <a:gd name="connsiteY2" fmla="*/ 946632 h 1329404"/>
                  <a:gd name="connsiteX3" fmla="*/ 1107993 w 1501398"/>
                  <a:gd name="connsiteY3" fmla="*/ 1329404 h 1329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1398" h="1329404">
                    <a:moveTo>
                      <a:pt x="1501398" y="861572"/>
                    </a:moveTo>
                    <a:cubicBezTo>
                      <a:pt x="1296721" y="423865"/>
                      <a:pt x="1092044" y="-13842"/>
                      <a:pt x="842179" y="335"/>
                    </a:cubicBezTo>
                    <a:cubicBezTo>
                      <a:pt x="592314" y="14512"/>
                      <a:pt x="-42095" y="725120"/>
                      <a:pt x="2207" y="946632"/>
                    </a:cubicBezTo>
                    <a:cubicBezTo>
                      <a:pt x="46509" y="1168144"/>
                      <a:pt x="858128" y="1263837"/>
                      <a:pt x="1107993" y="1329404"/>
                    </a:cubicBezTo>
                  </a:path>
                </a:pathLst>
              </a:custGeom>
              <a:noFill/>
              <a:ln w="34925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600" b="1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Dowolny kształt 14"/>
              <p:cNvSpPr/>
              <p:nvPr/>
            </p:nvSpPr>
            <p:spPr>
              <a:xfrm>
                <a:off x="2987749" y="3990289"/>
                <a:ext cx="2838893" cy="1060176"/>
              </a:xfrm>
              <a:custGeom>
                <a:avLst/>
                <a:gdLst>
                  <a:gd name="connsiteX0" fmla="*/ 0 w 2838893"/>
                  <a:gd name="connsiteY0" fmla="*/ 1060176 h 1060176"/>
                  <a:gd name="connsiteX1" fmla="*/ 478465 w 2838893"/>
                  <a:gd name="connsiteY1" fmla="*/ 60716 h 1060176"/>
                  <a:gd name="connsiteX2" fmla="*/ 2424223 w 2838893"/>
                  <a:gd name="connsiteY2" fmla="*/ 177674 h 1060176"/>
                  <a:gd name="connsiteX3" fmla="*/ 2838893 w 2838893"/>
                  <a:gd name="connsiteY3" fmla="*/ 730567 h 106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38893" h="1060176">
                    <a:moveTo>
                      <a:pt x="0" y="1060176"/>
                    </a:moveTo>
                    <a:cubicBezTo>
                      <a:pt x="37214" y="633988"/>
                      <a:pt x="74428" y="207800"/>
                      <a:pt x="478465" y="60716"/>
                    </a:cubicBezTo>
                    <a:cubicBezTo>
                      <a:pt x="882502" y="-86368"/>
                      <a:pt x="2030818" y="66032"/>
                      <a:pt x="2424223" y="177674"/>
                    </a:cubicBezTo>
                    <a:cubicBezTo>
                      <a:pt x="2817628" y="289316"/>
                      <a:pt x="2785730" y="617153"/>
                      <a:pt x="2838893" y="730567"/>
                    </a:cubicBezTo>
                  </a:path>
                </a:pathLst>
              </a:custGeom>
              <a:noFill/>
              <a:ln w="31750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600" b="1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Dowolny kształt 15"/>
              <p:cNvSpPr/>
              <p:nvPr/>
            </p:nvSpPr>
            <p:spPr>
              <a:xfrm rot="741321" flipH="1">
                <a:off x="6258155" y="4072089"/>
                <a:ext cx="1406061" cy="1343376"/>
              </a:xfrm>
              <a:custGeom>
                <a:avLst/>
                <a:gdLst>
                  <a:gd name="connsiteX0" fmla="*/ 1501398 w 1501398"/>
                  <a:gd name="connsiteY0" fmla="*/ 861572 h 1329404"/>
                  <a:gd name="connsiteX1" fmla="*/ 842179 w 1501398"/>
                  <a:gd name="connsiteY1" fmla="*/ 335 h 1329404"/>
                  <a:gd name="connsiteX2" fmla="*/ 2207 w 1501398"/>
                  <a:gd name="connsiteY2" fmla="*/ 946632 h 1329404"/>
                  <a:gd name="connsiteX3" fmla="*/ 1107993 w 1501398"/>
                  <a:gd name="connsiteY3" fmla="*/ 1329404 h 1329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1398" h="1329404">
                    <a:moveTo>
                      <a:pt x="1501398" y="861572"/>
                    </a:moveTo>
                    <a:cubicBezTo>
                      <a:pt x="1296721" y="423865"/>
                      <a:pt x="1092044" y="-13842"/>
                      <a:pt x="842179" y="335"/>
                    </a:cubicBezTo>
                    <a:cubicBezTo>
                      <a:pt x="592314" y="14512"/>
                      <a:pt x="-42095" y="725120"/>
                      <a:pt x="2207" y="946632"/>
                    </a:cubicBezTo>
                    <a:cubicBezTo>
                      <a:pt x="46509" y="1168144"/>
                      <a:pt x="858128" y="1263837"/>
                      <a:pt x="1107993" y="1329404"/>
                    </a:cubicBezTo>
                  </a:path>
                </a:pathLst>
              </a:custGeom>
              <a:noFill/>
              <a:ln w="34925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600" b="1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Dowolny kształt 16"/>
              <p:cNvSpPr/>
              <p:nvPr/>
            </p:nvSpPr>
            <p:spPr>
              <a:xfrm flipH="1" flipV="1">
                <a:off x="3262191" y="5616676"/>
                <a:ext cx="2471385" cy="830297"/>
              </a:xfrm>
              <a:custGeom>
                <a:avLst/>
                <a:gdLst>
                  <a:gd name="connsiteX0" fmla="*/ 0 w 2838893"/>
                  <a:gd name="connsiteY0" fmla="*/ 1060176 h 1060176"/>
                  <a:gd name="connsiteX1" fmla="*/ 478465 w 2838893"/>
                  <a:gd name="connsiteY1" fmla="*/ 60716 h 1060176"/>
                  <a:gd name="connsiteX2" fmla="*/ 2424223 w 2838893"/>
                  <a:gd name="connsiteY2" fmla="*/ 177674 h 1060176"/>
                  <a:gd name="connsiteX3" fmla="*/ 2838893 w 2838893"/>
                  <a:gd name="connsiteY3" fmla="*/ 730567 h 106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38893" h="1060176">
                    <a:moveTo>
                      <a:pt x="0" y="1060176"/>
                    </a:moveTo>
                    <a:cubicBezTo>
                      <a:pt x="37214" y="633988"/>
                      <a:pt x="74428" y="207800"/>
                      <a:pt x="478465" y="60716"/>
                    </a:cubicBezTo>
                    <a:cubicBezTo>
                      <a:pt x="882502" y="-86368"/>
                      <a:pt x="2030818" y="66032"/>
                      <a:pt x="2424223" y="177674"/>
                    </a:cubicBezTo>
                    <a:cubicBezTo>
                      <a:pt x="2817628" y="289316"/>
                      <a:pt x="2785730" y="617153"/>
                      <a:pt x="2838893" y="730567"/>
                    </a:cubicBezTo>
                  </a:path>
                </a:pathLst>
              </a:custGeom>
              <a:noFill/>
              <a:ln w="31750"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 sz="1600" b="1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Text Box 20"/>
              <p:cNvSpPr txBox="1">
                <a:spLocks noChangeArrowheads="1"/>
              </p:cNvSpPr>
              <p:nvPr/>
            </p:nvSpPr>
            <p:spPr bwMode="auto">
              <a:xfrm>
                <a:off x="6750867" y="4559533"/>
                <a:ext cx="691467" cy="3542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b="1" dirty="0">
                    <a:solidFill>
                      <a:prstClr val="black"/>
                    </a:solidFill>
                  </a:rPr>
                  <a:t>0.</a:t>
                </a:r>
                <a:r>
                  <a:rPr lang="pl-PL" sz="1600" b="1" dirty="0">
                    <a:solidFill>
                      <a:prstClr val="black"/>
                    </a:solidFill>
                  </a:rPr>
                  <a:t>9</a:t>
                </a:r>
                <a:endParaRPr lang="en-US" sz="1600" b="1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9" name="Strzałka w dół 8"/>
            <p:cNvSpPr/>
            <p:nvPr/>
          </p:nvSpPr>
          <p:spPr>
            <a:xfrm>
              <a:off x="2413384" y="965015"/>
              <a:ext cx="711699" cy="48656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600" b="1">
                <a:solidFill>
                  <a:prstClr val="white"/>
                </a:solidFill>
              </a:endParaRPr>
            </a:p>
          </p:txBody>
        </p:sp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2769234" y="3550751"/>
              <a:ext cx="864116" cy="30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prstClr val="black"/>
                  </a:solidFill>
                </a:rPr>
                <a:t>0.</a:t>
              </a:r>
              <a:r>
                <a:rPr lang="pl-PL" sz="1600" b="1" dirty="0">
                  <a:solidFill>
                    <a:prstClr val="black"/>
                  </a:solidFill>
                </a:rPr>
                <a:t>1</a:t>
              </a:r>
              <a:endParaRPr lang="en-US" sz="16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589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221382" y="1470572"/>
            <a:ext cx="1139631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The model of social learning </a:t>
            </a:r>
            <a:r>
              <a:rPr lang="pl-PL" sz="3200" dirty="0">
                <a:solidFill>
                  <a:srgbClr val="4BACC6">
                    <a:lumMod val="50000"/>
                  </a:srgbClr>
                </a:solidFill>
              </a:rPr>
              <a:t>was</a:t>
            </a: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 a part of </a:t>
            </a:r>
            <a:r>
              <a:rPr lang="pl-PL" sz="3200" dirty="0">
                <a:solidFill>
                  <a:srgbClr val="4BACC6">
                    <a:lumMod val="50000"/>
                  </a:srgbClr>
                </a:solidFill>
              </a:rPr>
              <a:t>the</a:t>
            </a: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 exam task about the vaccination. The main problem of vaccination is herd immunity. Some people are keen on vaccinate (x = 1), some have a little doubts(x = 0.6),  some bigger (x = 0.3) and  some are completely sceptic (x = 0). </a:t>
            </a:r>
            <a:endParaRPr lang="pl-PL" sz="3200" dirty="0">
              <a:solidFill>
                <a:srgbClr val="4BACC6">
                  <a:lumMod val="50000"/>
                </a:srgbClr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pl-PL" sz="3200" dirty="0">
              <a:solidFill>
                <a:srgbClr val="4BACC6">
                  <a:lumMod val="50000"/>
                </a:srgbClr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The communication between the groups can change the overall willingness to the </a:t>
            </a:r>
            <a:r>
              <a:rPr lang="pl-PL" sz="3200" dirty="0" err="1">
                <a:solidFill>
                  <a:srgbClr val="4BACC6">
                    <a:lumMod val="50000"/>
                  </a:srgbClr>
                </a:solidFill>
              </a:rPr>
              <a:t>vaxination</a:t>
            </a: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. How information/ideological bubbles can influence our beliefs? It is possible to simulate/for</a:t>
            </a:r>
            <a:r>
              <a:rPr lang="pl-PL" sz="3200" dirty="0">
                <a:solidFill>
                  <a:srgbClr val="4BACC6">
                    <a:lumMod val="50000"/>
                  </a:srgbClr>
                </a:solidFill>
              </a:rPr>
              <a:t>e</a:t>
            </a: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cast this type of </a:t>
            </a:r>
            <a:r>
              <a:rPr lang="en-US" sz="3200" dirty="0" err="1">
                <a:solidFill>
                  <a:srgbClr val="4BACC6">
                    <a:lumMod val="50000"/>
                  </a:srgbClr>
                </a:solidFill>
              </a:rPr>
              <a:t>behaviours</a:t>
            </a:r>
            <a:r>
              <a:rPr lang="en-US" sz="3200" dirty="0">
                <a:solidFill>
                  <a:srgbClr val="4BACC6">
                    <a:lumMod val="50000"/>
                  </a:srgbClr>
                </a:solidFill>
              </a:rPr>
              <a:t> using the simple model? 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</a:rPr>
              <a:t> </a:t>
            </a:r>
            <a:endParaRPr lang="en-US" sz="2800" dirty="0">
              <a:solidFill>
                <a:srgbClr val="4BACC6">
                  <a:lumMod val="50000"/>
                </a:srgbClr>
              </a:solidFill>
            </a:endParaRPr>
          </a:p>
        </p:txBody>
      </p:sp>
      <p:sp>
        <p:nvSpPr>
          <p:cNvPr id="5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Applications/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exam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465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-13886"/>
            <a:ext cx="12192000" cy="11430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The model of social learning </a:t>
            </a:r>
            <a:r>
              <a:rPr lang="pl-PL" b="1" i="1" dirty="0">
                <a:solidFill>
                  <a:schemeClr val="accent5">
                    <a:lumMod val="50000"/>
                  </a:schemeClr>
                </a:solidFill>
              </a:rPr>
              <a:t>Troll in the network</a:t>
            </a:r>
            <a:endParaRPr lang="en-GB" b="1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 useBgFill="1">
        <p:nvSpPr>
          <p:cNvPr id="6" name="pole tekstowe 5"/>
          <p:cNvSpPr txBox="1"/>
          <p:nvPr/>
        </p:nvSpPr>
        <p:spPr>
          <a:xfrm>
            <a:off x="196770" y="1225689"/>
            <a:ext cx="11995230" cy="1815882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 i="1" dirty="0">
                <a:solidFill>
                  <a:schemeClr val="accent5">
                    <a:lumMod val="50000"/>
                  </a:schemeClr>
                </a:solidFill>
              </a:rPr>
              <a:t>The </a:t>
            </a:r>
            <a:r>
              <a:rPr lang="en-US" sz="2800" i="1" dirty="0" err="1">
                <a:solidFill>
                  <a:schemeClr val="accent5">
                    <a:lumMod val="50000"/>
                  </a:schemeClr>
                </a:solidFill>
              </a:rPr>
              <a:t>DeGroot</a:t>
            </a:r>
            <a:r>
              <a:rPr lang="en-US" sz="2800" i="1" dirty="0">
                <a:solidFill>
                  <a:schemeClr val="accent5">
                    <a:lumMod val="50000"/>
                  </a:schemeClr>
                </a:solidFill>
              </a:rPr>
              <a:t> model shows the serious threat of fake news. If the troll acts as a constant source of fake news (algorithmic or paid troll) in the network, then agents start to believe in fake news and after a series of interactions, they take the news as their own. </a:t>
            </a:r>
            <a:endParaRPr lang="pl-PL" sz="20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124" y="2954692"/>
            <a:ext cx="7403880" cy="3813812"/>
          </a:xfrm>
          <a:prstGeom prst="rect">
            <a:avLst/>
          </a:prstGeom>
        </p:spPr>
      </p:pic>
      <p:sp useBgFill="1">
        <p:nvSpPr>
          <p:cNvPr id="5" name="pole tekstowe 4"/>
          <p:cNvSpPr txBox="1"/>
          <p:nvPr/>
        </p:nvSpPr>
        <p:spPr>
          <a:xfrm>
            <a:off x="196770" y="2968772"/>
            <a:ext cx="4683238" cy="3785652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400" dirty="0">
                <a:solidFill>
                  <a:srgbClr val="FF0000"/>
                </a:solidFill>
              </a:rPr>
              <a:t>Troll (A)</a:t>
            </a:r>
          </a:p>
          <a:p>
            <a:pPr algn="just">
              <a:defRPr/>
            </a:pPr>
            <a:r>
              <a:rPr lang="en-US" sz="2400" dirty="0">
                <a:solidFill>
                  <a:srgbClr val="FF0000"/>
                </a:solidFill>
              </a:rPr>
              <a:t>* does not believe in vaccines x = 0</a:t>
            </a:r>
          </a:p>
          <a:p>
            <a:pPr algn="just">
              <a:defRPr/>
            </a:pPr>
            <a:r>
              <a:rPr lang="en-US" sz="2400" dirty="0">
                <a:solidFill>
                  <a:srgbClr val="FF0000"/>
                </a:solidFill>
              </a:rPr>
              <a:t>* not interested in the opinion of others (faith in your message = 1)</a:t>
            </a:r>
          </a:p>
          <a:p>
            <a:pPr algn="just">
              <a:defRPr/>
            </a:pPr>
            <a:r>
              <a:rPr lang="en-US" sz="2400" dirty="0">
                <a:solidFill>
                  <a:srgbClr val="FF0000"/>
                </a:solidFill>
              </a:rPr>
              <a:t>Even an institution fighting against fake news is not able to change this trend. The message of the institution (K) is modified by others (belief in your message -&gt; 0.9) - believes in vaccines x = 1.</a:t>
            </a:r>
            <a:endParaRPr lang="pl-PL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61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-13886"/>
            <a:ext cx="12192000" cy="11430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The model of social learning </a:t>
            </a:r>
            <a:r>
              <a:rPr lang="pl-PL" b="1" i="1" dirty="0">
                <a:solidFill>
                  <a:schemeClr val="accent5">
                    <a:lumMod val="50000"/>
                  </a:schemeClr>
                </a:solidFill>
              </a:rPr>
              <a:t>Troll in the network</a:t>
            </a:r>
            <a:endParaRPr lang="en-GB" b="1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 useBgFill="1">
        <p:nvSpPr>
          <p:cNvPr id="6" name="pole tekstowe 5"/>
          <p:cNvSpPr txBox="1"/>
          <p:nvPr/>
        </p:nvSpPr>
        <p:spPr>
          <a:xfrm>
            <a:off x="293023" y="4067641"/>
            <a:ext cx="5960938" cy="2677656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 i="1" dirty="0">
                <a:solidFill>
                  <a:schemeClr val="accent5">
                    <a:lumMod val="50000"/>
                  </a:schemeClr>
                </a:solidFill>
              </a:rPr>
              <a:t>Karl Popper's ethical</a:t>
            </a:r>
            <a:r>
              <a:rPr lang="pl-PL" sz="2800" i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i="1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pl-PL" sz="2800" i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i="1" dirty="0">
                <a:solidFill>
                  <a:schemeClr val="accent5">
                    <a:lumMod val="50000"/>
                  </a:schemeClr>
                </a:solidFill>
              </a:rPr>
              <a:t>philosophical paradox emerges</a:t>
            </a:r>
            <a:r>
              <a:rPr lang="pl-PL" sz="2800" i="1" dirty="0">
                <a:solidFill>
                  <a:schemeClr val="accent5">
                    <a:lumMod val="50000"/>
                  </a:schemeClr>
                </a:solidFill>
              </a:rPr>
              <a:t>:</a:t>
            </a:r>
          </a:p>
          <a:p>
            <a:pPr algn="just">
              <a:defRPr/>
            </a:pPr>
            <a:endParaRPr lang="pl-PL" sz="2800" i="1" dirty="0">
              <a:solidFill>
                <a:schemeClr val="accent5">
                  <a:lumMod val="50000"/>
                </a:schemeClr>
              </a:solidFill>
            </a:endParaRPr>
          </a:p>
          <a:p>
            <a:pPr algn="just">
              <a:defRPr/>
            </a:pPr>
            <a:r>
              <a:rPr lang="en-US" sz="2800" b="1" i="1" dirty="0">
                <a:solidFill>
                  <a:schemeClr val="accent5">
                    <a:lumMod val="50000"/>
                  </a:schemeClr>
                </a:solidFill>
              </a:rPr>
              <a:t>“in order to maintain a tolerant society, the society must be intolerant of intolerance.”</a:t>
            </a:r>
            <a:endParaRPr lang="pl-PL" sz="2000" b="1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24" y="1425265"/>
            <a:ext cx="4554802" cy="2346224"/>
          </a:xfrm>
          <a:prstGeom prst="rect">
            <a:avLst/>
          </a:prstGeom>
        </p:spPr>
      </p:pic>
      <p:pic>
        <p:nvPicPr>
          <p:cNvPr id="4" name="Obraz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760" y="1425265"/>
            <a:ext cx="4216448" cy="5273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trzałka w prawo 6"/>
          <p:cNvSpPr/>
          <p:nvPr/>
        </p:nvSpPr>
        <p:spPr>
          <a:xfrm>
            <a:off x="5022566" y="1905358"/>
            <a:ext cx="1828800" cy="138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4889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-10882" y="1027809"/>
            <a:ext cx="122028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4BACC6">
                    <a:lumMod val="50000"/>
                  </a:srgbClr>
                </a:solidFill>
              </a:rPr>
              <a:t>Typical for the financial market is using rating to quickly evaluate the relative risks of assets held in a portfolio. Rating firms add labels to each of assets, like these AAA, AA,…..D, 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</a:rPr>
              <a:t>(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</a:rPr>
              <a:t>see Fitch Ratings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</a:rPr>
              <a:t>*)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</a:rPr>
              <a:t>.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</a:rPr>
              <a:t> 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</a:rPr>
              <a:t>We can construct the transition matrix based on historical data: </a:t>
            </a:r>
            <a:r>
              <a:rPr lang="pl-PL" sz="2800" dirty="0" err="1">
                <a:solidFill>
                  <a:srgbClr val="4BACC6">
                    <a:lumMod val="50000"/>
                  </a:srgbClr>
                </a:solidFill>
              </a:rPr>
              <a:t>Probability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</a:rPr>
              <a:t> </a:t>
            </a:r>
            <a:r>
              <a:rPr lang="pl-PL" sz="2800" dirty="0" err="1">
                <a:solidFill>
                  <a:srgbClr val="4BACC6">
                    <a:lumMod val="50000"/>
                  </a:srgbClr>
                </a:solidFill>
              </a:rPr>
              <a:t>that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</a:rPr>
              <a:t> </a:t>
            </a:r>
            <a:r>
              <a:rPr lang="pl-PL" sz="2800" dirty="0" err="1">
                <a:solidFill>
                  <a:srgbClr val="4BACC6">
                    <a:lumMod val="50000"/>
                  </a:srgbClr>
                </a:solidFill>
              </a:rPr>
              <a:t>asset</a:t>
            </a:r>
            <a:r>
              <a:rPr lang="pl-PL" sz="2800" dirty="0">
                <a:solidFill>
                  <a:srgbClr val="4BACC6">
                    <a:lumMod val="50000"/>
                  </a:srgbClr>
                </a:solidFill>
              </a:rPr>
              <a:t> from the</a:t>
            </a:r>
            <a:r>
              <a:rPr lang="en-US" sz="2800" dirty="0">
                <a:solidFill>
                  <a:srgbClr val="4BACC6">
                    <a:lumMod val="50000"/>
                  </a:srgbClr>
                </a:solidFill>
              </a:rPr>
              <a:t> group change their ratings / their labels. </a:t>
            </a:r>
            <a:endParaRPr lang="en-US" sz="2400" dirty="0">
              <a:solidFill>
                <a:srgbClr val="4BACC6">
                  <a:lumMod val="50000"/>
                </a:srgbClr>
              </a:solidFill>
            </a:endParaRPr>
          </a:p>
        </p:txBody>
      </p:sp>
      <p:sp>
        <p:nvSpPr>
          <p:cNvPr id="5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Finance </a:t>
            </a:r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19" y="2815810"/>
            <a:ext cx="10768980" cy="41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13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stokąt 21"/>
          <p:cNvSpPr/>
          <p:nvPr/>
        </p:nvSpPr>
        <p:spPr>
          <a:xfrm>
            <a:off x="645800" y="1308261"/>
            <a:ext cx="47347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You can estimate the probabilities of the P matrix.</a:t>
            </a:r>
            <a:endParaRPr lang="pl-PL" sz="2400" b="1" i="1" dirty="0">
              <a:solidFill>
                <a:srgbClr val="4BACC6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542" y="1512690"/>
            <a:ext cx="4563753" cy="364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Prostokąt 5"/>
          <p:cNvSpPr/>
          <p:nvPr/>
        </p:nvSpPr>
        <p:spPr>
          <a:xfrm>
            <a:off x="449980" y="5507158"/>
            <a:ext cx="112702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We send robots that pass between pages. Counts the number of visits to that page relative to all visits.</a:t>
            </a:r>
            <a:endParaRPr lang="pl-PL" sz="2800" b="1" i="1" dirty="0">
              <a:solidFill>
                <a:srgbClr val="4BACC6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sp>
        <p:nvSpPr>
          <p:cNvPr id="7" name="Prostokąt 6"/>
          <p:cNvSpPr/>
          <p:nvPr/>
        </p:nvSpPr>
        <p:spPr>
          <a:xfrm>
            <a:off x="645800" y="2319278"/>
            <a:ext cx="5163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pl-PL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Problem: </a:t>
            </a:r>
            <a:r>
              <a:rPr lang="en-US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how to rank </a:t>
            </a:r>
            <a:r>
              <a:rPr lang="pl-PL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www</a:t>
            </a:r>
            <a:r>
              <a:rPr lang="en-US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 page</a:t>
            </a:r>
            <a:r>
              <a:rPr lang="pl-PL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?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pl-PL" sz="2000" b="1" i="1" dirty="0">
              <a:solidFill>
                <a:srgbClr val="4BACC6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sym typeface="Wingdings" pitchFamily="2" charset="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Larry Page</a:t>
            </a:r>
            <a:r>
              <a:rPr lang="pl-PL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, </a:t>
            </a:r>
            <a:r>
              <a:rPr lang="en-US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Sergey </a:t>
            </a:r>
            <a:r>
              <a:rPr lang="en-US" sz="2000" b="1" i="1" dirty="0" err="1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Brin</a:t>
            </a:r>
            <a:r>
              <a:rPr lang="en-US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, </a:t>
            </a:r>
            <a:r>
              <a:rPr lang="pl-PL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(</a:t>
            </a:r>
            <a:r>
              <a:rPr lang="en-US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Google</a:t>
            </a:r>
            <a:r>
              <a:rPr lang="pl-PL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)</a:t>
            </a:r>
          </a:p>
        </p:txBody>
      </p:sp>
      <p:sp>
        <p:nvSpPr>
          <p:cNvPr id="8" name="Prostokąt 7"/>
          <p:cNvSpPr/>
          <p:nvPr/>
        </p:nvSpPr>
        <p:spPr>
          <a:xfrm>
            <a:off x="1753126" y="4020939"/>
            <a:ext cx="294878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Example</a:t>
            </a:r>
            <a:r>
              <a:rPr lang="pl-PL" sz="2000" b="1" i="1" dirty="0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 : </a:t>
            </a:r>
            <a:r>
              <a:rPr lang="pl-PL" sz="2000" b="1" i="1" dirty="0" err="1">
                <a:solidFill>
                  <a:srgbClr val="4BACC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sym typeface="Wingdings" pitchFamily="2" charset="2"/>
              </a:rPr>
              <a:t>PageRank</a:t>
            </a:r>
            <a:endParaRPr lang="pl-PL" sz="2000" b="1" i="1" dirty="0">
              <a:solidFill>
                <a:srgbClr val="4BACC6">
                  <a:lumMod val="5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sp>
        <p:nvSpPr>
          <p:cNvPr id="9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Markov chain: the most famous example</a:t>
            </a:r>
          </a:p>
        </p:txBody>
      </p:sp>
    </p:spTree>
    <p:extLst>
      <p:ext uri="{BB962C8B-B14F-4D97-AF65-F5344CB8AC3E}">
        <p14:creationId xmlns:p14="http://schemas.microsoft.com/office/powerpoint/2010/main" val="2253607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stokąt 12"/>
          <p:cNvSpPr/>
          <p:nvPr/>
        </p:nvSpPr>
        <p:spPr>
          <a:xfrm>
            <a:off x="393380" y="1381141"/>
            <a:ext cx="569173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Life </a:t>
            </a:r>
            <a:r>
              <a:rPr lang="pl-PL" sz="2400" b="1" i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Cycle</a:t>
            </a: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en-US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based on</a:t>
            </a: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: </a:t>
            </a:r>
            <a:r>
              <a:rPr lang="en-US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Jobber (1998) in "Principles and Practice of Marketing"</a:t>
            </a: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 </a:t>
            </a:r>
            <a:r>
              <a:rPr lang="pl-PL" sz="2400" b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Teahan</a:t>
            </a: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, W. J. (2010).  </a:t>
            </a:r>
            <a:r>
              <a:rPr lang="pl-PL" sz="2400" b="1" i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Artificial</a:t>
            </a: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pl-PL" sz="2400" b="1" i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Intelligence</a:t>
            </a: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. </a:t>
            </a:r>
            <a:r>
              <a:rPr lang="pl-PL" sz="2400" b="1" i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Ventus</a:t>
            </a: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Publishing </a:t>
            </a:r>
            <a:r>
              <a:rPr lang="pl-PL" sz="2400" b="1" i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Aps</a:t>
            </a:r>
            <a:r>
              <a:rPr lang="pl-PL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.</a:t>
            </a:r>
            <a:endParaRPr lang="en-US" sz="2400" b="1" dirty="0">
              <a:solidFill>
                <a:srgbClr val="4BACC6">
                  <a:lumMod val="50000"/>
                </a:srgbClr>
              </a:solidFill>
              <a:latin typeface="Calibri"/>
            </a:endParaRPr>
          </a:p>
          <a:p>
            <a:pPr algn="just"/>
            <a:endParaRPr lang="en-US" sz="2400" b="1" dirty="0">
              <a:solidFill>
                <a:srgbClr val="4BACC6">
                  <a:lumMod val="50000"/>
                </a:srgbClr>
              </a:solidFill>
              <a:latin typeface="Calibri"/>
            </a:endParaRPr>
          </a:p>
          <a:p>
            <a:pPr algn="just"/>
            <a:r>
              <a:rPr lang="en-GB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Model illustrating the use of finite automata in "customer management".</a:t>
            </a:r>
          </a:p>
          <a:p>
            <a:pPr marL="285750" indent="-285750" algn="just">
              <a:buFont typeface="Wingdings"/>
              <a:buChar char="à"/>
            </a:pPr>
            <a:r>
              <a:rPr lang="en-GB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Agents "enter" the system and follow on paths. </a:t>
            </a:r>
            <a:endParaRPr lang="pl-PL" sz="2400" b="1" dirty="0">
              <a:solidFill>
                <a:srgbClr val="4BACC6">
                  <a:lumMod val="50000"/>
                </a:srgbClr>
              </a:solidFill>
              <a:latin typeface="Calibri"/>
            </a:endParaRPr>
          </a:p>
          <a:p>
            <a:pPr marL="285750" indent="-285750" algn="just">
              <a:buFont typeface="Wingdings"/>
              <a:buChar char="à"/>
            </a:pPr>
            <a:r>
              <a:rPr lang="en-GB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Where the path is split, probability determines the next path. </a:t>
            </a:r>
            <a:endParaRPr lang="pl-PL" sz="2400" b="1" dirty="0">
              <a:solidFill>
                <a:srgbClr val="4BACC6">
                  <a:lumMod val="50000"/>
                </a:srgbClr>
              </a:solidFill>
              <a:latin typeface="Calibri"/>
            </a:endParaRPr>
          </a:p>
          <a:p>
            <a:pPr marL="285750" indent="-285750" algn="just">
              <a:buFont typeface="Wingdings"/>
              <a:buChar char="à"/>
            </a:pPr>
            <a:r>
              <a:rPr lang="en-GB" sz="24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The last state represents exit from the system.</a:t>
            </a:r>
            <a:endParaRPr lang="pl-PL" sz="2400" b="1" dirty="0">
              <a:solidFill>
                <a:srgbClr val="4BACC6">
                  <a:lumMod val="50000"/>
                </a:srgbClr>
              </a:solidFill>
              <a:latin typeface="Calibri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91150" y="2116509"/>
            <a:ext cx="3781460" cy="342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Prostokąt 1"/>
          <p:cNvSpPr/>
          <p:nvPr/>
        </p:nvSpPr>
        <p:spPr>
          <a:xfrm>
            <a:off x="6456040" y="6093297"/>
            <a:ext cx="3726533" cy="4616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l-PL" sz="2400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File: </a:t>
            </a: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Life </a:t>
            </a:r>
            <a:r>
              <a:rPr lang="pl-PL" sz="2400" b="1" i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Cycle</a:t>
            </a: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r>
              <a:rPr lang="pl-PL" sz="2400" b="1" i="1" dirty="0" err="1">
                <a:solidFill>
                  <a:srgbClr val="4BACC6">
                    <a:lumMod val="50000"/>
                  </a:srgbClr>
                </a:solidFill>
                <a:latin typeface="Calibri"/>
              </a:rPr>
              <a:t>Stages.nlogo</a:t>
            </a:r>
            <a:r>
              <a:rPr lang="pl-PL" sz="2400" b="1" i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 </a:t>
            </a:r>
            <a:endParaRPr lang="pl-PL" sz="2400" dirty="0">
              <a:solidFill>
                <a:srgbClr val="4BACC6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Finite</a:t>
            </a:r>
            <a:r>
              <a:rPr lang="pl-PL" sz="3600" b="1" dirty="0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 </a:t>
            </a:r>
            <a:r>
              <a:rPr lang="pl-PL" sz="3600" b="1" dirty="0" err="1">
                <a:solidFill>
                  <a:srgbClr val="4BACC6">
                    <a:lumMod val="50000"/>
                  </a:srgbClr>
                </a:solidFill>
                <a:latin typeface="Arial" pitchFamily="34" charset="0"/>
              </a:rPr>
              <a:t>automats</a:t>
            </a:r>
            <a:endParaRPr lang="pl-PL" sz="3600" b="1" dirty="0">
              <a:solidFill>
                <a:srgbClr val="4BACC6">
                  <a:lumMod val="50000"/>
                </a:srgbClr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248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E85955-BF15-4A71-A10E-18148F49C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693" y="1631530"/>
            <a:ext cx="11136429" cy="482763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The main problem in the exam tasks will be similar to the previous ones: converting market information into a suitable model. There will be modifications to these tasks on the actual exam.</a:t>
            </a:r>
          </a:p>
          <a:p>
            <a:pPr marL="0" indent="0" algn="just">
              <a:buNone/>
            </a:pP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It’s important that you prepare by learning how to construct the matrix P and the vector v.</a:t>
            </a:r>
          </a:p>
          <a:p>
            <a:pPr marL="0" indent="0" algn="just">
              <a:buNone/>
            </a:pP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During the exam, you may use any resources you like—my codes in R or MAXIMA, Excel, and even the internet.</a:t>
            </a:r>
            <a:endParaRPr lang="en-GB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Shape 1"/>
          <p:cNvSpPr txBox="1"/>
          <p:nvPr/>
        </p:nvSpPr>
        <p:spPr>
          <a:xfrm>
            <a:off x="-10882" y="-4684"/>
            <a:ext cx="12192000" cy="1143000"/>
          </a:xfrm>
          <a:prstGeom prst="rect">
            <a:avLst/>
          </a:prstGeom>
          <a:solidFill>
            <a:srgbClr val="DBEEF4"/>
          </a:solidFill>
          <a:ln>
            <a:noFill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Markov chain --&gt; </a:t>
            </a:r>
            <a:r>
              <a:rPr lang="pl-PL" sz="3600" b="1" dirty="0" err="1">
                <a:solidFill>
                  <a:schemeClr val="accent5">
                    <a:lumMod val="50000"/>
                  </a:schemeClr>
                </a:solidFill>
              </a:rPr>
              <a:t>homework</a:t>
            </a:r>
            <a:r>
              <a:rPr lang="pl-PL" sz="36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l-PL" sz="3600" b="1" dirty="0" err="1">
                <a:solidFill>
                  <a:schemeClr val="accent5">
                    <a:lumMod val="50000"/>
                  </a:schemeClr>
                </a:solidFill>
              </a:rPr>
              <a:t>before</a:t>
            </a:r>
            <a:r>
              <a:rPr lang="pl-PL" sz="36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l-PL" sz="3600" b="1" dirty="0" err="1">
                <a:solidFill>
                  <a:schemeClr val="accent5">
                    <a:lumMod val="50000"/>
                  </a:schemeClr>
                </a:solidFill>
              </a:rPr>
              <a:t>exam</a:t>
            </a:r>
            <a:r>
              <a:rPr lang="pl-PL" sz="3600" b="1" dirty="0">
                <a:solidFill>
                  <a:schemeClr val="accent5">
                    <a:lumMod val="50000"/>
                  </a:schemeClr>
                </a:solidFill>
              </a:rPr>
              <a:t> --&gt;  </a:t>
            </a:r>
            <a:endParaRPr lang="pl-PL" sz="3600" b="1" dirty="0">
              <a:solidFill>
                <a:schemeClr val="accent5">
                  <a:lumMod val="50000"/>
                </a:schemeClr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737135"/>
      </p:ext>
    </p:extLst>
  </p:cSld>
  <p:clrMapOvr>
    <a:masterClrMapping/>
  </p:clrMapOvr>
</p:sld>
</file>

<file path=ppt/theme/theme1.xml><?xml version="1.0" encoding="utf-8"?>
<a:theme xmlns:a="http://schemas.openxmlformats.org/drawingml/2006/main" name="1_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1790</TotalTime>
  <Words>2306</Words>
  <Application>Microsoft Office PowerPoint</Application>
  <PresentationFormat>Widescreen</PresentationFormat>
  <Paragraphs>249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Wingdings</vt:lpstr>
      <vt:lpstr>1_Motyw pakietu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model of social learning Troll in the network</vt:lpstr>
      <vt:lpstr>The model of social learning Troll in the network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Kopczewski</dc:creator>
  <cp:lastModifiedBy>Tomasz Kopczewski</cp:lastModifiedBy>
  <cp:revision>37</cp:revision>
  <dcterms:created xsi:type="dcterms:W3CDTF">2020-01-16T11:01:51Z</dcterms:created>
  <dcterms:modified xsi:type="dcterms:W3CDTF">2024-12-18T20:46:18Z</dcterms:modified>
</cp:coreProperties>
</file>