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5"/>
  </p:notesMasterIdLst>
  <p:sldIdLst>
    <p:sldId id="256" r:id="rId3"/>
    <p:sldId id="257" r:id="rId4"/>
    <p:sldId id="303" r:id="rId5"/>
    <p:sldId id="289" r:id="rId6"/>
    <p:sldId id="258" r:id="rId7"/>
    <p:sldId id="261" r:id="rId8"/>
    <p:sldId id="262" r:id="rId9"/>
    <p:sldId id="264" r:id="rId10"/>
    <p:sldId id="305" r:id="rId11"/>
    <p:sldId id="306" r:id="rId12"/>
    <p:sldId id="265" r:id="rId13"/>
    <p:sldId id="307" r:id="rId14"/>
    <p:sldId id="287" r:id="rId15"/>
    <p:sldId id="288" r:id="rId16"/>
    <p:sldId id="299" r:id="rId17"/>
    <p:sldId id="266" r:id="rId18"/>
    <p:sldId id="267" r:id="rId19"/>
    <p:sldId id="268" r:id="rId20"/>
    <p:sldId id="269" r:id="rId21"/>
    <p:sldId id="412" r:id="rId22"/>
    <p:sldId id="274" r:id="rId23"/>
    <p:sldId id="276" r:id="rId24"/>
    <p:sldId id="275" r:id="rId25"/>
    <p:sldId id="304" r:id="rId26"/>
    <p:sldId id="298" r:id="rId27"/>
    <p:sldId id="404" r:id="rId28"/>
    <p:sldId id="405" r:id="rId29"/>
    <p:sldId id="406" r:id="rId30"/>
    <p:sldId id="407" r:id="rId31"/>
    <p:sldId id="408" r:id="rId32"/>
    <p:sldId id="409" r:id="rId33"/>
    <p:sldId id="410" r:id="rId34"/>
    <p:sldId id="277" r:id="rId35"/>
    <p:sldId id="278" r:id="rId36"/>
    <p:sldId id="279" r:id="rId37"/>
    <p:sldId id="280" r:id="rId38"/>
    <p:sldId id="281" r:id="rId39"/>
    <p:sldId id="282" r:id="rId40"/>
    <p:sldId id="300" r:id="rId41"/>
    <p:sldId id="283" r:id="rId42"/>
    <p:sldId id="284" r:id="rId43"/>
    <p:sldId id="285" r:id="rId44"/>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9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Bez stylu, bez siatk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Bez stylu, siatka tabeli">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74" autoAdjust="0"/>
    <p:restoredTop sz="94660"/>
  </p:normalViewPr>
  <p:slideViewPr>
    <p:cSldViewPr snapToGrid="0">
      <p:cViewPr varScale="1">
        <p:scale>
          <a:sx n="79" d="100"/>
          <a:sy n="79" d="100"/>
        </p:scale>
        <p:origin x="1171"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BCAE1-4437-4A04-A701-6D80D3E834E7}" type="datetimeFigureOut">
              <a:rPr lang="pl-PL" smtClean="0"/>
              <a:t>15.12.2024</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080B74-61EA-454F-90B0-87664B43E7C4}" type="slidenum">
              <a:rPr lang="pl-PL" smtClean="0"/>
              <a:t>‹#›</a:t>
            </a:fld>
            <a:endParaRPr lang="pl-PL"/>
          </a:p>
        </p:txBody>
      </p:sp>
    </p:spTree>
    <p:extLst>
      <p:ext uri="{BB962C8B-B14F-4D97-AF65-F5344CB8AC3E}">
        <p14:creationId xmlns:p14="http://schemas.microsoft.com/office/powerpoint/2010/main" val="3798734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CustomShape 1"/>
          <p:cNvSpPr/>
          <p:nvPr/>
        </p:nvSpPr>
        <p:spPr>
          <a:xfrm>
            <a:off x="685800" y="4343400"/>
            <a:ext cx="5485680" cy="4114080"/>
          </a:xfrm>
          <a:prstGeom prst="rect">
            <a:avLst/>
          </a:prstGeom>
          <a:noFill/>
          <a:ln>
            <a:noFill/>
          </a:ln>
        </p:spPr>
        <p:style>
          <a:lnRef idx="0">
            <a:scrgbClr r="0" g="0" b="0"/>
          </a:lnRef>
          <a:fillRef idx="0">
            <a:scrgbClr r="0" g="0" b="0"/>
          </a:fillRef>
          <a:effectRef idx="0">
            <a:scrgbClr r="0" g="0" b="0"/>
          </a:effectRef>
          <a:fontRef idx="minor"/>
        </p:style>
      </p:sp>
      <p:sp>
        <p:nvSpPr>
          <p:cNvPr id="360" name="CustomShape 2"/>
          <p:cNvSpPr/>
          <p:nvPr/>
        </p:nvSpPr>
        <p:spPr>
          <a:xfrm>
            <a:off x="3884760" y="8685360"/>
            <a:ext cx="2971080" cy="456480"/>
          </a:xfrm>
          <a:noFill/>
          <a:ln>
            <a:noFill/>
          </a:ln>
        </p:spPr>
        <p:style>
          <a:lnRef idx="0">
            <a:scrgbClr r="0" g="0" b="0"/>
          </a:lnRef>
          <a:fillRef idx="0">
            <a:scrgbClr r="0" g="0" b="0"/>
          </a:fillRef>
          <a:effectRef idx="0">
            <a:scrgbClr r="0" g="0" b="0"/>
          </a:effectRef>
          <a:fontRef idx="minor"/>
        </p:style>
        <p:txBody>
          <a:bodyPr lIns="90000" tIns="46800" rIns="90000" bIns="46800" anchor="b"/>
          <a:lstStyle/>
          <a:p>
            <a:pPr marL="0" marR="0" lvl="0" indent="0" algn="r" defTabSz="914400" rtl="0" eaLnBrk="1" fontAlgn="auto" latinLnBrk="0" hangingPunct="1">
              <a:lnSpc>
                <a:spcPct val="100000"/>
              </a:lnSpc>
              <a:spcBef>
                <a:spcPts val="0"/>
              </a:spcBef>
              <a:spcAft>
                <a:spcPts val="0"/>
              </a:spcAft>
              <a:buClrTx/>
              <a:buSzTx/>
              <a:buFontTx/>
              <a:buNone/>
              <a:tabLst/>
              <a:defRPr/>
            </a:pPr>
            <a:fld id="{4E0B3056-6199-4CEC-8658-E5219D62B358}" type="slidenum">
              <a:rPr kumimoji="0" lang="pl-PL" sz="1200" b="0" i="0" u="none" strike="noStrike" kern="1200" cap="none" spc="-1" normalizeH="0" baseline="0" noProof="0">
                <a:ln>
                  <a:noFill/>
                </a:ln>
                <a:solidFill>
                  <a:srgbClr val="000000"/>
                </a:solidFill>
                <a:effectLst/>
                <a:uLnTx/>
                <a:uFill>
                  <a:solidFill>
                    <a:srgbClr val="FFFFFF"/>
                  </a:solidFill>
                </a:uFill>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3730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628459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7283"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7284"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7BF50B2-FC47-49A3-BEB8-3E4B09750D2D}" type="slidenum">
              <a:rPr lang="pl-PL" smtClean="0"/>
              <a:pPr/>
              <a:t>26</a:t>
            </a:fld>
            <a:endParaRPr lang="pl-PL"/>
          </a:p>
        </p:txBody>
      </p:sp>
    </p:spTree>
    <p:extLst>
      <p:ext uri="{BB962C8B-B14F-4D97-AF65-F5344CB8AC3E}">
        <p14:creationId xmlns:p14="http://schemas.microsoft.com/office/powerpoint/2010/main" val="1101828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27</a:t>
            </a:fld>
            <a:endParaRPr lang="pl-PL"/>
          </a:p>
        </p:txBody>
      </p:sp>
    </p:spTree>
    <p:extLst>
      <p:ext uri="{BB962C8B-B14F-4D97-AF65-F5344CB8AC3E}">
        <p14:creationId xmlns:p14="http://schemas.microsoft.com/office/powerpoint/2010/main" val="2906486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28</a:t>
            </a:fld>
            <a:endParaRPr lang="pl-PL"/>
          </a:p>
        </p:txBody>
      </p:sp>
    </p:spTree>
    <p:extLst>
      <p:ext uri="{BB962C8B-B14F-4D97-AF65-F5344CB8AC3E}">
        <p14:creationId xmlns:p14="http://schemas.microsoft.com/office/powerpoint/2010/main" val="1977305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29</a:t>
            </a:fld>
            <a:endParaRPr lang="pl-PL"/>
          </a:p>
        </p:txBody>
      </p:sp>
    </p:spTree>
    <p:extLst>
      <p:ext uri="{BB962C8B-B14F-4D97-AF65-F5344CB8AC3E}">
        <p14:creationId xmlns:p14="http://schemas.microsoft.com/office/powerpoint/2010/main" val="2655874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30</a:t>
            </a:fld>
            <a:endParaRPr lang="pl-PL"/>
          </a:p>
        </p:txBody>
      </p:sp>
    </p:spTree>
    <p:extLst>
      <p:ext uri="{BB962C8B-B14F-4D97-AF65-F5344CB8AC3E}">
        <p14:creationId xmlns:p14="http://schemas.microsoft.com/office/powerpoint/2010/main" val="951151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31</a:t>
            </a:fld>
            <a:endParaRPr lang="pl-PL"/>
          </a:p>
        </p:txBody>
      </p:sp>
    </p:spTree>
    <p:extLst>
      <p:ext uri="{BB962C8B-B14F-4D97-AF65-F5344CB8AC3E}">
        <p14:creationId xmlns:p14="http://schemas.microsoft.com/office/powerpoint/2010/main" val="1268828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32</a:t>
            </a:fld>
            <a:endParaRPr lang="pl-PL"/>
          </a:p>
        </p:txBody>
      </p:sp>
    </p:spTree>
    <p:extLst>
      <p:ext uri="{BB962C8B-B14F-4D97-AF65-F5344CB8AC3E}">
        <p14:creationId xmlns:p14="http://schemas.microsoft.com/office/powerpoint/2010/main" val="77442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450968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682109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738269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2091757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861648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6264080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870729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1404654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884256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128708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p:cNvSpPr>
            <a:spLocks noGrp="1"/>
          </p:cNvSpPr>
          <p:nvPr>
            <p:ph type="dt" sz="half" idx="10"/>
          </p:nvPr>
        </p:nvSpPr>
        <p:spPr/>
        <p:txBody>
          <a:bodyPr/>
          <a:lstStyle/>
          <a:p>
            <a:fld id="{CD4A986C-871F-430F-9B82-DCFDC38B044A}" type="datetimeFigureOut">
              <a:rPr lang="pl-PL" smtClean="0"/>
              <a:t>15.12.2024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749629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CD4A986C-871F-430F-9B82-DCFDC38B044A}" type="datetimeFigureOut">
              <a:rPr lang="pl-PL" smtClean="0"/>
              <a:t>15.12.2024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18063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p>
            <a:fld id="{CD4A986C-871F-430F-9B82-DCFDC38B044A}" type="datetimeFigureOut">
              <a:rPr lang="pl-PL" smtClean="0"/>
              <a:t>15.12.2024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1176445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838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72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CD4A986C-871F-430F-9B82-DCFDC38B044A}" type="datetimeFigureOut">
              <a:rPr lang="pl-PL" smtClean="0"/>
              <a:t>15.12.2024</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192472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839788" y="2505075"/>
            <a:ext cx="5157787"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6172200" y="2505075"/>
            <a:ext cx="5183188"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CD4A986C-871F-430F-9B82-DCFDC38B044A}" type="datetimeFigureOut">
              <a:rPr lang="pl-PL" smtClean="0"/>
              <a:t>15.12.2024</a:t>
            </a:fld>
            <a:endParaRPr lang="pl-PL"/>
          </a:p>
        </p:txBody>
      </p:sp>
      <p:sp>
        <p:nvSpPr>
          <p:cNvPr id="8" name="Symbol zastępczy stopki 7"/>
          <p:cNvSpPr>
            <a:spLocks noGrp="1"/>
          </p:cNvSpPr>
          <p:nvPr>
            <p:ph type="ftr" sz="quarter" idx="11"/>
          </p:nvPr>
        </p:nvSpPr>
        <p:spPr/>
        <p:txBody>
          <a:bodyPr/>
          <a:lstStyle/>
          <a:p>
            <a:endParaRPr lang="pl-PL"/>
          </a:p>
        </p:txBody>
      </p:sp>
      <p:sp>
        <p:nvSpPr>
          <p:cNvPr id="9" name="Symbol zastępczy numeru slajdu 8"/>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3771735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CD4A986C-871F-430F-9B82-DCFDC38B044A}" type="datetimeFigureOut">
              <a:rPr lang="pl-PL" smtClean="0"/>
              <a:t>15.12.2024</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1064022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CD4A986C-871F-430F-9B82-DCFDC38B044A}" type="datetimeFigureOut">
              <a:rPr lang="pl-PL" smtClean="0"/>
              <a:t>15.12.2024</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899132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CD4A986C-871F-430F-9B82-DCFDC38B044A}" type="datetimeFigureOut">
              <a:rPr lang="pl-PL" smtClean="0"/>
              <a:t>15.12.2024</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3239526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CD4A986C-871F-430F-9B82-DCFDC38B044A}" type="datetimeFigureOut">
              <a:rPr lang="pl-PL" smtClean="0"/>
              <a:t>15.12.2024</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4288510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CD4A986C-871F-430F-9B82-DCFDC38B044A}" type="datetimeFigureOut">
              <a:rPr lang="pl-PL" smtClean="0"/>
              <a:t>15.12.2024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239149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838200" y="365125"/>
            <a:ext cx="7734300" cy="5811838"/>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CD4A986C-871F-430F-9B82-DCFDC38B044A}" type="datetimeFigureOut">
              <a:rPr lang="pl-PL" smtClean="0"/>
              <a:t>15.12.2024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9888152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endParaRPr lang="en-GB"/>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GB"/>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094105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59541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endParaRPr lang="en-GB"/>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71457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518640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endParaRPr lang="en-GB"/>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8" name="Symbol zastępczy stopki 7"/>
          <p:cNvSpPr>
            <a:spLocks noGrp="1"/>
          </p:cNvSpPr>
          <p:nvPr>
            <p:ph type="ftr" sz="quarter" idx="11"/>
          </p:nvPr>
        </p:nvSpPr>
        <p:spPr/>
        <p:txBody>
          <a:bodyPr/>
          <a:lstStyle/>
          <a:p>
            <a:endParaRPr lang="en-GB">
              <a:solidFill>
                <a:prstClr val="black">
                  <a:tint val="75000"/>
                </a:prstClr>
              </a:solidFill>
            </a:endParaRPr>
          </a:p>
        </p:txBody>
      </p:sp>
      <p:sp>
        <p:nvSpPr>
          <p:cNvPr id="9" name="Symbol zastępczy numeru slajdu 8"/>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645650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daty 2"/>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4" name="Symbol zastępczy stopki 3"/>
          <p:cNvSpPr>
            <a:spLocks noGrp="1"/>
          </p:cNvSpPr>
          <p:nvPr>
            <p:ph type="ftr" sz="quarter" idx="11"/>
          </p:nvPr>
        </p:nvSpPr>
        <p:spPr/>
        <p:txBody>
          <a:bodyPr/>
          <a:lstStyle/>
          <a:p>
            <a:endParaRPr lang="en-GB">
              <a:solidFill>
                <a:prstClr val="black">
                  <a:tint val="75000"/>
                </a:prstClr>
              </a:solidFill>
            </a:endParaRPr>
          </a:p>
        </p:txBody>
      </p:sp>
      <p:sp>
        <p:nvSpPr>
          <p:cNvPr id="5" name="Symbol zastępczy numeru slajdu 4"/>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01955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3" name="Symbol zastępczy stopki 2"/>
          <p:cNvSpPr>
            <a:spLocks noGrp="1"/>
          </p:cNvSpPr>
          <p:nvPr>
            <p:ph type="ftr" sz="quarter" idx="11"/>
          </p:nvPr>
        </p:nvSpPr>
        <p:spPr/>
        <p:txBody>
          <a:bodyPr/>
          <a:lstStyle/>
          <a:p>
            <a:endParaRPr lang="en-GB">
              <a:solidFill>
                <a:prstClr val="black">
                  <a:tint val="75000"/>
                </a:prstClr>
              </a:solidFill>
            </a:endParaRPr>
          </a:p>
        </p:txBody>
      </p:sp>
      <p:sp>
        <p:nvSpPr>
          <p:cNvPr id="4" name="Symbol zastępczy numeru slajdu 3"/>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248892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endParaRPr lang="en-GB"/>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284087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endParaRPr lang="en-GB"/>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162551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186128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endParaRPr lang="en-GB"/>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966837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4A986C-871F-430F-9B82-DCFDC38B044A}" type="datetimeFigureOut">
              <a:rPr lang="pl-PL" smtClean="0"/>
              <a:t>15.12.2024</a:t>
            </a:fld>
            <a:endParaRPr lang="pl-PL"/>
          </a:p>
        </p:txBody>
      </p:sp>
      <p:sp>
        <p:nvSpPr>
          <p:cNvPr id="5" name="Symbol zastępczy stopki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DEEFB4-6C3A-4D01-A603-A6594E51E4BE}" type="slidenum">
              <a:rPr lang="pl-PL" smtClean="0"/>
              <a:t>‹#›</a:t>
            </a:fld>
            <a:endParaRPr lang="pl-PL"/>
          </a:p>
        </p:txBody>
      </p:sp>
    </p:spTree>
    <p:extLst>
      <p:ext uri="{BB962C8B-B14F-4D97-AF65-F5344CB8AC3E}">
        <p14:creationId xmlns:p14="http://schemas.microsoft.com/office/powerpoint/2010/main" val="946120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4CB3C-B744-457D-AA45-002E04D08F1C}" type="datetimeFigureOut">
              <a:rPr lang="en-GB" smtClean="0">
                <a:solidFill>
                  <a:prstClr val="black">
                    <a:tint val="75000"/>
                  </a:prstClr>
                </a:solidFill>
              </a:rPr>
              <a:pPr/>
              <a:t>15/12/2024</a:t>
            </a:fld>
            <a:endParaRPr lang="en-GB">
              <a:solidFill>
                <a:prstClr val="black">
                  <a:tint val="75000"/>
                </a:prstClr>
              </a:solidFill>
            </a:endParaRPr>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479892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jpeg"/><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www.mste.uiuc.edu/reese/buffon/buffon.html" TargetMode="External"/><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2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7.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7.xm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hyperlink" Target="https://www.analyticsvidhya.com/blog/2020/02/what-is-bootstrap-sampling-in-statistics-and-machine-learning/" TargetMode="External"/><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hyperlink" Target="https://towardsdatascience.com/an-introduction-to-the-bootstrap-method-58bcb51b4d60"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CustomShape 1"/>
          <p:cNvSpPr/>
          <p:nvPr/>
        </p:nvSpPr>
        <p:spPr>
          <a:xfrm>
            <a:off x="571100" y="1767998"/>
            <a:ext cx="11049802" cy="475164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lstStyle/>
          <a:p>
            <a:pPr algn="ctr"/>
            <a:endParaRPr dirty="0">
              <a:solidFill>
                <a:prstClr val="black"/>
              </a:solidFill>
              <a:latin typeface="Calibri"/>
            </a:endParaRPr>
          </a:p>
          <a:p>
            <a:pPr algn="ctr"/>
            <a:r>
              <a:rPr lang="pl-PL" sz="4400" b="1" i="1" spc="-1" dirty="0">
                <a:solidFill>
                  <a:srgbClr val="215968"/>
                </a:solidFill>
                <a:uFill>
                  <a:solidFill>
                    <a:srgbClr val="FFFFFF"/>
                  </a:solidFill>
                </a:uFill>
                <a:latin typeface="Calibri"/>
                <a:ea typeface="DejaVu Sans"/>
              </a:rPr>
              <a:t>Monte Carlo S</a:t>
            </a:r>
            <a:r>
              <a:rPr lang="en-CA" sz="4400" b="1" i="1" spc="-1" dirty="0" err="1">
                <a:solidFill>
                  <a:srgbClr val="215968"/>
                </a:solidFill>
                <a:uFill>
                  <a:solidFill>
                    <a:srgbClr val="FFFFFF"/>
                  </a:solidFill>
                </a:uFill>
                <a:latin typeface="Calibri"/>
                <a:ea typeface="DejaVu Sans"/>
              </a:rPr>
              <a:t>i</a:t>
            </a:r>
            <a:r>
              <a:rPr lang="pl-PL" sz="4400" b="1" i="1" spc="-1" dirty="0" err="1">
                <a:solidFill>
                  <a:srgbClr val="215968"/>
                </a:solidFill>
                <a:uFill>
                  <a:solidFill>
                    <a:srgbClr val="FFFFFF"/>
                  </a:solidFill>
                </a:uFill>
                <a:latin typeface="Calibri"/>
                <a:ea typeface="DejaVu Sans"/>
              </a:rPr>
              <a:t>mulation</a:t>
            </a:r>
            <a:r>
              <a:rPr lang="pl-PL" sz="4400" b="1" i="1" spc="-1" dirty="0">
                <a:solidFill>
                  <a:srgbClr val="215968"/>
                </a:solidFill>
                <a:uFill>
                  <a:solidFill>
                    <a:srgbClr val="FFFFFF"/>
                  </a:solidFill>
                </a:uFill>
                <a:latin typeface="Calibri"/>
                <a:ea typeface="DejaVu Sans"/>
              </a:rPr>
              <a:t> and </a:t>
            </a:r>
            <a:r>
              <a:rPr lang="pl-PL" sz="4400" b="1" i="1" spc="-1" dirty="0" err="1">
                <a:solidFill>
                  <a:srgbClr val="215968"/>
                </a:solidFill>
                <a:uFill>
                  <a:solidFill>
                    <a:srgbClr val="FFFFFF"/>
                  </a:solidFill>
                </a:uFill>
                <a:latin typeface="Calibri"/>
                <a:ea typeface="DejaVu Sans"/>
              </a:rPr>
              <a:t>Bootstrap</a:t>
            </a:r>
            <a:endParaRPr lang="pl-PL" sz="4400" b="1" i="1" spc="-1" dirty="0">
              <a:solidFill>
                <a:srgbClr val="215968"/>
              </a:solidFill>
              <a:uFill>
                <a:solidFill>
                  <a:srgbClr val="FFFFFF"/>
                </a:solidFill>
              </a:uFill>
              <a:latin typeface="Calibri"/>
              <a:ea typeface="DejaVu Sans"/>
            </a:endParaRPr>
          </a:p>
          <a:p>
            <a:pPr algn="ctr"/>
            <a:r>
              <a:rPr lang="pl-PL" sz="4400" b="1" i="1" spc="-1" dirty="0">
                <a:solidFill>
                  <a:srgbClr val="C00000"/>
                </a:solidFill>
                <a:uFill>
                  <a:solidFill>
                    <a:srgbClr val="FFFFFF"/>
                  </a:solidFill>
                </a:uFill>
                <a:ea typeface="DejaVu Sans"/>
              </a:rPr>
              <a:t> </a:t>
            </a:r>
            <a:endParaRPr lang="pl-PL" sz="4400" b="1" i="1" spc="-1" dirty="0">
              <a:solidFill>
                <a:srgbClr val="C00000"/>
              </a:solidFill>
              <a:uFill>
                <a:solidFill>
                  <a:srgbClr val="FFFFFF"/>
                </a:solidFill>
              </a:uFill>
              <a:latin typeface="Calibri"/>
              <a:ea typeface="DejaVu Sans"/>
            </a:endParaRPr>
          </a:p>
          <a:p>
            <a:pPr algn="ctr"/>
            <a:endParaRPr dirty="0">
              <a:solidFill>
                <a:prstClr val="black"/>
              </a:solidFill>
              <a:latin typeface="Calibri"/>
            </a:endParaRPr>
          </a:p>
        </p:txBody>
      </p:sp>
      <p:sp>
        <p:nvSpPr>
          <p:cNvPr id="78" name="CustomShape 2"/>
          <p:cNvSpPr/>
          <p:nvPr/>
        </p:nvSpPr>
        <p:spPr>
          <a:xfrm>
            <a:off x="1" y="610333"/>
            <a:ext cx="12192000" cy="720000"/>
          </a:xfrm>
          <a:prstGeom prst="rect">
            <a:avLst/>
          </a:prstGeom>
          <a:solidFill>
            <a:srgbClr val="215968"/>
          </a:solidFill>
          <a:ln>
            <a:noFill/>
          </a:ln>
        </p:spPr>
        <p:style>
          <a:lnRef idx="0">
            <a:scrgbClr r="0" g="0" b="0"/>
          </a:lnRef>
          <a:fillRef idx="0">
            <a:scrgbClr r="0" g="0" b="0"/>
          </a:fillRef>
          <a:effectRef idx="0">
            <a:scrgbClr r="0" g="0" b="0"/>
          </a:effectRef>
          <a:fontRef idx="minor"/>
        </p:style>
        <p:txBody>
          <a:bodyPr lIns="90000" tIns="46800" rIns="90000" bIns="46800" anchor="ctr"/>
          <a:lstStyle/>
          <a:p>
            <a:r>
              <a:rPr lang="pl-PL" sz="3200" b="1" spc="-1">
                <a:solidFill>
                  <a:srgbClr val="FFFFFF"/>
                </a:solidFill>
                <a:uFill>
                  <a:solidFill>
                    <a:srgbClr val="FFFFFF"/>
                  </a:solidFill>
                </a:uFill>
                <a:latin typeface="Calibri"/>
                <a:ea typeface="DejaVu Sans"/>
              </a:rPr>
              <a:t>WNE UW</a:t>
            </a:r>
            <a:endParaRPr>
              <a:solidFill>
                <a:prstClr val="black"/>
              </a:solidFill>
              <a:latin typeface="Calibri"/>
            </a:endParaRPr>
          </a:p>
        </p:txBody>
      </p:sp>
      <p:pic>
        <p:nvPicPr>
          <p:cNvPr id="79" name="Picture 3"/>
          <p:cNvPicPr/>
          <p:nvPr/>
        </p:nvPicPr>
        <p:blipFill>
          <a:blip r:embed="rId3"/>
          <a:stretch/>
        </p:blipFill>
        <p:spPr>
          <a:xfrm>
            <a:off x="7536000" y="247680"/>
            <a:ext cx="2337480" cy="1897920"/>
          </a:xfrm>
          <a:prstGeom prst="rect">
            <a:avLst/>
          </a:prstGeom>
          <a:ln>
            <a:noFill/>
          </a:ln>
          <a:effectLst>
            <a:outerShdw dist="139498" dir="2700000">
              <a:srgbClr val="333333">
                <a:alpha val="65000"/>
              </a:srgbClr>
            </a:outerShdw>
          </a:effectLst>
        </p:spPr>
      </p:pic>
      <p:sp>
        <p:nvSpPr>
          <p:cNvPr id="2" name="Prostokąt 3">
            <a:extLst>
              <a:ext uri="{FF2B5EF4-FFF2-40B4-BE49-F238E27FC236}">
                <a16:creationId xmlns:a16="http://schemas.microsoft.com/office/drawing/2014/main" id="{01A07603-4280-39F1-F35E-39AF02E5C496}"/>
              </a:ext>
            </a:extLst>
          </p:cNvPr>
          <p:cNvSpPr/>
          <p:nvPr/>
        </p:nvSpPr>
        <p:spPr>
          <a:xfrm>
            <a:off x="469231" y="3158129"/>
            <a:ext cx="11253537" cy="3108543"/>
          </a:xfrm>
          <a:prstGeom prst="rect">
            <a:avLst/>
          </a:prstGeom>
        </p:spPr>
        <p:txBody>
          <a:bodyPr wrap="square">
            <a:spAutoFit/>
          </a:bodyPr>
          <a:lstStyle/>
          <a:p>
            <a:pPr algn="just"/>
            <a:r>
              <a:rPr lang="en-US" sz="2800" dirty="0">
                <a:solidFill>
                  <a:srgbClr val="4BACC6">
                    <a:lumMod val="50000"/>
                  </a:srgbClr>
                </a:solidFill>
                <a:latin typeface="Calibri"/>
              </a:rPr>
              <a:t>From Moodle folder, download and unzip and run:</a:t>
            </a:r>
          </a:p>
          <a:p>
            <a:pPr marL="457200" indent="-457200" algn="just">
              <a:buFont typeface="Arial" panose="020B0604020202020204" pitchFamily="34" charset="0"/>
              <a:buChar char="•"/>
            </a:pPr>
            <a:r>
              <a:rPr lang="en-US" sz="2800" dirty="0">
                <a:solidFill>
                  <a:srgbClr val="4BACC6">
                    <a:lumMod val="50000"/>
                  </a:srgbClr>
                </a:solidFill>
                <a:latin typeface="Calibri"/>
              </a:rPr>
              <a:t>The R project Topic_3_2_MC.Rproj [is an old project where you only find R scripts. </a:t>
            </a:r>
          </a:p>
          <a:p>
            <a:pPr marL="457200" indent="-457200" algn="just">
              <a:buFont typeface="Arial" panose="020B0604020202020204" pitchFamily="34" charset="0"/>
              <a:buChar char="•"/>
            </a:pPr>
            <a:r>
              <a:rPr lang="en-US" sz="2800" dirty="0">
                <a:solidFill>
                  <a:srgbClr val="4BACC6">
                    <a:lumMod val="50000"/>
                  </a:srgbClr>
                </a:solidFill>
                <a:latin typeface="Calibri"/>
              </a:rPr>
              <a:t>The MC and </a:t>
            </a:r>
            <a:r>
              <a:rPr lang="en-US" sz="2800" dirty="0" err="1">
                <a:solidFill>
                  <a:srgbClr val="4BACC6">
                    <a:lumMod val="50000"/>
                  </a:srgbClr>
                </a:solidFill>
                <a:latin typeface="Calibri"/>
              </a:rPr>
              <a:t>Bootstrap.Rproj</a:t>
            </a:r>
            <a:r>
              <a:rPr lang="en-US" sz="2800" dirty="0">
                <a:solidFill>
                  <a:srgbClr val="4BACC6">
                    <a:lumMod val="50000"/>
                  </a:srgbClr>
                </a:solidFill>
                <a:latin typeface="Calibri"/>
              </a:rPr>
              <a:t> [ it is a new project; open and run </a:t>
            </a:r>
            <a:r>
              <a:rPr lang="en-US" sz="2800" i="1" dirty="0">
                <a:solidFill>
                  <a:srgbClr val="C00000"/>
                </a:solidFill>
                <a:latin typeface="Calibri"/>
              </a:rPr>
              <a:t>test </a:t>
            </a:r>
            <a:r>
              <a:rPr lang="en-US" sz="2800" i="1" dirty="0" err="1">
                <a:solidFill>
                  <a:srgbClr val="C00000"/>
                </a:solidFill>
                <a:latin typeface="Calibri"/>
              </a:rPr>
              <a:t>MC.Rmd</a:t>
            </a:r>
            <a:r>
              <a:rPr lang="en-US" sz="2800" dirty="0">
                <a:solidFill>
                  <a:srgbClr val="4BACC6">
                    <a:lumMod val="50000"/>
                  </a:srgbClr>
                </a:solidFill>
                <a:latin typeface="Calibri"/>
              </a:rPr>
              <a:t>. You will obtain the report with explanations mainly based on my slides and Chat GPT „</a:t>
            </a:r>
            <a:r>
              <a:rPr lang="en-US" sz="2800" dirty="0" err="1">
                <a:solidFill>
                  <a:srgbClr val="4BACC6">
                    <a:lumMod val="50000"/>
                  </a:srgbClr>
                </a:solidFill>
                <a:latin typeface="Calibri"/>
              </a:rPr>
              <a:t>licentia</a:t>
            </a:r>
            <a:r>
              <a:rPr lang="en-US" sz="2800" dirty="0">
                <a:solidFill>
                  <a:srgbClr val="4BACC6">
                    <a:lumMod val="50000"/>
                  </a:srgbClr>
                </a:solidFill>
                <a:latin typeface="Calibri"/>
              </a:rPr>
              <a:t> poetica.” I have to check and correct the poet. Last week, I mostly migrated scripts from an old project. </a:t>
            </a:r>
            <a:endParaRPr lang="pl-PL" sz="2800" dirty="0">
              <a:solidFill>
                <a:srgbClr val="C00000"/>
              </a:solidFill>
            </a:endParaRPr>
          </a:p>
        </p:txBody>
      </p:sp>
    </p:spTree>
    <p:extLst>
      <p:ext uri="{BB962C8B-B14F-4D97-AF65-F5344CB8AC3E}">
        <p14:creationId xmlns:p14="http://schemas.microsoft.com/office/powerpoint/2010/main" val="115636663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l-PL">
              <a:solidFill>
                <a:prstClr val="black"/>
              </a:solidFill>
              <a:latin typeface="Calibri"/>
            </a:endParaRPr>
          </a:p>
        </p:txBody>
      </p:sp>
      <p:sp>
        <p:nvSpPr>
          <p:cNvPr id="12" name="Prostokąt 11"/>
          <p:cNvSpPr/>
          <p:nvPr/>
        </p:nvSpPr>
        <p:spPr>
          <a:xfrm>
            <a:off x="754950" y="2518825"/>
            <a:ext cx="11040176" cy="2862322"/>
          </a:xfrm>
          <a:prstGeom prst="rect">
            <a:avLst/>
          </a:prstGeom>
        </p:spPr>
        <p:txBody>
          <a:bodyPr wrap="square">
            <a:spAutoFit/>
          </a:bodyPr>
          <a:lstStyle/>
          <a:p>
            <a:r>
              <a:rPr lang="en-GB" sz="3600" dirty="0">
                <a:solidFill>
                  <a:srgbClr val="4BACC6">
                    <a:lumMod val="50000"/>
                  </a:srgbClr>
                </a:solidFill>
                <a:latin typeface="Calibri"/>
              </a:rPr>
              <a:t>In economics, we use MC simulation to:</a:t>
            </a:r>
          </a:p>
          <a:p>
            <a:r>
              <a:rPr lang="en-GB" sz="3600" dirty="0">
                <a:solidFill>
                  <a:srgbClr val="4BACC6">
                    <a:lumMod val="50000"/>
                  </a:srgbClr>
                </a:solidFill>
                <a:latin typeface="Calibri"/>
              </a:rPr>
              <a:t>-  solving mathematical problems </a:t>
            </a:r>
          </a:p>
          <a:p>
            <a:r>
              <a:rPr lang="en-GB" sz="3600" dirty="0">
                <a:solidFill>
                  <a:srgbClr val="4BACC6">
                    <a:lumMod val="50000"/>
                  </a:srgbClr>
                </a:solidFill>
                <a:latin typeface="Calibri"/>
              </a:rPr>
              <a:t>-  testing the stability of our models </a:t>
            </a:r>
          </a:p>
          <a:p>
            <a:r>
              <a:rPr lang="en-GB" sz="3600" dirty="0">
                <a:solidFill>
                  <a:srgbClr val="4BACC6">
                    <a:lumMod val="50000"/>
                  </a:srgbClr>
                </a:solidFill>
                <a:latin typeface="Calibri"/>
              </a:rPr>
              <a:t>-  </a:t>
            </a:r>
            <a:r>
              <a:rPr lang="en-GB" sz="3600" b="1" dirty="0">
                <a:solidFill>
                  <a:srgbClr val="4BACC6">
                    <a:lumMod val="50000"/>
                  </a:srgbClr>
                </a:solidFill>
                <a:latin typeface="Calibri"/>
              </a:rPr>
              <a:t>examining the influence of uncertainty on results our decisions </a:t>
            </a:r>
          </a:p>
        </p:txBody>
      </p:sp>
      <p:sp>
        <p:nvSpPr>
          <p:cNvPr id="13" name="Tytuł 1"/>
          <p:cNvSpPr>
            <a:spLocks noGrp="1"/>
          </p:cNvSpPr>
          <p:nvPr>
            <p:ph type="title"/>
          </p:nvPr>
        </p:nvSpPr>
        <p:spPr>
          <a:xfrm>
            <a:off x="0" y="0"/>
            <a:ext cx="12192000" cy="1124503"/>
          </a:xfrm>
          <a:solidFill>
            <a:schemeClr val="accent5">
              <a:lumMod val="20000"/>
              <a:lumOff val="80000"/>
            </a:schemeClr>
          </a:solidFill>
        </p:spPr>
        <p:txBody>
          <a:bodyPr>
            <a:normAutofit/>
          </a:bodyPr>
          <a:lstStyle/>
          <a:p>
            <a:r>
              <a:rPr lang="pl-PL" b="1" dirty="0">
                <a:solidFill>
                  <a:schemeClr val="accent5">
                    <a:lumMod val="50000"/>
                  </a:schemeClr>
                </a:solidFill>
              </a:rPr>
              <a:t>Monte Carlo </a:t>
            </a:r>
            <a:r>
              <a:rPr lang="pl-PL" b="1" dirty="0" err="1">
                <a:solidFill>
                  <a:schemeClr val="accent5">
                    <a:lumMod val="50000"/>
                  </a:schemeClr>
                </a:solidFill>
              </a:rPr>
              <a:t>simulation</a:t>
            </a:r>
            <a:endParaRPr lang="pl-PL" b="1" dirty="0">
              <a:solidFill>
                <a:schemeClr val="accent5">
                  <a:lumMod val="50000"/>
                </a:schemeClr>
              </a:solidFill>
            </a:endParaRPr>
          </a:p>
        </p:txBody>
      </p:sp>
    </p:spTree>
    <p:extLst>
      <p:ext uri="{BB962C8B-B14F-4D97-AF65-F5344CB8AC3E}">
        <p14:creationId xmlns:p14="http://schemas.microsoft.com/office/powerpoint/2010/main" val="33195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Prostokąt 4"/>
          <p:cNvSpPr/>
          <p:nvPr/>
        </p:nvSpPr>
        <p:spPr>
          <a:xfrm>
            <a:off x="114649" y="1299894"/>
            <a:ext cx="11848052" cy="5262979"/>
          </a:xfrm>
          <a:prstGeom prst="rect">
            <a:avLst/>
          </a:prstGeom>
        </p:spPr>
        <p:txBody>
          <a:bodyPr wrap="square">
            <a:spAutoFit/>
          </a:bodyPr>
          <a:lstStyle/>
          <a:p>
            <a:pPr algn="just"/>
            <a:r>
              <a:rPr lang="pl-PL" sz="2800" dirty="0" err="1">
                <a:solidFill>
                  <a:srgbClr val="215968"/>
                </a:solidFill>
              </a:rPr>
              <a:t>There</a:t>
            </a:r>
            <a:r>
              <a:rPr lang="pl-PL" sz="2800" dirty="0">
                <a:solidFill>
                  <a:srgbClr val="215968"/>
                </a:solidFill>
              </a:rPr>
              <a:t> ara </a:t>
            </a:r>
            <a:r>
              <a:rPr lang="pl-PL" sz="2800" dirty="0" err="1">
                <a:solidFill>
                  <a:srgbClr val="215968"/>
                </a:solidFill>
              </a:rPr>
              <a:t>two</a:t>
            </a:r>
            <a:r>
              <a:rPr lang="en-US" sz="2800" dirty="0">
                <a:solidFill>
                  <a:srgbClr val="215968"/>
                </a:solidFill>
              </a:rPr>
              <a:t> ways to test theoretical</a:t>
            </a:r>
            <a:r>
              <a:rPr lang="pl-PL" sz="2800" dirty="0">
                <a:solidFill>
                  <a:srgbClr val="215968"/>
                </a:solidFill>
              </a:rPr>
              <a:t>/</a:t>
            </a:r>
            <a:r>
              <a:rPr lang="pl-PL" sz="2800" dirty="0" err="1">
                <a:solidFill>
                  <a:srgbClr val="215968"/>
                </a:solidFill>
              </a:rPr>
              <a:t>empirical</a:t>
            </a:r>
            <a:r>
              <a:rPr lang="en-US" sz="2800" dirty="0">
                <a:solidFill>
                  <a:srgbClr val="215968"/>
                </a:solidFill>
              </a:rPr>
              <a:t> models</a:t>
            </a:r>
            <a:r>
              <a:rPr lang="pl-PL" sz="2800" dirty="0">
                <a:solidFill>
                  <a:srgbClr val="215968"/>
                </a:solidFill>
              </a:rPr>
              <a:t>: </a:t>
            </a:r>
            <a:r>
              <a:rPr lang="en-US" sz="2800" dirty="0">
                <a:solidFill>
                  <a:srgbClr val="215968"/>
                </a:solidFill>
              </a:rPr>
              <a:t>use Monte Carlo simulations or bootstrapping. Thanks to these methods, we obtain a better picture of reality than just one equilibrium point from the theoretical model.</a:t>
            </a:r>
            <a:endParaRPr lang="pl-PL" sz="2800" dirty="0">
              <a:solidFill>
                <a:srgbClr val="215968"/>
              </a:solidFill>
            </a:endParaRPr>
          </a:p>
          <a:p>
            <a:pPr algn="just"/>
            <a:r>
              <a:rPr lang="en-US" sz="2800" dirty="0">
                <a:solidFill>
                  <a:srgbClr val="215968"/>
                </a:solidFill>
              </a:rPr>
              <a:t> </a:t>
            </a:r>
            <a:endParaRPr lang="pl-PL" sz="2800" dirty="0">
              <a:solidFill>
                <a:srgbClr val="215968"/>
              </a:solidFill>
            </a:endParaRPr>
          </a:p>
          <a:p>
            <a:pPr algn="just"/>
            <a:r>
              <a:rPr lang="en-US" sz="2800" dirty="0">
                <a:solidFill>
                  <a:srgbClr val="215968"/>
                </a:solidFill>
              </a:rPr>
              <a:t>Monte Carlo Simulations</a:t>
            </a:r>
          </a:p>
          <a:p>
            <a:pPr marL="92075" indent="-92075" algn="just">
              <a:buFont typeface="Arial" panose="020B0604020202020204" pitchFamily="34" charset="0"/>
              <a:buChar char="•"/>
            </a:pPr>
            <a:r>
              <a:rPr lang="en-US" sz="2800" dirty="0">
                <a:solidFill>
                  <a:srgbClr val="215968"/>
                </a:solidFill>
              </a:rPr>
              <a:t> Generate multiple </a:t>
            </a:r>
            <a:r>
              <a:rPr lang="pl-PL" sz="2800" dirty="0" err="1">
                <a:solidFill>
                  <a:srgbClr val="215968"/>
                </a:solidFill>
              </a:rPr>
              <a:t>random</a:t>
            </a:r>
            <a:r>
              <a:rPr lang="pl-PL" sz="2800" dirty="0">
                <a:solidFill>
                  <a:srgbClr val="215968"/>
                </a:solidFill>
              </a:rPr>
              <a:t> </a:t>
            </a:r>
            <a:r>
              <a:rPr lang="en-US" sz="2800" dirty="0">
                <a:solidFill>
                  <a:srgbClr val="215968"/>
                </a:solidFill>
              </a:rPr>
              <a:t>scenarios to understand the range of possible outcomes.</a:t>
            </a:r>
          </a:p>
          <a:p>
            <a:pPr algn="just">
              <a:buFont typeface="Arial" panose="020B0604020202020204" pitchFamily="34" charset="0"/>
              <a:buChar char="•"/>
            </a:pPr>
            <a:r>
              <a:rPr lang="en-US" sz="2800" dirty="0">
                <a:solidFill>
                  <a:srgbClr val="215968"/>
                </a:solidFill>
              </a:rPr>
              <a:t> Offers a comprehensive view beyond a single theoretical outcome.</a:t>
            </a:r>
          </a:p>
          <a:p>
            <a:pPr algn="just"/>
            <a:endParaRPr lang="en-US" sz="2800" dirty="0">
              <a:solidFill>
                <a:srgbClr val="215968"/>
              </a:solidFill>
            </a:endParaRPr>
          </a:p>
          <a:p>
            <a:pPr algn="just"/>
            <a:r>
              <a:rPr lang="en-US" sz="2800" dirty="0">
                <a:solidFill>
                  <a:srgbClr val="215968"/>
                </a:solidFill>
              </a:rPr>
              <a:t>Bootstrapping</a:t>
            </a:r>
          </a:p>
          <a:p>
            <a:pPr marL="265113" indent="-265113" algn="just">
              <a:buFont typeface="Arial" panose="020B0604020202020204" pitchFamily="34" charset="0"/>
              <a:buChar char="•"/>
            </a:pPr>
            <a:r>
              <a:rPr lang="en-US" sz="2800" dirty="0">
                <a:solidFill>
                  <a:srgbClr val="215968"/>
                </a:solidFill>
              </a:rPr>
              <a:t>Utilize resampling to estimate the precision of sample statistics.</a:t>
            </a:r>
          </a:p>
          <a:p>
            <a:pPr marL="265113" indent="-265113" algn="just">
              <a:buFont typeface="Arial" panose="020B0604020202020204" pitchFamily="34" charset="0"/>
              <a:buChar char="•"/>
            </a:pPr>
            <a:r>
              <a:rPr lang="en-US" sz="2800" dirty="0">
                <a:solidFill>
                  <a:srgbClr val="215968"/>
                </a:solidFill>
              </a:rPr>
              <a:t>Provides insight into the variability of the model's predictions.</a:t>
            </a:r>
          </a:p>
        </p:txBody>
      </p:sp>
      <p:sp>
        <p:nvSpPr>
          <p:cNvPr id="8" name="Tytuł 1"/>
          <p:cNvSpPr>
            <a:spLocks noGrp="1"/>
          </p:cNvSpPr>
          <p:nvPr>
            <p:ph type="title"/>
          </p:nvPr>
        </p:nvSpPr>
        <p:spPr>
          <a:xfrm>
            <a:off x="0" y="-13886"/>
            <a:ext cx="12192000" cy="1143000"/>
          </a:xfrm>
          <a:solidFill>
            <a:srgbClr val="DBEEF4"/>
          </a:solidFill>
        </p:spPr>
        <p:txBody>
          <a:bodyPr>
            <a:noAutofit/>
          </a:bodyPr>
          <a:lstStyle/>
          <a:p>
            <a:r>
              <a:rPr lang="en-US" sz="4000" b="1" dirty="0">
                <a:solidFill>
                  <a:srgbClr val="215968"/>
                </a:solidFill>
              </a:rPr>
              <a:t>Monte Carlo simulation</a:t>
            </a:r>
            <a:endParaRPr lang="pl-PL" altLang="pl-PL" sz="4000" b="1" dirty="0">
              <a:solidFill>
                <a:srgbClr val="215968"/>
              </a:solidFill>
              <a:latin typeface="Arial" charset="0"/>
            </a:endParaRPr>
          </a:p>
        </p:txBody>
      </p:sp>
    </p:spTree>
    <p:extLst>
      <p:ext uri="{BB962C8B-B14F-4D97-AF65-F5344CB8AC3E}">
        <p14:creationId xmlns:p14="http://schemas.microsoft.com/office/powerpoint/2010/main" val="1794523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ostokąt 3"/>
          <p:cNvSpPr/>
          <p:nvPr/>
        </p:nvSpPr>
        <p:spPr>
          <a:xfrm>
            <a:off x="317634" y="1343794"/>
            <a:ext cx="10943924" cy="1569660"/>
          </a:xfrm>
          <a:prstGeom prst="rect">
            <a:avLst/>
          </a:prstGeom>
        </p:spPr>
        <p:txBody>
          <a:bodyPr wrap="square">
            <a:spAutoFit/>
          </a:bodyPr>
          <a:lstStyle/>
          <a:p>
            <a:pPr algn="just"/>
            <a:r>
              <a:rPr lang="en-GB" sz="3200" dirty="0">
                <a:solidFill>
                  <a:srgbClr val="4BACC6">
                    <a:lumMod val="50000"/>
                  </a:srgbClr>
                </a:solidFill>
                <a:latin typeface="Calibri"/>
              </a:rPr>
              <a:t>What is the Monte Carlo simulation? The definition is complicated because it depends where we use it. But simple definition by Stanislaw </a:t>
            </a:r>
            <a:r>
              <a:rPr lang="en-GB" sz="3200" dirty="0" err="1">
                <a:solidFill>
                  <a:srgbClr val="4BACC6">
                    <a:lumMod val="50000"/>
                  </a:srgbClr>
                </a:solidFill>
                <a:latin typeface="Calibri"/>
              </a:rPr>
              <a:t>Ulam</a:t>
            </a:r>
            <a:r>
              <a:rPr lang="en-GB" sz="3200" dirty="0">
                <a:solidFill>
                  <a:srgbClr val="4BACC6">
                    <a:lumMod val="50000"/>
                  </a:srgbClr>
                </a:solidFill>
                <a:latin typeface="Calibri"/>
              </a:rPr>
              <a:t> is enough for us. </a:t>
            </a:r>
            <a:endParaRPr lang="pl-PL" sz="3200" dirty="0">
              <a:solidFill>
                <a:srgbClr val="4BACC6">
                  <a:lumMod val="50000"/>
                </a:srgbClr>
              </a:solidFill>
              <a:latin typeface="Calibri"/>
            </a:endParaRPr>
          </a:p>
        </p:txBody>
      </p:sp>
      <p:sp>
        <p:nvSpPr>
          <p:cNvPr id="481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l-PL">
              <a:solidFill>
                <a:prstClr val="black"/>
              </a:solidFill>
              <a:latin typeface="Calibri"/>
            </a:endParaRPr>
          </a:p>
        </p:txBody>
      </p:sp>
      <p:pic>
        <p:nvPicPr>
          <p:cNvPr id="8" name="Picture 1027" descr="Ulam_4"/>
          <p:cNvPicPr>
            <a:picLocks noGrp="1" noChangeAspect="1" noChangeArrowheads="1"/>
          </p:cNvPicPr>
          <p:nvPr>
            <p:ph idx="1"/>
          </p:nvPr>
        </p:nvPicPr>
        <p:blipFill>
          <a:blip r:embed="rId2" cstate="print"/>
          <a:srcRect/>
          <a:stretch>
            <a:fillRect/>
          </a:stretch>
        </p:blipFill>
        <p:spPr>
          <a:xfrm>
            <a:off x="10188791" y="2502874"/>
            <a:ext cx="1330598" cy="1728212"/>
          </a:xfrm>
          <a:prstGeom prst="rect">
            <a:avLst/>
          </a:prstGeom>
          <a:ln>
            <a:noFill/>
          </a:ln>
          <a:effectLst>
            <a:outerShdw blurRad="292100" dist="139700" dir="2700000" algn="tl" rotWithShape="0">
              <a:srgbClr val="333333">
                <a:alpha val="65000"/>
              </a:srgbClr>
            </a:outerShdw>
          </a:effectLst>
        </p:spPr>
      </p:pic>
      <p:sp>
        <p:nvSpPr>
          <p:cNvPr id="9" name="Prostokąt 8"/>
          <p:cNvSpPr/>
          <p:nvPr/>
        </p:nvSpPr>
        <p:spPr>
          <a:xfrm>
            <a:off x="9917752" y="4461817"/>
            <a:ext cx="1709892" cy="646331"/>
          </a:xfrm>
          <a:prstGeom prst="rect">
            <a:avLst/>
          </a:prstGeom>
        </p:spPr>
        <p:txBody>
          <a:bodyPr wrap="none">
            <a:spAutoFit/>
          </a:bodyPr>
          <a:lstStyle/>
          <a:p>
            <a:pPr algn="ctr"/>
            <a:r>
              <a:rPr lang="en-US" b="1" dirty="0">
                <a:solidFill>
                  <a:srgbClr val="4BACC6">
                    <a:lumMod val="50000"/>
                  </a:srgbClr>
                </a:solidFill>
                <a:latin typeface="Calibri"/>
              </a:rPr>
              <a:t>Stanislaw </a:t>
            </a:r>
            <a:r>
              <a:rPr lang="en-US" b="1" dirty="0" err="1">
                <a:solidFill>
                  <a:srgbClr val="4BACC6">
                    <a:lumMod val="50000"/>
                  </a:srgbClr>
                </a:solidFill>
                <a:latin typeface="Calibri"/>
              </a:rPr>
              <a:t>Ulam</a:t>
            </a:r>
            <a:r>
              <a:rPr lang="en-US" b="1" dirty="0">
                <a:solidFill>
                  <a:srgbClr val="4BACC6">
                    <a:lumMod val="50000"/>
                  </a:srgbClr>
                </a:solidFill>
                <a:latin typeface="Calibri"/>
              </a:rPr>
              <a:t> </a:t>
            </a:r>
            <a:endParaRPr lang="pl-PL" b="1" dirty="0">
              <a:solidFill>
                <a:srgbClr val="4BACC6">
                  <a:lumMod val="50000"/>
                </a:srgbClr>
              </a:solidFill>
              <a:latin typeface="Calibri"/>
            </a:endParaRPr>
          </a:p>
          <a:p>
            <a:pPr algn="ctr"/>
            <a:r>
              <a:rPr lang="en-US" b="1" dirty="0">
                <a:solidFill>
                  <a:srgbClr val="4BACC6">
                    <a:lumMod val="50000"/>
                  </a:srgbClr>
                </a:solidFill>
                <a:latin typeface="Calibri"/>
              </a:rPr>
              <a:t>(1909-1984)</a:t>
            </a:r>
            <a:endParaRPr lang="pl-PL" b="1" dirty="0">
              <a:solidFill>
                <a:srgbClr val="4BACC6">
                  <a:lumMod val="50000"/>
                </a:srgbClr>
              </a:solidFill>
              <a:latin typeface="Calibri"/>
            </a:endParaRPr>
          </a:p>
        </p:txBody>
      </p:sp>
      <p:sp>
        <p:nvSpPr>
          <p:cNvPr id="11" name="Text Box 1028"/>
          <p:cNvSpPr txBox="1">
            <a:spLocks noChangeArrowheads="1"/>
          </p:cNvSpPr>
          <p:nvPr/>
        </p:nvSpPr>
        <p:spPr bwMode="auto">
          <a:xfrm>
            <a:off x="462013" y="3081065"/>
            <a:ext cx="8681987" cy="1077218"/>
          </a:xfrm>
          <a:prstGeom prst="rect">
            <a:avLst/>
          </a:prstGeom>
          <a:noFill/>
          <a:ln w="9525">
            <a:noFill/>
            <a:miter lim="800000"/>
            <a:headEnd/>
            <a:tailEnd/>
          </a:ln>
          <a:effectLst/>
        </p:spPr>
        <p:txBody>
          <a:bodyPr wrap="square">
            <a:spAutoFit/>
          </a:bodyPr>
          <a:lstStyle/>
          <a:p>
            <a:pPr algn="just">
              <a:spcBef>
                <a:spcPct val="50000"/>
              </a:spcBef>
            </a:pPr>
            <a:r>
              <a:rPr lang="pl-PL" sz="3200" i="1" dirty="0">
                <a:solidFill>
                  <a:prstClr val="black"/>
                </a:solidFill>
                <a:latin typeface="Calibri"/>
              </a:rPr>
              <a:t>… </a:t>
            </a:r>
            <a:r>
              <a:rPr lang="pl-PL" sz="3200" i="1" dirty="0" err="1">
                <a:solidFill>
                  <a:prstClr val="black"/>
                </a:solidFill>
                <a:latin typeface="Calibri"/>
              </a:rPr>
              <a:t>solving</a:t>
            </a:r>
            <a:r>
              <a:rPr lang="pl-PL" sz="3200" i="1" dirty="0">
                <a:solidFill>
                  <a:prstClr val="black"/>
                </a:solidFill>
                <a:latin typeface="Calibri"/>
              </a:rPr>
              <a:t> </a:t>
            </a:r>
            <a:r>
              <a:rPr lang="en-US" sz="3200" i="1" dirty="0">
                <a:solidFill>
                  <a:prstClr val="black"/>
                </a:solidFill>
                <a:latin typeface="Calibri"/>
              </a:rPr>
              <a:t>mathematical problems using statistical sampling.</a:t>
            </a:r>
          </a:p>
        </p:txBody>
      </p:sp>
      <p:sp>
        <p:nvSpPr>
          <p:cNvPr id="13" name="Tytuł 1"/>
          <p:cNvSpPr>
            <a:spLocks noGrp="1"/>
          </p:cNvSpPr>
          <p:nvPr>
            <p:ph type="title"/>
          </p:nvPr>
        </p:nvSpPr>
        <p:spPr>
          <a:xfrm>
            <a:off x="0" y="0"/>
            <a:ext cx="12192000" cy="1124503"/>
          </a:xfrm>
          <a:solidFill>
            <a:schemeClr val="accent5">
              <a:lumMod val="20000"/>
              <a:lumOff val="80000"/>
            </a:schemeClr>
          </a:solidFill>
        </p:spPr>
        <p:txBody>
          <a:bodyPr>
            <a:normAutofit/>
          </a:bodyPr>
          <a:lstStyle/>
          <a:p>
            <a:r>
              <a:rPr lang="pl-PL" b="1" dirty="0">
                <a:solidFill>
                  <a:schemeClr val="accent5">
                    <a:lumMod val="50000"/>
                  </a:schemeClr>
                </a:solidFill>
              </a:rPr>
              <a:t>Monte Carlo </a:t>
            </a:r>
            <a:r>
              <a:rPr lang="pl-PL" b="1" dirty="0" err="1">
                <a:solidFill>
                  <a:schemeClr val="accent5">
                    <a:lumMod val="50000"/>
                  </a:schemeClr>
                </a:solidFill>
              </a:rPr>
              <a:t>simulation</a:t>
            </a:r>
            <a:endParaRPr lang="pl-PL" b="1" dirty="0">
              <a:solidFill>
                <a:schemeClr val="accent5">
                  <a:lumMod val="50000"/>
                </a:schemeClr>
              </a:solidFill>
            </a:endParaRPr>
          </a:p>
        </p:txBody>
      </p:sp>
      <p:sp>
        <p:nvSpPr>
          <p:cNvPr id="2" name="Prostokąt 1"/>
          <p:cNvSpPr/>
          <p:nvPr/>
        </p:nvSpPr>
        <p:spPr>
          <a:xfrm>
            <a:off x="2102092" y="5066184"/>
            <a:ext cx="7987815" cy="1384995"/>
          </a:xfrm>
          <a:prstGeom prst="rect">
            <a:avLst/>
          </a:prstGeom>
        </p:spPr>
        <p:txBody>
          <a:bodyPr wrap="square">
            <a:spAutoFit/>
          </a:bodyPr>
          <a:lstStyle/>
          <a:p>
            <a:r>
              <a:rPr lang="en-US" sz="2800" dirty="0">
                <a:solidFill>
                  <a:srgbClr val="215968"/>
                </a:solidFill>
              </a:rPr>
              <a:t>My not formal approach: nature plays dice with us - we can play dice to solve the problem that nature has given us by mimicking the randomness of nature.</a:t>
            </a:r>
            <a:endParaRPr lang="pl-PL" sz="2800" dirty="0">
              <a:solidFill>
                <a:srgbClr val="215968"/>
              </a:solidFill>
            </a:endParaRPr>
          </a:p>
        </p:txBody>
      </p:sp>
      <p:graphicFrame>
        <p:nvGraphicFramePr>
          <p:cNvPr id="14" name="Object 1"/>
          <p:cNvGraphicFramePr>
            <a:graphicFrameLocks noChangeAspect="1"/>
          </p:cNvGraphicFramePr>
          <p:nvPr>
            <p:extLst>
              <p:ext uri="{D42A27DB-BD31-4B8C-83A1-F6EECF244321}">
                <p14:modId xmlns:p14="http://schemas.microsoft.com/office/powerpoint/2010/main" val="1547067217"/>
              </p:ext>
            </p:extLst>
          </p:nvPr>
        </p:nvGraphicFramePr>
        <p:xfrm>
          <a:off x="351186" y="5066184"/>
          <a:ext cx="1479880" cy="1512168"/>
        </p:xfrm>
        <a:graphic>
          <a:graphicData uri="http://schemas.openxmlformats.org/presentationml/2006/ole">
            <mc:AlternateContent xmlns:mc="http://schemas.openxmlformats.org/markup-compatibility/2006">
              <mc:Choice xmlns:v="urn:schemas-microsoft-com:vml" Requires="v">
                <p:oleObj name="Obraz - mapa bitowa" r:id="rId3" imgW="2620952" imgH="2674852" progId="PBrush">
                  <p:embed/>
                </p:oleObj>
              </mc:Choice>
              <mc:Fallback>
                <p:oleObj name="Obraz - mapa bitowa" r:id="rId3" imgW="2620952" imgH="2674852" progId="PBrush">
                  <p:embed/>
                  <p:pic>
                    <p:nvPicPr>
                      <p:cNvPr id="14"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186" y="5066184"/>
                        <a:ext cx="1479880" cy="15121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6343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1" y="0"/>
            <a:ext cx="12291461" cy="1556792"/>
          </a:xfrm>
          <a:solidFill>
            <a:schemeClr val="accent5">
              <a:lumMod val="20000"/>
              <a:lumOff val="80000"/>
            </a:schemeClr>
          </a:solidFill>
        </p:spPr>
        <p:txBody>
          <a:bodyPr>
            <a:normAutofit/>
          </a:bodyPr>
          <a:lstStyle/>
          <a:p>
            <a:r>
              <a:rPr lang="pl-PL" b="1" dirty="0">
                <a:solidFill>
                  <a:schemeClr val="accent5">
                    <a:lumMod val="50000"/>
                  </a:schemeClr>
                </a:solidFill>
              </a:rPr>
              <a:t>MC </a:t>
            </a:r>
            <a:r>
              <a:rPr lang="pl-PL" b="1" dirty="0" err="1">
                <a:solidFill>
                  <a:schemeClr val="accent5">
                    <a:lumMod val="50000"/>
                  </a:schemeClr>
                </a:solidFill>
              </a:rPr>
              <a:t>Solving</a:t>
            </a:r>
            <a:r>
              <a:rPr lang="pl-PL" b="1" dirty="0">
                <a:solidFill>
                  <a:schemeClr val="accent5">
                    <a:lumMod val="50000"/>
                  </a:schemeClr>
                </a:solidFill>
              </a:rPr>
              <a:t> </a:t>
            </a:r>
            <a:r>
              <a:rPr lang="pl-PL" b="1" dirty="0" err="1">
                <a:solidFill>
                  <a:schemeClr val="accent5">
                    <a:lumMod val="50000"/>
                  </a:schemeClr>
                </a:solidFill>
              </a:rPr>
              <a:t>mathematical</a:t>
            </a:r>
            <a:r>
              <a:rPr lang="pl-PL" b="1" dirty="0">
                <a:solidFill>
                  <a:schemeClr val="accent5">
                    <a:lumMod val="50000"/>
                  </a:schemeClr>
                </a:solidFill>
              </a:rPr>
              <a:t> </a:t>
            </a:r>
            <a:r>
              <a:rPr lang="pl-PL" b="1" dirty="0" err="1">
                <a:solidFill>
                  <a:schemeClr val="accent5">
                    <a:lumMod val="50000"/>
                  </a:schemeClr>
                </a:solidFill>
              </a:rPr>
              <a:t>problems</a:t>
            </a:r>
            <a:endParaRPr lang="pl-PL" b="1" dirty="0">
              <a:solidFill>
                <a:schemeClr val="accent5">
                  <a:lumMod val="50000"/>
                </a:schemeClr>
              </a:solidFill>
            </a:endParaRPr>
          </a:p>
        </p:txBody>
      </p:sp>
      <p:sp>
        <p:nvSpPr>
          <p:cNvPr id="6" name="Prostokąt 5"/>
          <p:cNvSpPr/>
          <p:nvPr/>
        </p:nvSpPr>
        <p:spPr>
          <a:xfrm>
            <a:off x="192506" y="2255703"/>
            <a:ext cx="11675444" cy="2062103"/>
          </a:xfrm>
          <a:prstGeom prst="rect">
            <a:avLst/>
          </a:prstGeom>
        </p:spPr>
        <p:txBody>
          <a:bodyPr wrap="square">
            <a:spAutoFit/>
          </a:bodyPr>
          <a:lstStyle/>
          <a:p>
            <a:pPr algn="just"/>
            <a:r>
              <a:rPr lang="en-GB" sz="3200" dirty="0">
                <a:solidFill>
                  <a:srgbClr val="4BACC6">
                    <a:lumMod val="50000"/>
                  </a:srgbClr>
                </a:solidFill>
                <a:latin typeface="Calibri"/>
              </a:rPr>
              <a:t>Suppose a mathematical problem is too complicated and we are unable to provide an analytical solution. Sometimes, there is no such solution, or we are unable to obtain it. Well, from a certain level everyone is ignorant but ... we can always find a numerical solution.</a:t>
            </a:r>
            <a:endParaRPr lang="pl-PL" sz="3200" dirty="0">
              <a:solidFill>
                <a:srgbClr val="4BACC6">
                  <a:lumMod val="50000"/>
                </a:srgbClr>
              </a:solidFill>
              <a:latin typeface="Calibri"/>
            </a:endParaRPr>
          </a:p>
        </p:txBody>
      </p:sp>
      <p:sp>
        <p:nvSpPr>
          <p:cNvPr id="4" name="Prostokąt 3"/>
          <p:cNvSpPr/>
          <p:nvPr/>
        </p:nvSpPr>
        <p:spPr>
          <a:xfrm>
            <a:off x="1005343" y="5104266"/>
            <a:ext cx="9286521" cy="523220"/>
          </a:xfrm>
          <a:prstGeom prst="rect">
            <a:avLst/>
          </a:prstGeom>
        </p:spPr>
        <p:txBody>
          <a:bodyPr wrap="square">
            <a:spAutoFit/>
          </a:bodyPr>
          <a:lstStyle/>
          <a:p>
            <a:pPr algn="just"/>
            <a:r>
              <a:rPr lang="pl-PL" sz="2800" dirty="0">
                <a:solidFill>
                  <a:srgbClr val="4BACC6">
                    <a:lumMod val="50000"/>
                  </a:srgbClr>
                </a:solidFill>
                <a:latin typeface="Calibri"/>
              </a:rPr>
              <a:t>From </a:t>
            </a:r>
            <a:r>
              <a:rPr lang="pl-PL" sz="2800" dirty="0" err="1">
                <a:solidFill>
                  <a:srgbClr val="4BACC6">
                    <a:lumMod val="50000"/>
                  </a:srgbClr>
                </a:solidFill>
                <a:latin typeface="Calibri"/>
              </a:rPr>
              <a:t>Moodle</a:t>
            </a:r>
            <a:r>
              <a:rPr lang="pl-PL" sz="2800" dirty="0">
                <a:solidFill>
                  <a:srgbClr val="4BACC6">
                    <a:lumMod val="50000"/>
                  </a:srgbClr>
                </a:solidFill>
                <a:latin typeface="Calibri"/>
              </a:rPr>
              <a:t> folder, </a:t>
            </a:r>
            <a:r>
              <a:rPr lang="pl-PL" sz="2800" dirty="0" err="1">
                <a:solidFill>
                  <a:srgbClr val="4BACC6">
                    <a:lumMod val="50000"/>
                  </a:srgbClr>
                </a:solidFill>
                <a:latin typeface="Calibri"/>
              </a:rPr>
              <a:t>dowload</a:t>
            </a:r>
            <a:r>
              <a:rPr lang="pl-PL" sz="2800" dirty="0">
                <a:solidFill>
                  <a:srgbClr val="4BACC6">
                    <a:lumMod val="50000"/>
                  </a:srgbClr>
                </a:solidFill>
                <a:latin typeface="Calibri"/>
              </a:rPr>
              <a:t> and </a:t>
            </a:r>
            <a:r>
              <a:rPr lang="pl-PL" sz="2800" dirty="0" err="1">
                <a:solidFill>
                  <a:srgbClr val="4BACC6">
                    <a:lumMod val="50000"/>
                  </a:srgbClr>
                </a:solidFill>
                <a:latin typeface="Calibri"/>
              </a:rPr>
              <a:t>unzip</a:t>
            </a:r>
            <a:r>
              <a:rPr lang="pl-PL" sz="2800" dirty="0">
                <a:solidFill>
                  <a:srgbClr val="4BACC6">
                    <a:lumMod val="50000"/>
                  </a:srgbClr>
                </a:solidFill>
                <a:latin typeface="Calibri"/>
              </a:rPr>
              <a:t> and run the R </a:t>
            </a:r>
            <a:r>
              <a:rPr lang="pl-PL" sz="2800" dirty="0" err="1">
                <a:solidFill>
                  <a:srgbClr val="4BACC6">
                    <a:lumMod val="50000"/>
                  </a:srgbClr>
                </a:solidFill>
                <a:latin typeface="Calibri"/>
              </a:rPr>
              <a:t>projects</a:t>
            </a:r>
            <a:endParaRPr lang="pl-PL" sz="2800" b="1" dirty="0">
              <a:solidFill>
                <a:srgbClr val="FF0000"/>
              </a:solidFill>
            </a:endParaRPr>
          </a:p>
        </p:txBody>
      </p:sp>
    </p:spTree>
    <p:extLst>
      <p:ext uri="{BB962C8B-B14F-4D97-AF65-F5344CB8AC3E}">
        <p14:creationId xmlns:p14="http://schemas.microsoft.com/office/powerpoint/2010/main" val="1120570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13129"/>
            <a:ext cx="12192000" cy="1052736"/>
          </a:xfrm>
          <a:solidFill>
            <a:schemeClr val="accent5">
              <a:lumMod val="20000"/>
              <a:lumOff val="80000"/>
            </a:schemeClr>
          </a:solidFill>
        </p:spPr>
        <p:txBody>
          <a:bodyPr>
            <a:normAutofit/>
          </a:bodyPr>
          <a:lstStyle/>
          <a:p>
            <a:r>
              <a:rPr lang="en-GB" b="1" dirty="0">
                <a:solidFill>
                  <a:schemeClr val="accent5">
                    <a:lumMod val="50000"/>
                  </a:schemeClr>
                </a:solidFill>
              </a:rPr>
              <a:t>How to find π </a:t>
            </a:r>
            <a:r>
              <a:rPr lang="pl-PL" b="1" dirty="0">
                <a:solidFill>
                  <a:schemeClr val="accent5">
                    <a:lumMod val="50000"/>
                  </a:schemeClr>
                </a:solidFill>
              </a:rPr>
              <a:t>-</a:t>
            </a:r>
            <a:r>
              <a:rPr lang="en-GB" b="1" dirty="0">
                <a:solidFill>
                  <a:schemeClr val="accent5">
                    <a:lumMod val="50000"/>
                  </a:schemeClr>
                </a:solidFill>
              </a:rPr>
              <a:t> play dart </a:t>
            </a:r>
            <a:endParaRPr lang="pl-PL" b="1" dirty="0">
              <a:solidFill>
                <a:schemeClr val="accent5">
                  <a:lumMod val="50000"/>
                </a:schemeClr>
              </a:solidFill>
            </a:endParaRPr>
          </a:p>
        </p:txBody>
      </p:sp>
      <p:sp>
        <p:nvSpPr>
          <p:cNvPr id="7" name="Prostokąt 6"/>
          <p:cNvSpPr/>
          <p:nvPr/>
        </p:nvSpPr>
        <p:spPr>
          <a:xfrm>
            <a:off x="352904" y="3825139"/>
            <a:ext cx="11694694" cy="2554545"/>
          </a:xfrm>
          <a:prstGeom prst="rect">
            <a:avLst/>
          </a:prstGeom>
        </p:spPr>
        <p:txBody>
          <a:bodyPr wrap="square">
            <a:spAutoFit/>
          </a:bodyPr>
          <a:lstStyle/>
          <a:p>
            <a:pPr algn="just"/>
            <a:r>
              <a:rPr lang="en-US" sz="3200" b="1" dirty="0">
                <a:solidFill>
                  <a:srgbClr val="4BACC6">
                    <a:lumMod val="50000"/>
                  </a:srgbClr>
                </a:solidFill>
              </a:rPr>
              <a:t>The Dartboard Experiment: Estimating π</a:t>
            </a:r>
          </a:p>
          <a:p>
            <a:pPr marL="457200" indent="-457200" algn="just">
              <a:buFont typeface="Arial" panose="020B0604020202020204" pitchFamily="34" charset="0"/>
              <a:buChar char="•"/>
            </a:pPr>
            <a:r>
              <a:rPr lang="en-US" sz="3200" dirty="0">
                <a:solidFill>
                  <a:srgbClr val="4BACC6">
                    <a:lumMod val="50000"/>
                  </a:srgbClr>
                </a:solidFill>
              </a:rPr>
              <a:t>Let's play dart (close your eyes)</a:t>
            </a:r>
            <a:r>
              <a:rPr lang="pl-PL" sz="3200" dirty="0">
                <a:solidFill>
                  <a:srgbClr val="4BACC6">
                    <a:lumMod val="50000"/>
                  </a:srgbClr>
                </a:solidFill>
              </a:rPr>
              <a:t> </a:t>
            </a:r>
            <a:r>
              <a:rPr lang="en-US" sz="3200" dirty="0">
                <a:solidFill>
                  <a:srgbClr val="4BACC6">
                    <a:lumMod val="50000"/>
                  </a:srgbClr>
                </a:solidFill>
              </a:rPr>
              <a:t>blindfolded throws at a dartboard.   </a:t>
            </a:r>
            <a:endParaRPr lang="pl-PL" sz="3200" dirty="0">
              <a:solidFill>
                <a:srgbClr val="4BACC6">
                  <a:lumMod val="50000"/>
                </a:srgbClr>
              </a:solidFill>
            </a:endParaRPr>
          </a:p>
          <a:p>
            <a:pPr marL="457200" indent="-457200" algn="just">
              <a:buFont typeface="Arial" panose="020B0604020202020204" pitchFamily="34" charset="0"/>
              <a:buChar char="•"/>
            </a:pPr>
            <a:r>
              <a:rPr lang="en-US" sz="3200" dirty="0">
                <a:solidFill>
                  <a:srgbClr val="4BACC6">
                    <a:lumMod val="50000"/>
                  </a:srgbClr>
                </a:solidFill>
              </a:rPr>
              <a:t>Count the hits within the square boundary and the hits within the quarter-circle.</a:t>
            </a:r>
            <a:endParaRPr lang="pl-PL" sz="3200" dirty="0">
              <a:solidFill>
                <a:srgbClr val="4BACC6">
                  <a:lumMod val="50000"/>
                </a:srgbClr>
              </a:solidFill>
            </a:endParaRPr>
          </a:p>
          <a:p>
            <a:pPr marL="457200" indent="-457200" algn="just">
              <a:buFont typeface="Arial" panose="020B0604020202020204" pitchFamily="34" charset="0"/>
              <a:buChar char="•"/>
            </a:pPr>
            <a:r>
              <a:rPr lang="en-US" sz="3200" dirty="0">
                <a:solidFill>
                  <a:srgbClr val="4BACC6">
                    <a:lumMod val="50000"/>
                  </a:srgbClr>
                </a:solidFill>
              </a:rPr>
              <a:t>Estimate π by calculating the ratio of the two counts</a:t>
            </a:r>
            <a:endParaRPr lang="pl-PL" sz="3200" dirty="0">
              <a:solidFill>
                <a:srgbClr val="4BACC6">
                  <a:lumMod val="50000"/>
                </a:srgbClr>
              </a:solidFill>
            </a:endParaRPr>
          </a:p>
        </p:txBody>
      </p:sp>
      <p:grpSp>
        <p:nvGrpSpPr>
          <p:cNvPr id="5" name="Grupa 4"/>
          <p:cNvGrpSpPr/>
          <p:nvPr/>
        </p:nvGrpSpPr>
        <p:grpSpPr>
          <a:xfrm>
            <a:off x="292129" y="911311"/>
            <a:ext cx="5471988" cy="3466700"/>
            <a:chOff x="2945331" y="1265721"/>
            <a:chExt cx="5471988" cy="3466700"/>
          </a:xfrm>
        </p:grpSpPr>
        <p:pic>
          <p:nvPicPr>
            <p:cNvPr id="64516" name="Picture 4"/>
            <p:cNvPicPr>
              <a:picLocks noChangeAspect="1" noChangeArrowheads="1"/>
            </p:cNvPicPr>
            <p:nvPr/>
          </p:nvPicPr>
          <p:blipFill>
            <a:blip r:embed="rId2" cstate="print"/>
            <a:srcRect/>
            <a:stretch>
              <a:fillRect/>
            </a:stretch>
          </p:blipFill>
          <p:spPr bwMode="auto">
            <a:xfrm rot="7453156">
              <a:off x="7282591" y="1463343"/>
              <a:ext cx="1332350" cy="937106"/>
            </a:xfrm>
            <a:prstGeom prst="rect">
              <a:avLst/>
            </a:prstGeom>
            <a:noFill/>
            <a:ln w="9525">
              <a:noFill/>
              <a:miter lim="800000"/>
              <a:headEnd/>
              <a:tailEnd/>
            </a:ln>
          </p:spPr>
        </p:pic>
        <p:grpSp>
          <p:nvGrpSpPr>
            <p:cNvPr id="13" name="Grupa 12"/>
            <p:cNvGrpSpPr/>
            <p:nvPr/>
          </p:nvGrpSpPr>
          <p:grpSpPr>
            <a:xfrm>
              <a:off x="2945331" y="1871347"/>
              <a:ext cx="1535116" cy="1513731"/>
              <a:chOff x="899592" y="1988840"/>
              <a:chExt cx="1440160" cy="1440160"/>
            </a:xfrm>
          </p:grpSpPr>
          <p:sp>
            <p:nvSpPr>
              <p:cNvPr id="8" name="Prostokąt 7"/>
              <p:cNvSpPr/>
              <p:nvPr/>
            </p:nvSpPr>
            <p:spPr>
              <a:xfrm>
                <a:off x="899592" y="1988840"/>
                <a:ext cx="1440160" cy="14401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9" name="Elipsa 8"/>
              <p:cNvSpPr/>
              <p:nvPr/>
            </p:nvSpPr>
            <p:spPr>
              <a:xfrm>
                <a:off x="899592" y="1988840"/>
                <a:ext cx="1440160" cy="1440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a:solidFill>
                    <a:prstClr val="white"/>
                  </a:solidFill>
                  <a:latin typeface="Calibri"/>
                </a:endParaRPr>
              </a:p>
            </p:txBody>
          </p:sp>
          <p:sp>
            <p:nvSpPr>
              <p:cNvPr id="10" name="Prostokąt 9"/>
              <p:cNvSpPr/>
              <p:nvPr/>
            </p:nvSpPr>
            <p:spPr>
              <a:xfrm>
                <a:off x="1619672" y="1988840"/>
                <a:ext cx="720080"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grpSp>
        <p:grpSp>
          <p:nvGrpSpPr>
            <p:cNvPr id="28" name="Grupa 27"/>
            <p:cNvGrpSpPr/>
            <p:nvPr/>
          </p:nvGrpSpPr>
          <p:grpSpPr>
            <a:xfrm>
              <a:off x="4253022" y="1931896"/>
              <a:ext cx="3354513" cy="2800525"/>
              <a:chOff x="1907704" y="1556792"/>
              <a:chExt cx="4248472" cy="3168352"/>
            </a:xfrm>
            <a:solidFill>
              <a:schemeClr val="tx1">
                <a:lumMod val="50000"/>
                <a:lumOff val="50000"/>
              </a:schemeClr>
            </a:solidFill>
          </p:grpSpPr>
          <p:cxnSp>
            <p:nvCxnSpPr>
              <p:cNvPr id="27" name="Łącznik prosty 26"/>
              <p:cNvCxnSpPr>
                <a:endCxn id="11" idx="0"/>
              </p:cNvCxnSpPr>
              <p:nvPr/>
            </p:nvCxnSpPr>
            <p:spPr>
              <a:xfrm>
                <a:off x="6156176" y="1556792"/>
                <a:ext cx="0" cy="1584176"/>
              </a:xfrm>
              <a:prstGeom prst="line">
                <a:avLst/>
              </a:prstGeom>
              <a:grpFill/>
              <a:ln>
                <a:solidFill>
                  <a:schemeClr val="accent1">
                    <a:shade val="50000"/>
                  </a:schemeClr>
                </a:solidFill>
              </a:ln>
            </p:spPr>
            <p:style>
              <a:lnRef idx="2">
                <a:schemeClr val="accent1"/>
              </a:lnRef>
              <a:fillRef idx="0">
                <a:schemeClr val="accent1"/>
              </a:fillRef>
              <a:effectRef idx="1">
                <a:schemeClr val="accent1"/>
              </a:effectRef>
              <a:fontRef idx="minor">
                <a:schemeClr val="tx1"/>
              </a:fontRef>
            </p:style>
          </p:cxnSp>
          <p:sp>
            <p:nvSpPr>
              <p:cNvPr id="11" name="Wycinek koła 10"/>
              <p:cNvSpPr/>
              <p:nvPr/>
            </p:nvSpPr>
            <p:spPr>
              <a:xfrm>
                <a:off x="1907704" y="1556792"/>
                <a:ext cx="4248472" cy="3168352"/>
              </a:xfrm>
              <a:prstGeom prst="pie">
                <a:avLst>
                  <a:gd name="adj1" fmla="val 16197935"/>
                  <a:gd name="adj2" fmla="val 5771"/>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a:solidFill>
                    <a:prstClr val="black"/>
                  </a:solidFill>
                  <a:latin typeface="Calibri"/>
                </a:endParaRPr>
              </a:p>
            </p:txBody>
          </p:sp>
          <p:cxnSp>
            <p:nvCxnSpPr>
              <p:cNvPr id="25" name="Łącznik prosty 24"/>
              <p:cNvCxnSpPr>
                <a:stCxn id="11" idx="3"/>
              </p:cNvCxnSpPr>
              <p:nvPr/>
            </p:nvCxnSpPr>
            <p:spPr>
              <a:xfrm>
                <a:off x="4031940" y="1556792"/>
                <a:ext cx="2124236" cy="0"/>
              </a:xfrm>
              <a:prstGeom prst="line">
                <a:avLst/>
              </a:prstGeom>
              <a:grpFill/>
              <a:ln>
                <a:solidFill>
                  <a:schemeClr val="accent1">
                    <a:shade val="50000"/>
                  </a:schemeClr>
                </a:solidFill>
              </a:ln>
            </p:spPr>
            <p:style>
              <a:lnRef idx="3">
                <a:schemeClr val="accent1"/>
              </a:lnRef>
              <a:fillRef idx="0">
                <a:schemeClr val="accent1"/>
              </a:fillRef>
              <a:effectRef idx="2">
                <a:schemeClr val="accent1"/>
              </a:effectRef>
              <a:fontRef idx="minor">
                <a:schemeClr val="tx1"/>
              </a:fontRef>
            </p:style>
          </p:cxnSp>
        </p:grpSp>
        <p:sp>
          <p:nvSpPr>
            <p:cNvPr id="29" name="Elipsa 28"/>
            <p:cNvSpPr/>
            <p:nvPr/>
          </p:nvSpPr>
          <p:spPr>
            <a:xfrm>
              <a:off x="6584124" y="2476839"/>
              <a:ext cx="113712" cy="12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30" name="Elipsa 29"/>
            <p:cNvSpPr/>
            <p:nvPr/>
          </p:nvSpPr>
          <p:spPr>
            <a:xfrm>
              <a:off x="6868405" y="2537389"/>
              <a:ext cx="113712" cy="12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31" name="Elipsa 30"/>
            <p:cNvSpPr/>
            <p:nvPr/>
          </p:nvSpPr>
          <p:spPr>
            <a:xfrm>
              <a:off x="7266398" y="2113544"/>
              <a:ext cx="113712" cy="12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cxnSp>
          <p:nvCxnSpPr>
            <p:cNvPr id="33" name="Łącznik prosty ze strzałką 32"/>
            <p:cNvCxnSpPr/>
            <p:nvPr/>
          </p:nvCxnSpPr>
          <p:spPr>
            <a:xfrm>
              <a:off x="5901851" y="3506177"/>
              <a:ext cx="1705684"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36" name="pole tekstowe 35"/>
            <p:cNvSpPr txBox="1"/>
            <p:nvPr/>
          </p:nvSpPr>
          <p:spPr>
            <a:xfrm>
              <a:off x="6584124" y="3566726"/>
              <a:ext cx="625418" cy="310560"/>
            </a:xfrm>
            <a:prstGeom prst="rect">
              <a:avLst/>
            </a:prstGeom>
            <a:noFill/>
          </p:spPr>
          <p:txBody>
            <a:bodyPr wrap="square" rtlCol="0">
              <a:spAutoFit/>
            </a:bodyPr>
            <a:lstStyle/>
            <a:p>
              <a:r>
                <a:rPr lang="pl-PL" dirty="0" err="1">
                  <a:solidFill>
                    <a:prstClr val="black"/>
                  </a:solidFill>
                  <a:latin typeface="Calibri"/>
                </a:rPr>
                <a:t>r</a:t>
              </a:r>
              <a:r>
                <a:rPr lang="pl-PL" dirty="0">
                  <a:solidFill>
                    <a:prstClr val="black"/>
                  </a:solidFill>
                  <a:latin typeface="Calibri"/>
                </a:rPr>
                <a:t> = 1 </a:t>
              </a:r>
            </a:p>
          </p:txBody>
        </p:sp>
      </p:grpSp>
      <p:sp>
        <p:nvSpPr>
          <p:cNvPr id="3" name="Prostokąt 2"/>
          <p:cNvSpPr/>
          <p:nvPr/>
        </p:nvSpPr>
        <p:spPr>
          <a:xfrm>
            <a:off x="5240577" y="1561409"/>
            <a:ext cx="6851789" cy="2246769"/>
          </a:xfrm>
          <a:prstGeom prst="rect">
            <a:avLst/>
          </a:prstGeom>
        </p:spPr>
        <p:txBody>
          <a:bodyPr wrap="square">
            <a:spAutoFit/>
          </a:bodyPr>
          <a:lstStyle/>
          <a:p>
            <a:r>
              <a:rPr lang="en-US" sz="2800" b="1" dirty="0">
                <a:solidFill>
                  <a:srgbClr val="4BACC6">
                    <a:lumMod val="50000"/>
                  </a:srgbClr>
                </a:solidFill>
              </a:rPr>
              <a:t>Understanding π: Beyond Constants</a:t>
            </a:r>
          </a:p>
          <a:p>
            <a:pPr marL="457200" indent="-457200">
              <a:buFont typeface="Arial" panose="020B0604020202020204" pitchFamily="34" charset="0"/>
              <a:buChar char="•"/>
            </a:pPr>
            <a:r>
              <a:rPr lang="en-US" sz="2800" dirty="0">
                <a:solidFill>
                  <a:srgbClr val="4BACC6">
                    <a:lumMod val="50000"/>
                  </a:srgbClr>
                </a:solidFill>
              </a:rPr>
              <a:t>π</a:t>
            </a:r>
            <a:r>
              <a:rPr lang="pl-PL" sz="2800" dirty="0">
                <a:solidFill>
                  <a:srgbClr val="4BACC6">
                    <a:lumMod val="50000"/>
                  </a:srgbClr>
                </a:solidFill>
              </a:rPr>
              <a:t> </a:t>
            </a:r>
            <a:r>
              <a:rPr lang="en-US" sz="2800" dirty="0">
                <a:solidFill>
                  <a:srgbClr val="4BACC6">
                    <a:lumMod val="50000"/>
                  </a:srgbClr>
                </a:solidFill>
              </a:rPr>
              <a:t>is the ratio of the circumference of a circle to its diameter</a:t>
            </a:r>
            <a:r>
              <a:rPr lang="pl-PL" sz="2800" dirty="0">
                <a:solidFill>
                  <a:srgbClr val="4BACC6">
                    <a:lumMod val="50000"/>
                  </a:srgbClr>
                </a:solidFill>
              </a:rPr>
              <a:t>. </a:t>
            </a:r>
          </a:p>
          <a:p>
            <a:pPr marL="457200" indent="-457200">
              <a:buFont typeface="Arial" panose="020B0604020202020204" pitchFamily="34" charset="0"/>
              <a:buChar char="•"/>
            </a:pPr>
            <a:r>
              <a:rPr lang="en-US" sz="2800" dirty="0">
                <a:solidFill>
                  <a:srgbClr val="4BACC6">
                    <a:lumMod val="50000"/>
                  </a:srgbClr>
                </a:solidFill>
              </a:rPr>
              <a:t>What if π is unknown to us?</a:t>
            </a:r>
          </a:p>
          <a:p>
            <a:pPr marL="457200" indent="-457200">
              <a:buFont typeface="Arial" panose="020B0604020202020204" pitchFamily="34" charset="0"/>
              <a:buChar char="•"/>
            </a:pPr>
            <a:r>
              <a:rPr lang="en-US" sz="2800" dirty="0">
                <a:solidFill>
                  <a:srgbClr val="4BACC6">
                    <a:lumMod val="50000"/>
                  </a:srgbClr>
                </a:solidFill>
              </a:rPr>
              <a:t>Is there an analytical method to derive π?</a:t>
            </a:r>
            <a:endParaRPr lang="pl-PL" sz="2800" dirty="0">
              <a:solidFill>
                <a:srgbClr val="4BACC6">
                  <a:lumMod val="50000"/>
                </a:srgbClr>
              </a:solidFill>
            </a:endParaRPr>
          </a:p>
        </p:txBody>
      </p:sp>
    </p:spTree>
    <p:extLst>
      <p:ext uri="{BB962C8B-B14F-4D97-AF65-F5344CB8AC3E}">
        <p14:creationId xmlns:p14="http://schemas.microsoft.com/office/powerpoint/2010/main" val="894219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313172"/>
          </a:xfrm>
          <a:solidFill>
            <a:schemeClr val="accent5">
              <a:lumMod val="20000"/>
              <a:lumOff val="80000"/>
            </a:schemeClr>
          </a:solidFill>
        </p:spPr>
        <p:txBody>
          <a:bodyPr>
            <a:normAutofit fontScale="90000"/>
          </a:bodyPr>
          <a:lstStyle/>
          <a:p>
            <a:pPr algn="l"/>
            <a:r>
              <a:rPr lang="en-GB" b="1" dirty="0">
                <a:solidFill>
                  <a:schemeClr val="accent5">
                    <a:lumMod val="50000"/>
                  </a:schemeClr>
                </a:solidFill>
              </a:rPr>
              <a:t>How to find π </a:t>
            </a:r>
            <a:br>
              <a:rPr lang="en-GB" b="1" dirty="0">
                <a:solidFill>
                  <a:schemeClr val="accent5">
                    <a:lumMod val="50000"/>
                  </a:schemeClr>
                </a:solidFill>
              </a:rPr>
            </a:br>
            <a:r>
              <a:rPr lang="en-GB" b="1" dirty="0">
                <a:solidFill>
                  <a:schemeClr val="accent5">
                    <a:lumMod val="50000"/>
                  </a:schemeClr>
                </a:solidFill>
              </a:rPr>
              <a:t>Solution</a:t>
            </a:r>
            <a:r>
              <a:rPr lang="pl-PL" b="1" dirty="0">
                <a:solidFill>
                  <a:schemeClr val="accent5">
                    <a:lumMod val="50000"/>
                  </a:schemeClr>
                </a:solidFill>
              </a:rPr>
              <a:t>: </a:t>
            </a:r>
            <a:r>
              <a:rPr lang="en-GB" b="1" dirty="0">
                <a:solidFill>
                  <a:schemeClr val="accent5">
                    <a:lumMod val="50000"/>
                  </a:schemeClr>
                </a:solidFill>
              </a:rPr>
              <a:t>play dart</a:t>
            </a:r>
            <a:r>
              <a:rPr lang="pl-PL" b="1" dirty="0">
                <a:solidFill>
                  <a:schemeClr val="accent5">
                    <a:lumMod val="50000"/>
                  </a:schemeClr>
                </a:solidFill>
              </a:rPr>
              <a:t> in R [ </a:t>
            </a:r>
            <a:r>
              <a:rPr lang="pl-PL" b="1" dirty="0" err="1">
                <a:solidFill>
                  <a:srgbClr val="C00000"/>
                </a:solidFill>
              </a:rPr>
              <a:t>script</a:t>
            </a:r>
            <a:r>
              <a:rPr lang="pl-PL" b="1" dirty="0">
                <a:solidFill>
                  <a:srgbClr val="C00000"/>
                </a:solidFill>
              </a:rPr>
              <a:t>: </a:t>
            </a:r>
            <a:r>
              <a:rPr lang="pl-PL" b="1" dirty="0" err="1">
                <a:solidFill>
                  <a:srgbClr val="C00000"/>
                </a:solidFill>
              </a:rPr>
              <a:t>pi_MC.R</a:t>
            </a:r>
            <a:r>
              <a:rPr lang="pl-PL" b="1" dirty="0">
                <a:solidFill>
                  <a:schemeClr val="accent5">
                    <a:lumMod val="50000"/>
                  </a:schemeClr>
                </a:solidFill>
              </a:rPr>
              <a:t>]</a:t>
            </a:r>
            <a:r>
              <a:rPr lang="en-GB" b="1" dirty="0">
                <a:solidFill>
                  <a:schemeClr val="accent5">
                    <a:lumMod val="50000"/>
                  </a:schemeClr>
                </a:solidFill>
              </a:rPr>
              <a:t> </a:t>
            </a:r>
            <a:endParaRPr lang="pl-PL" b="1" dirty="0">
              <a:solidFill>
                <a:schemeClr val="accent5">
                  <a:lumMod val="50000"/>
                </a:schemeClr>
              </a:solidFill>
            </a:endParaRPr>
          </a:p>
        </p:txBody>
      </p:sp>
      <p:sp>
        <p:nvSpPr>
          <p:cNvPr id="46" name="Prostokąt 45"/>
          <p:cNvSpPr/>
          <p:nvPr/>
        </p:nvSpPr>
        <p:spPr>
          <a:xfrm>
            <a:off x="356133" y="3046977"/>
            <a:ext cx="4610149" cy="3539430"/>
          </a:xfrm>
          <a:prstGeom prst="rect">
            <a:avLst/>
          </a:prstGeom>
        </p:spPr>
        <p:txBody>
          <a:bodyPr wrap="square">
            <a:spAutoFit/>
          </a:bodyPr>
          <a:lstStyle/>
          <a:p>
            <a:pPr algn="just"/>
            <a:r>
              <a:rPr lang="en-GB" sz="3200" dirty="0">
                <a:solidFill>
                  <a:srgbClr val="4BACC6">
                    <a:lumMod val="50000"/>
                  </a:srgbClr>
                </a:solidFill>
                <a:latin typeface="Calibri"/>
              </a:rPr>
              <a:t>(¼ circle area) / (square area) = (¼ π r</a:t>
            </a:r>
            <a:r>
              <a:rPr lang="en-GB" sz="3200" baseline="30000" dirty="0">
                <a:solidFill>
                  <a:srgbClr val="4BACC6">
                    <a:lumMod val="50000"/>
                  </a:srgbClr>
                </a:solidFill>
                <a:latin typeface="Calibri"/>
              </a:rPr>
              <a:t>2</a:t>
            </a:r>
            <a:r>
              <a:rPr lang="en-GB" sz="3200" dirty="0">
                <a:solidFill>
                  <a:srgbClr val="4BACC6">
                    <a:lumMod val="50000"/>
                  </a:srgbClr>
                </a:solidFill>
                <a:latin typeface="Calibri"/>
              </a:rPr>
              <a:t>) / r</a:t>
            </a:r>
            <a:r>
              <a:rPr lang="en-GB" sz="3200" baseline="30000" dirty="0">
                <a:solidFill>
                  <a:srgbClr val="4BACC6">
                    <a:lumMod val="50000"/>
                  </a:srgbClr>
                </a:solidFill>
                <a:latin typeface="Calibri"/>
              </a:rPr>
              <a:t>2</a:t>
            </a:r>
            <a:r>
              <a:rPr lang="en-GB" sz="3200" dirty="0">
                <a:solidFill>
                  <a:srgbClr val="4BACC6">
                    <a:lumMod val="50000"/>
                  </a:srgbClr>
                </a:solidFill>
                <a:latin typeface="Calibri"/>
              </a:rPr>
              <a:t>  </a:t>
            </a:r>
          </a:p>
          <a:p>
            <a:pPr algn="just"/>
            <a:endParaRPr lang="pl-PL" sz="3200" dirty="0">
              <a:solidFill>
                <a:srgbClr val="4BACC6">
                  <a:lumMod val="50000"/>
                </a:srgbClr>
              </a:solidFill>
              <a:latin typeface="Calibri"/>
            </a:endParaRPr>
          </a:p>
          <a:p>
            <a:pPr algn="just"/>
            <a:r>
              <a:rPr lang="en-GB" sz="3200" dirty="0">
                <a:solidFill>
                  <a:srgbClr val="4BACC6">
                    <a:lumMod val="50000"/>
                  </a:srgbClr>
                </a:solidFill>
                <a:latin typeface="Calibri"/>
              </a:rPr>
              <a:t>π = 4</a:t>
            </a:r>
            <a:r>
              <a:rPr lang="pl-PL" sz="3200" dirty="0">
                <a:solidFill>
                  <a:srgbClr val="4BACC6">
                    <a:lumMod val="50000"/>
                  </a:srgbClr>
                </a:solidFill>
                <a:latin typeface="Calibri"/>
              </a:rPr>
              <a:t>*</a:t>
            </a:r>
            <a:r>
              <a:rPr lang="en-GB" sz="3200" dirty="0">
                <a:solidFill>
                  <a:srgbClr val="4BACC6">
                    <a:lumMod val="50000"/>
                  </a:srgbClr>
                </a:solidFill>
                <a:latin typeface="Calibri"/>
              </a:rPr>
              <a:t>(numbers of hits of the quarter of dartboard) / (numbers of hits on the square)</a:t>
            </a:r>
            <a:r>
              <a:rPr lang="pl-PL" sz="3200" dirty="0">
                <a:solidFill>
                  <a:srgbClr val="4BACC6">
                    <a:lumMod val="50000"/>
                  </a:srgbClr>
                </a:solidFill>
                <a:latin typeface="Calibri"/>
                <a:sym typeface="Wingdings" pitchFamily="2" charset="2"/>
              </a:rPr>
              <a:t> </a:t>
            </a:r>
            <a:r>
              <a:rPr lang="pl-PL" sz="3200" dirty="0">
                <a:solidFill>
                  <a:srgbClr val="4BACC6">
                    <a:lumMod val="50000"/>
                  </a:srgbClr>
                </a:solidFill>
                <a:latin typeface="Calibri"/>
              </a:rPr>
              <a:t>  </a:t>
            </a:r>
            <a:endParaRPr lang="en-US" sz="3200" dirty="0">
              <a:solidFill>
                <a:srgbClr val="4BACC6">
                  <a:lumMod val="50000"/>
                </a:srgbClr>
              </a:solidFill>
              <a:latin typeface="Calibri"/>
            </a:endParaRPr>
          </a:p>
        </p:txBody>
      </p:sp>
      <p:grpSp>
        <p:nvGrpSpPr>
          <p:cNvPr id="41" name="Grupa 40"/>
          <p:cNvGrpSpPr/>
          <p:nvPr/>
        </p:nvGrpSpPr>
        <p:grpSpPr>
          <a:xfrm>
            <a:off x="1025620" y="1313172"/>
            <a:ext cx="3136776" cy="1857676"/>
            <a:chOff x="1187624" y="476513"/>
            <a:chExt cx="6930243" cy="3960599"/>
          </a:xfrm>
        </p:grpSpPr>
        <p:pic>
          <p:nvPicPr>
            <p:cNvPr id="42" name="Picture 4"/>
            <p:cNvPicPr>
              <a:picLocks noChangeAspect="1" noChangeArrowheads="1"/>
            </p:cNvPicPr>
            <p:nvPr/>
          </p:nvPicPr>
          <p:blipFill>
            <a:blip r:embed="rId2" cstate="print"/>
            <a:srcRect/>
            <a:stretch>
              <a:fillRect/>
            </a:stretch>
          </p:blipFill>
          <p:spPr bwMode="auto">
            <a:xfrm rot="7453156">
              <a:off x="6732200" y="675340"/>
              <a:ext cx="1584493" cy="1186840"/>
            </a:xfrm>
            <a:prstGeom prst="rect">
              <a:avLst/>
            </a:prstGeom>
            <a:noFill/>
            <a:ln w="9525">
              <a:noFill/>
              <a:miter lim="800000"/>
              <a:headEnd/>
              <a:tailEnd/>
            </a:ln>
          </p:spPr>
        </p:pic>
        <p:grpSp>
          <p:nvGrpSpPr>
            <p:cNvPr id="43" name="Grupa 42"/>
            <p:cNvGrpSpPr/>
            <p:nvPr/>
          </p:nvGrpSpPr>
          <p:grpSpPr>
            <a:xfrm>
              <a:off x="1187624" y="1196752"/>
              <a:ext cx="5904656" cy="3240360"/>
              <a:chOff x="323528" y="1700808"/>
              <a:chExt cx="5904656" cy="3240360"/>
            </a:xfrm>
          </p:grpSpPr>
          <p:grpSp>
            <p:nvGrpSpPr>
              <p:cNvPr id="44" name="Grupa 43"/>
              <p:cNvGrpSpPr/>
              <p:nvPr/>
            </p:nvGrpSpPr>
            <p:grpSpPr>
              <a:xfrm>
                <a:off x="323528" y="1700808"/>
                <a:ext cx="1944216" cy="1800200"/>
                <a:chOff x="899592" y="1988840"/>
                <a:chExt cx="1440160" cy="1440160"/>
              </a:xfrm>
            </p:grpSpPr>
            <p:sp>
              <p:nvSpPr>
                <p:cNvPr id="55" name="Prostokąt 54"/>
                <p:cNvSpPr/>
                <p:nvPr/>
              </p:nvSpPr>
              <p:spPr>
                <a:xfrm>
                  <a:off x="899592" y="1988840"/>
                  <a:ext cx="1440160" cy="14401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56" name="Elipsa 55"/>
                <p:cNvSpPr/>
                <p:nvPr/>
              </p:nvSpPr>
              <p:spPr>
                <a:xfrm>
                  <a:off x="899592" y="1988840"/>
                  <a:ext cx="1440160" cy="1440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a:solidFill>
                      <a:prstClr val="white"/>
                    </a:solidFill>
                    <a:latin typeface="Calibri"/>
                  </a:endParaRPr>
                </a:p>
              </p:txBody>
            </p:sp>
            <p:sp>
              <p:nvSpPr>
                <p:cNvPr id="57" name="Prostokąt 56"/>
                <p:cNvSpPr/>
                <p:nvPr/>
              </p:nvSpPr>
              <p:spPr>
                <a:xfrm>
                  <a:off x="1619672" y="1988840"/>
                  <a:ext cx="720080"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grpSp>
          <p:grpSp>
            <p:nvGrpSpPr>
              <p:cNvPr id="45" name="Grupa 44"/>
              <p:cNvGrpSpPr/>
              <p:nvPr/>
            </p:nvGrpSpPr>
            <p:grpSpPr>
              <a:xfrm>
                <a:off x="1979712" y="1772816"/>
                <a:ext cx="4248472" cy="3168352"/>
                <a:chOff x="1907704" y="1556792"/>
                <a:chExt cx="4248472" cy="3168352"/>
              </a:xfrm>
              <a:solidFill>
                <a:schemeClr val="tx1">
                  <a:lumMod val="50000"/>
                  <a:lumOff val="50000"/>
                </a:schemeClr>
              </a:solidFill>
            </p:grpSpPr>
            <p:cxnSp>
              <p:nvCxnSpPr>
                <p:cNvPr id="52" name="Łącznik prosty 26"/>
                <p:cNvCxnSpPr>
                  <a:endCxn id="53" idx="0"/>
                </p:cNvCxnSpPr>
                <p:nvPr/>
              </p:nvCxnSpPr>
              <p:spPr>
                <a:xfrm>
                  <a:off x="6156176" y="1556792"/>
                  <a:ext cx="0" cy="1584176"/>
                </a:xfrm>
                <a:prstGeom prst="line">
                  <a:avLst/>
                </a:prstGeom>
                <a:grpFill/>
                <a:ln>
                  <a:solidFill>
                    <a:schemeClr val="accent1">
                      <a:shade val="50000"/>
                    </a:schemeClr>
                  </a:solidFill>
                </a:ln>
              </p:spPr>
              <p:style>
                <a:lnRef idx="2">
                  <a:schemeClr val="accent1"/>
                </a:lnRef>
                <a:fillRef idx="0">
                  <a:schemeClr val="accent1"/>
                </a:fillRef>
                <a:effectRef idx="1">
                  <a:schemeClr val="accent1"/>
                </a:effectRef>
                <a:fontRef idx="minor">
                  <a:schemeClr val="tx1"/>
                </a:fontRef>
              </p:style>
            </p:cxnSp>
            <p:sp>
              <p:nvSpPr>
                <p:cNvPr id="53" name="Wycinek koła 52"/>
                <p:cNvSpPr/>
                <p:nvPr/>
              </p:nvSpPr>
              <p:spPr>
                <a:xfrm>
                  <a:off x="1907704" y="1556792"/>
                  <a:ext cx="4248472" cy="3168352"/>
                </a:xfrm>
                <a:prstGeom prst="pie">
                  <a:avLst>
                    <a:gd name="adj1" fmla="val 16197935"/>
                    <a:gd name="adj2" fmla="val 5771"/>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a:solidFill>
                      <a:prstClr val="black"/>
                    </a:solidFill>
                    <a:latin typeface="Calibri"/>
                  </a:endParaRPr>
                </a:p>
              </p:txBody>
            </p:sp>
            <p:cxnSp>
              <p:nvCxnSpPr>
                <p:cNvPr id="54" name="Łącznik prosty 24"/>
                <p:cNvCxnSpPr>
                  <a:stCxn id="53" idx="3"/>
                </p:cNvCxnSpPr>
                <p:nvPr/>
              </p:nvCxnSpPr>
              <p:spPr>
                <a:xfrm>
                  <a:off x="4031940" y="1556792"/>
                  <a:ext cx="2124236" cy="0"/>
                </a:xfrm>
                <a:prstGeom prst="line">
                  <a:avLst/>
                </a:prstGeom>
                <a:grpFill/>
                <a:ln>
                  <a:solidFill>
                    <a:schemeClr val="accent1">
                      <a:shade val="50000"/>
                    </a:schemeClr>
                  </a:solidFill>
                </a:ln>
              </p:spPr>
              <p:style>
                <a:lnRef idx="3">
                  <a:schemeClr val="accent1"/>
                </a:lnRef>
                <a:fillRef idx="0">
                  <a:schemeClr val="accent1"/>
                </a:fillRef>
                <a:effectRef idx="2">
                  <a:schemeClr val="accent1"/>
                </a:effectRef>
                <a:fontRef idx="minor">
                  <a:schemeClr val="tx1"/>
                </a:fontRef>
              </p:style>
            </p:cxnSp>
          </p:grpSp>
          <p:sp>
            <p:nvSpPr>
              <p:cNvPr id="47" name="Elipsa 46"/>
              <p:cNvSpPr/>
              <p:nvPr/>
            </p:nvSpPr>
            <p:spPr>
              <a:xfrm>
                <a:off x="4932040" y="2420888"/>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48" name="Elipsa 47"/>
              <p:cNvSpPr/>
              <p:nvPr/>
            </p:nvSpPr>
            <p:spPr>
              <a:xfrm>
                <a:off x="5292080" y="2492896"/>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49" name="Elipsa 48"/>
              <p:cNvSpPr/>
              <p:nvPr/>
            </p:nvSpPr>
            <p:spPr>
              <a:xfrm>
                <a:off x="5796136" y="1988840"/>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cxnSp>
            <p:nvCxnSpPr>
              <p:cNvPr id="50" name="Łącznik prosty ze strzałką 49"/>
              <p:cNvCxnSpPr/>
              <p:nvPr/>
            </p:nvCxnSpPr>
            <p:spPr>
              <a:xfrm>
                <a:off x="4067944" y="3645024"/>
                <a:ext cx="2160240"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1" name="pole tekstowe 50"/>
              <p:cNvSpPr txBox="1"/>
              <p:nvPr/>
            </p:nvSpPr>
            <p:spPr>
              <a:xfrm>
                <a:off x="4425469" y="3784926"/>
                <a:ext cx="1514684" cy="787422"/>
              </a:xfrm>
              <a:prstGeom prst="rect">
                <a:avLst/>
              </a:prstGeom>
              <a:noFill/>
            </p:spPr>
            <p:txBody>
              <a:bodyPr wrap="square" rtlCol="0">
                <a:spAutoFit/>
              </a:bodyPr>
              <a:lstStyle/>
              <a:p>
                <a:r>
                  <a:rPr lang="pl-PL" dirty="0" err="1">
                    <a:solidFill>
                      <a:prstClr val="black"/>
                    </a:solidFill>
                    <a:latin typeface="Calibri"/>
                  </a:rPr>
                  <a:t>r</a:t>
                </a:r>
                <a:r>
                  <a:rPr lang="pl-PL" dirty="0">
                    <a:solidFill>
                      <a:prstClr val="black"/>
                    </a:solidFill>
                    <a:latin typeface="Calibri"/>
                  </a:rPr>
                  <a:t> = 1 </a:t>
                </a:r>
              </a:p>
            </p:txBody>
          </p:sp>
        </p:grpSp>
      </p:grpSp>
      <p:sp>
        <p:nvSpPr>
          <p:cNvPr id="20" name="Prostokąt 19"/>
          <p:cNvSpPr/>
          <p:nvPr/>
        </p:nvSpPr>
        <p:spPr>
          <a:xfrm>
            <a:off x="5039998" y="1573989"/>
            <a:ext cx="7033408" cy="50167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2000" b="1" dirty="0">
                <a:solidFill>
                  <a:srgbClr val="4BACC6">
                    <a:lumMod val="50000"/>
                  </a:srgbClr>
                </a:solidFill>
                <a:latin typeface="Calibri"/>
              </a:rPr>
              <a:t># generating artificial throws to the dartboard</a:t>
            </a:r>
          </a:p>
          <a:p>
            <a:r>
              <a:rPr lang="en-GB" sz="2000" b="1" dirty="0">
                <a:solidFill>
                  <a:srgbClr val="4BACC6">
                    <a:lumMod val="50000"/>
                  </a:srgbClr>
                </a:solidFill>
                <a:latin typeface="Calibri"/>
              </a:rPr>
              <a:t>  </a:t>
            </a:r>
          </a:p>
          <a:p>
            <a:r>
              <a:rPr lang="en-GB" sz="2000" b="1" dirty="0">
                <a:solidFill>
                  <a:srgbClr val="4BACC6">
                    <a:lumMod val="50000"/>
                  </a:srgbClr>
                </a:solidFill>
                <a:latin typeface="Calibri"/>
              </a:rPr>
              <a:t>N &lt;- 10000 # Number of throws </a:t>
            </a:r>
          </a:p>
          <a:p>
            <a:r>
              <a:rPr lang="en-GB" sz="2000" b="1" dirty="0">
                <a:solidFill>
                  <a:srgbClr val="4BACC6">
                    <a:lumMod val="50000"/>
                  </a:srgbClr>
                </a:solidFill>
                <a:latin typeface="Calibri"/>
              </a:rPr>
              <a:t>x &lt;- </a:t>
            </a:r>
            <a:r>
              <a:rPr lang="en-GB" sz="2000" b="1" dirty="0" err="1">
                <a:solidFill>
                  <a:srgbClr val="4BACC6">
                    <a:lumMod val="50000"/>
                  </a:srgbClr>
                </a:solidFill>
                <a:latin typeface="Calibri"/>
              </a:rPr>
              <a:t>runif</a:t>
            </a:r>
            <a:r>
              <a:rPr lang="en-GB" sz="2000" b="1" dirty="0">
                <a:solidFill>
                  <a:srgbClr val="4BACC6">
                    <a:lumMod val="50000"/>
                  </a:srgbClr>
                </a:solidFill>
                <a:latin typeface="Calibri"/>
              </a:rPr>
              <a:t> (N, 0,1) # random [uniform] x coordinates </a:t>
            </a:r>
            <a:endParaRPr lang="pl-PL" sz="2000" b="1" dirty="0">
              <a:solidFill>
                <a:srgbClr val="4BACC6">
                  <a:lumMod val="50000"/>
                </a:srgbClr>
              </a:solidFill>
              <a:latin typeface="Calibri"/>
            </a:endParaRPr>
          </a:p>
          <a:p>
            <a:r>
              <a:rPr lang="en-GB" sz="2000" b="1" dirty="0">
                <a:solidFill>
                  <a:srgbClr val="4BACC6">
                    <a:lumMod val="50000"/>
                  </a:srgbClr>
                </a:solidFill>
                <a:latin typeface="Calibri"/>
              </a:rPr>
              <a:t>y &lt;- </a:t>
            </a:r>
            <a:r>
              <a:rPr lang="en-GB" sz="2000" b="1" dirty="0" err="1">
                <a:solidFill>
                  <a:srgbClr val="4BACC6">
                    <a:lumMod val="50000"/>
                  </a:srgbClr>
                </a:solidFill>
                <a:latin typeface="Calibri"/>
              </a:rPr>
              <a:t>runif</a:t>
            </a:r>
            <a:r>
              <a:rPr lang="en-GB" sz="2000" b="1" dirty="0">
                <a:solidFill>
                  <a:srgbClr val="4BACC6">
                    <a:lumMod val="50000"/>
                  </a:srgbClr>
                </a:solidFill>
                <a:latin typeface="Calibri"/>
              </a:rPr>
              <a:t> (N, 0,1) # random [uniform] y coordinates </a:t>
            </a:r>
          </a:p>
          <a:p>
            <a:r>
              <a:rPr lang="en-GB" sz="2000" b="1" dirty="0" err="1">
                <a:solidFill>
                  <a:srgbClr val="4BACC6">
                    <a:lumMod val="50000"/>
                  </a:srgbClr>
                </a:solidFill>
                <a:latin typeface="Calibri"/>
              </a:rPr>
              <a:t>dist</a:t>
            </a:r>
            <a:r>
              <a:rPr lang="en-GB" sz="2000" b="1" dirty="0">
                <a:solidFill>
                  <a:srgbClr val="4BACC6">
                    <a:lumMod val="50000"/>
                  </a:srgbClr>
                </a:solidFill>
                <a:latin typeface="Calibri"/>
              </a:rPr>
              <a:t> &lt;- </a:t>
            </a:r>
            <a:r>
              <a:rPr lang="en-GB" sz="2000" b="1" dirty="0" err="1">
                <a:solidFill>
                  <a:srgbClr val="4BACC6">
                    <a:lumMod val="50000"/>
                  </a:srgbClr>
                </a:solidFill>
                <a:latin typeface="Calibri"/>
              </a:rPr>
              <a:t>sqrt</a:t>
            </a:r>
            <a:r>
              <a:rPr lang="en-GB" sz="2000" b="1" dirty="0">
                <a:solidFill>
                  <a:srgbClr val="4BACC6">
                    <a:lumMod val="50000"/>
                  </a:srgbClr>
                </a:solidFill>
                <a:latin typeface="Calibri"/>
              </a:rPr>
              <a:t> (x ^ 2 + y ^ 2) # circle equation</a:t>
            </a:r>
          </a:p>
          <a:p>
            <a:r>
              <a:rPr lang="en-GB" sz="2000" b="1" dirty="0">
                <a:solidFill>
                  <a:srgbClr val="4BACC6">
                    <a:lumMod val="50000"/>
                  </a:srgbClr>
                </a:solidFill>
                <a:latin typeface="Calibri"/>
              </a:rPr>
              <a:t>inside &lt;- </a:t>
            </a:r>
            <a:r>
              <a:rPr lang="en-GB" sz="2000" b="1" dirty="0" err="1">
                <a:solidFill>
                  <a:srgbClr val="FF0000"/>
                </a:solidFill>
                <a:latin typeface="Calibri"/>
              </a:rPr>
              <a:t>ifelse</a:t>
            </a:r>
            <a:r>
              <a:rPr lang="en-GB" sz="2000" b="1" dirty="0">
                <a:solidFill>
                  <a:srgbClr val="FF0000"/>
                </a:solidFill>
                <a:latin typeface="Calibri"/>
              </a:rPr>
              <a:t> (</a:t>
            </a:r>
            <a:r>
              <a:rPr lang="en-GB" sz="2000" b="1" dirty="0" err="1">
                <a:solidFill>
                  <a:srgbClr val="FF0000"/>
                </a:solidFill>
                <a:latin typeface="Calibri"/>
              </a:rPr>
              <a:t>dist</a:t>
            </a:r>
            <a:r>
              <a:rPr lang="en-GB" sz="2000" b="1" dirty="0">
                <a:solidFill>
                  <a:srgbClr val="FF0000"/>
                </a:solidFill>
                <a:latin typeface="Calibri"/>
              </a:rPr>
              <a:t> &lt;= 1, 1</a:t>
            </a:r>
            <a:r>
              <a:rPr lang="pl-PL" sz="2000" b="1" dirty="0">
                <a:solidFill>
                  <a:srgbClr val="FF0000"/>
                </a:solidFill>
                <a:latin typeface="Calibri"/>
              </a:rPr>
              <a:t>,0</a:t>
            </a:r>
            <a:r>
              <a:rPr lang="en-GB" sz="2000" b="1" dirty="0">
                <a:solidFill>
                  <a:srgbClr val="FF0000"/>
                </a:solidFill>
                <a:latin typeface="Calibri"/>
              </a:rPr>
              <a:t>) </a:t>
            </a:r>
            <a:r>
              <a:rPr lang="en-GB" sz="2000" b="1" dirty="0">
                <a:solidFill>
                  <a:srgbClr val="4BACC6">
                    <a:lumMod val="50000"/>
                  </a:srgbClr>
                </a:solidFill>
                <a:latin typeface="Calibri"/>
              </a:rPr>
              <a:t># points inside the circle</a:t>
            </a:r>
          </a:p>
          <a:p>
            <a:r>
              <a:rPr lang="en-GB" sz="2000" b="1" dirty="0" err="1">
                <a:solidFill>
                  <a:srgbClr val="4BACC6">
                    <a:lumMod val="50000"/>
                  </a:srgbClr>
                </a:solidFill>
                <a:latin typeface="Calibri"/>
              </a:rPr>
              <a:t>prob_inside</a:t>
            </a:r>
            <a:r>
              <a:rPr lang="en-GB" sz="2000" b="1" dirty="0">
                <a:solidFill>
                  <a:srgbClr val="4BACC6">
                    <a:lumMod val="50000"/>
                  </a:srgbClr>
                </a:solidFill>
                <a:latin typeface="Calibri"/>
              </a:rPr>
              <a:t> &lt;- sum(inside)/N # percentage of points inside</a:t>
            </a:r>
          </a:p>
          <a:p>
            <a:r>
              <a:rPr lang="en-GB" sz="2000" b="1" dirty="0">
                <a:solidFill>
                  <a:srgbClr val="4BACC6">
                    <a:lumMod val="50000"/>
                  </a:srgbClr>
                </a:solidFill>
                <a:latin typeface="Calibri"/>
              </a:rPr>
              <a:t>pi &lt;- </a:t>
            </a:r>
            <a:r>
              <a:rPr lang="en-GB" sz="2000" b="1" dirty="0" err="1">
                <a:solidFill>
                  <a:srgbClr val="4BACC6">
                    <a:lumMod val="50000"/>
                  </a:srgbClr>
                </a:solidFill>
                <a:latin typeface="Calibri"/>
              </a:rPr>
              <a:t>prob_inside</a:t>
            </a:r>
            <a:r>
              <a:rPr lang="en-GB" sz="2000" b="1" dirty="0">
                <a:solidFill>
                  <a:srgbClr val="4BACC6">
                    <a:lumMod val="50000"/>
                  </a:srgbClr>
                </a:solidFill>
                <a:latin typeface="Calibri"/>
              </a:rPr>
              <a:t> * 4 # determination of the PI number</a:t>
            </a:r>
          </a:p>
          <a:p>
            <a:r>
              <a:rPr lang="en-GB" sz="2000" b="1" dirty="0">
                <a:solidFill>
                  <a:srgbClr val="4BACC6">
                    <a:lumMod val="50000"/>
                  </a:srgbClr>
                </a:solidFill>
                <a:latin typeface="Calibri"/>
              </a:rPr>
              <a:t>  </a:t>
            </a:r>
          </a:p>
          <a:p>
            <a:r>
              <a:rPr lang="en-GB" sz="2000" b="1" dirty="0">
                <a:solidFill>
                  <a:srgbClr val="4BACC6">
                    <a:lumMod val="50000"/>
                  </a:srgbClr>
                </a:solidFill>
                <a:latin typeface="Calibri"/>
              </a:rPr>
              <a:t># drawing of points inside the dartboard</a:t>
            </a:r>
          </a:p>
          <a:p>
            <a:r>
              <a:rPr lang="en-GB" sz="2000" b="1" dirty="0">
                <a:solidFill>
                  <a:srgbClr val="4BACC6">
                    <a:lumMod val="50000"/>
                  </a:srgbClr>
                </a:solidFill>
                <a:latin typeface="Calibri"/>
              </a:rPr>
              <a:t>plot (x [</a:t>
            </a:r>
            <a:r>
              <a:rPr lang="en-GB" sz="2000" b="1" dirty="0" err="1">
                <a:solidFill>
                  <a:srgbClr val="4BACC6">
                    <a:lumMod val="50000"/>
                  </a:srgbClr>
                </a:solidFill>
                <a:latin typeface="Calibri"/>
              </a:rPr>
              <a:t>dist</a:t>
            </a:r>
            <a:r>
              <a:rPr lang="en-GB" sz="2000" b="1" dirty="0">
                <a:solidFill>
                  <a:srgbClr val="4BACC6">
                    <a:lumMod val="50000"/>
                  </a:srgbClr>
                </a:solidFill>
                <a:latin typeface="Calibri"/>
              </a:rPr>
              <a:t> &lt;= 1], y [</a:t>
            </a:r>
            <a:r>
              <a:rPr lang="en-GB" sz="2000" b="1" dirty="0" err="1">
                <a:solidFill>
                  <a:srgbClr val="4BACC6">
                    <a:lumMod val="50000"/>
                  </a:srgbClr>
                </a:solidFill>
                <a:latin typeface="Calibri"/>
              </a:rPr>
              <a:t>dist</a:t>
            </a:r>
            <a:r>
              <a:rPr lang="en-GB" sz="2000" b="1" dirty="0">
                <a:solidFill>
                  <a:srgbClr val="4BACC6">
                    <a:lumMod val="50000"/>
                  </a:srgbClr>
                </a:solidFill>
                <a:latin typeface="Calibri"/>
              </a:rPr>
              <a:t> &lt;= 1], </a:t>
            </a:r>
            <a:r>
              <a:rPr lang="en-GB" sz="2000" b="1" dirty="0" err="1">
                <a:solidFill>
                  <a:srgbClr val="4BACC6">
                    <a:lumMod val="50000"/>
                  </a:srgbClr>
                </a:solidFill>
                <a:latin typeface="Calibri"/>
              </a:rPr>
              <a:t>xlab</a:t>
            </a:r>
            <a:r>
              <a:rPr lang="en-GB" sz="2000" b="1" dirty="0">
                <a:solidFill>
                  <a:srgbClr val="4BACC6">
                    <a:lumMod val="50000"/>
                  </a:srgbClr>
                </a:solidFill>
                <a:latin typeface="Calibri"/>
              </a:rPr>
              <a:t> = "x", </a:t>
            </a:r>
            <a:r>
              <a:rPr lang="en-GB" sz="2000" b="1" dirty="0" err="1">
                <a:solidFill>
                  <a:srgbClr val="4BACC6">
                    <a:lumMod val="50000"/>
                  </a:srgbClr>
                </a:solidFill>
                <a:latin typeface="Calibri"/>
              </a:rPr>
              <a:t>ylab</a:t>
            </a:r>
            <a:r>
              <a:rPr lang="en-GB" sz="2000" b="1" dirty="0">
                <a:solidFill>
                  <a:srgbClr val="4BACC6">
                    <a:lumMod val="50000"/>
                  </a:srgbClr>
                </a:solidFill>
                <a:latin typeface="Calibri"/>
              </a:rPr>
              <a:t> = "y", main =</a:t>
            </a:r>
            <a:r>
              <a:rPr lang="pl-PL" sz="2000" b="1" dirty="0">
                <a:solidFill>
                  <a:srgbClr val="4BACC6">
                    <a:lumMod val="50000"/>
                  </a:srgbClr>
                </a:solidFill>
                <a:latin typeface="Calibri"/>
              </a:rPr>
              <a:t> </a:t>
            </a:r>
            <a:r>
              <a:rPr lang="en-GB" sz="2000" b="1" dirty="0">
                <a:solidFill>
                  <a:srgbClr val="4BACC6">
                    <a:lumMod val="50000"/>
                  </a:srgbClr>
                </a:solidFill>
                <a:latin typeface="Calibri"/>
              </a:rPr>
              <a:t>paste ("Monte Carlo simulation N =", N), col = "red" )</a:t>
            </a:r>
          </a:p>
          <a:p>
            <a:r>
              <a:rPr lang="en-GB" sz="2000" b="1" dirty="0">
                <a:solidFill>
                  <a:srgbClr val="4BACC6">
                    <a:lumMod val="50000"/>
                  </a:srgbClr>
                </a:solidFill>
                <a:latin typeface="Calibri"/>
              </a:rPr>
              <a:t>points (x [</a:t>
            </a:r>
            <a:r>
              <a:rPr lang="en-GB" sz="2000" b="1" dirty="0" err="1">
                <a:solidFill>
                  <a:srgbClr val="4BACC6">
                    <a:lumMod val="50000"/>
                  </a:srgbClr>
                </a:solidFill>
                <a:latin typeface="Calibri"/>
              </a:rPr>
              <a:t>dist</a:t>
            </a:r>
            <a:r>
              <a:rPr lang="en-GB" sz="2000" b="1" dirty="0">
                <a:solidFill>
                  <a:srgbClr val="4BACC6">
                    <a:lumMod val="50000"/>
                  </a:srgbClr>
                </a:solidFill>
                <a:latin typeface="Calibri"/>
              </a:rPr>
              <a:t>&gt; 1], y [</a:t>
            </a:r>
            <a:r>
              <a:rPr lang="en-GB" sz="2000" b="1" dirty="0" err="1">
                <a:solidFill>
                  <a:srgbClr val="4BACC6">
                    <a:lumMod val="50000"/>
                  </a:srgbClr>
                </a:solidFill>
                <a:latin typeface="Calibri"/>
              </a:rPr>
              <a:t>dist</a:t>
            </a:r>
            <a:r>
              <a:rPr lang="en-GB" sz="2000" b="1" dirty="0">
                <a:solidFill>
                  <a:srgbClr val="4BACC6">
                    <a:lumMod val="50000"/>
                  </a:srgbClr>
                </a:solidFill>
                <a:latin typeface="Calibri"/>
              </a:rPr>
              <a:t>&gt; 1], col = "</a:t>
            </a:r>
            <a:r>
              <a:rPr lang="en-GB" sz="2000" b="1" dirty="0" err="1">
                <a:solidFill>
                  <a:srgbClr val="4BACC6">
                    <a:lumMod val="50000"/>
                  </a:srgbClr>
                </a:solidFill>
                <a:latin typeface="Calibri"/>
              </a:rPr>
              <a:t>gray</a:t>
            </a:r>
            <a:r>
              <a:rPr lang="en-GB" sz="2000" b="1" dirty="0">
                <a:solidFill>
                  <a:srgbClr val="4BACC6">
                    <a:lumMod val="50000"/>
                  </a:srgbClr>
                </a:solidFill>
                <a:latin typeface="Calibri"/>
              </a:rPr>
              <a:t>")</a:t>
            </a:r>
          </a:p>
          <a:p>
            <a:r>
              <a:rPr lang="en-GB" sz="2000" b="1" dirty="0">
                <a:solidFill>
                  <a:srgbClr val="4BACC6">
                    <a:lumMod val="50000"/>
                  </a:srgbClr>
                </a:solidFill>
                <a:latin typeface="Calibri"/>
              </a:rPr>
              <a:t>text (0.8,0.9, paste ("Pi approximation =", pi), col = "red")</a:t>
            </a:r>
          </a:p>
          <a:p>
            <a:r>
              <a:rPr lang="en-GB" sz="2000" b="1" dirty="0">
                <a:solidFill>
                  <a:srgbClr val="4BACC6">
                    <a:lumMod val="50000"/>
                  </a:srgbClr>
                </a:solidFill>
                <a:latin typeface="Calibri"/>
              </a:rPr>
              <a:t> </a:t>
            </a:r>
          </a:p>
        </p:txBody>
      </p:sp>
    </p:spTree>
    <p:extLst>
      <p:ext uri="{BB962C8B-B14F-4D97-AF65-F5344CB8AC3E}">
        <p14:creationId xmlns:p14="http://schemas.microsoft.com/office/powerpoint/2010/main" val="4270824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5566" y="1119553"/>
            <a:ext cx="3672408" cy="34563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Strzałka w dół 4"/>
          <p:cNvSpPr/>
          <p:nvPr/>
        </p:nvSpPr>
        <p:spPr>
          <a:xfrm>
            <a:off x="11417825" y="4761661"/>
            <a:ext cx="355245" cy="18676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2446" y="1268760"/>
            <a:ext cx="3312368" cy="3295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ytuł 1"/>
          <p:cNvSpPr>
            <a:spLocks noGrp="1"/>
          </p:cNvSpPr>
          <p:nvPr>
            <p:ph type="title"/>
          </p:nvPr>
        </p:nvSpPr>
        <p:spPr>
          <a:xfrm>
            <a:off x="0" y="0"/>
            <a:ext cx="12192000" cy="1268760"/>
          </a:xfrm>
          <a:solidFill>
            <a:schemeClr val="accent5">
              <a:lumMod val="20000"/>
              <a:lumOff val="80000"/>
            </a:schemeClr>
          </a:solidFill>
        </p:spPr>
        <p:txBody>
          <a:bodyPr/>
          <a:lstStyle/>
          <a:p>
            <a:r>
              <a:rPr lang="pl-PL" b="1" dirty="0">
                <a:solidFill>
                  <a:schemeClr val="accent5">
                    <a:lumMod val="50000"/>
                  </a:schemeClr>
                </a:solidFill>
              </a:rPr>
              <a:t>MC </a:t>
            </a:r>
            <a:r>
              <a:rPr lang="pl-PL" b="1" dirty="0" err="1">
                <a:solidFill>
                  <a:schemeClr val="accent5">
                    <a:lumMod val="50000"/>
                  </a:schemeClr>
                </a:solidFill>
              </a:rPr>
              <a:t>simulation</a:t>
            </a:r>
            <a:endParaRPr lang="en-GB" b="1" dirty="0">
              <a:solidFill>
                <a:schemeClr val="accent5">
                  <a:lumMod val="50000"/>
                </a:schemeClr>
              </a:solidFill>
            </a:endParaRPr>
          </a:p>
        </p:txBody>
      </p:sp>
      <p:sp>
        <p:nvSpPr>
          <p:cNvPr id="3" name="Prostokąt 2"/>
          <p:cNvSpPr/>
          <p:nvPr/>
        </p:nvSpPr>
        <p:spPr>
          <a:xfrm>
            <a:off x="5583020" y="4746188"/>
            <a:ext cx="6012428" cy="1815882"/>
          </a:xfrm>
          <a:prstGeom prst="rect">
            <a:avLst/>
          </a:prstGeom>
        </p:spPr>
        <p:txBody>
          <a:bodyPr wrap="square">
            <a:spAutoFit/>
          </a:bodyPr>
          <a:lstStyle/>
          <a:p>
            <a:r>
              <a:rPr lang="en-US" sz="2800" dirty="0">
                <a:solidFill>
                  <a:schemeClr val="accent5">
                    <a:lumMod val="50000"/>
                  </a:schemeClr>
                </a:solidFill>
              </a:rPr>
              <a:t>The same method can be used to calculate the area determined by function on a given interval - calculate the </a:t>
            </a:r>
            <a:r>
              <a:rPr lang="en-US" sz="2800" b="1" dirty="0">
                <a:solidFill>
                  <a:schemeClr val="accent5">
                    <a:lumMod val="50000"/>
                  </a:schemeClr>
                </a:solidFill>
              </a:rPr>
              <a:t>definite integral</a:t>
            </a:r>
            <a:r>
              <a:rPr lang="en-US" sz="2800" dirty="0">
                <a:solidFill>
                  <a:schemeClr val="accent5">
                    <a:lumMod val="50000"/>
                  </a:schemeClr>
                </a:solidFill>
              </a:rPr>
              <a:t>.</a:t>
            </a:r>
            <a:endParaRPr lang="pl-PL" sz="2800" dirty="0">
              <a:solidFill>
                <a:schemeClr val="accent5">
                  <a:lumMod val="50000"/>
                </a:schemeClr>
              </a:solidFill>
            </a:endParaRPr>
          </a:p>
        </p:txBody>
      </p:sp>
      <p:sp>
        <p:nvSpPr>
          <p:cNvPr id="6" name="pole tekstowe 5"/>
          <p:cNvSpPr txBox="1"/>
          <p:nvPr/>
        </p:nvSpPr>
        <p:spPr>
          <a:xfrm>
            <a:off x="145192" y="1268760"/>
            <a:ext cx="5508988" cy="5324535"/>
          </a:xfrm>
          <a:prstGeom prst="rect">
            <a:avLst/>
          </a:prstGeom>
          <a:noFill/>
        </p:spPr>
        <p:txBody>
          <a:bodyPr wrap="square" rtlCol="0">
            <a:spAutoFit/>
          </a:bodyPr>
          <a:lstStyle/>
          <a:p>
            <a:r>
              <a:rPr lang="en-US" sz="2000" b="1" dirty="0">
                <a:solidFill>
                  <a:srgbClr val="4BACC6">
                    <a:lumMod val="50000"/>
                  </a:srgbClr>
                </a:solidFill>
              </a:rPr>
              <a:t>The optimal choice of N in simulations: </a:t>
            </a:r>
            <a:endParaRPr lang="pl-PL" sz="2000" b="1" dirty="0">
              <a:solidFill>
                <a:srgbClr val="4BACC6">
                  <a:lumMod val="50000"/>
                </a:srgbClr>
              </a:solidFill>
            </a:endParaRPr>
          </a:p>
          <a:p>
            <a:pPr marL="342900" indent="-342900">
              <a:buFont typeface="Arial" panose="020B0604020202020204" pitchFamily="34" charset="0"/>
              <a:buChar char="•"/>
            </a:pPr>
            <a:r>
              <a:rPr lang="pl-PL" sz="2000" dirty="0">
                <a:solidFill>
                  <a:srgbClr val="4BACC6">
                    <a:lumMod val="50000"/>
                  </a:srgbClr>
                </a:solidFill>
              </a:rPr>
              <a:t>T</a:t>
            </a:r>
            <a:r>
              <a:rPr lang="en-US" sz="2000" dirty="0" err="1">
                <a:solidFill>
                  <a:srgbClr val="4BACC6">
                    <a:lumMod val="50000"/>
                  </a:srgbClr>
                </a:solidFill>
              </a:rPr>
              <a:t>radeoff</a:t>
            </a:r>
            <a:r>
              <a:rPr lang="en-US" sz="2000" dirty="0">
                <a:solidFill>
                  <a:srgbClr val="4BACC6">
                    <a:lumMod val="50000"/>
                  </a:srgbClr>
                </a:solidFill>
              </a:rPr>
              <a:t>: precision and computational cost.</a:t>
            </a:r>
            <a:r>
              <a:rPr lang="pl-PL" sz="2000" dirty="0">
                <a:solidFill>
                  <a:srgbClr val="4BACC6">
                    <a:lumMod val="50000"/>
                  </a:srgbClr>
                </a:solidFill>
              </a:rPr>
              <a:t> </a:t>
            </a:r>
            <a:r>
              <a:rPr lang="en-US" sz="2000" dirty="0">
                <a:solidFill>
                  <a:srgbClr val="4BACC6">
                    <a:lumMod val="50000"/>
                  </a:srgbClr>
                </a:solidFill>
              </a:rPr>
              <a:t>Modern computers handle larger N without problems, but efficiency still matters (my most extensive simulation, parallel computation, eight cores and </a:t>
            </a:r>
            <a:r>
              <a:rPr lang="pl-PL" sz="2000" dirty="0">
                <a:solidFill>
                  <a:srgbClr val="4BACC6">
                    <a:lumMod val="50000"/>
                  </a:srgbClr>
                </a:solidFill>
              </a:rPr>
              <a:t>5</a:t>
            </a:r>
            <a:r>
              <a:rPr lang="en-US" sz="2000" dirty="0">
                <a:solidFill>
                  <a:srgbClr val="4BACC6">
                    <a:lumMod val="50000"/>
                  </a:srgbClr>
                </a:solidFill>
              </a:rPr>
              <a:t> days of work).</a:t>
            </a:r>
          </a:p>
          <a:p>
            <a:pPr marL="342900" indent="-342900">
              <a:buFont typeface="Arial" panose="020B0604020202020204" pitchFamily="34" charset="0"/>
              <a:buChar char="•"/>
            </a:pPr>
            <a:r>
              <a:rPr lang="en-US" sz="2000" dirty="0">
                <a:solidFill>
                  <a:srgbClr val="4BACC6">
                    <a:lumMod val="50000"/>
                  </a:srgbClr>
                </a:solidFill>
              </a:rPr>
              <a:t>Sometimes, efficient algorithms are necessary despite advanced computing power. </a:t>
            </a:r>
            <a:endParaRPr lang="pl-PL" sz="2000" dirty="0">
              <a:solidFill>
                <a:srgbClr val="4BACC6">
                  <a:lumMod val="50000"/>
                </a:srgbClr>
              </a:solidFill>
            </a:endParaRPr>
          </a:p>
          <a:p>
            <a:pPr marL="342900" indent="-342900">
              <a:buFont typeface="Arial" panose="020B0604020202020204" pitchFamily="34" charset="0"/>
              <a:buChar char="•"/>
            </a:pPr>
            <a:r>
              <a:rPr lang="en-US" sz="2000" dirty="0">
                <a:solidFill>
                  <a:srgbClr val="4BACC6">
                    <a:lumMod val="50000"/>
                  </a:srgbClr>
                </a:solidFill>
              </a:rPr>
              <a:t>Testing for convergence to ensure the reliability of the simulation results.</a:t>
            </a:r>
          </a:p>
          <a:p>
            <a:endParaRPr lang="pl-PL" sz="2000" dirty="0">
              <a:solidFill>
                <a:srgbClr val="4BACC6">
                  <a:lumMod val="50000"/>
                </a:srgbClr>
              </a:solidFill>
            </a:endParaRPr>
          </a:p>
          <a:p>
            <a:r>
              <a:rPr lang="en-US" sz="2000" dirty="0">
                <a:solidFill>
                  <a:srgbClr val="4BACC6">
                    <a:lumMod val="50000"/>
                  </a:srgbClr>
                </a:solidFill>
              </a:rPr>
              <a:t>Selecting the </a:t>
            </a:r>
            <a:r>
              <a:rPr lang="pl-PL" sz="2000" dirty="0">
                <a:solidFill>
                  <a:srgbClr val="4BACC6">
                    <a:lumMod val="50000"/>
                  </a:srgbClr>
                </a:solidFill>
              </a:rPr>
              <a:t>a</a:t>
            </a:r>
            <a:r>
              <a:rPr lang="en-US" sz="2000" dirty="0" err="1">
                <a:solidFill>
                  <a:srgbClr val="4BACC6">
                    <a:lumMod val="50000"/>
                  </a:srgbClr>
                </a:solidFill>
              </a:rPr>
              <a:t>ppropriate</a:t>
            </a:r>
            <a:r>
              <a:rPr lang="en-US" sz="2000" dirty="0">
                <a:solidFill>
                  <a:srgbClr val="4BACC6">
                    <a:lumMod val="50000"/>
                  </a:srgbClr>
                </a:solidFill>
              </a:rPr>
              <a:t> </a:t>
            </a:r>
            <a:r>
              <a:rPr lang="pl-PL" sz="2000" dirty="0">
                <a:solidFill>
                  <a:srgbClr val="4BACC6">
                    <a:lumMod val="50000"/>
                  </a:srgbClr>
                </a:solidFill>
              </a:rPr>
              <a:t>r</a:t>
            </a:r>
            <a:r>
              <a:rPr lang="en-US" sz="2000" dirty="0" err="1">
                <a:solidFill>
                  <a:srgbClr val="4BACC6">
                    <a:lumMod val="50000"/>
                  </a:srgbClr>
                </a:solidFill>
              </a:rPr>
              <a:t>andom</a:t>
            </a:r>
            <a:r>
              <a:rPr lang="en-US" sz="2000" dirty="0">
                <a:solidFill>
                  <a:srgbClr val="4BACC6">
                    <a:lumMod val="50000"/>
                  </a:srgbClr>
                </a:solidFill>
              </a:rPr>
              <a:t> </a:t>
            </a:r>
            <a:r>
              <a:rPr lang="pl-PL" sz="2000" dirty="0">
                <a:solidFill>
                  <a:srgbClr val="4BACC6">
                    <a:lumMod val="50000"/>
                  </a:srgbClr>
                </a:solidFill>
              </a:rPr>
              <a:t>d</a:t>
            </a:r>
            <a:r>
              <a:rPr lang="en-US" sz="2000" dirty="0" err="1">
                <a:solidFill>
                  <a:srgbClr val="4BACC6">
                    <a:lumMod val="50000"/>
                  </a:srgbClr>
                </a:solidFill>
              </a:rPr>
              <a:t>istribution</a:t>
            </a:r>
            <a:r>
              <a:rPr lang="en-US" sz="2000" dirty="0">
                <a:solidFill>
                  <a:srgbClr val="4BACC6">
                    <a:lumMod val="50000"/>
                  </a:srgbClr>
                </a:solidFill>
              </a:rPr>
              <a:t> (uniform, normal, beta...) for </a:t>
            </a:r>
            <a:r>
              <a:rPr lang="pl-PL" sz="2000" dirty="0">
                <a:solidFill>
                  <a:srgbClr val="4BACC6">
                    <a:lumMod val="50000"/>
                  </a:srgbClr>
                </a:solidFill>
              </a:rPr>
              <a:t>s</a:t>
            </a:r>
            <a:r>
              <a:rPr lang="en-US" sz="2000" dirty="0" err="1">
                <a:solidFill>
                  <a:srgbClr val="4BACC6">
                    <a:lumMod val="50000"/>
                  </a:srgbClr>
                </a:solidFill>
              </a:rPr>
              <a:t>imulation</a:t>
            </a:r>
            <a:endParaRPr lang="en-US" sz="2000" dirty="0">
              <a:solidFill>
                <a:srgbClr val="4BACC6">
                  <a:lumMod val="50000"/>
                </a:srgbClr>
              </a:solidFill>
            </a:endParaRPr>
          </a:p>
          <a:p>
            <a:endParaRPr lang="en-US" sz="2000" dirty="0">
              <a:solidFill>
                <a:srgbClr val="4BACC6">
                  <a:lumMod val="50000"/>
                </a:srgbClr>
              </a:solidFill>
            </a:endParaRPr>
          </a:p>
          <a:p>
            <a:pPr marL="342900" indent="-342900">
              <a:buFont typeface="Arial" panose="020B0604020202020204" pitchFamily="34" charset="0"/>
              <a:buChar char="•"/>
            </a:pPr>
            <a:r>
              <a:rPr lang="en-US" sz="2000" dirty="0">
                <a:solidFill>
                  <a:srgbClr val="4BACC6">
                    <a:lumMod val="50000"/>
                  </a:srgbClr>
                </a:solidFill>
              </a:rPr>
              <a:t>The importance of choosing a random distribution which is suitable for the specific problem.    </a:t>
            </a:r>
          </a:p>
        </p:txBody>
      </p:sp>
    </p:spTree>
    <p:extLst>
      <p:ext uri="{BB962C8B-B14F-4D97-AF65-F5344CB8AC3E}">
        <p14:creationId xmlns:p14="http://schemas.microsoft.com/office/powerpoint/2010/main" val="2452832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124746"/>
          </a:xfrm>
          <a:solidFill>
            <a:schemeClr val="accent5">
              <a:lumMod val="20000"/>
              <a:lumOff val="80000"/>
            </a:schemeClr>
          </a:solidFill>
        </p:spPr>
        <p:txBody>
          <a:bodyPr>
            <a:normAutofit fontScale="90000"/>
          </a:bodyPr>
          <a:lstStyle/>
          <a:p>
            <a:pPr algn="l"/>
            <a:r>
              <a:rPr lang="en-GB" sz="3600" dirty="0">
                <a:solidFill>
                  <a:schemeClr val="accent5">
                    <a:lumMod val="50000"/>
                  </a:schemeClr>
                </a:solidFill>
              </a:rPr>
              <a:t>Prehistory of MC</a:t>
            </a:r>
            <a:r>
              <a:rPr lang="pl-PL" sz="3600" dirty="0">
                <a:solidFill>
                  <a:schemeClr val="accent5">
                    <a:lumMod val="50000"/>
                  </a:schemeClr>
                </a:solidFill>
              </a:rPr>
              <a:t>  </a:t>
            </a:r>
            <a:r>
              <a:rPr lang="pl-PL" sz="3600" dirty="0">
                <a:solidFill>
                  <a:schemeClr val="accent5">
                    <a:lumMod val="50000"/>
                  </a:schemeClr>
                </a:solidFill>
                <a:sym typeface="Wingdings" panose="05000000000000000000" pitchFamily="2" charset="2"/>
              </a:rPr>
              <a:t> </a:t>
            </a:r>
            <a:br>
              <a:rPr lang="en-GB" sz="3600" dirty="0">
                <a:solidFill>
                  <a:schemeClr val="accent5">
                    <a:lumMod val="50000"/>
                  </a:schemeClr>
                </a:solidFill>
              </a:rPr>
            </a:br>
            <a:r>
              <a:rPr lang="en-GB" sz="3600" dirty="0">
                <a:solidFill>
                  <a:schemeClr val="accent5">
                    <a:lumMod val="50000"/>
                  </a:schemeClr>
                </a:solidFill>
              </a:rPr>
              <a:t>The social game "Buffon needle"</a:t>
            </a:r>
            <a:endParaRPr lang="pl-PL" sz="3600" dirty="0">
              <a:solidFill>
                <a:schemeClr val="accent5">
                  <a:lumMod val="50000"/>
                </a:schemeClr>
              </a:solidFill>
            </a:endParaRPr>
          </a:p>
        </p:txBody>
      </p:sp>
      <p:sp>
        <p:nvSpPr>
          <p:cNvPr id="6" name="Prostokąt 5"/>
          <p:cNvSpPr/>
          <p:nvPr/>
        </p:nvSpPr>
        <p:spPr>
          <a:xfrm>
            <a:off x="202131" y="1655804"/>
            <a:ext cx="8323696" cy="954107"/>
          </a:xfrm>
          <a:prstGeom prst="rect">
            <a:avLst/>
          </a:prstGeom>
        </p:spPr>
        <p:txBody>
          <a:bodyPr wrap="square">
            <a:spAutoFit/>
          </a:bodyPr>
          <a:lstStyle/>
          <a:p>
            <a:pPr algn="just"/>
            <a:r>
              <a:rPr lang="en-GB" sz="2800" dirty="0">
                <a:solidFill>
                  <a:srgbClr val="4BACC6">
                    <a:lumMod val="50000"/>
                  </a:srgbClr>
                </a:solidFill>
                <a:latin typeface="Calibri"/>
              </a:rPr>
              <a:t>Drop N-times needle with length L on a plane with two lines.  The distance between the lines is D</a:t>
            </a:r>
            <a:endParaRPr lang="pl-PL" sz="2800" dirty="0">
              <a:solidFill>
                <a:srgbClr val="4BACC6">
                  <a:lumMod val="50000"/>
                </a:srgbClr>
              </a:solidFill>
              <a:latin typeface="Calibri"/>
            </a:endParaRPr>
          </a:p>
        </p:txBody>
      </p:sp>
      <p:pic>
        <p:nvPicPr>
          <p:cNvPr id="63490" name="Picture 2"/>
          <p:cNvPicPr>
            <a:picLocks noChangeAspect="1" noChangeArrowheads="1"/>
          </p:cNvPicPr>
          <p:nvPr/>
        </p:nvPicPr>
        <p:blipFill>
          <a:blip r:embed="rId2" cstate="print"/>
          <a:srcRect/>
          <a:stretch>
            <a:fillRect/>
          </a:stretch>
        </p:blipFill>
        <p:spPr bwMode="auto">
          <a:xfrm>
            <a:off x="9059405" y="245636"/>
            <a:ext cx="1577218" cy="2334283"/>
          </a:xfrm>
          <a:prstGeom prst="rect">
            <a:avLst/>
          </a:prstGeom>
          <a:ln>
            <a:noFill/>
          </a:ln>
          <a:effectLst>
            <a:outerShdw blurRad="292100" dist="139700" dir="2700000" algn="tl" rotWithShape="0">
              <a:srgbClr val="333333">
                <a:alpha val="65000"/>
              </a:srgbClr>
            </a:outerShdw>
          </a:effectLst>
        </p:spPr>
      </p:pic>
      <p:sp>
        <p:nvSpPr>
          <p:cNvPr id="7" name="Prostokąt 6"/>
          <p:cNvSpPr/>
          <p:nvPr/>
        </p:nvSpPr>
        <p:spPr>
          <a:xfrm>
            <a:off x="8718332" y="2723143"/>
            <a:ext cx="2304256" cy="861774"/>
          </a:xfrm>
          <a:prstGeom prst="rect">
            <a:avLst/>
          </a:prstGeom>
        </p:spPr>
        <p:txBody>
          <a:bodyPr wrap="square">
            <a:spAutoFit/>
          </a:bodyPr>
          <a:lstStyle/>
          <a:p>
            <a:pPr algn="ctr"/>
            <a:r>
              <a:rPr lang="pl-PL" sz="1600" b="1" dirty="0">
                <a:solidFill>
                  <a:srgbClr val="4BACC6">
                    <a:lumMod val="50000"/>
                  </a:srgbClr>
                </a:solidFill>
                <a:latin typeface="Calibri"/>
              </a:rPr>
              <a:t>Georges-Louis Leclerc, </a:t>
            </a:r>
          </a:p>
          <a:p>
            <a:pPr algn="ctr"/>
            <a:r>
              <a:rPr lang="pl-PL" sz="1600" b="1" dirty="0">
                <a:solidFill>
                  <a:srgbClr val="4BACC6">
                    <a:lumMod val="50000"/>
                  </a:srgbClr>
                </a:solidFill>
                <a:latin typeface="Calibri"/>
              </a:rPr>
              <a:t>Comte de Buffon </a:t>
            </a:r>
          </a:p>
          <a:p>
            <a:pPr algn="ctr"/>
            <a:r>
              <a:rPr lang="pl-PL" sz="1600" b="1" dirty="0">
                <a:solidFill>
                  <a:srgbClr val="4BACC6">
                    <a:lumMod val="50000"/>
                  </a:srgbClr>
                </a:solidFill>
                <a:latin typeface="Calibri"/>
              </a:rPr>
              <a:t>(1707  - 1788) </a:t>
            </a:r>
          </a:p>
        </p:txBody>
      </p:sp>
      <p:sp>
        <p:nvSpPr>
          <p:cNvPr id="9" name="Prostokąt 8"/>
          <p:cNvSpPr/>
          <p:nvPr/>
        </p:nvSpPr>
        <p:spPr>
          <a:xfrm>
            <a:off x="285872" y="4837285"/>
            <a:ext cx="11223057" cy="1815882"/>
          </a:xfrm>
          <a:prstGeom prst="rect">
            <a:avLst/>
          </a:prstGeom>
        </p:spPr>
        <p:txBody>
          <a:bodyPr wrap="square">
            <a:spAutoFit/>
          </a:bodyPr>
          <a:lstStyle/>
          <a:p>
            <a:pPr algn="just"/>
            <a:r>
              <a:rPr lang="en-GB" sz="2800" b="1" dirty="0">
                <a:solidFill>
                  <a:srgbClr val="4BACC6">
                    <a:lumMod val="50000"/>
                  </a:srgbClr>
                </a:solidFill>
                <a:latin typeface="Calibri"/>
              </a:rPr>
              <a:t>Experiment: Based on the number of intersections of the needle with the lines, we conclude about ... π.</a:t>
            </a:r>
            <a:r>
              <a:rPr lang="pl-PL" sz="2800" b="1" dirty="0">
                <a:solidFill>
                  <a:srgbClr val="4BACC6">
                    <a:lumMod val="50000"/>
                  </a:srgbClr>
                </a:solidFill>
                <a:latin typeface="Calibri"/>
              </a:rPr>
              <a:t> </a:t>
            </a:r>
            <a:r>
              <a:rPr lang="en-GB" sz="2800" b="1" dirty="0">
                <a:solidFill>
                  <a:srgbClr val="4BACC6">
                    <a:lumMod val="50000"/>
                  </a:srgbClr>
                </a:solidFill>
                <a:latin typeface="Calibri"/>
              </a:rPr>
              <a:t>For mathematical background go to </a:t>
            </a:r>
            <a:r>
              <a:rPr lang="en-GB" sz="2400" b="1" dirty="0">
                <a:solidFill>
                  <a:srgbClr val="4BACC6">
                    <a:lumMod val="50000"/>
                  </a:srgbClr>
                </a:solidFill>
                <a:latin typeface="Calibri"/>
                <a:hlinkClick r:id="rId3"/>
              </a:rPr>
              <a:t>http://www.mste.uiuc.edu/reese/buffon/buffon.html</a:t>
            </a:r>
            <a:r>
              <a:rPr lang="pl-PL" sz="2400" b="1" dirty="0">
                <a:solidFill>
                  <a:srgbClr val="4BACC6">
                    <a:lumMod val="50000"/>
                  </a:srgbClr>
                </a:solidFill>
                <a:latin typeface="Calibri"/>
              </a:rPr>
              <a:t> </a:t>
            </a:r>
            <a:r>
              <a:rPr lang="pl-PL" sz="2800" b="1" dirty="0">
                <a:solidFill>
                  <a:srgbClr val="4BACC6">
                    <a:lumMod val="50000"/>
                  </a:srgbClr>
                </a:solidFill>
                <a:latin typeface="Calibri"/>
              </a:rPr>
              <a:t> </a:t>
            </a:r>
            <a:r>
              <a:rPr lang="en-GB" sz="2800" b="1" dirty="0">
                <a:solidFill>
                  <a:srgbClr val="4BACC6">
                    <a:lumMod val="50000"/>
                  </a:srgbClr>
                </a:solidFill>
                <a:latin typeface="Calibri"/>
              </a:rPr>
              <a:t>Now we can enjoy an animation in </a:t>
            </a:r>
            <a:r>
              <a:rPr lang="pl-PL" sz="2800" b="1" dirty="0">
                <a:solidFill>
                  <a:srgbClr val="4BACC6">
                    <a:lumMod val="50000"/>
                  </a:srgbClr>
                </a:solidFill>
                <a:latin typeface="Calibri"/>
              </a:rPr>
              <a:t>R</a:t>
            </a:r>
          </a:p>
        </p:txBody>
      </p:sp>
      <p:grpSp>
        <p:nvGrpSpPr>
          <p:cNvPr id="3" name="Grupa 2"/>
          <p:cNvGrpSpPr/>
          <p:nvPr/>
        </p:nvGrpSpPr>
        <p:grpSpPr>
          <a:xfrm>
            <a:off x="1483659" y="3140969"/>
            <a:ext cx="5760640" cy="1224136"/>
            <a:chOff x="1847528" y="3501008"/>
            <a:chExt cx="5760640" cy="1224136"/>
          </a:xfrm>
        </p:grpSpPr>
        <p:pic>
          <p:nvPicPr>
            <p:cNvPr id="63491" name="Picture 3"/>
            <p:cNvPicPr>
              <a:picLocks noChangeAspect="1" noChangeArrowheads="1"/>
            </p:cNvPicPr>
            <p:nvPr/>
          </p:nvPicPr>
          <p:blipFill>
            <a:blip r:embed="rId4" cstate="print"/>
            <a:srcRect/>
            <a:stretch>
              <a:fillRect/>
            </a:stretch>
          </p:blipFill>
          <p:spPr bwMode="auto">
            <a:xfrm rot="795710">
              <a:off x="3607575" y="3532864"/>
              <a:ext cx="1024617" cy="1024617"/>
            </a:xfrm>
            <a:prstGeom prst="rect">
              <a:avLst/>
            </a:prstGeom>
            <a:noFill/>
            <a:ln w="9525">
              <a:noFill/>
              <a:miter lim="800000"/>
              <a:headEnd/>
              <a:tailEnd/>
            </a:ln>
          </p:spPr>
        </p:pic>
        <p:cxnSp>
          <p:nvCxnSpPr>
            <p:cNvPr id="11" name="Łącznik prosty 10"/>
            <p:cNvCxnSpPr/>
            <p:nvPr/>
          </p:nvCxnSpPr>
          <p:spPr>
            <a:xfrm>
              <a:off x="1847528" y="3501008"/>
              <a:ext cx="5688632"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Łącznik prosty 11"/>
            <p:cNvCxnSpPr/>
            <p:nvPr/>
          </p:nvCxnSpPr>
          <p:spPr>
            <a:xfrm>
              <a:off x="1919536" y="4725144"/>
              <a:ext cx="5688632"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7" name="Łącznik prosty ze strzałką 16"/>
            <p:cNvCxnSpPr/>
            <p:nvPr/>
          </p:nvCxnSpPr>
          <p:spPr>
            <a:xfrm>
              <a:off x="6023992" y="3501008"/>
              <a:ext cx="0" cy="122413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sp>
          <p:nvSpPr>
            <p:cNvPr id="18" name="Prostokąt 17"/>
            <p:cNvSpPr/>
            <p:nvPr/>
          </p:nvSpPr>
          <p:spPr>
            <a:xfrm>
              <a:off x="6096000" y="3933056"/>
              <a:ext cx="330540" cy="369332"/>
            </a:xfrm>
            <a:prstGeom prst="rect">
              <a:avLst/>
            </a:prstGeom>
          </p:spPr>
          <p:txBody>
            <a:bodyPr wrap="none">
              <a:spAutoFit/>
            </a:bodyPr>
            <a:lstStyle/>
            <a:p>
              <a:r>
                <a:rPr lang="pl-PL" b="1" dirty="0">
                  <a:solidFill>
                    <a:srgbClr val="4BACC6">
                      <a:lumMod val="50000"/>
                    </a:srgbClr>
                  </a:solidFill>
                  <a:latin typeface="Calibri"/>
                </a:rPr>
                <a:t>D</a:t>
              </a:r>
              <a:endParaRPr lang="pl-PL" dirty="0">
                <a:solidFill>
                  <a:prstClr val="black"/>
                </a:solidFill>
                <a:latin typeface="Calibri"/>
              </a:endParaRPr>
            </a:p>
          </p:txBody>
        </p:sp>
        <p:sp>
          <p:nvSpPr>
            <p:cNvPr id="19" name="Prostokąt 18"/>
            <p:cNvSpPr/>
            <p:nvPr/>
          </p:nvSpPr>
          <p:spPr>
            <a:xfrm>
              <a:off x="4151784" y="4293096"/>
              <a:ext cx="282450" cy="369332"/>
            </a:xfrm>
            <a:prstGeom prst="rect">
              <a:avLst/>
            </a:prstGeom>
          </p:spPr>
          <p:txBody>
            <a:bodyPr wrap="none">
              <a:spAutoFit/>
            </a:bodyPr>
            <a:lstStyle/>
            <a:p>
              <a:r>
                <a:rPr lang="pl-PL" b="1" dirty="0">
                  <a:solidFill>
                    <a:srgbClr val="4BACC6">
                      <a:lumMod val="50000"/>
                    </a:srgbClr>
                  </a:solidFill>
                  <a:latin typeface="Calibri"/>
                </a:rPr>
                <a:t>L</a:t>
              </a:r>
              <a:endParaRPr lang="pl-PL" dirty="0">
                <a:solidFill>
                  <a:prstClr val="black"/>
                </a:solidFill>
                <a:latin typeface="Calibri"/>
              </a:endParaRPr>
            </a:p>
          </p:txBody>
        </p:sp>
        <p:cxnSp>
          <p:nvCxnSpPr>
            <p:cNvPr id="20" name="Łącznik prosty ze strzałką 19"/>
            <p:cNvCxnSpPr/>
            <p:nvPr/>
          </p:nvCxnSpPr>
          <p:spPr>
            <a:xfrm flipH="1">
              <a:off x="3719736" y="4077072"/>
              <a:ext cx="1080120" cy="43204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pSp>
      <p:sp>
        <p:nvSpPr>
          <p:cNvPr id="4" name="TextBox 3">
            <a:extLst>
              <a:ext uri="{FF2B5EF4-FFF2-40B4-BE49-F238E27FC236}">
                <a16:creationId xmlns:a16="http://schemas.microsoft.com/office/drawing/2014/main" id="{9D76BEAE-17CF-71C9-CE8F-02DC600B99DB}"/>
              </a:ext>
            </a:extLst>
          </p:cNvPr>
          <p:cNvSpPr txBox="1"/>
          <p:nvPr/>
        </p:nvSpPr>
        <p:spPr>
          <a:xfrm rot="18806356">
            <a:off x="9887311" y="333079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4043995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rostokąt 5"/>
          <p:cNvSpPr/>
          <p:nvPr/>
        </p:nvSpPr>
        <p:spPr>
          <a:xfrm>
            <a:off x="154004" y="1412776"/>
            <a:ext cx="11608068" cy="3970318"/>
          </a:xfrm>
          <a:prstGeom prst="rect">
            <a:avLst/>
          </a:prstGeom>
        </p:spPr>
        <p:txBody>
          <a:bodyPr wrap="square">
            <a:spAutoFit/>
          </a:bodyPr>
          <a:lstStyle/>
          <a:p>
            <a:pPr algn="just"/>
            <a:r>
              <a:rPr lang="en-GB" sz="2800" b="1" dirty="0">
                <a:solidFill>
                  <a:srgbClr val="4BACC6">
                    <a:lumMod val="50000"/>
                  </a:srgbClr>
                </a:solidFill>
                <a:latin typeface="Calibri"/>
              </a:rPr>
              <a:t>For </a:t>
            </a:r>
            <a:r>
              <a:rPr lang="pl-PL" sz="2800" b="1" dirty="0">
                <a:solidFill>
                  <a:srgbClr val="4BACC6">
                    <a:lumMod val="50000"/>
                  </a:srgbClr>
                </a:solidFill>
                <a:latin typeface="Calibri"/>
              </a:rPr>
              <a:t>the </a:t>
            </a:r>
            <a:r>
              <a:rPr lang="en-GB" sz="2800" b="1" dirty="0">
                <a:solidFill>
                  <a:srgbClr val="4BACC6">
                    <a:lumMod val="50000"/>
                  </a:srgbClr>
                </a:solidFill>
              </a:rPr>
              <a:t>length L </a:t>
            </a:r>
            <a:r>
              <a:rPr lang="en-GB" sz="2800" b="1" dirty="0">
                <a:solidFill>
                  <a:srgbClr val="4BACC6">
                    <a:lumMod val="50000"/>
                  </a:srgbClr>
                </a:solidFill>
                <a:latin typeface="Calibri"/>
              </a:rPr>
              <a:t>equal or less </a:t>
            </a:r>
            <a:r>
              <a:rPr lang="en-GB" sz="2800" b="1" dirty="0">
                <a:solidFill>
                  <a:srgbClr val="4BACC6">
                    <a:lumMod val="50000"/>
                  </a:srgbClr>
                </a:solidFill>
              </a:rPr>
              <a:t>than</a:t>
            </a:r>
            <a:r>
              <a:rPr lang="pl-PL" sz="2800" b="1" dirty="0">
                <a:solidFill>
                  <a:srgbClr val="4BACC6">
                    <a:lumMod val="50000"/>
                  </a:srgbClr>
                </a:solidFill>
              </a:rPr>
              <a:t> the </a:t>
            </a:r>
            <a:r>
              <a:rPr lang="en-GB" sz="2800" b="1" dirty="0">
                <a:solidFill>
                  <a:srgbClr val="4BACC6">
                    <a:lumMod val="50000"/>
                  </a:srgbClr>
                </a:solidFill>
              </a:rPr>
              <a:t>distance </a:t>
            </a:r>
            <a:r>
              <a:rPr lang="en-GB" sz="2800" b="1" dirty="0">
                <a:solidFill>
                  <a:srgbClr val="4BACC6">
                    <a:lumMod val="50000"/>
                  </a:srgbClr>
                </a:solidFill>
                <a:latin typeface="Calibri"/>
              </a:rPr>
              <a:t>D the probability of line intersection is  p = (2 * L) / (π * D)</a:t>
            </a:r>
          </a:p>
          <a:p>
            <a:pPr algn="just"/>
            <a:endParaRPr lang="en-GB" sz="2800" b="1" dirty="0">
              <a:solidFill>
                <a:srgbClr val="4BACC6">
                  <a:lumMod val="50000"/>
                </a:srgbClr>
              </a:solidFill>
              <a:latin typeface="Calibri"/>
            </a:endParaRPr>
          </a:p>
          <a:p>
            <a:pPr algn="just"/>
            <a:r>
              <a:rPr lang="en-GB" sz="2800" b="1" dirty="0">
                <a:solidFill>
                  <a:srgbClr val="4BACC6">
                    <a:lumMod val="50000"/>
                  </a:srgbClr>
                </a:solidFill>
                <a:latin typeface="Calibri"/>
              </a:rPr>
              <a:t>We throw the needle N times and sum number of crossings of the needle with  lines ( K ) </a:t>
            </a:r>
          </a:p>
          <a:p>
            <a:pPr algn="just"/>
            <a:endParaRPr lang="en-GB" sz="2800" b="1" dirty="0">
              <a:solidFill>
                <a:srgbClr val="4BACC6">
                  <a:lumMod val="50000"/>
                </a:srgbClr>
              </a:solidFill>
              <a:latin typeface="Calibri"/>
            </a:endParaRPr>
          </a:p>
          <a:p>
            <a:pPr algn="just"/>
            <a:r>
              <a:rPr lang="en-GB" sz="2800" b="1" dirty="0">
                <a:solidFill>
                  <a:srgbClr val="4BACC6">
                    <a:lumMod val="50000"/>
                  </a:srgbClr>
                </a:solidFill>
                <a:latin typeface="Calibri"/>
              </a:rPr>
              <a:t>Simulated probability: P_s = K / N  </a:t>
            </a:r>
          </a:p>
          <a:p>
            <a:pPr algn="just"/>
            <a:r>
              <a:rPr lang="en-GB" sz="2800" b="1" dirty="0">
                <a:solidFill>
                  <a:srgbClr val="4BACC6">
                    <a:lumMod val="50000"/>
                  </a:srgbClr>
                </a:solidFill>
                <a:latin typeface="Calibri"/>
              </a:rPr>
              <a:t>then </a:t>
            </a:r>
          </a:p>
          <a:p>
            <a:pPr algn="just"/>
            <a:r>
              <a:rPr lang="en-GB" sz="2800" b="1" dirty="0">
                <a:solidFill>
                  <a:srgbClr val="4BACC6">
                    <a:lumMod val="50000"/>
                  </a:srgbClr>
                </a:solidFill>
                <a:latin typeface="Calibri"/>
              </a:rPr>
              <a:t>π = 2 * (L * N) / </a:t>
            </a:r>
            <a:r>
              <a:rPr lang="pl-PL" sz="2800" b="1" dirty="0">
                <a:solidFill>
                  <a:srgbClr val="4BACC6">
                    <a:lumMod val="50000"/>
                  </a:srgbClr>
                </a:solidFill>
                <a:latin typeface="Calibri"/>
              </a:rPr>
              <a:t>(</a:t>
            </a:r>
            <a:r>
              <a:rPr lang="en-GB" sz="2800" b="1" dirty="0">
                <a:solidFill>
                  <a:srgbClr val="4BACC6">
                    <a:lumMod val="50000"/>
                  </a:srgbClr>
                </a:solidFill>
                <a:latin typeface="Calibri"/>
              </a:rPr>
              <a:t>K * D</a:t>
            </a:r>
            <a:r>
              <a:rPr lang="pl-PL" sz="2800" b="1" dirty="0">
                <a:solidFill>
                  <a:srgbClr val="4BACC6">
                    <a:lumMod val="50000"/>
                  </a:srgbClr>
                </a:solidFill>
                <a:latin typeface="Calibri"/>
              </a:rPr>
              <a:t>)</a:t>
            </a:r>
            <a:endParaRPr lang="en-US" sz="2800" b="1" dirty="0">
              <a:solidFill>
                <a:srgbClr val="4BACC6">
                  <a:lumMod val="50000"/>
                </a:srgbClr>
              </a:solidFill>
              <a:latin typeface="Calibri"/>
            </a:endParaRPr>
          </a:p>
        </p:txBody>
      </p:sp>
      <p:pic>
        <p:nvPicPr>
          <p:cNvPr id="65537" name="Picture 1"/>
          <p:cNvPicPr>
            <a:picLocks noChangeAspect="1" noChangeArrowheads="1"/>
          </p:cNvPicPr>
          <p:nvPr/>
        </p:nvPicPr>
        <p:blipFill>
          <a:blip r:embed="rId2" cstate="print"/>
          <a:srcRect/>
          <a:stretch>
            <a:fillRect/>
          </a:stretch>
        </p:blipFill>
        <p:spPr bwMode="auto">
          <a:xfrm>
            <a:off x="8625509" y="3425319"/>
            <a:ext cx="2861861" cy="2384884"/>
          </a:xfrm>
          <a:prstGeom prst="rect">
            <a:avLst/>
          </a:prstGeom>
          <a:noFill/>
          <a:ln w="9525">
            <a:noFill/>
            <a:miter lim="800000"/>
            <a:headEnd/>
            <a:tailEnd/>
          </a:ln>
        </p:spPr>
      </p:pic>
      <p:sp>
        <p:nvSpPr>
          <p:cNvPr id="15" name="Prostokąt 14"/>
          <p:cNvSpPr/>
          <p:nvPr/>
        </p:nvSpPr>
        <p:spPr>
          <a:xfrm>
            <a:off x="317749" y="5835144"/>
            <a:ext cx="389811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pl-PL" dirty="0">
                <a:solidFill>
                  <a:prstClr val="black"/>
                </a:solidFill>
              </a:rPr>
              <a:t>https://yihui.org/animation/examples/</a:t>
            </a:r>
            <a:endParaRPr lang="pl-PL" dirty="0">
              <a:solidFill>
                <a:prstClr val="black"/>
              </a:solidFill>
              <a:latin typeface="Calibri"/>
            </a:endParaRPr>
          </a:p>
        </p:txBody>
      </p:sp>
      <p:sp>
        <p:nvSpPr>
          <p:cNvPr id="7" name="Tytuł 1"/>
          <p:cNvSpPr>
            <a:spLocks noGrp="1"/>
          </p:cNvSpPr>
          <p:nvPr>
            <p:ph type="title"/>
          </p:nvPr>
        </p:nvSpPr>
        <p:spPr>
          <a:xfrm>
            <a:off x="0" y="0"/>
            <a:ext cx="12192000" cy="1268760"/>
          </a:xfrm>
          <a:solidFill>
            <a:schemeClr val="accent5">
              <a:lumMod val="20000"/>
              <a:lumOff val="80000"/>
            </a:schemeClr>
          </a:solidFill>
        </p:spPr>
        <p:txBody>
          <a:bodyPr>
            <a:noAutofit/>
          </a:bodyPr>
          <a:lstStyle/>
          <a:p>
            <a:pPr algn="l"/>
            <a:r>
              <a:rPr lang="en-GB" sz="3200" b="1" dirty="0">
                <a:solidFill>
                  <a:schemeClr val="accent5">
                    <a:lumMod val="50000"/>
                  </a:schemeClr>
                </a:solidFill>
              </a:rPr>
              <a:t>Prehistory of MC </a:t>
            </a:r>
            <a:r>
              <a:rPr lang="pl-PL" sz="3200" b="1" dirty="0">
                <a:solidFill>
                  <a:schemeClr val="accent5">
                    <a:lumMod val="50000"/>
                  </a:schemeClr>
                </a:solidFill>
                <a:sym typeface="Wingdings" panose="05000000000000000000" pitchFamily="2" charset="2"/>
              </a:rPr>
              <a:t></a:t>
            </a:r>
            <a:br>
              <a:rPr lang="en-GB" sz="3200" b="1" dirty="0">
                <a:solidFill>
                  <a:schemeClr val="accent5">
                    <a:lumMod val="50000"/>
                  </a:schemeClr>
                </a:solidFill>
              </a:rPr>
            </a:br>
            <a:r>
              <a:rPr lang="en-GB" sz="3200" b="1" dirty="0">
                <a:solidFill>
                  <a:schemeClr val="accent5">
                    <a:lumMod val="50000"/>
                  </a:schemeClr>
                </a:solidFill>
              </a:rPr>
              <a:t>The old scientific demonstration "Buffon needle"</a:t>
            </a:r>
            <a:endParaRPr lang="pl-PL" sz="3200" b="1" dirty="0">
              <a:solidFill>
                <a:schemeClr val="accent5">
                  <a:lumMod val="50000"/>
                </a:schemeClr>
              </a:solidFill>
            </a:endParaRPr>
          </a:p>
        </p:txBody>
      </p:sp>
      <p:sp>
        <p:nvSpPr>
          <p:cNvPr id="2" name="Prostokąt 1"/>
          <p:cNvSpPr/>
          <p:nvPr/>
        </p:nvSpPr>
        <p:spPr>
          <a:xfrm>
            <a:off x="3902348" y="4731957"/>
            <a:ext cx="3326854" cy="584775"/>
          </a:xfrm>
          <a:prstGeom prst="rect">
            <a:avLst/>
          </a:prstGeom>
        </p:spPr>
        <p:txBody>
          <a:bodyPr wrap="square">
            <a:spAutoFit/>
          </a:bodyPr>
          <a:lstStyle/>
          <a:p>
            <a:r>
              <a:rPr lang="en-GB" sz="3200" b="1" dirty="0" err="1">
                <a:solidFill>
                  <a:srgbClr val="FF0000"/>
                </a:solidFill>
                <a:latin typeface="Calibri"/>
              </a:rPr>
              <a:t>Buffon_needle.R</a:t>
            </a:r>
            <a:endParaRPr lang="en-GB" dirty="0">
              <a:solidFill>
                <a:prstClr val="black"/>
              </a:solidFill>
              <a:latin typeface="Calibri"/>
            </a:endParaRPr>
          </a:p>
        </p:txBody>
      </p:sp>
      <p:sp>
        <p:nvSpPr>
          <p:cNvPr id="3" name="TextBox 2">
            <a:extLst>
              <a:ext uri="{FF2B5EF4-FFF2-40B4-BE49-F238E27FC236}">
                <a16:creationId xmlns:a16="http://schemas.microsoft.com/office/drawing/2014/main" id="{17E51305-3797-B87B-0A83-A11BA7B3C8AD}"/>
              </a:ext>
            </a:extLst>
          </p:cNvPr>
          <p:cNvSpPr txBox="1"/>
          <p:nvPr/>
        </p:nvSpPr>
        <p:spPr>
          <a:xfrm rot="18806356">
            <a:off x="6234694" y="5122058"/>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84995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pole tekstowe 5"/>
              <p:cNvSpPr txBox="1"/>
              <p:nvPr/>
            </p:nvSpPr>
            <p:spPr>
              <a:xfrm>
                <a:off x="107486" y="1382653"/>
                <a:ext cx="5330788" cy="5403659"/>
              </a:xfrm>
              <a:prstGeom prst="rect">
                <a:avLst/>
              </a:prstGeom>
              <a:noFill/>
            </p:spPr>
            <p:txBody>
              <a:bodyPr wrap="square" rtlCol="0">
                <a:spAutoFit/>
              </a:bodyPr>
              <a:lstStyle/>
              <a:p>
                <a:pPr algn="just"/>
                <a:r>
                  <a:rPr lang="en-US" sz="2800" dirty="0">
                    <a:solidFill>
                      <a:srgbClr val="4BACC6">
                        <a:lumMod val="50000"/>
                      </a:srgbClr>
                    </a:solidFill>
                  </a:rPr>
                  <a:t>Sometimes, Maxima has to use numerical calculations.  It is hard to calculate definite integrals like these </a:t>
                </a:r>
                <a:r>
                  <a:rPr lang="pl-PL" sz="2800" dirty="0">
                    <a:solidFill>
                      <a:srgbClr val="4BACC6">
                        <a:lumMod val="50000"/>
                      </a:srgbClr>
                    </a:solidFill>
                    <a:sym typeface="Wingdings" panose="05000000000000000000" pitchFamily="2" charset="2"/>
                  </a:rPr>
                  <a:t></a:t>
                </a:r>
                <a:r>
                  <a:rPr lang="pl-PL" sz="2800" dirty="0">
                    <a:solidFill>
                      <a:srgbClr val="4BACC6">
                        <a:lumMod val="50000"/>
                      </a:srgbClr>
                    </a:solidFill>
                    <a:latin typeface="Calibri"/>
                  </a:rPr>
                  <a:t>:</a:t>
                </a:r>
                <a:endParaRPr lang="en-GB" sz="2800" dirty="0">
                  <a:solidFill>
                    <a:srgbClr val="4BACC6">
                      <a:lumMod val="50000"/>
                    </a:srgbClr>
                  </a:solidFill>
                  <a:latin typeface="Calibri"/>
                </a:endParaRPr>
              </a:p>
              <a:p>
                <a:pPr marL="514350" indent="-514350">
                  <a:buAutoNum type="arabicPeriod"/>
                </a:pPr>
                <a14:m>
                  <m:oMath xmlns:m="http://schemas.openxmlformats.org/officeDocument/2006/math">
                    <m:f>
                      <m:fPr>
                        <m:ctrlPr>
                          <a:rPr lang="pl-PL" sz="2800" i="1">
                            <a:solidFill>
                              <a:srgbClr val="4BACC6">
                                <a:lumMod val="50000"/>
                              </a:srgbClr>
                            </a:solidFill>
                            <a:latin typeface="Cambria Math" panose="02040503050406030204" pitchFamily="18" charset="0"/>
                          </a:rPr>
                        </m:ctrlPr>
                      </m:fPr>
                      <m:num>
                        <m:r>
                          <a:rPr lang="pl-PL" sz="2800" i="1">
                            <a:solidFill>
                              <a:srgbClr val="4BACC6">
                                <a:lumMod val="50000"/>
                              </a:srgbClr>
                            </a:solidFill>
                            <a:latin typeface="Cambria Math" panose="02040503050406030204" pitchFamily="18" charset="0"/>
                          </a:rPr>
                          <m:t>1</m:t>
                        </m:r>
                      </m:num>
                      <m:den>
                        <m:rad>
                          <m:radPr>
                            <m:degHide m:val="on"/>
                            <m:ctrlPr>
                              <a:rPr lang="pl-PL" sz="2800" i="1">
                                <a:solidFill>
                                  <a:srgbClr val="4BACC6">
                                    <a:lumMod val="50000"/>
                                  </a:srgbClr>
                                </a:solidFill>
                                <a:latin typeface="Cambria Math" panose="02040503050406030204" pitchFamily="18" charset="0"/>
                              </a:rPr>
                            </m:ctrlPr>
                          </m:radPr>
                          <m:deg/>
                          <m:e>
                            <m:r>
                              <a:rPr lang="pl-PL" sz="2800" i="1">
                                <a:solidFill>
                                  <a:srgbClr val="4BACC6">
                                    <a:lumMod val="50000"/>
                                  </a:srgbClr>
                                </a:solidFill>
                                <a:latin typeface="Cambria Math" panose="02040503050406030204" pitchFamily="18" charset="0"/>
                              </a:rPr>
                              <m:t>2</m:t>
                            </m:r>
                            <m:r>
                              <a:rPr lang="pl-PL" sz="2800" i="1">
                                <a:solidFill>
                                  <a:srgbClr val="4BACC6">
                                    <a:lumMod val="50000"/>
                                  </a:srgbClr>
                                </a:solidFill>
                                <a:latin typeface="Cambria Math" panose="02040503050406030204" pitchFamily="18" charset="0"/>
                                <a:ea typeface="Cambria Math" panose="02040503050406030204" pitchFamily="18" charset="0"/>
                              </a:rPr>
                              <m:t>𝜋</m:t>
                            </m:r>
                          </m:e>
                        </m:rad>
                      </m:den>
                    </m:f>
                    <m:nary>
                      <m:naryPr>
                        <m:ctrlPr>
                          <a:rPr lang="pl-PL" sz="2800" i="1">
                            <a:solidFill>
                              <a:srgbClr val="4BACC6">
                                <a:lumMod val="50000"/>
                              </a:srgbClr>
                            </a:solidFill>
                            <a:latin typeface="Cambria Math" panose="02040503050406030204" pitchFamily="18" charset="0"/>
                          </a:rPr>
                        </m:ctrlPr>
                      </m:naryPr>
                      <m:sub>
                        <m:r>
                          <m:rPr>
                            <m:brk m:alnAt="23"/>
                          </m:rPr>
                          <a:rPr lang="pl-PL" sz="2800" i="1">
                            <a:solidFill>
                              <a:srgbClr val="4BACC6">
                                <a:lumMod val="50000"/>
                              </a:srgbClr>
                            </a:solidFill>
                            <a:latin typeface="Cambria Math" panose="02040503050406030204" pitchFamily="18" charset="0"/>
                          </a:rPr>
                          <m:t>−</m:t>
                        </m:r>
                        <m:r>
                          <a:rPr lang="pl-PL" sz="2800" i="1">
                            <a:solidFill>
                              <a:srgbClr val="4BACC6">
                                <a:lumMod val="50000"/>
                              </a:srgbClr>
                            </a:solidFill>
                            <a:latin typeface="Cambria Math" panose="02040503050406030204" pitchFamily="18" charset="0"/>
                          </a:rPr>
                          <m:t>1.03</m:t>
                        </m:r>
                      </m:sub>
                      <m:sup>
                        <m:r>
                          <a:rPr lang="pl-PL" sz="2800" i="1">
                            <a:solidFill>
                              <a:srgbClr val="4BACC6">
                                <a:lumMod val="50000"/>
                              </a:srgbClr>
                            </a:solidFill>
                            <a:latin typeface="Cambria Math" panose="02040503050406030204" pitchFamily="18" charset="0"/>
                          </a:rPr>
                          <m:t>0.54</m:t>
                        </m:r>
                      </m:sup>
                      <m:e>
                        <m:sSup>
                          <m:sSupPr>
                            <m:ctrlPr>
                              <a:rPr lang="pl-PL" sz="2800" i="1">
                                <a:solidFill>
                                  <a:srgbClr val="4BACC6">
                                    <a:lumMod val="50000"/>
                                  </a:srgbClr>
                                </a:solidFill>
                                <a:latin typeface="Cambria Math" panose="02040503050406030204" pitchFamily="18" charset="0"/>
                              </a:rPr>
                            </m:ctrlPr>
                          </m:sSupPr>
                          <m:e>
                            <m:r>
                              <a:rPr lang="pl-PL" sz="2800" i="1">
                                <a:solidFill>
                                  <a:srgbClr val="4BACC6">
                                    <a:lumMod val="50000"/>
                                  </a:srgbClr>
                                </a:solidFill>
                                <a:latin typeface="Cambria Math" panose="02040503050406030204" pitchFamily="18" charset="0"/>
                              </a:rPr>
                              <m:t>𝑒</m:t>
                            </m:r>
                          </m:e>
                          <m:sup>
                            <m:r>
                              <a:rPr lang="pl-PL" sz="2800" i="1">
                                <a:solidFill>
                                  <a:srgbClr val="4BACC6">
                                    <a:lumMod val="50000"/>
                                  </a:srgbClr>
                                </a:solidFill>
                                <a:latin typeface="Cambria Math" panose="02040503050406030204" pitchFamily="18" charset="0"/>
                              </a:rPr>
                              <m:t>−</m:t>
                            </m:r>
                            <m:f>
                              <m:fPr>
                                <m:ctrlPr>
                                  <a:rPr lang="pl-PL" sz="2800" i="1">
                                    <a:solidFill>
                                      <a:srgbClr val="4BACC6">
                                        <a:lumMod val="50000"/>
                                      </a:srgbClr>
                                    </a:solidFill>
                                    <a:latin typeface="Cambria Math" panose="02040503050406030204" pitchFamily="18" charset="0"/>
                                  </a:rPr>
                                </m:ctrlPr>
                              </m:fPr>
                              <m:num>
                                <m:r>
                                  <a:rPr lang="pl-PL" sz="2800" i="1">
                                    <a:solidFill>
                                      <a:srgbClr val="4BACC6">
                                        <a:lumMod val="50000"/>
                                      </a:srgbClr>
                                    </a:solidFill>
                                    <a:latin typeface="Cambria Math" panose="02040503050406030204" pitchFamily="18" charset="0"/>
                                  </a:rPr>
                                  <m:t>1</m:t>
                                </m:r>
                              </m:num>
                              <m:den>
                                <m:r>
                                  <a:rPr lang="pl-PL" sz="2800" i="1">
                                    <a:solidFill>
                                      <a:srgbClr val="4BACC6">
                                        <a:lumMod val="50000"/>
                                      </a:srgbClr>
                                    </a:solidFill>
                                    <a:latin typeface="Cambria Math" panose="02040503050406030204" pitchFamily="18" charset="0"/>
                                  </a:rPr>
                                  <m:t>2</m:t>
                                </m:r>
                              </m:den>
                            </m:f>
                            <m:sSup>
                              <m:sSupPr>
                                <m:ctrlPr>
                                  <a:rPr lang="pl-PL" sz="2800" i="1">
                                    <a:solidFill>
                                      <a:srgbClr val="4BACC6">
                                        <a:lumMod val="50000"/>
                                      </a:srgbClr>
                                    </a:solidFill>
                                    <a:latin typeface="Cambria Math" panose="02040503050406030204" pitchFamily="18" charset="0"/>
                                  </a:rPr>
                                </m:ctrlPr>
                              </m:sSupPr>
                              <m:e>
                                <m:r>
                                  <a:rPr lang="pl-PL" sz="2800" i="1">
                                    <a:solidFill>
                                      <a:srgbClr val="4BACC6">
                                        <a:lumMod val="50000"/>
                                      </a:srgbClr>
                                    </a:solidFill>
                                    <a:latin typeface="Cambria Math" panose="02040503050406030204" pitchFamily="18" charset="0"/>
                                  </a:rPr>
                                  <m:t>𝑥</m:t>
                                </m:r>
                              </m:e>
                              <m:sup>
                                <m:r>
                                  <a:rPr lang="pl-PL" sz="2800" i="1">
                                    <a:solidFill>
                                      <a:srgbClr val="4BACC6">
                                        <a:lumMod val="50000"/>
                                      </a:srgbClr>
                                    </a:solidFill>
                                    <a:latin typeface="Cambria Math" panose="02040503050406030204" pitchFamily="18" charset="0"/>
                                  </a:rPr>
                                  <m:t>2</m:t>
                                </m:r>
                              </m:sup>
                            </m:sSup>
                          </m:sup>
                        </m:sSup>
                      </m:e>
                    </m:nary>
                    <m:r>
                      <a:rPr lang="pl-PL" sz="2800" b="0" i="1" smtClean="0">
                        <a:solidFill>
                          <a:srgbClr val="4BACC6">
                            <a:lumMod val="50000"/>
                          </a:srgbClr>
                        </a:solidFill>
                        <a:latin typeface="Cambria Math" panose="02040503050406030204" pitchFamily="18" charset="0"/>
                      </a:rPr>
                      <m:t>𝑑𝑥</m:t>
                    </m:r>
                  </m:oMath>
                </a14:m>
                <a:endParaRPr lang="pl-PL" sz="2800" dirty="0">
                  <a:solidFill>
                    <a:srgbClr val="4BACC6">
                      <a:lumMod val="50000"/>
                    </a:srgbClr>
                  </a:solidFill>
                  <a:latin typeface="Calibri"/>
                </a:endParaRPr>
              </a:p>
              <a:p>
                <a:pPr marL="514350" indent="-514350">
                  <a:buAutoNum type="arabicPeriod"/>
                </a:pPr>
                <a14:m>
                  <m:oMath xmlns:m="http://schemas.openxmlformats.org/officeDocument/2006/math">
                    <m:f>
                      <m:fPr>
                        <m:ctrlPr>
                          <a:rPr lang="pl-PL" sz="2800" i="1">
                            <a:solidFill>
                              <a:srgbClr val="4BACC6">
                                <a:lumMod val="50000"/>
                              </a:srgbClr>
                            </a:solidFill>
                            <a:latin typeface="Cambria Math" panose="02040503050406030204" pitchFamily="18" charset="0"/>
                          </a:rPr>
                        </m:ctrlPr>
                      </m:fPr>
                      <m:num>
                        <m:r>
                          <a:rPr lang="pl-PL" sz="2800" i="1">
                            <a:solidFill>
                              <a:srgbClr val="4BACC6">
                                <a:lumMod val="50000"/>
                              </a:srgbClr>
                            </a:solidFill>
                            <a:latin typeface="Cambria Math" panose="02040503050406030204" pitchFamily="18" charset="0"/>
                          </a:rPr>
                          <m:t>1</m:t>
                        </m:r>
                      </m:num>
                      <m:den>
                        <m:r>
                          <a:rPr lang="pl-PL" sz="2800" i="1">
                            <a:solidFill>
                              <a:srgbClr val="4BACC6">
                                <a:lumMod val="50000"/>
                              </a:srgbClr>
                            </a:solidFill>
                            <a:latin typeface="Cambria Math" panose="02040503050406030204" pitchFamily="18" charset="0"/>
                          </a:rPr>
                          <m:t>2</m:t>
                        </m:r>
                        <m:r>
                          <a:rPr lang="pl-PL" sz="2800" i="1">
                            <a:solidFill>
                              <a:srgbClr val="4BACC6">
                                <a:lumMod val="50000"/>
                              </a:srgbClr>
                            </a:solidFill>
                            <a:latin typeface="Cambria Math" panose="02040503050406030204" pitchFamily="18" charset="0"/>
                          </a:rPr>
                          <m:t>𝜋</m:t>
                        </m:r>
                      </m:den>
                    </m:f>
                    <m:nary>
                      <m:naryPr>
                        <m:limLoc m:val="undOvr"/>
                        <m:ctrlPr>
                          <a:rPr lang="pl-PL" sz="2800" i="1" smtClean="0">
                            <a:solidFill>
                              <a:srgbClr val="4BACC6">
                                <a:lumMod val="50000"/>
                              </a:srgbClr>
                            </a:solidFill>
                            <a:latin typeface="Cambria Math" panose="02040503050406030204" pitchFamily="18" charset="0"/>
                            <a:ea typeface="Cambria Math" panose="02040503050406030204" pitchFamily="18" charset="0"/>
                          </a:rPr>
                        </m:ctrlPr>
                      </m:naryPr>
                      <m:sub>
                        <m:r>
                          <m:rPr>
                            <m:brk m:alnAt="24"/>
                          </m:rPr>
                          <a:rPr lang="pl-PL" sz="2800" b="0" i="1" smtClean="0">
                            <a:solidFill>
                              <a:srgbClr val="4BACC6">
                                <a:lumMod val="50000"/>
                              </a:srgbClr>
                            </a:solidFill>
                            <a:latin typeface="Cambria Math" panose="02040503050406030204" pitchFamily="18" charset="0"/>
                            <a:ea typeface="Cambria Math" panose="02040503050406030204" pitchFamily="18" charset="0"/>
                          </a:rPr>
                          <m:t>−</m:t>
                        </m:r>
                        <m:r>
                          <a:rPr lang="pl-PL" sz="2800" b="0" i="1" smtClean="0">
                            <a:solidFill>
                              <a:srgbClr val="4BACC6">
                                <a:lumMod val="50000"/>
                              </a:srgbClr>
                            </a:solidFill>
                            <a:latin typeface="Cambria Math" panose="02040503050406030204" pitchFamily="18" charset="0"/>
                            <a:ea typeface="Cambria Math" panose="02040503050406030204" pitchFamily="18" charset="0"/>
                          </a:rPr>
                          <m:t>3.2</m:t>
                        </m:r>
                      </m:sub>
                      <m:sup>
                        <m:r>
                          <a:rPr lang="pl-PL" sz="2800" b="0" i="1" smtClean="0">
                            <a:solidFill>
                              <a:srgbClr val="4BACC6">
                                <a:lumMod val="50000"/>
                              </a:srgbClr>
                            </a:solidFill>
                            <a:latin typeface="Cambria Math" panose="02040503050406030204" pitchFamily="18" charset="0"/>
                            <a:ea typeface="Cambria Math" panose="02040503050406030204" pitchFamily="18" charset="0"/>
                          </a:rPr>
                          <m:t>1.3</m:t>
                        </m:r>
                      </m:sup>
                      <m:e>
                        <m:nary>
                          <m:naryPr>
                            <m:ctrlPr>
                              <a:rPr lang="pl-PL" sz="2800" i="1">
                                <a:solidFill>
                                  <a:srgbClr val="4BACC6">
                                    <a:lumMod val="50000"/>
                                  </a:srgbClr>
                                </a:solidFill>
                                <a:latin typeface="Cambria Math" panose="02040503050406030204" pitchFamily="18" charset="0"/>
                              </a:rPr>
                            </m:ctrlPr>
                          </m:naryPr>
                          <m:sub>
                            <m:r>
                              <m:rPr>
                                <m:brk m:alnAt="23"/>
                              </m:rPr>
                              <a:rPr lang="pl-PL" sz="2800" i="1">
                                <a:solidFill>
                                  <a:srgbClr val="4BACC6">
                                    <a:lumMod val="50000"/>
                                  </a:srgbClr>
                                </a:solidFill>
                                <a:latin typeface="Cambria Math" panose="02040503050406030204" pitchFamily="18" charset="0"/>
                              </a:rPr>
                              <m:t>−</m:t>
                            </m:r>
                            <m:r>
                              <a:rPr lang="pl-PL" sz="2800" b="0" i="1" smtClean="0">
                                <a:solidFill>
                                  <a:srgbClr val="4BACC6">
                                    <a:lumMod val="50000"/>
                                  </a:srgbClr>
                                </a:solidFill>
                                <a:latin typeface="Cambria Math" panose="02040503050406030204" pitchFamily="18" charset="0"/>
                              </a:rPr>
                              <m:t>2</m:t>
                            </m:r>
                            <m:r>
                              <a:rPr lang="pl-PL" sz="2800" i="1">
                                <a:solidFill>
                                  <a:srgbClr val="4BACC6">
                                    <a:lumMod val="50000"/>
                                  </a:srgbClr>
                                </a:solidFill>
                                <a:latin typeface="Cambria Math" panose="02040503050406030204" pitchFamily="18" charset="0"/>
                              </a:rPr>
                              <m:t>.03</m:t>
                            </m:r>
                          </m:sub>
                          <m:sup>
                            <m:r>
                              <a:rPr lang="pl-PL" sz="2800" b="0" i="1" smtClean="0">
                                <a:solidFill>
                                  <a:srgbClr val="4BACC6">
                                    <a:lumMod val="50000"/>
                                  </a:srgbClr>
                                </a:solidFill>
                                <a:latin typeface="Cambria Math" panose="02040503050406030204" pitchFamily="18" charset="0"/>
                              </a:rPr>
                              <m:t>1</m:t>
                            </m:r>
                            <m:r>
                              <a:rPr lang="pl-PL" sz="2800" i="1">
                                <a:solidFill>
                                  <a:srgbClr val="4BACC6">
                                    <a:lumMod val="50000"/>
                                  </a:srgbClr>
                                </a:solidFill>
                                <a:latin typeface="Cambria Math" panose="02040503050406030204" pitchFamily="18" charset="0"/>
                              </a:rPr>
                              <m:t>.</m:t>
                            </m:r>
                            <m:r>
                              <a:rPr lang="pl-PL" sz="2800" b="0" i="1" smtClean="0">
                                <a:solidFill>
                                  <a:srgbClr val="4BACC6">
                                    <a:lumMod val="50000"/>
                                  </a:srgbClr>
                                </a:solidFill>
                                <a:latin typeface="Cambria Math" panose="02040503050406030204" pitchFamily="18" charset="0"/>
                              </a:rPr>
                              <m:t>4</m:t>
                            </m:r>
                          </m:sup>
                          <m:e>
                            <m:sSup>
                              <m:sSupPr>
                                <m:ctrlPr>
                                  <a:rPr lang="pl-PL" sz="2800" i="1">
                                    <a:solidFill>
                                      <a:srgbClr val="4BACC6">
                                        <a:lumMod val="50000"/>
                                      </a:srgbClr>
                                    </a:solidFill>
                                    <a:latin typeface="Cambria Math" panose="02040503050406030204" pitchFamily="18" charset="0"/>
                                  </a:rPr>
                                </m:ctrlPr>
                              </m:sSupPr>
                              <m:e>
                                <m:r>
                                  <a:rPr lang="pl-PL" sz="2800" i="1">
                                    <a:solidFill>
                                      <a:srgbClr val="4BACC6">
                                        <a:lumMod val="50000"/>
                                      </a:srgbClr>
                                    </a:solidFill>
                                    <a:latin typeface="Cambria Math" panose="02040503050406030204" pitchFamily="18" charset="0"/>
                                  </a:rPr>
                                  <m:t>𝑒</m:t>
                                </m:r>
                              </m:e>
                              <m:sup>
                                <m:r>
                                  <a:rPr lang="pl-PL" sz="2800" i="1">
                                    <a:solidFill>
                                      <a:srgbClr val="4BACC6">
                                        <a:lumMod val="50000"/>
                                      </a:srgbClr>
                                    </a:solidFill>
                                    <a:latin typeface="Cambria Math" panose="02040503050406030204" pitchFamily="18" charset="0"/>
                                  </a:rPr>
                                  <m:t>−</m:t>
                                </m:r>
                                <m:f>
                                  <m:fPr>
                                    <m:ctrlPr>
                                      <a:rPr lang="pl-PL" sz="2800" i="1">
                                        <a:solidFill>
                                          <a:srgbClr val="4BACC6">
                                            <a:lumMod val="50000"/>
                                          </a:srgbClr>
                                        </a:solidFill>
                                        <a:latin typeface="Cambria Math" panose="02040503050406030204" pitchFamily="18" charset="0"/>
                                      </a:rPr>
                                    </m:ctrlPr>
                                  </m:fPr>
                                  <m:num>
                                    <m:r>
                                      <a:rPr lang="pl-PL" sz="2800" i="1">
                                        <a:solidFill>
                                          <a:srgbClr val="4BACC6">
                                            <a:lumMod val="50000"/>
                                          </a:srgbClr>
                                        </a:solidFill>
                                        <a:latin typeface="Cambria Math" panose="02040503050406030204" pitchFamily="18" charset="0"/>
                                      </a:rPr>
                                      <m:t>1</m:t>
                                    </m:r>
                                  </m:num>
                                  <m:den>
                                    <m:r>
                                      <a:rPr lang="pl-PL" sz="2800" i="1">
                                        <a:solidFill>
                                          <a:srgbClr val="4BACC6">
                                            <a:lumMod val="50000"/>
                                          </a:srgbClr>
                                        </a:solidFill>
                                        <a:latin typeface="Cambria Math" panose="02040503050406030204" pitchFamily="18" charset="0"/>
                                      </a:rPr>
                                      <m:t>2</m:t>
                                    </m:r>
                                  </m:den>
                                </m:f>
                                <m:sSup>
                                  <m:sSupPr>
                                    <m:ctrlPr>
                                      <a:rPr lang="pl-PL" sz="2800" i="1">
                                        <a:solidFill>
                                          <a:srgbClr val="4BACC6">
                                            <a:lumMod val="50000"/>
                                          </a:srgbClr>
                                        </a:solidFill>
                                        <a:latin typeface="Cambria Math" panose="02040503050406030204" pitchFamily="18" charset="0"/>
                                      </a:rPr>
                                    </m:ctrlPr>
                                  </m:sSupPr>
                                  <m:e>
                                    <m:r>
                                      <a:rPr lang="pl-PL" sz="2800" b="0" i="1" smtClean="0">
                                        <a:solidFill>
                                          <a:srgbClr val="4BACC6">
                                            <a:lumMod val="50000"/>
                                          </a:srgbClr>
                                        </a:solidFill>
                                        <a:latin typeface="Cambria Math" panose="02040503050406030204" pitchFamily="18" charset="0"/>
                                      </a:rPr>
                                      <m:t>(</m:t>
                                    </m:r>
                                    <m:r>
                                      <a:rPr lang="pl-PL" sz="2800" i="1">
                                        <a:solidFill>
                                          <a:srgbClr val="4BACC6">
                                            <a:lumMod val="50000"/>
                                          </a:srgbClr>
                                        </a:solidFill>
                                        <a:latin typeface="Cambria Math" panose="02040503050406030204" pitchFamily="18" charset="0"/>
                                      </a:rPr>
                                      <m:t>𝑥</m:t>
                                    </m:r>
                                  </m:e>
                                  <m:sup>
                                    <m:r>
                                      <a:rPr lang="pl-PL" sz="2800" i="1">
                                        <a:solidFill>
                                          <a:srgbClr val="4BACC6">
                                            <a:lumMod val="50000"/>
                                          </a:srgbClr>
                                        </a:solidFill>
                                        <a:latin typeface="Cambria Math" panose="02040503050406030204" pitchFamily="18" charset="0"/>
                                      </a:rPr>
                                      <m:t>2</m:t>
                                    </m:r>
                                  </m:sup>
                                </m:sSup>
                                <m:r>
                                  <a:rPr lang="pl-PL" sz="2800" b="0" i="1" smtClean="0">
                                    <a:solidFill>
                                      <a:srgbClr val="4BACC6">
                                        <a:lumMod val="50000"/>
                                      </a:srgbClr>
                                    </a:solidFill>
                                    <a:latin typeface="Cambria Math" panose="02040503050406030204" pitchFamily="18" charset="0"/>
                                  </a:rPr>
                                  <m:t>+</m:t>
                                </m:r>
                                <m:sSup>
                                  <m:sSupPr>
                                    <m:ctrlPr>
                                      <a:rPr lang="pl-PL" sz="2800" b="0" i="1" smtClean="0">
                                        <a:solidFill>
                                          <a:srgbClr val="4BACC6">
                                            <a:lumMod val="50000"/>
                                          </a:srgbClr>
                                        </a:solidFill>
                                        <a:latin typeface="Cambria Math" panose="02040503050406030204" pitchFamily="18" charset="0"/>
                                      </a:rPr>
                                    </m:ctrlPr>
                                  </m:sSupPr>
                                  <m:e>
                                    <m:r>
                                      <a:rPr lang="pl-PL" sz="2800" b="0" i="1" smtClean="0">
                                        <a:solidFill>
                                          <a:srgbClr val="4BACC6">
                                            <a:lumMod val="50000"/>
                                          </a:srgbClr>
                                        </a:solidFill>
                                        <a:latin typeface="Cambria Math" panose="02040503050406030204" pitchFamily="18" charset="0"/>
                                      </a:rPr>
                                      <m:t>𝑦</m:t>
                                    </m:r>
                                  </m:e>
                                  <m:sup>
                                    <m:r>
                                      <a:rPr lang="pl-PL" sz="2800" b="0" i="1" smtClean="0">
                                        <a:solidFill>
                                          <a:srgbClr val="4BACC6">
                                            <a:lumMod val="50000"/>
                                          </a:srgbClr>
                                        </a:solidFill>
                                        <a:latin typeface="Cambria Math" panose="02040503050406030204" pitchFamily="18" charset="0"/>
                                      </a:rPr>
                                      <m:t>2</m:t>
                                    </m:r>
                                  </m:sup>
                                </m:sSup>
                                <m:r>
                                  <a:rPr lang="pl-PL" sz="2800" b="0" i="1" smtClean="0">
                                    <a:solidFill>
                                      <a:srgbClr val="4BACC6">
                                        <a:lumMod val="50000"/>
                                      </a:srgbClr>
                                    </a:solidFill>
                                    <a:latin typeface="Cambria Math" panose="02040503050406030204" pitchFamily="18" charset="0"/>
                                  </a:rPr>
                                  <m:t>)</m:t>
                                </m:r>
                              </m:sup>
                            </m:sSup>
                            <m:r>
                              <a:rPr lang="pl-PL" sz="2800" b="0" i="1" smtClean="0">
                                <a:solidFill>
                                  <a:srgbClr val="4BACC6">
                                    <a:lumMod val="50000"/>
                                  </a:srgbClr>
                                </a:solidFill>
                                <a:latin typeface="Cambria Math" panose="02040503050406030204" pitchFamily="18" charset="0"/>
                              </a:rPr>
                              <m:t>𝑑𝑥𝑑𝑦</m:t>
                            </m:r>
                          </m:e>
                        </m:nary>
                      </m:e>
                    </m:nary>
                  </m:oMath>
                </a14:m>
                <a:endParaRPr lang="pl-PL" sz="2800" dirty="0">
                  <a:solidFill>
                    <a:srgbClr val="4BACC6">
                      <a:lumMod val="50000"/>
                    </a:srgbClr>
                  </a:solidFill>
                  <a:latin typeface="Calibri"/>
                </a:endParaRPr>
              </a:p>
              <a:p>
                <a:endParaRPr lang="pl-PL" sz="2800" dirty="0">
                  <a:solidFill>
                    <a:srgbClr val="4BACC6">
                      <a:lumMod val="50000"/>
                    </a:srgbClr>
                  </a:solidFill>
                  <a:latin typeface="Calibri"/>
                </a:endParaRPr>
              </a:p>
              <a:p>
                <a:r>
                  <a:rPr lang="en-GB" sz="2800" dirty="0">
                    <a:solidFill>
                      <a:srgbClr val="4BACC6">
                        <a:lumMod val="50000"/>
                      </a:srgbClr>
                    </a:solidFill>
                    <a:latin typeface="Calibri"/>
                  </a:rPr>
                  <a:t>Calculate the integral</a:t>
                </a:r>
                <a:r>
                  <a:rPr lang="pl-PL" sz="2800" dirty="0">
                    <a:solidFill>
                      <a:srgbClr val="4BACC6">
                        <a:lumMod val="50000"/>
                      </a:srgbClr>
                    </a:solidFill>
                    <a:latin typeface="Calibri"/>
                  </a:rPr>
                  <a:t>s</a:t>
                </a:r>
                <a:r>
                  <a:rPr lang="en-GB" sz="2800" dirty="0">
                    <a:solidFill>
                      <a:srgbClr val="4BACC6">
                        <a:lumMod val="50000"/>
                      </a:srgbClr>
                    </a:solidFill>
                    <a:latin typeface="Calibri"/>
                  </a:rPr>
                  <a:t> </a:t>
                </a:r>
                <a:r>
                  <a:rPr lang="pl-PL" sz="2800" dirty="0" err="1">
                    <a:solidFill>
                      <a:srgbClr val="4BACC6">
                        <a:lumMod val="50000"/>
                      </a:srgbClr>
                    </a:solidFill>
                    <a:latin typeface="Calibri"/>
                  </a:rPr>
                  <a:t>using</a:t>
                </a:r>
                <a:r>
                  <a:rPr lang="pl-PL" sz="2800" dirty="0">
                    <a:solidFill>
                      <a:srgbClr val="4BACC6">
                        <a:lumMod val="50000"/>
                      </a:srgbClr>
                    </a:solidFill>
                    <a:latin typeface="Calibri"/>
                  </a:rPr>
                  <a:t> Maxima and </a:t>
                </a:r>
                <a:r>
                  <a:rPr lang="pl-PL" sz="2800" dirty="0" err="1">
                    <a:solidFill>
                      <a:srgbClr val="4BACC6">
                        <a:lumMod val="50000"/>
                      </a:srgbClr>
                    </a:solidFill>
                    <a:latin typeface="Calibri"/>
                  </a:rPr>
                  <a:t>comapre</a:t>
                </a:r>
                <a:r>
                  <a:rPr lang="pl-PL" sz="2800" dirty="0">
                    <a:solidFill>
                      <a:srgbClr val="4BACC6">
                        <a:lumMod val="50000"/>
                      </a:srgbClr>
                    </a:solidFill>
                    <a:latin typeface="Calibri"/>
                  </a:rPr>
                  <a:t> with </a:t>
                </a:r>
                <a:r>
                  <a:rPr lang="en-GB" sz="2800" dirty="0">
                    <a:solidFill>
                      <a:srgbClr val="4BACC6">
                        <a:lumMod val="50000"/>
                      </a:srgbClr>
                    </a:solidFill>
                    <a:latin typeface="Calibri"/>
                  </a:rPr>
                  <a:t>MC simulation</a:t>
                </a:r>
                <a:r>
                  <a:rPr lang="pl-PL" sz="2800" dirty="0">
                    <a:solidFill>
                      <a:srgbClr val="4BACC6">
                        <a:lumMod val="50000"/>
                      </a:srgbClr>
                    </a:solidFill>
                    <a:latin typeface="Calibri"/>
                  </a:rPr>
                  <a:t> in R</a:t>
                </a:r>
                <a:r>
                  <a:rPr lang="en-GB" sz="2800" dirty="0">
                    <a:solidFill>
                      <a:srgbClr val="4BACC6">
                        <a:lumMod val="50000"/>
                      </a:srgbClr>
                    </a:solidFill>
                    <a:latin typeface="Calibri"/>
                  </a:rPr>
                  <a:t>.</a:t>
                </a:r>
                <a:r>
                  <a:rPr lang="pl-PL" sz="2800" dirty="0">
                    <a:solidFill>
                      <a:srgbClr val="4BACC6">
                        <a:lumMod val="50000"/>
                      </a:srgbClr>
                    </a:solidFill>
                    <a:latin typeface="Calibri"/>
                  </a:rPr>
                  <a:t> </a:t>
                </a:r>
                <a:r>
                  <a:rPr lang="pl-PL" sz="2800" b="1" dirty="0" err="1">
                    <a:solidFill>
                      <a:srgbClr val="C00000"/>
                    </a:solidFill>
                    <a:latin typeface="Calibri"/>
                  </a:rPr>
                  <a:t>There</a:t>
                </a:r>
                <a:r>
                  <a:rPr lang="pl-PL" sz="2800" b="1" dirty="0">
                    <a:solidFill>
                      <a:srgbClr val="C00000"/>
                    </a:solidFill>
                    <a:latin typeface="Calibri"/>
                  </a:rPr>
                  <a:t> </a:t>
                </a:r>
                <a:r>
                  <a:rPr lang="pl-PL" sz="2800" b="1" dirty="0" err="1">
                    <a:solidFill>
                      <a:srgbClr val="C00000"/>
                    </a:solidFill>
                    <a:latin typeface="Calibri"/>
                  </a:rPr>
                  <a:t>is</a:t>
                </a:r>
                <a:r>
                  <a:rPr lang="pl-PL" sz="2800" b="1" dirty="0">
                    <a:solidFill>
                      <a:srgbClr val="C00000"/>
                    </a:solidFill>
                    <a:latin typeface="Calibri"/>
                  </a:rPr>
                  <a:t> a problem in </a:t>
                </a:r>
                <a:r>
                  <a:rPr lang="pl-PL" sz="2800" b="1" dirty="0" err="1">
                    <a:solidFill>
                      <a:srgbClr val="C00000"/>
                    </a:solidFill>
                    <a:latin typeface="Calibri"/>
                  </a:rPr>
                  <a:t>code</a:t>
                </a:r>
                <a:r>
                  <a:rPr lang="pl-PL" sz="2800" b="1" dirty="0">
                    <a:solidFill>
                      <a:srgbClr val="C00000"/>
                    </a:solidFill>
                    <a:latin typeface="Calibri"/>
                  </a:rPr>
                  <a:t> – </a:t>
                </a:r>
                <a:r>
                  <a:rPr lang="pl-PL" sz="2800" b="1" dirty="0" err="1">
                    <a:solidFill>
                      <a:srgbClr val="C00000"/>
                    </a:solidFill>
                    <a:latin typeface="Calibri"/>
                  </a:rPr>
                  <a:t>fix</a:t>
                </a:r>
                <a:r>
                  <a:rPr lang="pl-PL" sz="2800" b="1" dirty="0">
                    <a:solidFill>
                      <a:srgbClr val="C00000"/>
                    </a:solidFill>
                    <a:latin typeface="Calibri"/>
                  </a:rPr>
                  <a:t> </a:t>
                </a:r>
                <a:r>
                  <a:rPr lang="pl-PL" sz="2800" b="1" dirty="0" err="1">
                    <a:solidFill>
                      <a:srgbClr val="C00000"/>
                    </a:solidFill>
                    <a:latin typeface="Calibri"/>
                  </a:rPr>
                  <a:t>it</a:t>
                </a:r>
                <a:r>
                  <a:rPr lang="pl-PL" sz="2800" b="1" dirty="0">
                    <a:solidFill>
                      <a:srgbClr val="C00000"/>
                    </a:solidFill>
                    <a:latin typeface="Calibri"/>
                  </a:rPr>
                  <a:t>. </a:t>
                </a:r>
              </a:p>
            </p:txBody>
          </p:sp>
        </mc:Choice>
        <mc:Fallback xmlns="">
          <p:sp>
            <p:nvSpPr>
              <p:cNvPr id="6" name="pole tekstowe 5"/>
              <p:cNvSpPr txBox="1">
                <a:spLocks noRot="1" noChangeAspect="1" noMove="1" noResize="1" noEditPoints="1" noAdjustHandles="1" noChangeArrowheads="1" noChangeShapeType="1" noTextEdit="1"/>
              </p:cNvSpPr>
              <p:nvPr/>
            </p:nvSpPr>
            <p:spPr>
              <a:xfrm>
                <a:off x="107486" y="1382653"/>
                <a:ext cx="5330788" cy="5403659"/>
              </a:xfrm>
              <a:prstGeom prst="rect">
                <a:avLst/>
              </a:prstGeom>
              <a:blipFill>
                <a:blip r:embed="rId2"/>
                <a:stretch>
                  <a:fillRect l="-2403" t="-1129" r="-2288" b="-1806"/>
                </a:stretch>
              </a:blipFill>
            </p:spPr>
            <p:txBody>
              <a:bodyPr/>
              <a:lstStyle/>
              <a:p>
                <a:r>
                  <a:rPr lang="pl-PL">
                    <a:noFill/>
                  </a:rPr>
                  <a:t> </a:t>
                </a:r>
              </a:p>
            </p:txBody>
          </p:sp>
        </mc:Fallback>
      </mc:AlternateContent>
      <p:sp>
        <p:nvSpPr>
          <p:cNvPr id="2" name="Tytuł 1"/>
          <p:cNvSpPr>
            <a:spLocks noGrp="1"/>
          </p:cNvSpPr>
          <p:nvPr>
            <p:ph type="title"/>
          </p:nvPr>
        </p:nvSpPr>
        <p:spPr>
          <a:xfrm>
            <a:off x="-1" y="0"/>
            <a:ext cx="12262585" cy="1268760"/>
          </a:xfrm>
          <a:solidFill>
            <a:schemeClr val="accent5">
              <a:lumMod val="20000"/>
              <a:lumOff val="80000"/>
            </a:schemeClr>
          </a:solidFill>
        </p:spPr>
        <p:txBody>
          <a:bodyPr>
            <a:normAutofit/>
          </a:bodyPr>
          <a:lstStyle/>
          <a:p>
            <a:r>
              <a:rPr lang="pl-PL" b="1" dirty="0" err="1">
                <a:solidFill>
                  <a:schemeClr val="accent5">
                    <a:lumMod val="50000"/>
                  </a:schemeClr>
                </a:solidFill>
              </a:rPr>
              <a:t>Task</a:t>
            </a:r>
            <a:r>
              <a:rPr lang="pl-PL" b="1" dirty="0">
                <a:solidFill>
                  <a:schemeClr val="accent5">
                    <a:lumMod val="50000"/>
                  </a:schemeClr>
                </a:solidFill>
              </a:rPr>
              <a:t> MC </a:t>
            </a:r>
            <a:r>
              <a:rPr lang="pl-PL" b="1" dirty="0" err="1">
                <a:solidFill>
                  <a:schemeClr val="accent5">
                    <a:lumMod val="50000"/>
                  </a:schemeClr>
                </a:solidFill>
              </a:rPr>
              <a:t>simulation</a:t>
            </a:r>
            <a:r>
              <a:rPr lang="pl-PL" b="1" dirty="0">
                <a:solidFill>
                  <a:schemeClr val="accent5">
                    <a:lumMod val="50000"/>
                  </a:schemeClr>
                </a:solidFill>
              </a:rPr>
              <a:t> (</a:t>
            </a:r>
            <a:r>
              <a:rPr lang="pl-PL" b="1" dirty="0" err="1">
                <a:solidFill>
                  <a:schemeClr val="accent5">
                    <a:lumMod val="50000"/>
                  </a:schemeClr>
                </a:solidFill>
              </a:rPr>
              <a:t>at</a:t>
            </a:r>
            <a:r>
              <a:rPr lang="pl-PL" b="1" dirty="0">
                <a:solidFill>
                  <a:schemeClr val="accent5">
                    <a:lumMod val="50000"/>
                  </a:schemeClr>
                </a:solidFill>
              </a:rPr>
              <a:t> </a:t>
            </a:r>
            <a:r>
              <a:rPr lang="pl-PL" b="1" dirty="0" err="1">
                <a:solidFill>
                  <a:schemeClr val="accent5">
                    <a:lumMod val="50000"/>
                  </a:schemeClr>
                </a:solidFill>
              </a:rPr>
              <a:t>home</a:t>
            </a:r>
            <a:r>
              <a:rPr lang="pl-PL" b="1" dirty="0">
                <a:solidFill>
                  <a:schemeClr val="accent5">
                    <a:lumMod val="50000"/>
                  </a:schemeClr>
                </a:solidFill>
              </a:rPr>
              <a:t> - R) </a:t>
            </a:r>
            <a:endParaRPr lang="en-GB" b="1" dirty="0">
              <a:solidFill>
                <a:schemeClr val="accent5">
                  <a:lumMod val="50000"/>
                </a:schemeClr>
              </a:solidFill>
            </a:endParaRPr>
          </a:p>
        </p:txBody>
      </p:sp>
      <p:sp>
        <p:nvSpPr>
          <p:cNvPr id="8" name="Prostokąt 7"/>
          <p:cNvSpPr/>
          <p:nvPr/>
        </p:nvSpPr>
        <p:spPr>
          <a:xfrm>
            <a:off x="5438274" y="1268760"/>
            <a:ext cx="4158113" cy="646331"/>
          </a:xfrm>
          <a:prstGeom prst="rect">
            <a:avLst/>
          </a:prstGeom>
        </p:spPr>
        <p:txBody>
          <a:bodyPr wrap="square">
            <a:spAutoFit/>
          </a:bodyPr>
          <a:lstStyle/>
          <a:p>
            <a:r>
              <a:rPr lang="en-US" dirty="0">
                <a:solidFill>
                  <a:schemeClr val="accent5">
                    <a:lumMod val="50000"/>
                  </a:schemeClr>
                </a:solidFill>
              </a:rPr>
              <a:t>Use functions </a:t>
            </a:r>
            <a:r>
              <a:rPr lang="en-US" b="1" dirty="0" err="1">
                <a:solidFill>
                  <a:schemeClr val="accent5">
                    <a:lumMod val="50000"/>
                  </a:schemeClr>
                </a:solidFill>
              </a:rPr>
              <a:t>mcint</a:t>
            </a:r>
            <a:r>
              <a:rPr lang="en-US" dirty="0">
                <a:solidFill>
                  <a:schemeClr val="accent5">
                    <a:lumMod val="50000"/>
                  </a:schemeClr>
                </a:solidFill>
              </a:rPr>
              <a:t> from </a:t>
            </a:r>
            <a:r>
              <a:rPr lang="en-US" b="1" dirty="0" err="1">
                <a:solidFill>
                  <a:schemeClr val="accent5">
                    <a:lumMod val="50000"/>
                  </a:schemeClr>
                </a:solidFill>
              </a:rPr>
              <a:t>integrals_MC.R</a:t>
            </a:r>
            <a:r>
              <a:rPr lang="en-US" dirty="0">
                <a:solidFill>
                  <a:schemeClr val="accent5">
                    <a:lumMod val="50000"/>
                  </a:schemeClr>
                </a:solidFill>
              </a:rPr>
              <a:t> </a:t>
            </a:r>
            <a:endParaRPr lang="pl-PL" dirty="0">
              <a:solidFill>
                <a:schemeClr val="accent5">
                  <a:lumMod val="50000"/>
                </a:schemeClr>
              </a:solidFill>
            </a:endParaRPr>
          </a:p>
          <a:p>
            <a:r>
              <a:rPr lang="en-US" dirty="0" err="1">
                <a:solidFill>
                  <a:schemeClr val="accent5">
                    <a:lumMod val="50000"/>
                  </a:schemeClr>
                </a:solidFill>
              </a:rPr>
              <a:t>Modyfy</a:t>
            </a:r>
            <a:r>
              <a:rPr lang="pl-PL" dirty="0">
                <a:solidFill>
                  <a:schemeClr val="accent5">
                    <a:lumMod val="50000"/>
                  </a:schemeClr>
                </a:solidFill>
              </a:rPr>
              <a:t> </a:t>
            </a:r>
            <a:r>
              <a:rPr lang="en-US" dirty="0">
                <a:solidFill>
                  <a:schemeClr val="accent5">
                    <a:lumMod val="50000"/>
                  </a:schemeClr>
                </a:solidFill>
              </a:rPr>
              <a:t>only these part of codes: </a:t>
            </a:r>
          </a:p>
        </p:txBody>
      </p:sp>
      <p:sp>
        <p:nvSpPr>
          <p:cNvPr id="7" name="Prostokąt 6"/>
          <p:cNvSpPr/>
          <p:nvPr/>
        </p:nvSpPr>
        <p:spPr>
          <a:xfrm>
            <a:off x="5621153" y="4957578"/>
            <a:ext cx="6096001"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pl-PL" dirty="0" err="1">
                <a:solidFill>
                  <a:schemeClr val="accent5">
                    <a:lumMod val="50000"/>
                  </a:schemeClr>
                </a:solidFill>
              </a:rPr>
              <a:t>kill</a:t>
            </a:r>
            <a:r>
              <a:rPr lang="pl-PL" dirty="0">
                <a:solidFill>
                  <a:schemeClr val="accent5">
                    <a:lumMod val="50000"/>
                  </a:schemeClr>
                </a:solidFill>
              </a:rPr>
              <a:t>(</a:t>
            </a:r>
            <a:r>
              <a:rPr lang="pl-PL" dirty="0" err="1">
                <a:solidFill>
                  <a:schemeClr val="accent5">
                    <a:lumMod val="50000"/>
                  </a:schemeClr>
                </a:solidFill>
              </a:rPr>
              <a:t>all</a:t>
            </a:r>
            <a:r>
              <a:rPr lang="pl-PL" dirty="0">
                <a:solidFill>
                  <a:schemeClr val="accent5">
                    <a:lumMod val="50000"/>
                  </a:schemeClr>
                </a:solidFill>
              </a:rPr>
              <a:t>)$</a:t>
            </a:r>
          </a:p>
          <a:p>
            <a:r>
              <a:rPr lang="pl-PL" dirty="0" err="1">
                <a:solidFill>
                  <a:schemeClr val="accent5">
                    <a:lumMod val="50000"/>
                  </a:schemeClr>
                </a:solidFill>
              </a:rPr>
              <a:t>integrate</a:t>
            </a:r>
            <a:r>
              <a:rPr lang="pl-PL" dirty="0">
                <a:solidFill>
                  <a:schemeClr val="accent5">
                    <a:lumMod val="50000"/>
                  </a:schemeClr>
                </a:solidFill>
              </a:rPr>
              <a:t> (</a:t>
            </a:r>
            <a:r>
              <a:rPr lang="pl-PL" b="1" dirty="0">
                <a:solidFill>
                  <a:srgbClr val="FF0000"/>
                </a:solidFill>
              </a:rPr>
              <a:t>x^2*</a:t>
            </a:r>
            <a:r>
              <a:rPr lang="pl-PL" b="1" dirty="0" err="1">
                <a:solidFill>
                  <a:srgbClr val="FF0000"/>
                </a:solidFill>
              </a:rPr>
              <a:t>exp</a:t>
            </a:r>
            <a:r>
              <a:rPr lang="pl-PL" b="1" dirty="0">
                <a:solidFill>
                  <a:srgbClr val="FF0000"/>
                </a:solidFill>
              </a:rPr>
              <a:t>(-x^2), x, 0.3, 0.8</a:t>
            </a:r>
            <a:r>
              <a:rPr lang="pl-PL" dirty="0">
                <a:solidFill>
                  <a:schemeClr val="accent5">
                    <a:lumMod val="50000"/>
                  </a:schemeClr>
                </a:solidFill>
              </a:rPr>
              <a:t>)$ </a:t>
            </a:r>
          </a:p>
          <a:p>
            <a:r>
              <a:rPr lang="pl-PL" dirty="0" err="1">
                <a:solidFill>
                  <a:schemeClr val="accent5">
                    <a:lumMod val="50000"/>
                  </a:schemeClr>
                </a:solidFill>
              </a:rPr>
              <a:t>float</a:t>
            </a:r>
            <a:r>
              <a:rPr lang="pl-PL" dirty="0">
                <a:solidFill>
                  <a:schemeClr val="accent5">
                    <a:lumMod val="50000"/>
                  </a:schemeClr>
                </a:solidFill>
              </a:rPr>
              <a:t>(%);</a:t>
            </a:r>
          </a:p>
        </p:txBody>
      </p:sp>
      <p:sp>
        <p:nvSpPr>
          <p:cNvPr id="9" name="Prostokąt 8"/>
          <p:cNvSpPr/>
          <p:nvPr/>
        </p:nvSpPr>
        <p:spPr>
          <a:xfrm>
            <a:off x="5244161" y="4551514"/>
            <a:ext cx="3570975" cy="369332"/>
          </a:xfrm>
          <a:prstGeom prst="rect">
            <a:avLst/>
          </a:prstGeom>
        </p:spPr>
        <p:txBody>
          <a:bodyPr wrap="square">
            <a:spAutoFit/>
          </a:bodyPr>
          <a:lstStyle/>
          <a:p>
            <a:r>
              <a:rPr lang="pl-PL" dirty="0">
                <a:solidFill>
                  <a:srgbClr val="4BACC6">
                    <a:lumMod val="50000"/>
                  </a:srgbClr>
                </a:solidFill>
              </a:rPr>
              <a:t>In Maxima </a:t>
            </a:r>
            <a:r>
              <a:rPr lang="pl-PL" dirty="0" err="1">
                <a:solidFill>
                  <a:srgbClr val="4BACC6">
                    <a:lumMod val="50000"/>
                  </a:srgbClr>
                </a:solidFill>
              </a:rPr>
              <a:t>modyfy</a:t>
            </a:r>
            <a:r>
              <a:rPr lang="pl-PL" dirty="0">
                <a:solidFill>
                  <a:srgbClr val="4BACC6">
                    <a:lumMod val="50000"/>
                  </a:srgbClr>
                </a:solidFill>
              </a:rPr>
              <a:t> the </a:t>
            </a:r>
            <a:r>
              <a:rPr lang="pl-PL" dirty="0" err="1">
                <a:solidFill>
                  <a:srgbClr val="4BACC6">
                    <a:lumMod val="50000"/>
                  </a:srgbClr>
                </a:solidFill>
              </a:rPr>
              <a:t>bolded</a:t>
            </a:r>
            <a:r>
              <a:rPr lang="pl-PL" dirty="0">
                <a:solidFill>
                  <a:srgbClr val="4BACC6">
                    <a:lumMod val="50000"/>
                  </a:srgbClr>
                </a:solidFill>
              </a:rPr>
              <a:t> </a:t>
            </a:r>
            <a:r>
              <a:rPr lang="pl-PL" dirty="0" err="1">
                <a:solidFill>
                  <a:srgbClr val="4BACC6">
                    <a:lumMod val="50000"/>
                  </a:srgbClr>
                </a:solidFill>
              </a:rPr>
              <a:t>parts</a:t>
            </a:r>
            <a:r>
              <a:rPr lang="pl-PL" dirty="0">
                <a:solidFill>
                  <a:srgbClr val="4BACC6">
                    <a:lumMod val="50000"/>
                  </a:srgbClr>
                </a:solidFill>
              </a:rPr>
              <a:t>. </a:t>
            </a:r>
            <a:endParaRPr lang="pl-PL" b="1" dirty="0">
              <a:solidFill>
                <a:srgbClr val="4BACC6">
                  <a:lumMod val="50000"/>
                </a:srgbClr>
              </a:solidFill>
            </a:endParaRPr>
          </a:p>
        </p:txBody>
      </p:sp>
      <p:sp>
        <p:nvSpPr>
          <p:cNvPr id="10" name="Prostokąt 9"/>
          <p:cNvSpPr/>
          <p:nvPr/>
        </p:nvSpPr>
        <p:spPr>
          <a:xfrm>
            <a:off x="5567412" y="2829447"/>
            <a:ext cx="6096000" cy="1754326"/>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es-ES" dirty="0">
                <a:solidFill>
                  <a:schemeClr val="accent5">
                    <a:lumMod val="50000"/>
                  </a:schemeClr>
                </a:solidFill>
              </a:rPr>
              <a:t>Funkcja4</a:t>
            </a:r>
            <a:r>
              <a:rPr lang="pl-PL" dirty="0">
                <a:solidFill>
                  <a:schemeClr val="accent5">
                    <a:lumMod val="50000"/>
                  </a:schemeClr>
                </a:solidFill>
              </a:rPr>
              <a:t> </a:t>
            </a:r>
            <a:r>
              <a:rPr lang="es-ES" dirty="0">
                <a:solidFill>
                  <a:schemeClr val="accent5">
                    <a:lumMod val="50000"/>
                  </a:schemeClr>
                </a:solidFill>
              </a:rPr>
              <a:t>&lt;-function(x,y) </a:t>
            </a:r>
            <a:r>
              <a:rPr lang="es-ES" dirty="0">
                <a:solidFill>
                  <a:srgbClr val="FF0000"/>
                </a:solidFill>
              </a:rPr>
              <a:t>{(1/8)*x^3-(1/8)*x^2-x+2+(1/8)*y^3-(1/8)*y^2-1*y</a:t>
            </a:r>
            <a:r>
              <a:rPr lang="es-ES" dirty="0">
                <a:solidFill>
                  <a:schemeClr val="accent5">
                    <a:lumMod val="50000"/>
                  </a:schemeClr>
                </a:solidFill>
              </a:rPr>
              <a:t>}</a:t>
            </a:r>
            <a:r>
              <a:rPr lang="pl-PL" dirty="0">
                <a:solidFill>
                  <a:schemeClr val="accent5">
                    <a:lumMod val="50000"/>
                  </a:schemeClr>
                </a:solidFill>
              </a:rPr>
              <a:t> # </a:t>
            </a:r>
            <a:r>
              <a:rPr lang="pl-PL" dirty="0" err="1">
                <a:solidFill>
                  <a:schemeClr val="accent5">
                    <a:lumMod val="50000"/>
                  </a:schemeClr>
                </a:solidFill>
              </a:rPr>
              <a:t>change</a:t>
            </a:r>
            <a:endParaRPr lang="es-ES" dirty="0">
              <a:solidFill>
                <a:schemeClr val="accent5">
                  <a:lumMod val="50000"/>
                </a:schemeClr>
              </a:solidFill>
            </a:endParaRPr>
          </a:p>
          <a:p>
            <a:r>
              <a:rPr lang="es-ES" dirty="0">
                <a:solidFill>
                  <a:schemeClr val="accent5">
                    <a:lumMod val="50000"/>
                  </a:schemeClr>
                </a:solidFill>
              </a:rPr>
              <a:t>a&lt;-c(</a:t>
            </a:r>
            <a:r>
              <a:rPr lang="es-ES" dirty="0">
                <a:solidFill>
                  <a:srgbClr val="FF0000"/>
                </a:solidFill>
              </a:rPr>
              <a:t>-2,3</a:t>
            </a:r>
            <a:r>
              <a:rPr lang="es-ES" dirty="0">
                <a:solidFill>
                  <a:schemeClr val="accent5">
                    <a:lumMod val="50000"/>
                  </a:schemeClr>
                </a:solidFill>
              </a:rPr>
              <a:t>)		</a:t>
            </a:r>
          </a:p>
          <a:p>
            <a:r>
              <a:rPr lang="es-ES" dirty="0">
                <a:solidFill>
                  <a:schemeClr val="accent5">
                    <a:lumMod val="50000"/>
                  </a:schemeClr>
                </a:solidFill>
              </a:rPr>
              <a:t>b&lt;-c(</a:t>
            </a:r>
            <a:r>
              <a:rPr lang="es-ES" dirty="0">
                <a:solidFill>
                  <a:srgbClr val="FF0000"/>
                </a:solidFill>
              </a:rPr>
              <a:t>-2,3</a:t>
            </a:r>
            <a:r>
              <a:rPr lang="es-ES" dirty="0">
                <a:solidFill>
                  <a:schemeClr val="accent5">
                    <a:lumMod val="50000"/>
                  </a:schemeClr>
                </a:solidFill>
              </a:rPr>
              <a:t>)			</a:t>
            </a:r>
          </a:p>
          <a:p>
            <a:r>
              <a:rPr lang="es-ES" dirty="0">
                <a:solidFill>
                  <a:schemeClr val="accent5">
                    <a:lumMod val="50000"/>
                  </a:schemeClr>
                </a:solidFill>
              </a:rPr>
              <a:t>integral_2  &lt;- mcint2(funkcja4,</a:t>
            </a:r>
            <a:r>
              <a:rPr lang="es-ES" dirty="0">
                <a:solidFill>
                  <a:srgbClr val="FF0000"/>
                </a:solidFill>
              </a:rPr>
              <a:t>a,b,10000</a:t>
            </a:r>
            <a:r>
              <a:rPr lang="es-ES" dirty="0">
                <a:solidFill>
                  <a:schemeClr val="accent5">
                    <a:lumMod val="50000"/>
                  </a:schemeClr>
                </a:solidFill>
              </a:rPr>
              <a:t>)</a:t>
            </a:r>
            <a:endParaRPr lang="pl-PL" dirty="0">
              <a:solidFill>
                <a:schemeClr val="accent5">
                  <a:lumMod val="50000"/>
                </a:schemeClr>
              </a:solidFill>
            </a:endParaRPr>
          </a:p>
          <a:p>
            <a:r>
              <a:rPr lang="pl-PL" dirty="0">
                <a:solidFill>
                  <a:schemeClr val="accent5">
                    <a:lumMod val="50000"/>
                  </a:schemeClr>
                </a:solidFill>
              </a:rPr>
              <a:t>integral_2</a:t>
            </a:r>
            <a:endParaRPr lang="pl-PL" dirty="0"/>
          </a:p>
        </p:txBody>
      </p:sp>
      <p:sp>
        <p:nvSpPr>
          <p:cNvPr id="11" name="Prostokąt 10"/>
          <p:cNvSpPr/>
          <p:nvPr/>
        </p:nvSpPr>
        <p:spPr>
          <a:xfrm>
            <a:off x="5567412" y="1848307"/>
            <a:ext cx="6096000" cy="92333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pl-PL" dirty="0">
                <a:solidFill>
                  <a:schemeClr val="accent5">
                    <a:lumMod val="50000"/>
                  </a:schemeClr>
                </a:solidFill>
              </a:rPr>
              <a:t>funkcja3  &lt;- </a:t>
            </a:r>
            <a:r>
              <a:rPr lang="pl-PL" dirty="0" err="1">
                <a:solidFill>
                  <a:schemeClr val="accent5">
                    <a:lumMod val="50000"/>
                  </a:schemeClr>
                </a:solidFill>
              </a:rPr>
              <a:t>function</a:t>
            </a:r>
            <a:r>
              <a:rPr lang="pl-PL" dirty="0">
                <a:solidFill>
                  <a:schemeClr val="accent5">
                    <a:lumMod val="50000"/>
                  </a:schemeClr>
                </a:solidFill>
              </a:rPr>
              <a:t>(x) </a:t>
            </a:r>
            <a:r>
              <a:rPr lang="pl-PL" dirty="0">
                <a:solidFill>
                  <a:srgbClr val="FF0000"/>
                </a:solidFill>
              </a:rPr>
              <a:t>{(1/8)*x^3-(1/8)*x^2-1*x+2</a:t>
            </a:r>
            <a:r>
              <a:rPr lang="pl-PL" dirty="0">
                <a:solidFill>
                  <a:schemeClr val="accent5">
                    <a:lumMod val="50000"/>
                  </a:schemeClr>
                </a:solidFill>
              </a:rPr>
              <a:t>} # </a:t>
            </a:r>
            <a:r>
              <a:rPr lang="pl-PL" dirty="0" err="1">
                <a:solidFill>
                  <a:schemeClr val="accent5">
                    <a:lumMod val="50000"/>
                  </a:schemeClr>
                </a:solidFill>
              </a:rPr>
              <a:t>change</a:t>
            </a:r>
            <a:endParaRPr lang="pl-PL" dirty="0">
              <a:solidFill>
                <a:schemeClr val="accent5">
                  <a:lumMod val="50000"/>
                </a:schemeClr>
              </a:solidFill>
            </a:endParaRPr>
          </a:p>
          <a:p>
            <a:r>
              <a:rPr lang="pl-PL" dirty="0">
                <a:solidFill>
                  <a:schemeClr val="accent5">
                    <a:lumMod val="50000"/>
                  </a:schemeClr>
                </a:solidFill>
              </a:rPr>
              <a:t>integral_1 &lt;- </a:t>
            </a:r>
            <a:r>
              <a:rPr lang="pl-PL" dirty="0" err="1">
                <a:solidFill>
                  <a:schemeClr val="accent5">
                    <a:lumMod val="50000"/>
                  </a:schemeClr>
                </a:solidFill>
              </a:rPr>
              <a:t>mcint</a:t>
            </a:r>
            <a:r>
              <a:rPr lang="pl-PL" dirty="0">
                <a:solidFill>
                  <a:schemeClr val="accent5">
                    <a:lumMod val="50000"/>
                  </a:schemeClr>
                </a:solidFill>
              </a:rPr>
              <a:t>( </a:t>
            </a:r>
            <a:r>
              <a:rPr lang="pl-PL" dirty="0">
                <a:solidFill>
                  <a:srgbClr val="FF0000"/>
                </a:solidFill>
              </a:rPr>
              <a:t>funkcja3,-1,5,100000 </a:t>
            </a:r>
            <a:r>
              <a:rPr lang="pl-PL" dirty="0">
                <a:solidFill>
                  <a:schemeClr val="accent5">
                    <a:lumMod val="50000"/>
                  </a:schemeClr>
                </a:solidFill>
              </a:rPr>
              <a:t>) # </a:t>
            </a:r>
            <a:r>
              <a:rPr lang="pl-PL" dirty="0" err="1">
                <a:solidFill>
                  <a:schemeClr val="accent5">
                    <a:lumMod val="50000"/>
                  </a:schemeClr>
                </a:solidFill>
              </a:rPr>
              <a:t>change</a:t>
            </a:r>
            <a:r>
              <a:rPr lang="pl-PL" dirty="0">
                <a:solidFill>
                  <a:schemeClr val="accent5">
                    <a:lumMod val="50000"/>
                  </a:schemeClr>
                </a:solidFill>
              </a:rPr>
              <a:t>	</a:t>
            </a:r>
          </a:p>
          <a:p>
            <a:r>
              <a:rPr lang="pl-PL" dirty="0">
                <a:solidFill>
                  <a:schemeClr val="accent5">
                    <a:lumMod val="50000"/>
                  </a:schemeClr>
                </a:solidFill>
              </a:rPr>
              <a:t>integral_1</a:t>
            </a:r>
            <a:endParaRPr lang="pl-PL" dirty="0"/>
          </a:p>
        </p:txBody>
      </p:sp>
      <p:sp>
        <p:nvSpPr>
          <p:cNvPr id="12" name="Prostokąt 11"/>
          <p:cNvSpPr/>
          <p:nvPr/>
        </p:nvSpPr>
        <p:spPr>
          <a:xfrm>
            <a:off x="5621154" y="5893760"/>
            <a:ext cx="6096000" cy="92333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es-ES" dirty="0">
                <a:solidFill>
                  <a:schemeClr val="accent5">
                    <a:lumMod val="50000"/>
                  </a:schemeClr>
                </a:solidFill>
              </a:rPr>
              <a:t>kill(all)$</a:t>
            </a:r>
          </a:p>
          <a:p>
            <a:r>
              <a:rPr lang="es-ES" dirty="0">
                <a:solidFill>
                  <a:schemeClr val="accent5">
                    <a:lumMod val="50000"/>
                  </a:schemeClr>
                </a:solidFill>
              </a:rPr>
              <a:t>integrate(integrate(</a:t>
            </a:r>
            <a:r>
              <a:rPr lang="pl-PL" dirty="0">
                <a:solidFill>
                  <a:schemeClr val="accent5">
                    <a:lumMod val="50000"/>
                  </a:schemeClr>
                </a:solidFill>
              </a:rPr>
              <a:t> </a:t>
            </a:r>
            <a:r>
              <a:rPr lang="es-ES" b="1" dirty="0">
                <a:solidFill>
                  <a:srgbClr val="FF0000"/>
                </a:solidFill>
              </a:rPr>
              <a:t>x*y^2 * exp(-x*y^2), </a:t>
            </a:r>
            <a:r>
              <a:rPr lang="es-ES" dirty="0">
                <a:solidFill>
                  <a:srgbClr val="FF0000"/>
                </a:solidFill>
              </a:rPr>
              <a:t>x</a:t>
            </a:r>
            <a:r>
              <a:rPr lang="es-ES" b="1" dirty="0">
                <a:solidFill>
                  <a:srgbClr val="FF0000"/>
                </a:solidFill>
              </a:rPr>
              <a:t>, 0.4, 0.9</a:t>
            </a:r>
            <a:r>
              <a:rPr lang="es-ES" dirty="0">
                <a:solidFill>
                  <a:srgbClr val="FF0000"/>
                </a:solidFill>
              </a:rPr>
              <a:t>),y,</a:t>
            </a:r>
            <a:r>
              <a:rPr lang="es-ES" b="1" dirty="0">
                <a:solidFill>
                  <a:srgbClr val="FF0000"/>
                </a:solidFill>
              </a:rPr>
              <a:t>0.5,0.7</a:t>
            </a:r>
            <a:r>
              <a:rPr lang="es-ES" dirty="0">
                <a:solidFill>
                  <a:schemeClr val="accent5">
                    <a:lumMod val="50000"/>
                  </a:schemeClr>
                </a:solidFill>
              </a:rPr>
              <a:t>)$</a:t>
            </a:r>
          </a:p>
          <a:p>
            <a:r>
              <a:rPr lang="es-ES" dirty="0">
                <a:solidFill>
                  <a:schemeClr val="accent5">
                    <a:lumMod val="50000"/>
                  </a:schemeClr>
                </a:solidFill>
              </a:rPr>
              <a:t>float(%);</a:t>
            </a:r>
            <a:endParaRPr lang="pl-PL" dirty="0">
              <a:solidFill>
                <a:schemeClr val="accent5">
                  <a:lumMod val="50000"/>
                </a:schemeClr>
              </a:solidFill>
            </a:endParaRPr>
          </a:p>
        </p:txBody>
      </p:sp>
      <p:sp>
        <p:nvSpPr>
          <p:cNvPr id="3" name="TextBox 2">
            <a:extLst>
              <a:ext uri="{FF2B5EF4-FFF2-40B4-BE49-F238E27FC236}">
                <a16:creationId xmlns:a16="http://schemas.microsoft.com/office/drawing/2014/main" id="{58CE3D0A-D3F0-AC42-ED31-E60A8DC1FFBD}"/>
              </a:ext>
            </a:extLst>
          </p:cNvPr>
          <p:cNvSpPr txBox="1"/>
          <p:nvPr/>
        </p:nvSpPr>
        <p:spPr>
          <a:xfrm rot="18806356">
            <a:off x="9797627" y="701903"/>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47628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ole tekstowe 5"/>
          <p:cNvSpPr txBox="1"/>
          <p:nvPr/>
        </p:nvSpPr>
        <p:spPr>
          <a:xfrm>
            <a:off x="107486" y="1301057"/>
            <a:ext cx="9091932" cy="523220"/>
          </a:xfrm>
          <a:prstGeom prst="rect">
            <a:avLst/>
          </a:prstGeom>
          <a:noFill/>
        </p:spPr>
        <p:txBody>
          <a:bodyPr wrap="square" rtlCol="0">
            <a:spAutoFit/>
          </a:bodyPr>
          <a:lstStyle/>
          <a:p>
            <a:r>
              <a:rPr lang="en-US" sz="2800" dirty="0">
                <a:solidFill>
                  <a:schemeClr val="accent5">
                    <a:lumMod val="50000"/>
                  </a:schemeClr>
                </a:solidFill>
              </a:rPr>
              <a:t>Use functions </a:t>
            </a:r>
            <a:r>
              <a:rPr lang="en-US" sz="2800" b="1" dirty="0" err="1">
                <a:solidFill>
                  <a:schemeClr val="accent5">
                    <a:lumMod val="50000"/>
                  </a:schemeClr>
                </a:solidFill>
              </a:rPr>
              <a:t>mcint</a:t>
            </a:r>
            <a:r>
              <a:rPr lang="en-US" sz="2800" dirty="0">
                <a:solidFill>
                  <a:schemeClr val="accent5">
                    <a:lumMod val="50000"/>
                  </a:schemeClr>
                </a:solidFill>
              </a:rPr>
              <a:t> from </a:t>
            </a:r>
            <a:r>
              <a:rPr lang="en-US" sz="2800" b="1" dirty="0" err="1">
                <a:solidFill>
                  <a:schemeClr val="accent5">
                    <a:lumMod val="50000"/>
                  </a:schemeClr>
                </a:solidFill>
              </a:rPr>
              <a:t>integrals_MC.R</a:t>
            </a:r>
            <a:r>
              <a:rPr lang="en-US" sz="2800" dirty="0">
                <a:solidFill>
                  <a:schemeClr val="accent5">
                    <a:lumMod val="50000"/>
                  </a:schemeClr>
                </a:solidFill>
              </a:rPr>
              <a:t> </a:t>
            </a:r>
            <a:endParaRPr lang="pl-PL" sz="2800" dirty="0">
              <a:solidFill>
                <a:schemeClr val="accent5">
                  <a:lumMod val="50000"/>
                </a:schemeClr>
              </a:solidFill>
            </a:endParaRPr>
          </a:p>
        </p:txBody>
      </p:sp>
      <p:sp>
        <p:nvSpPr>
          <p:cNvPr id="2" name="Tytuł 1"/>
          <p:cNvSpPr>
            <a:spLocks noGrp="1"/>
          </p:cNvSpPr>
          <p:nvPr>
            <p:ph type="title"/>
          </p:nvPr>
        </p:nvSpPr>
        <p:spPr>
          <a:xfrm>
            <a:off x="-1" y="0"/>
            <a:ext cx="12262585" cy="1268760"/>
          </a:xfrm>
          <a:solidFill>
            <a:schemeClr val="accent5">
              <a:lumMod val="20000"/>
              <a:lumOff val="80000"/>
            </a:schemeClr>
          </a:solidFill>
        </p:spPr>
        <p:txBody>
          <a:bodyPr>
            <a:normAutofit/>
          </a:bodyPr>
          <a:lstStyle/>
          <a:p>
            <a:r>
              <a:rPr lang="pl-PL" b="1" dirty="0" err="1">
                <a:solidFill>
                  <a:schemeClr val="accent5">
                    <a:lumMod val="50000"/>
                  </a:schemeClr>
                </a:solidFill>
              </a:rPr>
              <a:t>Task</a:t>
            </a:r>
            <a:r>
              <a:rPr lang="pl-PL" b="1" dirty="0">
                <a:solidFill>
                  <a:schemeClr val="accent5">
                    <a:lumMod val="50000"/>
                  </a:schemeClr>
                </a:solidFill>
              </a:rPr>
              <a:t> MC </a:t>
            </a:r>
            <a:r>
              <a:rPr lang="pl-PL" b="1" dirty="0" err="1">
                <a:solidFill>
                  <a:schemeClr val="accent5">
                    <a:lumMod val="50000"/>
                  </a:schemeClr>
                </a:solidFill>
              </a:rPr>
              <a:t>simulation</a:t>
            </a:r>
            <a:r>
              <a:rPr lang="pl-PL" b="1" dirty="0">
                <a:solidFill>
                  <a:schemeClr val="accent5">
                    <a:lumMod val="50000"/>
                  </a:schemeClr>
                </a:solidFill>
              </a:rPr>
              <a:t> (</a:t>
            </a:r>
            <a:r>
              <a:rPr lang="pl-PL" b="1" dirty="0" err="1">
                <a:solidFill>
                  <a:schemeClr val="accent5">
                    <a:lumMod val="50000"/>
                  </a:schemeClr>
                </a:solidFill>
              </a:rPr>
              <a:t>at</a:t>
            </a:r>
            <a:r>
              <a:rPr lang="pl-PL" b="1" dirty="0">
                <a:solidFill>
                  <a:schemeClr val="accent5">
                    <a:lumMod val="50000"/>
                  </a:schemeClr>
                </a:solidFill>
              </a:rPr>
              <a:t> </a:t>
            </a:r>
            <a:r>
              <a:rPr lang="pl-PL" b="1" dirty="0" err="1">
                <a:solidFill>
                  <a:schemeClr val="accent5">
                    <a:lumMod val="50000"/>
                  </a:schemeClr>
                </a:solidFill>
              </a:rPr>
              <a:t>home</a:t>
            </a:r>
            <a:r>
              <a:rPr lang="pl-PL" b="1" dirty="0">
                <a:solidFill>
                  <a:schemeClr val="accent5">
                    <a:lumMod val="50000"/>
                  </a:schemeClr>
                </a:solidFill>
              </a:rPr>
              <a:t> - R) </a:t>
            </a:r>
            <a:endParaRPr lang="en-GB" b="1" dirty="0">
              <a:solidFill>
                <a:schemeClr val="accent5">
                  <a:lumMod val="50000"/>
                </a:schemeClr>
              </a:solidFill>
            </a:endParaRPr>
          </a:p>
        </p:txBody>
      </p:sp>
      <p:sp>
        <p:nvSpPr>
          <p:cNvPr id="4" name="Prostokąt 3"/>
          <p:cNvSpPr/>
          <p:nvPr/>
        </p:nvSpPr>
        <p:spPr>
          <a:xfrm>
            <a:off x="107486" y="1962819"/>
            <a:ext cx="6096000" cy="738664"/>
          </a:xfrm>
          <a:prstGeom prst="rect">
            <a:avLst/>
          </a:prstGeom>
        </p:spPr>
        <p:txBody>
          <a:bodyPr>
            <a:spAutoFit/>
          </a:bodyPr>
          <a:lstStyle/>
          <a:p>
            <a:r>
              <a:rPr lang="pl-PL" sz="1400" dirty="0"/>
              <a:t>&gt; funkcja3&lt;-</a:t>
            </a:r>
            <a:r>
              <a:rPr lang="pl-PL" sz="1400" dirty="0" err="1"/>
              <a:t>function</a:t>
            </a:r>
            <a:r>
              <a:rPr lang="pl-PL" sz="1400" dirty="0"/>
              <a:t>(x) {(1/((2*pi)^1/2) ) * </a:t>
            </a:r>
            <a:r>
              <a:rPr lang="pl-PL" sz="1400" dirty="0" err="1"/>
              <a:t>exp</a:t>
            </a:r>
            <a:r>
              <a:rPr lang="pl-PL" sz="1400" dirty="0"/>
              <a:t>(-1/2*x^2) }	</a:t>
            </a:r>
          </a:p>
          <a:p>
            <a:r>
              <a:rPr lang="pl-PL" sz="1400" dirty="0"/>
              <a:t>&gt; integral_1 &lt;- </a:t>
            </a:r>
            <a:r>
              <a:rPr lang="pl-PL" sz="1400" dirty="0" err="1"/>
              <a:t>mcint</a:t>
            </a:r>
            <a:r>
              <a:rPr lang="pl-PL" sz="1400" dirty="0"/>
              <a:t>(funkcja3,-1.03,0.54,100000)	</a:t>
            </a:r>
          </a:p>
          <a:p>
            <a:r>
              <a:rPr lang="pl-PL" sz="1400" dirty="0"/>
              <a:t>[1] 0.4401905</a:t>
            </a:r>
          </a:p>
        </p:txBody>
      </p:sp>
      <p:pic>
        <p:nvPicPr>
          <p:cNvPr id="15" name="Obraz 14"/>
          <p:cNvPicPr>
            <a:picLocks noChangeAspect="1"/>
          </p:cNvPicPr>
          <p:nvPr/>
        </p:nvPicPr>
        <p:blipFill>
          <a:blip r:embed="rId2"/>
          <a:stretch>
            <a:fillRect/>
          </a:stretch>
        </p:blipFill>
        <p:spPr>
          <a:xfrm>
            <a:off x="237733" y="2806234"/>
            <a:ext cx="5632306" cy="3586953"/>
          </a:xfrm>
          <a:prstGeom prst="rect">
            <a:avLst/>
          </a:prstGeom>
        </p:spPr>
      </p:pic>
      <p:pic>
        <p:nvPicPr>
          <p:cNvPr id="16" name="Obraz 15"/>
          <p:cNvPicPr>
            <a:picLocks noChangeAspect="1"/>
          </p:cNvPicPr>
          <p:nvPr/>
        </p:nvPicPr>
        <p:blipFill rotWithShape="1">
          <a:blip r:embed="rId3"/>
          <a:srcRect l="29728" t="15339" r="25444" b="19359"/>
          <a:stretch/>
        </p:blipFill>
        <p:spPr>
          <a:xfrm>
            <a:off x="6687125" y="2944776"/>
            <a:ext cx="3962401" cy="3676073"/>
          </a:xfrm>
          <a:prstGeom prst="rect">
            <a:avLst/>
          </a:prstGeom>
        </p:spPr>
      </p:pic>
      <p:sp>
        <p:nvSpPr>
          <p:cNvPr id="17" name="Prostokąt 16"/>
          <p:cNvSpPr/>
          <p:nvPr/>
        </p:nvSpPr>
        <p:spPr>
          <a:xfrm>
            <a:off x="6687125" y="1824277"/>
            <a:ext cx="4073236" cy="830997"/>
          </a:xfrm>
          <a:prstGeom prst="rect">
            <a:avLst/>
          </a:prstGeom>
        </p:spPr>
        <p:txBody>
          <a:bodyPr wrap="square">
            <a:spAutoFit/>
          </a:bodyPr>
          <a:lstStyle/>
          <a:p>
            <a:r>
              <a:rPr lang="pl-PL" sz="1200" dirty="0"/>
              <a:t>funkcja4&lt;-</a:t>
            </a:r>
            <a:r>
              <a:rPr lang="pl-PL" sz="1200" dirty="0" err="1"/>
              <a:t>function</a:t>
            </a:r>
            <a:r>
              <a:rPr lang="pl-PL" sz="1200" dirty="0"/>
              <a:t>(</a:t>
            </a:r>
            <a:r>
              <a:rPr lang="pl-PL" sz="1200" dirty="0" err="1"/>
              <a:t>x,y</a:t>
            </a:r>
            <a:r>
              <a:rPr lang="pl-PL" sz="1200" dirty="0"/>
              <a:t>) {(1/((2*pi)) ) * </a:t>
            </a:r>
            <a:r>
              <a:rPr lang="pl-PL" sz="1200" dirty="0" err="1"/>
              <a:t>exp</a:t>
            </a:r>
            <a:r>
              <a:rPr lang="pl-PL" sz="1200" dirty="0"/>
              <a:t>(-1/2*(x^2 + y^2)) }</a:t>
            </a:r>
          </a:p>
          <a:p>
            <a:r>
              <a:rPr lang="pl-PL" sz="1200" dirty="0"/>
              <a:t>a&lt;-c(-3.2,1.3)		</a:t>
            </a:r>
          </a:p>
          <a:p>
            <a:r>
              <a:rPr lang="pl-PL" sz="1200" dirty="0"/>
              <a:t>b&lt;-c(-2.3,1.4)			</a:t>
            </a:r>
          </a:p>
          <a:p>
            <a:r>
              <a:rPr lang="pl-PL" sz="1200" dirty="0"/>
              <a:t>integral_2  &lt;- mcint2(funkcja4,a,b,10000)	</a:t>
            </a:r>
          </a:p>
        </p:txBody>
      </p:sp>
      <p:sp>
        <p:nvSpPr>
          <p:cNvPr id="3" name="TextBox 2">
            <a:extLst>
              <a:ext uri="{FF2B5EF4-FFF2-40B4-BE49-F238E27FC236}">
                <a16:creationId xmlns:a16="http://schemas.microsoft.com/office/drawing/2014/main" id="{FE28C1DF-A9BB-CB71-713E-A47074D4759E}"/>
              </a:ext>
            </a:extLst>
          </p:cNvPr>
          <p:cNvSpPr txBox="1"/>
          <p:nvPr/>
        </p:nvSpPr>
        <p:spPr>
          <a:xfrm rot="18806356">
            <a:off x="9885396" y="198964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054463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394636" y="1503671"/>
            <a:ext cx="11136429" cy="4800876"/>
          </a:xfrm>
        </p:spPr>
        <p:txBody>
          <a:bodyPr>
            <a:noAutofit/>
          </a:bodyPr>
          <a:lstStyle/>
          <a:p>
            <a:pPr algn="just"/>
            <a:r>
              <a:rPr lang="en-US" sz="3600" dirty="0">
                <a:solidFill>
                  <a:schemeClr val="accent5">
                    <a:lumMod val="50000"/>
                  </a:schemeClr>
                </a:solidFill>
              </a:rPr>
              <a:t>The same method </a:t>
            </a:r>
            <a:r>
              <a:rPr lang="pl-PL" sz="3600" dirty="0">
                <a:solidFill>
                  <a:schemeClr val="accent5">
                    <a:lumMod val="50000"/>
                  </a:schemeClr>
                </a:solidFill>
              </a:rPr>
              <a:t>as </a:t>
            </a:r>
            <a:r>
              <a:rPr lang="en-US" sz="3600" dirty="0">
                <a:solidFill>
                  <a:schemeClr val="accent5">
                    <a:lumMod val="50000"/>
                  </a:schemeClr>
                </a:solidFill>
              </a:rPr>
              <a:t>calculate</a:t>
            </a:r>
            <a:r>
              <a:rPr lang="pl-PL" sz="3600" dirty="0" err="1">
                <a:solidFill>
                  <a:schemeClr val="accent5">
                    <a:lumMod val="50000"/>
                  </a:schemeClr>
                </a:solidFill>
              </a:rPr>
              <a:t>ing</a:t>
            </a:r>
            <a:r>
              <a:rPr lang="en-US" sz="3600" dirty="0">
                <a:solidFill>
                  <a:schemeClr val="accent5">
                    <a:lumMod val="50000"/>
                  </a:schemeClr>
                </a:solidFill>
              </a:rPr>
              <a:t> integrals can be used to find the optimum of a function.</a:t>
            </a:r>
            <a:r>
              <a:rPr lang="pl-PL" sz="3600" dirty="0">
                <a:solidFill>
                  <a:schemeClr val="accent5">
                    <a:lumMod val="50000"/>
                  </a:schemeClr>
                </a:solidFill>
              </a:rPr>
              <a:t> </a:t>
            </a:r>
            <a:r>
              <a:rPr lang="en-US" sz="3600" dirty="0">
                <a:solidFill>
                  <a:schemeClr val="accent5">
                    <a:lumMod val="50000"/>
                  </a:schemeClr>
                </a:solidFill>
              </a:rPr>
              <a:t>We draw numbers from a uniform distribution in a given range [</a:t>
            </a:r>
            <a:r>
              <a:rPr lang="en-US" sz="3600" dirty="0" err="1">
                <a:solidFill>
                  <a:schemeClr val="accent5">
                    <a:lumMod val="50000"/>
                  </a:schemeClr>
                </a:solidFill>
              </a:rPr>
              <a:t>a,b</a:t>
            </a:r>
            <a:r>
              <a:rPr lang="en-US" sz="3600" dirty="0">
                <a:solidFill>
                  <a:schemeClr val="accent5">
                    <a:lumMod val="50000"/>
                  </a:schemeClr>
                </a:solidFill>
              </a:rPr>
              <a:t>] and calculate values of the function for the drew numbers and search for the maximum or minimum value.</a:t>
            </a:r>
            <a:r>
              <a:rPr lang="pl-PL" sz="3600" dirty="0">
                <a:solidFill>
                  <a:schemeClr val="accent5">
                    <a:lumMod val="50000"/>
                  </a:schemeClr>
                </a:solidFill>
              </a:rPr>
              <a:t> ( </a:t>
            </a:r>
            <a:r>
              <a:rPr lang="pl-PL" sz="3600" dirty="0" err="1">
                <a:solidFill>
                  <a:schemeClr val="accent5">
                    <a:lumMod val="50000"/>
                  </a:schemeClr>
                </a:solidFill>
              </a:rPr>
              <a:t>See</a:t>
            </a:r>
            <a:r>
              <a:rPr lang="pl-PL" sz="3600" dirty="0">
                <a:solidFill>
                  <a:schemeClr val="accent5">
                    <a:lumMod val="50000"/>
                  </a:schemeClr>
                </a:solidFill>
              </a:rPr>
              <a:t> the </a:t>
            </a:r>
            <a:r>
              <a:rPr lang="pl-PL" sz="3600" b="1" dirty="0" err="1">
                <a:solidFill>
                  <a:srgbClr val="C00000"/>
                </a:solidFill>
              </a:rPr>
              <a:t>Optimize</a:t>
            </a:r>
            <a:r>
              <a:rPr lang="pl-PL" sz="3600" b="1" dirty="0">
                <a:solidFill>
                  <a:srgbClr val="C00000"/>
                </a:solidFill>
              </a:rPr>
              <a:t> vs MC.R </a:t>
            </a:r>
            <a:r>
              <a:rPr lang="pl-PL" sz="3600" b="1" dirty="0" err="1">
                <a:solidFill>
                  <a:srgbClr val="C00000"/>
                </a:solidFill>
              </a:rPr>
              <a:t>script</a:t>
            </a:r>
            <a:r>
              <a:rPr lang="pl-PL" sz="3600" dirty="0">
                <a:solidFill>
                  <a:schemeClr val="accent5">
                    <a:lumMod val="50000"/>
                  </a:schemeClr>
                </a:solidFill>
              </a:rPr>
              <a:t>). </a:t>
            </a:r>
            <a:r>
              <a:rPr lang="en-US" sz="3600" dirty="0">
                <a:solidFill>
                  <a:schemeClr val="accent5">
                    <a:lumMod val="50000"/>
                  </a:schemeClr>
                </a:solidFill>
              </a:rPr>
              <a:t>It is especially useful when the problem of the local optimums occurs. Sometimes optimization procedures stop in the local optimum, not the global one. </a:t>
            </a: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err="1">
                <a:solidFill>
                  <a:srgbClr val="215968"/>
                </a:solidFill>
                <a:uFill>
                  <a:solidFill>
                    <a:srgbClr val="FFFFFF"/>
                  </a:solidFill>
                </a:uFill>
                <a:latin typeface="Calibri"/>
                <a:ea typeface="DejaVu Sans"/>
              </a:rPr>
              <a:t>Optimization</a:t>
            </a:r>
            <a:r>
              <a:rPr lang="pl-PL" sz="4000" b="1" i="1" spc="-1" dirty="0">
                <a:solidFill>
                  <a:srgbClr val="215968"/>
                </a:solidFill>
                <a:uFill>
                  <a:solidFill>
                    <a:srgbClr val="FFFFFF"/>
                  </a:solidFill>
                </a:uFill>
                <a:latin typeface="Calibri"/>
                <a:ea typeface="DejaVu Sans"/>
              </a:rPr>
              <a:t> </a:t>
            </a:r>
            <a:endParaRPr sz="1600" dirty="0">
              <a:solidFill>
                <a:prstClr val="black"/>
              </a:solidFill>
              <a:latin typeface="Calibri"/>
            </a:endParaRPr>
          </a:p>
        </p:txBody>
      </p:sp>
      <p:sp>
        <p:nvSpPr>
          <p:cNvPr id="2" name="TextBox 1">
            <a:extLst>
              <a:ext uri="{FF2B5EF4-FFF2-40B4-BE49-F238E27FC236}">
                <a16:creationId xmlns:a16="http://schemas.microsoft.com/office/drawing/2014/main" id="{7C721A3C-A531-A2E0-80AA-49B9F77254D4}"/>
              </a:ext>
            </a:extLst>
          </p:cNvPr>
          <p:cNvSpPr txBox="1"/>
          <p:nvPr/>
        </p:nvSpPr>
        <p:spPr>
          <a:xfrm rot="18806356">
            <a:off x="9386307" y="445053"/>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799193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Podtytuł 2"/>
              <p:cNvSpPr>
                <a:spLocks noGrp="1"/>
              </p:cNvSpPr>
              <p:nvPr>
                <p:ph type="subTitle" idx="1"/>
              </p:nvPr>
            </p:nvSpPr>
            <p:spPr>
              <a:xfrm>
                <a:off x="104273" y="1148532"/>
                <a:ext cx="11580796" cy="932608"/>
              </a:xfrm>
            </p:spPr>
            <p:txBody>
              <a:bodyPr>
                <a:noAutofit/>
              </a:bodyPr>
              <a:lstStyle/>
              <a:p>
                <a:pPr algn="just"/>
                <a:r>
                  <a:rPr lang="pl-PL" sz="2800" dirty="0">
                    <a:solidFill>
                      <a:schemeClr val="accent5">
                        <a:lumMod val="50000"/>
                      </a:schemeClr>
                    </a:solidFill>
                  </a:rPr>
                  <a:t>Lets </a:t>
                </a:r>
                <a:r>
                  <a:rPr lang="pl-PL" sz="2800" dirty="0" err="1">
                    <a:solidFill>
                      <a:schemeClr val="accent5">
                        <a:lumMod val="50000"/>
                      </a:schemeClr>
                    </a:solidFill>
                  </a:rPr>
                  <a:t>compare</a:t>
                </a:r>
                <a:r>
                  <a:rPr lang="pl-PL" sz="2800" dirty="0">
                    <a:solidFill>
                      <a:schemeClr val="accent5">
                        <a:lumMod val="50000"/>
                      </a:schemeClr>
                    </a:solidFill>
                  </a:rPr>
                  <a:t>: Maxima, R </a:t>
                </a:r>
                <a:r>
                  <a:rPr lang="pl-PL" sz="2800" dirty="0" err="1">
                    <a:solidFill>
                      <a:schemeClr val="accent5">
                        <a:lumMod val="50000"/>
                      </a:schemeClr>
                    </a:solidFill>
                  </a:rPr>
                  <a:t>inbuilt</a:t>
                </a:r>
                <a:r>
                  <a:rPr lang="pl-PL" sz="2800" dirty="0">
                    <a:solidFill>
                      <a:schemeClr val="accent5">
                        <a:lumMod val="50000"/>
                      </a:schemeClr>
                    </a:solidFill>
                  </a:rPr>
                  <a:t>  </a:t>
                </a:r>
                <a:r>
                  <a:rPr lang="en-US" sz="2800" dirty="0">
                    <a:solidFill>
                      <a:schemeClr val="accent5">
                        <a:lumMod val="50000"/>
                      </a:schemeClr>
                    </a:solidFill>
                  </a:rPr>
                  <a:t>function</a:t>
                </a:r>
                <a:r>
                  <a:rPr lang="pl-PL" sz="2800" dirty="0">
                    <a:solidFill>
                      <a:schemeClr val="accent5">
                        <a:lumMod val="50000"/>
                      </a:schemeClr>
                    </a:solidFill>
                  </a:rPr>
                  <a:t> </a:t>
                </a:r>
                <a:r>
                  <a:rPr lang="en-US" sz="2800" i="1" dirty="0">
                    <a:solidFill>
                      <a:schemeClr val="accent5">
                        <a:lumMod val="50000"/>
                      </a:schemeClr>
                    </a:solidFill>
                  </a:rPr>
                  <a:t>optimize</a:t>
                </a:r>
                <a:r>
                  <a:rPr lang="pl-PL" sz="2800" i="1" dirty="0">
                    <a:solidFill>
                      <a:schemeClr val="accent5">
                        <a:lumMod val="50000"/>
                      </a:schemeClr>
                    </a:solidFill>
                  </a:rPr>
                  <a:t> and </a:t>
                </a:r>
                <a:r>
                  <a:rPr lang="en-US" sz="2800" dirty="0">
                    <a:solidFill>
                      <a:schemeClr val="accent5">
                        <a:lumMod val="50000"/>
                      </a:schemeClr>
                    </a:solidFill>
                  </a:rPr>
                  <a:t>MC simulation</a:t>
                </a:r>
                <a:r>
                  <a:rPr lang="pl-PL" sz="2800" dirty="0">
                    <a:solidFill>
                      <a:schemeClr val="accent5">
                        <a:lumMod val="50000"/>
                      </a:schemeClr>
                    </a:solidFill>
                  </a:rPr>
                  <a:t> to </a:t>
                </a:r>
                <a:r>
                  <a:rPr lang="pl-PL" sz="2800" dirty="0" err="1">
                    <a:solidFill>
                      <a:schemeClr val="accent5">
                        <a:lumMod val="50000"/>
                      </a:schemeClr>
                    </a:solidFill>
                  </a:rPr>
                  <a:t>find</a:t>
                </a:r>
                <a:r>
                  <a:rPr lang="pl-PL" sz="2800" dirty="0">
                    <a:solidFill>
                      <a:schemeClr val="accent5">
                        <a:lumMod val="50000"/>
                      </a:schemeClr>
                    </a:solidFill>
                  </a:rPr>
                  <a:t> the minimum of the </a:t>
                </a:r>
                <a:r>
                  <a:rPr lang="pl-PL" sz="2800" dirty="0" err="1">
                    <a:solidFill>
                      <a:schemeClr val="accent5">
                        <a:lumMod val="50000"/>
                      </a:schemeClr>
                    </a:solidFill>
                  </a:rPr>
                  <a:t>fuction</a:t>
                </a:r>
                <a:r>
                  <a:rPr lang="pl-PL" sz="2800" dirty="0">
                    <a:solidFill>
                      <a:schemeClr val="accent5">
                        <a:lumMod val="50000"/>
                      </a:schemeClr>
                    </a:solidFill>
                  </a:rPr>
                  <a:t> : </a:t>
                </a:r>
                <a14:m>
                  <m:oMath xmlns:m="http://schemas.openxmlformats.org/officeDocument/2006/math">
                    <m:f>
                      <m:fPr>
                        <m:ctrlPr>
                          <a:rPr lang="pl-PL" sz="2800" i="1" smtClean="0">
                            <a:solidFill>
                              <a:schemeClr val="accent5">
                                <a:lumMod val="50000"/>
                              </a:schemeClr>
                            </a:solidFill>
                            <a:latin typeface="Cambria Math" panose="02040503050406030204" pitchFamily="18" charset="0"/>
                          </a:rPr>
                        </m:ctrlPr>
                      </m:fPr>
                      <m:num>
                        <m:r>
                          <m:rPr>
                            <m:sty m:val="p"/>
                          </m:rPr>
                          <a:rPr lang="pl-PL" sz="2800" b="0" i="0" smtClean="0">
                            <a:solidFill>
                              <a:schemeClr val="accent5">
                                <a:lumMod val="50000"/>
                              </a:schemeClr>
                            </a:solidFill>
                            <a:latin typeface="Cambria Math" panose="02040503050406030204" pitchFamily="18" charset="0"/>
                          </a:rPr>
                          <m:t>sin</m:t>
                        </m:r>
                        <m:r>
                          <a:rPr lang="pl-PL" sz="2800" b="0" i="1" smtClean="0">
                            <a:solidFill>
                              <a:schemeClr val="accent5">
                                <a:lumMod val="50000"/>
                              </a:schemeClr>
                            </a:solidFill>
                            <a:latin typeface="Cambria Math" panose="02040503050406030204" pitchFamily="18" charset="0"/>
                          </a:rPr>
                          <m:t>⁡(18 </m:t>
                        </m:r>
                        <m:r>
                          <a:rPr lang="pl-PL" sz="2800" b="0" i="1" smtClean="0">
                            <a:solidFill>
                              <a:schemeClr val="accent5">
                                <a:lumMod val="50000"/>
                              </a:schemeClr>
                            </a:solidFill>
                            <a:latin typeface="Cambria Math" panose="02040503050406030204" pitchFamily="18" charset="0"/>
                          </a:rPr>
                          <m:t>𝑥𝑙𝑜𝑔</m:t>
                        </m:r>
                        <m:r>
                          <a:rPr lang="pl-PL" sz="2800" b="0" i="1" smtClean="0">
                            <a:solidFill>
                              <a:schemeClr val="accent5">
                                <a:lumMod val="50000"/>
                              </a:schemeClr>
                            </a:solidFill>
                            <a:latin typeface="Cambria Math" panose="02040503050406030204" pitchFamily="18" charset="0"/>
                          </a:rPr>
                          <m:t>(</m:t>
                        </m:r>
                        <m:r>
                          <a:rPr lang="pl-PL" sz="2800" b="0" i="1" smtClean="0">
                            <a:solidFill>
                              <a:schemeClr val="accent5">
                                <a:lumMod val="50000"/>
                              </a:schemeClr>
                            </a:solidFill>
                            <a:latin typeface="Cambria Math" panose="02040503050406030204" pitchFamily="18" charset="0"/>
                          </a:rPr>
                          <m:t>𝑥</m:t>
                        </m:r>
                        <m:r>
                          <a:rPr lang="pl-PL" sz="2800" b="0" i="1" smtClean="0">
                            <a:solidFill>
                              <a:schemeClr val="accent5">
                                <a:lumMod val="50000"/>
                              </a:schemeClr>
                            </a:solidFill>
                            <a:latin typeface="Cambria Math" panose="02040503050406030204" pitchFamily="18" charset="0"/>
                          </a:rPr>
                          <m:t>)</m:t>
                        </m:r>
                      </m:num>
                      <m:den>
                        <m:r>
                          <a:rPr lang="pl-PL" sz="2800" b="0" i="1" smtClean="0">
                            <a:solidFill>
                              <a:schemeClr val="accent5">
                                <a:lumMod val="50000"/>
                              </a:schemeClr>
                            </a:solidFill>
                            <a:latin typeface="Cambria Math" panose="02040503050406030204" pitchFamily="18" charset="0"/>
                          </a:rPr>
                          <m:t>𝑥</m:t>
                        </m:r>
                      </m:den>
                    </m:f>
                  </m:oMath>
                </a14:m>
                <a:r>
                  <a:rPr lang="pl-PL" sz="2800" dirty="0">
                    <a:solidFill>
                      <a:schemeClr val="accent5">
                        <a:lumMod val="50000"/>
                      </a:schemeClr>
                    </a:solidFill>
                  </a:rPr>
                  <a:t> on interwal </a:t>
                </a:r>
                <a:r>
                  <a:rPr lang="en-US" sz="2800" dirty="0">
                    <a:solidFill>
                      <a:schemeClr val="accent5">
                        <a:lumMod val="50000"/>
                      </a:schemeClr>
                    </a:solidFill>
                  </a:rPr>
                  <a:t> </a:t>
                </a:r>
                <a:r>
                  <a:rPr lang="pl-PL" sz="2800" dirty="0">
                    <a:solidFill>
                      <a:schemeClr val="accent5">
                        <a:lumMod val="50000"/>
                      </a:schemeClr>
                    </a:solidFill>
                  </a:rPr>
                  <a:t>[1,2] </a:t>
                </a:r>
              </a:p>
              <a:p>
                <a:pPr algn="just"/>
                <a:endParaRPr lang="pl-PL" sz="2200" dirty="0">
                  <a:solidFill>
                    <a:schemeClr val="accent5">
                      <a:lumMod val="50000"/>
                    </a:schemeClr>
                  </a:solidFill>
                </a:endParaRPr>
              </a:p>
              <a:p>
                <a:pPr algn="just"/>
                <a:endParaRPr lang="pl-PL" sz="2200" dirty="0">
                  <a:solidFill>
                    <a:schemeClr val="accent5">
                      <a:lumMod val="50000"/>
                    </a:schemeClr>
                  </a:solidFill>
                </a:endParaRPr>
              </a:p>
            </p:txBody>
          </p:sp>
        </mc:Choice>
        <mc:Fallback xmlns="">
          <p:sp>
            <p:nvSpPr>
              <p:cNvPr id="3" name="Podtytuł 2"/>
              <p:cNvSpPr>
                <a:spLocks noGrp="1" noRot="1" noChangeAspect="1" noMove="1" noResize="1" noEditPoints="1" noAdjustHandles="1" noChangeArrowheads="1" noChangeShapeType="1" noTextEdit="1"/>
              </p:cNvSpPr>
              <p:nvPr>
                <p:ph type="subTitle" idx="1"/>
              </p:nvPr>
            </p:nvSpPr>
            <p:spPr>
              <a:xfrm>
                <a:off x="104273" y="1148532"/>
                <a:ext cx="11580796" cy="932608"/>
              </a:xfrm>
              <a:blipFill>
                <a:blip r:embed="rId2"/>
                <a:stretch>
                  <a:fillRect l="-1053" t="-5882" r="-1105" b="-32026"/>
                </a:stretch>
              </a:blipFill>
            </p:spPr>
            <p:txBody>
              <a:bodyPr/>
              <a:lstStyle/>
              <a:p>
                <a:r>
                  <a:rPr lang="pl-PL">
                    <a:noFill/>
                  </a:rPr>
                  <a:t> </a:t>
                </a:r>
              </a:p>
            </p:txBody>
          </p:sp>
        </mc:Fallback>
      </mc:AlternateContent>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err="1">
                <a:solidFill>
                  <a:srgbClr val="215968"/>
                </a:solidFill>
                <a:uFill>
                  <a:solidFill>
                    <a:srgbClr val="FFFFFF"/>
                  </a:solidFill>
                </a:uFill>
                <a:latin typeface="Calibri"/>
                <a:ea typeface="DejaVu Sans"/>
              </a:rPr>
              <a:t>Optimization</a:t>
            </a:r>
            <a:r>
              <a:rPr lang="pl-PL" sz="4000" b="1" i="1" spc="-1" dirty="0">
                <a:solidFill>
                  <a:srgbClr val="215968"/>
                </a:solidFill>
                <a:uFill>
                  <a:solidFill>
                    <a:srgbClr val="FFFFFF"/>
                  </a:solidFill>
                </a:uFill>
                <a:latin typeface="Calibri"/>
                <a:ea typeface="DejaVu Sans"/>
              </a:rPr>
              <a:t> </a:t>
            </a:r>
            <a:endParaRPr sz="1600" dirty="0">
              <a:solidFill>
                <a:prstClr val="black"/>
              </a:solidFill>
              <a:latin typeface="Calibri"/>
            </a:endParaRPr>
          </a:p>
        </p:txBody>
      </p:sp>
      <p:sp>
        <p:nvSpPr>
          <p:cNvPr id="10" name="Prostokąt 9"/>
          <p:cNvSpPr/>
          <p:nvPr/>
        </p:nvSpPr>
        <p:spPr>
          <a:xfrm>
            <a:off x="423512" y="3728159"/>
            <a:ext cx="5582651" cy="1631216"/>
          </a:xfrm>
          <a:prstGeom prst="rect">
            <a:avLst/>
          </a:prstGeom>
        </p:spPr>
        <p:txBody>
          <a:bodyPr wrap="square">
            <a:spAutoFit/>
          </a:bodyPr>
          <a:lstStyle/>
          <a:p>
            <a:r>
              <a:rPr lang="en-US" sz="2000" dirty="0">
                <a:solidFill>
                  <a:srgbClr val="FF0000"/>
                </a:solidFill>
              </a:rPr>
              <a:t>[1] "Code execution time 0.2069"</a:t>
            </a:r>
          </a:p>
          <a:p>
            <a:r>
              <a:rPr lang="en-US" sz="2000" dirty="0">
                <a:solidFill>
                  <a:srgbClr val="FF0000"/>
                </a:solidFill>
              </a:rPr>
              <a:t>$minimum</a:t>
            </a:r>
          </a:p>
          <a:p>
            <a:r>
              <a:rPr lang="en-US" sz="2000" dirty="0">
                <a:solidFill>
                  <a:srgbClr val="FF0000"/>
                </a:solidFill>
              </a:rPr>
              <a:t>[1] 1.736813</a:t>
            </a:r>
          </a:p>
          <a:p>
            <a:r>
              <a:rPr lang="en-US" sz="2000" dirty="0">
                <a:solidFill>
                  <a:srgbClr val="FF0000"/>
                </a:solidFill>
              </a:rPr>
              <a:t>$objective</a:t>
            </a:r>
          </a:p>
          <a:p>
            <a:r>
              <a:rPr lang="en-US" sz="2000" dirty="0">
                <a:solidFill>
                  <a:srgbClr val="FF0000"/>
                </a:solidFill>
              </a:rPr>
              <a:t>[1] -0.5756502</a:t>
            </a:r>
          </a:p>
        </p:txBody>
      </p:sp>
      <p:sp>
        <p:nvSpPr>
          <p:cNvPr id="12" name="Prostokąt 11"/>
          <p:cNvSpPr/>
          <p:nvPr/>
        </p:nvSpPr>
        <p:spPr>
          <a:xfrm>
            <a:off x="283186" y="2713655"/>
            <a:ext cx="6083166" cy="830997"/>
          </a:xfrm>
          <a:prstGeom prst="rect">
            <a:avLst/>
          </a:prstGeom>
        </p:spPr>
        <p:txBody>
          <a:bodyPr wrap="square">
            <a:spAutoFit/>
          </a:bodyPr>
          <a:lstStyle/>
          <a:p>
            <a:r>
              <a:rPr lang="en-US" sz="2400" dirty="0">
                <a:solidFill>
                  <a:srgbClr val="4BACC6">
                    <a:lumMod val="50000"/>
                  </a:srgbClr>
                </a:solidFill>
                <a:latin typeface="Calibri"/>
              </a:rPr>
              <a:t>The result of the </a:t>
            </a:r>
            <a:r>
              <a:rPr lang="en-US" sz="2400" dirty="0">
                <a:solidFill>
                  <a:srgbClr val="4BACC6">
                    <a:lumMod val="50000"/>
                  </a:srgbClr>
                </a:solidFill>
              </a:rPr>
              <a:t>optimize</a:t>
            </a:r>
            <a:r>
              <a:rPr lang="pl-PL" sz="2400" dirty="0">
                <a:solidFill>
                  <a:srgbClr val="4BACC6">
                    <a:lumMod val="50000"/>
                  </a:srgbClr>
                </a:solidFill>
              </a:rPr>
              <a:t> </a:t>
            </a:r>
            <a:r>
              <a:rPr lang="en-US" sz="2400" dirty="0">
                <a:solidFill>
                  <a:srgbClr val="4BACC6">
                    <a:lumMod val="50000"/>
                  </a:srgbClr>
                </a:solidFill>
                <a:latin typeface="Calibri"/>
              </a:rPr>
              <a:t>inbuilt procedure in R (</a:t>
            </a:r>
            <a:r>
              <a:rPr lang="pl-PL" sz="2400" b="1" dirty="0">
                <a:solidFill>
                  <a:srgbClr val="C00000"/>
                </a:solidFill>
              </a:rPr>
              <a:t>O</a:t>
            </a:r>
            <a:r>
              <a:rPr lang="en-US" sz="2400" b="1" dirty="0" err="1">
                <a:solidFill>
                  <a:srgbClr val="C00000"/>
                </a:solidFill>
              </a:rPr>
              <a:t>ptimize</a:t>
            </a:r>
            <a:r>
              <a:rPr lang="en-US" sz="2400" b="1" dirty="0">
                <a:solidFill>
                  <a:srgbClr val="C00000"/>
                </a:solidFill>
              </a:rPr>
              <a:t> vs MC.R</a:t>
            </a:r>
            <a:r>
              <a:rPr lang="pl-PL" sz="2400" b="1" dirty="0">
                <a:solidFill>
                  <a:srgbClr val="C00000"/>
                </a:solidFill>
              </a:rPr>
              <a:t> </a:t>
            </a:r>
            <a:r>
              <a:rPr lang="en-US" sz="2400" dirty="0">
                <a:solidFill>
                  <a:srgbClr val="4BACC6">
                    <a:lumMod val="50000"/>
                  </a:srgbClr>
                </a:solidFill>
                <a:latin typeface="Calibri"/>
              </a:rPr>
              <a:t>)</a:t>
            </a:r>
            <a:r>
              <a:rPr lang="pl-PL" sz="2400" dirty="0">
                <a:solidFill>
                  <a:srgbClr val="4BACC6">
                    <a:lumMod val="50000"/>
                  </a:srgbClr>
                </a:solidFill>
                <a:latin typeface="Calibri"/>
              </a:rPr>
              <a:t> </a:t>
            </a:r>
          </a:p>
        </p:txBody>
      </p:sp>
      <p:sp>
        <p:nvSpPr>
          <p:cNvPr id="14" name="Prostokąt 13"/>
          <p:cNvSpPr/>
          <p:nvPr/>
        </p:nvSpPr>
        <p:spPr>
          <a:xfrm>
            <a:off x="7111549" y="3339260"/>
            <a:ext cx="4770313"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pl-PL" dirty="0" err="1">
                <a:solidFill>
                  <a:srgbClr val="4BACC6">
                    <a:lumMod val="50000"/>
                  </a:srgbClr>
                </a:solidFill>
                <a:latin typeface="Calibri"/>
              </a:rPr>
              <a:t>kill</a:t>
            </a:r>
            <a:r>
              <a:rPr lang="pl-PL" dirty="0">
                <a:solidFill>
                  <a:srgbClr val="4BACC6">
                    <a:lumMod val="50000"/>
                  </a:srgbClr>
                </a:solidFill>
                <a:latin typeface="Calibri"/>
              </a:rPr>
              <a:t>(</a:t>
            </a:r>
            <a:r>
              <a:rPr lang="pl-PL" dirty="0" err="1">
                <a:solidFill>
                  <a:srgbClr val="4BACC6">
                    <a:lumMod val="50000"/>
                  </a:srgbClr>
                </a:solidFill>
                <a:latin typeface="Calibri"/>
              </a:rPr>
              <a:t>all</a:t>
            </a:r>
            <a:r>
              <a:rPr lang="pl-PL" dirty="0">
                <a:solidFill>
                  <a:srgbClr val="4BACC6">
                    <a:lumMod val="50000"/>
                  </a:srgbClr>
                </a:solidFill>
                <a:latin typeface="Calibri"/>
              </a:rPr>
              <a:t>);</a:t>
            </a:r>
          </a:p>
          <a:p>
            <a:r>
              <a:rPr lang="pl-PL" dirty="0" err="1">
                <a:solidFill>
                  <a:srgbClr val="4BACC6">
                    <a:lumMod val="50000"/>
                  </a:srgbClr>
                </a:solidFill>
                <a:latin typeface="Calibri"/>
              </a:rPr>
              <a:t>load</a:t>
            </a:r>
            <a:r>
              <a:rPr lang="pl-PL" dirty="0">
                <a:solidFill>
                  <a:srgbClr val="4BACC6">
                    <a:lumMod val="50000"/>
                  </a:srgbClr>
                </a:solidFill>
                <a:latin typeface="Calibri"/>
              </a:rPr>
              <a:t>("</a:t>
            </a:r>
            <a:r>
              <a:rPr lang="pl-PL" dirty="0" err="1">
                <a:solidFill>
                  <a:srgbClr val="4BACC6">
                    <a:lumMod val="50000"/>
                  </a:srgbClr>
                </a:solidFill>
                <a:latin typeface="Calibri"/>
              </a:rPr>
              <a:t>fmin_cobyla</a:t>
            </a:r>
            <a:r>
              <a:rPr lang="pl-PL" dirty="0">
                <a:solidFill>
                  <a:srgbClr val="4BACC6">
                    <a:lumMod val="50000"/>
                  </a:srgbClr>
                </a:solidFill>
                <a:latin typeface="Calibri"/>
              </a:rPr>
              <a:t>")$  /* </a:t>
            </a:r>
            <a:r>
              <a:rPr lang="pl-PL" dirty="0" err="1">
                <a:solidFill>
                  <a:srgbClr val="4BACC6">
                    <a:lumMod val="50000"/>
                  </a:srgbClr>
                </a:solidFill>
                <a:latin typeface="Calibri"/>
              </a:rPr>
              <a:t>loading</a:t>
            </a:r>
            <a:r>
              <a:rPr lang="pl-PL" dirty="0">
                <a:solidFill>
                  <a:srgbClr val="4BACC6">
                    <a:lumMod val="50000"/>
                  </a:srgbClr>
                </a:solidFill>
                <a:latin typeface="Calibri"/>
              </a:rPr>
              <a:t> the </a:t>
            </a:r>
            <a:r>
              <a:rPr lang="pl-PL" dirty="0" err="1">
                <a:solidFill>
                  <a:srgbClr val="4BACC6">
                    <a:lumMod val="50000"/>
                  </a:srgbClr>
                </a:solidFill>
                <a:latin typeface="Calibri"/>
              </a:rPr>
              <a:t>optimization</a:t>
            </a:r>
            <a:r>
              <a:rPr lang="pl-PL" dirty="0">
                <a:solidFill>
                  <a:srgbClr val="4BACC6">
                    <a:lumMod val="50000"/>
                  </a:srgbClr>
                </a:solidFill>
                <a:latin typeface="Calibri"/>
              </a:rPr>
              <a:t> </a:t>
            </a:r>
            <a:r>
              <a:rPr lang="pl-PL" dirty="0" err="1">
                <a:solidFill>
                  <a:srgbClr val="4BACC6">
                    <a:lumMod val="50000"/>
                  </a:srgbClr>
                </a:solidFill>
                <a:latin typeface="Calibri"/>
              </a:rPr>
              <a:t>package</a:t>
            </a:r>
            <a:r>
              <a:rPr lang="pl-PL" dirty="0">
                <a:solidFill>
                  <a:srgbClr val="4BACC6">
                    <a:lumMod val="50000"/>
                  </a:srgbClr>
                </a:solidFill>
                <a:latin typeface="Calibri"/>
              </a:rPr>
              <a:t> */</a:t>
            </a:r>
          </a:p>
          <a:p>
            <a:r>
              <a:rPr lang="pl-PL" dirty="0" err="1">
                <a:solidFill>
                  <a:srgbClr val="215968"/>
                </a:solidFill>
                <a:latin typeface="Calibri"/>
              </a:rPr>
              <a:t>fmin_cobyla</a:t>
            </a:r>
            <a:r>
              <a:rPr lang="pl-PL" dirty="0">
                <a:solidFill>
                  <a:srgbClr val="4BACC6">
                    <a:lumMod val="50000"/>
                  </a:srgbClr>
                </a:solidFill>
                <a:latin typeface="Calibri"/>
              </a:rPr>
              <a:t>(sin(18*x*log(x))/x, [x], [1.5], </a:t>
            </a:r>
            <a:r>
              <a:rPr lang="pl-PL" dirty="0" err="1">
                <a:solidFill>
                  <a:srgbClr val="4BACC6">
                    <a:lumMod val="50000"/>
                  </a:srgbClr>
                </a:solidFill>
                <a:latin typeface="Calibri"/>
              </a:rPr>
              <a:t>constraints</a:t>
            </a:r>
            <a:r>
              <a:rPr lang="pl-PL" dirty="0">
                <a:solidFill>
                  <a:srgbClr val="4BACC6">
                    <a:lumMod val="50000"/>
                  </a:srgbClr>
                </a:solidFill>
                <a:latin typeface="Calibri"/>
              </a:rPr>
              <a:t> = [x&gt;=1, x&lt;=2],</a:t>
            </a:r>
            <a:r>
              <a:rPr lang="pl-PL" dirty="0" err="1">
                <a:solidFill>
                  <a:srgbClr val="4BACC6">
                    <a:lumMod val="50000"/>
                  </a:srgbClr>
                </a:solidFill>
                <a:latin typeface="Calibri"/>
              </a:rPr>
              <a:t>iprint</a:t>
            </a:r>
            <a:r>
              <a:rPr lang="pl-PL" dirty="0">
                <a:solidFill>
                  <a:srgbClr val="4BACC6">
                    <a:lumMod val="50000"/>
                  </a:srgbClr>
                </a:solidFill>
                <a:latin typeface="Calibri"/>
              </a:rPr>
              <a:t>=1);</a:t>
            </a:r>
          </a:p>
        </p:txBody>
      </p:sp>
      <p:pic>
        <p:nvPicPr>
          <p:cNvPr id="15" name="Obraz 14"/>
          <p:cNvPicPr>
            <a:picLocks noChangeAspect="1"/>
          </p:cNvPicPr>
          <p:nvPr/>
        </p:nvPicPr>
        <p:blipFill>
          <a:blip r:embed="rId3"/>
          <a:stretch>
            <a:fillRect/>
          </a:stretch>
        </p:blipFill>
        <p:spPr>
          <a:xfrm>
            <a:off x="6801413" y="5008165"/>
            <a:ext cx="5390583" cy="1142072"/>
          </a:xfrm>
          <a:prstGeom prst="rect">
            <a:avLst/>
          </a:prstGeom>
        </p:spPr>
      </p:pic>
      <p:sp>
        <p:nvSpPr>
          <p:cNvPr id="16" name="Prostokąt 15"/>
          <p:cNvSpPr/>
          <p:nvPr/>
        </p:nvSpPr>
        <p:spPr>
          <a:xfrm>
            <a:off x="6808875" y="2324740"/>
            <a:ext cx="5072987" cy="830997"/>
          </a:xfrm>
          <a:prstGeom prst="rect">
            <a:avLst/>
          </a:prstGeom>
        </p:spPr>
        <p:txBody>
          <a:bodyPr wrap="square">
            <a:spAutoFit/>
          </a:bodyPr>
          <a:lstStyle/>
          <a:p>
            <a:r>
              <a:rPr lang="en-US" sz="2400" dirty="0">
                <a:solidFill>
                  <a:srgbClr val="4BACC6">
                    <a:lumMod val="50000"/>
                  </a:srgbClr>
                </a:solidFill>
                <a:latin typeface="Calibri"/>
              </a:rPr>
              <a:t>The result of the optimization </a:t>
            </a:r>
            <a:r>
              <a:rPr lang="pl-PL" sz="2400" dirty="0" err="1">
                <a:solidFill>
                  <a:srgbClr val="4BACC6">
                    <a:lumMod val="50000"/>
                  </a:srgbClr>
                </a:solidFill>
                <a:latin typeface="Calibri"/>
              </a:rPr>
              <a:t>packeges</a:t>
            </a:r>
            <a:r>
              <a:rPr lang="en-US" sz="2400" dirty="0">
                <a:solidFill>
                  <a:srgbClr val="4BACC6">
                    <a:lumMod val="50000"/>
                  </a:srgbClr>
                </a:solidFill>
                <a:latin typeface="Calibri"/>
              </a:rPr>
              <a:t> procedure in </a:t>
            </a:r>
            <a:r>
              <a:rPr lang="pl-PL" sz="2400" dirty="0">
                <a:solidFill>
                  <a:srgbClr val="4BACC6">
                    <a:lumMod val="50000"/>
                  </a:srgbClr>
                </a:solidFill>
                <a:latin typeface="Calibri"/>
              </a:rPr>
              <a:t>Maxima</a:t>
            </a:r>
            <a:r>
              <a:rPr lang="en-US" sz="2400" dirty="0">
                <a:solidFill>
                  <a:srgbClr val="4BACC6">
                    <a:lumMod val="50000"/>
                  </a:srgbClr>
                </a:solidFill>
              </a:rPr>
              <a:t> (</a:t>
            </a:r>
            <a:r>
              <a:rPr lang="en-US" sz="2400" dirty="0" err="1">
                <a:solidFill>
                  <a:srgbClr val="4BACC6">
                    <a:lumMod val="50000"/>
                  </a:srgbClr>
                </a:solidFill>
              </a:rPr>
              <a:t>fmin_cobyla</a:t>
            </a:r>
            <a:r>
              <a:rPr lang="en-US" sz="2400" dirty="0">
                <a:solidFill>
                  <a:srgbClr val="4BACC6">
                    <a:lumMod val="50000"/>
                  </a:srgbClr>
                </a:solidFill>
              </a:rPr>
              <a:t>)</a:t>
            </a:r>
            <a:r>
              <a:rPr lang="pl-PL" sz="2400" dirty="0">
                <a:solidFill>
                  <a:srgbClr val="4BACC6">
                    <a:lumMod val="50000"/>
                  </a:srgbClr>
                </a:solidFill>
                <a:latin typeface="Calibri"/>
              </a:rPr>
              <a:t>. </a:t>
            </a:r>
          </a:p>
        </p:txBody>
      </p:sp>
      <p:sp>
        <p:nvSpPr>
          <p:cNvPr id="17" name="Prostokąt 16"/>
          <p:cNvSpPr/>
          <p:nvPr/>
        </p:nvSpPr>
        <p:spPr>
          <a:xfrm>
            <a:off x="283186" y="5579201"/>
            <a:ext cx="6172674" cy="1077218"/>
          </a:xfrm>
          <a:prstGeom prst="rect">
            <a:avLst/>
          </a:prstGeom>
        </p:spPr>
        <p:txBody>
          <a:bodyPr wrap="square">
            <a:spAutoFit/>
          </a:bodyPr>
          <a:lstStyle/>
          <a:p>
            <a:r>
              <a:rPr lang="en-US" sz="3200" b="1" dirty="0">
                <a:solidFill>
                  <a:srgbClr val="4BACC6">
                    <a:lumMod val="50000"/>
                  </a:srgbClr>
                </a:solidFill>
              </a:rPr>
              <a:t>We have conflicting results, which is correct?</a:t>
            </a:r>
            <a:endParaRPr lang="pl-PL" sz="3200" b="1" dirty="0">
              <a:solidFill>
                <a:srgbClr val="4BACC6">
                  <a:lumMod val="50000"/>
                </a:srgbClr>
              </a:solidFill>
              <a:latin typeface="Calibri"/>
            </a:endParaRPr>
          </a:p>
        </p:txBody>
      </p:sp>
      <p:sp>
        <p:nvSpPr>
          <p:cNvPr id="2" name="TextBox 1">
            <a:extLst>
              <a:ext uri="{FF2B5EF4-FFF2-40B4-BE49-F238E27FC236}">
                <a16:creationId xmlns:a16="http://schemas.microsoft.com/office/drawing/2014/main" id="{86CC4525-8422-0CDD-0DE3-C77E79D90462}"/>
              </a:ext>
            </a:extLst>
          </p:cNvPr>
          <p:cNvSpPr txBox="1"/>
          <p:nvPr/>
        </p:nvSpPr>
        <p:spPr>
          <a:xfrm rot="18806356">
            <a:off x="4258729" y="3992159"/>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775738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115503" y="1128240"/>
            <a:ext cx="6323797" cy="1071108"/>
          </a:xfrm>
        </p:spPr>
        <p:txBody>
          <a:bodyPr>
            <a:noAutofit/>
          </a:bodyPr>
          <a:lstStyle/>
          <a:p>
            <a:pPr algn="just"/>
            <a:r>
              <a:rPr lang="en-US" sz="2400" dirty="0">
                <a:solidFill>
                  <a:schemeClr val="accent5">
                    <a:lumMod val="50000"/>
                  </a:schemeClr>
                </a:solidFill>
              </a:rPr>
              <a:t>For the </a:t>
            </a:r>
            <a:r>
              <a:rPr lang="pl-PL" sz="2400" dirty="0">
                <a:solidFill>
                  <a:schemeClr val="accent5">
                    <a:lumMod val="50000"/>
                  </a:schemeClr>
                </a:solidFill>
              </a:rPr>
              <a:t>R </a:t>
            </a:r>
            <a:r>
              <a:rPr lang="en-US" sz="2400" dirty="0">
                <a:solidFill>
                  <a:schemeClr val="accent5">
                    <a:lumMod val="50000"/>
                  </a:schemeClr>
                </a:solidFill>
              </a:rPr>
              <a:t>function</a:t>
            </a:r>
            <a:r>
              <a:rPr lang="pl-PL" sz="2400" dirty="0">
                <a:solidFill>
                  <a:schemeClr val="accent5">
                    <a:lumMod val="50000"/>
                  </a:schemeClr>
                </a:solidFill>
              </a:rPr>
              <a:t> </a:t>
            </a:r>
            <a:r>
              <a:rPr lang="en-US" sz="2400" i="1" dirty="0">
                <a:solidFill>
                  <a:srgbClr val="FF0000"/>
                </a:solidFill>
              </a:rPr>
              <a:t>optimize</a:t>
            </a:r>
            <a:r>
              <a:rPr lang="en-US" sz="2400" dirty="0">
                <a:solidFill>
                  <a:schemeClr val="accent5">
                    <a:lumMod val="50000"/>
                  </a:schemeClr>
                </a:solidFill>
              </a:rPr>
              <a:t>, the optimization procedure stops on a local minimum (red lines). MC simulation is robust (green lines). </a:t>
            </a: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err="1">
                <a:solidFill>
                  <a:srgbClr val="215968"/>
                </a:solidFill>
                <a:uFill>
                  <a:solidFill>
                    <a:srgbClr val="FFFFFF"/>
                  </a:solidFill>
                </a:uFill>
                <a:latin typeface="Calibri"/>
                <a:ea typeface="DejaVu Sans"/>
              </a:rPr>
              <a:t>Optimization</a:t>
            </a:r>
            <a:r>
              <a:rPr lang="pl-PL" sz="4000" b="1" i="1" spc="-1" dirty="0">
                <a:solidFill>
                  <a:srgbClr val="215968"/>
                </a:solidFill>
                <a:uFill>
                  <a:solidFill>
                    <a:srgbClr val="FFFFFF"/>
                  </a:solidFill>
                </a:uFill>
                <a:latin typeface="Calibri"/>
                <a:ea typeface="DejaVu Sans"/>
              </a:rPr>
              <a:t> </a:t>
            </a:r>
            <a:endParaRPr sz="1600" dirty="0">
              <a:solidFill>
                <a:prstClr val="black"/>
              </a:solidFill>
              <a:latin typeface="Calibri"/>
            </a:endParaRPr>
          </a:p>
        </p:txBody>
      </p:sp>
      <p:pic>
        <p:nvPicPr>
          <p:cNvPr id="7" name="Obraz 6"/>
          <p:cNvPicPr>
            <a:picLocks noChangeAspect="1"/>
          </p:cNvPicPr>
          <p:nvPr/>
        </p:nvPicPr>
        <p:blipFill rotWithShape="1">
          <a:blip r:embed="rId2"/>
          <a:srcRect l="1548" t="3120"/>
          <a:stretch/>
        </p:blipFill>
        <p:spPr>
          <a:xfrm>
            <a:off x="6439300" y="1241579"/>
            <a:ext cx="5372346" cy="2462496"/>
          </a:xfrm>
          <a:prstGeom prst="rect">
            <a:avLst/>
          </a:prstGeom>
        </p:spPr>
      </p:pic>
      <p:sp>
        <p:nvSpPr>
          <p:cNvPr id="11" name="Podtytuł 2"/>
          <p:cNvSpPr txBox="1">
            <a:spLocks/>
          </p:cNvSpPr>
          <p:nvPr/>
        </p:nvSpPr>
        <p:spPr>
          <a:xfrm>
            <a:off x="4862206" y="3631405"/>
            <a:ext cx="6949440" cy="7908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2400" dirty="0">
                <a:solidFill>
                  <a:srgbClr val="4BACC6">
                    <a:lumMod val="50000"/>
                  </a:srgbClr>
                </a:solidFill>
                <a:latin typeface="Calibri"/>
              </a:rPr>
              <a:t>The result of the MC simulation, number of iteration </a:t>
            </a:r>
            <a:endParaRPr lang="pl-PL" sz="2400" dirty="0">
              <a:solidFill>
                <a:srgbClr val="4BACC6">
                  <a:lumMod val="50000"/>
                </a:srgbClr>
              </a:solidFill>
              <a:latin typeface="Calibri"/>
            </a:endParaRPr>
          </a:p>
          <a:p>
            <a:pPr algn="just"/>
            <a:r>
              <a:rPr lang="en-US" sz="2400" dirty="0">
                <a:solidFill>
                  <a:srgbClr val="4BACC6">
                    <a:lumMod val="50000"/>
                  </a:srgbClr>
                </a:solidFill>
                <a:latin typeface="Calibri"/>
              </a:rPr>
              <a:t>N = 10000</a:t>
            </a:r>
            <a:r>
              <a:rPr lang="pl-PL" sz="2400" dirty="0">
                <a:solidFill>
                  <a:srgbClr val="4BACC6">
                    <a:lumMod val="50000"/>
                  </a:srgbClr>
                </a:solidFill>
                <a:latin typeface="Calibri"/>
              </a:rPr>
              <a:t> </a:t>
            </a:r>
            <a:r>
              <a:rPr lang="en-US" sz="2400" dirty="0">
                <a:solidFill>
                  <a:srgbClr val="4BACC6">
                    <a:lumMod val="50000"/>
                  </a:srgbClr>
                </a:solidFill>
              </a:rPr>
              <a:t> </a:t>
            </a:r>
            <a:r>
              <a:rPr lang="pl-PL" sz="2400" dirty="0">
                <a:solidFill>
                  <a:srgbClr val="4BACC6">
                    <a:lumMod val="50000"/>
                  </a:srgbClr>
                </a:solidFill>
              </a:rPr>
              <a:t>( </a:t>
            </a:r>
            <a:r>
              <a:rPr lang="pl-PL" sz="2400" dirty="0" err="1">
                <a:solidFill>
                  <a:srgbClr val="4BACC6">
                    <a:lumMod val="50000"/>
                  </a:srgbClr>
                </a:solidFill>
              </a:rPr>
              <a:t>see</a:t>
            </a:r>
            <a:r>
              <a:rPr lang="pl-PL" sz="2400" dirty="0">
                <a:solidFill>
                  <a:srgbClr val="4BACC6">
                    <a:lumMod val="50000"/>
                  </a:srgbClr>
                </a:solidFill>
              </a:rPr>
              <a:t> </a:t>
            </a:r>
            <a:r>
              <a:rPr lang="pl-PL" sz="2400" b="1" dirty="0">
                <a:solidFill>
                  <a:srgbClr val="C00000"/>
                </a:solidFill>
              </a:rPr>
              <a:t>O</a:t>
            </a:r>
            <a:r>
              <a:rPr lang="en-US" sz="2400" b="1" dirty="0" err="1">
                <a:solidFill>
                  <a:srgbClr val="C00000"/>
                </a:solidFill>
              </a:rPr>
              <a:t>ptimize</a:t>
            </a:r>
            <a:r>
              <a:rPr lang="en-US" sz="2400" b="1" dirty="0">
                <a:solidFill>
                  <a:srgbClr val="C00000"/>
                </a:solidFill>
              </a:rPr>
              <a:t> vs MC.R</a:t>
            </a:r>
            <a:r>
              <a:rPr lang="pl-PL" sz="2400" b="1" dirty="0">
                <a:solidFill>
                  <a:srgbClr val="C00000"/>
                </a:solidFill>
              </a:rPr>
              <a:t> </a:t>
            </a:r>
            <a:r>
              <a:rPr lang="pl-PL" sz="2400" dirty="0">
                <a:solidFill>
                  <a:srgbClr val="4BACC6">
                    <a:lumMod val="50000"/>
                  </a:srgbClr>
                </a:solidFill>
              </a:rPr>
              <a:t>)</a:t>
            </a:r>
            <a:endParaRPr lang="en-US" sz="2400" dirty="0">
              <a:solidFill>
                <a:srgbClr val="4BACC6">
                  <a:lumMod val="50000"/>
                </a:srgbClr>
              </a:solidFill>
              <a:latin typeface="Calibri"/>
            </a:endParaRPr>
          </a:p>
        </p:txBody>
      </p:sp>
      <p:sp>
        <p:nvSpPr>
          <p:cNvPr id="12" name="Prostokąt 11"/>
          <p:cNvSpPr/>
          <p:nvPr/>
        </p:nvSpPr>
        <p:spPr>
          <a:xfrm>
            <a:off x="2271562" y="2667406"/>
            <a:ext cx="3307742" cy="1015663"/>
          </a:xfrm>
          <a:prstGeom prst="rect">
            <a:avLst/>
          </a:prstGeom>
        </p:spPr>
        <p:txBody>
          <a:bodyPr wrap="square">
            <a:spAutoFit/>
          </a:bodyPr>
          <a:lstStyle/>
          <a:p>
            <a:r>
              <a:rPr lang="en-US" sz="2000" dirty="0">
                <a:solidFill>
                  <a:srgbClr val="4BACC6">
                    <a:lumMod val="50000"/>
                  </a:srgbClr>
                </a:solidFill>
                <a:latin typeface="Calibri"/>
              </a:rPr>
              <a:t>The result of the optimization inbuilt procedure in R (optimize)</a:t>
            </a:r>
            <a:endParaRPr lang="pl-PL" sz="2000" dirty="0">
              <a:solidFill>
                <a:srgbClr val="4BACC6">
                  <a:lumMod val="50000"/>
                </a:srgbClr>
              </a:solidFill>
              <a:latin typeface="Calibri"/>
            </a:endParaRPr>
          </a:p>
        </p:txBody>
      </p:sp>
      <p:pic>
        <p:nvPicPr>
          <p:cNvPr id="5" name="Obraz 4"/>
          <p:cNvPicPr>
            <a:picLocks noChangeAspect="1"/>
          </p:cNvPicPr>
          <p:nvPr/>
        </p:nvPicPr>
        <p:blipFill>
          <a:blip r:embed="rId3"/>
          <a:stretch>
            <a:fillRect/>
          </a:stretch>
        </p:blipFill>
        <p:spPr>
          <a:xfrm>
            <a:off x="393612" y="5189094"/>
            <a:ext cx="4151412" cy="879536"/>
          </a:xfrm>
          <a:prstGeom prst="rect">
            <a:avLst/>
          </a:prstGeom>
        </p:spPr>
      </p:pic>
      <p:sp>
        <p:nvSpPr>
          <p:cNvPr id="13" name="Podtytuł 2"/>
          <p:cNvSpPr txBox="1">
            <a:spLocks/>
          </p:cNvSpPr>
          <p:nvPr/>
        </p:nvSpPr>
        <p:spPr>
          <a:xfrm>
            <a:off x="189620" y="6084706"/>
            <a:ext cx="5194123" cy="72736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2400" dirty="0">
                <a:solidFill>
                  <a:srgbClr val="4BACC6">
                    <a:lumMod val="50000"/>
                  </a:srgbClr>
                </a:solidFill>
                <a:latin typeface="Calibri"/>
              </a:rPr>
              <a:t>The Maxima result </a:t>
            </a:r>
            <a:r>
              <a:rPr lang="pl-PL" sz="2400" dirty="0">
                <a:solidFill>
                  <a:srgbClr val="4BACC6">
                    <a:lumMod val="50000"/>
                  </a:srgbClr>
                </a:solidFill>
                <a:latin typeface="Calibri"/>
              </a:rPr>
              <a:t>we </a:t>
            </a:r>
            <a:r>
              <a:rPr lang="pl-PL" sz="2400" dirty="0" err="1">
                <a:solidFill>
                  <a:srgbClr val="4BACC6">
                    <a:lumMod val="50000"/>
                  </a:srgbClr>
                </a:solidFill>
                <a:latin typeface="Calibri"/>
              </a:rPr>
              <a:t>can</a:t>
            </a:r>
            <a:r>
              <a:rPr lang="pl-PL" sz="2400" dirty="0">
                <a:solidFill>
                  <a:srgbClr val="4BACC6">
                    <a:lumMod val="50000"/>
                  </a:srgbClr>
                </a:solidFill>
                <a:latin typeface="Calibri"/>
              </a:rPr>
              <a:t> </a:t>
            </a:r>
            <a:r>
              <a:rPr lang="pl-PL" sz="2400" dirty="0" err="1">
                <a:solidFill>
                  <a:srgbClr val="4BACC6">
                    <a:lumMod val="50000"/>
                  </a:srgbClr>
                </a:solidFill>
                <a:latin typeface="Calibri"/>
              </a:rPr>
              <a:t>treat</a:t>
            </a:r>
            <a:r>
              <a:rPr lang="pl-PL" sz="2400" dirty="0">
                <a:solidFill>
                  <a:srgbClr val="4BACC6">
                    <a:lumMod val="50000"/>
                  </a:srgbClr>
                </a:solidFill>
                <a:latin typeface="Calibri"/>
              </a:rPr>
              <a:t> </a:t>
            </a:r>
            <a:r>
              <a:rPr lang="en-US" sz="2400" dirty="0">
                <a:solidFill>
                  <a:srgbClr val="4BACC6">
                    <a:lumMod val="50000"/>
                  </a:srgbClr>
                </a:solidFill>
                <a:latin typeface="Calibri"/>
              </a:rPr>
              <a:t>as a benchmark.</a:t>
            </a:r>
          </a:p>
        </p:txBody>
      </p:sp>
      <p:sp>
        <p:nvSpPr>
          <p:cNvPr id="14" name="Prostokąt 13"/>
          <p:cNvSpPr/>
          <p:nvPr/>
        </p:nvSpPr>
        <p:spPr>
          <a:xfrm>
            <a:off x="189620" y="3894337"/>
            <a:ext cx="4719815" cy="1200329"/>
          </a:xfrm>
          <a:prstGeom prst="rect">
            <a:avLst/>
          </a:prstGeom>
        </p:spPr>
        <p:txBody>
          <a:bodyPr wrap="square">
            <a:spAutoFit/>
          </a:bodyPr>
          <a:lstStyle/>
          <a:p>
            <a:r>
              <a:rPr lang="en-US" sz="2400" dirty="0">
                <a:solidFill>
                  <a:srgbClr val="4BACC6">
                    <a:lumMod val="50000"/>
                  </a:srgbClr>
                </a:solidFill>
                <a:latin typeface="Calibri"/>
              </a:rPr>
              <a:t>The result of the optimization </a:t>
            </a:r>
            <a:r>
              <a:rPr lang="pl-PL" sz="2400" dirty="0" err="1">
                <a:solidFill>
                  <a:srgbClr val="4BACC6">
                    <a:lumMod val="50000"/>
                  </a:srgbClr>
                </a:solidFill>
                <a:latin typeface="Calibri"/>
              </a:rPr>
              <a:t>packeges</a:t>
            </a:r>
            <a:r>
              <a:rPr lang="en-US" sz="2400" dirty="0">
                <a:solidFill>
                  <a:srgbClr val="4BACC6">
                    <a:lumMod val="50000"/>
                  </a:srgbClr>
                </a:solidFill>
                <a:latin typeface="Calibri"/>
              </a:rPr>
              <a:t> procedure in </a:t>
            </a:r>
            <a:r>
              <a:rPr lang="pl-PL" sz="2400" dirty="0">
                <a:solidFill>
                  <a:srgbClr val="4BACC6">
                    <a:lumMod val="50000"/>
                  </a:srgbClr>
                </a:solidFill>
                <a:latin typeface="Calibri"/>
              </a:rPr>
              <a:t>Maxima</a:t>
            </a:r>
            <a:r>
              <a:rPr lang="en-US" sz="2400" dirty="0">
                <a:solidFill>
                  <a:srgbClr val="4BACC6">
                    <a:lumMod val="50000"/>
                  </a:srgbClr>
                </a:solidFill>
              </a:rPr>
              <a:t> (</a:t>
            </a:r>
            <a:r>
              <a:rPr lang="en-US" sz="2400" dirty="0" err="1">
                <a:solidFill>
                  <a:srgbClr val="4BACC6">
                    <a:lumMod val="50000"/>
                  </a:srgbClr>
                </a:solidFill>
              </a:rPr>
              <a:t>fmin_cobyla</a:t>
            </a:r>
            <a:r>
              <a:rPr lang="en-US" sz="2400" dirty="0">
                <a:solidFill>
                  <a:srgbClr val="4BACC6">
                    <a:lumMod val="50000"/>
                  </a:srgbClr>
                </a:solidFill>
              </a:rPr>
              <a:t>)</a:t>
            </a:r>
            <a:r>
              <a:rPr lang="pl-PL" sz="2400" dirty="0">
                <a:solidFill>
                  <a:srgbClr val="4BACC6">
                    <a:lumMod val="50000"/>
                  </a:srgbClr>
                </a:solidFill>
                <a:latin typeface="Calibri"/>
              </a:rPr>
              <a:t>. </a:t>
            </a:r>
          </a:p>
        </p:txBody>
      </p:sp>
      <p:sp>
        <p:nvSpPr>
          <p:cNvPr id="15" name="Prostokąt 14"/>
          <p:cNvSpPr/>
          <p:nvPr/>
        </p:nvSpPr>
        <p:spPr>
          <a:xfrm>
            <a:off x="5492676" y="4529161"/>
            <a:ext cx="6450687" cy="923330"/>
          </a:xfrm>
          <a:prstGeom prst="rect">
            <a:avLst/>
          </a:prstGeom>
        </p:spPr>
        <p:txBody>
          <a:bodyPr wrap="square">
            <a:spAutoFit/>
          </a:bodyPr>
          <a:lstStyle/>
          <a:p>
            <a:r>
              <a:rPr lang="pl-PL" dirty="0"/>
              <a:t>[1] "</a:t>
            </a:r>
            <a:r>
              <a:rPr lang="pl-PL" dirty="0" err="1"/>
              <a:t>Code</a:t>
            </a:r>
            <a:r>
              <a:rPr lang="pl-PL" dirty="0"/>
              <a:t> </a:t>
            </a:r>
            <a:r>
              <a:rPr lang="pl-PL" dirty="0" err="1"/>
              <a:t>execution</a:t>
            </a:r>
            <a:r>
              <a:rPr lang="pl-PL" dirty="0"/>
              <a:t> </a:t>
            </a:r>
            <a:r>
              <a:rPr lang="pl-PL" dirty="0" err="1"/>
              <a:t>time</a:t>
            </a:r>
            <a:r>
              <a:rPr lang="pl-PL" dirty="0"/>
              <a:t> 0.03490"</a:t>
            </a:r>
          </a:p>
          <a:p>
            <a:r>
              <a:rPr lang="pl-PL" dirty="0"/>
              <a:t>&gt; </a:t>
            </a:r>
            <a:r>
              <a:rPr lang="pl-PL" dirty="0" err="1"/>
              <a:t>print</a:t>
            </a:r>
            <a:r>
              <a:rPr lang="pl-PL" dirty="0"/>
              <a:t>( </a:t>
            </a:r>
            <a:r>
              <a:rPr lang="pl-PL" dirty="0" err="1"/>
              <a:t>paste</a:t>
            </a:r>
            <a:r>
              <a:rPr lang="pl-PL" dirty="0"/>
              <a:t>("y min   = ",y[i], "for x  = ",x[i]), )</a:t>
            </a:r>
          </a:p>
          <a:p>
            <a:r>
              <a:rPr lang="pl-PL" dirty="0"/>
              <a:t>[1] "y min   =  -0.809664421506188 for x  =  1.23429484688677"</a:t>
            </a:r>
          </a:p>
        </p:txBody>
      </p:sp>
      <p:sp>
        <p:nvSpPr>
          <p:cNvPr id="16" name="Prostokąt 15"/>
          <p:cNvSpPr/>
          <p:nvPr/>
        </p:nvSpPr>
        <p:spPr>
          <a:xfrm>
            <a:off x="447577" y="2344654"/>
            <a:ext cx="5207266" cy="1477328"/>
          </a:xfrm>
          <a:prstGeom prst="rect">
            <a:avLst/>
          </a:prstGeom>
        </p:spPr>
        <p:txBody>
          <a:bodyPr wrap="square">
            <a:spAutoFit/>
          </a:bodyPr>
          <a:lstStyle/>
          <a:p>
            <a:r>
              <a:rPr lang="en-US" dirty="0">
                <a:solidFill>
                  <a:srgbClr val="FF0000"/>
                </a:solidFill>
              </a:rPr>
              <a:t>[1] "Code execution time 0.2069"</a:t>
            </a:r>
          </a:p>
          <a:p>
            <a:r>
              <a:rPr lang="en-US" dirty="0">
                <a:solidFill>
                  <a:srgbClr val="FF0000"/>
                </a:solidFill>
              </a:rPr>
              <a:t>$minimum</a:t>
            </a:r>
          </a:p>
          <a:p>
            <a:r>
              <a:rPr lang="en-US" dirty="0">
                <a:solidFill>
                  <a:srgbClr val="FF0000"/>
                </a:solidFill>
              </a:rPr>
              <a:t>[1] 1.736813</a:t>
            </a:r>
          </a:p>
          <a:p>
            <a:r>
              <a:rPr lang="en-US" dirty="0">
                <a:solidFill>
                  <a:srgbClr val="FF0000"/>
                </a:solidFill>
              </a:rPr>
              <a:t>$objective</a:t>
            </a:r>
          </a:p>
          <a:p>
            <a:r>
              <a:rPr lang="en-US" dirty="0">
                <a:solidFill>
                  <a:srgbClr val="FF0000"/>
                </a:solidFill>
              </a:rPr>
              <a:t>[1] -0.5756502</a:t>
            </a:r>
          </a:p>
        </p:txBody>
      </p:sp>
      <p:sp>
        <p:nvSpPr>
          <p:cNvPr id="17" name="Podtytuł 2"/>
          <p:cNvSpPr txBox="1">
            <a:spLocks/>
          </p:cNvSpPr>
          <p:nvPr/>
        </p:nvSpPr>
        <p:spPr>
          <a:xfrm>
            <a:off x="5579304" y="5468567"/>
            <a:ext cx="6398682" cy="1343507"/>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2800" b="1" dirty="0">
                <a:solidFill>
                  <a:srgbClr val="4BACC6">
                    <a:lumMod val="50000"/>
                  </a:srgbClr>
                </a:solidFill>
              </a:rPr>
              <a:t>MC is straightforward, but the results of this method comparison show how a</a:t>
            </a:r>
            <a:r>
              <a:rPr lang="pl-PL" sz="2800" b="1" dirty="0">
                <a:solidFill>
                  <a:srgbClr val="4BACC6">
                    <a:lumMod val="50000"/>
                  </a:srgbClr>
                </a:solidFill>
              </a:rPr>
              <a:t> </a:t>
            </a:r>
            <a:r>
              <a:rPr lang="en-US" sz="2800" b="1" dirty="0">
                <a:solidFill>
                  <a:srgbClr val="4BACC6">
                    <a:lumMod val="50000"/>
                  </a:srgbClr>
                </a:solidFill>
              </a:rPr>
              <a:t>powerful tool</a:t>
            </a:r>
            <a:r>
              <a:rPr lang="pl-PL" sz="2800" b="1" dirty="0">
                <a:solidFill>
                  <a:srgbClr val="4BACC6">
                    <a:lumMod val="50000"/>
                  </a:srgbClr>
                </a:solidFill>
              </a:rPr>
              <a:t> </a:t>
            </a:r>
            <a:r>
              <a:rPr lang="en-US" sz="2800" b="1" dirty="0">
                <a:solidFill>
                  <a:srgbClr val="4BACC6">
                    <a:lumMod val="50000"/>
                  </a:srgbClr>
                </a:solidFill>
              </a:rPr>
              <a:t>it is.</a:t>
            </a:r>
            <a:endParaRPr lang="en-US" sz="2800" b="1" dirty="0">
              <a:solidFill>
                <a:srgbClr val="4BACC6">
                  <a:lumMod val="50000"/>
                </a:srgbClr>
              </a:solidFill>
              <a:latin typeface="Calibri"/>
            </a:endParaRPr>
          </a:p>
        </p:txBody>
      </p:sp>
      <p:sp>
        <p:nvSpPr>
          <p:cNvPr id="2" name="TextBox 1">
            <a:extLst>
              <a:ext uri="{FF2B5EF4-FFF2-40B4-BE49-F238E27FC236}">
                <a16:creationId xmlns:a16="http://schemas.microsoft.com/office/drawing/2014/main" id="{875C33F1-B6E0-8AB9-387E-6F6506D86A1F}"/>
              </a:ext>
            </a:extLst>
          </p:cNvPr>
          <p:cNvSpPr txBox="1"/>
          <p:nvPr/>
        </p:nvSpPr>
        <p:spPr>
          <a:xfrm rot="18806356">
            <a:off x="9833226" y="3804203"/>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51558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202128" y="1345506"/>
            <a:ext cx="11887201" cy="5276238"/>
          </a:xfrm>
        </p:spPr>
        <p:txBody>
          <a:bodyPr>
            <a:noAutofit/>
          </a:bodyPr>
          <a:lstStyle/>
          <a:p>
            <a:pPr algn="l"/>
            <a:r>
              <a:rPr lang="en-US" sz="2800" dirty="0">
                <a:solidFill>
                  <a:schemeClr val="accent5">
                    <a:lumMod val="50000"/>
                  </a:schemeClr>
                </a:solidFill>
              </a:rPr>
              <a:t>You are going to sell your product by internet auctions. </a:t>
            </a:r>
          </a:p>
          <a:p>
            <a:pPr algn="l"/>
            <a:r>
              <a:rPr lang="en-US" sz="2800" dirty="0">
                <a:solidFill>
                  <a:schemeClr val="accent5">
                    <a:lumMod val="50000"/>
                  </a:schemeClr>
                </a:solidFill>
              </a:rPr>
              <a:t>-&gt; The starting price is equal to the cost of the product C = 90.</a:t>
            </a:r>
          </a:p>
          <a:p>
            <a:pPr algn="l"/>
            <a:r>
              <a:rPr lang="en-US" sz="2800" dirty="0">
                <a:solidFill>
                  <a:schemeClr val="accent5">
                    <a:lumMod val="50000"/>
                  </a:schemeClr>
                </a:solidFill>
              </a:rPr>
              <a:t>-&gt; You expect that the minimum number of sold units is 100, the maximum 1000 and the most "probable" is to sell 350 units per month. </a:t>
            </a:r>
          </a:p>
          <a:p>
            <a:pPr algn="l"/>
            <a:r>
              <a:rPr lang="en-US" sz="2800" dirty="0">
                <a:solidFill>
                  <a:schemeClr val="accent5">
                    <a:lumMod val="50000"/>
                  </a:schemeClr>
                </a:solidFill>
              </a:rPr>
              <a:t>-&gt; You expect that the maximum transaction price is 30 PLN greater than starting price and any transaction prices from the interval [90,120] are equally probable. </a:t>
            </a:r>
          </a:p>
          <a:p>
            <a:pPr algn="l"/>
            <a:r>
              <a:rPr lang="en-US" sz="2800" dirty="0">
                <a:solidFill>
                  <a:schemeClr val="accent5">
                    <a:lumMod val="50000"/>
                  </a:schemeClr>
                </a:solidFill>
              </a:rPr>
              <a:t>-&gt; You know the market characteristic --&gt; 9% of transactions generate losses. The loss is equal the cost of the item plus the cost of delivery L = 110  (loss of parcel) </a:t>
            </a:r>
          </a:p>
          <a:p>
            <a:pPr algn="l"/>
            <a:r>
              <a:rPr lang="en-US" sz="2800" dirty="0">
                <a:solidFill>
                  <a:schemeClr val="accent5">
                    <a:lumMod val="50000"/>
                  </a:schemeClr>
                </a:solidFill>
              </a:rPr>
              <a:t>-&gt; Fix cost of your business is 7 000 monthly</a:t>
            </a:r>
          </a:p>
          <a:p>
            <a:pPr algn="l"/>
            <a:r>
              <a:rPr lang="en-US" sz="2800" dirty="0">
                <a:solidFill>
                  <a:schemeClr val="accent5">
                    <a:lumMod val="50000"/>
                  </a:schemeClr>
                </a:solidFill>
              </a:rPr>
              <a:t>Perform a Monte Carlo simulation (100,000 iterations) of profit for one month. Are you really going to run the business?</a:t>
            </a:r>
            <a:r>
              <a:rPr lang="pl-PL" sz="2800" dirty="0">
                <a:solidFill>
                  <a:schemeClr val="accent5">
                    <a:lumMod val="50000"/>
                  </a:schemeClr>
                </a:solidFill>
              </a:rPr>
              <a:t> </a:t>
            </a:r>
            <a:endParaRPr lang="en-GB" sz="2800" dirty="0">
              <a:solidFill>
                <a:schemeClr val="accent5">
                  <a:lumMod val="50000"/>
                </a:schemeClr>
              </a:solidFill>
            </a:endParaRPr>
          </a:p>
        </p:txBody>
      </p:sp>
      <p:sp>
        <p:nvSpPr>
          <p:cNvPr id="4" name="CustomShape 1"/>
          <p:cNvSpPr/>
          <p:nvPr/>
        </p:nvSpPr>
        <p:spPr>
          <a:xfrm>
            <a:off x="-1" y="-14040"/>
            <a:ext cx="12291461"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spTree>
    <p:extLst>
      <p:ext uri="{BB962C8B-B14F-4D97-AF65-F5344CB8AC3E}">
        <p14:creationId xmlns:p14="http://schemas.microsoft.com/office/powerpoint/2010/main" val="2076045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86627" y="1268759"/>
            <a:ext cx="11964201" cy="5430423"/>
          </a:xfrm>
        </p:spPr>
        <p:txBody>
          <a:bodyPr>
            <a:noAutofit/>
          </a:bodyPr>
          <a:lstStyle/>
          <a:p>
            <a:pPr algn="l"/>
            <a:r>
              <a:rPr lang="en-US" dirty="0">
                <a:solidFill>
                  <a:schemeClr val="accent5">
                    <a:lumMod val="50000"/>
                  </a:schemeClr>
                </a:solidFill>
              </a:rPr>
              <a:t>You expect that the minimum number of sold units is 100, the maximum 1000 and the most "probable" is to sell 350 units per month --&gt; the distribution of sold units X can be approximated by a triangular distribution </a:t>
            </a:r>
          </a:p>
          <a:p>
            <a:pPr algn="l"/>
            <a:r>
              <a:rPr lang="en-US" dirty="0">
                <a:solidFill>
                  <a:schemeClr val="accent5">
                    <a:lumMod val="50000"/>
                  </a:schemeClr>
                </a:solidFill>
              </a:rPr>
              <a:t>    a: the minimum value 100,</a:t>
            </a:r>
          </a:p>
          <a:p>
            <a:pPr algn="l"/>
            <a:r>
              <a:rPr lang="en-US" dirty="0">
                <a:solidFill>
                  <a:schemeClr val="accent5">
                    <a:lumMod val="50000"/>
                  </a:schemeClr>
                </a:solidFill>
              </a:rPr>
              <a:t>    c: the peak value (the height of the triangle) 350</a:t>
            </a:r>
          </a:p>
          <a:p>
            <a:pPr algn="l"/>
            <a:r>
              <a:rPr lang="en-US" dirty="0">
                <a:solidFill>
                  <a:schemeClr val="accent5">
                    <a:lumMod val="50000"/>
                  </a:schemeClr>
                </a:solidFill>
              </a:rPr>
              <a:t>    b: the maximum value of 1000.</a:t>
            </a:r>
            <a:endParaRPr lang="pl-PL" dirty="0">
              <a:solidFill>
                <a:schemeClr val="accent5">
                  <a:lumMod val="50000"/>
                </a:schemeClr>
              </a:solidFill>
            </a:endParaRPr>
          </a:p>
          <a:p>
            <a:pPr algn="l"/>
            <a:endParaRPr lang="pl-PL" dirty="0">
              <a:solidFill>
                <a:schemeClr val="accent5">
                  <a:lumMod val="50000"/>
                </a:schemeClr>
              </a:solidFill>
            </a:endParaRPr>
          </a:p>
          <a:p>
            <a:pPr algn="l"/>
            <a:r>
              <a:rPr lang="pl-PL" dirty="0">
                <a:solidFill>
                  <a:schemeClr val="accent5">
                    <a:lumMod val="50000"/>
                  </a:schemeClr>
                </a:solidFill>
              </a:rPr>
              <a:t>x ~triangle[100,1000,350]</a:t>
            </a:r>
            <a:r>
              <a:rPr lang="en-US" dirty="0">
                <a:solidFill>
                  <a:schemeClr val="accent5">
                    <a:lumMod val="50000"/>
                  </a:schemeClr>
                </a:solidFill>
              </a:rPr>
              <a:t> </a:t>
            </a:r>
          </a:p>
          <a:p>
            <a:pPr algn="l"/>
            <a:endParaRPr lang="en-US" sz="2400" dirty="0">
              <a:solidFill>
                <a:schemeClr val="accent5">
                  <a:lumMod val="50000"/>
                </a:schemeClr>
              </a:solidFill>
            </a:endParaRP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pic>
        <p:nvPicPr>
          <p:cNvPr id="5" name="Obraz 4"/>
          <p:cNvPicPr>
            <a:picLocks noChangeAspect="1"/>
          </p:cNvPicPr>
          <p:nvPr/>
        </p:nvPicPr>
        <p:blipFill>
          <a:blip r:embed="rId2"/>
          <a:stretch>
            <a:fillRect/>
          </a:stretch>
        </p:blipFill>
        <p:spPr>
          <a:xfrm>
            <a:off x="8547232" y="3108960"/>
            <a:ext cx="3503596" cy="3181149"/>
          </a:xfrm>
          <a:prstGeom prst="rect">
            <a:avLst/>
          </a:prstGeom>
        </p:spPr>
      </p:pic>
    </p:spTree>
    <p:extLst>
      <p:ext uri="{BB962C8B-B14F-4D97-AF65-F5344CB8AC3E}">
        <p14:creationId xmlns:p14="http://schemas.microsoft.com/office/powerpoint/2010/main" val="2126322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298383" y="1268760"/>
            <a:ext cx="11386686" cy="4082886"/>
          </a:xfrm>
        </p:spPr>
        <p:txBody>
          <a:bodyPr>
            <a:noAutofit/>
          </a:bodyPr>
          <a:lstStyle/>
          <a:p>
            <a:pPr algn="l"/>
            <a:r>
              <a:rPr lang="en-US" dirty="0">
                <a:solidFill>
                  <a:schemeClr val="accent5">
                    <a:lumMod val="50000"/>
                  </a:schemeClr>
                </a:solidFill>
              </a:rPr>
              <a:t>You expect that the maximum transaction price is 30 PLN greater than starting price and any transaction prices from the interval [90,120] are equally probable. --&gt; the distribution of transaction prices can be approximated by a uniform distribution </a:t>
            </a:r>
            <a:endParaRPr lang="pl-PL" dirty="0">
              <a:solidFill>
                <a:schemeClr val="accent5">
                  <a:lumMod val="50000"/>
                </a:schemeClr>
              </a:solidFill>
            </a:endParaRPr>
          </a:p>
          <a:p>
            <a:pPr algn="l"/>
            <a:r>
              <a:rPr lang="pl-PL" dirty="0" err="1">
                <a:solidFill>
                  <a:schemeClr val="accent5">
                    <a:lumMod val="50000"/>
                  </a:schemeClr>
                </a:solidFill>
              </a:rPr>
              <a:t>p~unif</a:t>
            </a:r>
            <a:r>
              <a:rPr lang="pl-PL" dirty="0">
                <a:solidFill>
                  <a:schemeClr val="accent5">
                    <a:lumMod val="50000"/>
                  </a:schemeClr>
                </a:solidFill>
              </a:rPr>
              <a:t>[90,120]</a:t>
            </a:r>
            <a:endParaRPr lang="en-US" dirty="0">
              <a:solidFill>
                <a:schemeClr val="accent5">
                  <a:lumMod val="50000"/>
                </a:schemeClr>
              </a:solidFill>
            </a:endParaRPr>
          </a:p>
          <a:p>
            <a:pPr lvl="1" algn="l"/>
            <a:r>
              <a:rPr lang="en-US" sz="3200" dirty="0">
                <a:solidFill>
                  <a:schemeClr val="accent5">
                    <a:lumMod val="50000"/>
                  </a:schemeClr>
                </a:solidFill>
              </a:rPr>
              <a:t>c: the </a:t>
            </a:r>
            <a:r>
              <a:rPr lang="pl-PL" sz="3200" dirty="0" err="1">
                <a:solidFill>
                  <a:schemeClr val="accent5">
                    <a:lumMod val="50000"/>
                  </a:schemeClr>
                </a:solidFill>
              </a:rPr>
              <a:t>lower</a:t>
            </a:r>
            <a:r>
              <a:rPr lang="pl-PL" sz="3200" dirty="0">
                <a:solidFill>
                  <a:schemeClr val="accent5">
                    <a:lumMod val="50000"/>
                  </a:schemeClr>
                </a:solidFill>
              </a:rPr>
              <a:t> limit = </a:t>
            </a:r>
            <a:r>
              <a:rPr lang="en-US" sz="3200" dirty="0">
                <a:solidFill>
                  <a:schemeClr val="accent5">
                    <a:lumMod val="50000"/>
                  </a:schemeClr>
                </a:solidFill>
              </a:rPr>
              <a:t>90</a:t>
            </a:r>
          </a:p>
          <a:p>
            <a:pPr lvl="1" algn="l"/>
            <a:r>
              <a:rPr lang="en-US" sz="3200" dirty="0">
                <a:solidFill>
                  <a:schemeClr val="accent5">
                    <a:lumMod val="50000"/>
                  </a:schemeClr>
                </a:solidFill>
              </a:rPr>
              <a:t>d: the </a:t>
            </a:r>
            <a:r>
              <a:rPr lang="pl-PL" sz="3200" dirty="0" err="1">
                <a:solidFill>
                  <a:schemeClr val="accent5">
                    <a:lumMod val="50000"/>
                  </a:schemeClr>
                </a:solidFill>
              </a:rPr>
              <a:t>upper</a:t>
            </a:r>
            <a:r>
              <a:rPr lang="pl-PL" sz="3200" dirty="0">
                <a:solidFill>
                  <a:schemeClr val="accent5">
                    <a:lumMod val="50000"/>
                  </a:schemeClr>
                </a:solidFill>
              </a:rPr>
              <a:t> limit =</a:t>
            </a:r>
            <a:r>
              <a:rPr lang="en-US" sz="3200" dirty="0">
                <a:solidFill>
                  <a:schemeClr val="accent5">
                    <a:lumMod val="50000"/>
                  </a:schemeClr>
                </a:solidFill>
              </a:rPr>
              <a:t> 120</a:t>
            </a:r>
            <a:endParaRPr lang="pl-PL" sz="3200" dirty="0">
              <a:solidFill>
                <a:schemeClr val="accent5">
                  <a:lumMod val="50000"/>
                </a:schemeClr>
              </a:solidFill>
            </a:endParaRP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pic>
        <p:nvPicPr>
          <p:cNvPr id="2" name="Obraz 1"/>
          <p:cNvPicPr>
            <a:picLocks noChangeAspect="1"/>
          </p:cNvPicPr>
          <p:nvPr/>
        </p:nvPicPr>
        <p:blipFill>
          <a:blip r:embed="rId2"/>
          <a:stretch>
            <a:fillRect/>
          </a:stretch>
        </p:blipFill>
        <p:spPr>
          <a:xfrm>
            <a:off x="6944112" y="3271422"/>
            <a:ext cx="4176464" cy="3188483"/>
          </a:xfrm>
          <a:prstGeom prst="rect">
            <a:avLst/>
          </a:prstGeom>
        </p:spPr>
      </p:pic>
    </p:spTree>
    <p:extLst>
      <p:ext uri="{BB962C8B-B14F-4D97-AF65-F5344CB8AC3E}">
        <p14:creationId xmlns:p14="http://schemas.microsoft.com/office/powerpoint/2010/main" val="913143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Podtytuł 2"/>
              <p:cNvSpPr>
                <a:spLocks noGrp="1"/>
              </p:cNvSpPr>
              <p:nvPr>
                <p:ph type="subTitle" idx="1"/>
              </p:nvPr>
            </p:nvSpPr>
            <p:spPr>
              <a:xfrm>
                <a:off x="0" y="1128844"/>
                <a:ext cx="12192000" cy="2448272"/>
              </a:xfrm>
            </p:spPr>
            <p:txBody>
              <a:bodyPr>
                <a:noAutofit/>
              </a:bodyPr>
              <a:lstStyle/>
              <a:p>
                <a:pPr algn="l"/>
                <a:r>
                  <a:rPr lang="en-US" dirty="0">
                    <a:solidFill>
                      <a:schemeClr val="accent5">
                        <a:lumMod val="50000"/>
                      </a:schemeClr>
                    </a:solidFill>
                  </a:rPr>
                  <a:t>We can run the simulation. Draw p and x from the given distributions, insert them to the profit function and save the calculated profit </a:t>
                </a:r>
                <a:r>
                  <a:rPr lang="pl-PL" dirty="0">
                    <a:solidFill>
                      <a:schemeClr val="accent5">
                        <a:lumMod val="50000"/>
                      </a:schemeClr>
                    </a:solidFill>
                  </a:rPr>
                  <a:t>for</a:t>
                </a:r>
                <a:r>
                  <a:rPr lang="en-US" dirty="0">
                    <a:solidFill>
                      <a:schemeClr val="accent5">
                        <a:lumMod val="50000"/>
                      </a:schemeClr>
                    </a:solidFill>
                  </a:rPr>
                  <a:t> every of 1</a:t>
                </a:r>
                <a:r>
                  <a:rPr lang="pl-PL" dirty="0">
                    <a:solidFill>
                      <a:schemeClr val="accent5">
                        <a:lumMod val="50000"/>
                      </a:schemeClr>
                    </a:solidFill>
                  </a:rPr>
                  <a:t>00 </a:t>
                </a:r>
                <a:r>
                  <a:rPr lang="en-US" dirty="0">
                    <a:solidFill>
                      <a:schemeClr val="accent5">
                        <a:lumMod val="50000"/>
                      </a:schemeClr>
                    </a:solidFill>
                  </a:rPr>
                  <a:t>000 repetitions.</a:t>
                </a:r>
                <a:endParaRPr lang="pl-PL" dirty="0">
                  <a:solidFill>
                    <a:schemeClr val="accent5">
                      <a:lumMod val="50000"/>
                    </a:schemeClr>
                  </a:solidFill>
                </a:endParaRPr>
              </a:p>
              <a:p>
                <a:r>
                  <a:rPr lang="en-US" dirty="0">
                    <a:solidFill>
                      <a:schemeClr val="accent5">
                        <a:lumMod val="50000"/>
                      </a:schemeClr>
                    </a:solidFill>
                  </a:rPr>
                  <a:t> </a:t>
                </a:r>
                <a14:m>
                  <m:oMath xmlns:m="http://schemas.openxmlformats.org/officeDocument/2006/math">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ea typeface="Cambria Math" panose="02040503050406030204" pitchFamily="18" charset="0"/>
                          </a:rPr>
                          <m:t>𝜋</m:t>
                        </m:r>
                      </m:e>
                      <m:sub>
                        <m:r>
                          <a:rPr lang="pl-PL" b="0" i="1">
                            <a:solidFill>
                              <a:schemeClr val="accent5">
                                <a:lumMod val="50000"/>
                              </a:schemeClr>
                            </a:solidFill>
                            <a:latin typeface="Cambria Math" panose="02040503050406030204" pitchFamily="18" charset="0"/>
                          </a:rPr>
                          <m:t>𝑖</m:t>
                        </m:r>
                      </m:sub>
                    </m:sSub>
                    <m:r>
                      <a:rPr lang="pl-PL" b="0" i="1">
                        <a:solidFill>
                          <a:schemeClr val="accent5">
                            <a:lumMod val="50000"/>
                          </a:schemeClr>
                        </a:solidFill>
                        <a:latin typeface="Cambria Math" panose="02040503050406030204" pitchFamily="18" charset="0"/>
                      </a:rPr>
                      <m:t>=</m:t>
                    </m:r>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rPr>
                          <m:t>𝑝</m:t>
                        </m:r>
                      </m:e>
                      <m:sub>
                        <m:r>
                          <a:rPr lang="pl-PL" b="0" i="1">
                            <a:solidFill>
                              <a:schemeClr val="accent5">
                                <a:lumMod val="50000"/>
                              </a:schemeClr>
                            </a:solidFill>
                            <a:latin typeface="Cambria Math" panose="02040503050406030204" pitchFamily="18" charset="0"/>
                          </a:rPr>
                          <m:t>𝑖</m:t>
                        </m:r>
                      </m:sub>
                    </m:sSub>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rPr>
                          <m:t>𝑥</m:t>
                        </m:r>
                      </m:e>
                      <m:sub>
                        <m:r>
                          <a:rPr lang="pl-PL" b="0" i="1">
                            <a:solidFill>
                              <a:schemeClr val="accent5">
                                <a:lumMod val="50000"/>
                              </a:schemeClr>
                            </a:solidFill>
                            <a:latin typeface="Cambria Math" panose="02040503050406030204" pitchFamily="18" charset="0"/>
                          </a:rPr>
                          <m:t>𝑖</m:t>
                        </m:r>
                      </m:sub>
                    </m:sSub>
                    <m:r>
                      <a:rPr lang="pl-PL" b="0" i="1">
                        <a:solidFill>
                          <a:schemeClr val="accent5">
                            <a:lumMod val="50000"/>
                          </a:schemeClr>
                        </a:solidFill>
                        <a:latin typeface="Cambria Math" panose="02040503050406030204" pitchFamily="18" charset="0"/>
                      </a:rPr>
                      <m:t>−7000</m:t>
                    </m:r>
                    <m:r>
                      <a:rPr lang="pl-PL" b="0" i="1" smtClean="0">
                        <a:solidFill>
                          <a:schemeClr val="accent5">
                            <a:lumMod val="50000"/>
                          </a:schemeClr>
                        </a:solidFill>
                        <a:latin typeface="Cambria Math" panose="02040503050406030204" pitchFamily="18" charset="0"/>
                      </a:rPr>
                      <m:t>−</m:t>
                    </m:r>
                    <m:r>
                      <a:rPr lang="pl-PL" b="0" i="1">
                        <a:solidFill>
                          <a:schemeClr val="accent5">
                            <a:lumMod val="50000"/>
                          </a:schemeClr>
                        </a:solidFill>
                        <a:latin typeface="Cambria Math" panose="02040503050406030204" pitchFamily="18" charset="0"/>
                      </a:rPr>
                      <m:t>90</m:t>
                    </m:r>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rPr>
                          <m:t>𝑥</m:t>
                        </m:r>
                      </m:e>
                      <m:sub>
                        <m:r>
                          <a:rPr lang="pl-PL" b="0" i="1">
                            <a:solidFill>
                              <a:schemeClr val="accent5">
                                <a:lumMod val="50000"/>
                              </a:schemeClr>
                            </a:solidFill>
                            <a:latin typeface="Cambria Math" panose="02040503050406030204" pitchFamily="18" charset="0"/>
                          </a:rPr>
                          <m:t>𝑖</m:t>
                        </m:r>
                      </m:sub>
                    </m:sSub>
                    <m:r>
                      <a:rPr lang="pl-PL" b="0" i="1" smtClean="0">
                        <a:solidFill>
                          <a:schemeClr val="accent5">
                            <a:lumMod val="50000"/>
                          </a:schemeClr>
                        </a:solidFill>
                        <a:latin typeface="Cambria Math" panose="02040503050406030204" pitchFamily="18" charset="0"/>
                      </a:rPr>
                      <m:t>−110∗</m:t>
                    </m:r>
                    <m:r>
                      <a:rPr lang="pl-PL" b="0" i="1">
                        <a:solidFill>
                          <a:schemeClr val="accent5">
                            <a:lumMod val="50000"/>
                          </a:schemeClr>
                        </a:solidFill>
                        <a:latin typeface="Cambria Math" panose="02040503050406030204" pitchFamily="18" charset="0"/>
                      </a:rPr>
                      <m:t>0.09</m:t>
                    </m:r>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rPr>
                          <m:t>𝑥</m:t>
                        </m:r>
                      </m:e>
                      <m:sub>
                        <m:r>
                          <a:rPr lang="pl-PL" b="0" i="1">
                            <a:solidFill>
                              <a:schemeClr val="accent5">
                                <a:lumMod val="50000"/>
                              </a:schemeClr>
                            </a:solidFill>
                            <a:latin typeface="Cambria Math" panose="02040503050406030204" pitchFamily="18" charset="0"/>
                          </a:rPr>
                          <m:t>𝑖</m:t>
                        </m:r>
                      </m:sub>
                    </m:sSub>
                  </m:oMath>
                </a14:m>
                <a:endParaRPr lang="en-US" dirty="0">
                  <a:solidFill>
                    <a:schemeClr val="accent5">
                      <a:lumMod val="50000"/>
                    </a:schemeClr>
                  </a:solidFill>
                </a:endParaRPr>
              </a:p>
              <a:p>
                <a:pPr algn="l"/>
                <a:r>
                  <a:rPr lang="en-US" dirty="0">
                    <a:solidFill>
                      <a:schemeClr val="accent5">
                        <a:lumMod val="50000"/>
                      </a:schemeClr>
                    </a:solidFill>
                  </a:rPr>
                  <a:t>Now we can analyze the distribution of expected profits. Compare the graph with the calculated statistics.</a:t>
                </a:r>
              </a:p>
            </p:txBody>
          </p:sp>
        </mc:Choice>
        <mc:Fallback xmlns="">
          <p:sp>
            <p:nvSpPr>
              <p:cNvPr id="3" name="Podtytuł 2"/>
              <p:cNvSpPr>
                <a:spLocks noGrp="1" noRot="1" noChangeAspect="1" noMove="1" noResize="1" noEditPoints="1" noAdjustHandles="1" noChangeArrowheads="1" noChangeShapeType="1" noTextEdit="1"/>
              </p:cNvSpPr>
              <p:nvPr>
                <p:ph type="subTitle" idx="1"/>
              </p:nvPr>
            </p:nvSpPr>
            <p:spPr>
              <a:xfrm>
                <a:off x="0" y="1128844"/>
                <a:ext cx="12192000" cy="2448272"/>
              </a:xfrm>
              <a:blipFill>
                <a:blip r:embed="rId2"/>
                <a:stretch>
                  <a:fillRect l="-1250" t="-3234" r="-2000" b="-39303"/>
                </a:stretch>
              </a:blipFill>
            </p:spPr>
            <p:txBody>
              <a:bodyPr/>
              <a:lstStyle/>
              <a:p>
                <a:r>
                  <a:rPr lang="pl-PL">
                    <a:noFill/>
                  </a:rPr>
                  <a:t> </a:t>
                </a:r>
              </a:p>
            </p:txBody>
          </p:sp>
        </mc:Fallback>
      </mc:AlternateContent>
      <p:sp>
        <p:nvSpPr>
          <p:cNvPr id="4" name="CustomShape 1"/>
          <p:cNvSpPr/>
          <p:nvPr/>
        </p:nvSpPr>
        <p:spPr>
          <a:xfrm>
            <a:off x="0" y="-3820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sp>
        <p:nvSpPr>
          <p:cNvPr id="7" name="Prostokąt 6"/>
          <p:cNvSpPr/>
          <p:nvPr/>
        </p:nvSpPr>
        <p:spPr>
          <a:xfrm>
            <a:off x="3379830" y="4617684"/>
            <a:ext cx="4572000" cy="646331"/>
          </a:xfrm>
          <a:prstGeom prst="rect">
            <a:avLst/>
          </a:prstGeom>
        </p:spPr>
        <p:txBody>
          <a:bodyPr>
            <a:spAutoFit/>
          </a:bodyPr>
          <a:lstStyle/>
          <a:p>
            <a:r>
              <a:rPr lang="en-US" dirty="0">
                <a:solidFill>
                  <a:prstClr val="black"/>
                </a:solidFill>
                <a:latin typeface="Calibri"/>
              </a:rPr>
              <a:t>Min. 1st Qu.  Median    Mean 3rd Qu.    Max. </a:t>
            </a:r>
          </a:p>
          <a:p>
            <a:r>
              <a:rPr lang="en-US" dirty="0">
                <a:solidFill>
                  <a:prstClr val="black"/>
                </a:solidFill>
                <a:latin typeface="Calibri"/>
              </a:rPr>
              <a:t> -16679   -4926    1191    2726    8656   42209 </a:t>
            </a:r>
          </a:p>
        </p:txBody>
      </p:sp>
      <p:sp>
        <p:nvSpPr>
          <p:cNvPr id="8" name="Prostokąt 7"/>
          <p:cNvSpPr/>
          <p:nvPr/>
        </p:nvSpPr>
        <p:spPr>
          <a:xfrm>
            <a:off x="124907" y="6063327"/>
            <a:ext cx="7748558" cy="523220"/>
          </a:xfrm>
          <a:prstGeom prst="rect">
            <a:avLst/>
          </a:prstGeom>
        </p:spPr>
        <p:txBody>
          <a:bodyPr wrap="square">
            <a:spAutoFit/>
          </a:bodyPr>
          <a:lstStyle/>
          <a:p>
            <a:r>
              <a:rPr lang="en-US" sz="2800" dirty="0">
                <a:solidFill>
                  <a:srgbClr val="4BACC6">
                    <a:lumMod val="50000"/>
                  </a:srgbClr>
                </a:solidFill>
                <a:latin typeface="Calibri"/>
              </a:rPr>
              <a:t>In the file </a:t>
            </a:r>
            <a:r>
              <a:rPr lang="pl-PL" sz="2800" b="1" dirty="0" err="1">
                <a:solidFill>
                  <a:srgbClr val="C00000"/>
                </a:solidFill>
                <a:latin typeface="Calibri"/>
              </a:rPr>
              <a:t>P</a:t>
            </a:r>
            <a:r>
              <a:rPr lang="en-US" sz="2800" b="1" dirty="0" err="1">
                <a:solidFill>
                  <a:srgbClr val="C00000"/>
                </a:solidFill>
                <a:latin typeface="Calibri"/>
              </a:rPr>
              <a:t>rofit_MC</a:t>
            </a:r>
            <a:r>
              <a:rPr lang="en-US" sz="2800" b="1" dirty="0">
                <a:solidFill>
                  <a:srgbClr val="C00000"/>
                </a:solidFill>
                <a:latin typeface="Calibri"/>
              </a:rPr>
              <a:t>_</a:t>
            </a:r>
            <a:r>
              <a:rPr lang="pl-PL" sz="2800" b="1" dirty="0">
                <a:solidFill>
                  <a:srgbClr val="C00000"/>
                </a:solidFill>
                <a:latin typeface="Calibri"/>
              </a:rPr>
              <a:t>1</a:t>
            </a:r>
            <a:r>
              <a:rPr lang="en-US" sz="2800" b="1" dirty="0">
                <a:solidFill>
                  <a:srgbClr val="C00000"/>
                </a:solidFill>
                <a:latin typeface="Calibri"/>
              </a:rPr>
              <a:t> </a:t>
            </a:r>
            <a:r>
              <a:rPr lang="en-US" sz="2800" dirty="0">
                <a:solidFill>
                  <a:srgbClr val="4BACC6">
                    <a:lumMod val="50000"/>
                  </a:srgbClr>
                </a:solidFill>
                <a:latin typeface="Calibri"/>
              </a:rPr>
              <a:t>you can find the MC codes.</a:t>
            </a:r>
            <a:endParaRPr lang="pl-PL" sz="2800" dirty="0">
              <a:solidFill>
                <a:srgbClr val="4BACC6">
                  <a:lumMod val="50000"/>
                </a:srgbClr>
              </a:solidFill>
              <a:latin typeface="Calibri"/>
            </a:endParaRPr>
          </a:p>
        </p:txBody>
      </p:sp>
      <p:sp>
        <p:nvSpPr>
          <p:cNvPr id="9" name="Prostokąt 8"/>
          <p:cNvSpPr/>
          <p:nvPr/>
        </p:nvSpPr>
        <p:spPr>
          <a:xfrm>
            <a:off x="124907" y="4500152"/>
            <a:ext cx="2945552" cy="1384995"/>
          </a:xfrm>
          <a:prstGeom prst="rect">
            <a:avLst/>
          </a:prstGeom>
        </p:spPr>
        <p:txBody>
          <a:bodyPr wrap="square">
            <a:spAutoFit/>
          </a:bodyPr>
          <a:lstStyle/>
          <a:p>
            <a:pPr algn="just"/>
            <a:r>
              <a:rPr lang="en-US" sz="2800" dirty="0">
                <a:solidFill>
                  <a:srgbClr val="4BACC6">
                    <a:lumMod val="50000"/>
                  </a:srgbClr>
                </a:solidFill>
                <a:latin typeface="Calibri"/>
              </a:rPr>
              <a:t>What do you think about the new business? </a:t>
            </a:r>
            <a:endParaRPr lang="pl-PL" sz="2800" dirty="0">
              <a:solidFill>
                <a:srgbClr val="4BACC6">
                  <a:lumMod val="50000"/>
                </a:srgbClr>
              </a:solidFill>
              <a:latin typeface="Calibri"/>
            </a:endParaRPr>
          </a:p>
        </p:txBody>
      </p:sp>
      <p:pic>
        <p:nvPicPr>
          <p:cNvPr id="5" name="Obraz 4"/>
          <p:cNvPicPr>
            <a:picLocks noChangeAspect="1"/>
          </p:cNvPicPr>
          <p:nvPr/>
        </p:nvPicPr>
        <p:blipFill>
          <a:blip r:embed="rId3"/>
          <a:stretch>
            <a:fillRect/>
          </a:stretch>
        </p:blipFill>
        <p:spPr>
          <a:xfrm>
            <a:off x="8261201" y="4038660"/>
            <a:ext cx="2973581" cy="2593571"/>
          </a:xfrm>
          <a:prstGeom prst="rect">
            <a:avLst/>
          </a:prstGeom>
        </p:spPr>
      </p:pic>
    </p:spTree>
    <p:extLst>
      <p:ext uri="{BB962C8B-B14F-4D97-AF65-F5344CB8AC3E}">
        <p14:creationId xmlns:p14="http://schemas.microsoft.com/office/powerpoint/2010/main" val="1840667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99AE3-ECDB-585A-22D4-A4453F941105}"/>
            </a:ext>
          </a:extLst>
        </p:cNvPr>
        <p:cNvGrpSpPr/>
        <p:nvPr/>
      </p:nvGrpSpPr>
      <p:grpSpPr>
        <a:xfrm>
          <a:off x="0" y="0"/>
          <a:ext cx="0" cy="0"/>
          <a:chOff x="0" y="0"/>
          <a:chExt cx="0" cy="0"/>
        </a:xfrm>
      </p:grpSpPr>
      <p:sp>
        <p:nvSpPr>
          <p:cNvPr id="3" name="Podtytuł 2">
            <a:extLst>
              <a:ext uri="{FF2B5EF4-FFF2-40B4-BE49-F238E27FC236}">
                <a16:creationId xmlns:a16="http://schemas.microsoft.com/office/drawing/2014/main" id="{91E83865-3970-2899-69C3-30B254662573}"/>
              </a:ext>
            </a:extLst>
          </p:cNvPr>
          <p:cNvSpPr>
            <a:spLocks noGrp="1"/>
          </p:cNvSpPr>
          <p:nvPr>
            <p:ph type="subTitle" idx="1"/>
          </p:nvPr>
        </p:nvSpPr>
        <p:spPr>
          <a:xfrm>
            <a:off x="0" y="1128844"/>
            <a:ext cx="12192000" cy="2593571"/>
          </a:xfrm>
        </p:spPr>
        <p:txBody>
          <a:bodyPr>
            <a:noAutofit/>
          </a:bodyPr>
          <a:lstStyle/>
          <a:p>
            <a:pPr algn="l"/>
            <a:r>
              <a:rPr lang="en-US" sz="2400" dirty="0" err="1">
                <a:solidFill>
                  <a:schemeClr val="accent5">
                    <a:lumMod val="50000"/>
                  </a:schemeClr>
                </a:solidFill>
              </a:rPr>
              <a:t>VaR</a:t>
            </a:r>
            <a:r>
              <a:rPr lang="en-US" sz="2400" dirty="0">
                <a:solidFill>
                  <a:schemeClr val="accent5">
                    <a:lumMod val="50000"/>
                  </a:schemeClr>
                </a:solidFill>
              </a:rPr>
              <a:t> (Value at Risk) determines the value of the loss of assets/liabilities with the adopted tolerance level (usually 5%), in given market conditions, over a specified period of time. The idea: ignoring the 5% least probable results, how much can we lose maximally in a given time horizon (what is the worst scenario) This is a different definition of risk based on position measure - usually it is the fifth percentile of the distribution of a random variable (cash payoffs, returns, ... ) </a:t>
            </a:r>
          </a:p>
          <a:p>
            <a:pPr algn="l"/>
            <a:endParaRPr lang="en-US" sz="2400" dirty="0">
              <a:solidFill>
                <a:schemeClr val="accent5">
                  <a:lumMod val="50000"/>
                </a:schemeClr>
              </a:solidFill>
            </a:endParaRPr>
          </a:p>
        </p:txBody>
      </p:sp>
      <p:sp>
        <p:nvSpPr>
          <p:cNvPr id="4" name="CustomShape 1">
            <a:extLst>
              <a:ext uri="{FF2B5EF4-FFF2-40B4-BE49-F238E27FC236}">
                <a16:creationId xmlns:a16="http://schemas.microsoft.com/office/drawing/2014/main" id="{F1BDD550-50A7-2453-89EF-C862FF9A45E2}"/>
              </a:ext>
            </a:extLst>
          </p:cNvPr>
          <p:cNvSpPr/>
          <p:nvPr/>
        </p:nvSpPr>
        <p:spPr>
          <a:xfrm>
            <a:off x="0" y="-3820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sp>
        <p:nvSpPr>
          <p:cNvPr id="8" name="Prostokąt 7">
            <a:extLst>
              <a:ext uri="{FF2B5EF4-FFF2-40B4-BE49-F238E27FC236}">
                <a16:creationId xmlns:a16="http://schemas.microsoft.com/office/drawing/2014/main" id="{14759745-4F73-8E50-B37A-1BFE139A87EB}"/>
              </a:ext>
            </a:extLst>
          </p:cNvPr>
          <p:cNvSpPr/>
          <p:nvPr/>
        </p:nvSpPr>
        <p:spPr>
          <a:xfrm>
            <a:off x="484830" y="5467546"/>
            <a:ext cx="7748558" cy="523220"/>
          </a:xfrm>
          <a:prstGeom prst="rect">
            <a:avLst/>
          </a:prstGeom>
        </p:spPr>
        <p:txBody>
          <a:bodyPr wrap="square">
            <a:spAutoFit/>
          </a:bodyPr>
          <a:lstStyle/>
          <a:p>
            <a:r>
              <a:rPr lang="en-US" sz="2800" dirty="0">
                <a:solidFill>
                  <a:srgbClr val="4BACC6">
                    <a:lumMod val="50000"/>
                  </a:srgbClr>
                </a:solidFill>
                <a:latin typeface="Calibri"/>
              </a:rPr>
              <a:t>In the file </a:t>
            </a:r>
            <a:r>
              <a:rPr lang="pl-PL" sz="2800" b="1" dirty="0" err="1">
                <a:solidFill>
                  <a:srgbClr val="C00000"/>
                </a:solidFill>
                <a:latin typeface="Calibri"/>
              </a:rPr>
              <a:t>P</a:t>
            </a:r>
            <a:r>
              <a:rPr lang="en-US" sz="2800" b="1" dirty="0" err="1">
                <a:solidFill>
                  <a:srgbClr val="C00000"/>
                </a:solidFill>
                <a:latin typeface="Calibri"/>
              </a:rPr>
              <a:t>rofit_MC</a:t>
            </a:r>
            <a:r>
              <a:rPr lang="en-US" sz="2800" b="1" dirty="0">
                <a:solidFill>
                  <a:srgbClr val="C00000"/>
                </a:solidFill>
                <a:latin typeface="Calibri"/>
              </a:rPr>
              <a:t>_</a:t>
            </a:r>
            <a:r>
              <a:rPr lang="pl-PL" sz="2800" b="1" dirty="0">
                <a:solidFill>
                  <a:srgbClr val="C00000"/>
                </a:solidFill>
                <a:latin typeface="Calibri"/>
              </a:rPr>
              <a:t>1</a:t>
            </a:r>
            <a:r>
              <a:rPr lang="en-US" sz="2800" b="1" dirty="0">
                <a:solidFill>
                  <a:srgbClr val="C00000"/>
                </a:solidFill>
                <a:latin typeface="Calibri"/>
              </a:rPr>
              <a:t> </a:t>
            </a:r>
            <a:r>
              <a:rPr lang="en-US" sz="2800" dirty="0">
                <a:solidFill>
                  <a:srgbClr val="4BACC6">
                    <a:lumMod val="50000"/>
                  </a:srgbClr>
                </a:solidFill>
                <a:latin typeface="Calibri"/>
              </a:rPr>
              <a:t>you can find the MC codes.</a:t>
            </a:r>
            <a:endParaRPr lang="pl-PL" sz="2800" dirty="0">
              <a:solidFill>
                <a:srgbClr val="4BACC6">
                  <a:lumMod val="50000"/>
                </a:srgbClr>
              </a:solidFill>
              <a:latin typeface="Calibri"/>
            </a:endParaRPr>
          </a:p>
        </p:txBody>
      </p:sp>
      <p:sp>
        <p:nvSpPr>
          <p:cNvPr id="9" name="Prostokąt 8">
            <a:extLst>
              <a:ext uri="{FF2B5EF4-FFF2-40B4-BE49-F238E27FC236}">
                <a16:creationId xmlns:a16="http://schemas.microsoft.com/office/drawing/2014/main" id="{638C35F7-7EC9-D83D-E41D-89F8592F0459}"/>
              </a:ext>
            </a:extLst>
          </p:cNvPr>
          <p:cNvSpPr/>
          <p:nvPr/>
        </p:nvSpPr>
        <p:spPr>
          <a:xfrm>
            <a:off x="484830" y="3950450"/>
            <a:ext cx="2945552" cy="1384995"/>
          </a:xfrm>
          <a:prstGeom prst="rect">
            <a:avLst/>
          </a:prstGeom>
        </p:spPr>
        <p:txBody>
          <a:bodyPr wrap="square">
            <a:spAutoFit/>
          </a:bodyPr>
          <a:lstStyle/>
          <a:p>
            <a:pPr algn="just"/>
            <a:r>
              <a:rPr lang="en-US" sz="2800" dirty="0">
                <a:solidFill>
                  <a:srgbClr val="4BACC6">
                    <a:lumMod val="50000"/>
                  </a:srgbClr>
                </a:solidFill>
                <a:latin typeface="Calibri"/>
              </a:rPr>
              <a:t>What do you think about the new business? </a:t>
            </a:r>
            <a:endParaRPr lang="pl-PL" sz="2800" dirty="0">
              <a:solidFill>
                <a:srgbClr val="4BACC6">
                  <a:lumMod val="50000"/>
                </a:srgbClr>
              </a:solidFill>
              <a:latin typeface="Calibri"/>
            </a:endParaRPr>
          </a:p>
        </p:txBody>
      </p:sp>
      <p:pic>
        <p:nvPicPr>
          <p:cNvPr id="5" name="Obraz 4">
            <a:extLst>
              <a:ext uri="{FF2B5EF4-FFF2-40B4-BE49-F238E27FC236}">
                <a16:creationId xmlns:a16="http://schemas.microsoft.com/office/drawing/2014/main" id="{62D4832D-7265-1419-81EC-97338692E8C6}"/>
              </a:ext>
            </a:extLst>
          </p:cNvPr>
          <p:cNvPicPr>
            <a:picLocks noChangeAspect="1"/>
          </p:cNvPicPr>
          <p:nvPr/>
        </p:nvPicPr>
        <p:blipFill>
          <a:blip r:embed="rId2"/>
          <a:stretch>
            <a:fillRect/>
          </a:stretch>
        </p:blipFill>
        <p:spPr>
          <a:xfrm>
            <a:off x="8261201" y="4038660"/>
            <a:ext cx="2973581" cy="2593571"/>
          </a:xfrm>
          <a:prstGeom prst="rect">
            <a:avLst/>
          </a:prstGeom>
        </p:spPr>
      </p:pic>
    </p:spTree>
    <p:extLst>
      <p:ext uri="{BB962C8B-B14F-4D97-AF65-F5344CB8AC3E}">
        <p14:creationId xmlns:p14="http://schemas.microsoft.com/office/powerpoint/2010/main" val="1208153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0" y="1128240"/>
            <a:ext cx="12192000" cy="1916111"/>
          </a:xfrm>
        </p:spPr>
        <p:txBody>
          <a:bodyPr>
            <a:noAutofit/>
          </a:bodyPr>
          <a:lstStyle/>
          <a:p>
            <a:pPr algn="just"/>
            <a:r>
              <a:rPr lang="en-US" sz="2400" dirty="0">
                <a:solidFill>
                  <a:schemeClr val="accent5">
                    <a:lumMod val="50000"/>
                  </a:schemeClr>
                </a:solidFill>
              </a:rPr>
              <a:t>If you want to generate variables that are dependent </a:t>
            </a:r>
            <a:r>
              <a:rPr lang="pl-PL" sz="2400" dirty="0" err="1">
                <a:solidFill>
                  <a:schemeClr val="accent5">
                    <a:lumMod val="50000"/>
                  </a:schemeClr>
                </a:solidFill>
              </a:rPr>
              <a:t>you</a:t>
            </a:r>
            <a:r>
              <a:rPr lang="pl-PL" sz="2400" dirty="0">
                <a:solidFill>
                  <a:schemeClr val="accent5">
                    <a:lumMod val="50000"/>
                  </a:schemeClr>
                </a:solidFill>
              </a:rPr>
              <a:t> </a:t>
            </a:r>
            <a:r>
              <a:rPr lang="pl-PL" sz="2400" dirty="0" err="1">
                <a:solidFill>
                  <a:schemeClr val="accent5">
                    <a:lumMod val="50000"/>
                  </a:schemeClr>
                </a:solidFill>
              </a:rPr>
              <a:t>can</a:t>
            </a:r>
            <a:r>
              <a:rPr lang="pl-PL" sz="2400" dirty="0">
                <a:solidFill>
                  <a:schemeClr val="accent5">
                    <a:lumMod val="50000"/>
                  </a:schemeClr>
                </a:solidFill>
              </a:rPr>
              <a:t> </a:t>
            </a:r>
            <a:r>
              <a:rPr lang="en-US" sz="2400" dirty="0">
                <a:solidFill>
                  <a:schemeClr val="accent5">
                    <a:lumMod val="50000"/>
                  </a:schemeClr>
                </a:solidFill>
              </a:rPr>
              <a:t>use the copula function</a:t>
            </a:r>
            <a:r>
              <a:rPr lang="pl-PL" sz="2400" dirty="0">
                <a:solidFill>
                  <a:schemeClr val="accent5">
                    <a:lumMod val="50000"/>
                  </a:schemeClr>
                </a:solidFill>
              </a:rPr>
              <a:t>. </a:t>
            </a:r>
            <a:r>
              <a:rPr lang="en-US" sz="2400" dirty="0">
                <a:solidFill>
                  <a:schemeClr val="accent5">
                    <a:lumMod val="50000"/>
                  </a:schemeClr>
                </a:solidFill>
              </a:rPr>
              <a:t>Copula </a:t>
            </a:r>
            <a:r>
              <a:rPr lang="es-ES" sz="2400" dirty="0">
                <a:solidFill>
                  <a:schemeClr val="accent5">
                    <a:lumMod val="50000"/>
                  </a:schemeClr>
                </a:solidFill>
              </a:rPr>
              <a:t>C </a:t>
            </a:r>
            <a:r>
              <a:rPr lang="en-US" sz="2400" dirty="0">
                <a:solidFill>
                  <a:schemeClr val="accent5">
                    <a:lumMod val="50000"/>
                  </a:schemeClr>
                </a:solidFill>
              </a:rPr>
              <a:t>can be interpreted as a structure of dependency between random variables, which does not depend on the marginal distributions of these variables. The copula function can be used to obtain the N-dimensional distribution for </a:t>
            </a:r>
            <a:r>
              <a:rPr lang="en-US" sz="2400" dirty="0" err="1">
                <a:solidFill>
                  <a:schemeClr val="accent5">
                    <a:lumMod val="50000"/>
                  </a:schemeClr>
                </a:solidFill>
              </a:rPr>
              <a:t>i</a:t>
            </a:r>
            <a:r>
              <a:rPr lang="en-US" sz="2400" dirty="0">
                <a:solidFill>
                  <a:schemeClr val="accent5">
                    <a:lumMod val="50000"/>
                  </a:schemeClr>
                </a:solidFill>
              </a:rPr>
              <a:t>) </a:t>
            </a:r>
            <a:r>
              <a:rPr lang="en-US" sz="2400" b="1" dirty="0">
                <a:solidFill>
                  <a:schemeClr val="accent5">
                    <a:lumMod val="50000"/>
                  </a:schemeClr>
                </a:solidFill>
              </a:rPr>
              <a:t>given marginal  distributions </a:t>
            </a:r>
            <a:r>
              <a:rPr lang="en-US" sz="2400" dirty="0">
                <a:solidFill>
                  <a:schemeClr val="accent5">
                    <a:lumMod val="50000"/>
                  </a:schemeClr>
                </a:solidFill>
              </a:rPr>
              <a:t>ii) </a:t>
            </a:r>
            <a:r>
              <a:rPr lang="en-US" sz="2400" b="1" dirty="0">
                <a:solidFill>
                  <a:schemeClr val="accent5">
                    <a:lumMod val="50000"/>
                  </a:schemeClr>
                </a:solidFill>
              </a:rPr>
              <a:t>different dependency forms</a:t>
            </a:r>
            <a:r>
              <a:rPr lang="en-US" sz="2400" dirty="0">
                <a:solidFill>
                  <a:schemeClr val="accent5">
                    <a:lumMod val="50000"/>
                  </a:schemeClr>
                </a:solidFill>
              </a:rPr>
              <a:t> (See examples </a:t>
            </a:r>
            <a:r>
              <a:rPr lang="pl-PL" sz="2400" b="1" dirty="0">
                <a:solidFill>
                  <a:srgbClr val="C00000"/>
                </a:solidFill>
              </a:rPr>
              <a:t>C</a:t>
            </a:r>
            <a:r>
              <a:rPr lang="en-US" sz="2400" b="1" dirty="0" err="1">
                <a:solidFill>
                  <a:srgbClr val="C00000"/>
                </a:solidFill>
              </a:rPr>
              <a:t>opula.R</a:t>
            </a:r>
            <a:r>
              <a:rPr lang="en-US" sz="2400" dirty="0">
                <a:solidFill>
                  <a:schemeClr val="accent5">
                    <a:lumMod val="50000"/>
                  </a:schemeClr>
                </a:solidFill>
              </a:rPr>
              <a:t>)</a:t>
            </a:r>
            <a:endParaRPr lang="pl-PL" sz="2400" b="1" dirty="0">
              <a:solidFill>
                <a:schemeClr val="accent5">
                  <a:lumMod val="50000"/>
                </a:schemeClr>
              </a:solidFill>
            </a:endParaRP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a:solidFill>
                  <a:srgbClr val="215968"/>
                </a:solidFill>
                <a:uFill>
                  <a:solidFill>
                    <a:srgbClr val="FFFFFF"/>
                  </a:solidFill>
                </a:uFill>
                <a:ea typeface="DejaVu Sans"/>
              </a:rPr>
              <a:t>How to </a:t>
            </a:r>
            <a:r>
              <a:rPr lang="pl-PL" sz="4000" b="1" i="1" spc="-1" dirty="0" err="1">
                <a:solidFill>
                  <a:srgbClr val="215968"/>
                </a:solidFill>
                <a:uFill>
                  <a:solidFill>
                    <a:srgbClr val="FFFFFF"/>
                  </a:solidFill>
                </a:uFill>
                <a:ea typeface="DejaVu Sans"/>
              </a:rPr>
              <a:t>simulate</a:t>
            </a:r>
            <a:r>
              <a:rPr lang="pl-PL" sz="4000" b="1" i="1" spc="-1" dirty="0">
                <a:solidFill>
                  <a:srgbClr val="215968"/>
                </a:solidFill>
                <a:uFill>
                  <a:solidFill>
                    <a:srgbClr val="FFFFFF"/>
                  </a:solidFill>
                </a:uFill>
                <a:ea typeface="DejaVu Sans"/>
              </a:rPr>
              <a:t> </a:t>
            </a:r>
            <a:r>
              <a:rPr lang="pl-PL" sz="4000" b="1" i="1" spc="-1" dirty="0" err="1">
                <a:solidFill>
                  <a:srgbClr val="215968"/>
                </a:solidFill>
                <a:uFill>
                  <a:solidFill>
                    <a:srgbClr val="FFFFFF"/>
                  </a:solidFill>
                </a:uFill>
                <a:ea typeface="DejaVu Sans"/>
              </a:rPr>
              <a:t>dependencies</a:t>
            </a:r>
            <a:r>
              <a:rPr lang="pl-PL" sz="4000" b="1" i="1" spc="-1" dirty="0">
                <a:solidFill>
                  <a:srgbClr val="215968"/>
                </a:solidFill>
                <a:uFill>
                  <a:solidFill>
                    <a:srgbClr val="FFFFFF"/>
                  </a:solidFill>
                </a:uFill>
                <a:ea typeface="DejaVu Sans"/>
              </a:rPr>
              <a:t>?</a:t>
            </a:r>
            <a:endParaRPr sz="1600" dirty="0">
              <a:solidFill>
                <a:prstClr val="black"/>
              </a:solidFill>
              <a:latin typeface="Calibri"/>
            </a:endParaRPr>
          </a:p>
        </p:txBody>
      </p:sp>
      <p:pic>
        <p:nvPicPr>
          <p:cNvPr id="6" name="Obraz 5"/>
          <p:cNvPicPr>
            <a:picLocks noChangeAspect="1"/>
          </p:cNvPicPr>
          <p:nvPr/>
        </p:nvPicPr>
        <p:blipFill>
          <a:blip r:embed="rId2"/>
          <a:stretch>
            <a:fillRect/>
          </a:stretch>
        </p:blipFill>
        <p:spPr>
          <a:xfrm>
            <a:off x="282425" y="3104516"/>
            <a:ext cx="3538805" cy="3589106"/>
          </a:xfrm>
          <a:prstGeom prst="rect">
            <a:avLst/>
          </a:prstGeom>
        </p:spPr>
      </p:pic>
      <p:sp>
        <p:nvSpPr>
          <p:cNvPr id="39" name="Prostokąt 38"/>
          <p:cNvSpPr/>
          <p:nvPr/>
        </p:nvSpPr>
        <p:spPr>
          <a:xfrm>
            <a:off x="3705726" y="3104516"/>
            <a:ext cx="8412480" cy="3416320"/>
          </a:xfrm>
          <a:prstGeom prst="rect">
            <a:avLst/>
          </a:prstGeom>
        </p:spPr>
        <p:txBody>
          <a:bodyPr wrap="square">
            <a:spAutoFit/>
          </a:bodyPr>
          <a:lstStyle/>
          <a:p>
            <a:pPr algn="just"/>
            <a:r>
              <a:rPr lang="pl-PL" sz="2400" dirty="0">
                <a:solidFill>
                  <a:srgbClr val="4BACC6">
                    <a:lumMod val="50000"/>
                  </a:srgbClr>
                </a:solidFill>
                <a:latin typeface="Calibri"/>
              </a:rPr>
              <a:t>X, Y - </a:t>
            </a:r>
            <a:r>
              <a:rPr lang="pl-PL" sz="2400" dirty="0" err="1">
                <a:solidFill>
                  <a:srgbClr val="4BACC6">
                    <a:lumMod val="50000"/>
                  </a:srgbClr>
                </a:solidFill>
                <a:latin typeface="Calibri"/>
              </a:rPr>
              <a:t>random</a:t>
            </a:r>
            <a:r>
              <a:rPr lang="pl-PL" sz="2400" dirty="0">
                <a:solidFill>
                  <a:srgbClr val="4BACC6">
                    <a:lumMod val="50000"/>
                  </a:srgbClr>
                </a:solidFill>
                <a:latin typeface="Calibri"/>
              </a:rPr>
              <a:t> </a:t>
            </a:r>
            <a:r>
              <a:rPr lang="pl-PL" sz="2400" dirty="0" err="1">
                <a:solidFill>
                  <a:srgbClr val="4BACC6">
                    <a:lumMod val="50000"/>
                  </a:srgbClr>
                </a:solidFill>
                <a:latin typeface="Calibri"/>
              </a:rPr>
              <a:t>variables</a:t>
            </a:r>
            <a:endParaRPr lang="pl-PL" sz="2400" dirty="0">
              <a:solidFill>
                <a:srgbClr val="4BACC6">
                  <a:lumMod val="50000"/>
                </a:srgbClr>
              </a:solidFill>
              <a:latin typeface="Calibri"/>
            </a:endParaRPr>
          </a:p>
          <a:p>
            <a:pPr marL="285750" indent="-285750" algn="just">
              <a:buFont typeface="Arial" panose="020B0604020202020204" pitchFamily="34" charset="0"/>
              <a:buChar char="•"/>
            </a:pPr>
            <a:r>
              <a:rPr lang="pl-PL" sz="2400" dirty="0">
                <a:solidFill>
                  <a:srgbClr val="4BACC6">
                    <a:lumMod val="50000"/>
                  </a:srgbClr>
                </a:solidFill>
                <a:latin typeface="Calibri"/>
              </a:rPr>
              <a:t>H (x, y) = P [X ≤ x, Y ≤ y] - </a:t>
            </a:r>
            <a:r>
              <a:rPr lang="pl-PL" sz="2400" dirty="0" err="1">
                <a:solidFill>
                  <a:srgbClr val="4BACC6">
                    <a:lumMod val="50000"/>
                  </a:srgbClr>
                </a:solidFill>
                <a:latin typeface="Calibri"/>
              </a:rPr>
              <a:t>total</a:t>
            </a:r>
            <a:r>
              <a:rPr lang="pl-PL" sz="2400" dirty="0">
                <a:solidFill>
                  <a:srgbClr val="4BACC6">
                    <a:lumMod val="50000"/>
                  </a:srgbClr>
                </a:solidFill>
                <a:latin typeface="Calibri"/>
              </a:rPr>
              <a:t> </a:t>
            </a:r>
            <a:r>
              <a:rPr lang="pl-PL" sz="2400" dirty="0" err="1">
                <a:solidFill>
                  <a:srgbClr val="4BACC6">
                    <a:lumMod val="50000"/>
                  </a:srgbClr>
                </a:solidFill>
                <a:latin typeface="Calibri"/>
              </a:rPr>
              <a:t>cumulative</a:t>
            </a:r>
            <a:r>
              <a:rPr lang="pl-PL" sz="2400" dirty="0">
                <a:solidFill>
                  <a:srgbClr val="4BACC6">
                    <a:lumMod val="50000"/>
                  </a:srgbClr>
                </a:solidFill>
                <a:latin typeface="Calibri"/>
              </a:rPr>
              <a:t> </a:t>
            </a:r>
            <a:r>
              <a:rPr lang="pl-PL" sz="2400" dirty="0" err="1">
                <a:solidFill>
                  <a:srgbClr val="4BACC6">
                    <a:lumMod val="50000"/>
                  </a:srgbClr>
                </a:solidFill>
                <a:latin typeface="Calibri"/>
              </a:rPr>
              <a:t>distribution</a:t>
            </a:r>
            <a:r>
              <a:rPr lang="pl-PL" sz="2400" dirty="0">
                <a:solidFill>
                  <a:srgbClr val="4BACC6">
                    <a:lumMod val="50000"/>
                  </a:srgbClr>
                </a:solidFill>
                <a:latin typeface="Calibri"/>
              </a:rPr>
              <a:t> </a:t>
            </a:r>
            <a:r>
              <a:rPr lang="pl-PL" sz="2400" dirty="0" err="1">
                <a:solidFill>
                  <a:srgbClr val="4BACC6">
                    <a:lumMod val="50000"/>
                  </a:srgbClr>
                </a:solidFill>
                <a:latin typeface="Calibri"/>
              </a:rPr>
              <a:t>function</a:t>
            </a:r>
            <a:endParaRPr lang="pl-PL" sz="2400" dirty="0">
              <a:solidFill>
                <a:srgbClr val="4BACC6">
                  <a:lumMod val="50000"/>
                </a:srgbClr>
              </a:solidFill>
              <a:latin typeface="Calibri"/>
            </a:endParaRPr>
          </a:p>
          <a:p>
            <a:pPr marL="285750" indent="-285750" algn="just">
              <a:buFont typeface="Arial" panose="020B0604020202020204" pitchFamily="34" charset="0"/>
              <a:buChar char="•"/>
            </a:pPr>
            <a:r>
              <a:rPr lang="pl-PL" sz="2400" dirty="0">
                <a:solidFill>
                  <a:srgbClr val="4BACC6">
                    <a:lumMod val="50000"/>
                  </a:srgbClr>
                </a:solidFill>
                <a:latin typeface="Calibri"/>
              </a:rPr>
              <a:t>F(x) = P [X ≤ x] = H [x, ∞] - </a:t>
            </a:r>
            <a:r>
              <a:rPr lang="pl-PL" sz="2400" dirty="0" err="1">
                <a:solidFill>
                  <a:srgbClr val="4BACC6">
                    <a:lumMod val="50000"/>
                  </a:srgbClr>
                </a:solidFill>
                <a:latin typeface="Calibri"/>
              </a:rPr>
              <a:t>marginal</a:t>
            </a:r>
            <a:r>
              <a:rPr lang="pl-PL" sz="2400" dirty="0">
                <a:solidFill>
                  <a:srgbClr val="4BACC6">
                    <a:lumMod val="50000"/>
                  </a:srgbClr>
                </a:solidFill>
                <a:latin typeface="Calibri"/>
              </a:rPr>
              <a:t> </a:t>
            </a:r>
            <a:r>
              <a:rPr lang="pl-PL" sz="2400" dirty="0" err="1">
                <a:solidFill>
                  <a:srgbClr val="4BACC6">
                    <a:lumMod val="50000"/>
                  </a:srgbClr>
                </a:solidFill>
                <a:latin typeface="Calibri"/>
              </a:rPr>
              <a:t>cumulative</a:t>
            </a:r>
            <a:r>
              <a:rPr lang="pl-PL" sz="2400" dirty="0">
                <a:solidFill>
                  <a:srgbClr val="4BACC6">
                    <a:lumMod val="50000"/>
                  </a:srgbClr>
                </a:solidFill>
                <a:latin typeface="Calibri"/>
              </a:rPr>
              <a:t> </a:t>
            </a:r>
            <a:r>
              <a:rPr lang="pl-PL" sz="2400" dirty="0" err="1">
                <a:solidFill>
                  <a:srgbClr val="4BACC6">
                    <a:lumMod val="50000"/>
                  </a:srgbClr>
                </a:solidFill>
                <a:latin typeface="Calibri"/>
              </a:rPr>
              <a:t>function</a:t>
            </a:r>
            <a:r>
              <a:rPr lang="pl-PL" sz="2400" dirty="0">
                <a:solidFill>
                  <a:srgbClr val="4BACC6">
                    <a:lumMod val="50000"/>
                  </a:srgbClr>
                </a:solidFill>
                <a:latin typeface="Calibri"/>
              </a:rPr>
              <a:t> for X</a:t>
            </a:r>
          </a:p>
          <a:p>
            <a:pPr marL="285750" indent="-285750" algn="just">
              <a:buFont typeface="Arial" panose="020B0604020202020204" pitchFamily="34" charset="0"/>
              <a:buChar char="•"/>
            </a:pPr>
            <a:r>
              <a:rPr lang="pl-PL" sz="2400" dirty="0">
                <a:solidFill>
                  <a:srgbClr val="4BACC6">
                    <a:lumMod val="50000"/>
                  </a:srgbClr>
                </a:solidFill>
                <a:latin typeface="Calibri"/>
              </a:rPr>
              <a:t>G(y) = P [Y ≤ y] = H [∞, y] - </a:t>
            </a:r>
            <a:r>
              <a:rPr lang="pl-PL" sz="2400" dirty="0" err="1">
                <a:solidFill>
                  <a:srgbClr val="4BACC6">
                    <a:lumMod val="50000"/>
                  </a:srgbClr>
                </a:solidFill>
                <a:latin typeface="Calibri"/>
              </a:rPr>
              <a:t>marginal</a:t>
            </a:r>
            <a:r>
              <a:rPr lang="pl-PL" sz="2400" dirty="0">
                <a:solidFill>
                  <a:srgbClr val="4BACC6">
                    <a:lumMod val="50000"/>
                  </a:srgbClr>
                </a:solidFill>
                <a:latin typeface="Calibri"/>
              </a:rPr>
              <a:t> </a:t>
            </a:r>
            <a:r>
              <a:rPr lang="pl-PL" sz="2400" dirty="0" err="1">
                <a:solidFill>
                  <a:srgbClr val="4BACC6">
                    <a:lumMod val="50000"/>
                  </a:srgbClr>
                </a:solidFill>
                <a:latin typeface="Calibri"/>
              </a:rPr>
              <a:t>cumulative</a:t>
            </a:r>
            <a:r>
              <a:rPr lang="pl-PL" sz="2400" dirty="0">
                <a:solidFill>
                  <a:srgbClr val="4BACC6">
                    <a:lumMod val="50000"/>
                  </a:srgbClr>
                </a:solidFill>
                <a:latin typeface="Calibri"/>
              </a:rPr>
              <a:t> </a:t>
            </a:r>
            <a:r>
              <a:rPr lang="pl-PL" sz="2400" dirty="0" err="1">
                <a:solidFill>
                  <a:srgbClr val="4BACC6">
                    <a:lumMod val="50000"/>
                  </a:srgbClr>
                </a:solidFill>
                <a:latin typeface="Calibri"/>
              </a:rPr>
              <a:t>function</a:t>
            </a:r>
            <a:r>
              <a:rPr lang="pl-PL" sz="2400" dirty="0">
                <a:solidFill>
                  <a:srgbClr val="4BACC6">
                    <a:lumMod val="50000"/>
                  </a:srgbClr>
                </a:solidFill>
                <a:latin typeface="Calibri"/>
              </a:rPr>
              <a:t> for Y</a:t>
            </a:r>
          </a:p>
          <a:p>
            <a:pPr algn="just"/>
            <a:endParaRPr lang="pl-PL" sz="2400" dirty="0">
              <a:solidFill>
                <a:srgbClr val="4BACC6">
                  <a:lumMod val="50000"/>
                </a:srgbClr>
              </a:solidFill>
              <a:latin typeface="Calibri"/>
            </a:endParaRPr>
          </a:p>
          <a:p>
            <a:pPr algn="just"/>
            <a:r>
              <a:rPr lang="pl-PL" sz="2400" dirty="0">
                <a:solidFill>
                  <a:srgbClr val="4BACC6">
                    <a:lumMod val="50000"/>
                  </a:srgbClr>
                </a:solidFill>
                <a:latin typeface="Calibri"/>
              </a:rPr>
              <a:t>By </a:t>
            </a:r>
            <a:r>
              <a:rPr lang="pl-PL" sz="2400" dirty="0" err="1">
                <a:solidFill>
                  <a:srgbClr val="4BACC6">
                    <a:lumMod val="50000"/>
                  </a:srgbClr>
                </a:solidFill>
                <a:latin typeface="Calibri"/>
              </a:rPr>
              <a:t>Sklar's</a:t>
            </a:r>
            <a:r>
              <a:rPr lang="pl-PL" sz="2400" dirty="0">
                <a:solidFill>
                  <a:srgbClr val="4BACC6">
                    <a:lumMod val="50000"/>
                  </a:srgbClr>
                </a:solidFill>
                <a:latin typeface="Calibri"/>
              </a:rPr>
              <a:t> </a:t>
            </a:r>
            <a:r>
              <a:rPr lang="pl-PL" sz="2400" dirty="0" err="1">
                <a:solidFill>
                  <a:srgbClr val="4BACC6">
                    <a:lumMod val="50000"/>
                  </a:srgbClr>
                </a:solidFill>
                <a:latin typeface="Calibri"/>
              </a:rPr>
              <a:t>theorem</a:t>
            </a:r>
            <a:r>
              <a:rPr lang="pl-PL" sz="2400" dirty="0">
                <a:solidFill>
                  <a:srgbClr val="4BACC6">
                    <a:lumMod val="50000"/>
                  </a:srgbClr>
                </a:solidFill>
                <a:latin typeface="Calibri"/>
              </a:rPr>
              <a:t> (</a:t>
            </a:r>
            <a:r>
              <a:rPr lang="pl-PL" sz="2400" i="1" dirty="0" err="1">
                <a:solidFill>
                  <a:srgbClr val="4BACC6">
                    <a:lumMod val="50000"/>
                  </a:srgbClr>
                </a:solidFill>
                <a:latin typeface="Calibri"/>
              </a:rPr>
              <a:t>Nelsen</a:t>
            </a:r>
            <a:r>
              <a:rPr lang="pl-PL" sz="2400" i="1" dirty="0">
                <a:solidFill>
                  <a:srgbClr val="4BACC6">
                    <a:lumMod val="50000"/>
                  </a:srgbClr>
                </a:solidFill>
                <a:latin typeface="Calibri"/>
              </a:rPr>
              <a:t>, 2006) : The copula </a:t>
            </a:r>
            <a:r>
              <a:rPr lang="pl-PL" sz="2400" i="1" dirty="0" err="1">
                <a:solidFill>
                  <a:srgbClr val="4BACC6">
                    <a:lumMod val="50000"/>
                  </a:srgbClr>
                </a:solidFill>
                <a:latin typeface="Calibri"/>
              </a:rPr>
              <a:t>will</a:t>
            </a:r>
            <a:r>
              <a:rPr lang="pl-PL" sz="2400" i="1" dirty="0">
                <a:solidFill>
                  <a:srgbClr val="4BACC6">
                    <a:lumMod val="50000"/>
                  </a:srgbClr>
                </a:solidFill>
                <a:latin typeface="Calibri"/>
              </a:rPr>
              <a:t> be a </a:t>
            </a:r>
            <a:r>
              <a:rPr lang="pl-PL" sz="2400" i="1" dirty="0" err="1">
                <a:solidFill>
                  <a:srgbClr val="4BACC6">
                    <a:lumMod val="50000"/>
                  </a:srgbClr>
                </a:solidFill>
                <a:latin typeface="Calibri"/>
              </a:rPr>
              <a:t>function</a:t>
            </a:r>
            <a:r>
              <a:rPr lang="pl-PL" sz="2400" i="1" dirty="0">
                <a:solidFill>
                  <a:srgbClr val="4BACC6">
                    <a:lumMod val="50000"/>
                  </a:srgbClr>
                </a:solidFill>
                <a:latin typeface="Calibri"/>
              </a:rPr>
              <a:t> </a:t>
            </a:r>
            <a:r>
              <a:rPr lang="pl-PL" sz="2400" i="1" dirty="0" err="1">
                <a:solidFill>
                  <a:srgbClr val="4BACC6">
                    <a:lumMod val="50000"/>
                  </a:srgbClr>
                </a:solidFill>
                <a:latin typeface="Calibri"/>
              </a:rPr>
              <a:t>combining</a:t>
            </a:r>
            <a:r>
              <a:rPr lang="pl-PL" sz="2400" i="1" dirty="0">
                <a:solidFill>
                  <a:srgbClr val="4BACC6">
                    <a:lumMod val="50000"/>
                  </a:srgbClr>
                </a:solidFill>
                <a:latin typeface="Calibri"/>
              </a:rPr>
              <a:t> </a:t>
            </a:r>
            <a:r>
              <a:rPr lang="pl-PL" sz="2400" dirty="0">
                <a:solidFill>
                  <a:srgbClr val="4BACC6">
                    <a:lumMod val="50000"/>
                  </a:srgbClr>
                </a:solidFill>
                <a:latin typeface="Calibri"/>
              </a:rPr>
              <a:t>F and G </a:t>
            </a:r>
            <a:r>
              <a:rPr lang="pl-PL" sz="2400" dirty="0" err="1">
                <a:solidFill>
                  <a:srgbClr val="4BACC6">
                    <a:lumMod val="50000"/>
                  </a:srgbClr>
                </a:solidFill>
                <a:latin typeface="Calibri"/>
              </a:rPr>
              <a:t>into</a:t>
            </a:r>
            <a:r>
              <a:rPr lang="pl-PL" sz="2400" dirty="0">
                <a:solidFill>
                  <a:srgbClr val="4BACC6">
                    <a:lumMod val="50000"/>
                  </a:srgbClr>
                </a:solidFill>
                <a:latin typeface="Calibri"/>
              </a:rPr>
              <a:t> </a:t>
            </a:r>
            <a:r>
              <a:rPr lang="pl-PL" sz="2400" dirty="0" err="1">
                <a:solidFill>
                  <a:srgbClr val="4BACC6">
                    <a:lumMod val="50000"/>
                  </a:srgbClr>
                </a:solidFill>
                <a:latin typeface="Calibri"/>
              </a:rPr>
              <a:t>two-dimensional</a:t>
            </a:r>
            <a:r>
              <a:rPr lang="pl-PL" sz="2400" dirty="0">
                <a:solidFill>
                  <a:srgbClr val="4BACC6">
                    <a:lumMod val="50000"/>
                  </a:srgbClr>
                </a:solidFill>
                <a:latin typeface="Calibri"/>
              </a:rPr>
              <a:t> joint </a:t>
            </a:r>
            <a:r>
              <a:rPr lang="pl-PL" sz="2400" dirty="0" err="1">
                <a:solidFill>
                  <a:srgbClr val="4BACC6">
                    <a:lumMod val="50000"/>
                  </a:srgbClr>
                </a:solidFill>
                <a:latin typeface="Calibri"/>
              </a:rPr>
              <a:t>distribution</a:t>
            </a:r>
            <a:r>
              <a:rPr lang="pl-PL" sz="2400" dirty="0">
                <a:solidFill>
                  <a:srgbClr val="4BACC6">
                    <a:lumMod val="50000"/>
                  </a:srgbClr>
                </a:solidFill>
                <a:latin typeface="Calibri"/>
              </a:rPr>
              <a:t> H. </a:t>
            </a:r>
          </a:p>
          <a:p>
            <a:pPr algn="just"/>
            <a:endParaRPr lang="pl-PL" sz="2400" dirty="0">
              <a:solidFill>
                <a:srgbClr val="4BACC6">
                  <a:lumMod val="50000"/>
                </a:srgbClr>
              </a:solidFill>
              <a:latin typeface="Calibri"/>
            </a:endParaRPr>
          </a:p>
          <a:p>
            <a:pPr algn="just"/>
            <a:r>
              <a:rPr lang="pl-PL" sz="2400" dirty="0">
                <a:solidFill>
                  <a:srgbClr val="4BACC6">
                    <a:lumMod val="50000"/>
                  </a:srgbClr>
                </a:solidFill>
                <a:latin typeface="Calibri"/>
              </a:rPr>
              <a:t>H (X, Y) = C (F (x), G (y))</a:t>
            </a:r>
          </a:p>
        </p:txBody>
      </p:sp>
      <p:sp>
        <p:nvSpPr>
          <p:cNvPr id="40" name="Prostokąt 39"/>
          <p:cNvSpPr/>
          <p:nvPr/>
        </p:nvSpPr>
        <p:spPr>
          <a:xfrm>
            <a:off x="8489481" y="5770292"/>
            <a:ext cx="3115295" cy="923330"/>
          </a:xfrm>
          <a:prstGeom prst="rect">
            <a:avLst/>
          </a:prstGeom>
        </p:spPr>
        <p:txBody>
          <a:bodyPr wrap="square">
            <a:spAutoFit/>
          </a:bodyPr>
          <a:lstStyle/>
          <a:p>
            <a:r>
              <a:rPr lang="pl-PL" b="1" dirty="0">
                <a:solidFill>
                  <a:srgbClr val="4BACC6">
                    <a:lumMod val="50000"/>
                  </a:srgbClr>
                </a:solidFill>
                <a:latin typeface="Calibri"/>
              </a:rPr>
              <a:t>https://datascienceplus.com/modelling-dependence-with-copulas/</a:t>
            </a:r>
          </a:p>
        </p:txBody>
      </p:sp>
    </p:spTree>
    <p:extLst>
      <p:ext uri="{BB962C8B-B14F-4D97-AF65-F5344CB8AC3E}">
        <p14:creationId xmlns:p14="http://schemas.microsoft.com/office/powerpoint/2010/main" val="1637934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163629" y="1128239"/>
            <a:ext cx="6853187" cy="5647945"/>
          </a:xfrm>
        </p:spPr>
        <p:txBody>
          <a:bodyPr>
            <a:noAutofit/>
          </a:bodyPr>
          <a:lstStyle/>
          <a:p>
            <a:pPr algn="just"/>
            <a:r>
              <a:rPr lang="en-US" sz="2800" dirty="0">
                <a:solidFill>
                  <a:schemeClr val="accent5">
                    <a:lumMod val="50000"/>
                  </a:schemeClr>
                </a:solidFill>
              </a:rPr>
              <a:t>Treat the copula as Lego brick</a:t>
            </a:r>
            <a:r>
              <a:rPr lang="pl-PL" sz="2800" dirty="0">
                <a:solidFill>
                  <a:schemeClr val="accent5">
                    <a:lumMod val="50000"/>
                  </a:schemeClr>
                </a:solidFill>
              </a:rPr>
              <a:t>s </a:t>
            </a:r>
            <a:r>
              <a:rPr lang="en-US" sz="2800" dirty="0">
                <a:solidFill>
                  <a:schemeClr val="accent5">
                    <a:lumMod val="50000"/>
                  </a:schemeClr>
                </a:solidFill>
              </a:rPr>
              <a:t>construction. The copula is N-dimensional connector and you can attach any marginal distribution and you can create (estimate) any kind of join N-dimensional distribution. Even more, the is a lot of copulas which model non-linear properties of dependence between variables.  In Gumbel copula, the dependence is stronger for large values of X and Y. In Clayton copula, the dependence is stronger for small values of X and Y</a:t>
            </a:r>
            <a:r>
              <a:rPr lang="pl-PL" sz="2800" dirty="0">
                <a:solidFill>
                  <a:schemeClr val="accent5">
                    <a:lumMod val="50000"/>
                  </a:schemeClr>
                </a:solidFill>
              </a:rPr>
              <a:t> [</a:t>
            </a:r>
            <a:r>
              <a:rPr lang="en-US" sz="2800" dirty="0">
                <a:solidFill>
                  <a:schemeClr val="accent5">
                    <a:lumMod val="50000"/>
                  </a:schemeClr>
                </a:solidFill>
              </a:rPr>
              <a:t>a very important property in finance</a:t>
            </a:r>
            <a:r>
              <a:rPr lang="pl-PL" sz="2800" dirty="0">
                <a:solidFill>
                  <a:schemeClr val="accent5">
                    <a:lumMod val="50000"/>
                  </a:schemeClr>
                </a:solidFill>
              </a:rPr>
              <a:t>] . </a:t>
            </a:r>
            <a:r>
              <a:rPr lang="en-US" sz="2800" dirty="0">
                <a:solidFill>
                  <a:schemeClr val="accent5">
                    <a:lumMod val="50000"/>
                  </a:schemeClr>
                </a:solidFill>
              </a:rPr>
              <a:t>You can pivot the dependence [ Gumbel90, Gumbel 180], …. </a:t>
            </a:r>
            <a:r>
              <a:rPr lang="en-US" sz="1100" dirty="0">
                <a:solidFill>
                  <a:schemeClr val="accent5">
                    <a:lumMod val="50000"/>
                  </a:schemeClr>
                </a:solidFill>
              </a:rPr>
              <a:t>https://www.frontiersin.org/articles/10.3389/fams.2021.642210/full</a:t>
            </a: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a:solidFill>
                  <a:srgbClr val="215968"/>
                </a:solidFill>
                <a:uFill>
                  <a:solidFill>
                    <a:srgbClr val="FFFFFF"/>
                  </a:solidFill>
                </a:uFill>
                <a:ea typeface="DejaVu Sans"/>
              </a:rPr>
              <a:t>How to </a:t>
            </a:r>
            <a:r>
              <a:rPr lang="pl-PL" sz="4000" b="1" i="1" spc="-1" dirty="0" err="1">
                <a:solidFill>
                  <a:srgbClr val="215968"/>
                </a:solidFill>
                <a:uFill>
                  <a:solidFill>
                    <a:srgbClr val="FFFFFF"/>
                  </a:solidFill>
                </a:uFill>
                <a:ea typeface="DejaVu Sans"/>
              </a:rPr>
              <a:t>simulate</a:t>
            </a:r>
            <a:r>
              <a:rPr lang="pl-PL" sz="4000" b="1" i="1" spc="-1" dirty="0">
                <a:solidFill>
                  <a:srgbClr val="215968"/>
                </a:solidFill>
                <a:uFill>
                  <a:solidFill>
                    <a:srgbClr val="FFFFFF"/>
                  </a:solidFill>
                </a:uFill>
                <a:ea typeface="DejaVu Sans"/>
              </a:rPr>
              <a:t> </a:t>
            </a:r>
            <a:r>
              <a:rPr lang="pl-PL" sz="4000" b="1" i="1" spc="-1" dirty="0" err="1">
                <a:solidFill>
                  <a:srgbClr val="215968"/>
                </a:solidFill>
                <a:uFill>
                  <a:solidFill>
                    <a:srgbClr val="FFFFFF"/>
                  </a:solidFill>
                </a:uFill>
                <a:ea typeface="DejaVu Sans"/>
              </a:rPr>
              <a:t>dependencies</a:t>
            </a:r>
            <a:r>
              <a:rPr lang="pl-PL" sz="4000" b="1" i="1" spc="-1" dirty="0">
                <a:solidFill>
                  <a:srgbClr val="215968"/>
                </a:solidFill>
                <a:uFill>
                  <a:solidFill>
                    <a:srgbClr val="FFFFFF"/>
                  </a:solidFill>
                </a:uFill>
                <a:ea typeface="DejaVu Sans"/>
              </a:rPr>
              <a:t>?</a:t>
            </a:r>
            <a:endParaRPr sz="1600" dirty="0">
              <a:solidFill>
                <a:prstClr val="black"/>
              </a:solidFill>
              <a:latin typeface="Calibri"/>
            </a:endParaRPr>
          </a:p>
        </p:txBody>
      </p:sp>
      <p:pic>
        <p:nvPicPr>
          <p:cNvPr id="6" name="Picture 4" descr="w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6816" y="1623199"/>
            <a:ext cx="4660085" cy="46580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134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115504" y="1214867"/>
            <a:ext cx="11944952" cy="5561318"/>
          </a:xfrm>
        </p:spPr>
        <p:txBody>
          <a:bodyPr>
            <a:noAutofit/>
          </a:bodyPr>
          <a:lstStyle/>
          <a:p>
            <a:pPr algn="just"/>
            <a:r>
              <a:rPr lang="en-US" sz="2800" dirty="0">
                <a:solidFill>
                  <a:schemeClr val="accent5">
                    <a:lumMod val="50000"/>
                  </a:schemeClr>
                </a:solidFill>
              </a:rPr>
              <a:t>The simplest</a:t>
            </a:r>
            <a:r>
              <a:rPr lang="pl-PL" sz="2800" dirty="0">
                <a:solidFill>
                  <a:schemeClr val="accent5">
                    <a:lumMod val="50000"/>
                  </a:schemeClr>
                </a:solidFill>
              </a:rPr>
              <a:t> to </a:t>
            </a:r>
            <a:r>
              <a:rPr lang="pl-PL" sz="2800" dirty="0" err="1">
                <a:solidFill>
                  <a:schemeClr val="accent5">
                    <a:lumMod val="50000"/>
                  </a:schemeClr>
                </a:solidFill>
              </a:rPr>
              <a:t>use</a:t>
            </a:r>
            <a:r>
              <a:rPr lang="en-US" sz="2800" dirty="0">
                <a:solidFill>
                  <a:schemeClr val="accent5">
                    <a:lumMod val="50000"/>
                  </a:schemeClr>
                </a:solidFill>
              </a:rPr>
              <a:t> is the Gaussian (normal) </a:t>
            </a:r>
            <a:r>
              <a:rPr lang="pl-PL" sz="2800" dirty="0">
                <a:solidFill>
                  <a:schemeClr val="accent5">
                    <a:lumMod val="50000"/>
                  </a:schemeClr>
                </a:solidFill>
              </a:rPr>
              <a:t>c</a:t>
            </a:r>
            <a:r>
              <a:rPr lang="en-US" sz="2800" dirty="0" err="1">
                <a:solidFill>
                  <a:schemeClr val="accent5">
                    <a:lumMod val="50000"/>
                  </a:schemeClr>
                </a:solidFill>
              </a:rPr>
              <a:t>opula</a:t>
            </a:r>
            <a:r>
              <a:rPr lang="en-US" sz="2800" dirty="0">
                <a:solidFill>
                  <a:schemeClr val="accent5">
                    <a:lumMod val="50000"/>
                  </a:schemeClr>
                </a:solidFill>
              </a:rPr>
              <a:t>. It „glues” two or more marginal distributions and the dependence between the variables is defined by simple linear correlation (correlation matrix). In our MC simulation of the profits we can make a new assumption:</a:t>
            </a:r>
            <a:r>
              <a:rPr lang="pl-PL" sz="2800" dirty="0">
                <a:solidFill>
                  <a:schemeClr val="accent5">
                    <a:lumMod val="50000"/>
                  </a:schemeClr>
                </a:solidFill>
              </a:rPr>
              <a:t> The </a:t>
            </a:r>
            <a:r>
              <a:rPr lang="en-US" sz="2800" dirty="0">
                <a:solidFill>
                  <a:schemeClr val="accent5">
                    <a:lumMod val="50000"/>
                  </a:schemeClr>
                </a:solidFill>
              </a:rPr>
              <a:t>sold units X  is correlated with the transaction prices. Before running the simulation, answer the question: </a:t>
            </a:r>
            <a:r>
              <a:rPr lang="en-US" sz="2800" b="1" dirty="0">
                <a:solidFill>
                  <a:schemeClr val="accent5">
                    <a:lumMod val="50000"/>
                  </a:schemeClr>
                </a:solidFill>
              </a:rPr>
              <a:t>What is more profitable for a new business</a:t>
            </a:r>
            <a:r>
              <a:rPr lang="en-US" sz="2800" dirty="0">
                <a:solidFill>
                  <a:schemeClr val="accent5">
                    <a:lumMod val="50000"/>
                  </a:schemeClr>
                </a:solidFill>
              </a:rPr>
              <a:t>: positive correlation, negative correlation or no correlation?</a:t>
            </a:r>
            <a:endParaRPr lang="pl-PL" sz="2800" dirty="0">
              <a:solidFill>
                <a:schemeClr val="accent5">
                  <a:lumMod val="50000"/>
                </a:schemeClr>
              </a:solidFill>
            </a:endParaRPr>
          </a:p>
          <a:p>
            <a:pPr lvl="1" algn="just"/>
            <a:r>
              <a:rPr lang="en-US" sz="2400" dirty="0">
                <a:solidFill>
                  <a:schemeClr val="accent5">
                    <a:lumMod val="50000"/>
                  </a:schemeClr>
                </a:solidFill>
              </a:rPr>
              <a:t>A: Positive correlation is beneficial</a:t>
            </a:r>
            <a:r>
              <a:rPr lang="pl-PL" sz="2400" dirty="0">
                <a:solidFill>
                  <a:schemeClr val="accent5">
                    <a:lumMod val="50000"/>
                  </a:schemeClr>
                </a:solidFill>
              </a:rPr>
              <a:t> (</a:t>
            </a:r>
            <a:r>
              <a:rPr lang="en-US" sz="1400" dirty="0">
                <a:solidFill>
                  <a:schemeClr val="accent5">
                    <a:lumMod val="50000"/>
                  </a:schemeClr>
                </a:solidFill>
              </a:rPr>
              <a:t>A sort of Veblen good, price is the only one indicator of the quality and the higher is the price the higher is the demand - we would like to buy a good quality </a:t>
            </a:r>
            <a:r>
              <a:rPr lang="pl-PL" sz="1400" dirty="0" err="1">
                <a:solidFill>
                  <a:schemeClr val="accent5">
                    <a:lumMod val="50000"/>
                  </a:schemeClr>
                </a:solidFill>
              </a:rPr>
              <a:t>item</a:t>
            </a:r>
            <a:r>
              <a:rPr lang="en-US" sz="1400" dirty="0">
                <a:solidFill>
                  <a:schemeClr val="accent5">
                    <a:lumMod val="50000"/>
                  </a:schemeClr>
                </a:solidFill>
              </a:rPr>
              <a:t>. </a:t>
            </a:r>
            <a:r>
              <a:rPr lang="pl-PL" sz="2400" dirty="0">
                <a:solidFill>
                  <a:schemeClr val="accent5">
                    <a:lumMod val="50000"/>
                  </a:schemeClr>
                </a:solidFill>
              </a:rPr>
              <a:t>) </a:t>
            </a:r>
          </a:p>
          <a:p>
            <a:pPr lvl="1" algn="just"/>
            <a:r>
              <a:rPr lang="en-US" sz="2400" dirty="0">
                <a:solidFill>
                  <a:schemeClr val="accent5">
                    <a:lumMod val="50000"/>
                  </a:schemeClr>
                </a:solidFill>
              </a:rPr>
              <a:t>B: Negative correlation is beneficial</a:t>
            </a:r>
            <a:r>
              <a:rPr lang="pl-PL" sz="2400" dirty="0">
                <a:solidFill>
                  <a:schemeClr val="accent5">
                    <a:lumMod val="50000"/>
                  </a:schemeClr>
                </a:solidFill>
              </a:rPr>
              <a:t> (</a:t>
            </a:r>
            <a:r>
              <a:rPr lang="en-US" sz="1400" dirty="0">
                <a:solidFill>
                  <a:schemeClr val="accent5">
                    <a:lumMod val="50000"/>
                  </a:schemeClr>
                </a:solidFill>
              </a:rPr>
              <a:t>A typical demand function but the relationship is stochastic</a:t>
            </a:r>
            <a:r>
              <a:rPr lang="pl-PL" sz="2400" dirty="0">
                <a:solidFill>
                  <a:schemeClr val="accent5">
                    <a:lumMod val="50000"/>
                  </a:schemeClr>
                </a:solidFill>
              </a:rPr>
              <a:t>)</a:t>
            </a:r>
          </a:p>
          <a:p>
            <a:pPr lvl="1" algn="just"/>
            <a:r>
              <a:rPr lang="pl-PL" sz="2400" dirty="0">
                <a:solidFill>
                  <a:schemeClr val="accent5">
                    <a:lumMod val="50000"/>
                  </a:schemeClr>
                </a:solidFill>
              </a:rPr>
              <a:t>C: No </a:t>
            </a:r>
            <a:r>
              <a:rPr lang="pl-PL" sz="2400" dirty="0" err="1">
                <a:solidFill>
                  <a:schemeClr val="accent5">
                    <a:lumMod val="50000"/>
                  </a:schemeClr>
                </a:solidFill>
              </a:rPr>
              <a:t>correlation</a:t>
            </a:r>
            <a:r>
              <a:rPr lang="pl-PL" sz="2400" dirty="0">
                <a:solidFill>
                  <a:schemeClr val="accent5">
                    <a:lumMod val="50000"/>
                  </a:schemeClr>
                </a:solidFill>
              </a:rPr>
              <a:t> </a:t>
            </a:r>
            <a:r>
              <a:rPr lang="en-US" sz="2400" dirty="0">
                <a:solidFill>
                  <a:schemeClr val="accent5">
                    <a:lumMod val="50000"/>
                  </a:schemeClr>
                </a:solidFill>
              </a:rPr>
              <a:t>is beneficial</a:t>
            </a:r>
            <a:r>
              <a:rPr lang="pl-PL" sz="2400" dirty="0">
                <a:solidFill>
                  <a:schemeClr val="accent5">
                    <a:lumMod val="50000"/>
                  </a:schemeClr>
                </a:solidFill>
              </a:rPr>
              <a:t> (</a:t>
            </a:r>
            <a:r>
              <a:rPr lang="en-US" sz="1600" dirty="0">
                <a:solidFill>
                  <a:schemeClr val="accent5">
                    <a:lumMod val="50000"/>
                  </a:schemeClr>
                </a:solidFill>
              </a:rPr>
              <a:t>there is no relationship – the demand is random</a:t>
            </a:r>
            <a:r>
              <a:rPr lang="pl-PL" sz="2400" dirty="0">
                <a:solidFill>
                  <a:schemeClr val="accent5">
                    <a:lumMod val="50000"/>
                  </a:schemeClr>
                </a:solidFill>
              </a:rPr>
              <a:t>)</a:t>
            </a:r>
          </a:p>
          <a:p>
            <a:pPr lvl="1" algn="just"/>
            <a:r>
              <a:rPr lang="pl-PL" sz="2400" dirty="0">
                <a:solidFill>
                  <a:schemeClr val="accent5">
                    <a:lumMod val="50000"/>
                  </a:schemeClr>
                </a:solidFill>
              </a:rPr>
              <a:t>D</a:t>
            </a:r>
            <a:r>
              <a:rPr lang="en-US" sz="2400" dirty="0">
                <a:solidFill>
                  <a:schemeClr val="accent5">
                    <a:lumMod val="50000"/>
                  </a:schemeClr>
                </a:solidFill>
              </a:rPr>
              <a:t>: Correlation does not affect profitability</a:t>
            </a:r>
            <a:endParaRPr lang="pl-PL" sz="2400" dirty="0">
              <a:solidFill>
                <a:schemeClr val="accent5">
                  <a:lumMod val="50000"/>
                </a:schemeClr>
              </a:solidFill>
            </a:endParaRP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US" sz="4000" b="1" i="1" spc="-1" dirty="0">
                <a:solidFill>
                  <a:srgbClr val="215968"/>
                </a:solidFill>
                <a:uFill>
                  <a:solidFill>
                    <a:srgbClr val="FFFFFF"/>
                  </a:solidFill>
                </a:uFill>
                <a:ea typeface="DejaVu Sans"/>
              </a:rPr>
              <a:t>More practical example: risk estimation of business (</a:t>
            </a:r>
            <a:r>
              <a:rPr lang="pl-PL" sz="4000" b="1" i="1" spc="-1" dirty="0" err="1">
                <a:solidFill>
                  <a:srgbClr val="215968"/>
                </a:solidFill>
                <a:uFill>
                  <a:solidFill>
                    <a:srgbClr val="FFFFFF"/>
                  </a:solidFill>
                </a:uFill>
                <a:ea typeface="DejaVu Sans"/>
              </a:rPr>
              <a:t>continuations</a:t>
            </a:r>
            <a:r>
              <a:rPr lang="en-US" sz="4000" b="1" i="1" spc="-1" dirty="0">
                <a:solidFill>
                  <a:srgbClr val="215968"/>
                </a:solidFill>
                <a:uFill>
                  <a:solidFill>
                    <a:srgbClr val="FFFFFF"/>
                  </a:solidFill>
                </a:uFill>
                <a:ea typeface="DejaVu Sans"/>
              </a:rPr>
              <a:t>)</a:t>
            </a:r>
            <a:endParaRPr lang="en-US" sz="1600" dirty="0">
              <a:solidFill>
                <a:prstClr val="black"/>
              </a:solidFill>
            </a:endParaRPr>
          </a:p>
        </p:txBody>
      </p:sp>
    </p:spTree>
    <p:extLst>
      <p:ext uri="{BB962C8B-B14F-4D97-AF65-F5344CB8AC3E}">
        <p14:creationId xmlns:p14="http://schemas.microsoft.com/office/powerpoint/2010/main" val="811395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Obraz 10"/>
          <p:cNvPicPr>
            <a:picLocks noChangeAspect="1"/>
          </p:cNvPicPr>
          <p:nvPr/>
        </p:nvPicPr>
        <p:blipFill rotWithShape="1">
          <a:blip r:embed="rId2"/>
          <a:srcRect l="2321" t="3187"/>
          <a:stretch/>
        </p:blipFill>
        <p:spPr>
          <a:xfrm>
            <a:off x="6622181" y="786705"/>
            <a:ext cx="3641633" cy="2823401"/>
          </a:xfrm>
          <a:prstGeom prst="rect">
            <a:avLst/>
          </a:prstGeom>
        </p:spPr>
      </p:pic>
      <p:pic>
        <p:nvPicPr>
          <p:cNvPr id="10" name="Obraz 9"/>
          <p:cNvPicPr>
            <a:picLocks noChangeAspect="1"/>
          </p:cNvPicPr>
          <p:nvPr/>
        </p:nvPicPr>
        <p:blipFill rotWithShape="1">
          <a:blip r:embed="rId3"/>
          <a:srcRect l="2502" t="3830"/>
          <a:stretch/>
        </p:blipFill>
        <p:spPr>
          <a:xfrm>
            <a:off x="8191099" y="3934868"/>
            <a:ext cx="3933039" cy="2677656"/>
          </a:xfrm>
          <a:prstGeom prst="rect">
            <a:avLst/>
          </a:prstGeom>
        </p:spPr>
      </p:pic>
      <p:pic>
        <p:nvPicPr>
          <p:cNvPr id="8" name="Obraz 7"/>
          <p:cNvPicPr>
            <a:picLocks noChangeAspect="1"/>
          </p:cNvPicPr>
          <p:nvPr/>
        </p:nvPicPr>
        <p:blipFill rotWithShape="1">
          <a:blip r:embed="rId4"/>
          <a:srcRect l="2053" t="3516"/>
          <a:stretch/>
        </p:blipFill>
        <p:spPr>
          <a:xfrm>
            <a:off x="262454" y="862106"/>
            <a:ext cx="3965610" cy="2709061"/>
          </a:xfrm>
          <a:prstGeom prst="rect">
            <a:avLst/>
          </a:prstGeom>
        </p:spPr>
      </p:pic>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US" sz="4000" b="1" i="1" spc="-1" dirty="0">
                <a:solidFill>
                  <a:srgbClr val="215968"/>
                </a:solidFill>
                <a:uFill>
                  <a:solidFill>
                    <a:srgbClr val="FFFFFF"/>
                  </a:solidFill>
                </a:uFill>
                <a:ea typeface="DejaVu Sans"/>
              </a:rPr>
              <a:t>More practical example: risk estimation of business (continuations)</a:t>
            </a:r>
          </a:p>
        </p:txBody>
      </p:sp>
      <p:sp>
        <p:nvSpPr>
          <p:cNvPr id="5" name="Prostokąt 4"/>
          <p:cNvSpPr/>
          <p:nvPr/>
        </p:nvSpPr>
        <p:spPr>
          <a:xfrm>
            <a:off x="2168088" y="2216637"/>
            <a:ext cx="3238121" cy="523220"/>
          </a:xfrm>
          <a:prstGeom prst="rect">
            <a:avLst/>
          </a:prstGeom>
        </p:spPr>
        <p:txBody>
          <a:bodyPr wrap="square">
            <a:spAutoFit/>
          </a:bodyPr>
          <a:lstStyle/>
          <a:p>
            <a:r>
              <a:rPr lang="en-US" sz="2800" dirty="0">
                <a:solidFill>
                  <a:schemeClr val="accent5">
                    <a:lumMod val="50000"/>
                  </a:schemeClr>
                </a:solidFill>
              </a:rPr>
              <a:t>Positive correlation </a:t>
            </a:r>
            <a:endParaRPr lang="pl-PL" sz="2800" dirty="0"/>
          </a:p>
        </p:txBody>
      </p:sp>
      <p:sp>
        <p:nvSpPr>
          <p:cNvPr id="7" name="Prostokąt 6"/>
          <p:cNvSpPr/>
          <p:nvPr/>
        </p:nvSpPr>
        <p:spPr>
          <a:xfrm>
            <a:off x="8905500" y="1437429"/>
            <a:ext cx="3218638" cy="523220"/>
          </a:xfrm>
          <a:prstGeom prst="rect">
            <a:avLst/>
          </a:prstGeom>
        </p:spPr>
        <p:txBody>
          <a:bodyPr wrap="none">
            <a:spAutoFit/>
          </a:bodyPr>
          <a:lstStyle/>
          <a:p>
            <a:r>
              <a:rPr lang="en-US" sz="2800" dirty="0">
                <a:solidFill>
                  <a:schemeClr val="accent5">
                    <a:lumMod val="50000"/>
                  </a:schemeClr>
                </a:solidFill>
              </a:rPr>
              <a:t>Negative correlation </a:t>
            </a:r>
            <a:endParaRPr lang="pl-PL" sz="2800" dirty="0"/>
          </a:p>
        </p:txBody>
      </p:sp>
      <p:sp>
        <p:nvSpPr>
          <p:cNvPr id="9" name="Prostokąt 8"/>
          <p:cNvSpPr/>
          <p:nvPr/>
        </p:nvSpPr>
        <p:spPr>
          <a:xfrm>
            <a:off x="9627648" y="3702548"/>
            <a:ext cx="2361737" cy="523220"/>
          </a:xfrm>
          <a:prstGeom prst="rect">
            <a:avLst/>
          </a:prstGeom>
        </p:spPr>
        <p:txBody>
          <a:bodyPr wrap="none">
            <a:spAutoFit/>
          </a:bodyPr>
          <a:lstStyle/>
          <a:p>
            <a:r>
              <a:rPr lang="pl-PL" sz="2800" dirty="0">
                <a:solidFill>
                  <a:schemeClr val="accent5">
                    <a:lumMod val="50000"/>
                  </a:schemeClr>
                </a:solidFill>
              </a:rPr>
              <a:t>No</a:t>
            </a:r>
            <a:r>
              <a:rPr lang="en-US" sz="2800" dirty="0">
                <a:solidFill>
                  <a:schemeClr val="accent5">
                    <a:lumMod val="50000"/>
                  </a:schemeClr>
                </a:solidFill>
              </a:rPr>
              <a:t> correlation </a:t>
            </a:r>
            <a:endParaRPr lang="pl-PL" sz="2800" dirty="0"/>
          </a:p>
        </p:txBody>
      </p:sp>
      <p:sp>
        <p:nvSpPr>
          <p:cNvPr id="12" name="Prostokąt 11"/>
          <p:cNvSpPr/>
          <p:nvPr/>
        </p:nvSpPr>
        <p:spPr>
          <a:xfrm>
            <a:off x="189296" y="3828254"/>
            <a:ext cx="7867050" cy="2677656"/>
          </a:xfrm>
          <a:prstGeom prst="rect">
            <a:avLst/>
          </a:prstGeom>
        </p:spPr>
        <p:txBody>
          <a:bodyPr wrap="square">
            <a:spAutoFit/>
          </a:bodyPr>
          <a:lstStyle/>
          <a:p>
            <a:pPr algn="just"/>
            <a:r>
              <a:rPr lang="en-US" sz="2400" dirty="0">
                <a:solidFill>
                  <a:schemeClr val="accent5">
                    <a:lumMod val="50000"/>
                  </a:schemeClr>
                </a:solidFill>
              </a:rPr>
              <a:t>What is good for our firm? It depends on what we want to maximize/minimize (profit/risk)</a:t>
            </a:r>
            <a:r>
              <a:rPr lang="pl-PL" sz="2400" dirty="0">
                <a:solidFill>
                  <a:schemeClr val="accent5">
                    <a:lumMod val="50000"/>
                  </a:schemeClr>
                </a:solidFill>
              </a:rPr>
              <a:t> </a:t>
            </a:r>
            <a:r>
              <a:rPr lang="en-US" sz="2400" dirty="0">
                <a:solidFill>
                  <a:schemeClr val="accent5">
                    <a:lumMod val="50000"/>
                  </a:schemeClr>
                </a:solidFill>
              </a:rPr>
              <a:t>..... the problem will be continued on risk and uncertainty lecture. You should know how to use the moment statistics - classical (mean, </a:t>
            </a:r>
            <a:r>
              <a:rPr lang="en-US" sz="2400" dirty="0" err="1">
                <a:solidFill>
                  <a:schemeClr val="accent5">
                    <a:lumMod val="50000"/>
                  </a:schemeClr>
                </a:solidFill>
              </a:rPr>
              <a:t>sd</a:t>
            </a:r>
            <a:r>
              <a:rPr lang="en-US" sz="2400" dirty="0">
                <a:solidFill>
                  <a:schemeClr val="accent5">
                    <a:lumMod val="50000"/>
                  </a:schemeClr>
                </a:solidFill>
              </a:rPr>
              <a:t>), positional measures (median, quartiles, </a:t>
            </a:r>
            <a:r>
              <a:rPr lang="en-US" sz="2400" dirty="0" err="1">
                <a:solidFill>
                  <a:schemeClr val="accent5">
                    <a:lumMod val="50000"/>
                  </a:schemeClr>
                </a:solidFill>
              </a:rPr>
              <a:t>VaR</a:t>
            </a:r>
            <a:r>
              <a:rPr lang="en-US" sz="2400" dirty="0">
                <a:solidFill>
                  <a:schemeClr val="accent5">
                    <a:lumMod val="50000"/>
                  </a:schemeClr>
                </a:solidFill>
              </a:rPr>
              <a:t>) and stochastic dominance to estimate/compare the profitability and risk of the venture. </a:t>
            </a:r>
            <a:endParaRPr lang="pl-PL" sz="2400" dirty="0">
              <a:solidFill>
                <a:schemeClr val="accent5">
                  <a:lumMod val="50000"/>
                </a:schemeClr>
              </a:solidFill>
            </a:endParaRPr>
          </a:p>
        </p:txBody>
      </p:sp>
    </p:spTree>
    <p:extLst>
      <p:ext uri="{BB962C8B-B14F-4D97-AF65-F5344CB8AC3E}">
        <p14:creationId xmlns:p14="http://schemas.microsoft.com/office/powerpoint/2010/main" val="2092431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US" sz="4000" b="1" i="1" spc="-1" dirty="0">
                <a:solidFill>
                  <a:srgbClr val="215968"/>
                </a:solidFill>
                <a:uFill>
                  <a:solidFill>
                    <a:srgbClr val="FFFFFF"/>
                  </a:solidFill>
                </a:uFill>
                <a:ea typeface="DejaVu Sans"/>
              </a:rPr>
              <a:t>More practical example: risk estimation of business (continuations</a:t>
            </a:r>
            <a:r>
              <a:rPr lang="pl-PL" sz="4000" b="1" i="1" spc="-1" dirty="0">
                <a:solidFill>
                  <a:srgbClr val="215968"/>
                </a:solidFill>
                <a:uFill>
                  <a:solidFill>
                    <a:srgbClr val="FFFFFF"/>
                  </a:solidFill>
                </a:uFill>
                <a:ea typeface="DejaVu Sans"/>
              </a:rPr>
              <a:t> on </a:t>
            </a:r>
            <a:r>
              <a:rPr lang="pl-PL" sz="4000" b="1" i="1" spc="-1" dirty="0" err="1">
                <a:solidFill>
                  <a:srgbClr val="215968"/>
                </a:solidFill>
                <a:uFill>
                  <a:solidFill>
                    <a:srgbClr val="FFFFFF"/>
                  </a:solidFill>
                </a:uFill>
                <a:ea typeface="DejaVu Sans"/>
              </a:rPr>
              <a:t>exam</a:t>
            </a:r>
            <a:r>
              <a:rPr lang="en-US" sz="4000" b="1" i="1" spc="-1" dirty="0">
                <a:solidFill>
                  <a:srgbClr val="215968"/>
                </a:solidFill>
                <a:uFill>
                  <a:solidFill>
                    <a:srgbClr val="FFFFFF"/>
                  </a:solidFill>
                </a:uFill>
                <a:ea typeface="DejaVu Sans"/>
              </a:rPr>
              <a:t>)</a:t>
            </a:r>
          </a:p>
        </p:txBody>
      </p:sp>
      <p:sp>
        <p:nvSpPr>
          <p:cNvPr id="12" name="Prostokąt 11"/>
          <p:cNvSpPr/>
          <p:nvPr/>
        </p:nvSpPr>
        <p:spPr>
          <a:xfrm>
            <a:off x="265879" y="1285793"/>
            <a:ext cx="11417040" cy="5262979"/>
          </a:xfrm>
          <a:prstGeom prst="rect">
            <a:avLst/>
          </a:prstGeom>
        </p:spPr>
        <p:txBody>
          <a:bodyPr wrap="square">
            <a:spAutoFit/>
          </a:bodyPr>
          <a:lstStyle/>
          <a:p>
            <a:pPr algn="just"/>
            <a:r>
              <a:rPr lang="en-US" sz="2400" dirty="0">
                <a:solidFill>
                  <a:schemeClr val="accent5">
                    <a:lumMod val="50000"/>
                  </a:schemeClr>
                </a:solidFill>
              </a:rPr>
              <a:t>AI investments are very risky, especially since we do not have historical data to determine the time horizon in which we can expect profits and whether this is not a random pure speculation bubble similar to the dot.com craze. In your exam task, you must analyze the profitability of AI investments in an "unspecified" company. I will outline some framework in the task, but you can already think about how to do it, and you do not have to stick to my suggestions. You can also use other tools from today's lecture and, of course, from financial mathematics.</a:t>
            </a:r>
            <a:endParaRPr lang="pl-PL" sz="2400" dirty="0">
              <a:solidFill>
                <a:schemeClr val="accent5">
                  <a:lumMod val="50000"/>
                </a:schemeClr>
              </a:solidFill>
            </a:endParaRPr>
          </a:p>
          <a:p>
            <a:pPr algn="just"/>
            <a:endParaRPr lang="pl-PL" sz="2400" dirty="0">
              <a:solidFill>
                <a:schemeClr val="accent5">
                  <a:lumMod val="50000"/>
                </a:schemeClr>
              </a:solidFill>
            </a:endParaRPr>
          </a:p>
          <a:p>
            <a:pPr algn="just"/>
            <a:endParaRPr lang="en-US" sz="2400" dirty="0">
              <a:solidFill>
                <a:schemeClr val="accent5">
                  <a:lumMod val="50000"/>
                </a:schemeClr>
              </a:solidFill>
            </a:endParaRPr>
          </a:p>
          <a:p>
            <a:pPr algn="just"/>
            <a:r>
              <a:rPr lang="en-US" sz="2400" dirty="0">
                <a:solidFill>
                  <a:schemeClr val="accent5">
                    <a:lumMod val="50000"/>
                  </a:schemeClr>
                </a:solidFill>
              </a:rPr>
              <a:t>It would help if you used the classical/moment statistics -  (mean, </a:t>
            </a:r>
            <a:r>
              <a:rPr lang="en-US" sz="2400" dirty="0" err="1">
                <a:solidFill>
                  <a:schemeClr val="accent5">
                    <a:lumMod val="50000"/>
                  </a:schemeClr>
                </a:solidFill>
              </a:rPr>
              <a:t>sd</a:t>
            </a:r>
            <a:r>
              <a:rPr lang="en-US" sz="2400" dirty="0">
                <a:solidFill>
                  <a:schemeClr val="accent5">
                    <a:lumMod val="50000"/>
                  </a:schemeClr>
                </a:solidFill>
              </a:rPr>
              <a:t>), positional measures (median, quartiles, </a:t>
            </a:r>
            <a:r>
              <a:rPr lang="en-US" sz="2400" dirty="0" err="1">
                <a:solidFill>
                  <a:schemeClr val="accent5">
                    <a:lumMod val="50000"/>
                  </a:schemeClr>
                </a:solidFill>
              </a:rPr>
              <a:t>VaR</a:t>
            </a:r>
            <a:r>
              <a:rPr lang="en-US" sz="2400" dirty="0">
                <a:solidFill>
                  <a:schemeClr val="accent5">
                    <a:lumMod val="50000"/>
                  </a:schemeClr>
                </a:solidFill>
              </a:rPr>
              <a:t>) and stochastic dominance to estimate/compare the profitability and risk of the venture. </a:t>
            </a:r>
            <a:r>
              <a:rPr lang="pl-PL" sz="2400" dirty="0">
                <a:solidFill>
                  <a:schemeClr val="accent5">
                    <a:lumMod val="50000"/>
                  </a:schemeClr>
                </a:solidFill>
              </a:rPr>
              <a:t>U</a:t>
            </a:r>
            <a:r>
              <a:rPr lang="en-US" sz="2400" dirty="0">
                <a:solidFill>
                  <a:schemeClr val="accent5">
                    <a:lumMod val="50000"/>
                  </a:schemeClr>
                </a:solidFill>
              </a:rPr>
              <a:t>se: </a:t>
            </a:r>
            <a:r>
              <a:rPr lang="pl-PL" sz="2400" dirty="0">
                <a:solidFill>
                  <a:schemeClr val="accent5">
                    <a:lumMod val="50000"/>
                  </a:schemeClr>
                </a:solidFill>
              </a:rPr>
              <a:t>my </a:t>
            </a:r>
            <a:r>
              <a:rPr lang="pl-PL" sz="2400" dirty="0" err="1">
                <a:solidFill>
                  <a:schemeClr val="accent5">
                    <a:lumMod val="50000"/>
                  </a:schemeClr>
                </a:solidFill>
              </a:rPr>
              <a:t>codes</a:t>
            </a:r>
            <a:r>
              <a:rPr lang="pl-PL" sz="2400" dirty="0">
                <a:solidFill>
                  <a:schemeClr val="accent5">
                    <a:lumMod val="50000"/>
                  </a:schemeClr>
                </a:solidFill>
              </a:rPr>
              <a:t> </a:t>
            </a:r>
            <a:r>
              <a:rPr lang="en-US" sz="2400" dirty="0">
                <a:solidFill>
                  <a:schemeClr val="accent5">
                    <a:lumMod val="50000"/>
                  </a:schemeClr>
                </a:solidFill>
              </a:rPr>
              <a:t>and master thesis</a:t>
            </a:r>
            <a:r>
              <a:rPr lang="pl-PL" sz="2400" dirty="0">
                <a:solidFill>
                  <a:schemeClr val="accent5">
                    <a:lumMod val="50000"/>
                  </a:schemeClr>
                </a:solidFill>
              </a:rPr>
              <a:t> by Bartosz Głowacki</a:t>
            </a:r>
            <a:r>
              <a:rPr lang="en-US" sz="2400" dirty="0">
                <a:solidFill>
                  <a:schemeClr val="accent5">
                    <a:lumMod val="50000"/>
                  </a:schemeClr>
                </a:solidFill>
              </a:rPr>
              <a:t>, see chapters 3 and 4 ( the new version of the MC </a:t>
            </a:r>
            <a:r>
              <a:rPr lang="pl-PL" sz="2400" dirty="0">
                <a:solidFill>
                  <a:schemeClr val="accent5">
                    <a:lumMod val="50000"/>
                  </a:schemeClr>
                </a:solidFill>
              </a:rPr>
              <a:t>from the </a:t>
            </a:r>
            <a:r>
              <a:rPr lang="pl-PL" sz="2400" dirty="0" err="1">
                <a:solidFill>
                  <a:schemeClr val="accent5">
                    <a:lumMod val="50000"/>
                  </a:schemeClr>
                </a:solidFill>
              </a:rPr>
              <a:t>thesis</a:t>
            </a:r>
            <a:r>
              <a:rPr lang="pl-PL" sz="2400" dirty="0">
                <a:solidFill>
                  <a:schemeClr val="accent5">
                    <a:lumMod val="50000"/>
                  </a:schemeClr>
                </a:solidFill>
              </a:rPr>
              <a:t> </a:t>
            </a:r>
            <a:r>
              <a:rPr lang="en-US" sz="2400" dirty="0">
                <a:solidFill>
                  <a:schemeClr val="accent5">
                    <a:lumMod val="50000"/>
                  </a:schemeClr>
                </a:solidFill>
              </a:rPr>
              <a:t>was used to apply </a:t>
            </a:r>
            <a:r>
              <a:rPr lang="pl-PL" sz="2400" dirty="0">
                <a:solidFill>
                  <a:schemeClr val="accent5">
                    <a:lumMod val="50000"/>
                  </a:schemeClr>
                </a:solidFill>
              </a:rPr>
              <a:t>for a grant to</a:t>
            </a:r>
            <a:r>
              <a:rPr lang="en-US" sz="2400" dirty="0">
                <a:solidFill>
                  <a:schemeClr val="accent5">
                    <a:lumMod val="50000"/>
                  </a:schemeClr>
                </a:solidFill>
              </a:rPr>
              <a:t> finance the venture - with success)</a:t>
            </a:r>
          </a:p>
        </p:txBody>
      </p:sp>
    </p:spTree>
    <p:extLst>
      <p:ext uri="{BB962C8B-B14F-4D97-AF65-F5344CB8AC3E}">
        <p14:creationId xmlns:p14="http://schemas.microsoft.com/office/powerpoint/2010/main" val="1227310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S</a:t>
            </a:r>
            <a:r>
              <a:rPr lang="en-US" sz="4000" b="1" dirty="0" err="1">
                <a:solidFill>
                  <a:schemeClr val="accent5">
                    <a:lumMod val="50000"/>
                  </a:schemeClr>
                </a:solidFill>
              </a:rPr>
              <a:t>tochastic</a:t>
            </a:r>
            <a:r>
              <a:rPr lang="en-US" sz="4000" b="1" dirty="0">
                <a:solidFill>
                  <a:schemeClr val="accent5">
                    <a:lumMod val="50000"/>
                  </a:schemeClr>
                </a:solidFill>
              </a:rPr>
              <a:t> dominance </a:t>
            </a:r>
            <a:r>
              <a:rPr lang="pl-PL" sz="4000" b="1" dirty="0">
                <a:solidFill>
                  <a:schemeClr val="accent5">
                    <a:lumMod val="50000"/>
                  </a:schemeClr>
                </a:solidFill>
              </a:rPr>
              <a:t>on </a:t>
            </a:r>
            <a:r>
              <a:rPr lang="en-US" sz="4000" b="1" dirty="0">
                <a:solidFill>
                  <a:schemeClr val="accent5">
                    <a:lumMod val="50000"/>
                  </a:schemeClr>
                </a:solidFill>
              </a:rPr>
              <a:t>order 1 - 4</a:t>
            </a:r>
          </a:p>
        </p:txBody>
      </p:sp>
      <mc:AlternateContent xmlns:mc="http://schemas.openxmlformats.org/markup-compatibility/2006">
        <mc:Choice xmlns:a14="http://schemas.microsoft.com/office/drawing/2010/main" Requires="a14">
          <p:sp>
            <p:nvSpPr>
              <p:cNvPr id="2" name="Prostokąt 1"/>
              <p:cNvSpPr/>
              <p:nvPr/>
            </p:nvSpPr>
            <p:spPr>
              <a:xfrm>
                <a:off x="330740" y="1231371"/>
                <a:ext cx="8550613" cy="5675913"/>
              </a:xfrm>
              <a:prstGeom prst="rect">
                <a:avLst/>
              </a:prstGeom>
            </p:spPr>
            <p:txBody>
              <a:bodyPr wrap="square">
                <a:spAutoFit/>
              </a:bodyPr>
              <a:lstStyle/>
              <a:p>
                <a:r>
                  <a:rPr lang="en-US" sz="2800" dirty="0">
                    <a:solidFill>
                      <a:schemeClr val="accent5">
                        <a:lumMod val="50000"/>
                      </a:schemeClr>
                    </a:solidFill>
                  </a:rPr>
                  <a:t>In finance, instead of lottery, we analyze the random variable</a:t>
                </a:r>
                <a:r>
                  <a:rPr lang="pl-PL" sz="2800" dirty="0">
                    <a:solidFill>
                      <a:schemeClr val="accent5">
                        <a:lumMod val="50000"/>
                      </a:schemeClr>
                    </a:solidFill>
                  </a:rPr>
                  <a:t>:  </a:t>
                </a:r>
                <a:r>
                  <a:rPr lang="en-US" sz="2800" dirty="0">
                    <a:solidFill>
                      <a:schemeClr val="accent5">
                        <a:lumMod val="50000"/>
                      </a:schemeClr>
                    </a:solidFill>
                  </a:rPr>
                  <a:t>(cash payoffs</a:t>
                </a:r>
                <a:r>
                  <a:rPr lang="pl-PL" sz="2800" dirty="0">
                    <a:solidFill>
                      <a:schemeClr val="accent5">
                        <a:lumMod val="50000"/>
                      </a:schemeClr>
                    </a:solidFill>
                  </a:rPr>
                  <a:t> </a:t>
                </a:r>
                <a:r>
                  <a:rPr lang="pl-PL" sz="2800" dirty="0" err="1">
                    <a:solidFill>
                      <a:schemeClr val="accent5">
                        <a:lumMod val="50000"/>
                      </a:schemeClr>
                    </a:solidFill>
                  </a:rPr>
                  <a:t>or</a:t>
                </a:r>
                <a:r>
                  <a:rPr lang="pl-PL" sz="2800" dirty="0">
                    <a:solidFill>
                      <a:schemeClr val="accent5">
                        <a:lumMod val="50000"/>
                      </a:schemeClr>
                    </a:solidFill>
                  </a:rPr>
                  <a:t> </a:t>
                </a:r>
                <a:r>
                  <a:rPr lang="pl-PL" sz="2800" dirty="0" err="1">
                    <a:solidFill>
                      <a:schemeClr val="accent5">
                        <a:lumMod val="50000"/>
                      </a:schemeClr>
                    </a:solidFill>
                  </a:rPr>
                  <a:t>mainly</a:t>
                </a:r>
                <a:r>
                  <a:rPr lang="en-US" sz="2800" dirty="0">
                    <a:solidFill>
                      <a:schemeClr val="accent5">
                        <a:lumMod val="50000"/>
                      </a:schemeClr>
                    </a:solidFill>
                  </a:rPr>
                  <a:t> returns</a:t>
                </a:r>
                <a:r>
                  <a:rPr lang="pl-PL" sz="2800" dirty="0">
                    <a:solidFill>
                      <a:schemeClr val="accent5">
                        <a:lumMod val="50000"/>
                      </a:schemeClr>
                    </a:solidFill>
                  </a:rPr>
                  <a:t> r </a:t>
                </a:r>
                <a:r>
                  <a:rPr lang="en-US" sz="2800" dirty="0">
                    <a:solidFill>
                      <a:schemeClr val="accent5">
                        <a:lumMod val="50000"/>
                      </a:schemeClr>
                    </a:solidFill>
                  </a:rPr>
                  <a:t>)</a:t>
                </a:r>
                <a:r>
                  <a:rPr lang="pl-PL" sz="2800" dirty="0">
                    <a:solidFill>
                      <a:schemeClr val="accent5">
                        <a:lumMod val="50000"/>
                      </a:schemeClr>
                    </a:solidFill>
                  </a:rPr>
                  <a:t> </a:t>
                </a:r>
                <a:r>
                  <a:rPr lang="en-US" sz="2800" dirty="0">
                    <a:solidFill>
                      <a:schemeClr val="accent5">
                        <a:lumMod val="50000"/>
                      </a:schemeClr>
                    </a:solidFill>
                  </a:rPr>
                  <a:t>.</a:t>
                </a:r>
                <a:endParaRPr lang="pl-PL" sz="2800" dirty="0">
                  <a:solidFill>
                    <a:schemeClr val="accent5">
                      <a:lumMod val="50000"/>
                    </a:schemeClr>
                  </a:solidFill>
                </a:endParaRPr>
              </a:p>
              <a:p>
                <a:endParaRPr lang="en-US" sz="2800" dirty="0">
                  <a:solidFill>
                    <a:schemeClr val="accent5">
                      <a:lumMod val="50000"/>
                    </a:schemeClr>
                  </a:solidFill>
                </a:endParaRPr>
              </a:p>
              <a:p>
                <a:pPr algn="ctr"/>
                <a14:m>
                  <m:oMathPara xmlns:m="http://schemas.openxmlformats.org/officeDocument/2006/math">
                    <m:oMathParaPr>
                      <m:jc m:val="centerGroup"/>
                    </m:oMathParaPr>
                    <m:oMath xmlns:m="http://schemas.openxmlformats.org/officeDocument/2006/math">
                      <m:r>
                        <a:rPr lang="pl-PL" sz="2800" b="0" i="1" dirty="0" smtClean="0">
                          <a:solidFill>
                            <a:schemeClr val="accent5">
                              <a:lumMod val="50000"/>
                            </a:schemeClr>
                          </a:solidFill>
                          <a:latin typeface="Cambria Math" panose="02040503050406030204" pitchFamily="18" charset="0"/>
                        </a:rPr>
                        <m:t> </m:t>
                      </m:r>
                      <m:r>
                        <a:rPr lang="pl-PL" sz="2800" b="0" i="1" dirty="0" smtClean="0">
                          <a:solidFill>
                            <a:schemeClr val="accent5">
                              <a:lumMod val="50000"/>
                            </a:schemeClr>
                          </a:solidFill>
                          <a:latin typeface="Cambria Math" panose="02040503050406030204" pitchFamily="18" charset="0"/>
                        </a:rPr>
                        <m:t>𝑟</m:t>
                      </m:r>
                      <m:r>
                        <a:rPr lang="en-US" sz="2800" i="1" dirty="0" smtClean="0">
                          <a:solidFill>
                            <a:schemeClr val="accent5">
                              <a:lumMod val="50000"/>
                            </a:schemeClr>
                          </a:solidFill>
                          <a:latin typeface="Cambria Math" panose="02040503050406030204" pitchFamily="18" charset="0"/>
                        </a:rPr>
                        <m:t>= </m:t>
                      </m:r>
                      <m:r>
                        <a:rPr lang="en-US" sz="2800" i="1" dirty="0" err="1">
                          <a:solidFill>
                            <a:schemeClr val="accent5">
                              <a:lumMod val="50000"/>
                            </a:schemeClr>
                          </a:solidFill>
                          <a:latin typeface="Cambria Math" panose="02040503050406030204" pitchFamily="18" charset="0"/>
                        </a:rPr>
                        <m:t>𝑙𝑛</m:t>
                      </m:r>
                      <m:sSub>
                        <m:sSubPr>
                          <m:ctrlPr>
                            <a:rPr lang="en-US" sz="2800" i="1" dirty="0" smtClean="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sub>
                      </m:sSub>
                      <m:r>
                        <a:rPr lang="en-US" sz="2800" i="1" dirty="0">
                          <a:solidFill>
                            <a:schemeClr val="accent5">
                              <a:lumMod val="50000"/>
                            </a:schemeClr>
                          </a:solidFill>
                          <a:latin typeface="Cambria Math" panose="02040503050406030204" pitchFamily="18" charset="0"/>
                        </a:rPr>
                        <m:t> − </m:t>
                      </m:r>
                      <m:sSub>
                        <m:sSubPr>
                          <m:ctrlPr>
                            <a:rPr lang="en-US" sz="2800" i="1" dirty="0" smtClean="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𝑙𝑛𝑝</m:t>
                          </m:r>
                        </m:e>
                        <m:sub>
                          <m:r>
                            <a:rPr lang="en-US" sz="2800" i="1" dirty="0">
                              <a:solidFill>
                                <a:schemeClr val="accent5">
                                  <a:lumMod val="50000"/>
                                </a:schemeClr>
                              </a:solidFill>
                              <a:latin typeface="Cambria Math" panose="02040503050406030204" pitchFamily="18" charset="0"/>
                            </a:rPr>
                            <m:t>𝑡</m:t>
                          </m:r>
                          <m:r>
                            <a:rPr lang="en-US" sz="2800" i="1" dirty="0">
                              <a:solidFill>
                                <a:schemeClr val="accent5">
                                  <a:lumMod val="50000"/>
                                </a:schemeClr>
                              </a:solidFill>
                              <a:latin typeface="Cambria Math" panose="02040503050406030204" pitchFamily="18" charset="0"/>
                            </a:rPr>
                            <m:t>−1</m:t>
                          </m:r>
                          <m:r>
                            <m:rPr>
                              <m:nor/>
                            </m:rPr>
                            <a:rPr lang="pl-PL" sz="2800" dirty="0">
                              <a:solidFill>
                                <a:schemeClr val="accent5">
                                  <a:lumMod val="50000"/>
                                </a:schemeClr>
                              </a:solidFill>
                            </a:rPr>
                            <m:t> </m:t>
                          </m:r>
                          <m:r>
                            <m:rPr>
                              <m:nor/>
                            </m:rPr>
                            <a:rPr lang="en-US" sz="2800" dirty="0">
                              <a:solidFill>
                                <a:schemeClr val="accent5">
                                  <a:lumMod val="50000"/>
                                </a:schemeClr>
                              </a:solidFill>
                            </a:rPr>
                            <m:t> </m:t>
                          </m:r>
                        </m:sub>
                      </m:sSub>
                      <m:r>
                        <a:rPr lang="pl-PL" sz="2800" b="0" i="1" dirty="0" smtClean="0">
                          <a:solidFill>
                            <a:schemeClr val="accent5">
                              <a:lumMod val="50000"/>
                            </a:schemeClr>
                          </a:solidFill>
                          <a:latin typeface="Cambria Math" panose="02040503050406030204" pitchFamily="18" charset="0"/>
                        </a:rPr>
                        <m:t>~ </m:t>
                      </m:r>
                      <m:f>
                        <m:fPr>
                          <m:ctrlPr>
                            <a:rPr lang="pl-PL" sz="2800" b="0" i="1" dirty="0" smtClean="0">
                              <a:solidFill>
                                <a:schemeClr val="accent5">
                                  <a:lumMod val="50000"/>
                                </a:schemeClr>
                              </a:solidFill>
                              <a:latin typeface="Cambria Math" panose="02040503050406030204" pitchFamily="18" charset="0"/>
                            </a:rPr>
                          </m:ctrlPr>
                        </m:fPr>
                        <m:num>
                          <m:sSub>
                            <m:sSubPr>
                              <m:ctrlPr>
                                <a:rPr lang="en-US" sz="2800" i="1" dirty="0" smtClean="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sub>
                          </m:sSub>
                          <m:r>
                            <a:rPr lang="pl-PL" sz="2800" b="0" i="1" dirty="0" smtClean="0">
                              <a:solidFill>
                                <a:schemeClr val="accent5">
                                  <a:lumMod val="50000"/>
                                </a:schemeClr>
                              </a:solidFill>
                              <a:latin typeface="Cambria Math" panose="02040503050406030204" pitchFamily="18" charset="0"/>
                            </a:rPr>
                            <m:t>−</m:t>
                          </m:r>
                          <m:sSub>
                            <m:sSubPr>
                              <m:ctrlPr>
                                <a:rPr lang="en-US" sz="2800" i="1" dirty="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r>
                                <a:rPr lang="en-US" sz="2800" i="1" dirty="0">
                                  <a:solidFill>
                                    <a:schemeClr val="accent5">
                                      <a:lumMod val="50000"/>
                                    </a:schemeClr>
                                  </a:solidFill>
                                  <a:latin typeface="Cambria Math" panose="02040503050406030204" pitchFamily="18" charset="0"/>
                                </a:rPr>
                                <m:t>−1</m:t>
                              </m:r>
                              <m:r>
                                <m:rPr>
                                  <m:nor/>
                                </m:rPr>
                                <a:rPr lang="pl-PL" sz="2800" dirty="0">
                                  <a:solidFill>
                                    <a:schemeClr val="accent5">
                                      <a:lumMod val="50000"/>
                                    </a:schemeClr>
                                  </a:solidFill>
                                </a:rPr>
                                <m:t> </m:t>
                              </m:r>
                              <m:r>
                                <m:rPr>
                                  <m:nor/>
                                </m:rPr>
                                <a:rPr lang="en-US" sz="2800" dirty="0">
                                  <a:solidFill>
                                    <a:schemeClr val="accent5">
                                      <a:lumMod val="50000"/>
                                    </a:schemeClr>
                                  </a:solidFill>
                                </a:rPr>
                                <m:t> </m:t>
                              </m:r>
                            </m:sub>
                          </m:sSub>
                        </m:num>
                        <m:den>
                          <m:sSub>
                            <m:sSubPr>
                              <m:ctrlPr>
                                <a:rPr lang="en-US" sz="2800" i="1" dirty="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r>
                                <a:rPr lang="en-US" sz="2800" i="1" dirty="0">
                                  <a:solidFill>
                                    <a:schemeClr val="accent5">
                                      <a:lumMod val="50000"/>
                                    </a:schemeClr>
                                  </a:solidFill>
                                  <a:latin typeface="Cambria Math" panose="02040503050406030204" pitchFamily="18" charset="0"/>
                                </a:rPr>
                                <m:t>−1</m:t>
                              </m:r>
                              <m:r>
                                <m:rPr>
                                  <m:nor/>
                                </m:rPr>
                                <a:rPr lang="pl-PL" sz="2800" dirty="0">
                                  <a:solidFill>
                                    <a:schemeClr val="accent5">
                                      <a:lumMod val="50000"/>
                                    </a:schemeClr>
                                  </a:solidFill>
                                </a:rPr>
                                <m:t> </m:t>
                              </m:r>
                              <m:r>
                                <m:rPr>
                                  <m:nor/>
                                </m:rPr>
                                <a:rPr lang="en-US" sz="2800" dirty="0">
                                  <a:solidFill>
                                    <a:schemeClr val="accent5">
                                      <a:lumMod val="50000"/>
                                    </a:schemeClr>
                                  </a:solidFill>
                                </a:rPr>
                                <m:t> </m:t>
                              </m:r>
                            </m:sub>
                          </m:sSub>
                        </m:den>
                      </m:f>
                      <m:r>
                        <a:rPr lang="pl-PL" sz="2800" b="0" i="1" dirty="0" smtClean="0">
                          <a:solidFill>
                            <a:schemeClr val="accent5">
                              <a:lumMod val="50000"/>
                            </a:schemeClr>
                          </a:solidFill>
                          <a:latin typeface="Cambria Math" panose="02040503050406030204" pitchFamily="18" charset="0"/>
                        </a:rPr>
                        <m:t> </m:t>
                      </m:r>
                    </m:oMath>
                  </m:oMathPara>
                </a14:m>
                <a:endParaRPr lang="pl-PL" sz="2800" i="1" dirty="0">
                  <a:solidFill>
                    <a:schemeClr val="accent5">
                      <a:lumMod val="50000"/>
                    </a:schemeClr>
                  </a:solidFill>
                  <a:latin typeface="Cambria Math" panose="02040503050406030204" pitchFamily="18" charset="0"/>
                </a:endParaRPr>
              </a:p>
              <a:p>
                <a:pPr algn="ctr"/>
                <a:endParaRPr lang="pl-PL" sz="2800" i="1" dirty="0">
                  <a:solidFill>
                    <a:schemeClr val="accent5">
                      <a:lumMod val="50000"/>
                    </a:schemeClr>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pl-PL" sz="2800" i="1" dirty="0">
                          <a:solidFill>
                            <a:schemeClr val="accent5">
                              <a:lumMod val="50000"/>
                            </a:schemeClr>
                          </a:solidFill>
                          <a:latin typeface="Cambria Math" panose="02040503050406030204" pitchFamily="18" charset="0"/>
                        </a:rPr>
                        <m:t>[</m:t>
                      </m:r>
                      <m:sSub>
                        <m:sSubPr>
                          <m:ctrlPr>
                            <a:rPr lang="en-US" sz="2800" i="1" dirty="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sub>
                      </m:sSub>
                      <m:r>
                        <a:rPr lang="pl-PL" sz="2800" b="0" i="1" dirty="0" smtClean="0">
                          <a:solidFill>
                            <a:schemeClr val="accent5">
                              <a:lumMod val="50000"/>
                            </a:schemeClr>
                          </a:solidFill>
                          <a:latin typeface="Cambria Math" panose="02040503050406030204" pitchFamily="18" charset="0"/>
                        </a:rPr>
                        <m:t> − </m:t>
                      </m:r>
                      <m:r>
                        <a:rPr lang="pl-PL" sz="2800" i="1" dirty="0">
                          <a:solidFill>
                            <a:schemeClr val="accent5">
                              <a:lumMod val="50000"/>
                            </a:schemeClr>
                          </a:solidFill>
                          <a:latin typeface="Cambria Math" panose="02040503050406030204" pitchFamily="18" charset="0"/>
                        </a:rPr>
                        <m:t>𝑝𝑟𝑖𝑐𝑒</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𝑜𝑓</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𝑎𝑛</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𝑎𝑠𝑠𝑒𝑡</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𝑖𝑛</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𝑡𝑖𝑚𝑒</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𝑡</m:t>
                      </m:r>
                      <m:r>
                        <a:rPr lang="pl-PL" sz="2800" i="1" dirty="0">
                          <a:solidFill>
                            <a:schemeClr val="accent5">
                              <a:lumMod val="50000"/>
                            </a:schemeClr>
                          </a:solidFill>
                          <a:latin typeface="Cambria Math" panose="02040503050406030204" pitchFamily="18" charset="0"/>
                        </a:rPr>
                        <m:t>]</m:t>
                      </m:r>
                    </m:oMath>
                  </m:oMathPara>
                </a14:m>
                <a:endParaRPr lang="pl-PL" sz="2800" dirty="0">
                  <a:solidFill>
                    <a:schemeClr val="accent5">
                      <a:lumMod val="50000"/>
                    </a:schemeClr>
                  </a:solidFill>
                </a:endParaRPr>
              </a:p>
              <a:p>
                <a:pPr algn="just"/>
                <a:endParaRPr lang="pl-PL" sz="2800" dirty="0">
                  <a:solidFill>
                    <a:schemeClr val="accent5">
                      <a:lumMod val="50000"/>
                    </a:schemeClr>
                  </a:solidFill>
                </a:endParaRPr>
              </a:p>
              <a:p>
                <a:pPr algn="just"/>
                <a:r>
                  <a:rPr lang="pl-PL" sz="2800" dirty="0">
                    <a:solidFill>
                      <a:schemeClr val="accent5">
                        <a:lumMod val="50000"/>
                      </a:schemeClr>
                    </a:solidFill>
                  </a:rPr>
                  <a:t>T</a:t>
                </a:r>
                <a:r>
                  <a:rPr lang="en-US" sz="2800" dirty="0">
                    <a:solidFill>
                      <a:schemeClr val="accent5">
                        <a:lumMod val="50000"/>
                      </a:schemeClr>
                    </a:solidFill>
                  </a:rPr>
                  <a:t>hen</a:t>
                </a:r>
                <a:r>
                  <a:rPr lang="pl-PL" sz="2800" dirty="0">
                    <a:solidFill>
                      <a:schemeClr val="accent5">
                        <a:lumMod val="50000"/>
                      </a:schemeClr>
                    </a:solidFill>
                  </a:rPr>
                  <a:t> we </a:t>
                </a:r>
                <a:r>
                  <a:rPr lang="pl-PL" sz="2800" dirty="0" err="1">
                    <a:solidFill>
                      <a:schemeClr val="accent5">
                        <a:lumMod val="50000"/>
                      </a:schemeClr>
                    </a:solidFill>
                  </a:rPr>
                  <a:t>can</a:t>
                </a:r>
                <a:r>
                  <a:rPr lang="pl-PL" sz="2800" dirty="0">
                    <a:solidFill>
                      <a:schemeClr val="accent5">
                        <a:lumMod val="50000"/>
                      </a:schemeClr>
                    </a:solidFill>
                  </a:rPr>
                  <a:t> </a:t>
                </a:r>
                <a:r>
                  <a:rPr lang="en-US" sz="2800" dirty="0">
                    <a:solidFill>
                      <a:schemeClr val="accent5">
                        <a:lumMod val="50000"/>
                      </a:schemeClr>
                    </a:solidFill>
                  </a:rPr>
                  <a:t>compare the financial assets. Usually, we simplify it to two-dimensional space (mean, variance). We assume that these statistics will be constant over time and on this basis, we conclude which of them is "better." We can apply stochastic dominance (order 1 - 4)</a:t>
                </a:r>
              </a:p>
            </p:txBody>
          </p:sp>
        </mc:Choice>
        <mc:Fallback>
          <p:sp>
            <p:nvSpPr>
              <p:cNvPr id="2" name="Prostokąt 1"/>
              <p:cNvSpPr>
                <a:spLocks noRot="1" noChangeAspect="1" noMove="1" noResize="1" noEditPoints="1" noAdjustHandles="1" noChangeArrowheads="1" noChangeShapeType="1" noTextEdit="1"/>
              </p:cNvSpPr>
              <p:nvPr/>
            </p:nvSpPr>
            <p:spPr>
              <a:xfrm>
                <a:off x="330740" y="1231371"/>
                <a:ext cx="8550613" cy="5675913"/>
              </a:xfrm>
              <a:prstGeom prst="rect">
                <a:avLst/>
              </a:prstGeom>
              <a:blipFill>
                <a:blip r:embed="rId3"/>
                <a:stretch>
                  <a:fillRect l="-1426" t="-1074" r="-1497" b="-1504"/>
                </a:stretch>
              </a:blipFill>
            </p:spPr>
            <p:txBody>
              <a:bodyPr/>
              <a:lstStyle/>
              <a:p>
                <a:r>
                  <a:rPr lang="pl-PL">
                    <a:noFill/>
                  </a:rPr>
                  <a:t> </a:t>
                </a:r>
              </a:p>
            </p:txBody>
          </p:sp>
        </mc:Fallback>
      </mc:AlternateContent>
      <p:pic>
        <p:nvPicPr>
          <p:cNvPr id="3" name="Picture 2">
            <a:extLst>
              <a:ext uri="{FF2B5EF4-FFF2-40B4-BE49-F238E27FC236}">
                <a16:creationId xmlns:a16="http://schemas.microsoft.com/office/drawing/2014/main" id="{E1A1A21E-1B66-0421-C927-880C5E711038}"/>
              </a:ext>
            </a:extLst>
          </p:cNvPr>
          <p:cNvPicPr>
            <a:picLocks noChangeAspect="1"/>
          </p:cNvPicPr>
          <p:nvPr/>
        </p:nvPicPr>
        <p:blipFill>
          <a:blip r:embed="rId4"/>
          <a:stretch>
            <a:fillRect/>
          </a:stretch>
        </p:blipFill>
        <p:spPr>
          <a:xfrm>
            <a:off x="8754894" y="1976420"/>
            <a:ext cx="3006108" cy="2238117"/>
          </a:xfrm>
          <a:prstGeom prst="rect">
            <a:avLst/>
          </a:prstGeom>
        </p:spPr>
      </p:pic>
    </p:spTree>
    <p:extLst>
      <p:ext uri="{BB962C8B-B14F-4D97-AF65-F5344CB8AC3E}">
        <p14:creationId xmlns:p14="http://schemas.microsoft.com/office/powerpoint/2010/main" val="2556940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4"/>
          <p:cNvPicPr>
            <a:picLocks noChangeAspect="1" noChangeArrowheads="1"/>
          </p:cNvPicPr>
          <p:nvPr/>
        </p:nvPicPr>
        <p:blipFill>
          <a:blip r:embed="rId3" cstate="print"/>
          <a:srcRect/>
          <a:stretch>
            <a:fillRect/>
          </a:stretch>
        </p:blipFill>
        <p:spPr bwMode="auto">
          <a:xfrm>
            <a:off x="886379" y="1137549"/>
            <a:ext cx="3015783" cy="1733826"/>
          </a:xfrm>
          <a:prstGeom prst="rect">
            <a:avLst/>
          </a:prstGeom>
          <a:noFill/>
          <a:ln w="9525">
            <a:noFill/>
            <a:miter lim="800000"/>
            <a:headEnd/>
            <a:tailEnd/>
          </a:ln>
        </p:spPr>
      </p:pic>
      <p:sp>
        <p:nvSpPr>
          <p:cNvPr id="42" name="pole tekstowe 41"/>
          <p:cNvSpPr txBox="1"/>
          <p:nvPr/>
        </p:nvSpPr>
        <p:spPr>
          <a:xfrm>
            <a:off x="4664116" y="1100138"/>
            <a:ext cx="3083508" cy="646331"/>
          </a:xfrm>
          <a:prstGeom prst="rect">
            <a:avLst/>
          </a:prstGeom>
          <a:noFill/>
        </p:spPr>
        <p:txBody>
          <a:bodyPr wrap="square">
            <a:spAutoFit/>
          </a:bodyPr>
          <a:lstStyle/>
          <a:p>
            <a:pPr algn="ctr">
              <a:defRPr/>
            </a:pPr>
            <a:r>
              <a:rPr lang="pl-PL" dirty="0">
                <a:solidFill>
                  <a:schemeClr val="accent1">
                    <a:lumMod val="50000"/>
                  </a:schemeClr>
                </a:solidFill>
              </a:rPr>
              <a:t>a </a:t>
            </a:r>
            <a:r>
              <a:rPr lang="pl-PL" dirty="0">
                <a:solidFill>
                  <a:schemeClr val="accent1">
                    <a:lumMod val="50000"/>
                  </a:schemeClr>
                </a:solidFill>
                <a:latin typeface="Cambria Math"/>
                <a:ea typeface="Cambria Math"/>
                <a:sym typeface="Mathematica3"/>
              </a:rPr>
              <a:t>≻</a:t>
            </a:r>
            <a:r>
              <a:rPr lang="pl-PL" dirty="0">
                <a:solidFill>
                  <a:schemeClr val="accent1">
                    <a:lumMod val="50000"/>
                  </a:schemeClr>
                </a:solidFill>
                <a:sym typeface="Mathematica3"/>
              </a:rPr>
              <a:t> b </a:t>
            </a:r>
          </a:p>
          <a:p>
            <a:pPr algn="ctr">
              <a:defRPr/>
            </a:pP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a</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&gt; </a:t>
            </a: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b</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and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a</a:t>
            </a:r>
            <a:r>
              <a:rPr lang="pl-PL" dirty="0">
                <a:solidFill>
                  <a:schemeClr val="accent1">
                    <a:lumMod val="50000"/>
                  </a:schemeClr>
                </a:solidFill>
                <a:cs typeface="Times New Roman" pitchFamily="18" charset="0"/>
              </a:rPr>
              <a:t> </a:t>
            </a:r>
            <a:r>
              <a:rPr lang="pl-PL" baseline="30000" dirty="0">
                <a:solidFill>
                  <a:schemeClr val="accent1">
                    <a:lumMod val="50000"/>
                  </a:schemeClr>
                </a:solidFill>
                <a:cs typeface="Times New Roman" pitchFamily="18" charset="0"/>
              </a:rPr>
              <a:t> </a:t>
            </a:r>
            <a:r>
              <a:rPr lang="pl-PL" dirty="0">
                <a:solidFill>
                  <a:schemeClr val="accent1">
                    <a:lumMod val="50000"/>
                  </a:schemeClr>
                </a:solidFill>
                <a:cs typeface="Times New Roman" pitchFamily="18" charset="0"/>
              </a:rPr>
              <a:t>=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b</a:t>
            </a:r>
            <a:r>
              <a:rPr lang="pl-PL" dirty="0">
                <a:solidFill>
                  <a:schemeClr val="accent1">
                    <a:lumMod val="50000"/>
                  </a:schemeClr>
                </a:solidFill>
                <a:sym typeface="Mathematica3"/>
              </a:rPr>
              <a:t>  </a:t>
            </a:r>
            <a:endParaRPr lang="pl-PL" baseline="-25000" dirty="0">
              <a:solidFill>
                <a:schemeClr val="accent1">
                  <a:lumMod val="50000"/>
                </a:schemeClr>
              </a:solidFill>
            </a:endParaRPr>
          </a:p>
        </p:txBody>
      </p:sp>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S</a:t>
            </a:r>
            <a:r>
              <a:rPr lang="en-US" sz="4000" b="1" dirty="0" err="1">
                <a:solidFill>
                  <a:schemeClr val="accent5">
                    <a:lumMod val="50000"/>
                  </a:schemeClr>
                </a:solidFill>
              </a:rPr>
              <a:t>tochastic</a:t>
            </a:r>
            <a:r>
              <a:rPr lang="en-US" sz="4000" b="1" dirty="0">
                <a:solidFill>
                  <a:schemeClr val="accent5">
                    <a:lumMod val="50000"/>
                  </a:schemeClr>
                </a:solidFill>
              </a:rPr>
              <a:t> dominance </a:t>
            </a:r>
            <a:r>
              <a:rPr lang="pl-PL" sz="4000" b="1" dirty="0">
                <a:solidFill>
                  <a:schemeClr val="accent5">
                    <a:lumMod val="50000"/>
                  </a:schemeClr>
                </a:solidFill>
              </a:rPr>
              <a:t>on </a:t>
            </a:r>
            <a:r>
              <a:rPr lang="en-US" sz="4000" b="1" dirty="0">
                <a:solidFill>
                  <a:schemeClr val="accent5">
                    <a:lumMod val="50000"/>
                  </a:schemeClr>
                </a:solidFill>
              </a:rPr>
              <a:t>order 1</a:t>
            </a:r>
            <a:r>
              <a:rPr lang="pl-PL" sz="4000" b="1" dirty="0">
                <a:solidFill>
                  <a:schemeClr val="accent5">
                    <a:lumMod val="50000"/>
                  </a:schemeClr>
                </a:solidFill>
              </a:rPr>
              <a:t>, 2 </a:t>
            </a:r>
            <a:endParaRPr lang="en-US" sz="4000" b="1" dirty="0">
              <a:solidFill>
                <a:schemeClr val="accent5">
                  <a:lumMod val="50000"/>
                </a:schemeClr>
              </a:solidFill>
            </a:endParaRPr>
          </a:p>
        </p:txBody>
      </p:sp>
      <p:sp>
        <p:nvSpPr>
          <p:cNvPr id="2" name="Prostokąt 1"/>
          <p:cNvSpPr/>
          <p:nvPr/>
        </p:nvSpPr>
        <p:spPr>
          <a:xfrm>
            <a:off x="4408080" y="1746469"/>
            <a:ext cx="3957393" cy="1661993"/>
          </a:xfrm>
          <a:prstGeom prst="rect">
            <a:avLst/>
          </a:prstGeom>
        </p:spPr>
        <p:txBody>
          <a:bodyPr wrap="square">
            <a:spAutoFit/>
          </a:bodyPr>
          <a:lstStyle/>
          <a:p>
            <a:pPr algn="just"/>
            <a:r>
              <a:rPr lang="en-US" b="1" dirty="0"/>
              <a:t>The First Order Stochastic Dominance</a:t>
            </a:r>
            <a:r>
              <a:rPr lang="pl-PL" b="1" dirty="0"/>
              <a:t> </a:t>
            </a:r>
          </a:p>
          <a:p>
            <a:pPr algn="just"/>
            <a:r>
              <a:rPr lang="en-US" sz="1400" dirty="0"/>
              <a:t>Let F</a:t>
            </a:r>
            <a:r>
              <a:rPr lang="pl-PL" sz="1400" baseline="-25000" dirty="0"/>
              <a:t>a</a:t>
            </a:r>
            <a:r>
              <a:rPr lang="en-US" sz="1400" dirty="0"/>
              <a:t>(x) and F</a:t>
            </a:r>
            <a:r>
              <a:rPr lang="pl-PL" sz="1400" baseline="-25000" dirty="0"/>
              <a:t>b</a:t>
            </a:r>
            <a:r>
              <a:rPr lang="en-US" sz="1400" dirty="0"/>
              <a:t>(x) respectively represent the cumulative distribution functions of two random variables (cash payoffs, returns) that, without loss of generality assume values in the interval [</a:t>
            </a:r>
            <a:r>
              <a:rPr lang="pl-PL" sz="1400" dirty="0"/>
              <a:t>k</a:t>
            </a:r>
            <a:r>
              <a:rPr lang="en-US" sz="1400" dirty="0"/>
              <a:t>,</a:t>
            </a:r>
            <a:r>
              <a:rPr lang="pl-PL" sz="1400" dirty="0"/>
              <a:t>l</a:t>
            </a:r>
            <a:r>
              <a:rPr lang="en-US" sz="1400" dirty="0"/>
              <a:t>]. We say that F</a:t>
            </a:r>
            <a:r>
              <a:rPr lang="pl-PL" sz="1400" baseline="-25000" dirty="0"/>
              <a:t>a</a:t>
            </a:r>
            <a:r>
              <a:rPr lang="en-US" sz="1400" dirty="0"/>
              <a:t>(x) first order stochastically dominates  F</a:t>
            </a:r>
            <a:r>
              <a:rPr lang="pl-PL" sz="1400" baseline="-25000" dirty="0"/>
              <a:t>b</a:t>
            </a:r>
            <a:r>
              <a:rPr lang="en-US" sz="1400" dirty="0"/>
              <a:t>(x) if and only if for all x ∈ [</a:t>
            </a:r>
            <a:r>
              <a:rPr lang="pl-PL" sz="1400" dirty="0"/>
              <a:t>k</a:t>
            </a:r>
            <a:r>
              <a:rPr lang="en-US" sz="1400" dirty="0"/>
              <a:t>,</a:t>
            </a:r>
            <a:r>
              <a:rPr lang="pl-PL" sz="1400" dirty="0"/>
              <a:t>l</a:t>
            </a:r>
            <a:r>
              <a:rPr lang="en-US" sz="1400" dirty="0"/>
              <a:t>]</a:t>
            </a:r>
            <a:r>
              <a:rPr lang="pl-PL" sz="1400" dirty="0"/>
              <a:t> </a:t>
            </a:r>
            <a:r>
              <a:rPr lang="en-US" sz="1400" dirty="0"/>
              <a:t>F</a:t>
            </a:r>
            <a:r>
              <a:rPr lang="pl-PL" sz="1400" baseline="-25000" dirty="0"/>
              <a:t>a</a:t>
            </a:r>
            <a:r>
              <a:rPr lang="en-US" sz="1400" dirty="0"/>
              <a:t>(x) ≤ F</a:t>
            </a:r>
            <a:r>
              <a:rPr lang="pl-PL" sz="1400" baseline="-25000" dirty="0"/>
              <a:t>b</a:t>
            </a:r>
            <a:r>
              <a:rPr lang="en-US" sz="1400" dirty="0"/>
              <a:t>(x) </a:t>
            </a:r>
            <a:endParaRPr lang="pl-PL" sz="1400" dirty="0"/>
          </a:p>
        </p:txBody>
      </p:sp>
      <p:grpSp>
        <p:nvGrpSpPr>
          <p:cNvPr id="28" name="Grupa 27"/>
          <p:cNvGrpSpPr/>
          <p:nvPr/>
        </p:nvGrpSpPr>
        <p:grpSpPr>
          <a:xfrm>
            <a:off x="8759912" y="1137550"/>
            <a:ext cx="2723368" cy="1941983"/>
            <a:chOff x="8721931" y="1372749"/>
            <a:chExt cx="2910526" cy="2035986"/>
          </a:xfrm>
        </p:grpSpPr>
        <p:grpSp>
          <p:nvGrpSpPr>
            <p:cNvPr id="4" name="Grupa 3"/>
            <p:cNvGrpSpPr/>
            <p:nvPr/>
          </p:nvGrpSpPr>
          <p:grpSpPr>
            <a:xfrm>
              <a:off x="8721931" y="1372749"/>
              <a:ext cx="2910526" cy="2035986"/>
              <a:chOff x="8721931" y="1372749"/>
              <a:chExt cx="2910526" cy="2035986"/>
            </a:xfrm>
          </p:grpSpPr>
          <p:sp>
            <p:nvSpPr>
              <p:cNvPr id="27" name="Line 13"/>
              <p:cNvSpPr>
                <a:spLocks noChangeShapeType="1"/>
              </p:cNvSpPr>
              <p:nvPr/>
            </p:nvSpPr>
            <p:spPr bwMode="auto">
              <a:xfrm flipV="1">
                <a:off x="10089261" y="1372749"/>
                <a:ext cx="10157" cy="1926525"/>
              </a:xfrm>
              <a:prstGeom prst="line">
                <a:avLst/>
              </a:prstGeom>
              <a:noFill/>
              <a:ln w="12700">
                <a:solidFill>
                  <a:schemeClr val="tx1"/>
                </a:solidFill>
                <a:prstDash val="dash"/>
                <a:round/>
                <a:headEnd type="none" w="sm" len="sm"/>
                <a:tailEnd type="none" w="sm" len="sm"/>
              </a:ln>
            </p:spPr>
            <p:txBody>
              <a:bodyPr wrap="none" anchor="ctr"/>
              <a:lstStyle/>
              <a:p>
                <a:pPr>
                  <a:defRPr/>
                </a:pPr>
                <a:endParaRPr lang="pl-PL" sz="1200" b="1">
                  <a:solidFill>
                    <a:schemeClr val="accent1">
                      <a:lumMod val="50000"/>
                    </a:schemeClr>
                  </a:solidFill>
                </a:endParaRPr>
              </a:p>
            </p:txBody>
          </p:sp>
          <p:grpSp>
            <p:nvGrpSpPr>
              <p:cNvPr id="10" name="Grupa 9"/>
              <p:cNvGrpSpPr/>
              <p:nvPr/>
            </p:nvGrpSpPr>
            <p:grpSpPr>
              <a:xfrm>
                <a:off x="8721931" y="1506725"/>
                <a:ext cx="2910526" cy="1902010"/>
                <a:chOff x="5617348" y="2265810"/>
                <a:chExt cx="5538715" cy="3744573"/>
              </a:xfrm>
            </p:grpSpPr>
            <p:grpSp>
              <p:nvGrpSpPr>
                <p:cNvPr id="19" name="Grupa 29"/>
                <p:cNvGrpSpPr>
                  <a:grpSpLocks/>
                </p:cNvGrpSpPr>
                <p:nvPr/>
              </p:nvGrpSpPr>
              <p:grpSpPr bwMode="auto">
                <a:xfrm>
                  <a:off x="5617348" y="2265810"/>
                  <a:ext cx="5538715" cy="3744573"/>
                  <a:chOff x="1714653" y="902085"/>
                  <a:chExt cx="5030900" cy="3670391"/>
                </a:xfrm>
              </p:grpSpPr>
              <p:grpSp>
                <p:nvGrpSpPr>
                  <p:cNvPr id="22" name="Grupa 4"/>
                  <p:cNvGrpSpPr>
                    <a:grpSpLocks/>
                  </p:cNvGrpSpPr>
                  <p:nvPr/>
                </p:nvGrpSpPr>
                <p:grpSpPr bwMode="auto">
                  <a:xfrm>
                    <a:off x="2555776" y="980728"/>
                    <a:ext cx="4114801" cy="3047999"/>
                    <a:chOff x="827015" y="1268621"/>
                    <a:chExt cx="4115014" cy="3047426"/>
                  </a:xfrm>
                </p:grpSpPr>
                <p:sp>
                  <p:nvSpPr>
                    <p:cNvPr id="25" name="Line 3"/>
                    <p:cNvSpPr>
                      <a:spLocks noChangeShapeType="1"/>
                    </p:cNvSpPr>
                    <p:nvPr/>
                  </p:nvSpPr>
                  <p:spPr bwMode="auto">
                    <a:xfrm flipV="1">
                      <a:off x="826754" y="1268621"/>
                      <a:ext cx="0" cy="304773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sp>
                  <p:nvSpPr>
                    <p:cNvPr id="26" name="Line 4"/>
                    <p:cNvSpPr>
                      <a:spLocks noChangeShapeType="1"/>
                    </p:cNvSpPr>
                    <p:nvPr/>
                  </p:nvSpPr>
                  <p:spPr bwMode="auto">
                    <a:xfrm>
                      <a:off x="826754" y="4316351"/>
                      <a:ext cx="4115541" cy="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grpSp>
              <p:sp>
                <p:nvSpPr>
                  <p:cNvPr id="23" name="Prostokąt 22"/>
                  <p:cNvSpPr/>
                  <p:nvPr/>
                </p:nvSpPr>
                <p:spPr>
                  <a:xfrm>
                    <a:off x="1714653" y="902085"/>
                    <a:ext cx="737593" cy="534538"/>
                  </a:xfrm>
                  <a:prstGeom prst="rect">
                    <a:avLst/>
                  </a:prstGeom>
                </p:spPr>
                <p:txBody>
                  <a:bodyPr wrap="none">
                    <a:spAutoFit/>
                  </a:bodyPr>
                  <a:lstStyle/>
                  <a:p>
                    <a:pPr>
                      <a:defRPr/>
                    </a:pPr>
                    <a:r>
                      <a:rPr lang="el-GR" sz="1200" dirty="0">
                        <a:solidFill>
                          <a:schemeClr val="accent1">
                            <a:lumMod val="50000"/>
                          </a:schemeClr>
                        </a:solidFill>
                        <a:latin typeface="Arial" pitchFamily="34" charset="0"/>
                        <a:ea typeface="Times New Roman" pitchFamily="18" charset="0"/>
                      </a:rPr>
                      <a:t>μ</a:t>
                    </a:r>
                    <a:r>
                      <a:rPr lang="pl-PL" sz="1200" dirty="0">
                        <a:solidFill>
                          <a:schemeClr val="accent1">
                            <a:lumMod val="50000"/>
                          </a:schemeClr>
                        </a:solidFill>
                        <a:latin typeface="Arial" pitchFamily="34" charset="0"/>
                        <a:ea typeface="Times New Roman" pitchFamily="18" charset="0"/>
                      </a:rPr>
                      <a:t>(r)</a:t>
                    </a:r>
                    <a:endParaRPr lang="pl-PL" sz="1200" dirty="0"/>
                  </a:p>
                </p:txBody>
              </p:sp>
              <p:sp>
                <p:nvSpPr>
                  <p:cNvPr id="24" name="Prostokąt 28"/>
                  <p:cNvSpPr>
                    <a:spLocks noChangeArrowheads="1"/>
                  </p:cNvSpPr>
                  <p:nvPr/>
                </p:nvSpPr>
                <p:spPr bwMode="auto">
                  <a:xfrm>
                    <a:off x="6182523" y="4037939"/>
                    <a:ext cx="563030" cy="534537"/>
                  </a:xfrm>
                  <a:prstGeom prst="rect">
                    <a:avLst/>
                  </a:prstGeom>
                  <a:noFill/>
                  <a:ln w="9525">
                    <a:noFill/>
                    <a:miter lim="800000"/>
                    <a:headEnd/>
                    <a:tailEnd/>
                  </a:ln>
                </p:spPr>
                <p:txBody>
                  <a:bodyPr wrap="none">
                    <a:spAutoFit/>
                  </a:bodyPr>
                  <a:lstStyle/>
                  <a:p>
                    <a:r>
                      <a:rPr lang="pl-PL" sz="1200" dirty="0" err="1">
                        <a:solidFill>
                          <a:srgbClr val="254061"/>
                        </a:solidFill>
                        <a:cs typeface="Times New Roman" pitchFamily="18" charset="0"/>
                      </a:rPr>
                      <a:t>sd</a:t>
                    </a:r>
                    <a:endParaRPr lang="pl-PL" sz="1200" dirty="0"/>
                  </a:p>
                </p:txBody>
              </p:sp>
            </p:grpSp>
            <p:grpSp>
              <p:nvGrpSpPr>
                <p:cNvPr id="16" name="Grupa 15"/>
                <p:cNvGrpSpPr/>
                <p:nvPr/>
              </p:nvGrpSpPr>
              <p:grpSpPr>
                <a:xfrm>
                  <a:off x="8092730" y="3279248"/>
                  <a:ext cx="163680" cy="621796"/>
                  <a:chOff x="8092730" y="3279248"/>
                  <a:chExt cx="163680" cy="621796"/>
                </a:xfrm>
              </p:grpSpPr>
              <p:sp>
                <p:nvSpPr>
                  <p:cNvPr id="17" name="Oval 22"/>
                  <p:cNvSpPr>
                    <a:spLocks noChangeArrowheads="1"/>
                  </p:cNvSpPr>
                  <p:nvPr/>
                </p:nvSpPr>
                <p:spPr bwMode="auto">
                  <a:xfrm>
                    <a:off x="8092730" y="3738920"/>
                    <a:ext cx="161635" cy="162124"/>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sp>
                <p:nvSpPr>
                  <p:cNvPr id="18" name="Oval 22"/>
                  <p:cNvSpPr>
                    <a:spLocks noChangeArrowheads="1"/>
                  </p:cNvSpPr>
                  <p:nvPr/>
                </p:nvSpPr>
                <p:spPr bwMode="auto">
                  <a:xfrm>
                    <a:off x="8092730" y="3279248"/>
                    <a:ext cx="163680" cy="162122"/>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grpSp>
          </p:grpSp>
        </p:grpSp>
        <p:sp>
          <p:nvSpPr>
            <p:cNvPr id="6" name="Prostokąt 5"/>
            <p:cNvSpPr/>
            <p:nvPr/>
          </p:nvSpPr>
          <p:spPr>
            <a:xfrm>
              <a:off x="10107651" y="1828710"/>
              <a:ext cx="295274" cy="369332"/>
            </a:xfrm>
            <a:prstGeom prst="rect">
              <a:avLst/>
            </a:prstGeom>
          </p:spPr>
          <p:txBody>
            <a:bodyPr wrap="none">
              <a:spAutoFit/>
            </a:bodyPr>
            <a:lstStyle/>
            <a:p>
              <a:r>
                <a:rPr lang="pl-PL">
                  <a:solidFill>
                    <a:schemeClr val="accent1">
                      <a:lumMod val="50000"/>
                    </a:schemeClr>
                  </a:solidFill>
                </a:rPr>
                <a:t>a</a:t>
              </a:r>
              <a:endParaRPr lang="pl-PL" dirty="0"/>
            </a:p>
          </p:txBody>
        </p:sp>
        <p:sp>
          <p:nvSpPr>
            <p:cNvPr id="8" name="Prostokąt 7"/>
            <p:cNvSpPr/>
            <p:nvPr/>
          </p:nvSpPr>
          <p:spPr>
            <a:xfrm>
              <a:off x="10148531" y="2089342"/>
              <a:ext cx="306494" cy="369332"/>
            </a:xfrm>
            <a:prstGeom prst="rect">
              <a:avLst/>
            </a:prstGeom>
          </p:spPr>
          <p:txBody>
            <a:bodyPr wrap="none">
              <a:spAutoFit/>
            </a:bodyPr>
            <a:lstStyle/>
            <a:p>
              <a:r>
                <a:rPr lang="pl-PL" dirty="0">
                  <a:solidFill>
                    <a:schemeClr val="accent1">
                      <a:lumMod val="50000"/>
                    </a:schemeClr>
                  </a:solidFill>
                </a:rPr>
                <a:t>b</a:t>
              </a:r>
              <a:endParaRPr lang="pl-PL" dirty="0"/>
            </a:p>
          </p:txBody>
        </p:sp>
      </p:grpSp>
      <p:pic>
        <p:nvPicPr>
          <p:cNvPr id="34" name="Picture 3"/>
          <p:cNvPicPr>
            <a:picLocks noChangeAspect="1" noChangeArrowheads="1"/>
          </p:cNvPicPr>
          <p:nvPr/>
        </p:nvPicPr>
        <p:blipFill>
          <a:blip r:embed="rId4" cstate="print"/>
          <a:srcRect/>
          <a:stretch>
            <a:fillRect/>
          </a:stretch>
        </p:blipFill>
        <p:spPr bwMode="auto">
          <a:xfrm>
            <a:off x="821689" y="2929803"/>
            <a:ext cx="3053800" cy="1755573"/>
          </a:xfrm>
          <a:prstGeom prst="rect">
            <a:avLst/>
          </a:prstGeom>
          <a:noFill/>
          <a:ln w="9525">
            <a:noFill/>
            <a:miter lim="800000"/>
            <a:headEnd/>
            <a:tailEnd/>
          </a:ln>
        </p:spPr>
      </p:pic>
      <p:sp>
        <p:nvSpPr>
          <p:cNvPr id="29" name="Prostokąt 28"/>
          <p:cNvSpPr/>
          <p:nvPr/>
        </p:nvSpPr>
        <p:spPr>
          <a:xfrm>
            <a:off x="4338436" y="3501562"/>
            <a:ext cx="4096827" cy="646331"/>
          </a:xfrm>
          <a:prstGeom prst="rect">
            <a:avLst/>
          </a:prstGeom>
        </p:spPr>
        <p:txBody>
          <a:bodyPr wrap="none">
            <a:spAutoFit/>
          </a:bodyPr>
          <a:lstStyle/>
          <a:p>
            <a:pPr algn="ctr"/>
            <a:r>
              <a:rPr lang="en-US" b="1" dirty="0"/>
              <a:t>The </a:t>
            </a:r>
            <a:r>
              <a:rPr lang="pl-PL" b="1" dirty="0"/>
              <a:t>Second</a:t>
            </a:r>
            <a:r>
              <a:rPr lang="en-US" b="1" dirty="0"/>
              <a:t> Order Stochastic Dominance</a:t>
            </a:r>
            <a:r>
              <a:rPr lang="pl-PL" b="1" dirty="0"/>
              <a:t> </a:t>
            </a:r>
          </a:p>
          <a:p>
            <a:pPr algn="ctr"/>
            <a:r>
              <a:rPr lang="pl-PL" b="1" dirty="0"/>
              <a:t>( we </a:t>
            </a:r>
            <a:r>
              <a:rPr lang="pl-PL" b="1" dirty="0" err="1"/>
              <a:t>have</a:t>
            </a:r>
            <a:r>
              <a:rPr lang="pl-PL" b="1" dirty="0"/>
              <a:t> to </a:t>
            </a:r>
            <a:r>
              <a:rPr lang="pl-PL" b="1" dirty="0" err="1"/>
              <a:t>assume</a:t>
            </a:r>
            <a:r>
              <a:rPr lang="pl-PL" b="1" dirty="0"/>
              <a:t> </a:t>
            </a:r>
            <a:r>
              <a:rPr lang="pl-PL" b="1" dirty="0" err="1"/>
              <a:t>risk</a:t>
            </a:r>
            <a:r>
              <a:rPr lang="pl-PL" b="1" dirty="0"/>
              <a:t> </a:t>
            </a:r>
            <a:r>
              <a:rPr lang="pl-PL" b="1" dirty="0" err="1"/>
              <a:t>avers</a:t>
            </a:r>
            <a:r>
              <a:rPr lang="pl-PL" b="1" dirty="0"/>
              <a:t> person)</a:t>
            </a:r>
            <a:endParaRPr lang="pl-PL" dirty="0"/>
          </a:p>
        </p:txBody>
      </p:sp>
      <p:sp>
        <p:nvSpPr>
          <p:cNvPr id="36" name="pole tekstowe 35"/>
          <p:cNvSpPr txBox="1"/>
          <p:nvPr/>
        </p:nvSpPr>
        <p:spPr>
          <a:xfrm>
            <a:off x="4695732" y="4134619"/>
            <a:ext cx="3083508" cy="646331"/>
          </a:xfrm>
          <a:prstGeom prst="rect">
            <a:avLst/>
          </a:prstGeom>
          <a:noFill/>
        </p:spPr>
        <p:txBody>
          <a:bodyPr wrap="square">
            <a:spAutoFit/>
          </a:bodyPr>
          <a:lstStyle/>
          <a:p>
            <a:pPr algn="ctr">
              <a:defRPr/>
            </a:pPr>
            <a:r>
              <a:rPr lang="pl-PL" dirty="0">
                <a:solidFill>
                  <a:schemeClr val="accent1">
                    <a:lumMod val="50000"/>
                  </a:schemeClr>
                </a:solidFill>
              </a:rPr>
              <a:t>a </a:t>
            </a:r>
            <a:r>
              <a:rPr lang="pl-PL" dirty="0">
                <a:solidFill>
                  <a:schemeClr val="accent1">
                    <a:lumMod val="50000"/>
                  </a:schemeClr>
                </a:solidFill>
                <a:latin typeface="Cambria Math"/>
                <a:ea typeface="Cambria Math"/>
                <a:sym typeface="Mathematica3"/>
              </a:rPr>
              <a:t>≻</a:t>
            </a:r>
            <a:r>
              <a:rPr lang="pl-PL" dirty="0">
                <a:solidFill>
                  <a:schemeClr val="accent1">
                    <a:lumMod val="50000"/>
                  </a:schemeClr>
                </a:solidFill>
                <a:sym typeface="Mathematica3"/>
              </a:rPr>
              <a:t> b </a:t>
            </a:r>
          </a:p>
          <a:p>
            <a:pPr algn="ctr">
              <a:defRPr/>
            </a:pP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a</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 </a:t>
            </a: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b</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and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a</a:t>
            </a:r>
            <a:r>
              <a:rPr lang="pl-PL" dirty="0">
                <a:solidFill>
                  <a:schemeClr val="accent1">
                    <a:lumMod val="50000"/>
                  </a:schemeClr>
                </a:solidFill>
                <a:cs typeface="Times New Roman" pitchFamily="18" charset="0"/>
              </a:rPr>
              <a:t> </a:t>
            </a:r>
            <a:r>
              <a:rPr lang="pl-PL" baseline="30000" dirty="0">
                <a:solidFill>
                  <a:schemeClr val="accent1">
                    <a:lumMod val="50000"/>
                  </a:schemeClr>
                </a:solidFill>
                <a:cs typeface="Times New Roman" pitchFamily="18" charset="0"/>
              </a:rPr>
              <a:t> </a:t>
            </a:r>
            <a:r>
              <a:rPr lang="pl-PL" dirty="0">
                <a:solidFill>
                  <a:schemeClr val="accent1">
                    <a:lumMod val="50000"/>
                  </a:schemeClr>
                </a:solidFill>
                <a:cs typeface="Times New Roman" pitchFamily="18" charset="0"/>
              </a:rPr>
              <a:t>&lt;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b</a:t>
            </a:r>
            <a:r>
              <a:rPr lang="pl-PL" dirty="0">
                <a:solidFill>
                  <a:schemeClr val="accent1">
                    <a:lumMod val="50000"/>
                  </a:schemeClr>
                </a:solidFill>
                <a:sym typeface="Mathematica3"/>
              </a:rPr>
              <a:t>  </a:t>
            </a:r>
            <a:endParaRPr lang="pl-PL" baseline="-25000" dirty="0">
              <a:solidFill>
                <a:schemeClr val="accent1">
                  <a:lumMod val="50000"/>
                </a:schemeClr>
              </a:solidFill>
            </a:endParaRPr>
          </a:p>
        </p:txBody>
      </p:sp>
      <p:grpSp>
        <p:nvGrpSpPr>
          <p:cNvPr id="37" name="Grupa 36"/>
          <p:cNvGrpSpPr/>
          <p:nvPr/>
        </p:nvGrpSpPr>
        <p:grpSpPr>
          <a:xfrm>
            <a:off x="8759912" y="3341590"/>
            <a:ext cx="2655314" cy="1755162"/>
            <a:chOff x="8685652" y="1471936"/>
            <a:chExt cx="2903585" cy="1932183"/>
          </a:xfrm>
        </p:grpSpPr>
        <p:grpSp>
          <p:nvGrpSpPr>
            <p:cNvPr id="38" name="Grupa 37"/>
            <p:cNvGrpSpPr/>
            <p:nvPr/>
          </p:nvGrpSpPr>
          <p:grpSpPr>
            <a:xfrm>
              <a:off x="8685652" y="1471936"/>
              <a:ext cx="2903585" cy="1932183"/>
              <a:chOff x="8685652" y="1471936"/>
              <a:chExt cx="2903585" cy="1932183"/>
            </a:xfrm>
          </p:grpSpPr>
          <p:sp>
            <p:nvSpPr>
              <p:cNvPr id="41" name="Line 13"/>
              <p:cNvSpPr>
                <a:spLocks noChangeShapeType="1"/>
              </p:cNvSpPr>
              <p:nvPr/>
            </p:nvSpPr>
            <p:spPr bwMode="auto">
              <a:xfrm flipH="1">
                <a:off x="8685652" y="2157532"/>
                <a:ext cx="2458423" cy="24142"/>
              </a:xfrm>
              <a:prstGeom prst="line">
                <a:avLst/>
              </a:prstGeom>
              <a:noFill/>
              <a:ln w="12700">
                <a:solidFill>
                  <a:schemeClr val="tx1"/>
                </a:solidFill>
                <a:prstDash val="dash"/>
                <a:round/>
                <a:headEnd type="none" w="sm" len="sm"/>
                <a:tailEnd type="none" w="sm" len="sm"/>
              </a:ln>
            </p:spPr>
            <p:txBody>
              <a:bodyPr wrap="none" anchor="ctr"/>
              <a:lstStyle/>
              <a:p>
                <a:pPr>
                  <a:defRPr/>
                </a:pPr>
                <a:endParaRPr lang="pl-PL" sz="1200" b="1">
                  <a:solidFill>
                    <a:schemeClr val="accent1">
                      <a:lumMod val="50000"/>
                    </a:schemeClr>
                  </a:solidFill>
                </a:endParaRPr>
              </a:p>
            </p:txBody>
          </p:sp>
          <p:grpSp>
            <p:nvGrpSpPr>
              <p:cNvPr id="43" name="Grupa 42"/>
              <p:cNvGrpSpPr/>
              <p:nvPr/>
            </p:nvGrpSpPr>
            <p:grpSpPr>
              <a:xfrm>
                <a:off x="8749412" y="1471936"/>
                <a:ext cx="2839825" cy="1932183"/>
                <a:chOff x="5669644" y="2197319"/>
                <a:chExt cx="5404170" cy="3803975"/>
              </a:xfrm>
            </p:grpSpPr>
            <p:grpSp>
              <p:nvGrpSpPr>
                <p:cNvPr id="44" name="Grupa 29"/>
                <p:cNvGrpSpPr>
                  <a:grpSpLocks/>
                </p:cNvGrpSpPr>
                <p:nvPr/>
              </p:nvGrpSpPr>
              <p:grpSpPr bwMode="auto">
                <a:xfrm>
                  <a:off x="5669644" y="2197319"/>
                  <a:ext cx="5404170" cy="3803975"/>
                  <a:chOff x="1762154" y="834951"/>
                  <a:chExt cx="4908690" cy="3728616"/>
                </a:xfrm>
              </p:grpSpPr>
              <p:grpSp>
                <p:nvGrpSpPr>
                  <p:cNvPr id="49" name="Grupa 4"/>
                  <p:cNvGrpSpPr>
                    <a:grpSpLocks/>
                  </p:cNvGrpSpPr>
                  <p:nvPr/>
                </p:nvGrpSpPr>
                <p:grpSpPr bwMode="auto">
                  <a:xfrm>
                    <a:off x="2555776" y="980728"/>
                    <a:ext cx="4114801" cy="3047999"/>
                    <a:chOff x="827015" y="1268621"/>
                    <a:chExt cx="4115014" cy="3047426"/>
                  </a:xfrm>
                </p:grpSpPr>
                <p:sp>
                  <p:nvSpPr>
                    <p:cNvPr id="52" name="Line 3"/>
                    <p:cNvSpPr>
                      <a:spLocks noChangeShapeType="1"/>
                    </p:cNvSpPr>
                    <p:nvPr/>
                  </p:nvSpPr>
                  <p:spPr bwMode="auto">
                    <a:xfrm flipV="1">
                      <a:off x="826754" y="1268621"/>
                      <a:ext cx="0" cy="304773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sp>
                  <p:nvSpPr>
                    <p:cNvPr id="53" name="Line 4"/>
                    <p:cNvSpPr>
                      <a:spLocks noChangeShapeType="1"/>
                    </p:cNvSpPr>
                    <p:nvPr/>
                  </p:nvSpPr>
                  <p:spPr bwMode="auto">
                    <a:xfrm>
                      <a:off x="826754" y="4316351"/>
                      <a:ext cx="4115541" cy="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grpSp>
              <p:sp>
                <p:nvSpPr>
                  <p:cNvPr id="50" name="Prostokąt 49"/>
                  <p:cNvSpPr/>
                  <p:nvPr/>
                </p:nvSpPr>
                <p:spPr>
                  <a:xfrm>
                    <a:off x="1762154" y="834951"/>
                    <a:ext cx="737593" cy="534536"/>
                  </a:xfrm>
                  <a:prstGeom prst="rect">
                    <a:avLst/>
                  </a:prstGeom>
                </p:spPr>
                <p:txBody>
                  <a:bodyPr wrap="none">
                    <a:spAutoFit/>
                  </a:bodyPr>
                  <a:lstStyle/>
                  <a:p>
                    <a:pPr>
                      <a:defRPr/>
                    </a:pPr>
                    <a:r>
                      <a:rPr lang="el-GR" sz="1200" dirty="0">
                        <a:solidFill>
                          <a:schemeClr val="accent1">
                            <a:lumMod val="50000"/>
                          </a:schemeClr>
                        </a:solidFill>
                        <a:latin typeface="Arial" pitchFamily="34" charset="0"/>
                        <a:ea typeface="Times New Roman" pitchFamily="18" charset="0"/>
                      </a:rPr>
                      <a:t>μ</a:t>
                    </a:r>
                    <a:r>
                      <a:rPr lang="pl-PL" sz="1200" dirty="0">
                        <a:solidFill>
                          <a:schemeClr val="accent1">
                            <a:lumMod val="50000"/>
                          </a:schemeClr>
                        </a:solidFill>
                        <a:latin typeface="Arial" pitchFamily="34" charset="0"/>
                        <a:ea typeface="Times New Roman" pitchFamily="18" charset="0"/>
                      </a:rPr>
                      <a:t>(r)</a:t>
                    </a:r>
                    <a:endParaRPr lang="pl-PL" sz="1200" dirty="0"/>
                  </a:p>
                </p:txBody>
              </p:sp>
              <p:sp>
                <p:nvSpPr>
                  <p:cNvPr id="51" name="Prostokąt 28"/>
                  <p:cNvSpPr>
                    <a:spLocks noChangeArrowheads="1"/>
                  </p:cNvSpPr>
                  <p:nvPr/>
                </p:nvSpPr>
                <p:spPr bwMode="auto">
                  <a:xfrm>
                    <a:off x="6107815" y="4029031"/>
                    <a:ext cx="563029" cy="534536"/>
                  </a:xfrm>
                  <a:prstGeom prst="rect">
                    <a:avLst/>
                  </a:prstGeom>
                  <a:noFill/>
                  <a:ln w="9525">
                    <a:noFill/>
                    <a:miter lim="800000"/>
                    <a:headEnd/>
                    <a:tailEnd/>
                  </a:ln>
                </p:spPr>
                <p:txBody>
                  <a:bodyPr wrap="none">
                    <a:spAutoFit/>
                  </a:bodyPr>
                  <a:lstStyle/>
                  <a:p>
                    <a:r>
                      <a:rPr lang="pl-PL" sz="1200" dirty="0" err="1">
                        <a:solidFill>
                          <a:srgbClr val="254061"/>
                        </a:solidFill>
                        <a:cs typeface="Times New Roman" pitchFamily="18" charset="0"/>
                      </a:rPr>
                      <a:t>sd</a:t>
                    </a:r>
                    <a:endParaRPr lang="pl-PL" sz="1200" dirty="0"/>
                  </a:p>
                </p:txBody>
              </p:sp>
            </p:grpSp>
            <p:grpSp>
              <p:nvGrpSpPr>
                <p:cNvPr id="46" name="Grupa 45"/>
                <p:cNvGrpSpPr/>
                <p:nvPr/>
              </p:nvGrpSpPr>
              <p:grpSpPr>
                <a:xfrm>
                  <a:off x="7649666" y="3489785"/>
                  <a:ext cx="682494" cy="162124"/>
                  <a:chOff x="7649666" y="3489785"/>
                  <a:chExt cx="682494" cy="162124"/>
                </a:xfrm>
              </p:grpSpPr>
              <p:sp>
                <p:nvSpPr>
                  <p:cNvPr id="47" name="Oval 22"/>
                  <p:cNvSpPr>
                    <a:spLocks noChangeArrowheads="1"/>
                  </p:cNvSpPr>
                  <p:nvPr/>
                </p:nvSpPr>
                <p:spPr bwMode="auto">
                  <a:xfrm>
                    <a:off x="8170525" y="3489785"/>
                    <a:ext cx="161635" cy="162124"/>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sp>
                <p:nvSpPr>
                  <p:cNvPr id="48" name="Oval 22"/>
                  <p:cNvSpPr>
                    <a:spLocks noChangeArrowheads="1"/>
                  </p:cNvSpPr>
                  <p:nvPr/>
                </p:nvSpPr>
                <p:spPr bwMode="auto">
                  <a:xfrm>
                    <a:off x="7649666" y="3489785"/>
                    <a:ext cx="163680" cy="162122"/>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grpSp>
          </p:grpSp>
        </p:grpSp>
        <p:sp>
          <p:nvSpPr>
            <p:cNvPr id="39" name="Prostokąt 38"/>
            <p:cNvSpPr/>
            <p:nvPr/>
          </p:nvSpPr>
          <p:spPr>
            <a:xfrm>
              <a:off x="9667380" y="1800270"/>
              <a:ext cx="295274" cy="369332"/>
            </a:xfrm>
            <a:prstGeom prst="rect">
              <a:avLst/>
            </a:prstGeom>
          </p:spPr>
          <p:txBody>
            <a:bodyPr wrap="none">
              <a:spAutoFit/>
            </a:bodyPr>
            <a:lstStyle/>
            <a:p>
              <a:r>
                <a:rPr lang="pl-PL" dirty="0">
                  <a:solidFill>
                    <a:schemeClr val="accent1">
                      <a:lumMod val="50000"/>
                    </a:schemeClr>
                  </a:solidFill>
                </a:rPr>
                <a:t>a</a:t>
              </a:r>
              <a:endParaRPr lang="pl-PL" dirty="0"/>
            </a:p>
          </p:txBody>
        </p:sp>
        <p:sp>
          <p:nvSpPr>
            <p:cNvPr id="40" name="Prostokąt 39"/>
            <p:cNvSpPr/>
            <p:nvPr/>
          </p:nvSpPr>
          <p:spPr>
            <a:xfrm>
              <a:off x="9962654" y="1800270"/>
              <a:ext cx="306494" cy="369332"/>
            </a:xfrm>
            <a:prstGeom prst="rect">
              <a:avLst/>
            </a:prstGeom>
          </p:spPr>
          <p:txBody>
            <a:bodyPr wrap="none">
              <a:spAutoFit/>
            </a:bodyPr>
            <a:lstStyle/>
            <a:p>
              <a:r>
                <a:rPr lang="pl-PL" dirty="0">
                  <a:solidFill>
                    <a:schemeClr val="accent1">
                      <a:lumMod val="50000"/>
                    </a:schemeClr>
                  </a:solidFill>
                </a:rPr>
                <a:t>b</a:t>
              </a:r>
              <a:endParaRPr lang="pl-PL" dirty="0"/>
            </a:p>
          </p:txBody>
        </p:sp>
      </p:grpSp>
      <p:sp>
        <p:nvSpPr>
          <p:cNvPr id="55" name="pole tekstowe 54"/>
          <p:cNvSpPr txBox="1"/>
          <p:nvPr/>
        </p:nvSpPr>
        <p:spPr>
          <a:xfrm>
            <a:off x="4845022" y="5933786"/>
            <a:ext cx="3083508" cy="646331"/>
          </a:xfrm>
          <a:prstGeom prst="rect">
            <a:avLst/>
          </a:prstGeom>
          <a:noFill/>
        </p:spPr>
        <p:txBody>
          <a:bodyPr wrap="square">
            <a:spAutoFit/>
          </a:bodyPr>
          <a:lstStyle/>
          <a:p>
            <a:pPr algn="ctr">
              <a:defRPr/>
            </a:pPr>
            <a:r>
              <a:rPr lang="pl-PL" dirty="0">
                <a:solidFill>
                  <a:schemeClr val="accent1">
                    <a:lumMod val="50000"/>
                  </a:schemeClr>
                </a:solidFill>
              </a:rPr>
              <a:t>a </a:t>
            </a:r>
            <a:r>
              <a:rPr lang="pl-PL" dirty="0">
                <a:solidFill>
                  <a:schemeClr val="accent1">
                    <a:lumMod val="50000"/>
                  </a:schemeClr>
                </a:solidFill>
                <a:latin typeface="Cambria Math"/>
                <a:ea typeface="Cambria Math"/>
                <a:sym typeface="Mathematica3"/>
              </a:rPr>
              <a:t>???</a:t>
            </a:r>
            <a:r>
              <a:rPr lang="pl-PL" dirty="0">
                <a:solidFill>
                  <a:schemeClr val="accent1">
                    <a:lumMod val="50000"/>
                  </a:schemeClr>
                </a:solidFill>
                <a:sym typeface="Mathematica3"/>
              </a:rPr>
              <a:t> b </a:t>
            </a:r>
          </a:p>
          <a:p>
            <a:pPr algn="ctr">
              <a:defRPr/>
            </a:pP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a</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&gt; </a:t>
            </a: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b</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and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a</a:t>
            </a:r>
            <a:r>
              <a:rPr lang="pl-PL" dirty="0">
                <a:solidFill>
                  <a:schemeClr val="accent1">
                    <a:lumMod val="50000"/>
                  </a:schemeClr>
                </a:solidFill>
                <a:cs typeface="Times New Roman" pitchFamily="18" charset="0"/>
              </a:rPr>
              <a:t> </a:t>
            </a:r>
            <a:r>
              <a:rPr lang="pl-PL" baseline="30000" dirty="0">
                <a:solidFill>
                  <a:schemeClr val="accent1">
                    <a:lumMod val="50000"/>
                  </a:schemeClr>
                </a:solidFill>
                <a:cs typeface="Times New Roman" pitchFamily="18" charset="0"/>
              </a:rPr>
              <a:t> </a:t>
            </a:r>
            <a:r>
              <a:rPr lang="pl-PL" dirty="0">
                <a:solidFill>
                  <a:schemeClr val="accent1">
                    <a:lumMod val="50000"/>
                  </a:schemeClr>
                </a:solidFill>
                <a:cs typeface="Times New Roman" pitchFamily="18" charset="0"/>
              </a:rPr>
              <a:t>&gt;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b</a:t>
            </a:r>
            <a:r>
              <a:rPr lang="pl-PL" dirty="0">
                <a:solidFill>
                  <a:schemeClr val="accent1">
                    <a:lumMod val="50000"/>
                  </a:schemeClr>
                </a:solidFill>
                <a:sym typeface="Mathematica3"/>
              </a:rPr>
              <a:t>  </a:t>
            </a:r>
            <a:endParaRPr lang="pl-PL" baseline="-25000" dirty="0">
              <a:solidFill>
                <a:schemeClr val="accent1">
                  <a:lumMod val="50000"/>
                </a:schemeClr>
              </a:solidFill>
            </a:endParaRPr>
          </a:p>
        </p:txBody>
      </p:sp>
      <p:sp>
        <p:nvSpPr>
          <p:cNvPr id="56" name="Prostokąt 55"/>
          <p:cNvSpPr/>
          <p:nvPr/>
        </p:nvSpPr>
        <p:spPr>
          <a:xfrm>
            <a:off x="4338436" y="5074161"/>
            <a:ext cx="4214437" cy="923330"/>
          </a:xfrm>
          <a:prstGeom prst="rect">
            <a:avLst/>
          </a:prstGeom>
        </p:spPr>
        <p:txBody>
          <a:bodyPr wrap="square">
            <a:spAutoFit/>
          </a:bodyPr>
          <a:lstStyle/>
          <a:p>
            <a:pPr algn="ctr"/>
            <a:r>
              <a:rPr lang="en-US" b="1" dirty="0"/>
              <a:t>We can not decided based on the First and Second Order Stochastic Dominance. We have inconsistent results. </a:t>
            </a:r>
            <a:endParaRPr lang="pl-PL" dirty="0"/>
          </a:p>
        </p:txBody>
      </p:sp>
      <p:pic>
        <p:nvPicPr>
          <p:cNvPr id="57" name="Picture 28"/>
          <p:cNvPicPr>
            <a:picLocks noChangeAspect="1" noChangeArrowheads="1"/>
          </p:cNvPicPr>
          <p:nvPr/>
        </p:nvPicPr>
        <p:blipFill>
          <a:blip r:embed="rId5" cstate="print"/>
          <a:srcRect/>
          <a:stretch>
            <a:fillRect/>
          </a:stretch>
        </p:blipFill>
        <p:spPr bwMode="auto">
          <a:xfrm>
            <a:off x="886380" y="4970941"/>
            <a:ext cx="3029838" cy="1741429"/>
          </a:xfrm>
          <a:prstGeom prst="rect">
            <a:avLst/>
          </a:prstGeom>
          <a:noFill/>
          <a:ln w="9525">
            <a:noFill/>
            <a:miter lim="800000"/>
            <a:headEnd/>
            <a:tailEnd/>
          </a:ln>
        </p:spPr>
      </p:pic>
      <p:grpSp>
        <p:nvGrpSpPr>
          <p:cNvPr id="58" name="Grupa 57"/>
          <p:cNvGrpSpPr/>
          <p:nvPr/>
        </p:nvGrpSpPr>
        <p:grpSpPr>
          <a:xfrm>
            <a:off x="8886275" y="5009337"/>
            <a:ext cx="2597006" cy="1755162"/>
            <a:chOff x="8749412" y="1471936"/>
            <a:chExt cx="2839825" cy="1932183"/>
          </a:xfrm>
        </p:grpSpPr>
        <p:grpSp>
          <p:nvGrpSpPr>
            <p:cNvPr id="59" name="Grupa 58"/>
            <p:cNvGrpSpPr/>
            <p:nvPr/>
          </p:nvGrpSpPr>
          <p:grpSpPr>
            <a:xfrm>
              <a:off x="8749412" y="1471936"/>
              <a:ext cx="2839825" cy="1932183"/>
              <a:chOff x="8749412" y="1471936"/>
              <a:chExt cx="2839825" cy="1932183"/>
            </a:xfrm>
          </p:grpSpPr>
          <p:sp>
            <p:nvSpPr>
              <p:cNvPr id="62" name="Line 13"/>
              <p:cNvSpPr>
                <a:spLocks noChangeShapeType="1"/>
              </p:cNvSpPr>
              <p:nvPr/>
            </p:nvSpPr>
            <p:spPr bwMode="auto">
              <a:xfrm flipV="1">
                <a:off x="9284939" y="1656549"/>
                <a:ext cx="930813" cy="661948"/>
              </a:xfrm>
              <a:prstGeom prst="line">
                <a:avLst/>
              </a:prstGeom>
              <a:noFill/>
              <a:ln w="12700">
                <a:solidFill>
                  <a:schemeClr val="tx1"/>
                </a:solidFill>
                <a:prstDash val="dash"/>
                <a:round/>
                <a:headEnd type="none" w="sm" len="sm"/>
                <a:tailEnd type="none" w="sm" len="sm"/>
              </a:ln>
            </p:spPr>
            <p:txBody>
              <a:bodyPr wrap="none" anchor="ctr"/>
              <a:lstStyle/>
              <a:p>
                <a:pPr>
                  <a:defRPr/>
                </a:pPr>
                <a:endParaRPr lang="pl-PL" sz="1200" b="1">
                  <a:solidFill>
                    <a:schemeClr val="accent1">
                      <a:lumMod val="50000"/>
                    </a:schemeClr>
                  </a:solidFill>
                </a:endParaRPr>
              </a:p>
            </p:txBody>
          </p:sp>
          <p:grpSp>
            <p:nvGrpSpPr>
              <p:cNvPr id="63" name="Grupa 62"/>
              <p:cNvGrpSpPr/>
              <p:nvPr/>
            </p:nvGrpSpPr>
            <p:grpSpPr>
              <a:xfrm>
                <a:off x="8749412" y="1471936"/>
                <a:ext cx="2839825" cy="1932183"/>
                <a:chOff x="5669644" y="2197319"/>
                <a:chExt cx="5404170" cy="3803975"/>
              </a:xfrm>
            </p:grpSpPr>
            <p:grpSp>
              <p:nvGrpSpPr>
                <p:cNvPr id="64" name="Grupa 29"/>
                <p:cNvGrpSpPr>
                  <a:grpSpLocks/>
                </p:cNvGrpSpPr>
                <p:nvPr/>
              </p:nvGrpSpPr>
              <p:grpSpPr bwMode="auto">
                <a:xfrm>
                  <a:off x="5669644" y="2197319"/>
                  <a:ext cx="5404170" cy="3803975"/>
                  <a:chOff x="1762154" y="834951"/>
                  <a:chExt cx="4908690" cy="3728616"/>
                </a:xfrm>
              </p:grpSpPr>
              <p:grpSp>
                <p:nvGrpSpPr>
                  <p:cNvPr id="68" name="Grupa 4"/>
                  <p:cNvGrpSpPr>
                    <a:grpSpLocks/>
                  </p:cNvGrpSpPr>
                  <p:nvPr/>
                </p:nvGrpSpPr>
                <p:grpSpPr bwMode="auto">
                  <a:xfrm>
                    <a:off x="2555776" y="980728"/>
                    <a:ext cx="4114801" cy="3047999"/>
                    <a:chOff x="827015" y="1268621"/>
                    <a:chExt cx="4115014" cy="3047426"/>
                  </a:xfrm>
                </p:grpSpPr>
                <p:sp>
                  <p:nvSpPr>
                    <p:cNvPr id="71" name="Line 3"/>
                    <p:cNvSpPr>
                      <a:spLocks noChangeShapeType="1"/>
                    </p:cNvSpPr>
                    <p:nvPr/>
                  </p:nvSpPr>
                  <p:spPr bwMode="auto">
                    <a:xfrm flipV="1">
                      <a:off x="826754" y="1268621"/>
                      <a:ext cx="0" cy="304773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sp>
                  <p:nvSpPr>
                    <p:cNvPr id="72" name="Line 4"/>
                    <p:cNvSpPr>
                      <a:spLocks noChangeShapeType="1"/>
                    </p:cNvSpPr>
                    <p:nvPr/>
                  </p:nvSpPr>
                  <p:spPr bwMode="auto">
                    <a:xfrm>
                      <a:off x="826754" y="4316351"/>
                      <a:ext cx="4115541" cy="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grpSp>
              <p:sp>
                <p:nvSpPr>
                  <p:cNvPr id="69" name="Prostokąt 68"/>
                  <p:cNvSpPr/>
                  <p:nvPr/>
                </p:nvSpPr>
                <p:spPr>
                  <a:xfrm>
                    <a:off x="1762154" y="834951"/>
                    <a:ext cx="737593" cy="534536"/>
                  </a:xfrm>
                  <a:prstGeom prst="rect">
                    <a:avLst/>
                  </a:prstGeom>
                </p:spPr>
                <p:txBody>
                  <a:bodyPr wrap="none">
                    <a:spAutoFit/>
                  </a:bodyPr>
                  <a:lstStyle/>
                  <a:p>
                    <a:pPr>
                      <a:defRPr/>
                    </a:pPr>
                    <a:r>
                      <a:rPr lang="el-GR" sz="1200" dirty="0">
                        <a:solidFill>
                          <a:schemeClr val="accent1">
                            <a:lumMod val="50000"/>
                          </a:schemeClr>
                        </a:solidFill>
                        <a:latin typeface="Arial" pitchFamily="34" charset="0"/>
                        <a:ea typeface="Times New Roman" pitchFamily="18" charset="0"/>
                      </a:rPr>
                      <a:t>μ</a:t>
                    </a:r>
                    <a:r>
                      <a:rPr lang="pl-PL" sz="1200" dirty="0">
                        <a:solidFill>
                          <a:schemeClr val="accent1">
                            <a:lumMod val="50000"/>
                          </a:schemeClr>
                        </a:solidFill>
                        <a:latin typeface="Arial" pitchFamily="34" charset="0"/>
                        <a:ea typeface="Times New Roman" pitchFamily="18" charset="0"/>
                      </a:rPr>
                      <a:t>(r)</a:t>
                    </a:r>
                    <a:endParaRPr lang="pl-PL" sz="1200" dirty="0"/>
                  </a:p>
                </p:txBody>
              </p:sp>
              <p:sp>
                <p:nvSpPr>
                  <p:cNvPr id="70" name="Prostokąt 28"/>
                  <p:cNvSpPr>
                    <a:spLocks noChangeArrowheads="1"/>
                  </p:cNvSpPr>
                  <p:nvPr/>
                </p:nvSpPr>
                <p:spPr bwMode="auto">
                  <a:xfrm>
                    <a:off x="6107815" y="4029031"/>
                    <a:ext cx="563029" cy="534536"/>
                  </a:xfrm>
                  <a:prstGeom prst="rect">
                    <a:avLst/>
                  </a:prstGeom>
                  <a:noFill/>
                  <a:ln w="9525">
                    <a:noFill/>
                    <a:miter lim="800000"/>
                    <a:headEnd/>
                    <a:tailEnd/>
                  </a:ln>
                </p:spPr>
                <p:txBody>
                  <a:bodyPr wrap="none">
                    <a:spAutoFit/>
                  </a:bodyPr>
                  <a:lstStyle/>
                  <a:p>
                    <a:r>
                      <a:rPr lang="pl-PL" sz="1200" dirty="0" err="1">
                        <a:solidFill>
                          <a:srgbClr val="254061"/>
                        </a:solidFill>
                        <a:cs typeface="Times New Roman" pitchFamily="18" charset="0"/>
                      </a:rPr>
                      <a:t>sd</a:t>
                    </a:r>
                    <a:endParaRPr lang="pl-PL" sz="1200" dirty="0"/>
                  </a:p>
                </p:txBody>
              </p:sp>
            </p:grpSp>
            <p:grpSp>
              <p:nvGrpSpPr>
                <p:cNvPr id="65" name="Grupa 64"/>
                <p:cNvGrpSpPr/>
                <p:nvPr/>
              </p:nvGrpSpPr>
              <p:grpSpPr>
                <a:xfrm>
                  <a:off x="7160405" y="2727139"/>
                  <a:ext cx="1078642" cy="840494"/>
                  <a:chOff x="7160405" y="2727139"/>
                  <a:chExt cx="1078642" cy="840494"/>
                </a:xfrm>
              </p:grpSpPr>
              <p:sp>
                <p:nvSpPr>
                  <p:cNvPr id="66" name="Oval 22"/>
                  <p:cNvSpPr>
                    <a:spLocks noChangeArrowheads="1"/>
                  </p:cNvSpPr>
                  <p:nvPr/>
                </p:nvSpPr>
                <p:spPr bwMode="auto">
                  <a:xfrm>
                    <a:off x="7160405" y="3405510"/>
                    <a:ext cx="161636" cy="162123"/>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sp>
                <p:nvSpPr>
                  <p:cNvPr id="67" name="Oval 22"/>
                  <p:cNvSpPr>
                    <a:spLocks noChangeArrowheads="1"/>
                  </p:cNvSpPr>
                  <p:nvPr/>
                </p:nvSpPr>
                <p:spPr bwMode="auto">
                  <a:xfrm>
                    <a:off x="8075366" y="2727139"/>
                    <a:ext cx="163681" cy="162122"/>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grpSp>
          </p:grpSp>
        </p:grpSp>
        <p:sp>
          <p:nvSpPr>
            <p:cNvPr id="60" name="Prostokąt 59"/>
            <p:cNvSpPr/>
            <p:nvPr/>
          </p:nvSpPr>
          <p:spPr>
            <a:xfrm>
              <a:off x="9768319" y="1523272"/>
              <a:ext cx="295274" cy="369332"/>
            </a:xfrm>
            <a:prstGeom prst="rect">
              <a:avLst/>
            </a:prstGeom>
          </p:spPr>
          <p:txBody>
            <a:bodyPr wrap="none">
              <a:spAutoFit/>
            </a:bodyPr>
            <a:lstStyle/>
            <a:p>
              <a:r>
                <a:rPr lang="pl-PL" dirty="0">
                  <a:solidFill>
                    <a:schemeClr val="accent1">
                      <a:lumMod val="50000"/>
                    </a:schemeClr>
                  </a:solidFill>
                </a:rPr>
                <a:t>a</a:t>
              </a:r>
              <a:endParaRPr lang="pl-PL" dirty="0"/>
            </a:p>
          </p:txBody>
        </p:sp>
        <p:sp>
          <p:nvSpPr>
            <p:cNvPr id="61" name="Prostokąt 60"/>
            <p:cNvSpPr/>
            <p:nvPr/>
          </p:nvSpPr>
          <p:spPr>
            <a:xfrm>
              <a:off x="9558864" y="2031054"/>
              <a:ext cx="306494" cy="369332"/>
            </a:xfrm>
            <a:prstGeom prst="rect">
              <a:avLst/>
            </a:prstGeom>
          </p:spPr>
          <p:txBody>
            <a:bodyPr wrap="none">
              <a:spAutoFit/>
            </a:bodyPr>
            <a:lstStyle/>
            <a:p>
              <a:r>
                <a:rPr lang="pl-PL" dirty="0">
                  <a:solidFill>
                    <a:schemeClr val="accent1">
                      <a:lumMod val="50000"/>
                    </a:schemeClr>
                  </a:solidFill>
                </a:rPr>
                <a:t>b</a:t>
              </a:r>
              <a:endParaRPr lang="pl-PL" dirty="0"/>
            </a:p>
          </p:txBody>
        </p:sp>
      </p:grpSp>
    </p:spTree>
    <p:extLst>
      <p:ext uri="{BB962C8B-B14F-4D97-AF65-F5344CB8AC3E}">
        <p14:creationId xmlns:p14="http://schemas.microsoft.com/office/powerpoint/2010/main" val="13744123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ole tekstowe 41"/>
          <p:cNvSpPr txBox="1"/>
          <p:nvPr/>
        </p:nvSpPr>
        <p:spPr>
          <a:xfrm>
            <a:off x="289383" y="1382041"/>
            <a:ext cx="11399853" cy="1815882"/>
          </a:xfrm>
          <a:prstGeom prst="rect">
            <a:avLst/>
          </a:prstGeom>
          <a:noFill/>
        </p:spPr>
        <p:txBody>
          <a:bodyPr wrap="square">
            <a:spAutoFit/>
          </a:bodyPr>
          <a:lstStyle/>
          <a:p>
            <a:pPr algn="just">
              <a:defRPr/>
            </a:pPr>
            <a:r>
              <a:rPr lang="en-US" sz="2800" dirty="0">
                <a:solidFill>
                  <a:schemeClr val="accent5">
                    <a:lumMod val="50000"/>
                  </a:schemeClr>
                </a:solidFill>
              </a:rPr>
              <a:t>Usually, in finance, we rarely use a formal definition (except the First Order Stochastic Dominance).</a:t>
            </a:r>
            <a:r>
              <a:rPr lang="pl-PL" sz="2800" dirty="0">
                <a:solidFill>
                  <a:schemeClr val="accent5">
                    <a:lumMod val="50000"/>
                  </a:schemeClr>
                </a:solidFill>
              </a:rPr>
              <a:t> </a:t>
            </a:r>
            <a:r>
              <a:rPr lang="en-US" sz="2800" dirty="0">
                <a:solidFill>
                  <a:schemeClr val="accent5">
                    <a:lumMod val="50000"/>
                  </a:schemeClr>
                </a:solidFill>
              </a:rPr>
              <a:t>Instead, we calculate statistics, give them weights and create a sort of ranking [see </a:t>
            </a:r>
            <a:r>
              <a:rPr lang="en-US" sz="2800" dirty="0" err="1">
                <a:solidFill>
                  <a:srgbClr val="C00000"/>
                </a:solidFill>
              </a:rPr>
              <a:t>generalCorr</a:t>
            </a:r>
            <a:r>
              <a:rPr lang="en-US" sz="2800" dirty="0">
                <a:solidFill>
                  <a:schemeClr val="accent5">
                    <a:lumMod val="50000"/>
                  </a:schemeClr>
                </a:solidFill>
              </a:rPr>
              <a:t> package description</a:t>
            </a:r>
            <a:r>
              <a:rPr lang="pl-PL" sz="2800" dirty="0">
                <a:solidFill>
                  <a:schemeClr val="accent5">
                    <a:lumMod val="50000"/>
                  </a:schemeClr>
                </a:solidFill>
              </a:rPr>
              <a:t> and </a:t>
            </a:r>
            <a:r>
              <a:rPr lang="pl-PL" sz="2800" dirty="0">
                <a:solidFill>
                  <a:schemeClr val="accent5">
                    <a:lumMod val="50000"/>
                  </a:schemeClr>
                </a:solidFill>
                <a:sym typeface="Wingdings" panose="05000000000000000000" pitchFamily="2" charset="2"/>
              </a:rPr>
              <a:t> </a:t>
            </a:r>
            <a:r>
              <a:rPr lang="pl-PL" sz="2800" dirty="0">
                <a:solidFill>
                  <a:schemeClr val="accent5">
                    <a:lumMod val="50000"/>
                  </a:schemeClr>
                </a:solidFill>
              </a:rPr>
              <a:t>file </a:t>
            </a:r>
            <a:r>
              <a:rPr lang="pl-PL" sz="2800" dirty="0" err="1">
                <a:solidFill>
                  <a:schemeClr val="accent5">
                    <a:lumMod val="50000"/>
                  </a:schemeClr>
                </a:solidFill>
              </a:rPr>
              <a:t>stochastic_dominance.R</a:t>
            </a:r>
            <a:r>
              <a:rPr lang="en-US" sz="2800" dirty="0">
                <a:solidFill>
                  <a:schemeClr val="accent5">
                    <a:lumMod val="50000"/>
                  </a:schemeClr>
                </a:solidFill>
              </a:rPr>
              <a:t>]</a:t>
            </a:r>
            <a:endParaRPr lang="pl-PL" sz="2800" baseline="-25000" dirty="0">
              <a:solidFill>
                <a:schemeClr val="accent5">
                  <a:lumMod val="50000"/>
                </a:schemeClr>
              </a:solidFill>
            </a:endParaRPr>
          </a:p>
        </p:txBody>
      </p:sp>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en-US" sz="4000" b="1" dirty="0">
                <a:solidFill>
                  <a:schemeClr val="accent5">
                    <a:lumMod val="50000"/>
                  </a:schemeClr>
                </a:solidFill>
              </a:rPr>
              <a:t>Stochastic dominance on order 1 - 4</a:t>
            </a:r>
          </a:p>
        </p:txBody>
      </p:sp>
      <p:sp>
        <p:nvSpPr>
          <p:cNvPr id="2" name="Prostokąt 1"/>
          <p:cNvSpPr/>
          <p:nvPr/>
        </p:nvSpPr>
        <p:spPr>
          <a:xfrm>
            <a:off x="7953307" y="2742892"/>
            <a:ext cx="2561173" cy="1169551"/>
          </a:xfrm>
          <a:prstGeom prst="rect">
            <a:avLst/>
          </a:prstGeom>
        </p:spPr>
        <p:txBody>
          <a:bodyPr wrap="square">
            <a:spAutoFit/>
          </a:bodyPr>
          <a:lstStyle/>
          <a:p>
            <a:pPr algn="just"/>
            <a:r>
              <a:rPr lang="en-US" sz="1400" dirty="0"/>
              <a:t># Case 1</a:t>
            </a:r>
          </a:p>
          <a:p>
            <a:pPr algn="just"/>
            <a:r>
              <a:rPr lang="en-US" sz="1400" dirty="0"/>
              <a:t>x1 &lt;- 2*</a:t>
            </a:r>
            <a:r>
              <a:rPr lang="en-US" sz="1400" dirty="0" err="1"/>
              <a:t>rnorm</a:t>
            </a:r>
            <a:r>
              <a:rPr lang="en-US" sz="1400" dirty="0"/>
              <a:t>(40)</a:t>
            </a:r>
          </a:p>
          <a:p>
            <a:pPr algn="just"/>
            <a:r>
              <a:rPr lang="en-US" sz="1400" dirty="0"/>
              <a:t>x2 &lt;- x1 + 3*</a:t>
            </a:r>
            <a:r>
              <a:rPr lang="en-US" sz="1400" dirty="0" err="1"/>
              <a:t>runif</a:t>
            </a:r>
            <a:r>
              <a:rPr lang="en-US" sz="1400" dirty="0"/>
              <a:t>(40)</a:t>
            </a:r>
            <a:endParaRPr lang="pl-PL" sz="1400" dirty="0"/>
          </a:p>
          <a:p>
            <a:pPr algn="just"/>
            <a:r>
              <a:rPr lang="en-US" sz="1400" dirty="0" err="1"/>
              <a:t>decileVote</a:t>
            </a:r>
            <a:r>
              <a:rPr lang="en-US" sz="1400" dirty="0"/>
              <a:t>(</a:t>
            </a:r>
            <a:r>
              <a:rPr lang="en-US" sz="1400" dirty="0" err="1"/>
              <a:t>cbind</a:t>
            </a:r>
            <a:r>
              <a:rPr lang="en-US" sz="1400" dirty="0"/>
              <a:t>(x1,x2))</a:t>
            </a:r>
          </a:p>
          <a:p>
            <a:pPr algn="just"/>
            <a:r>
              <a:rPr lang="en-US" sz="1400" dirty="0" err="1"/>
              <a:t>momentVote</a:t>
            </a:r>
            <a:r>
              <a:rPr lang="en-US" sz="1400" dirty="0"/>
              <a:t>(</a:t>
            </a:r>
            <a:r>
              <a:rPr lang="en-US" sz="1400" dirty="0" err="1"/>
              <a:t>cbind</a:t>
            </a:r>
            <a:r>
              <a:rPr lang="en-US" sz="1400" dirty="0"/>
              <a:t>(x1,x2))</a:t>
            </a:r>
          </a:p>
        </p:txBody>
      </p:sp>
      <p:pic>
        <p:nvPicPr>
          <p:cNvPr id="3" name="Obraz 2"/>
          <p:cNvPicPr>
            <a:picLocks noChangeAspect="1"/>
          </p:cNvPicPr>
          <p:nvPr/>
        </p:nvPicPr>
        <p:blipFill>
          <a:blip r:embed="rId3"/>
          <a:stretch>
            <a:fillRect/>
          </a:stretch>
        </p:blipFill>
        <p:spPr>
          <a:xfrm>
            <a:off x="5989309" y="3912443"/>
            <a:ext cx="5597686" cy="2945557"/>
          </a:xfrm>
          <a:prstGeom prst="rect">
            <a:avLst/>
          </a:prstGeom>
        </p:spPr>
      </p:pic>
      <p:pic>
        <p:nvPicPr>
          <p:cNvPr id="12" name="Obraz 11"/>
          <p:cNvPicPr>
            <a:picLocks noChangeAspect="1"/>
          </p:cNvPicPr>
          <p:nvPr/>
        </p:nvPicPr>
        <p:blipFill>
          <a:blip r:embed="rId4"/>
          <a:stretch>
            <a:fillRect/>
          </a:stretch>
        </p:blipFill>
        <p:spPr>
          <a:xfrm>
            <a:off x="398801" y="3621228"/>
            <a:ext cx="5378848" cy="2752622"/>
          </a:xfrm>
          <a:prstGeom prst="rect">
            <a:avLst/>
          </a:prstGeom>
        </p:spPr>
      </p:pic>
    </p:spTree>
    <p:extLst>
      <p:ext uri="{BB962C8B-B14F-4D97-AF65-F5344CB8AC3E}">
        <p14:creationId xmlns:p14="http://schemas.microsoft.com/office/powerpoint/2010/main" val="2180375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ole tekstowe 41"/>
          <p:cNvSpPr txBox="1"/>
          <p:nvPr/>
        </p:nvSpPr>
        <p:spPr>
          <a:xfrm>
            <a:off x="213674" y="1100138"/>
            <a:ext cx="11703913" cy="1015663"/>
          </a:xfrm>
          <a:prstGeom prst="rect">
            <a:avLst/>
          </a:prstGeom>
          <a:noFill/>
        </p:spPr>
        <p:txBody>
          <a:bodyPr wrap="square">
            <a:spAutoFit/>
          </a:bodyPr>
          <a:lstStyle/>
          <a:p>
            <a:pPr algn="just">
              <a:defRPr/>
            </a:pPr>
            <a:r>
              <a:rPr lang="en-US" sz="2000" dirty="0">
                <a:solidFill>
                  <a:schemeClr val="accent5">
                    <a:lumMod val="50000"/>
                  </a:schemeClr>
                </a:solidFill>
              </a:rPr>
              <a:t>Problem:</a:t>
            </a:r>
            <a:r>
              <a:rPr lang="pl-PL" sz="2000" dirty="0">
                <a:solidFill>
                  <a:schemeClr val="accent5">
                    <a:lumMod val="50000"/>
                  </a:schemeClr>
                </a:solidFill>
              </a:rPr>
              <a:t> </a:t>
            </a:r>
            <a:r>
              <a:rPr lang="en-US" sz="2000" dirty="0">
                <a:solidFill>
                  <a:schemeClr val="accent5">
                    <a:lumMod val="50000"/>
                  </a:schemeClr>
                </a:solidFill>
              </a:rPr>
              <a:t>Do households that use banking services have significantly higher incomes than households that do not use banking services? You can use the t-test or the non-parametric </a:t>
            </a:r>
            <a:r>
              <a:rPr lang="en-US" sz="2000" dirty="0" err="1">
                <a:solidFill>
                  <a:schemeClr val="accent5">
                    <a:lumMod val="50000"/>
                  </a:schemeClr>
                </a:solidFill>
              </a:rPr>
              <a:t>Kologomorov</a:t>
            </a:r>
            <a:r>
              <a:rPr lang="en-US" sz="2000" dirty="0">
                <a:solidFill>
                  <a:schemeClr val="accent5">
                    <a:lumMod val="50000"/>
                  </a:schemeClr>
                </a:solidFill>
              </a:rPr>
              <a:t>-Smirnoff test.  (Are the samples from the same distribution?)</a:t>
            </a:r>
            <a:endParaRPr lang="pl-PL" sz="2000" baseline="-25000" dirty="0">
              <a:solidFill>
                <a:schemeClr val="accent5">
                  <a:lumMod val="50000"/>
                </a:schemeClr>
              </a:solidFill>
            </a:endParaRPr>
          </a:p>
        </p:txBody>
      </p:sp>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en-US" sz="4000" b="1" dirty="0">
                <a:solidFill>
                  <a:schemeClr val="accent5">
                    <a:lumMod val="50000"/>
                  </a:schemeClr>
                </a:solidFill>
              </a:rPr>
              <a:t>How to apply the first-order stochastic dominance </a:t>
            </a:r>
            <a:r>
              <a:rPr lang="pl-PL" sz="4000" b="1" dirty="0">
                <a:solidFill>
                  <a:schemeClr val="accent5">
                    <a:lumMod val="50000"/>
                  </a:schemeClr>
                </a:solidFill>
              </a:rPr>
              <a:t>to</a:t>
            </a:r>
            <a:r>
              <a:rPr lang="en-US" sz="4000" b="1" dirty="0">
                <a:solidFill>
                  <a:schemeClr val="accent5">
                    <a:lumMod val="50000"/>
                  </a:schemeClr>
                </a:solidFill>
              </a:rPr>
              <a:t> measure inequality</a:t>
            </a:r>
            <a:r>
              <a:rPr lang="pl-PL" sz="4000" b="1" dirty="0">
                <a:solidFill>
                  <a:schemeClr val="accent5">
                    <a:lumMod val="50000"/>
                  </a:schemeClr>
                </a:solidFill>
              </a:rPr>
              <a:t> (</a:t>
            </a:r>
            <a:r>
              <a:rPr lang="pl-PL" sz="4000" b="1" dirty="0" err="1">
                <a:solidFill>
                  <a:schemeClr val="accent5">
                    <a:lumMod val="50000"/>
                  </a:schemeClr>
                </a:solidFill>
              </a:rPr>
              <a:t>bank.acount.R</a:t>
            </a:r>
            <a:r>
              <a:rPr lang="pl-PL" sz="4000" b="1" dirty="0">
                <a:solidFill>
                  <a:schemeClr val="accent5">
                    <a:lumMod val="50000"/>
                  </a:schemeClr>
                </a:solidFill>
              </a:rPr>
              <a:t>)</a:t>
            </a:r>
            <a:endParaRPr lang="en-US" sz="4000" b="1" dirty="0">
              <a:solidFill>
                <a:schemeClr val="accent5">
                  <a:lumMod val="50000"/>
                </a:schemeClr>
              </a:solidFill>
            </a:endParaRPr>
          </a:p>
        </p:txBody>
      </p:sp>
      <p:pic>
        <p:nvPicPr>
          <p:cNvPr id="8" name="Picture 4"/>
          <p:cNvPicPr/>
          <p:nvPr/>
        </p:nvPicPr>
        <p:blipFill>
          <a:blip r:embed="rId3"/>
          <a:stretch/>
        </p:blipFill>
        <p:spPr>
          <a:xfrm>
            <a:off x="3407742" y="2115801"/>
            <a:ext cx="3281040" cy="2595758"/>
          </a:xfrm>
          <a:prstGeom prst="rect">
            <a:avLst/>
          </a:prstGeom>
          <a:ln>
            <a:noFill/>
          </a:ln>
        </p:spPr>
      </p:pic>
      <p:pic>
        <p:nvPicPr>
          <p:cNvPr id="10" name="Picture 3"/>
          <p:cNvPicPr/>
          <p:nvPr/>
        </p:nvPicPr>
        <p:blipFill>
          <a:blip r:embed="rId4"/>
          <a:stretch/>
        </p:blipFill>
        <p:spPr>
          <a:xfrm>
            <a:off x="329308" y="2033113"/>
            <a:ext cx="2962800" cy="2595280"/>
          </a:xfrm>
          <a:prstGeom prst="rect">
            <a:avLst/>
          </a:prstGeom>
          <a:ln>
            <a:noFill/>
          </a:ln>
        </p:spPr>
      </p:pic>
      <p:sp>
        <p:nvSpPr>
          <p:cNvPr id="13" name="CustomShape 3"/>
          <p:cNvSpPr/>
          <p:nvPr/>
        </p:nvSpPr>
        <p:spPr>
          <a:xfrm>
            <a:off x="6521187" y="5741616"/>
            <a:ext cx="5396400" cy="731880"/>
          </a:xfrm>
          <a:prstGeom prst="rect">
            <a:avLst/>
          </a:prstGeom>
          <a:ln>
            <a:round/>
          </a:ln>
        </p:spPr>
        <p:style>
          <a:lnRef idx="2">
            <a:schemeClr val="accent3"/>
          </a:lnRef>
          <a:fillRef idx="1">
            <a:schemeClr val="lt1"/>
          </a:fillRef>
          <a:effectRef idx="0">
            <a:schemeClr val="accent3"/>
          </a:effectRef>
          <a:fontRef idx="minor"/>
        </p:style>
        <p:txBody>
          <a:bodyPr lIns="90000" tIns="45000" rIns="90000" bIns="45000"/>
          <a:lstStyle/>
          <a:p>
            <a:pPr>
              <a:lnSpc>
                <a:spcPct val="100000"/>
              </a:lnSpc>
            </a:pPr>
            <a:r>
              <a:rPr lang="pl-PL" sz="1600" strike="noStrike" spc="-1" dirty="0" err="1">
                <a:solidFill>
                  <a:srgbClr val="000000"/>
                </a:solidFill>
                <a:uFill>
                  <a:solidFill>
                    <a:srgbClr val="FFFFFF"/>
                  </a:solidFill>
                </a:uFill>
                <a:latin typeface="Calibri"/>
              </a:rPr>
              <a:t>Two-sample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Kolmogorov-Smirnov</a:t>
            </a:r>
            <a:r>
              <a:rPr lang="pl-PL" sz="1600" strike="noStrike" spc="-1" dirty="0">
                <a:solidFill>
                  <a:srgbClr val="000000"/>
                </a:solidFill>
                <a:uFill>
                  <a:solidFill>
                    <a:srgbClr val="FFFFFF"/>
                  </a:solidFill>
                </a:uFill>
                <a:latin typeface="Calibri"/>
              </a:rPr>
              <a:t> test</a:t>
            </a:r>
            <a:endParaRPr dirty="0"/>
          </a:p>
          <a:p>
            <a:pPr>
              <a:lnSpc>
                <a:spcPct val="100000"/>
              </a:lnSpc>
            </a:pPr>
            <a:r>
              <a:rPr lang="pl-PL" sz="1600" strike="noStrike" spc="-1" dirty="0">
                <a:solidFill>
                  <a:srgbClr val="000000"/>
                </a:solidFill>
                <a:uFill>
                  <a:solidFill>
                    <a:srgbClr val="FFFFFF"/>
                  </a:solidFill>
                </a:uFill>
                <a:latin typeface="Calibri"/>
              </a:rPr>
              <a:t>D^+ = 0.46972, p-</a:t>
            </a:r>
            <a:r>
              <a:rPr lang="pl-PL" sz="1600" strike="noStrike" spc="-1" dirty="0" err="1">
                <a:solidFill>
                  <a:srgbClr val="000000"/>
                </a:solidFill>
                <a:uFill>
                  <a:solidFill>
                    <a:srgbClr val="FFFFFF"/>
                  </a:solidFill>
                </a:uFill>
                <a:latin typeface="Calibri"/>
              </a:rPr>
              <a:t>value</a:t>
            </a:r>
            <a:r>
              <a:rPr lang="pl-PL" sz="1600" strike="noStrike" spc="-1" dirty="0">
                <a:solidFill>
                  <a:srgbClr val="000000"/>
                </a:solidFill>
                <a:uFill>
                  <a:solidFill>
                    <a:srgbClr val="FFFFFF"/>
                  </a:solidFill>
                </a:uFill>
                <a:latin typeface="Calibri"/>
              </a:rPr>
              <a:t> &lt; 2.2e-16</a:t>
            </a:r>
            <a:endParaRPr dirty="0"/>
          </a:p>
          <a:p>
            <a:pPr>
              <a:lnSpc>
                <a:spcPct val="100000"/>
              </a:lnSpc>
            </a:pPr>
            <a:r>
              <a:rPr lang="pl-PL" sz="1600" strike="noStrike" spc="-1" dirty="0" err="1">
                <a:solidFill>
                  <a:srgbClr val="000000"/>
                </a:solidFill>
                <a:uFill>
                  <a:solidFill>
                    <a:srgbClr val="FFFFFF"/>
                  </a:solidFill>
                </a:uFill>
                <a:latin typeface="Calibri"/>
              </a:rPr>
              <a:t>alternative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hypothesis</a:t>
            </a:r>
            <a:r>
              <a:rPr lang="pl-PL" sz="1600" strike="noStrike" spc="-1" dirty="0">
                <a:solidFill>
                  <a:srgbClr val="000000"/>
                </a:solidFill>
                <a:uFill>
                  <a:solidFill>
                    <a:srgbClr val="FFFFFF"/>
                  </a:solidFill>
                </a:uFill>
                <a:latin typeface="Calibri"/>
              </a:rPr>
              <a:t>: the CDF of x </a:t>
            </a:r>
            <a:r>
              <a:rPr lang="pl-PL" sz="1600" strike="noStrike" spc="-1" dirty="0" err="1">
                <a:solidFill>
                  <a:srgbClr val="000000"/>
                </a:solidFill>
                <a:uFill>
                  <a:solidFill>
                    <a:srgbClr val="FFFFFF"/>
                  </a:solidFill>
                </a:uFill>
                <a:latin typeface="Calibri"/>
              </a:rPr>
              <a:t>lies</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above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that</a:t>
            </a:r>
            <a:r>
              <a:rPr lang="pl-PL" sz="1600" strike="noStrike" spc="-1" dirty="0">
                <a:solidFill>
                  <a:srgbClr val="000000"/>
                </a:solidFill>
                <a:uFill>
                  <a:solidFill>
                    <a:srgbClr val="FFFFFF"/>
                  </a:solidFill>
                </a:uFill>
                <a:latin typeface="Calibri"/>
              </a:rPr>
              <a:t> of y</a:t>
            </a:r>
            <a:endParaRPr dirty="0"/>
          </a:p>
        </p:txBody>
      </p:sp>
      <p:sp>
        <p:nvSpPr>
          <p:cNvPr id="14" name="CustomShape 4"/>
          <p:cNvSpPr/>
          <p:nvPr/>
        </p:nvSpPr>
        <p:spPr>
          <a:xfrm>
            <a:off x="80759" y="5433365"/>
            <a:ext cx="6227640" cy="1234080"/>
          </a:xfrm>
          <a:prstGeom prst="rect">
            <a:avLst/>
          </a:prstGeom>
          <a:ln>
            <a:round/>
          </a:ln>
        </p:spPr>
        <p:style>
          <a:lnRef idx="2">
            <a:schemeClr val="accent3"/>
          </a:lnRef>
          <a:fillRef idx="1">
            <a:schemeClr val="lt1"/>
          </a:fillRef>
          <a:effectRef idx="0">
            <a:schemeClr val="accent3"/>
          </a:effectRef>
          <a:fontRef idx="minor"/>
        </p:style>
        <p:txBody>
          <a:bodyPr lIns="90000" tIns="45000" rIns="90000" bIns="45000"/>
          <a:lstStyle/>
          <a:p>
            <a:pPr>
              <a:lnSpc>
                <a:spcPct val="100000"/>
              </a:lnSpc>
            </a:pPr>
            <a:r>
              <a:rPr lang="pl-PL" sz="1600" strike="noStrike" spc="-1" dirty="0">
                <a:solidFill>
                  <a:srgbClr val="000000"/>
                </a:solidFill>
                <a:uFill>
                  <a:solidFill>
                    <a:srgbClr val="FFFFFF"/>
                  </a:solidFill>
                </a:uFill>
                <a:latin typeface="Calibri"/>
              </a:rPr>
              <a:t>Welch </a:t>
            </a:r>
            <a:r>
              <a:rPr lang="pl-PL" sz="1600" strike="noStrike" spc="-1" dirty="0" err="1">
                <a:solidFill>
                  <a:srgbClr val="000000"/>
                </a:solidFill>
                <a:uFill>
                  <a:solidFill>
                    <a:srgbClr val="FFFFFF"/>
                  </a:solidFill>
                </a:uFill>
                <a:latin typeface="Calibri"/>
              </a:rPr>
              <a:t>Two</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Sample</a:t>
            </a:r>
            <a:r>
              <a:rPr lang="pl-PL" sz="1600" strike="noStrike" spc="-1" dirty="0">
                <a:solidFill>
                  <a:srgbClr val="000000"/>
                </a:solidFill>
                <a:uFill>
                  <a:solidFill>
                    <a:srgbClr val="FFFFFF"/>
                  </a:solidFill>
                </a:uFill>
                <a:latin typeface="Calibri"/>
              </a:rPr>
              <a:t> t-test</a:t>
            </a:r>
            <a:endParaRPr dirty="0"/>
          </a:p>
          <a:p>
            <a:pPr>
              <a:lnSpc>
                <a:spcPct val="100000"/>
              </a:lnSpc>
            </a:pPr>
            <a:r>
              <a:rPr lang="pl-PL" sz="1600" strike="noStrike" spc="-1" dirty="0">
                <a:solidFill>
                  <a:srgbClr val="000000"/>
                </a:solidFill>
                <a:uFill>
                  <a:solidFill>
                    <a:srgbClr val="FFFFFF"/>
                  </a:solidFill>
                </a:uFill>
                <a:latin typeface="Calibri"/>
              </a:rPr>
              <a:t>t = -48.44, </a:t>
            </a:r>
            <a:r>
              <a:rPr lang="pl-PL" sz="1600" strike="noStrike" spc="-1" dirty="0" err="1">
                <a:solidFill>
                  <a:srgbClr val="000000"/>
                </a:solidFill>
                <a:uFill>
                  <a:solidFill>
                    <a:srgbClr val="FFFFFF"/>
                  </a:solidFill>
                </a:uFill>
                <a:latin typeface="Calibri"/>
              </a:rPr>
              <a:t>df</a:t>
            </a:r>
            <a:r>
              <a:rPr lang="pl-PL" sz="1600" strike="noStrike" spc="-1" dirty="0">
                <a:solidFill>
                  <a:srgbClr val="000000"/>
                </a:solidFill>
                <a:uFill>
                  <a:solidFill>
                    <a:srgbClr val="FFFFFF"/>
                  </a:solidFill>
                </a:uFill>
                <a:latin typeface="Calibri"/>
              </a:rPr>
              <a:t> = 4633.4, p-</a:t>
            </a:r>
            <a:r>
              <a:rPr lang="pl-PL" sz="1600" strike="noStrike" spc="-1" dirty="0" err="1">
                <a:solidFill>
                  <a:srgbClr val="000000"/>
                </a:solidFill>
                <a:uFill>
                  <a:solidFill>
                    <a:srgbClr val="FFFFFF"/>
                  </a:solidFill>
                </a:uFill>
                <a:latin typeface="Calibri"/>
              </a:rPr>
              <a:t>value</a:t>
            </a:r>
            <a:r>
              <a:rPr lang="pl-PL" sz="1600" strike="noStrike" spc="-1" dirty="0">
                <a:solidFill>
                  <a:srgbClr val="000000"/>
                </a:solidFill>
                <a:uFill>
                  <a:solidFill>
                    <a:srgbClr val="FFFFFF"/>
                  </a:solidFill>
                </a:uFill>
                <a:latin typeface="Calibri"/>
              </a:rPr>
              <a:t> &lt; 2.2e-16</a:t>
            </a:r>
            <a:endParaRPr dirty="0"/>
          </a:p>
          <a:p>
            <a:pPr>
              <a:lnSpc>
                <a:spcPct val="100000"/>
              </a:lnSpc>
            </a:pPr>
            <a:r>
              <a:rPr lang="pl-PL" sz="1600" strike="noStrike" spc="-1" dirty="0" err="1">
                <a:solidFill>
                  <a:srgbClr val="000000"/>
                </a:solidFill>
                <a:uFill>
                  <a:solidFill>
                    <a:srgbClr val="FFFFFF"/>
                  </a:solidFill>
                </a:uFill>
                <a:latin typeface="Calibri"/>
              </a:rPr>
              <a:t>alternative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hypothesis</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true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difference</a:t>
            </a:r>
            <a:r>
              <a:rPr lang="pl-PL" sz="1600" strike="noStrike" spc="-1" dirty="0">
                <a:solidFill>
                  <a:srgbClr val="000000"/>
                </a:solidFill>
                <a:uFill>
                  <a:solidFill>
                    <a:srgbClr val="FFFFFF"/>
                  </a:solidFill>
                </a:uFill>
                <a:latin typeface="Calibri"/>
              </a:rPr>
              <a:t> in </a:t>
            </a:r>
            <a:r>
              <a:rPr lang="pl-PL" sz="1600" strike="noStrike" spc="-1" dirty="0" err="1">
                <a:solidFill>
                  <a:srgbClr val="000000"/>
                </a:solidFill>
                <a:uFill>
                  <a:solidFill>
                    <a:srgbClr val="FFFFFF"/>
                  </a:solidFill>
                </a:uFill>
                <a:latin typeface="Calibri"/>
              </a:rPr>
              <a:t>means</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is</a:t>
            </a:r>
            <a:r>
              <a:rPr lang="pl-PL" sz="1600" strike="noStrike" spc="-1" dirty="0">
                <a:solidFill>
                  <a:srgbClr val="000000"/>
                </a:solidFill>
                <a:uFill>
                  <a:solidFill>
                    <a:srgbClr val="FFFFFF"/>
                  </a:solidFill>
                </a:uFill>
                <a:latin typeface="Calibri"/>
              </a:rPr>
              <a:t> less </a:t>
            </a:r>
            <a:r>
              <a:rPr lang="pl-PL" sz="1600" strike="noStrike" spc="-1" dirty="0" err="1">
                <a:solidFill>
                  <a:srgbClr val="000000"/>
                </a:solidFill>
                <a:uFill>
                  <a:solidFill>
                    <a:srgbClr val="FFFFFF"/>
                  </a:solidFill>
                </a:uFill>
                <a:latin typeface="Calibri"/>
              </a:rPr>
              <a:t>than</a:t>
            </a:r>
            <a:r>
              <a:rPr lang="pl-PL" sz="1600" strike="noStrike" spc="-1" dirty="0">
                <a:solidFill>
                  <a:srgbClr val="000000"/>
                </a:solidFill>
                <a:uFill>
                  <a:solidFill>
                    <a:srgbClr val="FFFFFF"/>
                  </a:solidFill>
                </a:uFill>
                <a:latin typeface="Calibri"/>
              </a:rPr>
              <a:t> 0</a:t>
            </a:r>
            <a:endParaRPr dirty="0"/>
          </a:p>
          <a:p>
            <a:pPr>
              <a:lnSpc>
                <a:spcPct val="100000"/>
              </a:lnSpc>
            </a:pPr>
            <a:r>
              <a:rPr lang="pl-PL" sz="1600" strike="noStrike" spc="-1" dirty="0" err="1">
                <a:solidFill>
                  <a:srgbClr val="000000"/>
                </a:solidFill>
                <a:uFill>
                  <a:solidFill>
                    <a:srgbClr val="FFFFFF"/>
                  </a:solidFill>
                </a:uFill>
                <a:latin typeface="Calibri"/>
              </a:rPr>
              <a:t>mean</a:t>
            </a:r>
            <a:r>
              <a:rPr lang="pl-PL" sz="1600" strike="noStrike" spc="-1" dirty="0">
                <a:solidFill>
                  <a:srgbClr val="000000"/>
                </a:solidFill>
                <a:uFill>
                  <a:solidFill>
                    <a:srgbClr val="FFFFFF"/>
                  </a:solidFill>
                </a:uFill>
                <a:latin typeface="Calibri"/>
              </a:rPr>
              <a:t> of x </a:t>
            </a:r>
            <a:r>
              <a:rPr lang="pl-PL" sz="1600" strike="noStrike" spc="-1" dirty="0" err="1">
                <a:solidFill>
                  <a:srgbClr val="000000"/>
                </a:solidFill>
                <a:uFill>
                  <a:solidFill>
                    <a:srgbClr val="FFFFFF"/>
                  </a:solidFill>
                </a:uFill>
                <a:latin typeface="Calibri"/>
              </a:rPr>
              <a:t>mean</a:t>
            </a:r>
            <a:r>
              <a:rPr lang="pl-PL" sz="1600" strike="noStrike" spc="-1" dirty="0">
                <a:solidFill>
                  <a:srgbClr val="000000"/>
                </a:solidFill>
                <a:uFill>
                  <a:solidFill>
                    <a:srgbClr val="FFFFFF"/>
                  </a:solidFill>
                </a:uFill>
                <a:latin typeface="Calibri"/>
              </a:rPr>
              <a:t> of y </a:t>
            </a:r>
            <a:endParaRPr dirty="0"/>
          </a:p>
          <a:p>
            <a:pPr>
              <a:lnSpc>
                <a:spcPct val="100000"/>
              </a:lnSpc>
            </a:pPr>
            <a:r>
              <a:rPr lang="pl-PL" sz="1600" strike="noStrike" spc="-1" dirty="0">
                <a:solidFill>
                  <a:srgbClr val="000000"/>
                </a:solidFill>
                <a:uFill>
                  <a:solidFill>
                    <a:srgbClr val="FFFFFF"/>
                  </a:solidFill>
                </a:uFill>
                <a:latin typeface="Calibri"/>
              </a:rPr>
              <a:t> 1910.302  3814.441</a:t>
            </a:r>
            <a:endParaRPr dirty="0"/>
          </a:p>
          <a:p>
            <a:pPr>
              <a:lnSpc>
                <a:spcPct val="100000"/>
              </a:lnSpc>
            </a:pPr>
            <a:endParaRPr dirty="0"/>
          </a:p>
        </p:txBody>
      </p:sp>
      <p:sp>
        <p:nvSpPr>
          <p:cNvPr id="15" name="CustomShape 5"/>
          <p:cNvSpPr/>
          <p:nvPr/>
        </p:nvSpPr>
        <p:spPr>
          <a:xfrm>
            <a:off x="7056655" y="2789476"/>
            <a:ext cx="4860932" cy="1650371"/>
          </a:xfrm>
          <a:prstGeom prst="rect">
            <a:avLst/>
          </a:prstGeom>
          <a:ln>
            <a:round/>
          </a:ln>
        </p:spPr>
        <p:style>
          <a:lnRef idx="2">
            <a:schemeClr val="accent1"/>
          </a:lnRef>
          <a:fillRef idx="1">
            <a:schemeClr val="lt1"/>
          </a:fillRef>
          <a:effectRef idx="0">
            <a:schemeClr val="accent1"/>
          </a:effectRef>
          <a:fontRef idx="minor"/>
        </p:style>
        <p:txBody>
          <a:bodyPr lIns="90000" tIns="45000" rIns="90000" bIns="45000"/>
          <a:lstStyle/>
          <a:p>
            <a:pPr>
              <a:lnSpc>
                <a:spcPct val="100000"/>
              </a:lnSpc>
            </a:pPr>
            <a:r>
              <a:rPr lang="en-US" sz="2000" spc="-1" dirty="0">
                <a:solidFill>
                  <a:srgbClr val="000000"/>
                </a:solidFill>
                <a:uFill>
                  <a:solidFill>
                    <a:srgbClr val="FFFFFF"/>
                  </a:solidFill>
                </a:uFill>
              </a:rPr>
              <a:t>H0: The samples are from the same distribution.</a:t>
            </a:r>
          </a:p>
          <a:p>
            <a:pPr>
              <a:lnSpc>
                <a:spcPct val="100000"/>
              </a:lnSpc>
            </a:pPr>
            <a:r>
              <a:rPr lang="en-US" sz="2000" spc="-1" dirty="0">
                <a:solidFill>
                  <a:srgbClr val="000000"/>
                </a:solidFill>
                <a:uFill>
                  <a:solidFill>
                    <a:srgbClr val="FFFFFF"/>
                  </a:solidFill>
                </a:uFill>
              </a:rPr>
              <a:t>H1: CDF </a:t>
            </a:r>
            <a:r>
              <a:rPr lang="en-US" sz="2000" spc="-1" dirty="0" err="1">
                <a:solidFill>
                  <a:srgbClr val="000000"/>
                </a:solidFill>
                <a:uFill>
                  <a:solidFill>
                    <a:srgbClr val="FFFFFF"/>
                  </a:solidFill>
                </a:uFill>
              </a:rPr>
              <a:t>Income.no.bank.account</a:t>
            </a:r>
            <a:endParaRPr lang="en-US" sz="2000" spc="-1" dirty="0">
              <a:solidFill>
                <a:srgbClr val="000000"/>
              </a:solidFill>
              <a:uFill>
                <a:solidFill>
                  <a:srgbClr val="FFFFFF"/>
                </a:solidFill>
              </a:uFill>
            </a:endParaRPr>
          </a:p>
          <a:p>
            <a:pPr>
              <a:lnSpc>
                <a:spcPct val="100000"/>
              </a:lnSpc>
            </a:pPr>
            <a:r>
              <a:rPr lang="en-US" sz="2000" spc="-1" dirty="0">
                <a:solidFill>
                  <a:srgbClr val="000000"/>
                </a:solidFill>
                <a:uFill>
                  <a:solidFill>
                    <a:srgbClr val="FFFFFF"/>
                  </a:solidFill>
                </a:uFill>
              </a:rPr>
              <a:t>lies above CDF </a:t>
            </a:r>
            <a:r>
              <a:rPr lang="en-US" sz="2000" spc="-1" dirty="0" err="1">
                <a:solidFill>
                  <a:srgbClr val="000000"/>
                </a:solidFill>
                <a:uFill>
                  <a:solidFill>
                    <a:srgbClr val="FFFFFF"/>
                  </a:solidFill>
                </a:uFill>
              </a:rPr>
              <a:t>Income.with.bank.account</a:t>
            </a:r>
            <a:endParaRPr lang="pl-PL" sz="2000" spc="-1" dirty="0">
              <a:solidFill>
                <a:srgbClr val="000000"/>
              </a:solidFill>
              <a:uFill>
                <a:solidFill>
                  <a:srgbClr val="FFFFFF"/>
                </a:solidFill>
              </a:uFill>
            </a:endParaRPr>
          </a:p>
          <a:p>
            <a:pPr>
              <a:lnSpc>
                <a:spcPct val="100000"/>
              </a:lnSpc>
            </a:pPr>
            <a:r>
              <a:rPr lang="pl-PL" sz="2000" spc="-1" dirty="0">
                <a:solidFill>
                  <a:srgbClr val="000000"/>
                </a:solidFill>
                <a:uFill>
                  <a:solidFill>
                    <a:srgbClr val="FFFFFF"/>
                  </a:solidFill>
                </a:uFill>
              </a:rPr>
              <a:t>(K-S test)</a:t>
            </a:r>
            <a:endParaRPr sz="2000" dirty="0"/>
          </a:p>
        </p:txBody>
      </p:sp>
      <p:sp>
        <p:nvSpPr>
          <p:cNvPr id="16" name="CustomShape 6"/>
          <p:cNvSpPr/>
          <p:nvPr/>
        </p:nvSpPr>
        <p:spPr>
          <a:xfrm>
            <a:off x="80759" y="4711559"/>
            <a:ext cx="8217360" cy="638640"/>
          </a:xfrm>
          <a:prstGeom prst="rect">
            <a:avLst/>
          </a:prstGeom>
          <a:ln>
            <a:round/>
          </a:ln>
        </p:spPr>
        <p:style>
          <a:lnRef idx="2">
            <a:schemeClr val="accent2"/>
          </a:lnRef>
          <a:fillRef idx="1">
            <a:schemeClr val="lt1"/>
          </a:fillRef>
          <a:effectRef idx="0">
            <a:schemeClr val="accent2"/>
          </a:effectRef>
          <a:fontRef idx="minor"/>
        </p:style>
        <p:txBody>
          <a:bodyPr lIns="90000" tIns="45000" rIns="90000" bIns="45000"/>
          <a:lstStyle/>
          <a:p>
            <a:pPr>
              <a:lnSpc>
                <a:spcPct val="100000"/>
              </a:lnSpc>
            </a:pPr>
            <a:r>
              <a:rPr lang="pl-PL" sz="1800" strike="noStrike" spc="-1" dirty="0" err="1">
                <a:solidFill>
                  <a:srgbClr val="000000"/>
                </a:solidFill>
                <a:uFill>
                  <a:solidFill>
                    <a:srgbClr val="FFFFFF"/>
                  </a:solidFill>
                </a:uFill>
                <a:latin typeface="Calibri"/>
              </a:rPr>
              <a:t>t.test</a:t>
            </a:r>
            <a:r>
              <a:rPr lang="pl-PL" sz="1800" strike="noStrike" spc="-1" dirty="0">
                <a:solidFill>
                  <a:srgbClr val="000000"/>
                </a:solidFill>
                <a:uFill>
                  <a:solidFill>
                    <a:srgbClr val="FFFFFF"/>
                  </a:solidFill>
                </a:uFill>
                <a:latin typeface="Calibri"/>
              </a:rPr>
              <a:t>(</a:t>
            </a:r>
            <a:r>
              <a:rPr lang="pl-PL" sz="1800" strike="noStrike" spc="-1" dirty="0" err="1">
                <a:solidFill>
                  <a:srgbClr val="000000"/>
                </a:solidFill>
                <a:uFill>
                  <a:solidFill>
                    <a:srgbClr val="FFFFFF"/>
                  </a:solidFill>
                </a:uFill>
                <a:latin typeface="Calibri"/>
              </a:rPr>
              <a:t>Income.no.bank.account,Income.with.bank.account</a:t>
            </a:r>
            <a:r>
              <a:rPr lang="pl-PL" sz="1800" strike="noStrike" spc="-1" dirty="0">
                <a:solidFill>
                  <a:srgbClr val="000000"/>
                </a:solidFill>
                <a:uFill>
                  <a:solidFill>
                    <a:srgbClr val="FFFFFF"/>
                  </a:solidFill>
                </a:uFill>
                <a:latin typeface="Calibri"/>
              </a:rPr>
              <a:t>, </a:t>
            </a:r>
            <a:r>
              <a:rPr lang="pl-PL" sz="1800" strike="noStrike" spc="-1" dirty="0" err="1">
                <a:solidFill>
                  <a:srgbClr val="000000"/>
                </a:solidFill>
                <a:uFill>
                  <a:solidFill>
                    <a:srgbClr val="FFFFFF"/>
                  </a:solidFill>
                </a:uFill>
                <a:latin typeface="Calibri"/>
              </a:rPr>
              <a:t>alternative</a:t>
            </a:r>
            <a:r>
              <a:rPr lang="pl-PL" sz="1800" strike="noStrike" spc="-1" dirty="0">
                <a:solidFill>
                  <a:srgbClr val="000000"/>
                </a:solidFill>
                <a:uFill>
                  <a:solidFill>
                    <a:srgbClr val="FFFFFF"/>
                  </a:solidFill>
                </a:uFill>
                <a:latin typeface="Calibri"/>
              </a:rPr>
              <a:t> = "less" )</a:t>
            </a:r>
            <a:endParaRPr dirty="0"/>
          </a:p>
          <a:p>
            <a:pPr>
              <a:lnSpc>
                <a:spcPct val="100000"/>
              </a:lnSpc>
            </a:pPr>
            <a:r>
              <a:rPr lang="pl-PL" sz="1800" strike="noStrike" spc="-1" dirty="0" err="1">
                <a:solidFill>
                  <a:srgbClr val="000000"/>
                </a:solidFill>
                <a:uFill>
                  <a:solidFill>
                    <a:srgbClr val="FFFFFF"/>
                  </a:solidFill>
                </a:uFill>
                <a:latin typeface="Calibri"/>
              </a:rPr>
              <a:t>ks.test</a:t>
            </a:r>
            <a:r>
              <a:rPr lang="pl-PL" sz="1800" strike="noStrike" spc="-1" dirty="0">
                <a:solidFill>
                  <a:srgbClr val="000000"/>
                </a:solidFill>
                <a:uFill>
                  <a:solidFill>
                    <a:srgbClr val="FFFFFF"/>
                  </a:solidFill>
                </a:uFill>
                <a:latin typeface="Calibri"/>
              </a:rPr>
              <a:t>(</a:t>
            </a:r>
            <a:r>
              <a:rPr lang="pl-PL" sz="1800" strike="noStrike" spc="-1" dirty="0" err="1">
                <a:solidFill>
                  <a:srgbClr val="000000"/>
                </a:solidFill>
                <a:uFill>
                  <a:solidFill>
                    <a:srgbClr val="FFFFFF"/>
                  </a:solidFill>
                </a:uFill>
                <a:latin typeface="Calibri"/>
              </a:rPr>
              <a:t>Income.no.bank.account,Income.with.bank.account</a:t>
            </a:r>
            <a:r>
              <a:rPr lang="pl-PL" sz="1800" strike="noStrike" spc="-1" dirty="0">
                <a:solidFill>
                  <a:srgbClr val="000000"/>
                </a:solidFill>
                <a:uFill>
                  <a:solidFill>
                    <a:srgbClr val="FFFFFF"/>
                  </a:solidFill>
                </a:uFill>
                <a:latin typeface="Calibri"/>
              </a:rPr>
              <a:t>, </a:t>
            </a:r>
            <a:r>
              <a:rPr lang="pl-PL" sz="1800" strike="noStrike" spc="-1" dirty="0" err="1">
                <a:solidFill>
                  <a:srgbClr val="000000"/>
                </a:solidFill>
                <a:uFill>
                  <a:solidFill>
                    <a:srgbClr val="FFFFFF"/>
                  </a:solidFill>
                </a:uFill>
                <a:latin typeface="Calibri"/>
              </a:rPr>
              <a:t>alternative</a:t>
            </a:r>
            <a:r>
              <a:rPr lang="pl-PL" sz="1800" strike="noStrike" spc="-1" dirty="0">
                <a:solidFill>
                  <a:srgbClr val="000000"/>
                </a:solidFill>
                <a:uFill>
                  <a:solidFill>
                    <a:srgbClr val="FFFFFF"/>
                  </a:solidFill>
                </a:uFill>
                <a:latin typeface="Calibri"/>
              </a:rPr>
              <a:t> = "</a:t>
            </a:r>
            <a:r>
              <a:rPr lang="pl-PL" sz="1800" strike="noStrike" spc="-1" dirty="0" err="1">
                <a:solidFill>
                  <a:srgbClr val="000000"/>
                </a:solidFill>
                <a:uFill>
                  <a:solidFill>
                    <a:srgbClr val="FFFFFF"/>
                  </a:solidFill>
                </a:uFill>
                <a:latin typeface="Calibri"/>
              </a:rPr>
              <a:t>greater</a:t>
            </a:r>
            <a:r>
              <a:rPr lang="pl-PL" sz="1800" strike="noStrike" spc="-1" dirty="0">
                <a:solidFill>
                  <a:srgbClr val="000000"/>
                </a:solidFill>
                <a:uFill>
                  <a:solidFill>
                    <a:srgbClr val="FFFFFF"/>
                  </a:solidFill>
                </a:uFill>
                <a:latin typeface="Calibri"/>
              </a:rPr>
              <a:t>" )</a:t>
            </a:r>
            <a:endParaRPr dirty="0"/>
          </a:p>
        </p:txBody>
      </p:sp>
      <p:sp>
        <p:nvSpPr>
          <p:cNvPr id="17" name="CustomShape 7"/>
          <p:cNvSpPr/>
          <p:nvPr/>
        </p:nvSpPr>
        <p:spPr>
          <a:xfrm>
            <a:off x="7056655" y="2033113"/>
            <a:ext cx="4538314" cy="428040"/>
          </a:xfrm>
          <a:prstGeom prst="rect">
            <a:avLst/>
          </a:prstGeom>
          <a:ln>
            <a:round/>
          </a:ln>
        </p:spPr>
        <p:style>
          <a:lnRef idx="2">
            <a:schemeClr val="accent1"/>
          </a:lnRef>
          <a:fillRef idx="1">
            <a:schemeClr val="lt1"/>
          </a:fillRef>
          <a:effectRef idx="0">
            <a:schemeClr val="accent1"/>
          </a:effectRef>
          <a:fontRef idx="minor"/>
        </p:style>
        <p:txBody>
          <a:bodyPr lIns="90000" tIns="45000" rIns="90000" bIns="45000"/>
          <a:lstStyle/>
          <a:p>
            <a:pPr>
              <a:lnSpc>
                <a:spcPct val="100000"/>
              </a:lnSpc>
            </a:pPr>
            <a:r>
              <a:rPr lang="pl-PL" spc="-1" dirty="0">
                <a:solidFill>
                  <a:srgbClr val="000000"/>
                </a:solidFill>
                <a:uFill>
                  <a:solidFill>
                    <a:srgbClr val="FFFFFF"/>
                  </a:solidFill>
                </a:uFill>
              </a:rPr>
              <a:t>H0: </a:t>
            </a:r>
            <a:r>
              <a:rPr lang="en-US" spc="-1" dirty="0">
                <a:solidFill>
                  <a:srgbClr val="000000"/>
                </a:solidFill>
                <a:uFill>
                  <a:solidFill>
                    <a:srgbClr val="FFFFFF"/>
                  </a:solidFill>
                </a:uFill>
              </a:rPr>
              <a:t>The difference in the means is 0</a:t>
            </a:r>
            <a:r>
              <a:rPr lang="pl-PL" spc="-1" dirty="0">
                <a:solidFill>
                  <a:srgbClr val="000000"/>
                </a:solidFill>
                <a:uFill>
                  <a:solidFill>
                    <a:srgbClr val="FFFFFF"/>
                  </a:solidFill>
                </a:uFill>
              </a:rPr>
              <a:t> ( t-test) </a:t>
            </a:r>
            <a:endParaRPr dirty="0"/>
          </a:p>
        </p:txBody>
      </p:sp>
      <p:sp>
        <p:nvSpPr>
          <p:cNvPr id="2" name="TextBox 1">
            <a:extLst>
              <a:ext uri="{FF2B5EF4-FFF2-40B4-BE49-F238E27FC236}">
                <a16:creationId xmlns:a16="http://schemas.microsoft.com/office/drawing/2014/main" id="{2DF6AAC7-3BCC-65D7-D49F-00DC69E6C767}"/>
              </a:ext>
            </a:extLst>
          </p:cNvPr>
          <p:cNvSpPr txBox="1"/>
          <p:nvPr/>
        </p:nvSpPr>
        <p:spPr>
          <a:xfrm rot="18806356">
            <a:off x="9450209" y="4252538"/>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3690311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ole tekstowe 41"/>
          <p:cNvSpPr txBox="1"/>
          <p:nvPr/>
        </p:nvSpPr>
        <p:spPr>
          <a:xfrm>
            <a:off x="244041" y="1292582"/>
            <a:ext cx="11703913" cy="5262979"/>
          </a:xfrm>
          <a:prstGeom prst="rect">
            <a:avLst/>
          </a:prstGeom>
          <a:noFill/>
        </p:spPr>
        <p:txBody>
          <a:bodyPr wrap="square">
            <a:spAutoFit/>
          </a:bodyPr>
          <a:lstStyle/>
          <a:p>
            <a:pPr algn="just">
              <a:defRPr/>
            </a:pPr>
            <a:r>
              <a:rPr lang="en-US" sz="2400" b="1" dirty="0" err="1">
                <a:solidFill>
                  <a:schemeClr val="accent5">
                    <a:lumMod val="50000"/>
                  </a:schemeClr>
                </a:solidFill>
              </a:rPr>
              <a:t>VaR</a:t>
            </a:r>
            <a:r>
              <a:rPr lang="en-US" sz="2400" b="1" dirty="0">
                <a:solidFill>
                  <a:schemeClr val="accent5">
                    <a:lumMod val="50000"/>
                  </a:schemeClr>
                </a:solidFill>
              </a:rPr>
              <a:t> </a:t>
            </a:r>
            <a:r>
              <a:rPr lang="en-US" sz="2400" dirty="0">
                <a:solidFill>
                  <a:schemeClr val="accent5">
                    <a:lumMod val="50000"/>
                  </a:schemeClr>
                </a:solidFill>
              </a:rPr>
              <a:t>(Value at Risk) determines the value of the loss of assets/liabilities with the adopted tolerance level (usually 5%), in given market conditions, over a specified period of time. The idea: ignoring the 5% least probable results, how much can we lose maximally in a given time horizon (what is the worst scenario) This is a different definition of risk based on position measure - usually it is the fifth percentile of the distribution of a random variable (cash payoffs, returns, ... ) </a:t>
            </a:r>
            <a:endParaRPr lang="pl-PL" sz="2400" dirty="0">
              <a:solidFill>
                <a:schemeClr val="accent5">
                  <a:lumMod val="50000"/>
                </a:schemeClr>
              </a:solidFill>
            </a:endParaRPr>
          </a:p>
          <a:p>
            <a:pPr algn="just">
              <a:defRPr/>
            </a:pPr>
            <a:endParaRPr lang="pl-PL" sz="2400" dirty="0">
              <a:solidFill>
                <a:schemeClr val="accent5">
                  <a:lumMod val="50000"/>
                </a:schemeClr>
              </a:solidFill>
            </a:endParaRPr>
          </a:p>
          <a:p>
            <a:pPr algn="just">
              <a:defRPr/>
            </a:pPr>
            <a:endParaRPr lang="pl-PL" sz="2400" dirty="0">
              <a:solidFill>
                <a:schemeClr val="accent5">
                  <a:lumMod val="50000"/>
                </a:schemeClr>
              </a:solidFill>
            </a:endParaRPr>
          </a:p>
          <a:p>
            <a:pPr algn="just">
              <a:defRPr/>
            </a:pPr>
            <a:r>
              <a:rPr lang="en-US" sz="2400" dirty="0">
                <a:solidFill>
                  <a:schemeClr val="accent5">
                    <a:lumMod val="50000"/>
                  </a:schemeClr>
                </a:solidFill>
              </a:rPr>
              <a:t>CASE </a:t>
            </a:r>
          </a:p>
          <a:p>
            <a:pPr algn="just">
              <a:defRPr/>
            </a:pPr>
            <a:r>
              <a:rPr lang="en-US" sz="2400" dirty="0">
                <a:solidFill>
                  <a:schemeClr val="accent5">
                    <a:lumMod val="50000"/>
                  </a:schemeClr>
                </a:solidFill>
              </a:rPr>
              <a:t>You bought a flat for PLN 0.54 million; based on historical data, you can determine how much the price increases monthly and the volatility of this change. You want to sell this flat in 12 or 24 months. You want to determine the </a:t>
            </a:r>
            <a:r>
              <a:rPr lang="en-US" sz="2400" dirty="0" err="1">
                <a:solidFill>
                  <a:schemeClr val="accent5">
                    <a:lumMod val="50000"/>
                  </a:schemeClr>
                </a:solidFill>
              </a:rPr>
              <a:t>VaR</a:t>
            </a:r>
            <a:r>
              <a:rPr lang="en-US" sz="2400" dirty="0">
                <a:solidFill>
                  <a:schemeClr val="accent5">
                    <a:lumMod val="50000"/>
                  </a:schemeClr>
                </a:solidFill>
              </a:rPr>
              <a:t> (5%) of this investment for 12 and 24 months - that is, what the lowest price of the flat can be (ignoring the 5% of the least probable results) - how much you can lose on flipping.</a:t>
            </a:r>
            <a:endParaRPr lang="pl-PL" sz="2400" baseline="-25000" dirty="0">
              <a:solidFill>
                <a:schemeClr val="accent5">
                  <a:lumMod val="50000"/>
                </a:schemeClr>
              </a:solidFill>
            </a:endParaRPr>
          </a:p>
        </p:txBody>
      </p:sp>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Value </a:t>
            </a:r>
            <a:r>
              <a:rPr lang="pl-PL" sz="4000" b="1" dirty="0" err="1">
                <a:solidFill>
                  <a:schemeClr val="accent5">
                    <a:lumMod val="50000"/>
                  </a:schemeClr>
                </a:solidFill>
              </a:rPr>
              <a:t>at</a:t>
            </a:r>
            <a:r>
              <a:rPr lang="pl-PL" sz="4000" b="1" dirty="0">
                <a:solidFill>
                  <a:schemeClr val="accent5">
                    <a:lumMod val="50000"/>
                  </a:schemeClr>
                </a:solidFill>
              </a:rPr>
              <a:t> </a:t>
            </a:r>
            <a:r>
              <a:rPr lang="pl-PL" sz="4000" b="1" dirty="0" err="1">
                <a:solidFill>
                  <a:schemeClr val="accent5">
                    <a:lumMod val="50000"/>
                  </a:schemeClr>
                </a:solidFill>
              </a:rPr>
              <a:t>Risk</a:t>
            </a:r>
            <a:r>
              <a:rPr lang="pl-PL" sz="4000" b="1" dirty="0">
                <a:solidFill>
                  <a:schemeClr val="accent5">
                    <a:lumMod val="50000"/>
                  </a:schemeClr>
                </a:solidFill>
              </a:rPr>
              <a:t> part 2 </a:t>
            </a:r>
            <a:endParaRPr lang="en-US" sz="4000" b="1" dirty="0">
              <a:solidFill>
                <a:schemeClr val="accent5">
                  <a:lumMod val="50000"/>
                </a:schemeClr>
              </a:solidFill>
            </a:endParaRPr>
          </a:p>
        </p:txBody>
      </p:sp>
    </p:spTree>
    <p:extLst>
      <p:ext uri="{BB962C8B-B14F-4D97-AF65-F5344CB8AC3E}">
        <p14:creationId xmlns:p14="http://schemas.microsoft.com/office/powerpoint/2010/main" val="792305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2" name="pole tekstowe 41"/>
              <p:cNvSpPr txBox="1"/>
              <p:nvPr/>
            </p:nvSpPr>
            <p:spPr>
              <a:xfrm>
                <a:off x="244043" y="1454681"/>
                <a:ext cx="11703913" cy="5220403"/>
              </a:xfrm>
              <a:prstGeom prst="rect">
                <a:avLst/>
              </a:prstGeom>
              <a:noFill/>
            </p:spPr>
            <p:txBody>
              <a:bodyPr wrap="square">
                <a:spAutoFit/>
              </a:bodyPr>
              <a:lstStyle/>
              <a:p>
                <a:pPr algn="just">
                  <a:defRPr/>
                </a:pPr>
                <a:r>
                  <a:rPr lang="en-US" sz="2000" dirty="0">
                    <a:solidFill>
                      <a:schemeClr val="accent5">
                        <a:lumMod val="50000"/>
                      </a:schemeClr>
                    </a:solidFill>
                  </a:rPr>
                  <a:t>Sometimes we are pessimistic that </a:t>
                </a:r>
                <a:r>
                  <a:rPr lang="pl-PL" sz="2000" dirty="0" err="1">
                    <a:solidFill>
                      <a:schemeClr val="accent5">
                        <a:lumMod val="50000"/>
                      </a:schemeClr>
                    </a:solidFill>
                  </a:rPr>
                  <a:t>our</a:t>
                </a:r>
                <a:r>
                  <a:rPr lang="en-US" sz="2000" dirty="0">
                    <a:solidFill>
                      <a:schemeClr val="accent5">
                        <a:lumMod val="50000"/>
                      </a:schemeClr>
                    </a:solidFill>
                  </a:rPr>
                  <a:t> model is not enough to predict correctly - the series appears to be a purely random process. All we can do is determine how much risk we are exposed to. You can use for this purpose </a:t>
                </a:r>
                <a:r>
                  <a:rPr lang="en-US" sz="2000" b="1" dirty="0">
                    <a:solidFill>
                      <a:schemeClr val="accent5">
                        <a:lumMod val="50000"/>
                      </a:schemeClr>
                    </a:solidFill>
                  </a:rPr>
                  <a:t>Brownian geometric motion</a:t>
                </a:r>
                <a:r>
                  <a:rPr lang="en-US" sz="2000" dirty="0">
                    <a:solidFill>
                      <a:schemeClr val="accent5">
                        <a:lumMod val="50000"/>
                      </a:schemeClr>
                    </a:solidFill>
                  </a:rPr>
                  <a:t>.</a:t>
                </a: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r>
                  <a:rPr lang="en-US" sz="2000" dirty="0">
                    <a:solidFill>
                      <a:schemeClr val="accent5">
                        <a:lumMod val="50000"/>
                      </a:schemeClr>
                    </a:solidFill>
                  </a:rPr>
                  <a:t>Many phenomena in economics are simulated by the geometric Brownian motion. </a:t>
                </a:r>
                <a:r>
                  <a:rPr lang="pl-PL" sz="2000" dirty="0">
                    <a:solidFill>
                      <a:schemeClr val="accent5">
                        <a:lumMod val="50000"/>
                      </a:schemeClr>
                    </a:solidFill>
                  </a:rPr>
                  <a:t>I</a:t>
                </a:r>
                <a:r>
                  <a:rPr lang="en-US" sz="2000" dirty="0">
                    <a:solidFill>
                      <a:schemeClr val="accent5">
                        <a:lumMod val="50000"/>
                      </a:schemeClr>
                    </a:solidFill>
                  </a:rPr>
                  <a:t>t is used to model stock prices or exchange rates (not entirely correctly in the Black-Scholes model).</a:t>
                </a:r>
                <a:r>
                  <a:rPr lang="pl-PL" sz="2000" dirty="0">
                    <a:solidFill>
                      <a:schemeClr val="accent5">
                        <a:lumMod val="50000"/>
                      </a:schemeClr>
                    </a:solidFill>
                  </a:rPr>
                  <a:t> </a:t>
                </a:r>
                <a:r>
                  <a:rPr lang="en-US" sz="2000" dirty="0">
                    <a:solidFill>
                      <a:schemeClr val="accent5">
                        <a:lumMod val="50000"/>
                      </a:schemeClr>
                    </a:solidFill>
                  </a:rPr>
                  <a:t>The price process satisfies the stochastic differential equation:</a:t>
                </a:r>
                <a:r>
                  <a:rPr lang="pl-PL" sz="2000" dirty="0">
                    <a:solidFill>
                      <a:schemeClr val="accent5">
                        <a:lumMod val="50000"/>
                      </a:schemeClr>
                    </a:solidFill>
                  </a:rPr>
                  <a:t> </a:t>
                </a:r>
                <a:r>
                  <a:rPr lang="en-US" sz="2000" dirty="0">
                    <a:solidFill>
                      <a:schemeClr val="accent5">
                        <a:lumMod val="50000"/>
                      </a:schemeClr>
                    </a:solidFill>
                  </a:rPr>
                  <a:t> </a:t>
                </a:r>
                <a:endParaRPr lang="pl-PL" sz="2000" dirty="0">
                  <a:solidFill>
                    <a:schemeClr val="accent5">
                      <a:lumMod val="50000"/>
                    </a:schemeClr>
                  </a:solidFill>
                </a:endParaRPr>
              </a:p>
              <a:p>
                <a:pPr algn="ctr">
                  <a:defRPr/>
                </a:pPr>
                <a:r>
                  <a:rPr lang="pl-PL" sz="2000" dirty="0">
                    <a:solidFill>
                      <a:schemeClr val="accent5">
                        <a:lumMod val="50000"/>
                      </a:schemeClr>
                    </a:solidFill>
                  </a:rPr>
                  <a:t> </a:t>
                </a:r>
                <a14:m>
                  <m:oMath xmlns:m="http://schemas.openxmlformats.org/officeDocument/2006/math">
                    <m:sSub>
                      <m:sSubPr>
                        <m:ctrlPr>
                          <a:rPr lang="pl-PL" sz="2000" b="0" i="1" smtClean="0">
                            <a:solidFill>
                              <a:schemeClr val="accent5">
                                <a:lumMod val="50000"/>
                              </a:schemeClr>
                            </a:solidFill>
                            <a:latin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rPr>
                          <m:t>𝑑𝑆</m:t>
                        </m:r>
                      </m:e>
                      <m:sub>
                        <m:r>
                          <a:rPr lang="pl-PL" sz="2000" b="0" i="1" smtClean="0">
                            <a:solidFill>
                              <a:schemeClr val="accent5">
                                <a:lumMod val="50000"/>
                              </a:schemeClr>
                            </a:solidFill>
                            <a:latin typeface="Cambria Math" panose="02040503050406030204" pitchFamily="18" charset="0"/>
                          </a:rPr>
                          <m:t>𝑡</m:t>
                        </m:r>
                      </m:sub>
                    </m:sSub>
                    <m:r>
                      <a:rPr lang="pl-PL" sz="2000" b="0" i="1" smtClean="0">
                        <a:solidFill>
                          <a:schemeClr val="accent5">
                            <a:lumMod val="50000"/>
                          </a:schemeClr>
                        </a:solidFill>
                        <a:latin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𝜇</m:t>
                    </m:r>
                    <m:sSub>
                      <m:sSub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𝑆</m:t>
                        </m:r>
                      </m:e>
                      <m:sub>
                        <m:r>
                          <a:rPr lang="pl-PL" sz="2000" b="0" i="1" smtClean="0">
                            <a:solidFill>
                              <a:schemeClr val="accent5">
                                <a:lumMod val="50000"/>
                              </a:schemeClr>
                            </a:solidFill>
                            <a:latin typeface="Cambria Math" panose="02040503050406030204" pitchFamily="18" charset="0"/>
                            <a:ea typeface="Cambria Math" panose="02040503050406030204" pitchFamily="18" charset="0"/>
                          </a:rPr>
                          <m:t>𝑡</m:t>
                        </m:r>
                      </m:sub>
                    </m:sSub>
                    <m:r>
                      <a:rPr lang="pl-PL" sz="2000" b="0" i="1" smtClean="0">
                        <a:solidFill>
                          <a:schemeClr val="accent5">
                            <a:lumMod val="50000"/>
                          </a:schemeClr>
                        </a:solidFill>
                        <a:latin typeface="Cambria Math" panose="02040503050406030204" pitchFamily="18" charset="0"/>
                        <a:ea typeface="Cambria Math" panose="02040503050406030204" pitchFamily="18" charset="0"/>
                      </a:rPr>
                      <m:t>𝑑𝑡</m:t>
                    </m:r>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𝜎</m:t>
                    </m:r>
                    <m:sSub>
                      <m:sSub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𝑆</m:t>
                        </m:r>
                      </m:e>
                      <m:sub>
                        <m:r>
                          <a:rPr lang="pl-PL" sz="2000" b="0" i="1" smtClean="0">
                            <a:solidFill>
                              <a:schemeClr val="accent5">
                                <a:lumMod val="50000"/>
                              </a:schemeClr>
                            </a:solidFill>
                            <a:latin typeface="Cambria Math" panose="02040503050406030204" pitchFamily="18" charset="0"/>
                            <a:ea typeface="Cambria Math" panose="02040503050406030204" pitchFamily="18" charset="0"/>
                          </a:rPr>
                          <m:t>𝑡</m:t>
                        </m:r>
                      </m:sub>
                    </m:sSub>
                    <m:r>
                      <a:rPr lang="pl-PL" sz="2000" b="0" i="1" smtClean="0">
                        <a:solidFill>
                          <a:schemeClr val="accent5">
                            <a:lumMod val="50000"/>
                          </a:schemeClr>
                        </a:solidFill>
                        <a:latin typeface="Cambria Math" panose="02040503050406030204" pitchFamily="18" charset="0"/>
                        <a:ea typeface="Cambria Math" panose="02040503050406030204" pitchFamily="18" charset="0"/>
                      </a:rPr>
                      <m:t>𝑑</m:t>
                    </m:r>
                    <m:sSub>
                      <m:sSub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𝐵</m:t>
                        </m:r>
                      </m:e>
                      <m:sub>
                        <m:r>
                          <a:rPr lang="pl-PL" sz="2000" b="0" i="1" smtClean="0">
                            <a:solidFill>
                              <a:schemeClr val="accent5">
                                <a:lumMod val="50000"/>
                              </a:schemeClr>
                            </a:solidFill>
                            <a:latin typeface="Cambria Math" panose="02040503050406030204" pitchFamily="18" charset="0"/>
                            <a:ea typeface="Cambria Math" panose="02040503050406030204" pitchFamily="18" charset="0"/>
                          </a:rPr>
                          <m:t>𝑡</m:t>
                        </m:r>
                      </m:sub>
                    </m:sSub>
                    <m:r>
                      <a:rPr lang="pl-PL" sz="2000" b="0" i="1" smtClean="0">
                        <a:solidFill>
                          <a:schemeClr val="accent5">
                            <a:lumMod val="50000"/>
                          </a:schemeClr>
                        </a:solidFill>
                        <a:latin typeface="Cambria Math" panose="02040503050406030204" pitchFamily="18" charset="0"/>
                      </a:rPr>
                      <m:t>     </m:t>
                    </m:r>
                  </m:oMath>
                </a14:m>
                <a:endParaRPr lang="pl-PL" sz="2000" dirty="0">
                  <a:solidFill>
                    <a:schemeClr val="accent5">
                      <a:lumMod val="50000"/>
                    </a:schemeClr>
                  </a:solidFill>
                </a:endParaRPr>
              </a:p>
              <a:p>
                <a:pPr algn="just">
                  <a:defRPr/>
                </a:pPr>
                <a:r>
                  <a:rPr lang="en-US" sz="2000" dirty="0">
                    <a:solidFill>
                      <a:schemeClr val="accent5">
                        <a:lumMod val="50000"/>
                      </a:schemeClr>
                    </a:solidFill>
                  </a:rPr>
                  <a:t>Where</a:t>
                </a:r>
                <a:r>
                  <a:rPr lang="pl-PL" sz="2000" dirty="0">
                    <a:solidFill>
                      <a:schemeClr val="accent5">
                        <a:lumMod val="50000"/>
                      </a:schemeClr>
                    </a:solidFill>
                  </a:rPr>
                  <a:t> </a:t>
                </a:r>
                <a14:m>
                  <m:oMath xmlns:m="http://schemas.openxmlformats.org/officeDocument/2006/math">
                    <m:sSub>
                      <m:sSubPr>
                        <m:ctrlPr>
                          <a:rPr lang="pl-PL" sz="2000" i="1">
                            <a:solidFill>
                              <a:schemeClr val="accent5">
                                <a:lumMod val="50000"/>
                              </a:schemeClr>
                            </a:solidFill>
                            <a:latin typeface="Cambria Math" panose="02040503050406030204" pitchFamily="18" charset="0"/>
                          </a:rPr>
                        </m:ctrlPr>
                      </m:sSubPr>
                      <m:e>
                        <m:r>
                          <a:rPr lang="pl-PL" sz="2000" i="1">
                            <a:solidFill>
                              <a:schemeClr val="accent5">
                                <a:lumMod val="50000"/>
                              </a:schemeClr>
                            </a:solidFill>
                            <a:latin typeface="Cambria Math" panose="02040503050406030204" pitchFamily="18" charset="0"/>
                          </a:rPr>
                          <m:t>𝑆</m:t>
                        </m:r>
                      </m:e>
                      <m:sub>
                        <m:r>
                          <a:rPr lang="pl-PL" sz="2000" i="1">
                            <a:solidFill>
                              <a:schemeClr val="accent5">
                                <a:lumMod val="50000"/>
                              </a:schemeClr>
                            </a:solidFill>
                            <a:latin typeface="Cambria Math" panose="02040503050406030204" pitchFamily="18" charset="0"/>
                          </a:rPr>
                          <m:t>𝑡</m:t>
                        </m:r>
                      </m:sub>
                    </m:sSub>
                  </m:oMath>
                </a14:m>
                <a:r>
                  <a:rPr lang="pl-PL" sz="2000" dirty="0">
                    <a:solidFill>
                      <a:schemeClr val="accent5">
                        <a:lumMod val="50000"/>
                      </a:schemeClr>
                    </a:solidFill>
                  </a:rPr>
                  <a:t> -</a:t>
                </a:r>
                <a:r>
                  <a:rPr lang="en-US" sz="2000" dirty="0">
                    <a:solidFill>
                      <a:schemeClr val="accent5">
                        <a:lumMod val="50000"/>
                      </a:schemeClr>
                    </a:solidFill>
                  </a:rPr>
                  <a:t> the price at time t, - </a:t>
                </a:r>
                <a14:m>
                  <m:oMath xmlns:m="http://schemas.openxmlformats.org/officeDocument/2006/math">
                    <m:r>
                      <a:rPr lang="pl-PL" sz="2000" i="1">
                        <a:solidFill>
                          <a:schemeClr val="accent5">
                            <a:lumMod val="50000"/>
                          </a:schemeClr>
                        </a:solidFill>
                        <a:latin typeface="Cambria Math" panose="02040503050406030204" pitchFamily="18" charset="0"/>
                        <a:ea typeface="Cambria Math" panose="02040503050406030204" pitchFamily="18" charset="0"/>
                      </a:rPr>
                      <m:t>𝜇</m:t>
                    </m:r>
                    <m:r>
                      <a:rPr lang="pl-PL" sz="2000" i="1">
                        <a:solidFill>
                          <a:schemeClr val="accent5">
                            <a:lumMod val="50000"/>
                          </a:schemeClr>
                        </a:solidFill>
                        <a:latin typeface="Cambria Math" panose="02040503050406030204" pitchFamily="18" charset="0"/>
                        <a:ea typeface="Cambria Math" panose="02040503050406030204" pitchFamily="18" charset="0"/>
                      </a:rPr>
                      <m:t> </m:t>
                    </m:r>
                  </m:oMath>
                </a14:m>
                <a:r>
                  <a:rPr lang="en-US" sz="2000" dirty="0">
                    <a:solidFill>
                      <a:schemeClr val="accent5">
                        <a:lumMod val="50000"/>
                      </a:schemeClr>
                    </a:solidFill>
                  </a:rPr>
                  <a:t>price drift, </a:t>
                </a:r>
                <a14:m>
                  <m:oMath xmlns:m="http://schemas.openxmlformats.org/officeDocument/2006/math">
                    <m:r>
                      <a:rPr lang="pl-PL" sz="2000" i="1">
                        <a:solidFill>
                          <a:schemeClr val="accent5">
                            <a:lumMod val="50000"/>
                          </a:schemeClr>
                        </a:solidFill>
                        <a:latin typeface="Cambria Math" panose="02040503050406030204" pitchFamily="18" charset="0"/>
                        <a:ea typeface="Cambria Math" panose="02040503050406030204" pitchFamily="18" charset="0"/>
                      </a:rPr>
                      <m:t>𝜎</m:t>
                    </m:r>
                    <m:r>
                      <a:rPr lang="pl-PL" sz="2000" i="1">
                        <a:solidFill>
                          <a:schemeClr val="accent5">
                            <a:lumMod val="50000"/>
                          </a:schemeClr>
                        </a:solidFill>
                        <a:latin typeface="Cambria Math" panose="02040503050406030204" pitchFamily="18" charset="0"/>
                        <a:ea typeface="Cambria Math" panose="02040503050406030204" pitchFamily="18" charset="0"/>
                      </a:rPr>
                      <m:t> </m:t>
                    </m:r>
                  </m:oMath>
                </a14:m>
                <a:r>
                  <a:rPr lang="pl-PL" sz="2000" dirty="0">
                    <a:solidFill>
                      <a:schemeClr val="accent5">
                        <a:lumMod val="50000"/>
                      </a:schemeClr>
                    </a:solidFill>
                  </a:rPr>
                  <a:t>- </a:t>
                </a:r>
                <a:r>
                  <a:rPr lang="en-US" sz="2000" dirty="0">
                    <a:solidFill>
                      <a:schemeClr val="accent5">
                        <a:lumMod val="50000"/>
                      </a:schemeClr>
                    </a:solidFill>
                  </a:rPr>
                  <a:t>price volatility (standard deviation) and is a normally distributed </a:t>
                </a:r>
                <a14:m>
                  <m:oMath xmlns:m="http://schemas.openxmlformats.org/officeDocument/2006/math">
                    <m:sSub>
                      <m:sSubPr>
                        <m:ctrlPr>
                          <a:rPr lang="pl-PL" sz="2000" i="1">
                            <a:solidFill>
                              <a:schemeClr val="accent5">
                                <a:lumMod val="50000"/>
                              </a:schemeClr>
                            </a:solidFill>
                            <a:latin typeface="Cambria Math" panose="02040503050406030204" pitchFamily="18" charset="0"/>
                            <a:ea typeface="Cambria Math" panose="02040503050406030204" pitchFamily="18" charset="0"/>
                          </a:rPr>
                        </m:ctrlPr>
                      </m:sSubPr>
                      <m:e>
                        <m:r>
                          <a:rPr lang="pl-PL" sz="2000" i="1">
                            <a:solidFill>
                              <a:schemeClr val="accent5">
                                <a:lumMod val="50000"/>
                              </a:schemeClr>
                            </a:solidFill>
                            <a:latin typeface="Cambria Math" panose="02040503050406030204" pitchFamily="18" charset="0"/>
                            <a:ea typeface="Cambria Math" panose="02040503050406030204" pitchFamily="18" charset="0"/>
                          </a:rPr>
                          <m:t>𝐵</m:t>
                        </m:r>
                      </m:e>
                      <m:sub>
                        <m:r>
                          <a:rPr lang="pl-PL" sz="2000" i="1">
                            <a:solidFill>
                              <a:schemeClr val="accent5">
                                <a:lumMod val="50000"/>
                              </a:schemeClr>
                            </a:solidFill>
                            <a:latin typeface="Cambria Math" panose="02040503050406030204" pitchFamily="18" charset="0"/>
                            <a:ea typeface="Cambria Math" panose="02040503050406030204" pitchFamily="18" charset="0"/>
                          </a:rPr>
                          <m:t>𝑡</m:t>
                        </m:r>
                      </m:sub>
                    </m:sSub>
                  </m:oMath>
                </a14:m>
                <a:r>
                  <a:rPr lang="pl-PL" sz="2000" dirty="0">
                    <a:solidFill>
                      <a:schemeClr val="accent5">
                        <a:lumMod val="50000"/>
                      </a:schemeClr>
                    </a:solidFill>
                  </a:rPr>
                  <a:t> </a:t>
                </a:r>
                <a:r>
                  <a:rPr lang="en-US" sz="2000" dirty="0">
                    <a:solidFill>
                      <a:schemeClr val="accent5">
                        <a:lumMod val="50000"/>
                      </a:schemeClr>
                    </a:solidFill>
                  </a:rPr>
                  <a:t>random variable. Brownian motion can be generated using the formula:</a:t>
                </a: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14:m>
                  <m:oMathPara xmlns:m="http://schemas.openxmlformats.org/officeDocument/2006/math">
                    <m:oMathParaPr>
                      <m:jc m:val="centerGroup"/>
                    </m:oMathParaPr>
                    <m:oMath xmlns:m="http://schemas.openxmlformats.org/officeDocument/2006/math">
                      <m:sSub>
                        <m:sSubPr>
                          <m:ctrlPr>
                            <a:rPr lang="pl-PL" sz="2000" i="1">
                              <a:solidFill>
                                <a:schemeClr val="accent5">
                                  <a:lumMod val="50000"/>
                                </a:schemeClr>
                              </a:solidFill>
                              <a:latin typeface="Cambria Math" panose="02040503050406030204" pitchFamily="18" charset="0"/>
                            </a:rPr>
                          </m:ctrlPr>
                        </m:sSubPr>
                        <m:e>
                          <m:r>
                            <a:rPr lang="pl-PL" sz="2000" i="1">
                              <a:solidFill>
                                <a:schemeClr val="accent5">
                                  <a:lumMod val="50000"/>
                                </a:schemeClr>
                              </a:solidFill>
                              <a:latin typeface="Cambria Math" panose="02040503050406030204" pitchFamily="18" charset="0"/>
                            </a:rPr>
                            <m:t>𝑆</m:t>
                          </m:r>
                        </m:e>
                        <m:sub>
                          <m:r>
                            <a:rPr lang="pl-PL" sz="2000" i="1">
                              <a:solidFill>
                                <a:schemeClr val="accent5">
                                  <a:lumMod val="50000"/>
                                </a:schemeClr>
                              </a:solidFill>
                              <a:latin typeface="Cambria Math" panose="02040503050406030204" pitchFamily="18" charset="0"/>
                            </a:rPr>
                            <m:t>𝑡</m:t>
                          </m:r>
                        </m:sub>
                      </m:sSub>
                      <m:r>
                        <a:rPr lang="pl-PL" sz="2000" i="1">
                          <a:solidFill>
                            <a:schemeClr val="accent5">
                              <a:lumMod val="50000"/>
                            </a:schemeClr>
                          </a:solidFill>
                          <a:latin typeface="Cambria Math" panose="02040503050406030204" pitchFamily="18" charset="0"/>
                        </a:rPr>
                        <m:t>= </m:t>
                      </m:r>
                      <m:sSub>
                        <m:sSubPr>
                          <m:ctrlPr>
                            <a:rPr lang="pl-PL" sz="2000" i="1">
                              <a:solidFill>
                                <a:schemeClr val="accent5">
                                  <a:lumMod val="50000"/>
                                </a:schemeClr>
                              </a:solidFill>
                              <a:latin typeface="Cambria Math" panose="02040503050406030204" pitchFamily="18" charset="0"/>
                              <a:ea typeface="Cambria Math" panose="02040503050406030204" pitchFamily="18" charset="0"/>
                            </a:rPr>
                          </m:ctrlPr>
                        </m:sSubPr>
                        <m:e>
                          <m:r>
                            <a:rPr lang="pl-PL" sz="2000" i="1">
                              <a:solidFill>
                                <a:schemeClr val="accent5">
                                  <a:lumMod val="50000"/>
                                </a:schemeClr>
                              </a:solidFill>
                              <a:latin typeface="Cambria Math" panose="02040503050406030204" pitchFamily="18" charset="0"/>
                              <a:ea typeface="Cambria Math" panose="02040503050406030204" pitchFamily="18" charset="0"/>
                            </a:rPr>
                            <m:t>𝑆</m:t>
                          </m:r>
                        </m:e>
                        <m:sub>
                          <m:r>
                            <a:rPr lang="pl-PL" sz="2000" i="1">
                              <a:solidFill>
                                <a:schemeClr val="accent5">
                                  <a:lumMod val="50000"/>
                                </a:schemeClr>
                              </a:solidFill>
                              <a:latin typeface="Cambria Math" panose="02040503050406030204" pitchFamily="18" charset="0"/>
                              <a:ea typeface="Cambria Math" panose="02040503050406030204" pitchFamily="18" charset="0"/>
                            </a:rPr>
                            <m:t>𝑡</m:t>
                          </m:r>
                          <m:r>
                            <a:rPr lang="pl-PL" sz="2000" b="0" i="1" smtClean="0">
                              <a:solidFill>
                                <a:schemeClr val="accent5">
                                  <a:lumMod val="50000"/>
                                </a:schemeClr>
                              </a:solidFill>
                              <a:latin typeface="Cambria Math" panose="02040503050406030204" pitchFamily="18" charset="0"/>
                              <a:ea typeface="Cambria Math" panose="02040503050406030204" pitchFamily="18" charset="0"/>
                            </a:rPr>
                            <m:t>−1</m:t>
                          </m:r>
                        </m:sub>
                      </m:sSub>
                      <m:r>
                        <a:rPr lang="pl-PL" sz="2000" b="0" i="1" smtClean="0">
                          <a:solidFill>
                            <a:schemeClr val="accent5">
                              <a:lumMod val="50000"/>
                            </a:schemeClr>
                          </a:solidFill>
                          <a:latin typeface="Cambria Math" panose="02040503050406030204" pitchFamily="18" charset="0"/>
                          <a:ea typeface="Cambria Math" panose="02040503050406030204" pitchFamily="18" charset="0"/>
                        </a:rPr>
                        <m:t>𝑒𝑥𝑝</m:t>
                      </m:r>
                      <m:d>
                        <m:dPr>
                          <m:begChr m:val="["/>
                          <m:endChr m:val="]"/>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dPr>
                        <m:e>
                          <m:d>
                            <m:d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d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𝜇</m:t>
                              </m:r>
                              <m:r>
                                <a:rPr lang="pl-PL" sz="2000" b="0" i="1" smtClean="0">
                                  <a:solidFill>
                                    <a:schemeClr val="accent5">
                                      <a:lumMod val="50000"/>
                                    </a:schemeClr>
                                  </a:solidFill>
                                  <a:latin typeface="Cambria Math" panose="02040503050406030204" pitchFamily="18" charset="0"/>
                                  <a:ea typeface="Cambria Math" panose="02040503050406030204" pitchFamily="18" charset="0"/>
                                </a:rPr>
                                <m:t> − </m:t>
                              </m:r>
                              <m:f>
                                <m:f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fPr>
                                <m:num>
                                  <m:r>
                                    <a:rPr lang="pl-PL" sz="2000" b="0" i="1" smtClean="0">
                                      <a:solidFill>
                                        <a:schemeClr val="accent5">
                                          <a:lumMod val="50000"/>
                                        </a:schemeClr>
                                      </a:solidFill>
                                      <a:latin typeface="Cambria Math" panose="02040503050406030204" pitchFamily="18" charset="0"/>
                                      <a:ea typeface="Cambria Math" panose="02040503050406030204" pitchFamily="18" charset="0"/>
                                    </a:rPr>
                                    <m:t>1</m:t>
                                  </m:r>
                                </m:num>
                                <m:den>
                                  <m:r>
                                    <a:rPr lang="pl-PL" sz="2000" b="0" i="1" smtClean="0">
                                      <a:solidFill>
                                        <a:schemeClr val="accent5">
                                          <a:lumMod val="50000"/>
                                        </a:schemeClr>
                                      </a:solidFill>
                                      <a:latin typeface="Cambria Math" panose="02040503050406030204" pitchFamily="18" charset="0"/>
                                      <a:ea typeface="Cambria Math" panose="02040503050406030204" pitchFamily="18" charset="0"/>
                                    </a:rPr>
                                    <m:t>2</m:t>
                                  </m:r>
                                </m:den>
                              </m:f>
                              <m:sSup>
                                <m:sSup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p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𝜎</m:t>
                                  </m:r>
                                </m:e>
                                <m:sup>
                                  <m:r>
                                    <a:rPr lang="pl-PL" sz="2000" b="0" i="1" smtClean="0">
                                      <a:solidFill>
                                        <a:schemeClr val="accent5">
                                          <a:lumMod val="50000"/>
                                        </a:schemeClr>
                                      </a:solidFill>
                                      <a:latin typeface="Cambria Math" panose="02040503050406030204" pitchFamily="18" charset="0"/>
                                      <a:ea typeface="Cambria Math" panose="02040503050406030204" pitchFamily="18" charset="0"/>
                                    </a:rPr>
                                    <m:t>2</m:t>
                                  </m:r>
                                </m:sup>
                              </m:sSup>
                            </m:e>
                          </m:d>
                          <m:r>
                            <a:rPr lang="pl-PL" sz="2000" b="0" i="1" smtClean="0">
                              <a:solidFill>
                                <a:schemeClr val="accent5">
                                  <a:lumMod val="50000"/>
                                </a:schemeClr>
                              </a:solidFill>
                              <a:latin typeface="Cambria Math" panose="02040503050406030204" pitchFamily="18" charset="0"/>
                              <a:ea typeface="Cambria Math" panose="02040503050406030204" pitchFamily="18" charset="0"/>
                            </a:rPr>
                            <m:t>𝑑𝑡</m:t>
                          </m:r>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𝜎</m:t>
                          </m:r>
                          <m:rad>
                            <m:radPr>
                              <m:degHide m:val="on"/>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radPr>
                            <m:deg/>
                            <m:e>
                              <m:r>
                                <a:rPr lang="pl-PL" sz="2000" b="0" i="1" smtClean="0">
                                  <a:solidFill>
                                    <a:schemeClr val="accent5">
                                      <a:lumMod val="50000"/>
                                    </a:schemeClr>
                                  </a:solidFill>
                                  <a:latin typeface="Cambria Math" panose="02040503050406030204" pitchFamily="18" charset="0"/>
                                  <a:ea typeface="Cambria Math" panose="02040503050406030204" pitchFamily="18" charset="0"/>
                                </a:rPr>
                                <m:t>𝑑𝑡</m:t>
                              </m:r>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e>
                          </m:rad>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sSub>
                            <m:sSub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bPr>
                            <m:e>
                              <m:r>
                                <a:rPr lang="pl-PL" sz="2000" i="1">
                                  <a:solidFill>
                                    <a:schemeClr val="accent5">
                                      <a:lumMod val="50000"/>
                                    </a:schemeClr>
                                  </a:solidFill>
                                  <a:latin typeface="Cambria Math" panose="02040503050406030204" pitchFamily="18" charset="0"/>
                                  <a:ea typeface="Cambria Math" panose="02040503050406030204" pitchFamily="18" charset="0"/>
                                </a:rPr>
                                <m:t>𝜀</m:t>
                              </m:r>
                            </m:e>
                            <m:sub>
                              <m:r>
                                <a:rPr lang="pl-PL" sz="2000" b="0" i="1" smtClean="0">
                                  <a:solidFill>
                                    <a:schemeClr val="accent5">
                                      <a:lumMod val="50000"/>
                                    </a:schemeClr>
                                  </a:solidFill>
                                  <a:latin typeface="Cambria Math" panose="02040503050406030204" pitchFamily="18" charset="0"/>
                                  <a:ea typeface="Cambria Math" panose="02040503050406030204" pitchFamily="18" charset="0"/>
                                </a:rPr>
                                <m:t>𝑖</m:t>
                              </m:r>
                            </m:sub>
                          </m:sSub>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e>
                      </m:d>
                    </m:oMath>
                  </m:oMathPara>
                </a14:m>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r>
                  <a:rPr lang="pl-PL" sz="2000" dirty="0">
                    <a:solidFill>
                      <a:schemeClr val="accent5">
                        <a:lumMod val="50000"/>
                      </a:schemeClr>
                    </a:solidFill>
                  </a:rPr>
                  <a:t>W</a:t>
                </a:r>
                <a:r>
                  <a:rPr lang="en-US" sz="2000" dirty="0">
                    <a:solidFill>
                      <a:schemeClr val="accent5">
                        <a:lumMod val="50000"/>
                      </a:schemeClr>
                    </a:solidFill>
                  </a:rPr>
                  <a:t>here </a:t>
                </a:r>
                <a14:m>
                  <m:oMath xmlns:m="http://schemas.openxmlformats.org/officeDocument/2006/math">
                    <m:sSub>
                      <m:sSubPr>
                        <m:ctrlPr>
                          <a:rPr lang="pl-PL" sz="2000" i="1">
                            <a:solidFill>
                              <a:schemeClr val="accent5">
                                <a:lumMod val="50000"/>
                              </a:schemeClr>
                            </a:solidFill>
                            <a:latin typeface="Cambria Math" panose="02040503050406030204" pitchFamily="18" charset="0"/>
                            <a:ea typeface="Cambria Math" panose="02040503050406030204" pitchFamily="18" charset="0"/>
                          </a:rPr>
                        </m:ctrlPr>
                      </m:sSubPr>
                      <m:e>
                        <m:r>
                          <a:rPr lang="pl-PL" sz="2000" i="1">
                            <a:solidFill>
                              <a:schemeClr val="accent5">
                                <a:lumMod val="50000"/>
                              </a:schemeClr>
                            </a:solidFill>
                            <a:latin typeface="Cambria Math" panose="02040503050406030204" pitchFamily="18" charset="0"/>
                            <a:ea typeface="Cambria Math" panose="02040503050406030204" pitchFamily="18" charset="0"/>
                          </a:rPr>
                          <m:t>𝜀</m:t>
                        </m:r>
                      </m:e>
                      <m:sub>
                        <m:r>
                          <a:rPr lang="pl-PL" sz="2000" i="1">
                            <a:solidFill>
                              <a:schemeClr val="accent5">
                                <a:lumMod val="50000"/>
                              </a:schemeClr>
                            </a:solidFill>
                            <a:latin typeface="Cambria Math" panose="02040503050406030204" pitchFamily="18" charset="0"/>
                            <a:ea typeface="Cambria Math" panose="02040503050406030204" pitchFamily="18" charset="0"/>
                          </a:rPr>
                          <m:t>𝑖</m:t>
                        </m:r>
                      </m:sub>
                    </m:sSub>
                  </m:oMath>
                </a14:m>
                <a:r>
                  <a:rPr lang="pl-PL" sz="2000" dirty="0">
                    <a:solidFill>
                      <a:schemeClr val="accent5">
                        <a:lumMod val="50000"/>
                      </a:schemeClr>
                    </a:solidFill>
                  </a:rPr>
                  <a:t> a</a:t>
                </a:r>
                <a:r>
                  <a:rPr lang="en-US" sz="2000" dirty="0">
                    <a:solidFill>
                      <a:schemeClr val="accent5">
                        <a:lumMod val="50000"/>
                      </a:schemeClr>
                    </a:solidFill>
                  </a:rPr>
                  <a:t> random variable with</a:t>
                </a:r>
                <a:r>
                  <a:rPr lang="pl-PL" sz="2000" dirty="0">
                    <a:solidFill>
                      <a:schemeClr val="accent5">
                        <a:lumMod val="50000"/>
                      </a:schemeClr>
                    </a:solidFill>
                  </a:rPr>
                  <a:t> </a:t>
                </a:r>
                <a14:m>
                  <m:oMath xmlns:m="http://schemas.openxmlformats.org/officeDocument/2006/math">
                    <m:r>
                      <a:rPr lang="pl-PL" sz="2000" b="0" i="1" smtClean="0">
                        <a:solidFill>
                          <a:schemeClr val="accent5">
                            <a:lumMod val="50000"/>
                          </a:schemeClr>
                        </a:solidFill>
                        <a:latin typeface="Cambria Math" panose="02040503050406030204" pitchFamily="18" charset="0"/>
                      </a:rPr>
                      <m:t>𝑁</m:t>
                    </m:r>
                    <m:d>
                      <m:dPr>
                        <m:ctrlPr>
                          <a:rPr lang="pl-PL" sz="2000" b="0" i="1" smtClean="0">
                            <a:solidFill>
                              <a:schemeClr val="accent5">
                                <a:lumMod val="50000"/>
                              </a:schemeClr>
                            </a:solidFill>
                            <a:latin typeface="Cambria Math" panose="02040503050406030204" pitchFamily="18" charset="0"/>
                          </a:rPr>
                        </m:ctrlPr>
                      </m:dPr>
                      <m:e>
                        <m:r>
                          <a:rPr lang="pl-PL" sz="2000" b="0" i="1" smtClean="0">
                            <a:solidFill>
                              <a:schemeClr val="accent5">
                                <a:lumMod val="50000"/>
                              </a:schemeClr>
                            </a:solidFill>
                            <a:latin typeface="Cambria Math" panose="02040503050406030204" pitchFamily="18" charset="0"/>
                          </a:rPr>
                          <m:t>0,1</m:t>
                        </m:r>
                      </m:e>
                    </m:d>
                    <m:r>
                      <a:rPr lang="pl-PL" sz="2000" b="0" i="1" smtClean="0">
                        <a:solidFill>
                          <a:schemeClr val="accent5">
                            <a:lumMod val="50000"/>
                          </a:schemeClr>
                        </a:solidFill>
                        <a:latin typeface="Cambria Math" panose="02040503050406030204" pitchFamily="18" charset="0"/>
                      </a:rPr>
                      <m:t> </m:t>
                    </m:r>
                  </m:oMath>
                </a14:m>
                <a:r>
                  <a:rPr lang="en-US" sz="2000" dirty="0">
                    <a:solidFill>
                      <a:schemeClr val="accent5">
                        <a:lumMod val="50000"/>
                      </a:schemeClr>
                    </a:solidFill>
                  </a:rPr>
                  <a:t>distribution, </a:t>
                </a:r>
                <a14:m>
                  <m:oMath xmlns:m="http://schemas.openxmlformats.org/officeDocument/2006/math">
                    <m:r>
                      <a:rPr lang="pl-PL" sz="2000" i="1">
                        <a:solidFill>
                          <a:schemeClr val="accent5">
                            <a:lumMod val="50000"/>
                          </a:schemeClr>
                        </a:solidFill>
                        <a:latin typeface="Cambria Math" panose="02040503050406030204" pitchFamily="18" charset="0"/>
                      </a:rPr>
                      <m:t>𝑑𝑡</m:t>
                    </m:r>
                    <m:r>
                      <a:rPr lang="pl-PL" sz="2000" i="1">
                        <a:solidFill>
                          <a:schemeClr val="accent5">
                            <a:lumMod val="50000"/>
                          </a:schemeClr>
                        </a:solidFill>
                        <a:latin typeface="Cambria Math" panose="02040503050406030204" pitchFamily="18" charset="0"/>
                      </a:rPr>
                      <m:t>= </m:t>
                    </m:r>
                    <m:f>
                      <m:fPr>
                        <m:ctrlPr>
                          <a:rPr lang="pl-PL" sz="2000" i="1">
                            <a:solidFill>
                              <a:schemeClr val="accent5">
                                <a:lumMod val="50000"/>
                              </a:schemeClr>
                            </a:solidFill>
                            <a:latin typeface="Cambria Math" panose="02040503050406030204" pitchFamily="18" charset="0"/>
                          </a:rPr>
                        </m:ctrlPr>
                      </m:fPr>
                      <m:num>
                        <m:r>
                          <a:rPr lang="pl-PL" sz="2000" i="1">
                            <a:solidFill>
                              <a:schemeClr val="accent5">
                                <a:lumMod val="50000"/>
                              </a:schemeClr>
                            </a:solidFill>
                            <a:latin typeface="Cambria Math" panose="02040503050406030204" pitchFamily="18" charset="0"/>
                          </a:rPr>
                          <m:t>𝑇</m:t>
                        </m:r>
                      </m:num>
                      <m:den>
                        <m:r>
                          <a:rPr lang="pl-PL" sz="2000" b="0" i="1" smtClean="0">
                            <a:solidFill>
                              <a:schemeClr val="accent5">
                                <a:lumMod val="50000"/>
                              </a:schemeClr>
                            </a:solidFill>
                            <a:latin typeface="Cambria Math" panose="02040503050406030204" pitchFamily="18" charset="0"/>
                          </a:rPr>
                          <m:t>𝐼</m:t>
                        </m:r>
                      </m:den>
                    </m:f>
                  </m:oMath>
                </a14:m>
                <a:r>
                  <a:rPr lang="pl-PL" sz="2000" dirty="0">
                    <a:solidFill>
                      <a:schemeClr val="accent5">
                        <a:lumMod val="50000"/>
                      </a:schemeClr>
                    </a:solidFill>
                  </a:rPr>
                  <a:t> </a:t>
                </a:r>
                <a:r>
                  <a:rPr lang="en-US" sz="2000" dirty="0">
                    <a:solidFill>
                      <a:schemeClr val="accent5">
                        <a:lumMod val="50000"/>
                      </a:schemeClr>
                    </a:solidFill>
                  </a:rPr>
                  <a:t>and</a:t>
                </a:r>
                <a:r>
                  <a:rPr lang="pl-PL" sz="2000" dirty="0">
                    <a:solidFill>
                      <a:schemeClr val="accent5">
                        <a:lumMod val="50000"/>
                      </a:schemeClr>
                    </a:solidFill>
                  </a:rPr>
                  <a:t> </a:t>
                </a:r>
                <a14:m>
                  <m:oMath xmlns:m="http://schemas.openxmlformats.org/officeDocument/2006/math">
                    <m:sSub>
                      <m:sSubPr>
                        <m:ctrlPr>
                          <a:rPr lang="pl-PL" sz="2000" i="1" smtClean="0">
                            <a:solidFill>
                              <a:schemeClr val="accent5">
                                <a:lumMod val="50000"/>
                              </a:schemeClr>
                            </a:solidFill>
                            <a:latin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rPr>
                          <m:t>𝑡</m:t>
                        </m:r>
                      </m:e>
                      <m:sub>
                        <m:r>
                          <a:rPr lang="pl-PL" sz="2000" b="0" i="1" smtClean="0">
                            <a:solidFill>
                              <a:schemeClr val="accent5">
                                <a:lumMod val="50000"/>
                              </a:schemeClr>
                            </a:solidFill>
                            <a:latin typeface="Cambria Math" panose="02040503050406030204" pitchFamily="18" charset="0"/>
                          </a:rPr>
                          <m:t>𝑖</m:t>
                        </m:r>
                      </m:sub>
                    </m:sSub>
                    <m:r>
                      <a:rPr lang="pl-PL" sz="2000" b="0" i="1" smtClean="0">
                        <a:solidFill>
                          <a:schemeClr val="accent5">
                            <a:lumMod val="50000"/>
                          </a:schemeClr>
                        </a:solidFill>
                        <a:latin typeface="Cambria Math" panose="02040503050406030204" pitchFamily="18" charset="0"/>
                      </a:rPr>
                      <m:t>𝑖</m:t>
                    </m:r>
                    <m:r>
                      <a:rPr lang="pl-PL" sz="2000" b="0" i="1" smtClean="0">
                        <a:solidFill>
                          <a:schemeClr val="accent5">
                            <a:lumMod val="50000"/>
                          </a:schemeClr>
                        </a:solidFill>
                        <a:latin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𝜖</m:t>
                    </m:r>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d>
                      <m:dPr>
                        <m:begChr m:val="["/>
                        <m:endChr m:val="]"/>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dPr>
                      <m:e>
                        <m:r>
                          <a:rPr lang="pl-PL" sz="2000" b="0" i="1" smtClean="0">
                            <a:solidFill>
                              <a:schemeClr val="accent5">
                                <a:lumMod val="50000"/>
                              </a:schemeClr>
                            </a:solidFill>
                            <a:latin typeface="Cambria Math" panose="02040503050406030204" pitchFamily="18" charset="0"/>
                            <a:ea typeface="Cambria Math" panose="02040503050406030204" pitchFamily="18" charset="0"/>
                          </a:rPr>
                          <m:t>0,</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𝑇</m:t>
                        </m:r>
                      </m:e>
                    </m:d>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𝑖</m:t>
                    </m:r>
                    <m:r>
                      <a:rPr lang="pl-PL" sz="2000" b="0" i="1" smtClean="0">
                        <a:solidFill>
                          <a:schemeClr val="accent5">
                            <a:lumMod val="50000"/>
                          </a:schemeClr>
                        </a:solidFill>
                        <a:latin typeface="Cambria Math" panose="02040503050406030204" pitchFamily="18" charset="0"/>
                        <a:ea typeface="Cambria Math" panose="02040503050406030204" pitchFamily="18" charset="0"/>
                      </a:rPr>
                      <m:t>=0,…,</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𝐼</m:t>
                    </m:r>
                  </m:oMath>
                </a14:m>
                <a:r>
                  <a:rPr lang="pl-PL" sz="2000" dirty="0">
                    <a:solidFill>
                      <a:schemeClr val="accent5">
                        <a:lumMod val="50000"/>
                      </a:schemeClr>
                    </a:solidFill>
                  </a:rPr>
                  <a:t> </a:t>
                </a:r>
                <a:r>
                  <a:rPr lang="en-US" sz="2000" dirty="0">
                    <a:solidFill>
                      <a:schemeClr val="accent5">
                        <a:lumMod val="50000"/>
                      </a:schemeClr>
                    </a:solidFill>
                  </a:rPr>
                  <a:t>. These values can be determined on the basis of historical data.</a:t>
                </a:r>
                <a:r>
                  <a:rPr lang="pl-PL" sz="2000" dirty="0">
                    <a:solidFill>
                      <a:schemeClr val="accent5">
                        <a:lumMod val="50000"/>
                      </a:schemeClr>
                    </a:solidFill>
                  </a:rPr>
                  <a:t> </a:t>
                </a:r>
                <a:r>
                  <a:rPr lang="en-US" sz="2000" dirty="0">
                    <a:solidFill>
                      <a:schemeClr val="accent5">
                        <a:lumMod val="50000"/>
                      </a:schemeClr>
                    </a:solidFill>
                  </a:rPr>
                  <a:t>We can simulate and determine</a:t>
                </a:r>
                <a:r>
                  <a:rPr lang="pl-PL" sz="2000" dirty="0">
                    <a:solidFill>
                      <a:schemeClr val="accent5">
                        <a:lumMod val="50000"/>
                      </a:schemeClr>
                    </a:solidFill>
                  </a:rPr>
                  <a:t> </a:t>
                </a:r>
                <a:r>
                  <a:rPr lang="pl-PL" sz="2000" b="1" dirty="0" err="1">
                    <a:solidFill>
                      <a:schemeClr val="accent5">
                        <a:lumMod val="50000"/>
                      </a:schemeClr>
                    </a:solidFill>
                  </a:rPr>
                  <a:t>VaR</a:t>
                </a:r>
                <a:r>
                  <a:rPr lang="pl-PL" sz="2000" dirty="0">
                    <a:solidFill>
                      <a:schemeClr val="accent5">
                        <a:lumMod val="50000"/>
                      </a:schemeClr>
                    </a:solidFill>
                  </a:rPr>
                  <a:t>. </a:t>
                </a:r>
                <a:endParaRPr lang="pl-PL" sz="2000" baseline="-25000" dirty="0">
                  <a:solidFill>
                    <a:schemeClr val="accent5">
                      <a:lumMod val="50000"/>
                    </a:schemeClr>
                  </a:solidFill>
                </a:endParaRPr>
              </a:p>
            </p:txBody>
          </p:sp>
        </mc:Choice>
        <mc:Fallback xmlns="">
          <p:sp>
            <p:nvSpPr>
              <p:cNvPr id="42" name="pole tekstowe 41"/>
              <p:cNvSpPr txBox="1">
                <a:spLocks noRot="1" noChangeAspect="1" noMove="1" noResize="1" noEditPoints="1" noAdjustHandles="1" noChangeArrowheads="1" noChangeShapeType="1" noTextEdit="1"/>
              </p:cNvSpPr>
              <p:nvPr/>
            </p:nvSpPr>
            <p:spPr>
              <a:xfrm>
                <a:off x="244043" y="1454681"/>
                <a:ext cx="11703913" cy="5220403"/>
              </a:xfrm>
              <a:prstGeom prst="rect">
                <a:avLst/>
              </a:prstGeom>
              <a:blipFill>
                <a:blip r:embed="rId3"/>
                <a:stretch>
                  <a:fillRect l="-521" t="-701" r="-573" b="-1168"/>
                </a:stretch>
              </a:blipFill>
            </p:spPr>
            <p:txBody>
              <a:bodyPr/>
              <a:lstStyle/>
              <a:p>
                <a:r>
                  <a:rPr lang="pl-PL">
                    <a:noFill/>
                  </a:rPr>
                  <a:t> </a:t>
                </a:r>
              </a:p>
            </p:txBody>
          </p:sp>
        </mc:Fallback>
      </mc:AlternateContent>
      <p:sp>
        <p:nvSpPr>
          <p:cNvPr id="9" name="Tytuł 1"/>
          <p:cNvSpPr>
            <a:spLocks noGrp="1"/>
          </p:cNvSpPr>
          <p:nvPr>
            <p:ph type="title"/>
          </p:nvPr>
        </p:nvSpPr>
        <p:spPr>
          <a:xfrm>
            <a:off x="0" y="0"/>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Value </a:t>
            </a:r>
            <a:r>
              <a:rPr lang="pl-PL" sz="4000" b="1" dirty="0" err="1">
                <a:solidFill>
                  <a:schemeClr val="accent5">
                    <a:lumMod val="50000"/>
                  </a:schemeClr>
                </a:solidFill>
              </a:rPr>
              <a:t>at</a:t>
            </a:r>
            <a:r>
              <a:rPr lang="pl-PL" sz="4000" b="1" dirty="0">
                <a:solidFill>
                  <a:schemeClr val="accent5">
                    <a:lumMod val="50000"/>
                  </a:schemeClr>
                </a:solidFill>
              </a:rPr>
              <a:t> </a:t>
            </a:r>
            <a:r>
              <a:rPr lang="pl-PL" sz="4000" b="1" dirty="0" err="1">
                <a:solidFill>
                  <a:schemeClr val="accent5">
                    <a:lumMod val="50000"/>
                  </a:schemeClr>
                </a:solidFill>
              </a:rPr>
              <a:t>Risk</a:t>
            </a:r>
            <a:endParaRPr lang="en-US" sz="4000" b="1" dirty="0">
              <a:solidFill>
                <a:schemeClr val="accent5">
                  <a:lumMod val="50000"/>
                </a:schemeClr>
              </a:solidFill>
            </a:endParaRPr>
          </a:p>
        </p:txBody>
      </p:sp>
      <p:sp>
        <p:nvSpPr>
          <p:cNvPr id="24" name="Rectangle 14"/>
          <p:cNvSpPr>
            <a:spLocks noChangeArrowheads="1"/>
          </p:cNvSpPr>
          <p:nvPr/>
        </p:nvSpPr>
        <p:spPr bwMode="auto">
          <a:xfrm>
            <a:off x="0" y="1471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
        <p:nvSpPr>
          <p:cNvPr id="26" name="Rectangle 16"/>
          <p:cNvSpPr>
            <a:spLocks noChangeArrowheads="1"/>
          </p:cNvSpPr>
          <p:nvPr/>
        </p:nvSpPr>
        <p:spPr bwMode="auto">
          <a:xfrm>
            <a:off x="0" y="2460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Tree>
    <p:extLst>
      <p:ext uri="{BB962C8B-B14F-4D97-AF65-F5344CB8AC3E}">
        <p14:creationId xmlns:p14="http://schemas.microsoft.com/office/powerpoint/2010/main" val="3792349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424FB4-0ADB-A362-35E2-524B73CFBC85}"/>
              </a:ext>
            </a:extLst>
          </p:cNvPr>
          <p:cNvPicPr>
            <a:picLocks noChangeAspect="1"/>
          </p:cNvPicPr>
          <p:nvPr/>
        </p:nvPicPr>
        <p:blipFill>
          <a:blip r:embed="rId3"/>
          <a:stretch>
            <a:fillRect/>
          </a:stretch>
        </p:blipFill>
        <p:spPr>
          <a:xfrm>
            <a:off x="760822" y="2776027"/>
            <a:ext cx="3820906" cy="3862489"/>
          </a:xfrm>
          <a:prstGeom prst="rect">
            <a:avLst/>
          </a:prstGeom>
        </p:spPr>
      </p:pic>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Value </a:t>
            </a:r>
            <a:r>
              <a:rPr lang="pl-PL" sz="4000" b="1" dirty="0" err="1">
                <a:solidFill>
                  <a:schemeClr val="accent5">
                    <a:lumMod val="50000"/>
                  </a:schemeClr>
                </a:solidFill>
              </a:rPr>
              <a:t>at</a:t>
            </a:r>
            <a:r>
              <a:rPr lang="pl-PL" sz="4000" b="1" dirty="0">
                <a:solidFill>
                  <a:schemeClr val="accent5">
                    <a:lumMod val="50000"/>
                  </a:schemeClr>
                </a:solidFill>
              </a:rPr>
              <a:t> </a:t>
            </a:r>
            <a:r>
              <a:rPr lang="pl-PL" sz="4000" b="1" dirty="0" err="1">
                <a:solidFill>
                  <a:schemeClr val="accent5">
                    <a:lumMod val="50000"/>
                  </a:schemeClr>
                </a:solidFill>
              </a:rPr>
              <a:t>Risk</a:t>
            </a:r>
            <a:endParaRPr lang="en-US" sz="4000" b="1" dirty="0">
              <a:solidFill>
                <a:schemeClr val="accent5">
                  <a:lumMod val="50000"/>
                </a:schemeClr>
              </a:solidFill>
            </a:endParaRPr>
          </a:p>
        </p:txBody>
      </p:sp>
      <p:sp>
        <p:nvSpPr>
          <p:cNvPr id="24" name="Rectangle 14"/>
          <p:cNvSpPr>
            <a:spLocks noChangeArrowheads="1"/>
          </p:cNvSpPr>
          <p:nvPr/>
        </p:nvSpPr>
        <p:spPr bwMode="auto">
          <a:xfrm>
            <a:off x="0" y="12254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
        <p:nvSpPr>
          <p:cNvPr id="26" name="Rectangle 1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
        <p:nvSpPr>
          <p:cNvPr id="42" name="pole tekstowe 41"/>
          <p:cNvSpPr txBox="1"/>
          <p:nvPr/>
        </p:nvSpPr>
        <p:spPr>
          <a:xfrm>
            <a:off x="760822" y="1411419"/>
            <a:ext cx="2787592" cy="400110"/>
          </a:xfrm>
          <a:prstGeom prst="rect">
            <a:avLst/>
          </a:prstGeom>
          <a:noFill/>
        </p:spPr>
        <p:txBody>
          <a:bodyPr wrap="square">
            <a:spAutoFit/>
          </a:bodyPr>
          <a:lstStyle/>
          <a:p>
            <a:pPr algn="just">
              <a:defRPr/>
            </a:pPr>
            <a:r>
              <a:rPr lang="pl-PL" sz="2000" dirty="0" err="1">
                <a:solidFill>
                  <a:schemeClr val="accent5">
                    <a:lumMod val="50000"/>
                  </a:schemeClr>
                </a:solidFill>
              </a:rPr>
              <a:t>Old</a:t>
            </a:r>
            <a:r>
              <a:rPr lang="pl-PL" sz="2000" dirty="0">
                <a:solidFill>
                  <a:schemeClr val="accent5">
                    <a:lumMod val="50000"/>
                  </a:schemeClr>
                </a:solidFill>
              </a:rPr>
              <a:t> data </a:t>
            </a:r>
            <a:r>
              <a:rPr lang="pl-PL" sz="2000" dirty="0">
                <a:solidFill>
                  <a:schemeClr val="accent5">
                    <a:lumMod val="50000"/>
                  </a:schemeClr>
                </a:solidFill>
                <a:sym typeface="Wingdings" panose="05000000000000000000" pitchFamily="2" charset="2"/>
              </a:rPr>
              <a:t> </a:t>
            </a:r>
            <a:r>
              <a:rPr lang="pl-PL" sz="2000" dirty="0" err="1">
                <a:solidFill>
                  <a:schemeClr val="accent5">
                    <a:lumMod val="50000"/>
                  </a:schemeClr>
                </a:solidFill>
                <a:sym typeface="Wingdings" panose="05000000000000000000" pitchFamily="2" charset="2"/>
              </a:rPr>
              <a:t>parameters</a:t>
            </a:r>
            <a:r>
              <a:rPr lang="pl-PL" sz="2000" dirty="0">
                <a:solidFill>
                  <a:schemeClr val="accent5">
                    <a:lumMod val="50000"/>
                  </a:schemeClr>
                </a:solidFill>
                <a:sym typeface="Wingdings" panose="05000000000000000000" pitchFamily="2" charset="2"/>
              </a:rPr>
              <a:t> </a:t>
            </a:r>
            <a:endParaRPr lang="pl-PL" sz="2000" baseline="-25000" dirty="0">
              <a:solidFill>
                <a:schemeClr val="accent5">
                  <a:lumMod val="50000"/>
                </a:schemeClr>
              </a:solidFill>
            </a:endParaRPr>
          </a:p>
        </p:txBody>
      </p:sp>
      <mc:AlternateContent xmlns:mc="http://schemas.openxmlformats.org/markup-compatibility/2006">
        <mc:Choice xmlns:a14="http://schemas.microsoft.com/office/drawing/2010/main" Requires="a14">
          <p:sp>
            <p:nvSpPr>
              <p:cNvPr id="37" name="Prostokąt 36"/>
              <p:cNvSpPr/>
              <p:nvPr/>
            </p:nvSpPr>
            <p:spPr>
              <a:xfrm>
                <a:off x="4870896" y="1254133"/>
                <a:ext cx="4438779"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l-PL" i="1">
                              <a:solidFill>
                                <a:schemeClr val="accent5">
                                  <a:lumMod val="50000"/>
                                </a:schemeClr>
                              </a:solidFill>
                              <a:latin typeface="Cambria Math" panose="02040503050406030204" pitchFamily="18" charset="0"/>
                            </a:rPr>
                          </m:ctrlPr>
                        </m:sSubPr>
                        <m:e>
                          <m:r>
                            <a:rPr lang="pl-PL" i="1">
                              <a:solidFill>
                                <a:schemeClr val="accent5">
                                  <a:lumMod val="50000"/>
                                </a:schemeClr>
                              </a:solidFill>
                              <a:latin typeface="Cambria Math" panose="02040503050406030204" pitchFamily="18" charset="0"/>
                            </a:rPr>
                            <m:t>𝑆</m:t>
                          </m:r>
                        </m:e>
                        <m:sub>
                          <m:r>
                            <a:rPr lang="pl-PL" i="1">
                              <a:solidFill>
                                <a:schemeClr val="accent5">
                                  <a:lumMod val="50000"/>
                                </a:schemeClr>
                              </a:solidFill>
                              <a:latin typeface="Cambria Math" panose="02040503050406030204" pitchFamily="18" charset="0"/>
                            </a:rPr>
                            <m:t>𝑡</m:t>
                          </m:r>
                        </m:sub>
                      </m:sSub>
                      <m:r>
                        <a:rPr lang="pl-PL" i="1">
                          <a:solidFill>
                            <a:schemeClr val="accent5">
                              <a:lumMod val="50000"/>
                            </a:schemeClr>
                          </a:solidFill>
                          <a:latin typeface="Cambria Math" panose="02040503050406030204" pitchFamily="18" charset="0"/>
                        </a:rPr>
                        <m:t>= </m:t>
                      </m:r>
                      <m:sSub>
                        <m:sSubPr>
                          <m:ctrlPr>
                            <a:rPr lang="pl-PL" i="1">
                              <a:solidFill>
                                <a:schemeClr val="accent5">
                                  <a:lumMod val="50000"/>
                                </a:schemeClr>
                              </a:solidFill>
                              <a:latin typeface="Cambria Math" panose="02040503050406030204" pitchFamily="18" charset="0"/>
                              <a:ea typeface="Cambria Math" panose="02040503050406030204" pitchFamily="18" charset="0"/>
                            </a:rPr>
                          </m:ctrlPr>
                        </m:sSubPr>
                        <m:e>
                          <m:r>
                            <a:rPr lang="pl-PL" i="1">
                              <a:solidFill>
                                <a:schemeClr val="accent5">
                                  <a:lumMod val="50000"/>
                                </a:schemeClr>
                              </a:solidFill>
                              <a:latin typeface="Cambria Math" panose="02040503050406030204" pitchFamily="18" charset="0"/>
                              <a:ea typeface="Cambria Math" panose="02040503050406030204" pitchFamily="18" charset="0"/>
                            </a:rPr>
                            <m:t>𝑆</m:t>
                          </m:r>
                        </m:e>
                        <m:sub>
                          <m:r>
                            <a:rPr lang="pl-PL" i="1">
                              <a:solidFill>
                                <a:schemeClr val="accent5">
                                  <a:lumMod val="50000"/>
                                </a:schemeClr>
                              </a:solidFill>
                              <a:latin typeface="Cambria Math" panose="02040503050406030204" pitchFamily="18" charset="0"/>
                              <a:ea typeface="Cambria Math" panose="02040503050406030204" pitchFamily="18" charset="0"/>
                            </a:rPr>
                            <m:t>𝑡</m:t>
                          </m:r>
                          <m:r>
                            <a:rPr lang="pl-PL" i="1">
                              <a:solidFill>
                                <a:schemeClr val="accent5">
                                  <a:lumMod val="50000"/>
                                </a:schemeClr>
                              </a:solidFill>
                              <a:latin typeface="Cambria Math" panose="02040503050406030204" pitchFamily="18" charset="0"/>
                              <a:ea typeface="Cambria Math" panose="02040503050406030204" pitchFamily="18" charset="0"/>
                            </a:rPr>
                            <m:t>−1</m:t>
                          </m:r>
                        </m:sub>
                      </m:sSub>
                      <m:r>
                        <a:rPr lang="pl-PL" i="1">
                          <a:solidFill>
                            <a:schemeClr val="accent5">
                              <a:lumMod val="50000"/>
                            </a:schemeClr>
                          </a:solidFill>
                          <a:latin typeface="Cambria Math" panose="02040503050406030204" pitchFamily="18" charset="0"/>
                          <a:ea typeface="Cambria Math" panose="02040503050406030204" pitchFamily="18" charset="0"/>
                        </a:rPr>
                        <m:t>𝑒𝑥𝑝</m:t>
                      </m:r>
                      <m:d>
                        <m:dPr>
                          <m:begChr m:val="["/>
                          <m:endChr m:val="]"/>
                          <m:ctrlPr>
                            <a:rPr lang="pl-PL" i="1">
                              <a:solidFill>
                                <a:schemeClr val="accent5">
                                  <a:lumMod val="50000"/>
                                </a:schemeClr>
                              </a:solidFill>
                              <a:latin typeface="Cambria Math" panose="02040503050406030204" pitchFamily="18" charset="0"/>
                              <a:ea typeface="Cambria Math" panose="02040503050406030204" pitchFamily="18" charset="0"/>
                            </a:rPr>
                          </m:ctrlPr>
                        </m:dPr>
                        <m:e>
                          <m:d>
                            <m:dPr>
                              <m:ctrlPr>
                                <a:rPr lang="pl-PL" i="1">
                                  <a:solidFill>
                                    <a:schemeClr val="accent5">
                                      <a:lumMod val="50000"/>
                                    </a:schemeClr>
                                  </a:solidFill>
                                  <a:latin typeface="Cambria Math" panose="02040503050406030204" pitchFamily="18" charset="0"/>
                                  <a:ea typeface="Cambria Math" panose="02040503050406030204" pitchFamily="18" charset="0"/>
                                </a:rPr>
                              </m:ctrlPr>
                            </m:dPr>
                            <m:e>
                              <m:r>
                                <a:rPr lang="pl-PL" i="1">
                                  <a:solidFill>
                                    <a:schemeClr val="accent5">
                                      <a:lumMod val="50000"/>
                                    </a:schemeClr>
                                  </a:solidFill>
                                  <a:latin typeface="Cambria Math" panose="02040503050406030204" pitchFamily="18" charset="0"/>
                                  <a:ea typeface="Cambria Math" panose="02040503050406030204" pitchFamily="18" charset="0"/>
                                </a:rPr>
                                <m:t>𝜇</m:t>
                              </m:r>
                              <m:r>
                                <a:rPr lang="pl-PL" i="1">
                                  <a:solidFill>
                                    <a:schemeClr val="accent5">
                                      <a:lumMod val="50000"/>
                                    </a:schemeClr>
                                  </a:solidFill>
                                  <a:latin typeface="Cambria Math" panose="02040503050406030204" pitchFamily="18" charset="0"/>
                                  <a:ea typeface="Cambria Math" panose="02040503050406030204" pitchFamily="18" charset="0"/>
                                </a:rPr>
                                <m:t> − </m:t>
                              </m:r>
                              <m:f>
                                <m:fPr>
                                  <m:ctrlPr>
                                    <a:rPr lang="pl-PL" i="1">
                                      <a:solidFill>
                                        <a:schemeClr val="accent5">
                                          <a:lumMod val="50000"/>
                                        </a:schemeClr>
                                      </a:solidFill>
                                      <a:latin typeface="Cambria Math" panose="02040503050406030204" pitchFamily="18" charset="0"/>
                                      <a:ea typeface="Cambria Math" panose="02040503050406030204" pitchFamily="18" charset="0"/>
                                    </a:rPr>
                                  </m:ctrlPr>
                                </m:fPr>
                                <m:num>
                                  <m:r>
                                    <a:rPr lang="pl-PL" i="1">
                                      <a:solidFill>
                                        <a:schemeClr val="accent5">
                                          <a:lumMod val="50000"/>
                                        </a:schemeClr>
                                      </a:solidFill>
                                      <a:latin typeface="Cambria Math" panose="02040503050406030204" pitchFamily="18" charset="0"/>
                                      <a:ea typeface="Cambria Math" panose="02040503050406030204" pitchFamily="18" charset="0"/>
                                    </a:rPr>
                                    <m:t>1</m:t>
                                  </m:r>
                                </m:num>
                                <m:den>
                                  <m:r>
                                    <a:rPr lang="pl-PL" i="1">
                                      <a:solidFill>
                                        <a:schemeClr val="accent5">
                                          <a:lumMod val="50000"/>
                                        </a:schemeClr>
                                      </a:solidFill>
                                      <a:latin typeface="Cambria Math" panose="02040503050406030204" pitchFamily="18" charset="0"/>
                                      <a:ea typeface="Cambria Math" panose="02040503050406030204" pitchFamily="18" charset="0"/>
                                    </a:rPr>
                                    <m:t>2</m:t>
                                  </m:r>
                                </m:den>
                              </m:f>
                              <m:sSup>
                                <m:sSupPr>
                                  <m:ctrlPr>
                                    <a:rPr lang="pl-PL" i="1">
                                      <a:solidFill>
                                        <a:schemeClr val="accent5">
                                          <a:lumMod val="50000"/>
                                        </a:schemeClr>
                                      </a:solidFill>
                                      <a:latin typeface="Cambria Math" panose="02040503050406030204" pitchFamily="18" charset="0"/>
                                      <a:ea typeface="Cambria Math" panose="02040503050406030204" pitchFamily="18" charset="0"/>
                                    </a:rPr>
                                  </m:ctrlPr>
                                </m:sSupPr>
                                <m:e>
                                  <m:r>
                                    <a:rPr lang="pl-PL" i="1">
                                      <a:solidFill>
                                        <a:schemeClr val="accent5">
                                          <a:lumMod val="50000"/>
                                        </a:schemeClr>
                                      </a:solidFill>
                                      <a:latin typeface="Cambria Math" panose="02040503050406030204" pitchFamily="18" charset="0"/>
                                      <a:ea typeface="Cambria Math" panose="02040503050406030204" pitchFamily="18" charset="0"/>
                                    </a:rPr>
                                    <m:t>𝜎</m:t>
                                  </m:r>
                                </m:e>
                                <m:sup>
                                  <m:r>
                                    <a:rPr lang="pl-PL" i="1">
                                      <a:solidFill>
                                        <a:schemeClr val="accent5">
                                          <a:lumMod val="50000"/>
                                        </a:schemeClr>
                                      </a:solidFill>
                                      <a:latin typeface="Cambria Math" panose="02040503050406030204" pitchFamily="18" charset="0"/>
                                      <a:ea typeface="Cambria Math" panose="02040503050406030204" pitchFamily="18" charset="0"/>
                                    </a:rPr>
                                    <m:t>2</m:t>
                                  </m:r>
                                </m:sup>
                              </m:sSup>
                            </m:e>
                          </m:d>
                          <m:r>
                            <a:rPr lang="pl-PL" i="1">
                              <a:solidFill>
                                <a:schemeClr val="accent5">
                                  <a:lumMod val="50000"/>
                                </a:schemeClr>
                              </a:solidFill>
                              <a:latin typeface="Cambria Math" panose="02040503050406030204" pitchFamily="18" charset="0"/>
                              <a:ea typeface="Cambria Math" panose="02040503050406030204" pitchFamily="18" charset="0"/>
                            </a:rPr>
                            <m:t>𝑑𝑡</m:t>
                          </m:r>
                          <m:r>
                            <a:rPr lang="pl-PL" i="1">
                              <a:solidFill>
                                <a:schemeClr val="accent5">
                                  <a:lumMod val="50000"/>
                                </a:schemeClr>
                              </a:solidFill>
                              <a:latin typeface="Cambria Math" panose="02040503050406030204" pitchFamily="18" charset="0"/>
                              <a:ea typeface="Cambria Math" panose="02040503050406030204" pitchFamily="18" charset="0"/>
                            </a:rPr>
                            <m:t>+ </m:t>
                          </m:r>
                          <m:r>
                            <a:rPr lang="pl-PL" i="1">
                              <a:solidFill>
                                <a:schemeClr val="accent5">
                                  <a:lumMod val="50000"/>
                                </a:schemeClr>
                              </a:solidFill>
                              <a:latin typeface="Cambria Math" panose="02040503050406030204" pitchFamily="18" charset="0"/>
                              <a:ea typeface="Cambria Math" panose="02040503050406030204" pitchFamily="18" charset="0"/>
                            </a:rPr>
                            <m:t>𝜎</m:t>
                          </m:r>
                          <m:rad>
                            <m:radPr>
                              <m:degHide m:val="on"/>
                              <m:ctrlPr>
                                <a:rPr lang="pl-PL" i="1">
                                  <a:solidFill>
                                    <a:schemeClr val="accent5">
                                      <a:lumMod val="50000"/>
                                    </a:schemeClr>
                                  </a:solidFill>
                                  <a:latin typeface="Cambria Math" panose="02040503050406030204" pitchFamily="18" charset="0"/>
                                  <a:ea typeface="Cambria Math" panose="02040503050406030204" pitchFamily="18" charset="0"/>
                                </a:rPr>
                              </m:ctrlPr>
                            </m:radPr>
                            <m:deg/>
                            <m:e>
                              <m:r>
                                <a:rPr lang="pl-PL" i="1">
                                  <a:solidFill>
                                    <a:schemeClr val="accent5">
                                      <a:lumMod val="50000"/>
                                    </a:schemeClr>
                                  </a:solidFill>
                                  <a:latin typeface="Cambria Math" panose="02040503050406030204" pitchFamily="18" charset="0"/>
                                  <a:ea typeface="Cambria Math" panose="02040503050406030204" pitchFamily="18" charset="0"/>
                                </a:rPr>
                                <m:t>𝑑𝑡</m:t>
                              </m:r>
                              <m:r>
                                <a:rPr lang="pl-PL" i="1">
                                  <a:solidFill>
                                    <a:schemeClr val="accent5">
                                      <a:lumMod val="50000"/>
                                    </a:schemeClr>
                                  </a:solidFill>
                                  <a:latin typeface="Cambria Math" panose="02040503050406030204" pitchFamily="18" charset="0"/>
                                  <a:ea typeface="Cambria Math" panose="02040503050406030204" pitchFamily="18" charset="0"/>
                                </a:rPr>
                                <m:t> </m:t>
                              </m:r>
                            </m:e>
                          </m:rad>
                          <m:r>
                            <a:rPr lang="pl-PL" i="1">
                              <a:solidFill>
                                <a:schemeClr val="accent5">
                                  <a:lumMod val="50000"/>
                                </a:schemeClr>
                              </a:solidFill>
                              <a:latin typeface="Cambria Math" panose="02040503050406030204" pitchFamily="18" charset="0"/>
                              <a:ea typeface="Cambria Math" panose="02040503050406030204" pitchFamily="18" charset="0"/>
                            </a:rPr>
                            <m:t> </m:t>
                          </m:r>
                          <m:sSub>
                            <m:sSubPr>
                              <m:ctrlPr>
                                <a:rPr lang="pl-PL" i="1">
                                  <a:solidFill>
                                    <a:schemeClr val="accent5">
                                      <a:lumMod val="50000"/>
                                    </a:schemeClr>
                                  </a:solidFill>
                                  <a:latin typeface="Cambria Math" panose="02040503050406030204" pitchFamily="18" charset="0"/>
                                  <a:ea typeface="Cambria Math" panose="02040503050406030204" pitchFamily="18" charset="0"/>
                                </a:rPr>
                              </m:ctrlPr>
                            </m:sSubPr>
                            <m:e>
                              <m:r>
                                <a:rPr lang="pl-PL" i="1">
                                  <a:solidFill>
                                    <a:schemeClr val="accent5">
                                      <a:lumMod val="50000"/>
                                    </a:schemeClr>
                                  </a:solidFill>
                                  <a:latin typeface="Cambria Math" panose="02040503050406030204" pitchFamily="18" charset="0"/>
                                  <a:ea typeface="Cambria Math" panose="02040503050406030204" pitchFamily="18" charset="0"/>
                                </a:rPr>
                                <m:t>𝜀</m:t>
                              </m:r>
                            </m:e>
                            <m:sub>
                              <m:r>
                                <a:rPr lang="pl-PL" i="1">
                                  <a:solidFill>
                                    <a:schemeClr val="accent5">
                                      <a:lumMod val="50000"/>
                                    </a:schemeClr>
                                  </a:solidFill>
                                  <a:latin typeface="Cambria Math" panose="02040503050406030204" pitchFamily="18" charset="0"/>
                                  <a:ea typeface="Cambria Math" panose="02040503050406030204" pitchFamily="18" charset="0"/>
                                </a:rPr>
                                <m:t>𝑖</m:t>
                              </m:r>
                            </m:sub>
                          </m:sSub>
                          <m:r>
                            <a:rPr lang="pl-PL" i="1">
                              <a:solidFill>
                                <a:schemeClr val="accent5">
                                  <a:lumMod val="50000"/>
                                </a:schemeClr>
                              </a:solidFill>
                              <a:latin typeface="Cambria Math" panose="02040503050406030204" pitchFamily="18" charset="0"/>
                              <a:ea typeface="Cambria Math" panose="02040503050406030204" pitchFamily="18" charset="0"/>
                            </a:rPr>
                            <m:t> </m:t>
                          </m:r>
                        </m:e>
                      </m:d>
                    </m:oMath>
                  </m:oMathPara>
                </a14:m>
                <a:endParaRPr lang="pl-PL" dirty="0"/>
              </a:p>
            </p:txBody>
          </p:sp>
        </mc:Choice>
        <mc:Fallback>
          <p:sp>
            <p:nvSpPr>
              <p:cNvPr id="37" name="Prostokąt 36"/>
              <p:cNvSpPr>
                <a:spLocks noRot="1" noChangeAspect="1" noMove="1" noResize="1" noEditPoints="1" noAdjustHandles="1" noChangeArrowheads="1" noChangeShapeType="1" noTextEdit="1"/>
              </p:cNvSpPr>
              <p:nvPr/>
            </p:nvSpPr>
            <p:spPr>
              <a:xfrm>
                <a:off x="4870896" y="1254133"/>
                <a:ext cx="4438779" cy="714683"/>
              </a:xfrm>
              <a:prstGeom prst="rect">
                <a:avLst/>
              </a:prstGeom>
              <a:blipFill>
                <a:blip r:embed="rId4"/>
                <a:stretch>
                  <a:fillRect/>
                </a:stretch>
              </a:blipFill>
            </p:spPr>
            <p:txBody>
              <a:bodyPr/>
              <a:lstStyle/>
              <a:p>
                <a:r>
                  <a:rPr lang="pl-PL">
                    <a:noFill/>
                  </a:rPr>
                  <a:t> </a:t>
                </a:r>
              </a:p>
            </p:txBody>
          </p:sp>
        </mc:Fallback>
      </mc:AlternateContent>
      <p:sp>
        <p:nvSpPr>
          <p:cNvPr id="39" name="Strzałka w dół 38"/>
          <p:cNvSpPr/>
          <p:nvPr/>
        </p:nvSpPr>
        <p:spPr>
          <a:xfrm rot="16200000">
            <a:off x="3739064" y="1062871"/>
            <a:ext cx="899408" cy="1052123"/>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pl-PL"/>
          </a:p>
        </p:txBody>
      </p:sp>
      <p:sp>
        <p:nvSpPr>
          <p:cNvPr id="41" name="Strzałka w dół 40"/>
          <p:cNvSpPr/>
          <p:nvPr/>
        </p:nvSpPr>
        <p:spPr>
          <a:xfrm rot="16200000">
            <a:off x="5254062" y="3870437"/>
            <a:ext cx="1061709" cy="1423448"/>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pl-PL"/>
          </a:p>
        </p:txBody>
      </p:sp>
      <p:sp>
        <p:nvSpPr>
          <p:cNvPr id="43" name="Strzałka w dół 42"/>
          <p:cNvSpPr/>
          <p:nvPr/>
        </p:nvSpPr>
        <p:spPr>
          <a:xfrm rot="2626678">
            <a:off x="4627800" y="1967876"/>
            <a:ext cx="1061709" cy="1423448"/>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pl-PL"/>
          </a:p>
        </p:txBody>
      </p:sp>
      <p:pic>
        <p:nvPicPr>
          <p:cNvPr id="1026" name="Picture 2" descr="Plot object">
            <a:extLst>
              <a:ext uri="{FF2B5EF4-FFF2-40B4-BE49-F238E27FC236}">
                <a16:creationId xmlns:a16="http://schemas.microsoft.com/office/drawing/2014/main" id="{2B49765C-8C33-6882-24D0-2B23D56F77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8105" y="2220154"/>
            <a:ext cx="4616993" cy="435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532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rPr>
              <a:t>Bootstrapping</a:t>
            </a:r>
            <a:endParaRPr lang="pl-PL" altLang="pl-PL" sz="3600" b="1" dirty="0">
              <a:solidFill>
                <a:schemeClr val="accent5">
                  <a:lumMod val="50000"/>
                </a:schemeClr>
              </a:solidFill>
              <a:latin typeface="Arial" charset="0"/>
            </a:endParaRPr>
          </a:p>
        </p:txBody>
      </p:sp>
      <p:sp>
        <p:nvSpPr>
          <p:cNvPr id="2" name="Prostokąt 1"/>
          <p:cNvSpPr/>
          <p:nvPr/>
        </p:nvSpPr>
        <p:spPr>
          <a:xfrm>
            <a:off x="50062" y="1346060"/>
            <a:ext cx="7054051" cy="2246769"/>
          </a:xfrm>
          <a:prstGeom prst="rect">
            <a:avLst/>
          </a:prstGeom>
        </p:spPr>
        <p:txBody>
          <a:bodyPr wrap="square">
            <a:spAutoFit/>
          </a:bodyPr>
          <a:lstStyle/>
          <a:p>
            <a:pPr algn="just"/>
            <a:r>
              <a:rPr lang="en-US" sz="2800" dirty="0">
                <a:solidFill>
                  <a:srgbClr val="4BACC6">
                    <a:lumMod val="50000"/>
                  </a:srgbClr>
                </a:solidFill>
                <a:latin typeface="Calibri"/>
              </a:rPr>
              <a:t>When the data set(sample) is small, you can use a statistical technique which gives you a much better approximation of the population properties than the sample estimators. The magical techniques is bootstrap/bootstrapping. </a:t>
            </a:r>
            <a:endParaRPr lang="en-GB" sz="2800" dirty="0">
              <a:solidFill>
                <a:srgbClr val="4BACC6">
                  <a:lumMod val="50000"/>
                </a:srgbClr>
              </a:solidFill>
              <a:latin typeface="Calibri"/>
            </a:endParaRPr>
          </a:p>
        </p:txBody>
      </p:sp>
      <p:sp>
        <p:nvSpPr>
          <p:cNvPr id="4" name="Rectangle 2"/>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sz="2400">
              <a:solidFill>
                <a:prstClr val="black"/>
              </a:solidFill>
              <a:latin typeface="Calibri"/>
            </a:endParaRPr>
          </a:p>
        </p:txBody>
      </p:sp>
      <p:graphicFrame>
        <p:nvGraphicFramePr>
          <p:cNvPr id="5" name="Obiekt 4"/>
          <p:cNvGraphicFramePr>
            <a:graphicFrameLocks noChangeAspect="1"/>
          </p:cNvGraphicFramePr>
          <p:nvPr>
            <p:extLst>
              <p:ext uri="{D42A27DB-BD31-4B8C-83A1-F6EECF244321}">
                <p14:modId xmlns:p14="http://schemas.microsoft.com/office/powerpoint/2010/main" val="858972595"/>
              </p:ext>
            </p:extLst>
          </p:nvPr>
        </p:nvGraphicFramePr>
        <p:xfrm>
          <a:off x="6866625" y="1195131"/>
          <a:ext cx="5045513" cy="2446851"/>
        </p:xfrm>
        <a:graphic>
          <a:graphicData uri="http://schemas.openxmlformats.org/presentationml/2006/ole">
            <mc:AlternateContent xmlns:mc="http://schemas.openxmlformats.org/markup-compatibility/2006">
              <mc:Choice xmlns:v="urn:schemas-microsoft-com:vml" Requires="v">
                <p:oleObj name="Obraz - mapa bitowa" r:id="rId3" imgW="3878916" imgH="2400508" progId="Paint.Picture">
                  <p:embed/>
                </p:oleObj>
              </mc:Choice>
              <mc:Fallback>
                <p:oleObj name="Obraz - mapa bitowa" r:id="rId3" imgW="3878916" imgH="2400508" progId="Paint.Picture">
                  <p:embed/>
                  <p:pic>
                    <p:nvPicPr>
                      <p:cNvPr id="5" name="Obiek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6625" y="1195131"/>
                        <a:ext cx="5045513" cy="2446851"/>
                      </a:xfrm>
                      <a:prstGeom prst="rect">
                        <a:avLst/>
                      </a:prstGeom>
                      <a:noFill/>
                    </p:spPr>
                  </p:pic>
                </p:oleObj>
              </mc:Fallback>
            </mc:AlternateContent>
          </a:graphicData>
        </a:graphic>
      </p:graphicFrame>
      <p:sp>
        <p:nvSpPr>
          <p:cNvPr id="8" name="Prostokąt 7"/>
          <p:cNvSpPr/>
          <p:nvPr/>
        </p:nvSpPr>
        <p:spPr>
          <a:xfrm>
            <a:off x="163630" y="3592829"/>
            <a:ext cx="11377060" cy="3108543"/>
          </a:xfrm>
          <a:prstGeom prst="rect">
            <a:avLst/>
          </a:prstGeom>
          <a:solidFill>
            <a:schemeClr val="bg1"/>
          </a:solidFill>
        </p:spPr>
        <p:txBody>
          <a:bodyPr wrap="square">
            <a:spAutoFit/>
          </a:bodyPr>
          <a:lstStyle/>
          <a:p>
            <a:pPr algn="just"/>
            <a:r>
              <a:rPr lang="en-US" sz="2800" dirty="0">
                <a:solidFill>
                  <a:srgbClr val="4BACC6">
                    <a:lumMod val="50000"/>
                  </a:srgbClr>
                </a:solidFill>
                <a:latin typeface="Calibri"/>
              </a:rPr>
              <a:t>The technique - is based on </a:t>
            </a:r>
            <a:r>
              <a:rPr lang="en-US" sz="2800" b="1" dirty="0" err="1">
                <a:solidFill>
                  <a:srgbClr val="4BACC6">
                    <a:lumMod val="50000"/>
                  </a:srgbClr>
                </a:solidFill>
                <a:latin typeface="Calibri"/>
              </a:rPr>
              <a:t>resampl</a:t>
            </a:r>
            <a:r>
              <a:rPr lang="pl-PL" sz="2800" b="1" dirty="0" err="1">
                <a:solidFill>
                  <a:srgbClr val="4BACC6">
                    <a:lumMod val="50000"/>
                  </a:srgbClr>
                </a:solidFill>
                <a:latin typeface="Calibri"/>
              </a:rPr>
              <a:t>ing</a:t>
            </a:r>
            <a:r>
              <a:rPr lang="en-US" sz="2800" b="1" dirty="0">
                <a:solidFill>
                  <a:srgbClr val="4BACC6">
                    <a:lumMod val="50000"/>
                  </a:srgbClr>
                </a:solidFill>
                <a:latin typeface="Calibri"/>
              </a:rPr>
              <a:t> of the sample</a:t>
            </a:r>
            <a:r>
              <a:rPr lang="en-US" sz="2800" dirty="0">
                <a:solidFill>
                  <a:srgbClr val="4BACC6">
                    <a:lumMod val="50000"/>
                  </a:srgbClr>
                </a:solidFill>
                <a:latin typeface="Calibri"/>
              </a:rPr>
              <a:t>.  It's like the adventures of Baron Munchausen, who pulled himself and the horse he is sitting on out of a swamp by his own hair</a:t>
            </a:r>
            <a:r>
              <a:rPr lang="pl-PL" sz="2800" dirty="0">
                <a:solidFill>
                  <a:srgbClr val="4BACC6">
                    <a:lumMod val="50000"/>
                  </a:srgbClr>
                </a:solidFill>
                <a:latin typeface="Calibri"/>
              </a:rPr>
              <a:t>. </a:t>
            </a:r>
          </a:p>
          <a:p>
            <a:pPr algn="just"/>
            <a:endParaRPr lang="pl-PL" sz="2800" dirty="0">
              <a:solidFill>
                <a:srgbClr val="4BACC6">
                  <a:lumMod val="50000"/>
                </a:srgbClr>
              </a:solidFill>
              <a:latin typeface="Calibri"/>
            </a:endParaRPr>
          </a:p>
          <a:p>
            <a:pPr algn="just"/>
            <a:r>
              <a:rPr lang="en-US" sz="2800" dirty="0">
                <a:solidFill>
                  <a:srgbClr val="4BACC6">
                    <a:lumMod val="50000"/>
                  </a:srgbClr>
                </a:solidFill>
                <a:latin typeface="Calibri"/>
              </a:rPr>
              <a:t>I will present you bootstrapping and it will be the beginning of your home task. The old version of the explanation is at the end of the slides (not presented at the lecture).  </a:t>
            </a:r>
            <a:endParaRPr lang="en-GB" sz="2800" dirty="0">
              <a:solidFill>
                <a:srgbClr val="4BACC6">
                  <a:lumMod val="50000"/>
                </a:srgbClr>
              </a:solidFill>
              <a:latin typeface="Calibri"/>
            </a:endParaRPr>
          </a:p>
        </p:txBody>
      </p:sp>
    </p:spTree>
    <p:extLst>
      <p:ext uri="{BB962C8B-B14F-4D97-AF65-F5344CB8AC3E}">
        <p14:creationId xmlns:p14="http://schemas.microsoft.com/office/powerpoint/2010/main" val="22879070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rPr>
              <a:t>Bootstrapping</a:t>
            </a:r>
            <a:r>
              <a:rPr lang="pl-PL" sz="3600" b="1" dirty="0">
                <a:solidFill>
                  <a:schemeClr val="accent5">
                    <a:lumMod val="50000"/>
                  </a:schemeClr>
                </a:solidFill>
              </a:rPr>
              <a:t> </a:t>
            </a:r>
            <a:endParaRPr lang="pl-PL" altLang="pl-PL" sz="2400" b="1" dirty="0">
              <a:solidFill>
                <a:schemeClr val="accent5">
                  <a:lumMod val="50000"/>
                </a:schemeClr>
              </a:solidFill>
              <a:latin typeface="Arial" charset="0"/>
            </a:endParaRPr>
          </a:p>
        </p:txBody>
      </p:sp>
      <p:sp>
        <p:nvSpPr>
          <p:cNvPr id="2" name="Prostokąt 1"/>
          <p:cNvSpPr/>
          <p:nvPr/>
        </p:nvSpPr>
        <p:spPr>
          <a:xfrm>
            <a:off x="163628" y="1053874"/>
            <a:ext cx="11405937" cy="1384995"/>
          </a:xfrm>
          <a:prstGeom prst="rect">
            <a:avLst/>
          </a:prstGeom>
        </p:spPr>
        <p:txBody>
          <a:bodyPr wrap="square">
            <a:spAutoFit/>
          </a:bodyPr>
          <a:lstStyle/>
          <a:p>
            <a:pPr algn="just"/>
            <a:r>
              <a:rPr lang="pl-PL" sz="2800" dirty="0">
                <a:solidFill>
                  <a:srgbClr val="4BACC6">
                    <a:lumMod val="50000"/>
                  </a:srgbClr>
                </a:solidFill>
                <a:latin typeface="Calibri"/>
              </a:rPr>
              <a:t>The </a:t>
            </a:r>
            <a:r>
              <a:rPr lang="en-US" sz="2800" dirty="0">
                <a:solidFill>
                  <a:srgbClr val="4BACC6">
                    <a:lumMod val="50000"/>
                  </a:srgbClr>
                </a:solidFill>
                <a:latin typeface="Calibri"/>
              </a:rPr>
              <a:t>nature created a relationship between two variables x and y. The true relationship between the variables is hidden from you because there is some randomness and you have only sample data of the population. </a:t>
            </a: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mc:AlternateContent xmlns:mc="http://schemas.openxmlformats.org/markup-compatibility/2006" xmlns:a14="http://schemas.microsoft.com/office/drawing/2010/main">
        <mc:Choice Requires="a14">
          <p:sp>
            <p:nvSpPr>
              <p:cNvPr id="5" name="Prostokąt 4"/>
              <p:cNvSpPr/>
              <p:nvPr/>
            </p:nvSpPr>
            <p:spPr>
              <a:xfrm>
                <a:off x="6301410" y="2667626"/>
                <a:ext cx="5585790" cy="3108543"/>
              </a:xfrm>
              <a:prstGeom prst="rect">
                <a:avLst/>
              </a:prstGeom>
            </p:spPr>
            <p:txBody>
              <a:bodyPr wrap="square">
                <a:spAutoFit/>
              </a:bodyPr>
              <a:lstStyle/>
              <a:p>
                <a:pPr algn="just"/>
                <a:r>
                  <a:rPr lang="en-US" sz="2800" dirty="0">
                    <a:solidFill>
                      <a:srgbClr val="4BACC6">
                        <a:lumMod val="50000"/>
                      </a:srgbClr>
                    </a:solidFill>
                    <a:latin typeface="Calibri"/>
                  </a:rPr>
                  <a:t>Let's assume that this relation is linear</a:t>
                </a:r>
                <a:endParaRPr lang="pl-PL" sz="2800" dirty="0">
                  <a:solidFill>
                    <a:srgbClr val="4BACC6">
                      <a:lumMod val="50000"/>
                    </a:srgbClr>
                  </a:solidFill>
                  <a:latin typeface="Calibri"/>
                </a:endParaRPr>
              </a:p>
              <a:p>
                <a:pPr algn="just"/>
                <a14:m>
                  <m:oMathPara xmlns:m="http://schemas.openxmlformats.org/officeDocument/2006/math">
                    <m:oMathParaPr>
                      <m:jc m:val="centerGroup"/>
                    </m:oMathParaPr>
                    <m:oMath xmlns:m="http://schemas.openxmlformats.org/officeDocument/2006/math">
                      <m:sSub>
                        <m:sSubPr>
                          <m:ctrlPr>
                            <a:rPr lang="pl-PL" sz="2800" b="1" i="1">
                              <a:solidFill>
                                <a:srgbClr val="215968"/>
                              </a:solidFill>
                              <a:latin typeface="Cambria Math" panose="02040503050406030204" pitchFamily="18" charset="0"/>
                            </a:rPr>
                          </m:ctrlPr>
                        </m:sSubPr>
                        <m:e>
                          <m:r>
                            <a:rPr lang="pl-PL" sz="2800" b="1" i="1">
                              <a:solidFill>
                                <a:srgbClr val="215968"/>
                              </a:solidFill>
                              <a:latin typeface="Cambria Math" panose="02040503050406030204" pitchFamily="18" charset="0"/>
                            </a:rPr>
                            <m:t>𝒚</m:t>
                          </m:r>
                        </m:e>
                        <m:sub>
                          <m:r>
                            <a:rPr lang="pl-PL" sz="2800" b="1" i="1">
                              <a:solidFill>
                                <a:srgbClr val="215968"/>
                              </a:solidFill>
                              <a:latin typeface="Cambria Math" panose="02040503050406030204" pitchFamily="18" charset="0"/>
                            </a:rPr>
                            <m:t>𝒕</m:t>
                          </m:r>
                        </m:sub>
                      </m:sSub>
                      <m:r>
                        <a:rPr lang="pl-PL" sz="2800" b="1" i="1">
                          <a:solidFill>
                            <a:srgbClr val="215968"/>
                          </a:solidFill>
                          <a:latin typeface="Cambria Math" panose="02040503050406030204" pitchFamily="18" charset="0"/>
                        </a:rPr>
                        <m:t>=</m:t>
                      </m:r>
                      <m:r>
                        <m:rPr>
                          <m:sty m:val="p"/>
                        </m:rPr>
                        <a:rPr lang="el-GR" sz="2800" b="1" i="1">
                          <a:solidFill>
                            <a:srgbClr val="215968"/>
                          </a:solidFill>
                          <a:latin typeface="Cambria Math" panose="02040503050406030204" pitchFamily="18" charset="0"/>
                        </a:rPr>
                        <m:t>α</m:t>
                      </m:r>
                      <m:r>
                        <a:rPr lang="pl-PL" sz="2800" b="1" i="1">
                          <a:solidFill>
                            <a:srgbClr val="215968"/>
                          </a:solidFill>
                          <a:latin typeface="Cambria Math" panose="02040503050406030204" pitchFamily="18" charset="0"/>
                        </a:rPr>
                        <m:t>+</m:t>
                      </m:r>
                      <m:r>
                        <m:rPr>
                          <m:sty m:val="p"/>
                        </m:rPr>
                        <a:rPr lang="el-GR" sz="2800" b="1" i="1">
                          <a:solidFill>
                            <a:srgbClr val="215968"/>
                          </a:solidFill>
                          <a:latin typeface="Cambria Math" panose="02040503050406030204" pitchFamily="18" charset="0"/>
                        </a:rPr>
                        <m:t>β</m:t>
                      </m:r>
                      <m:sSub>
                        <m:sSubPr>
                          <m:ctrlPr>
                            <a:rPr lang="pl-PL" sz="2800" b="1" i="1">
                              <a:solidFill>
                                <a:srgbClr val="215968"/>
                              </a:solidFill>
                              <a:latin typeface="Cambria Math" panose="02040503050406030204" pitchFamily="18" charset="0"/>
                            </a:rPr>
                          </m:ctrlPr>
                        </m:sSubPr>
                        <m:e>
                          <m:r>
                            <a:rPr lang="pl-PL" sz="2800" b="1" i="1">
                              <a:solidFill>
                                <a:srgbClr val="215968"/>
                              </a:solidFill>
                              <a:latin typeface="Cambria Math" panose="02040503050406030204" pitchFamily="18" charset="0"/>
                            </a:rPr>
                            <m:t>𝒙</m:t>
                          </m:r>
                        </m:e>
                        <m:sub>
                          <m:r>
                            <a:rPr lang="pl-PL" sz="2800" b="1" i="1">
                              <a:solidFill>
                                <a:srgbClr val="215968"/>
                              </a:solidFill>
                              <a:latin typeface="Cambria Math" panose="02040503050406030204" pitchFamily="18" charset="0"/>
                            </a:rPr>
                            <m:t>𝒕</m:t>
                          </m:r>
                        </m:sub>
                      </m:sSub>
                      <m:r>
                        <a:rPr lang="pl-PL" sz="2800" b="1" i="1">
                          <a:solidFill>
                            <a:srgbClr val="215968"/>
                          </a:solidFill>
                          <a:latin typeface="Cambria Math" panose="02040503050406030204" pitchFamily="18" charset="0"/>
                        </a:rPr>
                        <m:t>+ </m:t>
                      </m:r>
                      <m:sSub>
                        <m:sSubPr>
                          <m:ctrlPr>
                            <a:rPr lang="pl-PL" sz="2800" b="1" i="1">
                              <a:solidFill>
                                <a:srgbClr val="215968"/>
                              </a:solidFill>
                              <a:latin typeface="Cambria Math" panose="02040503050406030204" pitchFamily="18" charset="0"/>
                              <a:ea typeface="Cambria Math" panose="02040503050406030204" pitchFamily="18" charset="0"/>
                            </a:rPr>
                          </m:ctrlPr>
                        </m:sSubPr>
                        <m:e>
                          <m:r>
                            <a:rPr lang="pl-PL" sz="2800" b="1" i="1">
                              <a:solidFill>
                                <a:srgbClr val="215968"/>
                              </a:solidFill>
                              <a:latin typeface="Cambria Math" panose="02040503050406030204" pitchFamily="18" charset="0"/>
                              <a:ea typeface="Cambria Math" panose="02040503050406030204" pitchFamily="18" charset="0"/>
                            </a:rPr>
                            <m:t>𝜺</m:t>
                          </m:r>
                        </m:e>
                        <m:sub>
                          <m:r>
                            <a:rPr lang="pl-PL" sz="2800" b="1" i="1">
                              <a:solidFill>
                                <a:srgbClr val="215968"/>
                              </a:solidFill>
                              <a:latin typeface="Cambria Math" panose="02040503050406030204" pitchFamily="18" charset="0"/>
                              <a:ea typeface="Cambria Math" panose="02040503050406030204" pitchFamily="18" charset="0"/>
                            </a:rPr>
                            <m:t>𝒕</m:t>
                          </m:r>
                        </m:sub>
                      </m:sSub>
                    </m:oMath>
                  </m:oMathPara>
                </a14:m>
                <a:endParaRPr lang="en-US" sz="2800" dirty="0">
                  <a:solidFill>
                    <a:srgbClr val="4BACC6">
                      <a:lumMod val="50000"/>
                    </a:srgbClr>
                  </a:solidFill>
                  <a:latin typeface="Calibri"/>
                </a:endParaRPr>
              </a:p>
              <a:p>
                <a:pPr algn="just"/>
                <a:endParaRPr lang="pl-PL" sz="2800" dirty="0">
                  <a:solidFill>
                    <a:srgbClr val="4BACC6">
                      <a:lumMod val="50000"/>
                    </a:srgbClr>
                  </a:solidFill>
                  <a:latin typeface="Calibri"/>
                </a:endParaRPr>
              </a:p>
              <a:p>
                <a:pPr algn="just"/>
                <a:r>
                  <a:rPr lang="pl-PL" sz="2800" dirty="0">
                    <a:solidFill>
                      <a:srgbClr val="4BACC6">
                        <a:lumMod val="50000"/>
                      </a:srgbClr>
                    </a:solidFill>
                    <a:latin typeface="Calibri"/>
                  </a:rPr>
                  <a:t>I</a:t>
                </a:r>
                <a:r>
                  <a:rPr lang="en-US" sz="2800" dirty="0">
                    <a:solidFill>
                      <a:srgbClr val="4BACC6">
                        <a:lumMod val="50000"/>
                      </a:srgbClr>
                    </a:solidFill>
                    <a:latin typeface="Calibri"/>
                  </a:rPr>
                  <a:t> know </a:t>
                </a:r>
                <a:r>
                  <a:rPr lang="en-US" sz="2800" dirty="0" err="1">
                    <a:solidFill>
                      <a:srgbClr val="4BACC6">
                        <a:lumMod val="50000"/>
                      </a:srgbClr>
                    </a:solidFill>
                    <a:latin typeface="Calibri"/>
                  </a:rPr>
                  <a:t>th</a:t>
                </a:r>
                <a:r>
                  <a:rPr lang="pl-PL" sz="2800" dirty="0">
                    <a:solidFill>
                      <a:srgbClr val="4BACC6">
                        <a:lumMod val="50000"/>
                      </a:srgbClr>
                    </a:solidFill>
                    <a:latin typeface="Calibri"/>
                  </a:rPr>
                  <a:t>e</a:t>
                </a:r>
                <a:r>
                  <a:rPr lang="en-US" sz="2800" dirty="0">
                    <a:solidFill>
                      <a:srgbClr val="4BACC6">
                        <a:lumMod val="50000"/>
                      </a:srgbClr>
                    </a:solidFill>
                    <a:latin typeface="Calibri"/>
                  </a:rPr>
                  <a:t> relation -  I generated this relation for the general population </a:t>
                </a:r>
                <a:r>
                  <a:rPr lang="pl-PL" sz="2800" dirty="0">
                    <a:solidFill>
                      <a:srgbClr val="4BACC6">
                        <a:lumMod val="50000"/>
                      </a:srgbClr>
                    </a:solidFill>
                    <a:latin typeface="Calibri"/>
                  </a:rPr>
                  <a:t>of </a:t>
                </a:r>
                <a:r>
                  <a:rPr lang="en-US" sz="2800" dirty="0">
                    <a:solidFill>
                      <a:srgbClr val="4BACC6">
                        <a:lumMod val="50000"/>
                      </a:srgbClr>
                    </a:solidFill>
                    <a:latin typeface="Calibri"/>
                  </a:rPr>
                  <a:t>1</a:t>
                </a:r>
                <a:r>
                  <a:rPr lang="pl-PL" sz="2800" dirty="0">
                    <a:solidFill>
                      <a:srgbClr val="4BACC6">
                        <a:lumMod val="50000"/>
                      </a:srgbClr>
                    </a:solidFill>
                    <a:latin typeface="Calibri"/>
                  </a:rPr>
                  <a:t> </a:t>
                </a:r>
                <a:r>
                  <a:rPr lang="en-US" sz="2800" dirty="0">
                    <a:solidFill>
                      <a:srgbClr val="4BACC6">
                        <a:lumMod val="50000"/>
                      </a:srgbClr>
                    </a:solidFill>
                    <a:latin typeface="Calibri"/>
                  </a:rPr>
                  <a:t>000</a:t>
                </a:r>
                <a:r>
                  <a:rPr lang="pl-PL" sz="2800" dirty="0">
                    <a:solidFill>
                      <a:srgbClr val="4BACC6">
                        <a:lumMod val="50000"/>
                      </a:srgbClr>
                    </a:solidFill>
                    <a:latin typeface="Calibri"/>
                  </a:rPr>
                  <a:t> </a:t>
                </a:r>
                <a:r>
                  <a:rPr lang="en-US" sz="2800" dirty="0">
                    <a:solidFill>
                      <a:srgbClr val="4BACC6">
                        <a:lumMod val="50000"/>
                      </a:srgbClr>
                    </a:solidFill>
                    <a:latin typeface="Calibri"/>
                  </a:rPr>
                  <a:t>000 </a:t>
                </a:r>
                <a:r>
                  <a:rPr lang="en-US" sz="2800" dirty="0" err="1">
                    <a:solidFill>
                      <a:srgbClr val="4BACC6">
                        <a:lumMod val="50000"/>
                      </a:srgbClr>
                    </a:solidFill>
                    <a:latin typeface="Calibri"/>
                  </a:rPr>
                  <a:t>obser</a:t>
                </a:r>
                <a:r>
                  <a:rPr lang="pl-PL" sz="2800" dirty="0">
                    <a:solidFill>
                      <a:srgbClr val="4BACC6">
                        <a:lumMod val="50000"/>
                      </a:srgbClr>
                    </a:solidFill>
                    <a:latin typeface="Calibri"/>
                  </a:rPr>
                  <a:t>v</a:t>
                </a:r>
                <a:r>
                  <a:rPr lang="en-US" sz="2800" dirty="0" err="1">
                    <a:solidFill>
                      <a:srgbClr val="4BACC6">
                        <a:lumMod val="50000"/>
                      </a:srgbClr>
                    </a:solidFill>
                    <a:latin typeface="Calibri"/>
                  </a:rPr>
                  <a:t>ations</a:t>
                </a:r>
                <a:r>
                  <a:rPr lang="en-US" sz="2800" dirty="0">
                    <a:solidFill>
                      <a:srgbClr val="4BACC6">
                        <a:lumMod val="50000"/>
                      </a:srgbClr>
                    </a:solidFill>
                    <a:latin typeface="Calibri"/>
                  </a:rPr>
                  <a:t>.</a:t>
                </a:r>
              </a:p>
            </p:txBody>
          </p:sp>
        </mc:Choice>
        <mc:Fallback xmlns="">
          <p:sp>
            <p:nvSpPr>
              <p:cNvPr id="5" name="Prostokąt 4"/>
              <p:cNvSpPr>
                <a:spLocks noRot="1" noChangeAspect="1" noMove="1" noResize="1" noEditPoints="1" noAdjustHandles="1" noChangeArrowheads="1" noChangeShapeType="1" noTextEdit="1"/>
              </p:cNvSpPr>
              <p:nvPr/>
            </p:nvSpPr>
            <p:spPr>
              <a:xfrm>
                <a:off x="6301410" y="2667626"/>
                <a:ext cx="5585790" cy="3108543"/>
              </a:xfrm>
              <a:prstGeom prst="rect">
                <a:avLst/>
              </a:prstGeom>
              <a:blipFill>
                <a:blip r:embed="rId3"/>
                <a:stretch>
                  <a:fillRect l="-2293" t="-1961" r="-2183" b="-4706"/>
                </a:stretch>
              </a:blipFill>
            </p:spPr>
            <p:txBody>
              <a:bodyPr/>
              <a:lstStyle/>
              <a:p>
                <a:r>
                  <a:rPr lang="pl-PL">
                    <a:noFill/>
                  </a:rPr>
                  <a:t> </a:t>
                </a:r>
              </a:p>
            </p:txBody>
          </p:sp>
        </mc:Fallback>
      </mc:AlternateContent>
      <p:pic>
        <p:nvPicPr>
          <p:cNvPr id="3" name="Obraz 2"/>
          <p:cNvPicPr>
            <a:picLocks noChangeAspect="1"/>
          </p:cNvPicPr>
          <p:nvPr/>
        </p:nvPicPr>
        <p:blipFill>
          <a:blip r:embed="rId4"/>
          <a:stretch>
            <a:fillRect/>
          </a:stretch>
        </p:blipFill>
        <p:spPr>
          <a:xfrm>
            <a:off x="344248" y="2951722"/>
            <a:ext cx="6185646" cy="2971238"/>
          </a:xfrm>
          <a:prstGeom prst="rect">
            <a:avLst/>
          </a:prstGeom>
        </p:spPr>
      </p:pic>
    </p:spTree>
    <p:extLst>
      <p:ext uri="{BB962C8B-B14F-4D97-AF65-F5344CB8AC3E}">
        <p14:creationId xmlns:p14="http://schemas.microsoft.com/office/powerpoint/2010/main" val="15733612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rPr>
              <a:t>Bootstrapping</a:t>
            </a:r>
            <a:endParaRPr lang="pl-PL" altLang="pl-PL" sz="2400" b="1" dirty="0">
              <a:solidFill>
                <a:schemeClr val="accent5">
                  <a:lumMod val="50000"/>
                </a:schemeClr>
              </a:solidFill>
              <a:latin typeface="Arial" charset="0"/>
            </a:endParaRPr>
          </a:p>
        </p:txBody>
      </p:sp>
      <p:sp>
        <p:nvSpPr>
          <p:cNvPr id="2" name="Prostokąt 1"/>
          <p:cNvSpPr/>
          <p:nvPr/>
        </p:nvSpPr>
        <p:spPr>
          <a:xfrm>
            <a:off x="4276550" y="1469589"/>
            <a:ext cx="7697278" cy="4401205"/>
          </a:xfrm>
          <a:prstGeom prst="rect">
            <a:avLst/>
          </a:prstGeom>
        </p:spPr>
        <p:txBody>
          <a:bodyPr wrap="square">
            <a:spAutoFit/>
          </a:bodyPr>
          <a:lstStyle/>
          <a:p>
            <a:pPr algn="just"/>
            <a:r>
              <a:rPr lang="en-US" sz="2800" dirty="0">
                <a:solidFill>
                  <a:srgbClr val="4BACC6">
                    <a:lumMod val="50000"/>
                  </a:srgbClr>
                </a:solidFill>
                <a:latin typeface="Calibri"/>
              </a:rPr>
              <a:t>I give you a sample of the population (</a:t>
            </a:r>
            <a:r>
              <a:rPr lang="pl-PL" sz="2800" dirty="0">
                <a:solidFill>
                  <a:srgbClr val="4BACC6">
                    <a:lumMod val="50000"/>
                  </a:srgbClr>
                </a:solidFill>
                <a:latin typeface="Calibri"/>
              </a:rPr>
              <a:t>3</a:t>
            </a:r>
            <a:r>
              <a:rPr lang="en-US" sz="2800" dirty="0">
                <a:solidFill>
                  <a:srgbClr val="4BACC6">
                    <a:lumMod val="50000"/>
                  </a:srgbClr>
                </a:solidFill>
                <a:latin typeface="Calibri"/>
              </a:rPr>
              <a:t>50 observations) your task will find the true relations</a:t>
            </a:r>
            <a:r>
              <a:rPr lang="pl-PL" sz="2800" dirty="0">
                <a:solidFill>
                  <a:srgbClr val="4BACC6">
                    <a:lumMod val="50000"/>
                  </a:srgbClr>
                </a:solidFill>
                <a:latin typeface="Calibri"/>
              </a:rPr>
              <a:t> </a:t>
            </a:r>
            <a:r>
              <a:rPr lang="en-US" sz="2800" dirty="0">
                <a:solidFill>
                  <a:srgbClr val="4BACC6">
                    <a:lumMod val="50000"/>
                  </a:srgbClr>
                </a:solidFill>
                <a:latin typeface="Calibri"/>
              </a:rPr>
              <a:t>[</a:t>
            </a:r>
            <a:r>
              <a:rPr lang="pl-PL" sz="2800" dirty="0">
                <a:solidFill>
                  <a:srgbClr val="4BACC6">
                    <a:lumMod val="50000"/>
                  </a:srgbClr>
                </a:solidFill>
                <a:latin typeface="Calibri"/>
              </a:rPr>
              <a:t>a, b</a:t>
            </a:r>
            <a:r>
              <a:rPr lang="en-US" sz="2800" dirty="0">
                <a:solidFill>
                  <a:srgbClr val="4BACC6">
                    <a:lumMod val="50000"/>
                  </a:srgbClr>
                </a:solidFill>
                <a:latin typeface="Calibri"/>
              </a:rPr>
              <a:t>].</a:t>
            </a:r>
            <a:r>
              <a:rPr lang="pl-PL" sz="2800" dirty="0">
                <a:solidFill>
                  <a:srgbClr val="4BACC6">
                    <a:lumMod val="50000"/>
                  </a:srgbClr>
                </a:solidFill>
                <a:latin typeface="Calibri"/>
              </a:rPr>
              <a:t> (</a:t>
            </a:r>
            <a:r>
              <a:rPr lang="pl-PL" sz="2800" dirty="0" err="1">
                <a:solidFill>
                  <a:srgbClr val="4BACC6">
                    <a:lumMod val="50000"/>
                  </a:srgbClr>
                </a:solidFill>
                <a:latin typeface="Calibri"/>
              </a:rPr>
              <a:t>See</a:t>
            </a:r>
            <a:r>
              <a:rPr lang="pl-PL" sz="2800" dirty="0">
                <a:solidFill>
                  <a:srgbClr val="4BACC6">
                    <a:lumMod val="50000"/>
                  </a:srgbClr>
                </a:solidFill>
                <a:latin typeface="Calibri"/>
              </a:rPr>
              <a:t> </a:t>
            </a:r>
            <a:r>
              <a:rPr lang="pl-PL" sz="2800" b="1" dirty="0" err="1">
                <a:solidFill>
                  <a:srgbClr val="C00000"/>
                </a:solidFill>
              </a:rPr>
              <a:t>Bootstrap</a:t>
            </a:r>
            <a:r>
              <a:rPr lang="pl-PL" sz="2800" b="1" dirty="0">
                <a:solidFill>
                  <a:srgbClr val="C00000"/>
                </a:solidFill>
              </a:rPr>
              <a:t> 2023 </a:t>
            </a:r>
            <a:r>
              <a:rPr lang="pl-PL" sz="2800" b="1" dirty="0" err="1">
                <a:solidFill>
                  <a:srgbClr val="C00000"/>
                </a:solidFill>
              </a:rPr>
              <a:t>Student.R</a:t>
            </a:r>
            <a:r>
              <a:rPr lang="pl-PL" sz="2800" dirty="0">
                <a:solidFill>
                  <a:srgbClr val="4BACC6">
                    <a:lumMod val="50000"/>
                  </a:srgbClr>
                </a:solidFill>
                <a:latin typeface="Calibri"/>
              </a:rPr>
              <a:t>) </a:t>
            </a:r>
            <a:endParaRPr lang="en-US" sz="2800" dirty="0">
              <a:solidFill>
                <a:srgbClr val="4BACC6">
                  <a:lumMod val="50000"/>
                </a:srgbClr>
              </a:solidFill>
              <a:latin typeface="Calibri"/>
            </a:endParaRPr>
          </a:p>
          <a:p>
            <a:pPr algn="just"/>
            <a:endParaRPr lang="en-US" sz="2800" dirty="0">
              <a:solidFill>
                <a:srgbClr val="4BACC6">
                  <a:lumMod val="50000"/>
                </a:srgbClr>
              </a:solidFill>
              <a:latin typeface="Calibri"/>
            </a:endParaRPr>
          </a:p>
          <a:p>
            <a:pPr algn="just"/>
            <a:r>
              <a:rPr lang="en-US" sz="2800" dirty="0">
                <a:solidFill>
                  <a:srgbClr val="4BACC6">
                    <a:lumMod val="50000"/>
                  </a:srgbClr>
                </a:solidFill>
                <a:latin typeface="Calibri"/>
              </a:rPr>
              <a:t>But this sample seems too small to determine the true relationship. We can estimate the OLS model, but how can we be sure of the results which are estimated on such a small sample. </a:t>
            </a:r>
          </a:p>
          <a:p>
            <a:pPr algn="just"/>
            <a:endParaRPr lang="en-US" sz="2800" dirty="0">
              <a:solidFill>
                <a:srgbClr val="4BACC6">
                  <a:lumMod val="50000"/>
                </a:srgbClr>
              </a:solidFill>
              <a:latin typeface="Calibri"/>
            </a:endParaRPr>
          </a:p>
          <a:p>
            <a:pPr algn="just"/>
            <a:r>
              <a:rPr lang="en-US" sz="2800" dirty="0">
                <a:solidFill>
                  <a:srgbClr val="4BACC6">
                    <a:lumMod val="50000"/>
                  </a:srgbClr>
                </a:solidFill>
                <a:latin typeface="Calibri"/>
              </a:rPr>
              <a:t>We can </a:t>
            </a:r>
            <a:r>
              <a:rPr lang="en-US" sz="2800" dirty="0">
                <a:solidFill>
                  <a:srgbClr val="4BACC6">
                    <a:lumMod val="50000"/>
                  </a:srgbClr>
                </a:solidFill>
              </a:rPr>
              <a:t>reproduce </a:t>
            </a:r>
            <a:r>
              <a:rPr lang="pl-PL" sz="2800" dirty="0">
                <a:solidFill>
                  <a:srgbClr val="4BACC6">
                    <a:lumMod val="50000"/>
                  </a:srgbClr>
                </a:solidFill>
                <a:latin typeface="Calibri"/>
              </a:rPr>
              <a:t>the </a:t>
            </a:r>
            <a:r>
              <a:rPr lang="pl-PL" sz="2800" dirty="0" err="1">
                <a:solidFill>
                  <a:srgbClr val="4BACC6">
                    <a:lumMod val="50000"/>
                  </a:srgbClr>
                </a:solidFill>
                <a:latin typeface="Calibri"/>
              </a:rPr>
              <a:t>sample</a:t>
            </a:r>
            <a:r>
              <a:rPr lang="en-US" sz="2800" dirty="0">
                <a:solidFill>
                  <a:srgbClr val="4BACC6">
                    <a:lumMod val="50000"/>
                  </a:srgbClr>
                </a:solidFill>
                <a:latin typeface="Calibri"/>
              </a:rPr>
              <a:t> by bootstrapping.</a:t>
            </a: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pic>
        <p:nvPicPr>
          <p:cNvPr id="7" name="Obraz 6"/>
          <p:cNvPicPr>
            <a:picLocks noChangeAspect="1"/>
          </p:cNvPicPr>
          <p:nvPr/>
        </p:nvPicPr>
        <p:blipFill>
          <a:blip r:embed="rId3"/>
          <a:stretch>
            <a:fillRect/>
          </a:stretch>
        </p:blipFill>
        <p:spPr>
          <a:xfrm>
            <a:off x="972151" y="1581703"/>
            <a:ext cx="2090127" cy="1635900"/>
          </a:xfrm>
          <a:prstGeom prst="rect">
            <a:avLst/>
          </a:prstGeom>
        </p:spPr>
      </p:pic>
      <p:pic>
        <p:nvPicPr>
          <p:cNvPr id="8" name="Obraz 7"/>
          <p:cNvPicPr>
            <a:picLocks noChangeAspect="1"/>
          </p:cNvPicPr>
          <p:nvPr/>
        </p:nvPicPr>
        <p:blipFill>
          <a:blip r:embed="rId4"/>
          <a:stretch>
            <a:fillRect/>
          </a:stretch>
        </p:blipFill>
        <p:spPr>
          <a:xfrm>
            <a:off x="380615" y="3550923"/>
            <a:ext cx="3448308" cy="2391424"/>
          </a:xfrm>
          <a:prstGeom prst="rect">
            <a:avLst/>
          </a:prstGeom>
        </p:spPr>
      </p:pic>
    </p:spTree>
    <p:extLst>
      <p:ext uri="{BB962C8B-B14F-4D97-AF65-F5344CB8AC3E}">
        <p14:creationId xmlns:p14="http://schemas.microsoft.com/office/powerpoint/2010/main" val="1149918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b="1" dirty="0">
                <a:solidFill>
                  <a:schemeClr val="accent5">
                    <a:lumMod val="50000"/>
                  </a:schemeClr>
                </a:solidFill>
              </a:rPr>
              <a:t>Bootstrapping</a:t>
            </a:r>
            <a:endParaRPr lang="pl-PL" altLang="pl-PL" sz="3200" b="1" dirty="0">
              <a:solidFill>
                <a:schemeClr val="accent5">
                  <a:lumMod val="50000"/>
                </a:schemeClr>
              </a:solidFill>
              <a:latin typeface="Arial" charset="0"/>
            </a:endParaRPr>
          </a:p>
        </p:txBody>
      </p:sp>
      <p:sp>
        <p:nvSpPr>
          <p:cNvPr id="2" name="Prostokąt 1"/>
          <p:cNvSpPr/>
          <p:nvPr/>
        </p:nvSpPr>
        <p:spPr>
          <a:xfrm>
            <a:off x="513348" y="1046749"/>
            <a:ext cx="11219848" cy="5262979"/>
          </a:xfrm>
          <a:prstGeom prst="rect">
            <a:avLst/>
          </a:prstGeom>
        </p:spPr>
        <p:txBody>
          <a:bodyPr wrap="square">
            <a:spAutoFit/>
          </a:bodyPr>
          <a:lstStyle/>
          <a:p>
            <a:pPr algn="just"/>
            <a:r>
              <a:rPr lang="en-US" sz="2400" dirty="0">
                <a:solidFill>
                  <a:srgbClr val="4BACC6">
                    <a:lumMod val="50000"/>
                  </a:srgbClr>
                </a:solidFill>
                <a:latin typeface="Calibri"/>
              </a:rPr>
              <a:t>We have the original sample of </a:t>
            </a:r>
            <a:r>
              <a:rPr lang="en-US" sz="2400" b="1" dirty="0">
                <a:solidFill>
                  <a:srgbClr val="4BACC6">
                    <a:lumMod val="50000"/>
                  </a:srgbClr>
                </a:solidFill>
                <a:latin typeface="Calibri"/>
              </a:rPr>
              <a:t>n</a:t>
            </a:r>
            <a:r>
              <a:rPr lang="en-US" sz="2400" dirty="0">
                <a:solidFill>
                  <a:srgbClr val="4BACC6">
                    <a:lumMod val="50000"/>
                  </a:srgbClr>
                </a:solidFill>
                <a:latin typeface="Calibri"/>
              </a:rPr>
              <a:t> observations.</a:t>
            </a:r>
          </a:p>
          <a:p>
            <a:pPr algn="just"/>
            <a:endParaRPr lang="en-US" sz="2400" dirty="0">
              <a:solidFill>
                <a:srgbClr val="4BACC6">
                  <a:lumMod val="50000"/>
                </a:srgbClr>
              </a:solidFill>
              <a:latin typeface="Calibri"/>
            </a:endParaRPr>
          </a:p>
          <a:p>
            <a:pPr algn="just"/>
            <a:r>
              <a:rPr lang="pl-PL" sz="2400" dirty="0">
                <a:solidFill>
                  <a:srgbClr val="4BACC6">
                    <a:lumMod val="50000"/>
                  </a:srgbClr>
                </a:solidFill>
                <a:latin typeface="Calibri"/>
              </a:rPr>
              <a:t>1 )</a:t>
            </a:r>
            <a:r>
              <a:rPr lang="en-US" sz="2400" dirty="0">
                <a:solidFill>
                  <a:srgbClr val="4BACC6">
                    <a:lumMod val="50000"/>
                  </a:srgbClr>
                </a:solidFill>
                <a:latin typeface="Calibri"/>
              </a:rPr>
              <a:t>We </a:t>
            </a:r>
            <a:r>
              <a:rPr lang="en-US" sz="2400" b="1" dirty="0">
                <a:solidFill>
                  <a:srgbClr val="4BACC6">
                    <a:lumMod val="50000"/>
                  </a:srgbClr>
                </a:solidFill>
                <a:latin typeface="Calibri"/>
              </a:rPr>
              <a:t>draw </a:t>
            </a:r>
            <a:r>
              <a:rPr lang="en-US" sz="2400" dirty="0">
                <a:solidFill>
                  <a:srgbClr val="4BACC6">
                    <a:lumMod val="50000"/>
                  </a:srgbClr>
                </a:solidFill>
                <a:latin typeface="Calibri"/>
              </a:rPr>
              <a:t>with </a:t>
            </a:r>
            <a:r>
              <a:rPr lang="en-US" sz="2400" b="1" dirty="0">
                <a:solidFill>
                  <a:srgbClr val="4BACC6">
                    <a:lumMod val="50000"/>
                  </a:srgbClr>
                </a:solidFill>
                <a:latin typeface="Calibri"/>
              </a:rPr>
              <a:t>replacement</a:t>
            </a:r>
            <a:r>
              <a:rPr lang="en-US" sz="2400" dirty="0">
                <a:solidFill>
                  <a:srgbClr val="4BACC6">
                    <a:lumMod val="50000"/>
                  </a:srgbClr>
                </a:solidFill>
                <a:latin typeface="Calibri"/>
              </a:rPr>
              <a:t> a new bootstrap sample from the </a:t>
            </a:r>
            <a:r>
              <a:rPr lang="en-US" sz="2400" dirty="0" err="1">
                <a:solidFill>
                  <a:srgbClr val="4BACC6">
                    <a:lumMod val="50000"/>
                  </a:srgbClr>
                </a:solidFill>
                <a:latin typeface="Calibri"/>
              </a:rPr>
              <a:t>orginal</a:t>
            </a:r>
            <a:r>
              <a:rPr lang="en-US" sz="2400" dirty="0">
                <a:solidFill>
                  <a:srgbClr val="4BACC6">
                    <a:lumMod val="50000"/>
                  </a:srgbClr>
                </a:solidFill>
                <a:latin typeface="Calibri"/>
              </a:rPr>
              <a:t> sample. The number of observations in the bootstrap sample is </a:t>
            </a:r>
            <a:r>
              <a:rPr lang="en-US" sz="2400" b="1" dirty="0">
                <a:solidFill>
                  <a:srgbClr val="4BACC6">
                    <a:lumMod val="50000"/>
                  </a:srgbClr>
                </a:solidFill>
                <a:latin typeface="Calibri"/>
              </a:rPr>
              <a:t>n</a:t>
            </a:r>
            <a:r>
              <a:rPr lang="en-US" sz="2400" dirty="0">
                <a:solidFill>
                  <a:srgbClr val="4BACC6">
                    <a:lumMod val="50000"/>
                  </a:srgbClr>
                </a:solidFill>
                <a:latin typeface="Calibri"/>
              </a:rPr>
              <a:t>. </a:t>
            </a:r>
          </a:p>
          <a:p>
            <a:pPr algn="just"/>
            <a:endParaRPr lang="pl-PL" sz="2400" dirty="0">
              <a:solidFill>
                <a:srgbClr val="4BACC6">
                  <a:lumMod val="50000"/>
                </a:srgbClr>
              </a:solidFill>
              <a:latin typeface="Calibri"/>
            </a:endParaRPr>
          </a:p>
          <a:p>
            <a:pPr algn="just"/>
            <a:r>
              <a:rPr lang="pl-PL" sz="2400" dirty="0">
                <a:solidFill>
                  <a:srgbClr val="4BACC6">
                    <a:lumMod val="50000"/>
                  </a:srgbClr>
                </a:solidFill>
                <a:latin typeface="Calibri"/>
              </a:rPr>
              <a:t>2) </a:t>
            </a:r>
            <a:r>
              <a:rPr lang="en-US" sz="2400" dirty="0">
                <a:solidFill>
                  <a:srgbClr val="4BACC6">
                    <a:lumMod val="50000"/>
                  </a:srgbClr>
                </a:solidFill>
                <a:latin typeface="Calibri"/>
              </a:rPr>
              <a:t>For </a:t>
            </a:r>
            <a:r>
              <a:rPr lang="pl-PL" sz="2400" dirty="0">
                <a:solidFill>
                  <a:srgbClr val="4BACC6">
                    <a:lumMod val="50000"/>
                  </a:srgbClr>
                </a:solidFill>
                <a:latin typeface="Calibri"/>
              </a:rPr>
              <a:t>the</a:t>
            </a:r>
            <a:r>
              <a:rPr lang="en-US" sz="2400" dirty="0">
                <a:solidFill>
                  <a:srgbClr val="4BACC6">
                    <a:lumMod val="50000"/>
                  </a:srgbClr>
                </a:solidFill>
                <a:latin typeface="Calibri"/>
              </a:rPr>
              <a:t> bootstrap sample, we estimate an OLS model </a:t>
            </a:r>
            <a:r>
              <a:rPr lang="pl-PL" sz="2400" dirty="0">
                <a:solidFill>
                  <a:srgbClr val="4BACC6">
                    <a:lumMod val="50000"/>
                  </a:srgbClr>
                </a:solidFill>
                <a:latin typeface="Calibri"/>
              </a:rPr>
              <a:t>and </a:t>
            </a:r>
            <a:r>
              <a:rPr lang="pl-PL" sz="2400" dirty="0" err="1">
                <a:solidFill>
                  <a:srgbClr val="4BACC6">
                    <a:lumMod val="50000"/>
                  </a:srgbClr>
                </a:solidFill>
                <a:latin typeface="Calibri"/>
              </a:rPr>
              <a:t>obtain</a:t>
            </a:r>
            <a:r>
              <a:rPr lang="pl-PL" sz="2400" dirty="0">
                <a:solidFill>
                  <a:srgbClr val="4BACC6">
                    <a:lumMod val="50000"/>
                  </a:srgbClr>
                </a:solidFill>
                <a:latin typeface="Calibri"/>
              </a:rPr>
              <a:t> </a:t>
            </a:r>
            <a:r>
              <a:rPr lang="en-US" sz="2400" dirty="0">
                <a:solidFill>
                  <a:srgbClr val="4BACC6">
                    <a:lumMod val="50000"/>
                  </a:srgbClr>
                </a:solidFill>
                <a:latin typeface="Calibri"/>
              </a:rPr>
              <a:t>estimates a and b</a:t>
            </a:r>
            <a:r>
              <a:rPr lang="pl-PL" sz="2400" dirty="0">
                <a:solidFill>
                  <a:srgbClr val="4BACC6">
                    <a:lumMod val="50000"/>
                  </a:srgbClr>
                </a:solidFill>
                <a:latin typeface="Calibri"/>
              </a:rPr>
              <a:t>. We </a:t>
            </a:r>
            <a:r>
              <a:rPr lang="pl-PL" sz="2400" dirty="0" err="1">
                <a:solidFill>
                  <a:srgbClr val="4BACC6">
                    <a:lumMod val="50000"/>
                  </a:srgbClr>
                </a:solidFill>
                <a:latin typeface="Calibri"/>
              </a:rPr>
              <a:t>save</a:t>
            </a:r>
            <a:r>
              <a:rPr lang="pl-PL" sz="2400" dirty="0">
                <a:solidFill>
                  <a:srgbClr val="4BACC6">
                    <a:lumMod val="50000"/>
                  </a:srgbClr>
                </a:solidFill>
                <a:latin typeface="Calibri"/>
              </a:rPr>
              <a:t> the </a:t>
            </a:r>
            <a:r>
              <a:rPr lang="pl-PL" sz="2400" dirty="0" err="1">
                <a:solidFill>
                  <a:srgbClr val="4BACC6">
                    <a:lumMod val="50000"/>
                  </a:srgbClr>
                </a:solidFill>
                <a:latin typeface="Calibri"/>
              </a:rPr>
              <a:t>estimates</a:t>
            </a:r>
            <a:r>
              <a:rPr lang="pl-PL" sz="2400" dirty="0">
                <a:solidFill>
                  <a:srgbClr val="4BACC6">
                    <a:lumMod val="50000"/>
                  </a:srgbClr>
                </a:solidFill>
                <a:latin typeface="Calibri"/>
              </a:rPr>
              <a:t>.</a:t>
            </a:r>
          </a:p>
          <a:p>
            <a:pPr algn="just"/>
            <a:endParaRPr lang="pl-PL" sz="2400" b="1" dirty="0">
              <a:solidFill>
                <a:srgbClr val="4BACC6">
                  <a:lumMod val="50000"/>
                </a:srgbClr>
              </a:solidFill>
              <a:latin typeface="Calibri"/>
            </a:endParaRPr>
          </a:p>
          <a:p>
            <a:pPr algn="just"/>
            <a:r>
              <a:rPr lang="pl-PL" sz="2400" dirty="0">
                <a:solidFill>
                  <a:srgbClr val="4BACC6">
                    <a:lumMod val="50000"/>
                  </a:srgbClr>
                </a:solidFill>
                <a:latin typeface="Calibri"/>
              </a:rPr>
              <a:t>3) </a:t>
            </a:r>
            <a:r>
              <a:rPr lang="en-US" sz="2400" b="1" dirty="0">
                <a:solidFill>
                  <a:srgbClr val="4BACC6">
                    <a:lumMod val="50000"/>
                  </a:srgbClr>
                </a:solidFill>
                <a:latin typeface="Calibri"/>
              </a:rPr>
              <a:t>Replicate B </a:t>
            </a:r>
            <a:r>
              <a:rPr lang="pl-PL" sz="2400" dirty="0">
                <a:solidFill>
                  <a:srgbClr val="4BACC6">
                    <a:lumMod val="50000"/>
                  </a:srgbClr>
                </a:solidFill>
                <a:latin typeface="Calibri"/>
              </a:rPr>
              <a:t>t</a:t>
            </a:r>
            <a:r>
              <a:rPr lang="en-US" sz="2400" dirty="0" err="1">
                <a:solidFill>
                  <a:srgbClr val="4BACC6">
                    <a:lumMod val="50000"/>
                  </a:srgbClr>
                </a:solidFill>
                <a:latin typeface="Calibri"/>
              </a:rPr>
              <a:t>imes</a:t>
            </a:r>
            <a:r>
              <a:rPr lang="pl-PL" sz="2400" dirty="0">
                <a:solidFill>
                  <a:srgbClr val="4BACC6">
                    <a:lumMod val="50000"/>
                  </a:srgbClr>
                </a:solidFill>
                <a:latin typeface="Calibri"/>
              </a:rPr>
              <a:t> (1 000 000)</a:t>
            </a:r>
            <a:r>
              <a:rPr lang="en-US" sz="2400" dirty="0">
                <a:solidFill>
                  <a:srgbClr val="4BACC6">
                    <a:lumMod val="50000"/>
                  </a:srgbClr>
                </a:solidFill>
                <a:latin typeface="Calibri"/>
              </a:rPr>
              <a:t> the procedure</a:t>
            </a:r>
            <a:r>
              <a:rPr lang="pl-PL" sz="2400" dirty="0">
                <a:solidFill>
                  <a:srgbClr val="4BACC6">
                    <a:lumMod val="50000"/>
                  </a:srgbClr>
                </a:solidFill>
                <a:latin typeface="Calibri"/>
              </a:rPr>
              <a:t>s (1 and 2)</a:t>
            </a:r>
            <a:r>
              <a:rPr lang="en-US" sz="2400" dirty="0">
                <a:solidFill>
                  <a:srgbClr val="4BACC6">
                    <a:lumMod val="50000"/>
                  </a:srgbClr>
                </a:solidFill>
                <a:latin typeface="Calibri"/>
              </a:rPr>
              <a:t> obtaining B bootstrap estimates of a and b.</a:t>
            </a:r>
          </a:p>
          <a:p>
            <a:pPr algn="just"/>
            <a:endParaRPr lang="en-US" sz="2400" dirty="0">
              <a:solidFill>
                <a:srgbClr val="4BACC6">
                  <a:lumMod val="50000"/>
                </a:srgbClr>
              </a:solidFill>
              <a:latin typeface="Calibri"/>
            </a:endParaRPr>
          </a:p>
          <a:p>
            <a:pPr algn="just"/>
            <a:r>
              <a:rPr lang="en-US" sz="2400" dirty="0">
                <a:solidFill>
                  <a:srgbClr val="4BACC6">
                    <a:lumMod val="50000"/>
                  </a:srgbClr>
                </a:solidFill>
                <a:latin typeface="Calibri"/>
              </a:rPr>
              <a:t>We can construct the distribution of the bootstrap estimates. Based on the distribution we can make statistical inference about the true value of </a:t>
            </a:r>
            <a:r>
              <a:rPr lang="el-GR" sz="2400" dirty="0">
                <a:solidFill>
                  <a:srgbClr val="4BACC6">
                    <a:lumMod val="50000"/>
                  </a:srgbClr>
                </a:solidFill>
                <a:latin typeface="Calibri"/>
              </a:rPr>
              <a:t>α</a:t>
            </a:r>
            <a:r>
              <a:rPr lang="pl-PL" sz="2400" dirty="0">
                <a:solidFill>
                  <a:srgbClr val="4BACC6">
                    <a:lumMod val="50000"/>
                  </a:srgbClr>
                </a:solidFill>
                <a:latin typeface="Calibri"/>
              </a:rPr>
              <a:t> and </a:t>
            </a:r>
            <a:r>
              <a:rPr lang="el-GR" sz="2400" dirty="0">
                <a:solidFill>
                  <a:srgbClr val="4BACC6">
                    <a:lumMod val="50000"/>
                  </a:srgbClr>
                </a:solidFill>
                <a:latin typeface="Calibri"/>
              </a:rPr>
              <a:t>β</a:t>
            </a:r>
            <a:r>
              <a:rPr lang="en-US" sz="2400" dirty="0">
                <a:solidFill>
                  <a:srgbClr val="4BACC6">
                    <a:lumMod val="50000"/>
                  </a:srgbClr>
                </a:solidFill>
                <a:latin typeface="Calibri"/>
              </a:rPr>
              <a:t>. We can calculate mean, standard error and confidence interval for the </a:t>
            </a:r>
            <a:r>
              <a:rPr lang="pl-PL" sz="2400" dirty="0" err="1">
                <a:solidFill>
                  <a:srgbClr val="4BACC6">
                    <a:lumMod val="50000"/>
                  </a:srgbClr>
                </a:solidFill>
                <a:latin typeface="Calibri"/>
              </a:rPr>
              <a:t>bootstrap</a:t>
            </a:r>
            <a:r>
              <a:rPr lang="pl-PL" sz="2400" dirty="0">
                <a:solidFill>
                  <a:srgbClr val="4BACC6">
                    <a:lumMod val="50000"/>
                  </a:srgbClr>
                </a:solidFill>
                <a:latin typeface="Calibri"/>
              </a:rPr>
              <a:t> </a:t>
            </a:r>
            <a:r>
              <a:rPr lang="en-US" sz="2400" dirty="0">
                <a:solidFill>
                  <a:srgbClr val="4BACC6">
                    <a:lumMod val="50000"/>
                  </a:srgbClr>
                </a:solidFill>
                <a:latin typeface="Calibri"/>
              </a:rPr>
              <a:t>estimates. </a:t>
            </a: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Tree>
    <p:extLst>
      <p:ext uri="{BB962C8B-B14F-4D97-AF65-F5344CB8AC3E}">
        <p14:creationId xmlns:p14="http://schemas.microsoft.com/office/powerpoint/2010/main" val="4012867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latin typeface="+mn-lt"/>
              </a:rPr>
              <a:t>Bootstrapping</a:t>
            </a:r>
            <a:endParaRPr lang="pl-PL" altLang="pl-PL" sz="3600" b="1" dirty="0">
              <a:solidFill>
                <a:schemeClr val="accent5">
                  <a:lumMod val="50000"/>
                </a:schemeClr>
              </a:solidFill>
              <a:latin typeface="+mn-lt"/>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5" name="Prostokąt 4"/>
          <p:cNvSpPr/>
          <p:nvPr/>
        </p:nvSpPr>
        <p:spPr>
          <a:xfrm>
            <a:off x="55343" y="5914588"/>
            <a:ext cx="12081311" cy="553998"/>
          </a:xfrm>
          <a:prstGeom prst="rect">
            <a:avLst/>
          </a:prstGeom>
        </p:spPr>
        <p:txBody>
          <a:bodyPr wrap="square">
            <a:spAutoFit/>
          </a:bodyPr>
          <a:lstStyle/>
          <a:p>
            <a:r>
              <a:rPr lang="pl-PL" sz="3000" dirty="0">
                <a:solidFill>
                  <a:srgbClr val="215968"/>
                </a:solidFill>
                <a:latin typeface="Calibri"/>
              </a:rPr>
              <a:t>T</a:t>
            </a:r>
            <a:r>
              <a:rPr lang="en-US" sz="3000" dirty="0">
                <a:solidFill>
                  <a:srgbClr val="215968"/>
                </a:solidFill>
                <a:latin typeface="Calibri"/>
              </a:rPr>
              <a:t>he population is to the sample</a:t>
            </a:r>
            <a:r>
              <a:rPr lang="pl-PL" sz="3000" dirty="0">
                <a:solidFill>
                  <a:srgbClr val="215968"/>
                </a:solidFill>
                <a:latin typeface="Calibri"/>
              </a:rPr>
              <a:t> </a:t>
            </a:r>
            <a:r>
              <a:rPr lang="en-US" sz="3000" dirty="0">
                <a:solidFill>
                  <a:srgbClr val="215968"/>
                </a:solidFill>
                <a:latin typeface="Calibri"/>
              </a:rPr>
              <a:t> </a:t>
            </a:r>
            <a:r>
              <a:rPr lang="pl-PL" sz="3000" dirty="0">
                <a:solidFill>
                  <a:srgbClr val="215968"/>
                </a:solidFill>
                <a:latin typeface="Calibri"/>
              </a:rPr>
              <a:t>as </a:t>
            </a:r>
            <a:r>
              <a:rPr lang="en-US" sz="3000" dirty="0">
                <a:solidFill>
                  <a:srgbClr val="215968"/>
                </a:solidFill>
                <a:latin typeface="Calibri"/>
              </a:rPr>
              <a:t>the sample is to the bootstrap samples</a:t>
            </a:r>
            <a:endParaRPr lang="pl-PL" sz="3000" dirty="0">
              <a:solidFill>
                <a:srgbClr val="215968"/>
              </a:solidFill>
              <a:latin typeface="Calibri"/>
            </a:endParaRPr>
          </a:p>
        </p:txBody>
      </p:sp>
      <p:pic>
        <p:nvPicPr>
          <p:cNvPr id="2" name="Obraz 1"/>
          <p:cNvPicPr>
            <a:picLocks noChangeAspect="1"/>
          </p:cNvPicPr>
          <p:nvPr/>
        </p:nvPicPr>
        <p:blipFill>
          <a:blip r:embed="rId3"/>
          <a:stretch>
            <a:fillRect/>
          </a:stretch>
        </p:blipFill>
        <p:spPr>
          <a:xfrm>
            <a:off x="577516" y="1299894"/>
            <a:ext cx="10148575" cy="4343031"/>
          </a:xfrm>
          <a:prstGeom prst="rect">
            <a:avLst/>
          </a:prstGeom>
        </p:spPr>
      </p:pic>
    </p:spTree>
    <p:extLst>
      <p:ext uri="{BB962C8B-B14F-4D97-AF65-F5344CB8AC3E}">
        <p14:creationId xmlns:p14="http://schemas.microsoft.com/office/powerpoint/2010/main" val="3464998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a:solidFill>
                  <a:schemeClr val="accent5">
                    <a:lumMod val="50000"/>
                  </a:schemeClr>
                </a:solidFill>
                <a:latin typeface="+mn-lt"/>
              </a:rPr>
              <a:t>Bootstrapping - topic contest/task</a:t>
            </a:r>
            <a:endParaRPr lang="pl-PL" altLang="pl-PL" sz="3600" b="1" dirty="0">
              <a:solidFill>
                <a:schemeClr val="accent5">
                  <a:lumMod val="50000"/>
                </a:schemeClr>
              </a:solidFill>
              <a:latin typeface="+mn-lt"/>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5" name="Prostokąt 4"/>
          <p:cNvSpPr/>
          <p:nvPr/>
        </p:nvSpPr>
        <p:spPr>
          <a:xfrm>
            <a:off x="125129" y="1340768"/>
            <a:ext cx="8585734" cy="4893647"/>
          </a:xfrm>
          <a:prstGeom prst="rect">
            <a:avLst/>
          </a:prstGeom>
        </p:spPr>
        <p:txBody>
          <a:bodyPr wrap="square">
            <a:spAutoFit/>
          </a:bodyPr>
          <a:lstStyle/>
          <a:p>
            <a:pPr algn="just"/>
            <a:r>
              <a:rPr lang="en-US" sz="2400" dirty="0">
                <a:solidFill>
                  <a:srgbClr val="215968"/>
                </a:solidFill>
                <a:latin typeface="Calibri"/>
              </a:rPr>
              <a:t>The means of the [a, b] estimates are not the best approximation of true parameters [α, β]. The estimated parameters are dependent. </a:t>
            </a:r>
            <a:endParaRPr lang="pl-PL" sz="2400" dirty="0">
              <a:solidFill>
                <a:srgbClr val="215968"/>
              </a:solidFill>
              <a:latin typeface="Calibri"/>
            </a:endParaRPr>
          </a:p>
          <a:p>
            <a:pPr algn="just"/>
            <a:endParaRPr lang="en-US" sz="2400" dirty="0">
              <a:solidFill>
                <a:srgbClr val="215968"/>
              </a:solidFill>
              <a:latin typeface="Calibri"/>
            </a:endParaRPr>
          </a:p>
          <a:p>
            <a:pPr algn="just"/>
            <a:r>
              <a:rPr lang="en-US" sz="2400" dirty="0">
                <a:solidFill>
                  <a:srgbClr val="215968"/>
                </a:solidFill>
                <a:latin typeface="Calibri"/>
              </a:rPr>
              <a:t>Your goal is to find </a:t>
            </a:r>
            <a:r>
              <a:rPr lang="pl-PL" sz="2400" dirty="0">
                <a:solidFill>
                  <a:srgbClr val="215968"/>
                </a:solidFill>
                <a:latin typeface="Calibri"/>
              </a:rPr>
              <a:t>a </a:t>
            </a:r>
            <a:r>
              <a:rPr lang="en-US" sz="2400" dirty="0">
                <a:solidFill>
                  <a:srgbClr val="215968"/>
                </a:solidFill>
                <a:latin typeface="Calibri"/>
              </a:rPr>
              <a:t>pair of [a, b] which is the best approximation of unknown [α, β]</a:t>
            </a:r>
            <a:r>
              <a:rPr lang="pl-PL" sz="2400" dirty="0">
                <a:solidFill>
                  <a:srgbClr val="215968"/>
                </a:solidFill>
                <a:latin typeface="Calibri"/>
              </a:rPr>
              <a:t> </a:t>
            </a:r>
            <a:r>
              <a:rPr lang="en-US" sz="2400" dirty="0">
                <a:solidFill>
                  <a:srgbClr val="215968"/>
                </a:solidFill>
              </a:rPr>
              <a:t>the most representative set of parameters. </a:t>
            </a:r>
            <a:r>
              <a:rPr lang="en-US" sz="2400" dirty="0">
                <a:solidFill>
                  <a:srgbClr val="215968"/>
                </a:solidFill>
                <a:latin typeface="Calibri"/>
              </a:rPr>
              <a:t>For the best estimation [criterium: minimization of squared forecast error for the whole population] he/she will receive </a:t>
            </a:r>
            <a:r>
              <a:rPr lang="pl-PL" sz="2400" b="1" dirty="0">
                <a:solidFill>
                  <a:srgbClr val="215968"/>
                </a:solidFill>
                <a:latin typeface="Calibri"/>
              </a:rPr>
              <a:t>10</a:t>
            </a:r>
            <a:r>
              <a:rPr lang="en-US" sz="2400" b="1" dirty="0">
                <a:solidFill>
                  <a:srgbClr val="215968"/>
                </a:solidFill>
                <a:latin typeface="Calibri"/>
              </a:rPr>
              <a:t>$FBEE</a:t>
            </a:r>
            <a:r>
              <a:rPr lang="pl-PL" sz="2400" dirty="0">
                <a:solidFill>
                  <a:srgbClr val="215968"/>
                </a:solidFill>
                <a:latin typeface="Calibri"/>
              </a:rPr>
              <a:t>. A</a:t>
            </a:r>
            <a:r>
              <a:rPr lang="en-US" sz="2400" dirty="0" err="1">
                <a:solidFill>
                  <a:srgbClr val="215968"/>
                </a:solidFill>
                <a:latin typeface="Calibri"/>
              </a:rPr>
              <a:t>ll</a:t>
            </a:r>
            <a:r>
              <a:rPr lang="en-US" sz="2400" dirty="0">
                <a:solidFill>
                  <a:srgbClr val="215968"/>
                </a:solidFill>
                <a:latin typeface="Calibri"/>
              </a:rPr>
              <a:t> the posts will be graded</a:t>
            </a:r>
            <a:r>
              <a:rPr lang="pl-PL" sz="2400" dirty="0">
                <a:solidFill>
                  <a:srgbClr val="215968"/>
                </a:solidFill>
                <a:latin typeface="Calibri"/>
              </a:rPr>
              <a:t> 5$</a:t>
            </a:r>
            <a:endParaRPr lang="en-US" sz="2400" dirty="0">
              <a:solidFill>
                <a:srgbClr val="215968"/>
              </a:solidFill>
              <a:latin typeface="Calibri"/>
            </a:endParaRPr>
          </a:p>
          <a:p>
            <a:pPr algn="just"/>
            <a:endParaRPr lang="en-US" sz="2400" dirty="0">
              <a:solidFill>
                <a:srgbClr val="215968"/>
              </a:solidFill>
              <a:latin typeface="Calibri"/>
            </a:endParaRPr>
          </a:p>
          <a:p>
            <a:pPr algn="just"/>
            <a:r>
              <a:rPr lang="en-US" sz="2400" dirty="0">
                <a:solidFill>
                  <a:srgbClr val="215968"/>
                </a:solidFill>
                <a:latin typeface="Calibri"/>
              </a:rPr>
              <a:t>You can use codes from </a:t>
            </a:r>
            <a:r>
              <a:rPr lang="en-US" sz="2400" b="1" dirty="0">
                <a:solidFill>
                  <a:srgbClr val="C00000"/>
                </a:solidFill>
              </a:rPr>
              <a:t>Bootstrap 202</a:t>
            </a:r>
            <a:r>
              <a:rPr lang="pl-PL" sz="2400" b="1" dirty="0">
                <a:solidFill>
                  <a:srgbClr val="C00000"/>
                </a:solidFill>
              </a:rPr>
              <a:t>4</a:t>
            </a:r>
            <a:r>
              <a:rPr lang="en-US" sz="2400" b="1" dirty="0">
                <a:solidFill>
                  <a:srgbClr val="C00000"/>
                </a:solidFill>
              </a:rPr>
              <a:t> </a:t>
            </a:r>
            <a:r>
              <a:rPr lang="en-US" sz="2400" b="1" dirty="0" err="1">
                <a:solidFill>
                  <a:srgbClr val="C00000"/>
                </a:solidFill>
              </a:rPr>
              <a:t>Student.R</a:t>
            </a:r>
            <a:r>
              <a:rPr lang="en-US" sz="2400" b="1" dirty="0">
                <a:solidFill>
                  <a:srgbClr val="C00000"/>
                </a:solidFill>
              </a:rPr>
              <a:t> </a:t>
            </a:r>
            <a:r>
              <a:rPr lang="pl-PL" sz="2400" dirty="0">
                <a:solidFill>
                  <a:srgbClr val="215968"/>
                </a:solidFill>
                <a:latin typeface="Calibri"/>
              </a:rPr>
              <a:t>and </a:t>
            </a:r>
            <a:r>
              <a:rPr lang="pl-PL" sz="2400" dirty="0" err="1">
                <a:solidFill>
                  <a:srgbClr val="215968"/>
                </a:solidFill>
                <a:latin typeface="Calibri"/>
              </a:rPr>
              <a:t>use</a:t>
            </a:r>
            <a:r>
              <a:rPr lang="pl-PL" sz="2400" dirty="0">
                <a:solidFill>
                  <a:srgbClr val="215968"/>
                </a:solidFill>
                <a:latin typeface="Calibri"/>
              </a:rPr>
              <a:t> </a:t>
            </a:r>
            <a:r>
              <a:rPr lang="pl-PL" sz="2400" dirty="0" err="1">
                <a:solidFill>
                  <a:srgbClr val="215968"/>
                </a:solidFill>
                <a:latin typeface="Calibri"/>
              </a:rPr>
              <a:t>difent</a:t>
            </a:r>
            <a:r>
              <a:rPr lang="pl-PL" sz="2400" dirty="0">
                <a:solidFill>
                  <a:srgbClr val="215968"/>
                </a:solidFill>
                <a:latin typeface="Calibri"/>
              </a:rPr>
              <a:t> </a:t>
            </a:r>
            <a:r>
              <a:rPr lang="pl-PL" sz="2400" dirty="0" err="1">
                <a:solidFill>
                  <a:srgbClr val="215968"/>
                </a:solidFill>
                <a:latin typeface="Calibri"/>
              </a:rPr>
              <a:t>bootstrap</a:t>
            </a:r>
            <a:r>
              <a:rPr lang="pl-PL" sz="2400" dirty="0">
                <a:solidFill>
                  <a:srgbClr val="215968"/>
                </a:solidFill>
                <a:latin typeface="Calibri"/>
              </a:rPr>
              <a:t> </a:t>
            </a:r>
            <a:r>
              <a:rPr lang="pl-PL" sz="2400" dirty="0" err="1">
                <a:solidFill>
                  <a:srgbClr val="215968"/>
                </a:solidFill>
                <a:latin typeface="Calibri"/>
              </a:rPr>
              <a:t>procedures</a:t>
            </a:r>
            <a:r>
              <a:rPr lang="pl-PL" sz="2400" dirty="0">
                <a:solidFill>
                  <a:srgbClr val="215968"/>
                </a:solidFill>
                <a:latin typeface="Calibri"/>
              </a:rPr>
              <a:t> (I </a:t>
            </a:r>
            <a:r>
              <a:rPr lang="pl-PL" sz="2400" dirty="0" err="1">
                <a:solidFill>
                  <a:srgbClr val="215968"/>
                </a:solidFill>
                <a:latin typeface="Calibri"/>
              </a:rPr>
              <a:t>used</a:t>
            </a:r>
            <a:r>
              <a:rPr lang="pl-PL" sz="2400" dirty="0">
                <a:solidFill>
                  <a:srgbClr val="215968"/>
                </a:solidFill>
                <a:latin typeface="Calibri"/>
              </a:rPr>
              <a:t> the </a:t>
            </a:r>
            <a:r>
              <a:rPr lang="pl-PL" sz="2400" dirty="0" err="1">
                <a:solidFill>
                  <a:srgbClr val="215968"/>
                </a:solidFill>
                <a:latin typeface="Calibri"/>
              </a:rPr>
              <a:t>naive</a:t>
            </a:r>
            <a:r>
              <a:rPr lang="pl-PL" sz="2400" dirty="0">
                <a:solidFill>
                  <a:srgbClr val="215968"/>
                </a:solidFill>
                <a:latin typeface="Calibri"/>
              </a:rPr>
              <a:t> </a:t>
            </a:r>
            <a:r>
              <a:rPr lang="pl-PL" sz="2400" dirty="0" err="1">
                <a:solidFill>
                  <a:srgbClr val="215968"/>
                </a:solidFill>
                <a:latin typeface="Calibri"/>
              </a:rPr>
              <a:t>bootstrap</a:t>
            </a:r>
            <a:r>
              <a:rPr lang="pl-PL" sz="2400" dirty="0">
                <a:solidFill>
                  <a:srgbClr val="215968"/>
                </a:solidFill>
                <a:latin typeface="Calibri"/>
              </a:rPr>
              <a:t>) </a:t>
            </a:r>
            <a:r>
              <a:rPr lang="pl-PL" sz="2400" dirty="0" err="1">
                <a:solidFill>
                  <a:srgbClr val="215968"/>
                </a:solidFill>
                <a:latin typeface="Calibri"/>
              </a:rPr>
              <a:t>using</a:t>
            </a:r>
            <a:r>
              <a:rPr lang="pl-PL" sz="2400" dirty="0">
                <a:solidFill>
                  <a:srgbClr val="215968"/>
                </a:solidFill>
                <a:latin typeface="Calibri"/>
              </a:rPr>
              <a:t> </a:t>
            </a:r>
            <a:r>
              <a:rPr lang="pl-PL" sz="2400" i="1" dirty="0" err="1">
                <a:solidFill>
                  <a:srgbClr val="215968"/>
                </a:solidFill>
                <a:latin typeface="Calibri"/>
              </a:rPr>
              <a:t>boot</a:t>
            </a:r>
            <a:r>
              <a:rPr lang="pl-PL" sz="2400" dirty="0">
                <a:solidFill>
                  <a:srgbClr val="215968"/>
                </a:solidFill>
                <a:latin typeface="Calibri"/>
              </a:rPr>
              <a:t> R </a:t>
            </a:r>
            <a:r>
              <a:rPr lang="pl-PL" sz="2400" dirty="0" err="1">
                <a:solidFill>
                  <a:srgbClr val="215968"/>
                </a:solidFill>
                <a:latin typeface="Calibri"/>
              </a:rPr>
              <a:t>package</a:t>
            </a:r>
            <a:r>
              <a:rPr lang="pl-PL" sz="2400" dirty="0">
                <a:solidFill>
                  <a:srgbClr val="215968"/>
                </a:solidFill>
                <a:latin typeface="Calibri"/>
              </a:rPr>
              <a:t>,</a:t>
            </a:r>
            <a:r>
              <a:rPr lang="en-US" sz="2400" dirty="0">
                <a:solidFill>
                  <a:srgbClr val="215968"/>
                </a:solidFill>
                <a:latin typeface="Calibri"/>
              </a:rPr>
              <a:t> ...</a:t>
            </a:r>
            <a:r>
              <a:rPr lang="pl-PL" sz="2400" dirty="0">
                <a:solidFill>
                  <a:srgbClr val="215968"/>
                </a:solidFill>
                <a:latin typeface="Calibri"/>
              </a:rPr>
              <a:t>, </a:t>
            </a:r>
            <a:r>
              <a:rPr lang="pl-PL" sz="2400" dirty="0" err="1">
                <a:solidFill>
                  <a:srgbClr val="215968"/>
                </a:solidFill>
                <a:latin typeface="Calibri"/>
              </a:rPr>
              <a:t>you</a:t>
            </a:r>
            <a:r>
              <a:rPr lang="pl-PL" sz="2400" dirty="0">
                <a:solidFill>
                  <a:srgbClr val="215968"/>
                </a:solidFill>
                <a:latin typeface="Calibri"/>
              </a:rPr>
              <a:t> </a:t>
            </a:r>
            <a:r>
              <a:rPr lang="pl-PL" sz="2400" dirty="0" err="1">
                <a:solidFill>
                  <a:srgbClr val="215968"/>
                </a:solidFill>
                <a:latin typeface="Calibri"/>
              </a:rPr>
              <a:t>can</a:t>
            </a:r>
            <a:r>
              <a:rPr lang="pl-PL" sz="2400" dirty="0">
                <a:solidFill>
                  <a:srgbClr val="215968"/>
                </a:solidFill>
                <a:latin typeface="Calibri"/>
              </a:rPr>
              <a:t> </a:t>
            </a:r>
            <a:r>
              <a:rPr lang="en-US" sz="2400" dirty="0">
                <a:solidFill>
                  <a:srgbClr val="215968"/>
                </a:solidFill>
              </a:rPr>
              <a:t>use unsupervised learning techniques</a:t>
            </a:r>
            <a:r>
              <a:rPr lang="pl-PL" sz="2400" dirty="0">
                <a:solidFill>
                  <a:srgbClr val="215968"/>
                </a:solidFill>
                <a:latin typeface="Calibri"/>
              </a:rPr>
              <a:t> K-</a:t>
            </a:r>
            <a:r>
              <a:rPr lang="pl-PL" sz="2400" dirty="0" err="1">
                <a:solidFill>
                  <a:srgbClr val="215968"/>
                </a:solidFill>
                <a:latin typeface="Calibri"/>
              </a:rPr>
              <a:t>means</a:t>
            </a:r>
            <a:r>
              <a:rPr lang="pl-PL" sz="2400" dirty="0">
                <a:solidFill>
                  <a:srgbClr val="215968"/>
                </a:solidFill>
                <a:latin typeface="Calibri"/>
              </a:rPr>
              <a:t> and PAM.</a:t>
            </a:r>
          </a:p>
        </p:txBody>
      </p:sp>
      <p:pic>
        <p:nvPicPr>
          <p:cNvPr id="2" name="Obraz 1"/>
          <p:cNvPicPr>
            <a:picLocks noChangeAspect="1"/>
          </p:cNvPicPr>
          <p:nvPr/>
        </p:nvPicPr>
        <p:blipFill>
          <a:blip r:embed="rId3"/>
          <a:stretch>
            <a:fillRect/>
          </a:stretch>
        </p:blipFill>
        <p:spPr>
          <a:xfrm>
            <a:off x="8633860" y="2931520"/>
            <a:ext cx="3163503" cy="2193910"/>
          </a:xfrm>
          <a:prstGeom prst="rect">
            <a:avLst/>
          </a:prstGeom>
        </p:spPr>
      </p:pic>
    </p:spTree>
    <p:extLst>
      <p:ext uri="{BB962C8B-B14F-4D97-AF65-F5344CB8AC3E}">
        <p14:creationId xmlns:p14="http://schemas.microsoft.com/office/powerpoint/2010/main" val="22497719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latin typeface="+mn-lt"/>
              </a:rPr>
              <a:t>Bootstrapping</a:t>
            </a:r>
            <a:r>
              <a:rPr lang="pl-PL" sz="3600" b="1" dirty="0">
                <a:solidFill>
                  <a:schemeClr val="accent5">
                    <a:lumMod val="50000"/>
                  </a:schemeClr>
                </a:solidFill>
                <a:latin typeface="+mn-lt"/>
              </a:rPr>
              <a:t> on </a:t>
            </a:r>
            <a:r>
              <a:rPr lang="pl-PL" sz="3600" b="1" dirty="0" err="1">
                <a:solidFill>
                  <a:schemeClr val="accent5">
                    <a:lumMod val="50000"/>
                  </a:schemeClr>
                </a:solidFill>
                <a:latin typeface="+mn-lt"/>
              </a:rPr>
              <a:t>our</a:t>
            </a:r>
            <a:r>
              <a:rPr lang="pl-PL" sz="3600" b="1" dirty="0">
                <a:solidFill>
                  <a:schemeClr val="accent5">
                    <a:lumMod val="50000"/>
                  </a:schemeClr>
                </a:solidFill>
                <a:latin typeface="+mn-lt"/>
              </a:rPr>
              <a:t> </a:t>
            </a:r>
            <a:r>
              <a:rPr lang="pl-PL" sz="3600" b="1" dirty="0" err="1">
                <a:solidFill>
                  <a:schemeClr val="accent5">
                    <a:lumMod val="50000"/>
                  </a:schemeClr>
                </a:solidFill>
                <a:latin typeface="+mn-lt"/>
              </a:rPr>
              <a:t>lectures</a:t>
            </a:r>
            <a:endParaRPr lang="pl-PL" altLang="pl-PL" sz="3600" b="1" dirty="0">
              <a:solidFill>
                <a:schemeClr val="accent5">
                  <a:lumMod val="50000"/>
                </a:schemeClr>
              </a:solidFill>
              <a:latin typeface="+mn-lt"/>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5" name="Prostokąt 4"/>
          <p:cNvSpPr/>
          <p:nvPr/>
        </p:nvSpPr>
        <p:spPr>
          <a:xfrm>
            <a:off x="148389" y="1646403"/>
            <a:ext cx="11895221" cy="3970318"/>
          </a:xfrm>
          <a:prstGeom prst="rect">
            <a:avLst/>
          </a:prstGeom>
        </p:spPr>
        <p:txBody>
          <a:bodyPr wrap="square">
            <a:spAutoFit/>
          </a:bodyPr>
          <a:lstStyle/>
          <a:p>
            <a:pPr algn="just"/>
            <a:r>
              <a:rPr lang="en-US" sz="3200" dirty="0">
                <a:solidFill>
                  <a:srgbClr val="215968"/>
                </a:solidFill>
              </a:rPr>
              <a:t>We will use the bootstrap method to your data from experiments -  our lectures. We enter the data to theoretical models and we will find the area of possible equilibrium, not ending on a point estimation. </a:t>
            </a:r>
          </a:p>
          <a:p>
            <a:pPr algn="just"/>
            <a:endParaRPr lang="en-US" sz="3200" dirty="0">
              <a:solidFill>
                <a:srgbClr val="215968"/>
              </a:solidFill>
            </a:endParaRPr>
          </a:p>
          <a:p>
            <a:pPr algn="just"/>
            <a:r>
              <a:rPr lang="pl-PL" sz="3200" dirty="0">
                <a:solidFill>
                  <a:srgbClr val="215968"/>
                </a:solidFill>
              </a:rPr>
              <a:t>T</a:t>
            </a:r>
            <a:r>
              <a:rPr lang="en-US" sz="3200" dirty="0">
                <a:solidFill>
                  <a:srgbClr val="215968"/>
                </a:solidFill>
              </a:rPr>
              <a:t>he bootstrap can be used to improve the robustness of your forecast. </a:t>
            </a:r>
            <a:endParaRPr lang="pl-PL" sz="3200" dirty="0">
              <a:solidFill>
                <a:srgbClr val="215968"/>
              </a:solidFill>
            </a:endParaRPr>
          </a:p>
          <a:p>
            <a:pPr algn="just"/>
            <a:endParaRPr lang="pl-PL" sz="3200" dirty="0">
              <a:solidFill>
                <a:srgbClr val="215968"/>
              </a:solidFill>
            </a:endParaRPr>
          </a:p>
          <a:p>
            <a:pPr algn="just"/>
            <a:r>
              <a:rPr lang="en-US" sz="2000" dirty="0">
                <a:solidFill>
                  <a:srgbClr val="215968"/>
                </a:solidFill>
                <a:hlinkClick r:id="rId3"/>
              </a:rPr>
              <a:t>https://www.analyticsvidhya.com/blog/2020/02/what-is-bootstrap-sampling-in-statistics-and-machine-learning/</a:t>
            </a:r>
            <a:endParaRPr lang="pl-PL" sz="2000" dirty="0">
              <a:solidFill>
                <a:srgbClr val="215968"/>
              </a:solidFill>
            </a:endParaRPr>
          </a:p>
          <a:p>
            <a:pPr algn="just"/>
            <a:r>
              <a:rPr lang="pl-PL" sz="2000" dirty="0">
                <a:solidFill>
                  <a:srgbClr val="215968"/>
                </a:solidFill>
                <a:hlinkClick r:id="rId4"/>
              </a:rPr>
              <a:t>https://towardsdatascience.com/an-introduction-to-the-bootstrap-method-58bcb51b4d60</a:t>
            </a:r>
            <a:endParaRPr lang="pl-PL" sz="2000" dirty="0">
              <a:solidFill>
                <a:srgbClr val="215968"/>
              </a:solidFill>
            </a:endParaRPr>
          </a:p>
          <a:p>
            <a:pPr algn="just"/>
            <a:endParaRPr lang="pl-PL" sz="2000" dirty="0">
              <a:solidFill>
                <a:srgbClr val="215968"/>
              </a:solidFill>
              <a:latin typeface="Calibri"/>
            </a:endParaRPr>
          </a:p>
        </p:txBody>
      </p:sp>
    </p:spTree>
    <p:extLst>
      <p:ext uri="{BB962C8B-B14F-4D97-AF65-F5344CB8AC3E}">
        <p14:creationId xmlns:p14="http://schemas.microsoft.com/office/powerpoint/2010/main" val="14972250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200" b="1" dirty="0">
                <a:solidFill>
                  <a:schemeClr val="accent5">
                    <a:lumMod val="50000"/>
                  </a:schemeClr>
                </a:solidFill>
                <a:latin typeface="+mn-lt"/>
              </a:rPr>
              <a:t>Bootstrapping </a:t>
            </a:r>
            <a:r>
              <a:rPr lang="pl-PL" altLang="pl-PL" sz="3200" b="1" dirty="0">
                <a:solidFill>
                  <a:schemeClr val="accent5">
                    <a:lumMod val="50000"/>
                  </a:schemeClr>
                </a:solidFill>
                <a:latin typeface="+mn-lt"/>
              </a:rPr>
              <a:t>- the </a:t>
            </a:r>
            <a:r>
              <a:rPr lang="pl-PL" altLang="pl-PL" sz="3200" b="1" dirty="0" err="1">
                <a:solidFill>
                  <a:schemeClr val="accent5">
                    <a:lumMod val="50000"/>
                  </a:schemeClr>
                </a:solidFill>
                <a:latin typeface="+mn-lt"/>
              </a:rPr>
              <a:t>old</a:t>
            </a:r>
            <a:r>
              <a:rPr lang="pl-PL" altLang="pl-PL" sz="3200" b="1" dirty="0">
                <a:solidFill>
                  <a:schemeClr val="accent5">
                    <a:lumMod val="50000"/>
                  </a:schemeClr>
                </a:solidFill>
                <a:latin typeface="+mn-lt"/>
              </a:rPr>
              <a:t> </a:t>
            </a:r>
            <a:r>
              <a:rPr lang="pl-PL" altLang="pl-PL" sz="3200" b="1" dirty="0" err="1">
                <a:solidFill>
                  <a:schemeClr val="accent5">
                    <a:lumMod val="50000"/>
                  </a:schemeClr>
                </a:solidFill>
                <a:latin typeface="+mn-lt"/>
              </a:rPr>
              <a:t>explanantion</a:t>
            </a:r>
            <a:endParaRPr lang="pl-PL" altLang="pl-PL" sz="3200" b="1" dirty="0">
              <a:solidFill>
                <a:schemeClr val="accent5">
                  <a:lumMod val="50000"/>
                </a:schemeClr>
              </a:solidFill>
              <a:latin typeface="+mn-lt"/>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8" name="Prostokąt 7"/>
          <p:cNvSpPr/>
          <p:nvPr/>
        </p:nvSpPr>
        <p:spPr>
          <a:xfrm>
            <a:off x="269507" y="1196753"/>
            <a:ext cx="11030551" cy="1569660"/>
          </a:xfrm>
          <a:prstGeom prst="rect">
            <a:avLst/>
          </a:prstGeom>
        </p:spPr>
        <p:txBody>
          <a:bodyPr wrap="square">
            <a:spAutoFit/>
          </a:bodyPr>
          <a:lstStyle/>
          <a:p>
            <a:pPr algn="just"/>
            <a:r>
              <a:rPr lang="pl-PL" sz="3200" b="1" dirty="0">
                <a:solidFill>
                  <a:srgbClr val="4BACC6">
                    <a:lumMod val="50000"/>
                  </a:srgbClr>
                </a:solidFill>
                <a:latin typeface="Calibri"/>
              </a:rPr>
              <a:t>„</a:t>
            </a:r>
            <a:r>
              <a:rPr lang="en-GB" sz="3200" b="1" dirty="0">
                <a:solidFill>
                  <a:srgbClr val="4BACC6">
                    <a:lumMod val="50000"/>
                  </a:srgbClr>
                </a:solidFill>
                <a:latin typeface="Calibri"/>
              </a:rPr>
              <a:t>The bootstrap method is a resampling technique used to estimate statistics on a population by sampling a dataset with replacement</a:t>
            </a:r>
            <a:r>
              <a:rPr lang="pl-PL" sz="3200" b="1" dirty="0">
                <a:solidFill>
                  <a:srgbClr val="4BACC6">
                    <a:lumMod val="50000"/>
                  </a:srgbClr>
                </a:solidFill>
                <a:latin typeface="Calibri"/>
              </a:rPr>
              <a:t>”</a:t>
            </a:r>
            <a:endParaRPr lang="en-GB" sz="3200" b="1" dirty="0">
              <a:solidFill>
                <a:srgbClr val="4BACC6">
                  <a:lumMod val="50000"/>
                </a:srgbClr>
              </a:solidFill>
              <a:latin typeface="Calibri"/>
            </a:endParaRPr>
          </a:p>
        </p:txBody>
      </p:sp>
      <p:sp>
        <p:nvSpPr>
          <p:cNvPr id="9" name="Prostokąt 8"/>
          <p:cNvSpPr/>
          <p:nvPr/>
        </p:nvSpPr>
        <p:spPr>
          <a:xfrm>
            <a:off x="365760" y="2796835"/>
            <a:ext cx="6512703" cy="3785652"/>
          </a:xfrm>
          <a:prstGeom prst="rect">
            <a:avLst/>
          </a:prstGeom>
        </p:spPr>
        <p:txBody>
          <a:bodyPr wrap="square">
            <a:spAutoFit/>
          </a:bodyPr>
          <a:lstStyle/>
          <a:p>
            <a:pPr algn="just"/>
            <a:r>
              <a:rPr lang="en-GB" sz="2000" b="1" dirty="0">
                <a:solidFill>
                  <a:srgbClr val="4BACC6">
                    <a:lumMod val="50000"/>
                  </a:srgbClr>
                </a:solidFill>
                <a:latin typeface="Calibri"/>
              </a:rPr>
              <a:t>Modification of the original example (</a:t>
            </a:r>
            <a:r>
              <a:rPr lang="en-GB" sz="2000" b="1" dirty="0" err="1">
                <a:solidFill>
                  <a:srgbClr val="4BACC6">
                    <a:lumMod val="50000"/>
                  </a:srgbClr>
                </a:solidFill>
                <a:latin typeface="Calibri"/>
              </a:rPr>
              <a:t>Efron</a:t>
            </a:r>
            <a:r>
              <a:rPr lang="en-GB" sz="2000" b="1" dirty="0">
                <a:solidFill>
                  <a:srgbClr val="4BACC6">
                    <a:lumMod val="50000"/>
                  </a:srgbClr>
                </a:solidFill>
                <a:latin typeface="Calibri"/>
              </a:rPr>
              <a:t> 1979):</a:t>
            </a:r>
            <a:r>
              <a:rPr lang="pl-PL" sz="2000" b="1" dirty="0">
                <a:solidFill>
                  <a:srgbClr val="4BACC6">
                    <a:lumMod val="50000"/>
                  </a:srgbClr>
                </a:solidFill>
                <a:latin typeface="Calibri"/>
              </a:rPr>
              <a:t> </a:t>
            </a:r>
            <a:r>
              <a:rPr lang="en-GB" sz="2000" b="1" dirty="0">
                <a:solidFill>
                  <a:srgbClr val="4BACC6">
                    <a:lumMod val="50000"/>
                  </a:srgbClr>
                </a:solidFill>
                <a:latin typeface="Calibri"/>
              </a:rPr>
              <a:t>We have data</a:t>
            </a:r>
            <a:r>
              <a:rPr lang="pl-PL" sz="2000" b="1" dirty="0">
                <a:solidFill>
                  <a:srgbClr val="4BACC6">
                    <a:lumMod val="50000"/>
                  </a:srgbClr>
                </a:solidFill>
                <a:latin typeface="Calibri"/>
              </a:rPr>
              <a:t>set</a:t>
            </a:r>
            <a:r>
              <a:rPr lang="en-GB" sz="2000" b="1" dirty="0">
                <a:solidFill>
                  <a:srgbClr val="4BACC6">
                    <a:lumMod val="50000"/>
                  </a:srgbClr>
                </a:solidFill>
                <a:latin typeface="Calibri"/>
              </a:rPr>
              <a:t>: the results of the microeconomic exam (x</a:t>
            </a:r>
            <a:r>
              <a:rPr lang="en-GB" sz="2000" b="1" baseline="-25000" dirty="0">
                <a:solidFill>
                  <a:srgbClr val="4BACC6">
                    <a:lumMod val="50000"/>
                  </a:srgbClr>
                </a:solidFill>
                <a:latin typeface="Calibri"/>
              </a:rPr>
              <a:t>i</a:t>
            </a:r>
            <a:r>
              <a:rPr lang="en-GB" sz="2000" b="1" dirty="0">
                <a:solidFill>
                  <a:srgbClr val="4BACC6">
                    <a:lumMod val="50000"/>
                  </a:srgbClr>
                </a:solidFill>
                <a:latin typeface="Calibri"/>
              </a:rPr>
              <a:t>) and the mathematical exam (</a:t>
            </a:r>
            <a:r>
              <a:rPr lang="en-GB" sz="2000" b="1" dirty="0" err="1">
                <a:solidFill>
                  <a:srgbClr val="4BACC6">
                    <a:lumMod val="50000"/>
                  </a:srgbClr>
                </a:solidFill>
                <a:latin typeface="Calibri"/>
              </a:rPr>
              <a:t>y</a:t>
            </a:r>
            <a:r>
              <a:rPr lang="en-GB" sz="2000" b="1" baseline="-25000" dirty="0" err="1">
                <a:solidFill>
                  <a:srgbClr val="4BACC6">
                    <a:lumMod val="50000"/>
                  </a:srgbClr>
                </a:solidFill>
                <a:latin typeface="Calibri"/>
              </a:rPr>
              <a:t>i</a:t>
            </a:r>
            <a:r>
              <a:rPr lang="en-GB" sz="2000" b="1" dirty="0">
                <a:solidFill>
                  <a:srgbClr val="4BACC6">
                    <a:lumMod val="50000"/>
                  </a:srgbClr>
                </a:solidFill>
                <a:latin typeface="Calibri"/>
              </a:rPr>
              <a:t>) obtained by 20 WNE students.</a:t>
            </a:r>
            <a:endParaRPr lang="pl-PL" sz="2000" b="1" dirty="0">
              <a:solidFill>
                <a:srgbClr val="4BACC6">
                  <a:lumMod val="50000"/>
                </a:srgbClr>
              </a:solidFill>
              <a:latin typeface="Calibri"/>
            </a:endParaRPr>
          </a:p>
          <a:p>
            <a:pPr algn="just"/>
            <a:endParaRPr lang="pl-PL" sz="2000" b="1" dirty="0">
              <a:solidFill>
                <a:srgbClr val="4BACC6">
                  <a:lumMod val="50000"/>
                </a:srgbClr>
              </a:solidFill>
              <a:latin typeface="Calibri"/>
            </a:endParaRPr>
          </a:p>
          <a:p>
            <a:pPr algn="just"/>
            <a:r>
              <a:rPr lang="en-GB" sz="2000" b="1" dirty="0">
                <a:solidFill>
                  <a:srgbClr val="4BACC6">
                    <a:lumMod val="50000"/>
                  </a:srgbClr>
                </a:solidFill>
                <a:latin typeface="Calibri"/>
              </a:rPr>
              <a:t>As you can easily notice, there is a positive relationship between variables. This is confirmed by the value of Pearson correlation coefficient calculated for observations </a:t>
            </a:r>
            <a:r>
              <a:rPr lang="en-GB" sz="2000" b="1" dirty="0" err="1">
                <a:solidFill>
                  <a:srgbClr val="4BACC6">
                    <a:lumMod val="50000"/>
                  </a:srgbClr>
                </a:solidFill>
                <a:latin typeface="Calibri"/>
              </a:rPr>
              <a:t>corr</a:t>
            </a:r>
            <a:r>
              <a:rPr lang="en-GB" sz="2000" b="1" dirty="0">
                <a:solidFill>
                  <a:srgbClr val="4BACC6">
                    <a:lumMod val="50000"/>
                  </a:srgbClr>
                </a:solidFill>
                <a:latin typeface="Calibri"/>
              </a:rPr>
              <a:t>(x, y) = 0.8035187 This is a sample and we do not know how this coefficient is observed for the whole population, we want to find the ranges in which this coefficient is found, i.e. estimate the standard deviation of this coefficient .</a:t>
            </a:r>
          </a:p>
        </p:txBody>
      </p:sp>
      <p:sp>
        <p:nvSpPr>
          <p:cNvPr id="12" name="Prostokąt 11"/>
          <p:cNvSpPr/>
          <p:nvPr/>
        </p:nvSpPr>
        <p:spPr>
          <a:xfrm>
            <a:off x="7639657" y="5566261"/>
            <a:ext cx="2808312" cy="923330"/>
          </a:xfrm>
          <a:prstGeom prst="rect">
            <a:avLst/>
          </a:prstGeom>
        </p:spPr>
        <p:txBody>
          <a:bodyPr wrap="square">
            <a:spAutoFit/>
          </a:bodyPr>
          <a:lstStyle/>
          <a:p>
            <a:r>
              <a:rPr lang="es-ES" dirty="0">
                <a:solidFill>
                  <a:prstClr val="black"/>
                </a:solidFill>
                <a:latin typeface="Calibri"/>
              </a:rPr>
              <a:t> x         </a:t>
            </a:r>
            <a:r>
              <a:rPr lang="pl-PL" dirty="0">
                <a:solidFill>
                  <a:prstClr val="black"/>
                </a:solidFill>
                <a:latin typeface="Calibri"/>
              </a:rPr>
              <a:t>		</a:t>
            </a:r>
            <a:r>
              <a:rPr lang="es-ES" dirty="0">
                <a:solidFill>
                  <a:prstClr val="black"/>
                </a:solidFill>
                <a:latin typeface="Calibri"/>
              </a:rPr>
              <a:t>y</a:t>
            </a:r>
          </a:p>
          <a:p>
            <a:r>
              <a:rPr lang="es-ES" dirty="0">
                <a:solidFill>
                  <a:prstClr val="black"/>
                </a:solidFill>
                <a:latin typeface="Calibri"/>
              </a:rPr>
              <a:t>x 1.0000000 </a:t>
            </a:r>
            <a:r>
              <a:rPr lang="pl-PL" dirty="0">
                <a:solidFill>
                  <a:prstClr val="black"/>
                </a:solidFill>
                <a:latin typeface="Calibri"/>
              </a:rPr>
              <a:t> </a:t>
            </a:r>
            <a:r>
              <a:rPr lang="es-ES" dirty="0">
                <a:solidFill>
                  <a:prstClr val="black"/>
                </a:solidFill>
                <a:latin typeface="Calibri"/>
              </a:rPr>
              <a:t>0.8035187</a:t>
            </a:r>
          </a:p>
          <a:p>
            <a:r>
              <a:rPr lang="es-ES" dirty="0">
                <a:solidFill>
                  <a:prstClr val="black"/>
                </a:solidFill>
                <a:latin typeface="Calibri"/>
              </a:rPr>
              <a:t>y 0.8035187 </a:t>
            </a:r>
            <a:r>
              <a:rPr lang="pl-PL" dirty="0">
                <a:solidFill>
                  <a:prstClr val="black"/>
                </a:solidFill>
                <a:latin typeface="Calibri"/>
              </a:rPr>
              <a:t> </a:t>
            </a:r>
            <a:r>
              <a:rPr lang="es-ES" dirty="0">
                <a:solidFill>
                  <a:prstClr val="black"/>
                </a:solidFill>
                <a:latin typeface="Calibri"/>
              </a:rPr>
              <a:t>1.0000000</a:t>
            </a:r>
            <a:endParaRPr lang="en-GB" dirty="0">
              <a:solidFill>
                <a:prstClr val="black"/>
              </a:solidFill>
              <a:latin typeface="Calibri"/>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615" y="2842610"/>
            <a:ext cx="3447354" cy="2647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C1224821-CF06-033E-EC61-66554D797D57}"/>
              </a:ext>
            </a:extLst>
          </p:cNvPr>
          <p:cNvSpPr txBox="1"/>
          <p:nvPr/>
        </p:nvSpPr>
        <p:spPr>
          <a:xfrm rot="18806356">
            <a:off x="9887311" y="333079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21974995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200" b="1" dirty="0">
                <a:solidFill>
                  <a:schemeClr val="accent5">
                    <a:lumMod val="50000"/>
                  </a:schemeClr>
                </a:solidFill>
              </a:rPr>
              <a:t>Bootstrapping </a:t>
            </a:r>
            <a:r>
              <a:rPr lang="pl-PL" altLang="pl-PL" sz="3200" b="1" dirty="0">
                <a:solidFill>
                  <a:schemeClr val="accent5">
                    <a:lumMod val="50000"/>
                  </a:schemeClr>
                </a:solidFill>
              </a:rPr>
              <a:t>- - the </a:t>
            </a:r>
            <a:r>
              <a:rPr lang="pl-PL" altLang="pl-PL" sz="3200" b="1" dirty="0" err="1">
                <a:solidFill>
                  <a:schemeClr val="accent5">
                    <a:lumMod val="50000"/>
                  </a:schemeClr>
                </a:solidFill>
              </a:rPr>
              <a:t>old</a:t>
            </a:r>
            <a:r>
              <a:rPr lang="pl-PL" altLang="pl-PL" sz="3200" b="1" dirty="0">
                <a:solidFill>
                  <a:schemeClr val="accent5">
                    <a:lumMod val="50000"/>
                  </a:schemeClr>
                </a:solidFill>
              </a:rPr>
              <a:t> </a:t>
            </a:r>
            <a:r>
              <a:rPr lang="pl-PL" altLang="pl-PL" sz="3200" b="1" dirty="0" err="1">
                <a:solidFill>
                  <a:schemeClr val="accent5">
                    <a:lumMod val="50000"/>
                  </a:schemeClr>
                </a:solidFill>
              </a:rPr>
              <a:t>explanantion</a:t>
            </a:r>
            <a:endParaRPr lang="pl-PL" altLang="pl-PL" sz="3200" b="1" dirty="0">
              <a:solidFill>
                <a:schemeClr val="accent5">
                  <a:lumMod val="50000"/>
                </a:schemeClr>
              </a:solidFill>
              <a:latin typeface="Arial" charset="0"/>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9" name="Prostokąt 8"/>
          <p:cNvSpPr/>
          <p:nvPr/>
        </p:nvSpPr>
        <p:spPr>
          <a:xfrm>
            <a:off x="250257" y="1180092"/>
            <a:ext cx="11733196" cy="1938992"/>
          </a:xfrm>
          <a:prstGeom prst="rect">
            <a:avLst/>
          </a:prstGeom>
        </p:spPr>
        <p:txBody>
          <a:bodyPr wrap="square">
            <a:spAutoFit/>
          </a:bodyPr>
          <a:lstStyle/>
          <a:p>
            <a:pPr algn="just"/>
            <a:r>
              <a:rPr lang="en-GB" sz="2400" b="1" dirty="0">
                <a:solidFill>
                  <a:srgbClr val="4BACC6">
                    <a:lumMod val="50000"/>
                  </a:srgbClr>
                </a:solidFill>
                <a:latin typeface="Calibri"/>
              </a:rPr>
              <a:t>We have </a:t>
            </a:r>
            <a:r>
              <a:rPr lang="pl-PL" sz="2400" b="1" dirty="0">
                <a:solidFill>
                  <a:srgbClr val="4BACC6">
                    <a:lumMod val="50000"/>
                  </a:srgbClr>
                </a:solidFill>
                <a:latin typeface="Calibri"/>
              </a:rPr>
              <a:t>19</a:t>
            </a:r>
            <a:r>
              <a:rPr lang="en-GB" sz="2400" b="1" dirty="0">
                <a:solidFill>
                  <a:srgbClr val="4BACC6">
                    <a:lumMod val="50000"/>
                  </a:srgbClr>
                </a:solidFill>
                <a:latin typeface="Calibri"/>
              </a:rPr>
              <a:t> observations, each of them consists of pairs (x</a:t>
            </a:r>
            <a:r>
              <a:rPr lang="en-GB" sz="2400" b="1" baseline="-25000" dirty="0">
                <a:solidFill>
                  <a:srgbClr val="4BACC6">
                    <a:lumMod val="50000"/>
                  </a:srgbClr>
                </a:solidFill>
                <a:latin typeface="Calibri"/>
              </a:rPr>
              <a:t>i</a:t>
            </a:r>
            <a:r>
              <a:rPr lang="en-GB" sz="2400" b="1" dirty="0">
                <a:solidFill>
                  <a:srgbClr val="4BACC6">
                    <a:lumMod val="50000"/>
                  </a:srgbClr>
                </a:solidFill>
                <a:latin typeface="Calibri"/>
              </a:rPr>
              <a:t>, </a:t>
            </a:r>
            <a:r>
              <a:rPr lang="en-GB" sz="2400" b="1" dirty="0" err="1">
                <a:solidFill>
                  <a:srgbClr val="4BACC6">
                    <a:lumMod val="50000"/>
                  </a:srgbClr>
                </a:solidFill>
                <a:latin typeface="Calibri"/>
              </a:rPr>
              <a:t>y</a:t>
            </a:r>
            <a:r>
              <a:rPr lang="en-GB" sz="2400" b="1" baseline="-25000" dirty="0" err="1">
                <a:solidFill>
                  <a:srgbClr val="4BACC6">
                    <a:lumMod val="50000"/>
                  </a:srgbClr>
                </a:solidFill>
                <a:latin typeface="Calibri"/>
              </a:rPr>
              <a:t>i</a:t>
            </a:r>
            <a:r>
              <a:rPr lang="en-GB" sz="2400" b="1" dirty="0">
                <a:solidFill>
                  <a:srgbClr val="4BACC6">
                    <a:lumMod val="50000"/>
                  </a:srgbClr>
                </a:solidFill>
                <a:latin typeface="Calibri"/>
              </a:rPr>
              <a:t>) = </a:t>
            </a:r>
            <a:r>
              <a:rPr lang="en-GB" sz="2400" b="1" dirty="0" err="1">
                <a:solidFill>
                  <a:srgbClr val="4BACC6">
                    <a:lumMod val="50000"/>
                  </a:srgbClr>
                </a:solidFill>
                <a:latin typeface="Calibri"/>
              </a:rPr>
              <a:t>z</a:t>
            </a:r>
            <a:r>
              <a:rPr lang="en-GB" sz="2400" b="1" baseline="-25000" dirty="0" err="1">
                <a:solidFill>
                  <a:srgbClr val="4BACC6">
                    <a:lumMod val="50000"/>
                  </a:srgbClr>
                </a:solidFill>
                <a:latin typeface="Calibri"/>
              </a:rPr>
              <a:t>i</a:t>
            </a:r>
            <a:r>
              <a:rPr lang="en-GB" sz="2400" b="1" dirty="0">
                <a:solidFill>
                  <a:srgbClr val="4BACC6">
                    <a:lumMod val="50000"/>
                  </a:srgbClr>
                </a:solidFill>
                <a:latin typeface="Calibri"/>
              </a:rPr>
              <a:t>. We can bootstrap this sample (z</a:t>
            </a:r>
            <a:r>
              <a:rPr lang="pl-PL" sz="2400" b="1" baseline="30000" dirty="0">
                <a:solidFill>
                  <a:srgbClr val="4BACC6">
                    <a:lumMod val="50000"/>
                  </a:srgbClr>
                </a:solidFill>
                <a:latin typeface="Calibri"/>
              </a:rPr>
              <a:t>b</a:t>
            </a:r>
            <a:r>
              <a:rPr lang="pl-PL" sz="2400" b="1" baseline="-25000" dirty="0">
                <a:solidFill>
                  <a:srgbClr val="4BACC6">
                    <a:lumMod val="50000"/>
                  </a:srgbClr>
                </a:solidFill>
                <a:latin typeface="Calibri"/>
              </a:rPr>
              <a:t>1</a:t>
            </a:r>
            <a:r>
              <a:rPr lang="en-GB" sz="2400" b="1" dirty="0">
                <a:solidFill>
                  <a:srgbClr val="4BACC6">
                    <a:lumMod val="50000"/>
                  </a:srgbClr>
                </a:solidFill>
                <a:latin typeface="Calibri"/>
              </a:rPr>
              <a:t>, z</a:t>
            </a:r>
            <a:r>
              <a:rPr lang="pl-PL" sz="2400" b="1" baseline="30000" dirty="0">
                <a:solidFill>
                  <a:srgbClr val="4BACC6">
                    <a:lumMod val="50000"/>
                  </a:srgbClr>
                </a:solidFill>
                <a:latin typeface="Calibri"/>
              </a:rPr>
              <a:t>b</a:t>
            </a:r>
            <a:r>
              <a:rPr lang="pl-PL" sz="2400" b="1" baseline="-25000" dirty="0">
                <a:solidFill>
                  <a:srgbClr val="4BACC6">
                    <a:lumMod val="50000"/>
                  </a:srgbClr>
                </a:solidFill>
                <a:latin typeface="Calibri"/>
              </a:rPr>
              <a:t>2</a:t>
            </a:r>
            <a:r>
              <a:rPr lang="en-GB" sz="2400" b="1" dirty="0">
                <a:solidFill>
                  <a:srgbClr val="4BACC6">
                    <a:lumMod val="50000"/>
                  </a:srgbClr>
                </a:solidFill>
                <a:latin typeface="Calibri"/>
              </a:rPr>
              <a:t>, ....., z</a:t>
            </a:r>
            <a:r>
              <a:rPr lang="pl-PL" sz="2400" b="1" baseline="30000" dirty="0">
                <a:solidFill>
                  <a:srgbClr val="4BACC6">
                    <a:lumMod val="50000"/>
                  </a:srgbClr>
                </a:solidFill>
                <a:latin typeface="Calibri"/>
              </a:rPr>
              <a:t>b</a:t>
            </a:r>
            <a:r>
              <a:rPr lang="pl-PL" sz="2400" b="1" baseline="-25000" dirty="0">
                <a:solidFill>
                  <a:srgbClr val="4BACC6">
                    <a:lumMod val="50000"/>
                  </a:srgbClr>
                </a:solidFill>
                <a:latin typeface="Calibri"/>
              </a:rPr>
              <a:t>20</a:t>
            </a:r>
            <a:r>
              <a:rPr lang="en-GB" sz="2400" b="1" dirty="0">
                <a:solidFill>
                  <a:srgbClr val="4BACC6">
                    <a:lumMod val="50000"/>
                  </a:srgbClr>
                </a:solidFill>
                <a:latin typeface="Calibri"/>
              </a:rPr>
              <a:t>), i.e. by random selection </a:t>
            </a:r>
            <a:r>
              <a:rPr lang="pl-PL" sz="2400" b="1" dirty="0">
                <a:solidFill>
                  <a:srgbClr val="4BACC6">
                    <a:lumMod val="50000"/>
                  </a:srgbClr>
                </a:solidFill>
                <a:latin typeface="Calibri"/>
              </a:rPr>
              <a:t>of </a:t>
            </a:r>
            <a:r>
              <a:rPr lang="en-GB" sz="2400" b="1" dirty="0" err="1">
                <a:solidFill>
                  <a:srgbClr val="4BACC6">
                    <a:lumMod val="50000"/>
                  </a:srgbClr>
                </a:solidFill>
                <a:latin typeface="Calibri"/>
              </a:rPr>
              <a:t>z</a:t>
            </a:r>
            <a:r>
              <a:rPr lang="en-GB" sz="2400" b="1" baseline="-25000" dirty="0" err="1">
                <a:solidFill>
                  <a:srgbClr val="4BACC6">
                    <a:lumMod val="50000"/>
                  </a:srgbClr>
                </a:solidFill>
                <a:latin typeface="Calibri"/>
              </a:rPr>
              <a:t>i</a:t>
            </a:r>
            <a:r>
              <a:rPr lang="pl-PL" sz="2400" b="1" baseline="-25000" dirty="0">
                <a:solidFill>
                  <a:srgbClr val="4BACC6">
                    <a:lumMod val="50000"/>
                  </a:srgbClr>
                </a:solidFill>
                <a:latin typeface="Calibri"/>
              </a:rPr>
              <a:t> </a:t>
            </a:r>
            <a:r>
              <a:rPr lang="pl-PL" sz="2400" b="1" dirty="0">
                <a:solidFill>
                  <a:srgbClr val="4BACC6">
                    <a:lumMod val="50000"/>
                  </a:srgbClr>
                </a:solidFill>
                <a:latin typeface="Calibri"/>
              </a:rPr>
              <a:t>from </a:t>
            </a:r>
            <a:r>
              <a:rPr lang="pl-PL" sz="2400" b="1" dirty="0" err="1">
                <a:solidFill>
                  <a:srgbClr val="4BACC6">
                    <a:lumMod val="50000"/>
                  </a:srgbClr>
                </a:solidFill>
                <a:latin typeface="Calibri"/>
              </a:rPr>
              <a:t>orginal</a:t>
            </a:r>
            <a:r>
              <a:rPr lang="pl-PL" sz="2400" b="1" dirty="0">
                <a:solidFill>
                  <a:srgbClr val="4BACC6">
                    <a:lumMod val="50000"/>
                  </a:srgbClr>
                </a:solidFill>
                <a:latin typeface="Calibri"/>
              </a:rPr>
              <a:t> data set </a:t>
            </a:r>
            <a:r>
              <a:rPr lang="en-GB" sz="2400" b="1" dirty="0">
                <a:solidFill>
                  <a:srgbClr val="4BACC6">
                    <a:lumMod val="50000"/>
                  </a:srgbClr>
                </a:solidFill>
                <a:latin typeface="Calibri"/>
              </a:rPr>
              <a:t>(drawing with replacement). For this new sample we count </a:t>
            </a:r>
            <a:r>
              <a:rPr lang="pl-PL" sz="2400" b="1" dirty="0">
                <a:solidFill>
                  <a:srgbClr val="4BACC6">
                    <a:lumMod val="50000"/>
                  </a:srgbClr>
                </a:solidFill>
                <a:latin typeface="Calibri"/>
              </a:rPr>
              <a:t>the </a:t>
            </a:r>
            <a:r>
              <a:rPr lang="en-GB" sz="2400" b="1" dirty="0">
                <a:solidFill>
                  <a:srgbClr val="4BACC6">
                    <a:lumMod val="50000"/>
                  </a:srgbClr>
                </a:solidFill>
                <a:latin typeface="Calibri"/>
              </a:rPr>
              <a:t>correlation coefficient</a:t>
            </a:r>
            <a:r>
              <a:rPr lang="pl-PL" sz="2400" b="1" dirty="0">
                <a:solidFill>
                  <a:srgbClr val="4BACC6">
                    <a:lumMod val="50000"/>
                  </a:srgbClr>
                </a:solidFill>
                <a:latin typeface="Calibri"/>
              </a:rPr>
              <a:t> </a:t>
            </a:r>
            <a:r>
              <a:rPr lang="en-GB" sz="2400" b="1" dirty="0">
                <a:solidFill>
                  <a:srgbClr val="4BACC6">
                    <a:lumMod val="50000"/>
                  </a:srgbClr>
                </a:solidFill>
                <a:latin typeface="Calibri"/>
              </a:rPr>
              <a:t>and repeat the whole procedure B times. We obtain the empirical distribution of correlation coefficients and we can estimate the value of the estimator of variance or other statistics.</a:t>
            </a:r>
          </a:p>
        </p:txBody>
      </p:sp>
      <p:pic>
        <p:nvPicPr>
          <p:cNvPr id="204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2887" y="2934418"/>
            <a:ext cx="4787900" cy="257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Prostokąt 1"/>
          <p:cNvSpPr/>
          <p:nvPr/>
        </p:nvSpPr>
        <p:spPr>
          <a:xfrm>
            <a:off x="508324" y="3228312"/>
            <a:ext cx="5134563" cy="2308324"/>
          </a:xfrm>
          <a:prstGeom prst="rect">
            <a:avLst/>
          </a:prstGeom>
        </p:spPr>
        <p:txBody>
          <a:bodyPr wrap="square">
            <a:spAutoFit/>
          </a:bodyPr>
          <a:lstStyle/>
          <a:p>
            <a:r>
              <a:rPr lang="en-GB" sz="2400" b="1" dirty="0">
                <a:solidFill>
                  <a:srgbClr val="4BACC6">
                    <a:lumMod val="50000"/>
                  </a:srgbClr>
                </a:solidFill>
                <a:latin typeface="Calibri"/>
              </a:rPr>
              <a:t>The results of our procedure are:</a:t>
            </a:r>
          </a:p>
          <a:p>
            <a:pPr marL="800100" lvl="1" indent="-342900">
              <a:buFont typeface="Arial" panose="020B0604020202020204" pitchFamily="34" charset="0"/>
              <a:buChar char="•"/>
            </a:pPr>
            <a:r>
              <a:rPr lang="en-GB" sz="2400" b="1" dirty="0">
                <a:solidFill>
                  <a:srgbClr val="4BACC6">
                    <a:lumMod val="50000"/>
                  </a:srgbClr>
                </a:solidFill>
                <a:latin typeface="Calibri"/>
              </a:rPr>
              <a:t>Empirical density distribution --&gt; a histogram</a:t>
            </a:r>
          </a:p>
          <a:p>
            <a:pPr marL="800100" lvl="1" indent="-342900">
              <a:buFont typeface="Arial" panose="020B0604020202020204" pitchFamily="34" charset="0"/>
              <a:buChar char="•"/>
            </a:pPr>
            <a:r>
              <a:rPr lang="en-GB" sz="2400" b="1" dirty="0">
                <a:solidFill>
                  <a:srgbClr val="4BACC6">
                    <a:lumMod val="50000"/>
                  </a:srgbClr>
                </a:solidFill>
                <a:latin typeface="Calibri"/>
              </a:rPr>
              <a:t>Basic statistics of the distribution of the bootstrap</a:t>
            </a:r>
            <a:r>
              <a:rPr lang="pl-PL" sz="2400" b="1" dirty="0">
                <a:solidFill>
                  <a:srgbClr val="4BACC6">
                    <a:lumMod val="50000"/>
                  </a:srgbClr>
                </a:solidFill>
                <a:latin typeface="Calibri"/>
              </a:rPr>
              <a:t> </a:t>
            </a:r>
            <a:r>
              <a:rPr lang="en-GB" sz="2400" b="1" dirty="0">
                <a:solidFill>
                  <a:srgbClr val="4BACC6">
                    <a:lumMod val="50000"/>
                  </a:srgbClr>
                </a:solidFill>
                <a:latin typeface="Calibri"/>
              </a:rPr>
              <a:t>correlation coefficients</a:t>
            </a:r>
          </a:p>
        </p:txBody>
      </p:sp>
      <p:sp>
        <p:nvSpPr>
          <p:cNvPr id="10" name="Prostokąt 9"/>
          <p:cNvSpPr/>
          <p:nvPr/>
        </p:nvSpPr>
        <p:spPr>
          <a:xfrm>
            <a:off x="2237685" y="5772121"/>
            <a:ext cx="7758339" cy="646331"/>
          </a:xfrm>
          <a:prstGeom prst="rect">
            <a:avLst/>
          </a:prstGeom>
        </p:spPr>
        <p:txBody>
          <a:bodyPr wrap="square">
            <a:spAutoFit/>
          </a:bodyPr>
          <a:lstStyle/>
          <a:p>
            <a:r>
              <a:rPr lang="en-GB" dirty="0">
                <a:solidFill>
                  <a:prstClr val="black"/>
                </a:solidFill>
                <a:latin typeface="Calibri"/>
              </a:rPr>
              <a:t> Min. </a:t>
            </a:r>
            <a:r>
              <a:rPr lang="pl-PL" dirty="0">
                <a:solidFill>
                  <a:prstClr val="black"/>
                </a:solidFill>
                <a:latin typeface="Calibri"/>
              </a:rPr>
              <a:t> 	</a:t>
            </a:r>
            <a:r>
              <a:rPr lang="en-GB" dirty="0">
                <a:solidFill>
                  <a:prstClr val="black"/>
                </a:solidFill>
                <a:latin typeface="Calibri"/>
              </a:rPr>
              <a:t>1st Qu.  </a:t>
            </a:r>
            <a:r>
              <a:rPr lang="pl-PL" dirty="0">
                <a:solidFill>
                  <a:prstClr val="black"/>
                </a:solidFill>
                <a:latin typeface="Calibri"/>
              </a:rPr>
              <a:t>	</a:t>
            </a:r>
            <a:r>
              <a:rPr lang="en-GB" dirty="0">
                <a:solidFill>
                  <a:prstClr val="black"/>
                </a:solidFill>
                <a:latin typeface="Calibri"/>
              </a:rPr>
              <a:t>Median    Mean </a:t>
            </a:r>
            <a:r>
              <a:rPr lang="pl-PL" dirty="0">
                <a:solidFill>
                  <a:prstClr val="black"/>
                </a:solidFill>
                <a:latin typeface="Calibri"/>
              </a:rPr>
              <a:t>	</a:t>
            </a:r>
            <a:r>
              <a:rPr lang="en-GB" dirty="0">
                <a:solidFill>
                  <a:prstClr val="black"/>
                </a:solidFill>
                <a:latin typeface="Calibri"/>
              </a:rPr>
              <a:t>3rd Qu.    Max.</a:t>
            </a:r>
            <a:r>
              <a:rPr lang="pl-PL" dirty="0">
                <a:solidFill>
                  <a:prstClr val="black"/>
                </a:solidFill>
                <a:latin typeface="Calibri"/>
              </a:rPr>
              <a:t>		</a:t>
            </a:r>
            <a:r>
              <a:rPr lang="pl-PL" dirty="0" err="1">
                <a:solidFill>
                  <a:prstClr val="black"/>
                </a:solidFill>
                <a:latin typeface="Calibri"/>
              </a:rPr>
              <a:t>sd</a:t>
            </a:r>
            <a:r>
              <a:rPr lang="en-GB" dirty="0">
                <a:solidFill>
                  <a:prstClr val="black"/>
                </a:solidFill>
                <a:latin typeface="Calibri"/>
              </a:rPr>
              <a:t> </a:t>
            </a:r>
          </a:p>
          <a:p>
            <a:r>
              <a:rPr lang="en-GB" dirty="0">
                <a:solidFill>
                  <a:prstClr val="black"/>
                </a:solidFill>
                <a:latin typeface="Calibri"/>
              </a:rPr>
              <a:t> 0.2037  </a:t>
            </a:r>
            <a:r>
              <a:rPr lang="pl-PL" dirty="0">
                <a:solidFill>
                  <a:prstClr val="black"/>
                </a:solidFill>
                <a:latin typeface="Calibri"/>
              </a:rPr>
              <a:t>	</a:t>
            </a:r>
            <a:r>
              <a:rPr lang="en-GB" dirty="0">
                <a:solidFill>
                  <a:prstClr val="black"/>
                </a:solidFill>
                <a:latin typeface="Calibri"/>
              </a:rPr>
              <a:t>0.7486  </a:t>
            </a:r>
            <a:r>
              <a:rPr lang="pl-PL" dirty="0">
                <a:solidFill>
                  <a:prstClr val="black"/>
                </a:solidFill>
                <a:latin typeface="Calibri"/>
              </a:rPr>
              <a:t>	</a:t>
            </a:r>
            <a:r>
              <a:rPr lang="en-GB" dirty="0">
                <a:solidFill>
                  <a:prstClr val="black"/>
                </a:solidFill>
                <a:latin typeface="Calibri"/>
              </a:rPr>
              <a:t>0.8126  </a:t>
            </a:r>
            <a:r>
              <a:rPr lang="pl-PL" dirty="0">
                <a:solidFill>
                  <a:prstClr val="black"/>
                </a:solidFill>
                <a:latin typeface="Calibri"/>
              </a:rPr>
              <a:t>	</a:t>
            </a:r>
            <a:r>
              <a:rPr lang="en-GB" dirty="0">
                <a:solidFill>
                  <a:prstClr val="black"/>
                </a:solidFill>
                <a:latin typeface="Calibri"/>
              </a:rPr>
              <a:t>0.7994  </a:t>
            </a:r>
            <a:r>
              <a:rPr lang="pl-PL" dirty="0">
                <a:solidFill>
                  <a:prstClr val="black"/>
                </a:solidFill>
                <a:latin typeface="Calibri"/>
              </a:rPr>
              <a:t>	</a:t>
            </a:r>
            <a:r>
              <a:rPr lang="en-GB" dirty="0">
                <a:solidFill>
                  <a:prstClr val="black"/>
                </a:solidFill>
                <a:latin typeface="Calibri"/>
              </a:rPr>
              <a:t>0.8629  </a:t>
            </a:r>
            <a:r>
              <a:rPr lang="pl-PL" dirty="0">
                <a:solidFill>
                  <a:prstClr val="black"/>
                </a:solidFill>
                <a:latin typeface="Calibri"/>
              </a:rPr>
              <a:t>	</a:t>
            </a:r>
            <a:r>
              <a:rPr lang="en-GB" dirty="0">
                <a:solidFill>
                  <a:prstClr val="black"/>
                </a:solidFill>
                <a:latin typeface="Calibri"/>
              </a:rPr>
              <a:t>0.9904 </a:t>
            </a:r>
            <a:r>
              <a:rPr lang="pl-PL" dirty="0">
                <a:solidFill>
                  <a:prstClr val="black"/>
                </a:solidFill>
                <a:latin typeface="Calibri"/>
              </a:rPr>
              <a:t>		</a:t>
            </a:r>
            <a:r>
              <a:rPr lang="en-GB" dirty="0">
                <a:solidFill>
                  <a:prstClr val="black"/>
                </a:solidFill>
                <a:latin typeface="Calibri"/>
              </a:rPr>
              <a:t>0.08796197</a:t>
            </a:r>
          </a:p>
        </p:txBody>
      </p:sp>
      <p:sp>
        <p:nvSpPr>
          <p:cNvPr id="3" name="TextBox 2">
            <a:extLst>
              <a:ext uri="{FF2B5EF4-FFF2-40B4-BE49-F238E27FC236}">
                <a16:creationId xmlns:a16="http://schemas.microsoft.com/office/drawing/2014/main" id="{4F78EA9A-0279-1F0C-529E-A155CEE2A8FC}"/>
              </a:ext>
            </a:extLst>
          </p:cNvPr>
          <p:cNvSpPr txBox="1"/>
          <p:nvPr/>
        </p:nvSpPr>
        <p:spPr>
          <a:xfrm rot="18806356">
            <a:off x="9887311" y="333079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8792666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1" y="-13886"/>
            <a:ext cx="12272211" cy="1143000"/>
          </a:xfrm>
          <a:solidFill>
            <a:schemeClr val="accent5">
              <a:lumMod val="20000"/>
              <a:lumOff val="80000"/>
            </a:schemeClr>
          </a:solidFill>
        </p:spPr>
        <p:txBody>
          <a:bodyPr>
            <a:noAutofit/>
          </a:bodyPr>
          <a:lstStyle/>
          <a:p>
            <a:r>
              <a:rPr lang="en-GB" sz="3200" b="1" dirty="0">
                <a:solidFill>
                  <a:schemeClr val="accent5">
                    <a:lumMod val="50000"/>
                  </a:schemeClr>
                </a:solidFill>
              </a:rPr>
              <a:t>Bootstrapping </a:t>
            </a:r>
            <a:r>
              <a:rPr lang="pl-PL" altLang="pl-PL" sz="3200" b="1" dirty="0">
                <a:solidFill>
                  <a:schemeClr val="accent5">
                    <a:lumMod val="50000"/>
                  </a:schemeClr>
                </a:solidFill>
              </a:rPr>
              <a:t>- the </a:t>
            </a:r>
            <a:r>
              <a:rPr lang="pl-PL" altLang="pl-PL" sz="3200" b="1" dirty="0" err="1">
                <a:solidFill>
                  <a:schemeClr val="accent5">
                    <a:lumMod val="50000"/>
                  </a:schemeClr>
                </a:solidFill>
              </a:rPr>
              <a:t>old</a:t>
            </a:r>
            <a:r>
              <a:rPr lang="pl-PL" altLang="pl-PL" sz="3200" b="1" dirty="0">
                <a:solidFill>
                  <a:schemeClr val="accent5">
                    <a:lumMod val="50000"/>
                  </a:schemeClr>
                </a:solidFill>
              </a:rPr>
              <a:t> </a:t>
            </a:r>
            <a:r>
              <a:rPr lang="pl-PL" altLang="pl-PL" sz="3200" b="1" dirty="0" err="1">
                <a:solidFill>
                  <a:schemeClr val="accent5">
                    <a:lumMod val="50000"/>
                  </a:schemeClr>
                </a:solidFill>
              </a:rPr>
              <a:t>explanantion</a:t>
            </a:r>
            <a:endParaRPr lang="pl-PL" altLang="pl-PL" sz="3200" b="1" dirty="0">
              <a:solidFill>
                <a:schemeClr val="accent5">
                  <a:lumMod val="50000"/>
                </a:schemeClr>
              </a:solidFill>
              <a:latin typeface="Arial" charset="0"/>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mc:AlternateContent xmlns:mc="http://schemas.openxmlformats.org/markup-compatibility/2006" xmlns:a14="http://schemas.microsoft.com/office/drawing/2010/main">
        <mc:Choice Requires="a14">
          <p:sp>
            <p:nvSpPr>
              <p:cNvPr id="2" name="Prostokąt 1"/>
              <p:cNvSpPr/>
              <p:nvPr/>
            </p:nvSpPr>
            <p:spPr>
              <a:xfrm>
                <a:off x="741145" y="1268760"/>
                <a:ext cx="10934299" cy="3474669"/>
              </a:xfrm>
              <a:prstGeom prst="rect">
                <a:avLst/>
              </a:prstGeom>
            </p:spPr>
            <p:txBody>
              <a:bodyPr wrap="square">
                <a:spAutoFit/>
              </a:bodyPr>
              <a:lstStyle/>
              <a:p>
                <a:r>
                  <a:rPr lang="en-GB" sz="2400" b="1" dirty="0">
                    <a:solidFill>
                      <a:srgbClr val="4BACC6">
                        <a:lumMod val="50000"/>
                      </a:srgbClr>
                    </a:solidFill>
                    <a:latin typeface="Calibri"/>
                  </a:rPr>
                  <a:t>You can analytically estimate the value of the standard deviation of the correlation coefficient. It has the form:</a:t>
                </a:r>
              </a:p>
              <a:p>
                <a:endParaRPr lang="en-GB" sz="2400" dirty="0">
                  <a:solidFill>
                    <a:srgbClr val="4BACC6">
                      <a:lumMod val="50000"/>
                    </a:srgbClr>
                  </a:solidFill>
                  <a:latin typeface="Calibri"/>
                </a:endParaRPr>
              </a:p>
              <a:p>
                <a14:m>
                  <m:oMath xmlns:m="http://schemas.openxmlformats.org/officeDocument/2006/math">
                    <m:sSub>
                      <m:sSubPr>
                        <m:ctrlPr>
                          <a:rPr lang="pl-PL" sz="3200" i="1">
                            <a:solidFill>
                              <a:srgbClr val="4BACC6">
                                <a:lumMod val="50000"/>
                              </a:srgbClr>
                            </a:solidFill>
                            <a:latin typeface="Cambria Math" panose="02040503050406030204" pitchFamily="18" charset="0"/>
                          </a:rPr>
                        </m:ctrlPr>
                      </m:sSubPr>
                      <m:e>
                        <m:r>
                          <a:rPr lang="pl-PL" sz="3200" i="1">
                            <a:solidFill>
                              <a:srgbClr val="4BACC6">
                                <a:lumMod val="50000"/>
                              </a:srgbClr>
                            </a:solidFill>
                            <a:latin typeface="Cambria Math" panose="02040503050406030204" pitchFamily="18" charset="0"/>
                            <a:ea typeface="Cambria Math"/>
                          </a:rPr>
                          <m:t>𝜎</m:t>
                        </m:r>
                      </m:e>
                      <m:sub>
                        <m:r>
                          <a:rPr lang="pl-PL" sz="3200" i="1">
                            <a:solidFill>
                              <a:srgbClr val="4BACC6">
                                <a:lumMod val="50000"/>
                              </a:srgbClr>
                            </a:solidFill>
                            <a:latin typeface="Cambria Math" panose="02040503050406030204" pitchFamily="18" charset="0"/>
                          </a:rPr>
                          <m:t>𝑁𝑜𝑟𝑚</m:t>
                        </m:r>
                      </m:sub>
                    </m:sSub>
                    <m:r>
                      <a:rPr lang="pl-PL" sz="3200" i="1">
                        <a:solidFill>
                          <a:srgbClr val="4BACC6">
                            <a:lumMod val="50000"/>
                          </a:srgbClr>
                        </a:solidFill>
                        <a:latin typeface="Cambria Math" panose="02040503050406030204" pitchFamily="18" charset="0"/>
                      </a:rPr>
                      <m:t>= </m:t>
                    </m:r>
                    <m:f>
                      <m:fPr>
                        <m:ctrlPr>
                          <a:rPr lang="pl-PL" sz="3200" i="1">
                            <a:solidFill>
                              <a:srgbClr val="4BACC6">
                                <a:lumMod val="50000"/>
                              </a:srgbClr>
                            </a:solidFill>
                            <a:latin typeface="Cambria Math" panose="02040503050406030204" pitchFamily="18" charset="0"/>
                          </a:rPr>
                        </m:ctrlPr>
                      </m:fPr>
                      <m:num>
                        <m:r>
                          <a:rPr lang="pl-PL" sz="3200" i="1">
                            <a:solidFill>
                              <a:srgbClr val="4BACC6">
                                <a:lumMod val="50000"/>
                              </a:srgbClr>
                            </a:solidFill>
                            <a:latin typeface="Cambria Math" panose="02040503050406030204" pitchFamily="18" charset="0"/>
                          </a:rPr>
                          <m:t>1− </m:t>
                        </m:r>
                        <m:sSup>
                          <m:sSupPr>
                            <m:ctrlPr>
                              <a:rPr lang="pl-PL" sz="3200" i="1">
                                <a:solidFill>
                                  <a:srgbClr val="4BACC6">
                                    <a:lumMod val="50000"/>
                                  </a:srgbClr>
                                </a:solidFill>
                                <a:latin typeface="Cambria Math" panose="02040503050406030204" pitchFamily="18" charset="0"/>
                              </a:rPr>
                            </m:ctrlPr>
                          </m:sSupPr>
                          <m:e>
                            <m:r>
                              <a:rPr lang="pl-PL" sz="3200" i="1">
                                <a:solidFill>
                                  <a:srgbClr val="4BACC6">
                                    <a:lumMod val="50000"/>
                                  </a:srgbClr>
                                </a:solidFill>
                                <a:latin typeface="Cambria Math" panose="02040503050406030204" pitchFamily="18" charset="0"/>
                                <a:ea typeface="Cambria Math"/>
                              </a:rPr>
                              <m:t>𝜌</m:t>
                            </m:r>
                          </m:e>
                          <m:sup>
                            <m:r>
                              <a:rPr lang="pl-PL" sz="3200" i="1">
                                <a:solidFill>
                                  <a:srgbClr val="4BACC6">
                                    <a:lumMod val="50000"/>
                                  </a:srgbClr>
                                </a:solidFill>
                                <a:latin typeface="Cambria Math" panose="02040503050406030204" pitchFamily="18" charset="0"/>
                              </a:rPr>
                              <m:t>2</m:t>
                            </m:r>
                          </m:sup>
                        </m:sSup>
                      </m:num>
                      <m:den>
                        <m:rad>
                          <m:radPr>
                            <m:degHide m:val="on"/>
                            <m:ctrlPr>
                              <a:rPr lang="pl-PL" sz="3200" i="1">
                                <a:solidFill>
                                  <a:srgbClr val="4BACC6">
                                    <a:lumMod val="50000"/>
                                  </a:srgbClr>
                                </a:solidFill>
                                <a:latin typeface="Cambria Math" panose="02040503050406030204" pitchFamily="18" charset="0"/>
                              </a:rPr>
                            </m:ctrlPr>
                          </m:radPr>
                          <m:deg/>
                          <m:e>
                            <m:r>
                              <a:rPr lang="pl-PL" sz="3200" i="1">
                                <a:solidFill>
                                  <a:srgbClr val="4BACC6">
                                    <a:lumMod val="50000"/>
                                  </a:srgbClr>
                                </a:solidFill>
                                <a:latin typeface="Cambria Math" panose="02040503050406030204" pitchFamily="18" charset="0"/>
                              </a:rPr>
                              <m:t>𝑁</m:t>
                            </m:r>
                            <m:r>
                              <a:rPr lang="pl-PL" sz="3200" i="1">
                                <a:solidFill>
                                  <a:srgbClr val="4BACC6">
                                    <a:lumMod val="50000"/>
                                  </a:srgbClr>
                                </a:solidFill>
                                <a:latin typeface="Cambria Math" panose="02040503050406030204" pitchFamily="18" charset="0"/>
                              </a:rPr>
                              <m:t> −3</m:t>
                            </m:r>
                          </m:e>
                        </m:rad>
                      </m:den>
                    </m:f>
                  </m:oMath>
                </a14:m>
                <a:r>
                  <a:rPr lang="pl-PL" sz="3200" dirty="0">
                    <a:solidFill>
                      <a:srgbClr val="4BACC6">
                        <a:lumMod val="50000"/>
                      </a:srgbClr>
                    </a:solidFill>
                    <a:latin typeface="Calibri"/>
                  </a:rPr>
                  <a:t>  </a:t>
                </a:r>
                <a14:m>
                  <m:oMath xmlns:m="http://schemas.openxmlformats.org/officeDocument/2006/math">
                    <m:r>
                      <a:rPr lang="pl-PL" sz="3200" i="1">
                        <a:solidFill>
                          <a:srgbClr val="4BACC6">
                            <a:lumMod val="50000"/>
                          </a:srgbClr>
                        </a:solidFill>
                        <a:latin typeface="Cambria Math" panose="02040503050406030204" pitchFamily="18" charset="0"/>
                      </a:rPr>
                      <m:t>=</m:t>
                    </m:r>
                    <m:f>
                      <m:fPr>
                        <m:ctrlPr>
                          <a:rPr lang="pl-PL" sz="3200" i="1">
                            <a:solidFill>
                              <a:srgbClr val="4BACC6">
                                <a:lumMod val="50000"/>
                              </a:srgbClr>
                            </a:solidFill>
                            <a:latin typeface="Cambria Math" panose="02040503050406030204" pitchFamily="18" charset="0"/>
                          </a:rPr>
                        </m:ctrlPr>
                      </m:fPr>
                      <m:num>
                        <m:r>
                          <a:rPr lang="pl-PL" sz="3200" i="1">
                            <a:solidFill>
                              <a:srgbClr val="4BACC6">
                                <a:lumMod val="50000"/>
                              </a:srgbClr>
                            </a:solidFill>
                            <a:latin typeface="Cambria Math" panose="02040503050406030204" pitchFamily="18" charset="0"/>
                          </a:rPr>
                          <m:t>1− </m:t>
                        </m:r>
                        <m:sSup>
                          <m:sSupPr>
                            <m:ctrlPr>
                              <a:rPr lang="pl-PL" sz="3200" i="1">
                                <a:solidFill>
                                  <a:srgbClr val="4BACC6">
                                    <a:lumMod val="50000"/>
                                  </a:srgbClr>
                                </a:solidFill>
                                <a:latin typeface="Cambria Math" panose="02040503050406030204" pitchFamily="18" charset="0"/>
                              </a:rPr>
                            </m:ctrlPr>
                          </m:sSupPr>
                          <m:e>
                            <m:r>
                              <a:rPr lang="pl-PL" sz="3200" i="1">
                                <a:solidFill>
                                  <a:srgbClr val="4BACC6">
                                    <a:lumMod val="50000"/>
                                  </a:srgbClr>
                                </a:solidFill>
                                <a:latin typeface="Cambria Math" panose="02040503050406030204" pitchFamily="18" charset="0"/>
                              </a:rPr>
                              <m:t>0.8035187</m:t>
                            </m:r>
                          </m:e>
                          <m:sup>
                            <m:r>
                              <a:rPr lang="pl-PL" sz="3200" i="1">
                                <a:solidFill>
                                  <a:srgbClr val="4BACC6">
                                    <a:lumMod val="50000"/>
                                  </a:srgbClr>
                                </a:solidFill>
                                <a:latin typeface="Cambria Math" panose="02040503050406030204" pitchFamily="18" charset="0"/>
                              </a:rPr>
                              <m:t>2</m:t>
                            </m:r>
                          </m:sup>
                        </m:sSup>
                      </m:num>
                      <m:den>
                        <m:rad>
                          <m:radPr>
                            <m:degHide m:val="on"/>
                            <m:ctrlPr>
                              <a:rPr lang="pl-PL" sz="3200" i="1">
                                <a:solidFill>
                                  <a:srgbClr val="4BACC6">
                                    <a:lumMod val="50000"/>
                                  </a:srgbClr>
                                </a:solidFill>
                                <a:latin typeface="Cambria Math" panose="02040503050406030204" pitchFamily="18" charset="0"/>
                              </a:rPr>
                            </m:ctrlPr>
                          </m:radPr>
                          <m:deg/>
                          <m:e>
                            <m:r>
                              <a:rPr lang="pl-PL" sz="3200" i="1">
                                <a:solidFill>
                                  <a:srgbClr val="4BACC6">
                                    <a:lumMod val="50000"/>
                                  </a:srgbClr>
                                </a:solidFill>
                                <a:latin typeface="Cambria Math" panose="02040503050406030204" pitchFamily="18" charset="0"/>
                              </a:rPr>
                              <m:t>20 −3</m:t>
                            </m:r>
                          </m:e>
                        </m:rad>
                      </m:den>
                    </m:f>
                  </m:oMath>
                </a14:m>
                <a:r>
                  <a:rPr lang="pl-PL" sz="3200" dirty="0">
                    <a:solidFill>
                      <a:srgbClr val="4BACC6">
                        <a:lumMod val="50000"/>
                      </a:srgbClr>
                    </a:solidFill>
                    <a:latin typeface="Calibri"/>
                  </a:rPr>
                  <a:t> = 0.08594436   </a:t>
                </a:r>
              </a:p>
              <a:p>
                <a:endParaRPr lang="pl-PL" sz="2400" dirty="0">
                  <a:solidFill>
                    <a:srgbClr val="4BACC6">
                      <a:lumMod val="50000"/>
                    </a:srgbClr>
                  </a:solidFill>
                  <a:latin typeface="Calibri"/>
                </a:endParaRPr>
              </a:p>
              <a:p>
                <a:endParaRPr lang="en-GB" sz="2400" dirty="0">
                  <a:solidFill>
                    <a:srgbClr val="4BACC6">
                      <a:lumMod val="50000"/>
                    </a:srgbClr>
                  </a:solidFill>
                  <a:latin typeface="Calibri"/>
                </a:endParaRPr>
              </a:p>
              <a:p>
                <a:r>
                  <a:rPr lang="en-GB" sz="2400" b="1" dirty="0">
                    <a:solidFill>
                      <a:srgbClr val="4BACC6">
                        <a:lumMod val="50000"/>
                      </a:srgbClr>
                    </a:solidFill>
                    <a:latin typeface="Calibri"/>
                  </a:rPr>
                  <a:t>We can not always find such a solution. As you can see the bootstrap result is not much different from the analytical solution for even for 10 000 iterations.</a:t>
                </a:r>
              </a:p>
            </p:txBody>
          </p:sp>
        </mc:Choice>
        <mc:Fallback xmlns="">
          <p:sp>
            <p:nvSpPr>
              <p:cNvPr id="2" name="Prostokąt 1"/>
              <p:cNvSpPr>
                <a:spLocks noRot="1" noChangeAspect="1" noMove="1" noResize="1" noEditPoints="1" noAdjustHandles="1" noChangeArrowheads="1" noChangeShapeType="1" noTextEdit="1"/>
              </p:cNvSpPr>
              <p:nvPr/>
            </p:nvSpPr>
            <p:spPr>
              <a:xfrm>
                <a:off x="741145" y="1268760"/>
                <a:ext cx="10934299" cy="3474669"/>
              </a:xfrm>
              <a:prstGeom prst="rect">
                <a:avLst/>
              </a:prstGeom>
              <a:blipFill>
                <a:blip r:embed="rId3"/>
                <a:stretch>
                  <a:fillRect l="-892" t="-1404" b="-2982"/>
                </a:stretch>
              </a:blipFill>
            </p:spPr>
            <p:txBody>
              <a:bodyPr/>
              <a:lstStyle/>
              <a:p>
                <a:r>
                  <a:rPr lang="pl-PL">
                    <a:noFill/>
                  </a:rPr>
                  <a:t> </a:t>
                </a:r>
              </a:p>
            </p:txBody>
          </p:sp>
        </mc:Fallback>
      </mc:AlternateContent>
      <p:sp>
        <p:nvSpPr>
          <p:cNvPr id="3" name="Prostokąt 2"/>
          <p:cNvSpPr/>
          <p:nvPr/>
        </p:nvSpPr>
        <p:spPr>
          <a:xfrm>
            <a:off x="1934679" y="5245768"/>
            <a:ext cx="8046719" cy="707886"/>
          </a:xfrm>
          <a:prstGeom prst="rect">
            <a:avLst/>
          </a:prstGeom>
        </p:spPr>
        <p:txBody>
          <a:bodyPr wrap="square">
            <a:spAutoFit/>
          </a:bodyPr>
          <a:lstStyle/>
          <a:p>
            <a:r>
              <a:rPr lang="en-GB" sz="2000" dirty="0">
                <a:solidFill>
                  <a:prstClr val="black"/>
                </a:solidFill>
                <a:latin typeface="Calibri"/>
              </a:rPr>
              <a:t> Min. </a:t>
            </a:r>
            <a:r>
              <a:rPr lang="pl-PL" sz="2000" dirty="0">
                <a:solidFill>
                  <a:prstClr val="black"/>
                </a:solidFill>
                <a:latin typeface="Calibri"/>
              </a:rPr>
              <a:t> 	</a:t>
            </a:r>
            <a:r>
              <a:rPr lang="en-GB" sz="2000" dirty="0">
                <a:solidFill>
                  <a:prstClr val="black"/>
                </a:solidFill>
                <a:latin typeface="Calibri"/>
              </a:rPr>
              <a:t>1st Qu.  </a:t>
            </a:r>
            <a:r>
              <a:rPr lang="pl-PL" sz="2000" dirty="0">
                <a:solidFill>
                  <a:prstClr val="black"/>
                </a:solidFill>
                <a:latin typeface="Calibri"/>
              </a:rPr>
              <a:t>	</a:t>
            </a:r>
            <a:r>
              <a:rPr lang="en-GB" sz="2000" dirty="0">
                <a:solidFill>
                  <a:prstClr val="black"/>
                </a:solidFill>
                <a:latin typeface="Calibri"/>
              </a:rPr>
              <a:t>Median    Mean </a:t>
            </a:r>
            <a:r>
              <a:rPr lang="pl-PL" sz="2000" dirty="0">
                <a:solidFill>
                  <a:prstClr val="black"/>
                </a:solidFill>
                <a:latin typeface="Calibri"/>
              </a:rPr>
              <a:t>	</a:t>
            </a:r>
            <a:r>
              <a:rPr lang="en-GB" sz="2000" dirty="0">
                <a:solidFill>
                  <a:prstClr val="black"/>
                </a:solidFill>
                <a:latin typeface="Calibri"/>
              </a:rPr>
              <a:t>3rd Qu.    Max.</a:t>
            </a:r>
            <a:r>
              <a:rPr lang="pl-PL" sz="2000" dirty="0">
                <a:solidFill>
                  <a:prstClr val="black"/>
                </a:solidFill>
                <a:latin typeface="Calibri"/>
              </a:rPr>
              <a:t>		</a:t>
            </a:r>
            <a:r>
              <a:rPr lang="pl-PL" sz="2000" dirty="0" err="1">
                <a:solidFill>
                  <a:prstClr val="black"/>
                </a:solidFill>
                <a:latin typeface="Calibri"/>
              </a:rPr>
              <a:t>sd</a:t>
            </a:r>
            <a:r>
              <a:rPr lang="en-GB" sz="2000" dirty="0">
                <a:solidFill>
                  <a:prstClr val="black"/>
                </a:solidFill>
                <a:latin typeface="Calibri"/>
              </a:rPr>
              <a:t> </a:t>
            </a:r>
          </a:p>
          <a:p>
            <a:r>
              <a:rPr lang="en-GB" sz="2000" dirty="0">
                <a:solidFill>
                  <a:prstClr val="black"/>
                </a:solidFill>
                <a:latin typeface="Calibri"/>
              </a:rPr>
              <a:t> 0.2037  </a:t>
            </a:r>
            <a:r>
              <a:rPr lang="pl-PL" sz="2000" dirty="0">
                <a:solidFill>
                  <a:prstClr val="black"/>
                </a:solidFill>
                <a:latin typeface="Calibri"/>
              </a:rPr>
              <a:t>	</a:t>
            </a:r>
            <a:r>
              <a:rPr lang="en-GB" sz="2000" dirty="0">
                <a:solidFill>
                  <a:prstClr val="black"/>
                </a:solidFill>
                <a:latin typeface="Calibri"/>
              </a:rPr>
              <a:t>0.7486  </a:t>
            </a:r>
            <a:r>
              <a:rPr lang="pl-PL" sz="2000" dirty="0">
                <a:solidFill>
                  <a:prstClr val="black"/>
                </a:solidFill>
                <a:latin typeface="Calibri"/>
              </a:rPr>
              <a:t>	</a:t>
            </a:r>
            <a:r>
              <a:rPr lang="en-GB" sz="2000" dirty="0">
                <a:solidFill>
                  <a:prstClr val="black"/>
                </a:solidFill>
                <a:latin typeface="Calibri"/>
              </a:rPr>
              <a:t>0.8126  </a:t>
            </a:r>
            <a:r>
              <a:rPr lang="pl-PL" sz="2000" dirty="0">
                <a:solidFill>
                  <a:prstClr val="black"/>
                </a:solidFill>
                <a:latin typeface="Calibri"/>
              </a:rPr>
              <a:t>	</a:t>
            </a:r>
            <a:r>
              <a:rPr lang="en-GB" sz="2000" dirty="0">
                <a:solidFill>
                  <a:prstClr val="black"/>
                </a:solidFill>
                <a:latin typeface="Calibri"/>
              </a:rPr>
              <a:t>0.7994  </a:t>
            </a:r>
            <a:r>
              <a:rPr lang="pl-PL" sz="2000" dirty="0">
                <a:solidFill>
                  <a:prstClr val="black"/>
                </a:solidFill>
                <a:latin typeface="Calibri"/>
              </a:rPr>
              <a:t>	</a:t>
            </a:r>
            <a:r>
              <a:rPr lang="en-GB" sz="2000" dirty="0">
                <a:solidFill>
                  <a:prstClr val="black"/>
                </a:solidFill>
                <a:latin typeface="Calibri"/>
              </a:rPr>
              <a:t>0.8629  </a:t>
            </a:r>
            <a:r>
              <a:rPr lang="pl-PL" sz="2000" dirty="0">
                <a:solidFill>
                  <a:prstClr val="black"/>
                </a:solidFill>
                <a:latin typeface="Calibri"/>
              </a:rPr>
              <a:t>	</a:t>
            </a:r>
            <a:r>
              <a:rPr lang="en-GB" sz="2000" dirty="0">
                <a:solidFill>
                  <a:prstClr val="black"/>
                </a:solidFill>
                <a:latin typeface="Calibri"/>
              </a:rPr>
              <a:t>0.9904 </a:t>
            </a:r>
            <a:r>
              <a:rPr lang="pl-PL" sz="2000" dirty="0">
                <a:solidFill>
                  <a:prstClr val="black"/>
                </a:solidFill>
                <a:latin typeface="Calibri"/>
              </a:rPr>
              <a:t>		</a:t>
            </a:r>
            <a:r>
              <a:rPr lang="en-GB" sz="2000" dirty="0">
                <a:solidFill>
                  <a:prstClr val="black"/>
                </a:solidFill>
                <a:latin typeface="Calibri"/>
              </a:rPr>
              <a:t>0.08796197</a:t>
            </a:r>
          </a:p>
        </p:txBody>
      </p:sp>
      <p:cxnSp>
        <p:nvCxnSpPr>
          <p:cNvPr id="7" name="Łącznik prosty ze strzałką 6"/>
          <p:cNvCxnSpPr/>
          <p:nvPr/>
        </p:nvCxnSpPr>
        <p:spPr>
          <a:xfrm>
            <a:off x="7008585" y="3012101"/>
            <a:ext cx="1172889" cy="2233667"/>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5" name="TextBox 4">
            <a:extLst>
              <a:ext uri="{FF2B5EF4-FFF2-40B4-BE49-F238E27FC236}">
                <a16:creationId xmlns:a16="http://schemas.microsoft.com/office/drawing/2014/main" id="{DC651F5F-B3FF-7660-4629-C6C9B24D9EC9}"/>
              </a:ext>
            </a:extLst>
          </p:cNvPr>
          <p:cNvSpPr txBox="1"/>
          <p:nvPr/>
        </p:nvSpPr>
        <p:spPr>
          <a:xfrm rot="18806356">
            <a:off x="9887311" y="333079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813795100"/>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5156</TotalTime>
  <Words>5413</Words>
  <Application>Microsoft Office PowerPoint</Application>
  <PresentationFormat>Widescreen</PresentationFormat>
  <Paragraphs>373</Paragraphs>
  <Slides>42</Slides>
  <Notes>19</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42</vt:i4>
      </vt:variant>
    </vt:vector>
  </HeadingPairs>
  <TitlesOfParts>
    <vt:vector size="54" baseType="lpstr">
      <vt:lpstr>Arial</vt:lpstr>
      <vt:lpstr>Arial Nova Cond Light</vt:lpstr>
      <vt:lpstr>Calibri</vt:lpstr>
      <vt:lpstr>Calibri Light</vt:lpstr>
      <vt:lpstr>Cambria Math</vt:lpstr>
      <vt:lpstr>DejaVu Sans</vt:lpstr>
      <vt:lpstr>Mathematica3</vt:lpstr>
      <vt:lpstr>Times New Roman</vt:lpstr>
      <vt:lpstr>Wingdings</vt:lpstr>
      <vt:lpstr>Motyw pakietu Office</vt:lpstr>
      <vt:lpstr>1_Motyw pakietu Office</vt:lpstr>
      <vt:lpstr>Obraz - mapa bitowa</vt:lpstr>
      <vt:lpstr>PowerPoint Presentation</vt:lpstr>
      <vt:lpstr>Monte Carlo simulation</vt:lpstr>
      <vt:lpstr>Monte Carlo simulation</vt:lpstr>
      <vt:lpstr>Monte Carlo simulation</vt:lpstr>
      <vt:lpstr>MC Solving mathematical problems</vt:lpstr>
      <vt:lpstr>How to find π - play dart </vt:lpstr>
      <vt:lpstr>How to find π  Solution: play dart in R [ script: pi_MC.R] </vt:lpstr>
      <vt:lpstr>MC simulation</vt:lpstr>
      <vt:lpstr>Prehistory of MC    The social game "Buffon needle"</vt:lpstr>
      <vt:lpstr>Prehistory of MC  The old scientific demonstration "Buffon needle"</vt:lpstr>
      <vt:lpstr>Task MC simulation (at home - R) </vt:lpstr>
      <vt:lpstr>Task MC simulation (at home - 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Stochastic dominance on order 1 - 4</vt:lpstr>
      <vt:lpstr>Stochastic dominance on order 1, 2 </vt:lpstr>
      <vt:lpstr>Stochastic dominance on order 1 - 4</vt:lpstr>
      <vt:lpstr>How to apply the first-order stochastic dominance to measure inequality (bank.acount.R)</vt:lpstr>
      <vt:lpstr>Value at Risk part 2 </vt:lpstr>
      <vt:lpstr>Value at Risk</vt:lpstr>
      <vt:lpstr>Value at Risk</vt:lpstr>
      <vt:lpstr>Bootstrapping</vt:lpstr>
      <vt:lpstr>Bootstrapping </vt:lpstr>
      <vt:lpstr>Bootstrapping</vt:lpstr>
      <vt:lpstr>Bootstrapping</vt:lpstr>
      <vt:lpstr>Bootstrapping</vt:lpstr>
      <vt:lpstr>Bootstrapping - topic contest/task</vt:lpstr>
      <vt:lpstr>Bootstrapping on our lectures</vt:lpstr>
      <vt:lpstr>Bootstrapping - the old explanantion</vt:lpstr>
      <vt:lpstr>Bootstrapping - - the old explanantion</vt:lpstr>
      <vt:lpstr>Bootstrapping - the old explanantion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Tomasz Kopczewski</dc:creator>
  <cp:lastModifiedBy>Tomasz Kopczewski</cp:lastModifiedBy>
  <cp:revision>128</cp:revision>
  <dcterms:created xsi:type="dcterms:W3CDTF">2020-11-01T07:26:25Z</dcterms:created>
  <dcterms:modified xsi:type="dcterms:W3CDTF">2024-12-15T11:37:22Z</dcterms:modified>
</cp:coreProperties>
</file>