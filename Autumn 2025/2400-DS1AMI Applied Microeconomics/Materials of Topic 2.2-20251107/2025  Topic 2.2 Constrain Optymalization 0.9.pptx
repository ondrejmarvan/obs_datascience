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3" r:id="rId3"/>
  </p:sldMasterIdLst>
  <p:notesMasterIdLst>
    <p:notesMasterId r:id="rId68"/>
  </p:notesMasterIdLst>
  <p:sldIdLst>
    <p:sldId id="257" r:id="rId4"/>
    <p:sldId id="258" r:id="rId5"/>
    <p:sldId id="259" r:id="rId6"/>
    <p:sldId id="503" r:id="rId7"/>
    <p:sldId id="434" r:id="rId8"/>
    <p:sldId id="502" r:id="rId9"/>
    <p:sldId id="260" r:id="rId10"/>
    <p:sldId id="261" r:id="rId11"/>
    <p:sldId id="262" r:id="rId12"/>
    <p:sldId id="264" r:id="rId13"/>
    <p:sldId id="263" r:id="rId14"/>
    <p:sldId id="265" r:id="rId15"/>
    <p:sldId id="300" r:id="rId16"/>
    <p:sldId id="442" r:id="rId17"/>
    <p:sldId id="307" r:id="rId18"/>
    <p:sldId id="301" r:id="rId19"/>
    <p:sldId id="266" r:id="rId20"/>
    <p:sldId id="267" r:id="rId21"/>
    <p:sldId id="269" r:id="rId22"/>
    <p:sldId id="305" r:id="rId23"/>
    <p:sldId id="473" r:id="rId24"/>
    <p:sldId id="306" r:id="rId25"/>
    <p:sldId id="302" r:id="rId26"/>
    <p:sldId id="303" r:id="rId27"/>
    <p:sldId id="304" r:id="rId28"/>
    <p:sldId id="268" r:id="rId29"/>
    <p:sldId id="474" r:id="rId30"/>
    <p:sldId id="308" r:id="rId31"/>
    <p:sldId id="309" r:id="rId32"/>
    <p:sldId id="441" r:id="rId33"/>
    <p:sldId id="443" r:id="rId34"/>
    <p:sldId id="475" r:id="rId35"/>
    <p:sldId id="476" r:id="rId36"/>
    <p:sldId id="477" r:id="rId37"/>
    <p:sldId id="478" r:id="rId38"/>
    <p:sldId id="479" r:id="rId39"/>
    <p:sldId id="485" r:id="rId40"/>
    <p:sldId id="483" r:id="rId41"/>
    <p:sldId id="486" r:id="rId42"/>
    <p:sldId id="487" r:id="rId43"/>
    <p:sldId id="313" r:id="rId44"/>
    <p:sldId id="316" r:id="rId45"/>
    <p:sldId id="346" r:id="rId46"/>
    <p:sldId id="360" r:id="rId47"/>
    <p:sldId id="365" r:id="rId48"/>
    <p:sldId id="366" r:id="rId49"/>
    <p:sldId id="472" r:id="rId50"/>
    <p:sldId id="488" r:id="rId51"/>
    <p:sldId id="369" r:id="rId52"/>
    <p:sldId id="379" r:id="rId53"/>
    <p:sldId id="468" r:id="rId54"/>
    <p:sldId id="489" r:id="rId55"/>
    <p:sldId id="490" r:id="rId56"/>
    <p:sldId id="491" r:id="rId57"/>
    <p:sldId id="492" r:id="rId58"/>
    <p:sldId id="493" r:id="rId59"/>
    <p:sldId id="494" r:id="rId60"/>
    <p:sldId id="495" r:id="rId61"/>
    <p:sldId id="496" r:id="rId62"/>
    <p:sldId id="498" r:id="rId63"/>
    <p:sldId id="499" r:id="rId64"/>
    <p:sldId id="501" r:id="rId65"/>
    <p:sldId id="497" r:id="rId66"/>
    <p:sldId id="500" r:id="rId67"/>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920" autoAdjust="0"/>
    <p:restoredTop sz="94660"/>
  </p:normalViewPr>
  <p:slideViewPr>
    <p:cSldViewPr snapToGrid="0">
      <p:cViewPr>
        <p:scale>
          <a:sx n="72" d="100"/>
          <a:sy n="72" d="100"/>
        </p:scale>
        <p:origin x="456" y="2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notesMaster" Target="notesMasters/notesMaster1.xml"/><Relationship Id="rId7" Type="http://schemas.openxmlformats.org/officeDocument/2006/relationships/slide" Target="slides/slide4.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FA05C4-18EF-45CF-8281-DA8B9BEFF133}" type="datetimeFigureOut">
              <a:rPr lang="pl-PL" smtClean="0"/>
              <a:t>16.10.2025</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ED9445-EBC1-4249-8163-EE6D6444D4D8}" type="slidenum">
              <a:rPr lang="pl-PL" smtClean="0"/>
              <a:t>‹#›</a:t>
            </a:fld>
            <a:endParaRPr lang="pl-PL"/>
          </a:p>
        </p:txBody>
      </p:sp>
    </p:spTree>
    <p:extLst>
      <p:ext uri="{BB962C8B-B14F-4D97-AF65-F5344CB8AC3E}">
        <p14:creationId xmlns:p14="http://schemas.microsoft.com/office/powerpoint/2010/main" val="2356353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CustomShape 1"/>
          <p:cNvSpPr/>
          <p:nvPr/>
        </p:nvSpPr>
        <p:spPr>
          <a:xfrm>
            <a:off x="710406" y="4861441"/>
            <a:ext cx="5682505" cy="4604770"/>
          </a:xfrm>
          <a:prstGeom prst="rect">
            <a:avLst/>
          </a:prstGeom>
          <a:noFill/>
          <a:ln>
            <a:noFill/>
          </a:ln>
        </p:spPr>
        <p:style>
          <a:lnRef idx="0">
            <a:scrgbClr r="0" g="0" b="0"/>
          </a:lnRef>
          <a:fillRef idx="0">
            <a:scrgbClr r="0" g="0" b="0"/>
          </a:fillRef>
          <a:effectRef idx="0">
            <a:scrgbClr r="0" g="0" b="0"/>
          </a:effectRef>
          <a:fontRef idx="minor"/>
        </p:style>
      </p:sp>
      <p:sp>
        <p:nvSpPr>
          <p:cNvPr id="360" name="CustomShape 2"/>
          <p:cNvSpPr/>
          <p:nvPr/>
        </p:nvSpPr>
        <p:spPr>
          <a:xfrm>
            <a:off x="4024144" y="9721270"/>
            <a:ext cx="3077681" cy="510925"/>
          </a:xfrm>
          <a:noFill/>
          <a:ln>
            <a:noFill/>
          </a:ln>
        </p:spPr>
        <p:style>
          <a:lnRef idx="0">
            <a:scrgbClr r="0" g="0" b="0"/>
          </a:lnRef>
          <a:fillRef idx="0">
            <a:scrgbClr r="0" g="0" b="0"/>
          </a:fillRef>
          <a:effectRef idx="0">
            <a:scrgbClr r="0" g="0" b="0"/>
          </a:effectRef>
          <a:fontRef idx="minor"/>
        </p:style>
        <p:txBody>
          <a:bodyPr lIns="97515" tIns="50708" rIns="97515" bIns="50708" anchor="b"/>
          <a:lstStyle/>
          <a:p>
            <a:pPr marL="0" marR="0" lvl="0" indent="0" algn="r" defTabSz="990752" rtl="0" eaLnBrk="1" fontAlgn="auto" latinLnBrk="0" hangingPunct="1">
              <a:lnSpc>
                <a:spcPct val="100000"/>
              </a:lnSpc>
              <a:spcBef>
                <a:spcPts val="0"/>
              </a:spcBef>
              <a:spcAft>
                <a:spcPts val="0"/>
              </a:spcAft>
              <a:buClrTx/>
              <a:buSzTx/>
              <a:buFontTx/>
              <a:buNone/>
              <a:tabLst/>
              <a:defRPr/>
            </a:pPr>
            <a:fld id="{4E0B3056-6199-4CEC-8658-E5219D62B358}" type="slidenum">
              <a:rPr kumimoji="0" lang="pl-PL" sz="1300" b="0" i="0" u="none" strike="noStrike" kern="1200" cap="none" spc="-1" normalizeH="0" baseline="0" noProof="0">
                <a:ln>
                  <a:noFill/>
                </a:ln>
                <a:solidFill>
                  <a:srgbClr val="000000"/>
                </a:solidFill>
                <a:effectLst/>
                <a:uLnTx/>
                <a:uFill>
                  <a:solidFill>
                    <a:srgbClr val="FFFFFF"/>
                  </a:solidFill>
                </a:uFill>
                <a:latin typeface="Calibri"/>
                <a:ea typeface="DejaVu Sans"/>
                <a:cs typeface="DejaVu Sans"/>
              </a:rPr>
              <a:pPr marL="0" marR="0" lvl="0" indent="0" algn="r" defTabSz="990752" rtl="0" eaLnBrk="1" fontAlgn="auto" latinLnBrk="0" hangingPunct="1">
                <a:lnSpc>
                  <a:spcPct val="100000"/>
                </a:lnSpc>
                <a:spcBef>
                  <a:spcPts val="0"/>
                </a:spcBef>
                <a:spcAft>
                  <a:spcPts val="0"/>
                </a:spcAft>
                <a:buClrTx/>
                <a:buSzTx/>
                <a:buFontTx/>
                <a:buNone/>
                <a:tabLst/>
                <a:defRPr/>
              </a:pPr>
              <a:t>1</a:t>
            </a:fld>
            <a:endParaRPr kumimoji="0" sz="2000" b="0" i="0" u="none" strike="noStrike" kern="1200" cap="none" spc="0" normalizeH="0" baseline="0" noProof="0">
              <a:ln>
                <a:noFill/>
              </a:ln>
              <a:solidFill>
                <a:prstClr val="black"/>
              </a:solidFill>
              <a:effectLst/>
              <a:uLnTx/>
              <a:uFillTx/>
              <a:latin typeface="Arial"/>
              <a:ea typeface="DejaVu Sans"/>
              <a:cs typeface="DejaVu Sans"/>
            </a:endParaRPr>
          </a:p>
        </p:txBody>
      </p:sp>
    </p:spTree>
    <p:extLst>
      <p:ext uri="{BB962C8B-B14F-4D97-AF65-F5344CB8AC3E}">
        <p14:creationId xmlns:p14="http://schemas.microsoft.com/office/powerpoint/2010/main" val="3797949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85F2BB-8411-493C-A7E0-04A5807F636E}" type="slidenum">
              <a:rPr kumimoji="0" lang="pl-PL"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pl-PL" sz="1200" b="0" i="0" u="none" strike="noStrike" kern="1200" cap="none" spc="0" normalizeH="0" baseline="0" noProof="0">
              <a:ln>
                <a:noFill/>
              </a:ln>
              <a:solidFill>
                <a:prstClr val="black"/>
              </a:solidFill>
              <a:effectLst/>
              <a:uLnTx/>
              <a:uFillTx/>
              <a:latin typeface="Calibri"/>
              <a:ea typeface="+mn-ea"/>
              <a:cs typeface="+mn-cs"/>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453809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85F2BB-8411-493C-A7E0-04A5807F636E}" type="slidenum">
              <a:rPr kumimoji="0" lang="pl-PL"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pl-PL" sz="1200" b="0" i="0" u="none" strike="noStrike" kern="1200" cap="none" spc="0" normalizeH="0" baseline="0" noProof="0">
              <a:ln>
                <a:noFill/>
              </a:ln>
              <a:solidFill>
                <a:prstClr val="black"/>
              </a:solidFill>
              <a:effectLst/>
              <a:uLnTx/>
              <a:uFillTx/>
              <a:latin typeface="Calibri"/>
              <a:ea typeface="+mn-ea"/>
              <a:cs typeface="+mn-cs"/>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19130771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ymbol zastępczy obrazu slajdu 1"/>
          <p:cNvSpPr>
            <a:spLocks noGrp="1" noRot="1" noChangeAspect="1"/>
          </p:cNvSpPr>
          <p:nvPr>
            <p:ph type="sldImg"/>
          </p:nvPr>
        </p:nvSpPr>
        <p:spPr bwMode="auto">
          <a:xfrm>
            <a:off x="139700" y="768350"/>
            <a:ext cx="6819900" cy="38369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Symbol zastępczy notatek 2"/>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p>
            <a:endParaRPr lang="pl-PL">
              <a:latin typeface="Times New Roman" charset="0"/>
            </a:endParaRPr>
          </a:p>
        </p:txBody>
      </p:sp>
    </p:spTree>
    <p:extLst>
      <p:ext uri="{BB962C8B-B14F-4D97-AF65-F5344CB8AC3E}">
        <p14:creationId xmlns:p14="http://schemas.microsoft.com/office/powerpoint/2010/main" val="64563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ymbol zastępczy obrazu slajdu 1"/>
          <p:cNvSpPr>
            <a:spLocks noGrp="1" noRot="1" noChangeAspect="1"/>
          </p:cNvSpPr>
          <p:nvPr>
            <p:ph type="sldImg"/>
          </p:nvPr>
        </p:nvSpPr>
        <p:spPr bwMode="auto">
          <a:xfrm>
            <a:off x="139700" y="768350"/>
            <a:ext cx="6819900" cy="38369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95235" name="Symbol zastępczy notatek 2"/>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p>
            <a:endParaRPr lang="pl-PL">
              <a:latin typeface="Times New Roman" charset="0"/>
            </a:endParaRPr>
          </a:p>
        </p:txBody>
      </p:sp>
      <p:sp>
        <p:nvSpPr>
          <p:cNvPr id="95236" name="Symbol zastępczy numeru slajdu 3"/>
          <p:cNvSpPr>
            <a:spLocks noGrp="1"/>
          </p:cNvSpPr>
          <p:nvPr>
            <p:ph type="sldNum" sz="quarter" idx="4294967295"/>
          </p:nvPr>
        </p:nvSpPr>
        <p:spPr bwMode="auto">
          <a:xfrm>
            <a:off x="4021138" y="9721850"/>
            <a:ext cx="3076575" cy="5111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lvl1pPr eaLnBrk="0" hangingPunct="0">
              <a:defRPr sz="3200" b="1">
                <a:solidFill>
                  <a:schemeClr val="tx1"/>
                </a:solidFill>
                <a:latin typeface="Arial" charset="0"/>
              </a:defRPr>
            </a:lvl1pPr>
            <a:lvl2pPr marL="742950" indent="-285750" eaLnBrk="0" hangingPunct="0">
              <a:defRPr sz="3200" b="1">
                <a:solidFill>
                  <a:schemeClr val="tx1"/>
                </a:solidFill>
                <a:latin typeface="Arial" charset="0"/>
              </a:defRPr>
            </a:lvl2pPr>
            <a:lvl3pPr marL="1143000" indent="-228600" eaLnBrk="0" hangingPunct="0">
              <a:defRPr sz="3200" b="1">
                <a:solidFill>
                  <a:schemeClr val="tx1"/>
                </a:solidFill>
                <a:latin typeface="Arial" charset="0"/>
              </a:defRPr>
            </a:lvl3pPr>
            <a:lvl4pPr marL="1600200" indent="-228600" eaLnBrk="0" hangingPunct="0">
              <a:defRPr sz="3200" b="1">
                <a:solidFill>
                  <a:schemeClr val="tx1"/>
                </a:solidFill>
                <a:latin typeface="Arial" charset="0"/>
              </a:defRPr>
            </a:lvl4pPr>
            <a:lvl5pPr marL="2057400" indent="-228600" eaLnBrk="0" hangingPunct="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fld id="{488BDF1D-A1F6-4A98-BD55-DC94DCB83C7A}" type="slidenum">
              <a:rPr lang="pl-PL" sz="3500"/>
              <a:pPr/>
              <a:t>42</a:t>
            </a:fld>
            <a:endParaRPr lang="pl-PL" sz="3500"/>
          </a:p>
        </p:txBody>
      </p:sp>
    </p:spTree>
    <p:extLst>
      <p:ext uri="{BB962C8B-B14F-4D97-AF65-F5344CB8AC3E}">
        <p14:creationId xmlns:p14="http://schemas.microsoft.com/office/powerpoint/2010/main" val="9231047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ymbol zastępczy obrazu slajdu 1">
            <a:extLst>
              <a:ext uri="{FF2B5EF4-FFF2-40B4-BE49-F238E27FC236}">
                <a16:creationId xmlns:a16="http://schemas.microsoft.com/office/drawing/2014/main" id="{FD7D57EB-AEDB-8BE9-5C90-DABF0934E1EC}"/>
              </a:ext>
            </a:extLst>
          </p:cNvPr>
          <p:cNvSpPr>
            <a:spLocks noGrp="1" noRot="1" noChangeAspect="1"/>
          </p:cNvSpPr>
          <p:nvPr>
            <p:ph type="sldImg"/>
          </p:nvPr>
        </p:nvSpPr>
        <p:spPr bwMode="auto">
          <a:xfrm>
            <a:off x="139700" y="768350"/>
            <a:ext cx="6819900" cy="38369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Symbol zastępczy notatek 2">
            <a:extLst>
              <a:ext uri="{FF2B5EF4-FFF2-40B4-BE49-F238E27FC236}">
                <a16:creationId xmlns:a16="http://schemas.microsoft.com/office/drawing/2014/main" id="{51FF375C-E6AA-E4CB-62CE-F25C1A8F6FB8}"/>
              </a:ext>
            </a:extLst>
          </p:cNvPr>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p>
            <a:endParaRPr lang="pl-PL" altLang="pl-PL">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ymbol zastępczy obrazu slajdu 1">
            <a:extLst>
              <a:ext uri="{FF2B5EF4-FFF2-40B4-BE49-F238E27FC236}">
                <a16:creationId xmlns:a16="http://schemas.microsoft.com/office/drawing/2014/main" id="{0E509FD0-B594-04E3-3AF8-AF32EB0497B0}"/>
              </a:ext>
            </a:extLst>
          </p:cNvPr>
          <p:cNvSpPr>
            <a:spLocks noGrp="1" noRot="1" noChangeAspect="1"/>
          </p:cNvSpPr>
          <p:nvPr>
            <p:ph type="sldImg"/>
          </p:nvPr>
        </p:nvSpPr>
        <p:spPr bwMode="auto">
          <a:xfrm>
            <a:off x="139700" y="768350"/>
            <a:ext cx="6819900" cy="38369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Symbol zastępczy notatek 2">
            <a:extLst>
              <a:ext uri="{FF2B5EF4-FFF2-40B4-BE49-F238E27FC236}">
                <a16:creationId xmlns:a16="http://schemas.microsoft.com/office/drawing/2014/main" id="{13F58B9B-8870-EB76-9AAB-1259AA6FC586}"/>
              </a:ext>
            </a:extLst>
          </p:cNvPr>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p>
            <a:endParaRPr lang="pl-PL" altLang="pl-PL">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ymbol zastępczy obrazu slajdu 1">
            <a:extLst>
              <a:ext uri="{FF2B5EF4-FFF2-40B4-BE49-F238E27FC236}">
                <a16:creationId xmlns:a16="http://schemas.microsoft.com/office/drawing/2014/main" id="{D19F5D94-604A-A287-604B-6B9809E904C5}"/>
              </a:ext>
            </a:extLst>
          </p:cNvPr>
          <p:cNvSpPr>
            <a:spLocks noGrp="1" noRot="1" noChangeAspect="1"/>
          </p:cNvSpPr>
          <p:nvPr>
            <p:ph type="sldImg"/>
          </p:nvPr>
        </p:nvSpPr>
        <p:spPr bwMode="auto">
          <a:xfrm>
            <a:off x="139700" y="768350"/>
            <a:ext cx="6819900" cy="38369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Symbol zastępczy notatek 2">
            <a:extLst>
              <a:ext uri="{FF2B5EF4-FFF2-40B4-BE49-F238E27FC236}">
                <a16:creationId xmlns:a16="http://schemas.microsoft.com/office/drawing/2014/main" id="{E5C3003B-FC27-CAC9-B846-8B30EB2C95AE}"/>
              </a:ext>
            </a:extLst>
          </p:cNvPr>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p>
            <a:endParaRPr lang="pl-PL" altLang="pl-PL">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ymbol zastępczy obrazu slajdu 1">
            <a:extLst>
              <a:ext uri="{FF2B5EF4-FFF2-40B4-BE49-F238E27FC236}">
                <a16:creationId xmlns:a16="http://schemas.microsoft.com/office/drawing/2014/main" id="{CB06076F-3A25-F4E9-4A2E-31B6F927BF79}"/>
              </a:ext>
            </a:extLst>
          </p:cNvPr>
          <p:cNvSpPr>
            <a:spLocks noGrp="1" noRot="1" noChangeAspect="1"/>
          </p:cNvSpPr>
          <p:nvPr>
            <p:ph type="sldImg"/>
          </p:nvPr>
        </p:nvSpPr>
        <p:spPr bwMode="auto">
          <a:xfrm>
            <a:off x="139700" y="768350"/>
            <a:ext cx="6819900" cy="38369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Symbol zastępczy notatek 2">
            <a:extLst>
              <a:ext uri="{FF2B5EF4-FFF2-40B4-BE49-F238E27FC236}">
                <a16:creationId xmlns:a16="http://schemas.microsoft.com/office/drawing/2014/main" id="{BC783693-F73C-B242-D5DB-E7AAA46A2661}"/>
              </a:ext>
            </a:extLst>
          </p:cNvPr>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p>
            <a:endParaRPr lang="pl-PL" altLang="pl-PL">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A8C76-84D3-CC0A-598D-EE66B6009D5D}"/>
            </a:ext>
          </a:extLst>
        </p:cNvPr>
        <p:cNvGrpSpPr/>
        <p:nvPr/>
      </p:nvGrpSpPr>
      <p:grpSpPr>
        <a:xfrm>
          <a:off x="0" y="0"/>
          <a:ext cx="0" cy="0"/>
          <a:chOff x="0" y="0"/>
          <a:chExt cx="0" cy="0"/>
        </a:xfrm>
      </p:grpSpPr>
      <p:sp>
        <p:nvSpPr>
          <p:cNvPr id="50178" name="Symbol zastępczy obrazu slajdu 1">
            <a:extLst>
              <a:ext uri="{FF2B5EF4-FFF2-40B4-BE49-F238E27FC236}">
                <a16:creationId xmlns:a16="http://schemas.microsoft.com/office/drawing/2014/main" id="{51BB2558-4A95-771E-A765-B30A393EA382}"/>
              </a:ext>
            </a:extLst>
          </p:cNvPr>
          <p:cNvSpPr>
            <a:spLocks noGrp="1" noRot="1" noChangeAspect="1"/>
          </p:cNvSpPr>
          <p:nvPr>
            <p:ph type="sldImg"/>
          </p:nvPr>
        </p:nvSpPr>
        <p:spPr bwMode="auto">
          <a:xfrm>
            <a:off x="139700" y="768350"/>
            <a:ext cx="6819900" cy="38369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Symbol zastępczy notatek 2">
            <a:extLst>
              <a:ext uri="{FF2B5EF4-FFF2-40B4-BE49-F238E27FC236}">
                <a16:creationId xmlns:a16="http://schemas.microsoft.com/office/drawing/2014/main" id="{645A4282-2C4B-9F8D-F0F8-63838C53F836}"/>
              </a:ext>
            </a:extLst>
          </p:cNvPr>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p>
            <a:endParaRPr lang="pl-PL" altLang="pl-PL">
              <a:latin typeface="Times New Roman" panose="02020603050405020304" pitchFamily="18" charset="0"/>
            </a:endParaRPr>
          </a:p>
        </p:txBody>
      </p:sp>
    </p:spTree>
    <p:extLst>
      <p:ext uri="{BB962C8B-B14F-4D97-AF65-F5344CB8AC3E}">
        <p14:creationId xmlns:p14="http://schemas.microsoft.com/office/powerpoint/2010/main" val="1767402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ymbol zastępczy obrazu slajdu 1">
            <a:extLst>
              <a:ext uri="{FF2B5EF4-FFF2-40B4-BE49-F238E27FC236}">
                <a16:creationId xmlns:a16="http://schemas.microsoft.com/office/drawing/2014/main" id="{913B089B-6360-4BDE-D675-41D2C130FCF5}"/>
              </a:ext>
            </a:extLst>
          </p:cNvPr>
          <p:cNvSpPr>
            <a:spLocks noGrp="1" noRot="1" noChangeAspect="1"/>
          </p:cNvSpPr>
          <p:nvPr>
            <p:ph type="sldImg"/>
          </p:nvPr>
        </p:nvSpPr>
        <p:spPr bwMode="auto">
          <a:xfrm>
            <a:off x="139700" y="768350"/>
            <a:ext cx="6819900" cy="38369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Symbol zastępczy notatek 2">
            <a:extLst>
              <a:ext uri="{FF2B5EF4-FFF2-40B4-BE49-F238E27FC236}">
                <a16:creationId xmlns:a16="http://schemas.microsoft.com/office/drawing/2014/main" id="{EF1DCB03-4CE3-07DA-EEDE-615A483BC43A}"/>
              </a:ext>
            </a:extLst>
          </p:cNvPr>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p>
            <a:endParaRPr lang="pl-PL" altLang="pl-PL">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ymbol zastępczy obrazu slajdu 1">
            <a:extLst>
              <a:ext uri="{FF2B5EF4-FFF2-40B4-BE49-F238E27FC236}">
                <a16:creationId xmlns:a16="http://schemas.microsoft.com/office/drawing/2014/main" id="{42B02450-F95C-BC52-F8B5-A5358D9010A6}"/>
              </a:ext>
            </a:extLst>
          </p:cNvPr>
          <p:cNvSpPr>
            <a:spLocks noGrp="1" noRot="1" noChangeAspect="1"/>
          </p:cNvSpPr>
          <p:nvPr>
            <p:ph type="sldImg"/>
          </p:nvPr>
        </p:nvSpPr>
        <p:spPr bwMode="auto">
          <a:xfrm>
            <a:off x="139700" y="768350"/>
            <a:ext cx="6819900" cy="38369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60419" name="Symbol zastępczy notatek 2">
            <a:extLst>
              <a:ext uri="{FF2B5EF4-FFF2-40B4-BE49-F238E27FC236}">
                <a16:creationId xmlns:a16="http://schemas.microsoft.com/office/drawing/2014/main" id="{168186A5-D61E-30B5-0D7E-3E4CDD56F769}"/>
              </a:ext>
            </a:extLst>
          </p:cNvPr>
          <p:cNvSpPr>
            <a:spLocks noGrp="1"/>
          </p:cNvSpPr>
          <p:nvPr>
            <p:ph type="body" idx="1"/>
          </p:nvPr>
        </p:nvSpPr>
        <p:spPr bwMode="auto">
          <a:xfrm>
            <a:off x="709613" y="4860925"/>
            <a:ext cx="5680075" cy="46053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p>
            <a:endParaRPr lang="pl-PL" altLang="pl-PL">
              <a:latin typeface="Times New Roman" panose="02020603050405020304" pitchFamily="18" charset="0"/>
            </a:endParaRPr>
          </a:p>
        </p:txBody>
      </p:sp>
      <p:sp>
        <p:nvSpPr>
          <p:cNvPr id="60420" name="Symbol zastępczy numeru slajdu 3">
            <a:extLst>
              <a:ext uri="{FF2B5EF4-FFF2-40B4-BE49-F238E27FC236}">
                <a16:creationId xmlns:a16="http://schemas.microsoft.com/office/drawing/2014/main" id="{49799519-F34F-9560-2441-485C4B5FC3DA}"/>
              </a:ext>
            </a:extLst>
          </p:cNvPr>
          <p:cNvSpPr>
            <a:spLocks noGrp="1"/>
          </p:cNvSpPr>
          <p:nvPr>
            <p:ph type="sldNum" sz="quarter" idx="4294967295"/>
          </p:nvPr>
        </p:nvSpPr>
        <p:spPr bwMode="auto">
          <a:xfrm>
            <a:off x="4021138" y="9721850"/>
            <a:ext cx="3076575" cy="5111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lstStyle>
            <a:lvl1pPr>
              <a:defRPr sz="2800" b="1">
                <a:solidFill>
                  <a:schemeClr val="tx1"/>
                </a:solidFill>
                <a:latin typeface="Arial" panose="020B0604020202020204" pitchFamily="34" charset="0"/>
              </a:defRPr>
            </a:lvl1pPr>
            <a:lvl2pPr marL="742950" indent="-285750">
              <a:defRPr sz="2800" b="1">
                <a:solidFill>
                  <a:schemeClr val="tx1"/>
                </a:solidFill>
                <a:latin typeface="Arial" panose="020B0604020202020204" pitchFamily="34" charset="0"/>
              </a:defRPr>
            </a:lvl2pPr>
            <a:lvl3pPr marL="1143000" indent="-228600">
              <a:defRPr sz="2800" b="1">
                <a:solidFill>
                  <a:schemeClr val="tx1"/>
                </a:solidFill>
                <a:latin typeface="Arial" panose="020B0604020202020204" pitchFamily="34" charset="0"/>
              </a:defRPr>
            </a:lvl3pPr>
            <a:lvl4pPr marL="1600200" indent="-228600">
              <a:defRPr sz="2800" b="1">
                <a:solidFill>
                  <a:schemeClr val="tx1"/>
                </a:solidFill>
                <a:latin typeface="Arial" panose="020B0604020202020204" pitchFamily="34" charset="0"/>
              </a:defRPr>
            </a:lvl4pPr>
            <a:lvl5pPr marL="2057400" indent="-228600">
              <a:defRPr sz="2800" b="1">
                <a:solidFill>
                  <a:schemeClr val="tx1"/>
                </a:solidFill>
                <a:latin typeface="Arial" panose="020B0604020202020204" pitchFamily="34" charset="0"/>
              </a:defRPr>
            </a:lvl5pPr>
            <a:lvl6pPr marL="2514600" indent="-228600" eaLnBrk="0" fontAlgn="base" hangingPunct="0">
              <a:spcBef>
                <a:spcPct val="0"/>
              </a:spcBef>
              <a:spcAft>
                <a:spcPct val="0"/>
              </a:spcAft>
              <a:defRPr sz="2800" b="1">
                <a:solidFill>
                  <a:schemeClr val="tx1"/>
                </a:solidFill>
                <a:latin typeface="Arial" panose="020B0604020202020204" pitchFamily="34" charset="0"/>
              </a:defRPr>
            </a:lvl6pPr>
            <a:lvl7pPr marL="2971800" indent="-228600" eaLnBrk="0" fontAlgn="base" hangingPunct="0">
              <a:spcBef>
                <a:spcPct val="0"/>
              </a:spcBef>
              <a:spcAft>
                <a:spcPct val="0"/>
              </a:spcAft>
              <a:defRPr sz="2800" b="1">
                <a:solidFill>
                  <a:schemeClr val="tx1"/>
                </a:solidFill>
                <a:latin typeface="Arial" panose="020B0604020202020204" pitchFamily="34" charset="0"/>
              </a:defRPr>
            </a:lvl7pPr>
            <a:lvl8pPr marL="3429000" indent="-228600" eaLnBrk="0" fontAlgn="base" hangingPunct="0">
              <a:spcBef>
                <a:spcPct val="0"/>
              </a:spcBef>
              <a:spcAft>
                <a:spcPct val="0"/>
              </a:spcAft>
              <a:defRPr sz="2800" b="1">
                <a:solidFill>
                  <a:schemeClr val="tx1"/>
                </a:solidFill>
                <a:latin typeface="Arial" panose="020B0604020202020204" pitchFamily="34" charset="0"/>
              </a:defRPr>
            </a:lvl8pPr>
            <a:lvl9pPr marL="3886200" indent="-228600" eaLnBrk="0" fontAlgn="base" hangingPunct="0">
              <a:spcBef>
                <a:spcPct val="0"/>
              </a:spcBef>
              <a:spcAft>
                <a:spcPct val="0"/>
              </a:spcAft>
              <a:defRPr sz="2800" b="1">
                <a:solidFill>
                  <a:schemeClr val="tx1"/>
                </a:solidFill>
                <a:latin typeface="Arial" panose="020B0604020202020204" pitchFamily="34" charset="0"/>
              </a:defRPr>
            </a:lvl9pPr>
          </a:lstStyle>
          <a:p>
            <a:fld id="{BE1643AA-59AA-472F-BACE-5FC6802C7987}" type="slidenum">
              <a:rPr lang="pl-PL" altLang="pl-PL" sz="3000"/>
              <a:pPr/>
              <a:t>50</a:t>
            </a:fld>
            <a:endParaRPr lang="pl-PL" altLang="pl-PL" sz="30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85F2BB-8411-493C-A7E0-04A5807F636E}" type="slidenum">
              <a:rPr kumimoji="0" lang="pl-PL"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pl-PL" sz="1200" b="0" i="0" u="none" strike="noStrike" kern="1200" cap="none" spc="0" normalizeH="0" baseline="0" noProof="0">
              <a:ln>
                <a:noFill/>
              </a:ln>
              <a:solidFill>
                <a:prstClr val="black"/>
              </a:solidFill>
              <a:effectLst/>
              <a:uLnTx/>
              <a:uFillTx/>
              <a:latin typeface="Calibri"/>
              <a:ea typeface="+mn-ea"/>
              <a:cs typeface="+mn-cs"/>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4538091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D7D4-F137-0697-4741-D349AD0A276A}"/>
            </a:ext>
          </a:extLst>
        </p:cNvPr>
        <p:cNvGrpSpPr/>
        <p:nvPr/>
      </p:nvGrpSpPr>
      <p:grpSpPr>
        <a:xfrm>
          <a:off x="0" y="0"/>
          <a:ext cx="0" cy="0"/>
          <a:chOff x="0" y="0"/>
          <a:chExt cx="0" cy="0"/>
        </a:xfrm>
      </p:grpSpPr>
      <p:sp>
        <p:nvSpPr>
          <p:cNvPr id="28674" name="Rectangle 7">
            <a:extLst>
              <a:ext uri="{FF2B5EF4-FFF2-40B4-BE49-F238E27FC236}">
                <a16:creationId xmlns:a16="http://schemas.microsoft.com/office/drawing/2014/main" id="{2592F965-D7BF-BA66-3EB4-995A3BAAF016}"/>
              </a:ext>
            </a:extLst>
          </p:cNvPr>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85F2BB-8411-493C-A7E0-04A5807F636E}" type="slidenum">
              <a:rPr kumimoji="0" lang="pl-PL"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pl-PL" sz="1200" b="0" i="0" u="none" strike="noStrike" kern="1200" cap="none" spc="0" normalizeH="0" baseline="0" noProof="0">
              <a:ln>
                <a:noFill/>
              </a:ln>
              <a:solidFill>
                <a:prstClr val="black"/>
              </a:solidFill>
              <a:effectLst/>
              <a:uLnTx/>
              <a:uFillTx/>
              <a:latin typeface="Calibri"/>
              <a:ea typeface="+mn-ea"/>
              <a:cs typeface="+mn-cs"/>
            </a:endParaRPr>
          </a:p>
        </p:txBody>
      </p:sp>
      <p:sp>
        <p:nvSpPr>
          <p:cNvPr id="28675" name="Rectangle 2">
            <a:extLst>
              <a:ext uri="{FF2B5EF4-FFF2-40B4-BE49-F238E27FC236}">
                <a16:creationId xmlns:a16="http://schemas.microsoft.com/office/drawing/2014/main" id="{C5E25C8D-2E73-E5FF-2E22-743B1F107FBB}"/>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9786F5DF-A291-D223-6F81-3C635CD5A92A}"/>
              </a:ext>
            </a:extLst>
          </p:cNvPr>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36540766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C06C6-832E-35D7-0679-2230928BD522}"/>
            </a:ext>
          </a:extLst>
        </p:cNvPr>
        <p:cNvGrpSpPr/>
        <p:nvPr/>
      </p:nvGrpSpPr>
      <p:grpSpPr>
        <a:xfrm>
          <a:off x="0" y="0"/>
          <a:ext cx="0" cy="0"/>
          <a:chOff x="0" y="0"/>
          <a:chExt cx="0" cy="0"/>
        </a:xfrm>
      </p:grpSpPr>
      <p:sp>
        <p:nvSpPr>
          <p:cNvPr id="28674" name="Rectangle 7">
            <a:extLst>
              <a:ext uri="{FF2B5EF4-FFF2-40B4-BE49-F238E27FC236}">
                <a16:creationId xmlns:a16="http://schemas.microsoft.com/office/drawing/2014/main" id="{68CE4F23-3DC8-FBFE-AACF-53DB969A867C}"/>
              </a:ext>
            </a:extLst>
          </p:cNvPr>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85F2BB-8411-493C-A7E0-04A5807F636E}" type="slidenum">
              <a:rPr kumimoji="0" lang="pl-PL"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pl-PL" sz="1200" b="0" i="0" u="none" strike="noStrike" kern="1200" cap="none" spc="0" normalizeH="0" baseline="0" noProof="0">
              <a:ln>
                <a:noFill/>
              </a:ln>
              <a:solidFill>
                <a:prstClr val="black"/>
              </a:solidFill>
              <a:effectLst/>
              <a:uLnTx/>
              <a:uFillTx/>
              <a:latin typeface="Calibri"/>
              <a:ea typeface="+mn-ea"/>
              <a:cs typeface="+mn-cs"/>
            </a:endParaRPr>
          </a:p>
        </p:txBody>
      </p:sp>
      <p:sp>
        <p:nvSpPr>
          <p:cNvPr id="28675" name="Rectangle 2">
            <a:extLst>
              <a:ext uri="{FF2B5EF4-FFF2-40B4-BE49-F238E27FC236}">
                <a16:creationId xmlns:a16="http://schemas.microsoft.com/office/drawing/2014/main" id="{2705CBEC-CDC7-A70E-7C75-38EE2663D35C}"/>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C30901FE-65E9-408D-9023-9BDA32372571}"/>
              </a:ext>
            </a:extLst>
          </p:cNvPr>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17688278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DC646-BE25-2327-0C2E-AA2B6EAEF4B4}"/>
            </a:ext>
          </a:extLst>
        </p:cNvPr>
        <p:cNvGrpSpPr/>
        <p:nvPr/>
      </p:nvGrpSpPr>
      <p:grpSpPr>
        <a:xfrm>
          <a:off x="0" y="0"/>
          <a:ext cx="0" cy="0"/>
          <a:chOff x="0" y="0"/>
          <a:chExt cx="0" cy="0"/>
        </a:xfrm>
      </p:grpSpPr>
      <p:sp>
        <p:nvSpPr>
          <p:cNvPr id="28674" name="Rectangle 7">
            <a:extLst>
              <a:ext uri="{FF2B5EF4-FFF2-40B4-BE49-F238E27FC236}">
                <a16:creationId xmlns:a16="http://schemas.microsoft.com/office/drawing/2014/main" id="{CA8E8EB3-F4D3-38E2-B422-27024F7F56C7}"/>
              </a:ext>
            </a:extLst>
          </p:cNvPr>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85F2BB-8411-493C-A7E0-04A5807F636E}" type="slidenum">
              <a:rPr kumimoji="0" lang="pl-PL"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pl-PL" sz="1200" b="0" i="0" u="none" strike="noStrike" kern="1200" cap="none" spc="0" normalizeH="0" baseline="0" noProof="0">
              <a:ln>
                <a:noFill/>
              </a:ln>
              <a:solidFill>
                <a:prstClr val="black"/>
              </a:solidFill>
              <a:effectLst/>
              <a:uLnTx/>
              <a:uFillTx/>
              <a:latin typeface="Calibri"/>
              <a:ea typeface="+mn-ea"/>
              <a:cs typeface="+mn-cs"/>
            </a:endParaRPr>
          </a:p>
        </p:txBody>
      </p:sp>
      <p:sp>
        <p:nvSpPr>
          <p:cNvPr id="28675" name="Rectangle 2">
            <a:extLst>
              <a:ext uri="{FF2B5EF4-FFF2-40B4-BE49-F238E27FC236}">
                <a16:creationId xmlns:a16="http://schemas.microsoft.com/office/drawing/2014/main" id="{706E88CB-3D7B-43CC-1A9D-770396E9245D}"/>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624C98F0-9B6A-F77D-F8B0-23883DF5464D}"/>
              </a:ext>
            </a:extLst>
          </p:cNvPr>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36912353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44A75-025A-C4B2-AB67-3F8854372A65}"/>
            </a:ext>
          </a:extLst>
        </p:cNvPr>
        <p:cNvGrpSpPr/>
        <p:nvPr/>
      </p:nvGrpSpPr>
      <p:grpSpPr>
        <a:xfrm>
          <a:off x="0" y="0"/>
          <a:ext cx="0" cy="0"/>
          <a:chOff x="0" y="0"/>
          <a:chExt cx="0" cy="0"/>
        </a:xfrm>
      </p:grpSpPr>
      <p:sp>
        <p:nvSpPr>
          <p:cNvPr id="28674" name="Rectangle 7">
            <a:extLst>
              <a:ext uri="{FF2B5EF4-FFF2-40B4-BE49-F238E27FC236}">
                <a16:creationId xmlns:a16="http://schemas.microsoft.com/office/drawing/2014/main" id="{9AE22FF0-A844-B15F-3F85-38584BC5D28C}"/>
              </a:ext>
            </a:extLst>
          </p:cNvPr>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85F2BB-8411-493C-A7E0-04A5807F636E}" type="slidenum">
              <a:rPr kumimoji="0" lang="pl-PL"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pl-PL" sz="1200" b="0" i="0" u="none" strike="noStrike" kern="1200" cap="none" spc="0" normalizeH="0" baseline="0" noProof="0">
              <a:ln>
                <a:noFill/>
              </a:ln>
              <a:solidFill>
                <a:prstClr val="black"/>
              </a:solidFill>
              <a:effectLst/>
              <a:uLnTx/>
              <a:uFillTx/>
              <a:latin typeface="Calibri"/>
              <a:ea typeface="+mn-ea"/>
              <a:cs typeface="+mn-cs"/>
            </a:endParaRPr>
          </a:p>
        </p:txBody>
      </p:sp>
      <p:sp>
        <p:nvSpPr>
          <p:cNvPr id="28675" name="Rectangle 2">
            <a:extLst>
              <a:ext uri="{FF2B5EF4-FFF2-40B4-BE49-F238E27FC236}">
                <a16:creationId xmlns:a16="http://schemas.microsoft.com/office/drawing/2014/main" id="{E61774C6-03F0-C560-2C63-1AA55E41292B}"/>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CE53098A-CC4B-4F7B-8885-F2311C0AF1EA}"/>
              </a:ext>
            </a:extLst>
          </p:cNvPr>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18295918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FADAB-77C5-D5C8-10DB-2A90E9046A7D}"/>
            </a:ext>
          </a:extLst>
        </p:cNvPr>
        <p:cNvGrpSpPr/>
        <p:nvPr/>
      </p:nvGrpSpPr>
      <p:grpSpPr>
        <a:xfrm>
          <a:off x="0" y="0"/>
          <a:ext cx="0" cy="0"/>
          <a:chOff x="0" y="0"/>
          <a:chExt cx="0" cy="0"/>
        </a:xfrm>
      </p:grpSpPr>
      <p:sp>
        <p:nvSpPr>
          <p:cNvPr id="28674" name="Rectangle 7">
            <a:extLst>
              <a:ext uri="{FF2B5EF4-FFF2-40B4-BE49-F238E27FC236}">
                <a16:creationId xmlns:a16="http://schemas.microsoft.com/office/drawing/2014/main" id="{F34FF0DD-06EF-0EBC-CB4C-E7D5D007EB2D}"/>
              </a:ext>
            </a:extLst>
          </p:cNvPr>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85F2BB-8411-493C-A7E0-04A5807F636E}" type="slidenum">
              <a:rPr kumimoji="0" lang="pl-PL"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pl-PL" sz="1200" b="0" i="0" u="none" strike="noStrike" kern="1200" cap="none" spc="0" normalizeH="0" baseline="0" noProof="0">
              <a:ln>
                <a:noFill/>
              </a:ln>
              <a:solidFill>
                <a:prstClr val="black"/>
              </a:solidFill>
              <a:effectLst/>
              <a:uLnTx/>
              <a:uFillTx/>
              <a:latin typeface="Calibri"/>
              <a:ea typeface="+mn-ea"/>
              <a:cs typeface="+mn-cs"/>
            </a:endParaRPr>
          </a:p>
        </p:txBody>
      </p:sp>
      <p:sp>
        <p:nvSpPr>
          <p:cNvPr id="28675" name="Rectangle 2">
            <a:extLst>
              <a:ext uri="{FF2B5EF4-FFF2-40B4-BE49-F238E27FC236}">
                <a16:creationId xmlns:a16="http://schemas.microsoft.com/office/drawing/2014/main" id="{2623BB7F-D43F-E45F-9BB6-127BB510CE29}"/>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25A22D53-4A51-813E-5DE1-76AB81ECEF4F}"/>
              </a:ext>
            </a:extLst>
          </p:cNvPr>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21476162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F7A50-DAED-D810-39EF-7EBA4700DB1E}"/>
            </a:ext>
          </a:extLst>
        </p:cNvPr>
        <p:cNvGrpSpPr/>
        <p:nvPr/>
      </p:nvGrpSpPr>
      <p:grpSpPr>
        <a:xfrm>
          <a:off x="0" y="0"/>
          <a:ext cx="0" cy="0"/>
          <a:chOff x="0" y="0"/>
          <a:chExt cx="0" cy="0"/>
        </a:xfrm>
      </p:grpSpPr>
      <p:sp>
        <p:nvSpPr>
          <p:cNvPr id="28674" name="Rectangle 7">
            <a:extLst>
              <a:ext uri="{FF2B5EF4-FFF2-40B4-BE49-F238E27FC236}">
                <a16:creationId xmlns:a16="http://schemas.microsoft.com/office/drawing/2014/main" id="{256733DE-A118-0EDD-F457-E2D7673ED08D}"/>
              </a:ext>
            </a:extLst>
          </p:cNvPr>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85F2BB-8411-493C-A7E0-04A5807F636E}" type="slidenum">
              <a:rPr kumimoji="0" lang="pl-PL"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pl-PL" sz="1200" b="0" i="0" u="none" strike="noStrike" kern="1200" cap="none" spc="0" normalizeH="0" baseline="0" noProof="0">
              <a:ln>
                <a:noFill/>
              </a:ln>
              <a:solidFill>
                <a:prstClr val="black"/>
              </a:solidFill>
              <a:effectLst/>
              <a:uLnTx/>
              <a:uFillTx/>
              <a:latin typeface="Calibri"/>
              <a:ea typeface="+mn-ea"/>
              <a:cs typeface="+mn-cs"/>
            </a:endParaRPr>
          </a:p>
        </p:txBody>
      </p:sp>
      <p:sp>
        <p:nvSpPr>
          <p:cNvPr id="28675" name="Rectangle 2">
            <a:extLst>
              <a:ext uri="{FF2B5EF4-FFF2-40B4-BE49-F238E27FC236}">
                <a16:creationId xmlns:a16="http://schemas.microsoft.com/office/drawing/2014/main" id="{EDE80614-07BF-4807-3AC7-A57607A29EED}"/>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CD97A4D6-BA77-BEE0-40B0-4869EFDD13A2}"/>
              </a:ext>
            </a:extLst>
          </p:cNvPr>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30395308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1D38A-FA7E-6E36-2F6B-9E8237405456}"/>
            </a:ext>
          </a:extLst>
        </p:cNvPr>
        <p:cNvGrpSpPr/>
        <p:nvPr/>
      </p:nvGrpSpPr>
      <p:grpSpPr>
        <a:xfrm>
          <a:off x="0" y="0"/>
          <a:ext cx="0" cy="0"/>
          <a:chOff x="0" y="0"/>
          <a:chExt cx="0" cy="0"/>
        </a:xfrm>
      </p:grpSpPr>
      <p:sp>
        <p:nvSpPr>
          <p:cNvPr id="28674" name="Rectangle 7">
            <a:extLst>
              <a:ext uri="{FF2B5EF4-FFF2-40B4-BE49-F238E27FC236}">
                <a16:creationId xmlns:a16="http://schemas.microsoft.com/office/drawing/2014/main" id="{0D2442F4-5AE9-BD2E-6139-29D0499B34FC}"/>
              </a:ext>
            </a:extLst>
          </p:cNvPr>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85F2BB-8411-493C-A7E0-04A5807F636E}" type="slidenum">
              <a:rPr kumimoji="0" lang="pl-PL"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pl-PL" sz="1200" b="0" i="0" u="none" strike="noStrike" kern="1200" cap="none" spc="0" normalizeH="0" baseline="0" noProof="0">
              <a:ln>
                <a:noFill/>
              </a:ln>
              <a:solidFill>
                <a:prstClr val="black"/>
              </a:solidFill>
              <a:effectLst/>
              <a:uLnTx/>
              <a:uFillTx/>
              <a:latin typeface="Calibri"/>
              <a:ea typeface="+mn-ea"/>
              <a:cs typeface="+mn-cs"/>
            </a:endParaRPr>
          </a:p>
        </p:txBody>
      </p:sp>
      <p:sp>
        <p:nvSpPr>
          <p:cNvPr id="28675" name="Rectangle 2">
            <a:extLst>
              <a:ext uri="{FF2B5EF4-FFF2-40B4-BE49-F238E27FC236}">
                <a16:creationId xmlns:a16="http://schemas.microsoft.com/office/drawing/2014/main" id="{E711E4D1-E440-83DC-FCD1-A71871772A45}"/>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99E203D5-2D67-E2E1-B7C2-E42FB1252B91}"/>
              </a:ext>
            </a:extLst>
          </p:cNvPr>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1208081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C7BA0-409B-1F77-DAEB-3A0851E11944}"/>
            </a:ext>
          </a:extLst>
        </p:cNvPr>
        <p:cNvGrpSpPr/>
        <p:nvPr/>
      </p:nvGrpSpPr>
      <p:grpSpPr>
        <a:xfrm>
          <a:off x="0" y="0"/>
          <a:ext cx="0" cy="0"/>
          <a:chOff x="0" y="0"/>
          <a:chExt cx="0" cy="0"/>
        </a:xfrm>
      </p:grpSpPr>
      <p:sp>
        <p:nvSpPr>
          <p:cNvPr id="28674" name="Rectangle 7">
            <a:extLst>
              <a:ext uri="{FF2B5EF4-FFF2-40B4-BE49-F238E27FC236}">
                <a16:creationId xmlns:a16="http://schemas.microsoft.com/office/drawing/2014/main" id="{26C95ECB-49CD-AD9C-F112-7C5F471528A0}"/>
              </a:ext>
            </a:extLst>
          </p:cNvPr>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85F2BB-8411-493C-A7E0-04A5807F636E}" type="slidenum">
              <a:rPr kumimoji="0" lang="pl-PL"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pl-PL" sz="1200" b="0" i="0" u="none" strike="noStrike" kern="1200" cap="none" spc="0" normalizeH="0" baseline="0" noProof="0">
              <a:ln>
                <a:noFill/>
              </a:ln>
              <a:solidFill>
                <a:prstClr val="black"/>
              </a:solidFill>
              <a:effectLst/>
              <a:uLnTx/>
              <a:uFillTx/>
              <a:latin typeface="Calibri"/>
              <a:ea typeface="+mn-ea"/>
              <a:cs typeface="+mn-cs"/>
            </a:endParaRPr>
          </a:p>
        </p:txBody>
      </p:sp>
      <p:sp>
        <p:nvSpPr>
          <p:cNvPr id="28675" name="Rectangle 2">
            <a:extLst>
              <a:ext uri="{FF2B5EF4-FFF2-40B4-BE49-F238E27FC236}">
                <a16:creationId xmlns:a16="http://schemas.microsoft.com/office/drawing/2014/main" id="{5A9B1036-8EFF-FC72-1174-41193367A733}"/>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AFD43446-8293-78C9-6240-C78BB44A9A11}"/>
              </a:ext>
            </a:extLst>
          </p:cNvPr>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32615812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10813-5993-3067-0514-FCDA5AA337FC}"/>
            </a:ext>
          </a:extLst>
        </p:cNvPr>
        <p:cNvGrpSpPr/>
        <p:nvPr/>
      </p:nvGrpSpPr>
      <p:grpSpPr>
        <a:xfrm>
          <a:off x="0" y="0"/>
          <a:ext cx="0" cy="0"/>
          <a:chOff x="0" y="0"/>
          <a:chExt cx="0" cy="0"/>
        </a:xfrm>
      </p:grpSpPr>
      <p:sp>
        <p:nvSpPr>
          <p:cNvPr id="28674" name="Rectangle 7">
            <a:extLst>
              <a:ext uri="{FF2B5EF4-FFF2-40B4-BE49-F238E27FC236}">
                <a16:creationId xmlns:a16="http://schemas.microsoft.com/office/drawing/2014/main" id="{9F3CFB32-65E1-60B7-9FD7-792C8D22ABC6}"/>
              </a:ext>
            </a:extLst>
          </p:cNvPr>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85F2BB-8411-493C-A7E0-04A5807F636E}" type="slidenum">
              <a:rPr kumimoji="0" lang="pl-PL"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pl-PL" sz="1200" b="0" i="0" u="none" strike="noStrike" kern="1200" cap="none" spc="0" normalizeH="0" baseline="0" noProof="0">
              <a:ln>
                <a:noFill/>
              </a:ln>
              <a:solidFill>
                <a:prstClr val="black"/>
              </a:solidFill>
              <a:effectLst/>
              <a:uLnTx/>
              <a:uFillTx/>
              <a:latin typeface="Calibri"/>
              <a:ea typeface="+mn-ea"/>
              <a:cs typeface="+mn-cs"/>
            </a:endParaRPr>
          </a:p>
        </p:txBody>
      </p:sp>
      <p:sp>
        <p:nvSpPr>
          <p:cNvPr id="28675" name="Rectangle 2">
            <a:extLst>
              <a:ext uri="{FF2B5EF4-FFF2-40B4-BE49-F238E27FC236}">
                <a16:creationId xmlns:a16="http://schemas.microsoft.com/office/drawing/2014/main" id="{55B46BEC-A9EE-02A2-C653-7676B1D1AD9F}"/>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D09EF8E1-5BE6-1479-9664-6DD8DE38EA78}"/>
              </a:ext>
            </a:extLst>
          </p:cNvPr>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1464862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D902A-4FE0-A306-7642-C30A76CDC411}"/>
            </a:ext>
          </a:extLst>
        </p:cNvPr>
        <p:cNvGrpSpPr/>
        <p:nvPr/>
      </p:nvGrpSpPr>
      <p:grpSpPr>
        <a:xfrm>
          <a:off x="0" y="0"/>
          <a:ext cx="0" cy="0"/>
          <a:chOff x="0" y="0"/>
          <a:chExt cx="0" cy="0"/>
        </a:xfrm>
      </p:grpSpPr>
      <p:sp>
        <p:nvSpPr>
          <p:cNvPr id="28674" name="Rectangle 7">
            <a:extLst>
              <a:ext uri="{FF2B5EF4-FFF2-40B4-BE49-F238E27FC236}">
                <a16:creationId xmlns:a16="http://schemas.microsoft.com/office/drawing/2014/main" id="{3D248EFA-9AE3-5FA6-4D90-251F728AD47F}"/>
              </a:ext>
            </a:extLst>
          </p:cNvPr>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85F2BB-8411-493C-A7E0-04A5807F636E}" type="slidenum">
              <a:rPr kumimoji="0" lang="pl-PL"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pl-PL" sz="1200" b="0" i="0" u="none" strike="noStrike" kern="1200" cap="none" spc="0" normalizeH="0" baseline="0" noProof="0">
              <a:ln>
                <a:noFill/>
              </a:ln>
              <a:solidFill>
                <a:prstClr val="black"/>
              </a:solidFill>
              <a:effectLst/>
              <a:uLnTx/>
              <a:uFillTx/>
              <a:latin typeface="Calibri"/>
              <a:ea typeface="+mn-ea"/>
              <a:cs typeface="+mn-cs"/>
            </a:endParaRPr>
          </a:p>
        </p:txBody>
      </p:sp>
      <p:sp>
        <p:nvSpPr>
          <p:cNvPr id="28675" name="Rectangle 2">
            <a:extLst>
              <a:ext uri="{FF2B5EF4-FFF2-40B4-BE49-F238E27FC236}">
                <a16:creationId xmlns:a16="http://schemas.microsoft.com/office/drawing/2014/main" id="{646266D1-6397-A60F-52B7-606C7DAFC070}"/>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C34CBB1A-C44D-8AF0-B2D7-42F7C5B0680C}"/>
              </a:ext>
            </a:extLst>
          </p:cNvPr>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12546672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BB6B2-56FE-17F5-2656-3EF554F82AC0}"/>
            </a:ext>
          </a:extLst>
        </p:cNvPr>
        <p:cNvGrpSpPr/>
        <p:nvPr/>
      </p:nvGrpSpPr>
      <p:grpSpPr>
        <a:xfrm>
          <a:off x="0" y="0"/>
          <a:ext cx="0" cy="0"/>
          <a:chOff x="0" y="0"/>
          <a:chExt cx="0" cy="0"/>
        </a:xfrm>
      </p:grpSpPr>
      <p:sp>
        <p:nvSpPr>
          <p:cNvPr id="28674" name="Rectangle 7">
            <a:extLst>
              <a:ext uri="{FF2B5EF4-FFF2-40B4-BE49-F238E27FC236}">
                <a16:creationId xmlns:a16="http://schemas.microsoft.com/office/drawing/2014/main" id="{5A6A1E56-E2B6-A7D8-9BCC-54FA90F4C948}"/>
              </a:ext>
            </a:extLst>
          </p:cNvPr>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85F2BB-8411-493C-A7E0-04A5807F636E}" type="slidenum">
              <a:rPr kumimoji="0" lang="pl-PL"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pl-PL" sz="1200" b="0" i="0" u="none" strike="noStrike" kern="1200" cap="none" spc="0" normalizeH="0" baseline="0" noProof="0">
              <a:ln>
                <a:noFill/>
              </a:ln>
              <a:solidFill>
                <a:prstClr val="black"/>
              </a:solidFill>
              <a:effectLst/>
              <a:uLnTx/>
              <a:uFillTx/>
              <a:latin typeface="Calibri"/>
              <a:ea typeface="+mn-ea"/>
              <a:cs typeface="+mn-cs"/>
            </a:endParaRPr>
          </a:p>
        </p:txBody>
      </p:sp>
      <p:sp>
        <p:nvSpPr>
          <p:cNvPr id="28675" name="Rectangle 2">
            <a:extLst>
              <a:ext uri="{FF2B5EF4-FFF2-40B4-BE49-F238E27FC236}">
                <a16:creationId xmlns:a16="http://schemas.microsoft.com/office/drawing/2014/main" id="{71EB494D-DE97-F595-B3E6-71AE9C5FEA98}"/>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8DC1B7B4-6D07-B330-A5B5-76600CB59514}"/>
              </a:ext>
            </a:extLst>
          </p:cNvPr>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31167686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B2C30-8A19-4512-B577-1565B0CE57CA}"/>
            </a:ext>
          </a:extLst>
        </p:cNvPr>
        <p:cNvGrpSpPr/>
        <p:nvPr/>
      </p:nvGrpSpPr>
      <p:grpSpPr>
        <a:xfrm>
          <a:off x="0" y="0"/>
          <a:ext cx="0" cy="0"/>
          <a:chOff x="0" y="0"/>
          <a:chExt cx="0" cy="0"/>
        </a:xfrm>
      </p:grpSpPr>
      <p:sp>
        <p:nvSpPr>
          <p:cNvPr id="28674" name="Rectangle 7">
            <a:extLst>
              <a:ext uri="{FF2B5EF4-FFF2-40B4-BE49-F238E27FC236}">
                <a16:creationId xmlns:a16="http://schemas.microsoft.com/office/drawing/2014/main" id="{DC569D50-0D72-FEF7-6D54-BC008A19F908}"/>
              </a:ext>
            </a:extLst>
          </p:cNvPr>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85F2BB-8411-493C-A7E0-04A5807F636E}" type="slidenum">
              <a:rPr kumimoji="0" lang="pl-PL"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pl-PL" sz="1200" b="0" i="0" u="none" strike="noStrike" kern="1200" cap="none" spc="0" normalizeH="0" baseline="0" noProof="0">
              <a:ln>
                <a:noFill/>
              </a:ln>
              <a:solidFill>
                <a:prstClr val="black"/>
              </a:solidFill>
              <a:effectLst/>
              <a:uLnTx/>
              <a:uFillTx/>
              <a:latin typeface="Calibri"/>
              <a:ea typeface="+mn-ea"/>
              <a:cs typeface="+mn-cs"/>
            </a:endParaRPr>
          </a:p>
        </p:txBody>
      </p:sp>
      <p:sp>
        <p:nvSpPr>
          <p:cNvPr id="28675" name="Rectangle 2">
            <a:extLst>
              <a:ext uri="{FF2B5EF4-FFF2-40B4-BE49-F238E27FC236}">
                <a16:creationId xmlns:a16="http://schemas.microsoft.com/office/drawing/2014/main" id="{CDC6444A-BCB4-366F-9C8F-E0A35CF52B23}"/>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3DE72F66-846C-1603-8029-0B60DAC3BD2B}"/>
              </a:ext>
            </a:extLst>
          </p:cNvPr>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15405059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52573-29B5-46CC-466D-B065BE34D5F5}"/>
            </a:ext>
          </a:extLst>
        </p:cNvPr>
        <p:cNvGrpSpPr/>
        <p:nvPr/>
      </p:nvGrpSpPr>
      <p:grpSpPr>
        <a:xfrm>
          <a:off x="0" y="0"/>
          <a:ext cx="0" cy="0"/>
          <a:chOff x="0" y="0"/>
          <a:chExt cx="0" cy="0"/>
        </a:xfrm>
      </p:grpSpPr>
      <p:sp>
        <p:nvSpPr>
          <p:cNvPr id="28674" name="Rectangle 7">
            <a:extLst>
              <a:ext uri="{FF2B5EF4-FFF2-40B4-BE49-F238E27FC236}">
                <a16:creationId xmlns:a16="http://schemas.microsoft.com/office/drawing/2014/main" id="{7152028C-775A-FE0C-78A4-34A5D15F7675}"/>
              </a:ext>
            </a:extLst>
          </p:cNvPr>
          <p:cNvSpPr>
            <a:spLocks noGrp="1" noChangeArrowheads="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85F2BB-8411-493C-A7E0-04A5807F636E}" type="slidenum">
              <a:rPr kumimoji="0" lang="pl-PL"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pl-PL" sz="1200" b="0" i="0" u="none" strike="noStrike" kern="1200" cap="none" spc="0" normalizeH="0" baseline="0" noProof="0">
              <a:ln>
                <a:noFill/>
              </a:ln>
              <a:solidFill>
                <a:prstClr val="black"/>
              </a:solidFill>
              <a:effectLst/>
              <a:uLnTx/>
              <a:uFillTx/>
              <a:latin typeface="Calibri"/>
              <a:ea typeface="+mn-ea"/>
              <a:cs typeface="+mn-cs"/>
            </a:endParaRPr>
          </a:p>
        </p:txBody>
      </p:sp>
      <p:sp>
        <p:nvSpPr>
          <p:cNvPr id="28675" name="Rectangle 2">
            <a:extLst>
              <a:ext uri="{FF2B5EF4-FFF2-40B4-BE49-F238E27FC236}">
                <a16:creationId xmlns:a16="http://schemas.microsoft.com/office/drawing/2014/main" id="{0D200C85-A1D0-0784-9FAE-0BBFE9FF9AE4}"/>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22989F6F-4A2E-D392-92C0-0F1DC5C60494}"/>
              </a:ext>
            </a:extLst>
          </p:cNvPr>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36135268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B2C67F5-6393-EFCC-CA2F-D8C1D2948A27}"/>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a:extLst>
              <a:ext uri="{FF2B5EF4-FFF2-40B4-BE49-F238E27FC236}">
                <a16:creationId xmlns:a16="http://schemas.microsoft.com/office/drawing/2014/main" id="{F9BB175E-19E6-A80D-A5E6-E5993A188D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a:extLst>
              <a:ext uri="{FF2B5EF4-FFF2-40B4-BE49-F238E27FC236}">
                <a16:creationId xmlns:a16="http://schemas.microsoft.com/office/drawing/2014/main" id="{8EC9C458-A7AD-7835-FD10-67353125F4F3}"/>
              </a:ext>
            </a:extLst>
          </p:cNvPr>
          <p:cNvSpPr>
            <a:spLocks noGrp="1"/>
          </p:cNvSpPr>
          <p:nvPr>
            <p:ph type="dt" sz="half" idx="10"/>
          </p:nvPr>
        </p:nvSpPr>
        <p:spPr/>
        <p:txBody>
          <a:bodyPr/>
          <a:lstStyle/>
          <a:p>
            <a:fld id="{A69A2002-53D1-4251-9377-24C22C31ED2D}" type="datetimeFigureOut">
              <a:rPr lang="pl-PL" smtClean="0"/>
              <a:t>16.10.2025</a:t>
            </a:fld>
            <a:endParaRPr lang="pl-PL"/>
          </a:p>
        </p:txBody>
      </p:sp>
      <p:sp>
        <p:nvSpPr>
          <p:cNvPr id="5" name="Symbol zastępczy stopki 4">
            <a:extLst>
              <a:ext uri="{FF2B5EF4-FFF2-40B4-BE49-F238E27FC236}">
                <a16:creationId xmlns:a16="http://schemas.microsoft.com/office/drawing/2014/main" id="{07C552EE-26D2-EDF9-4A20-1B7676094F3D}"/>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A83A8134-A23C-84A2-0A5D-CBDF38F04CCB}"/>
              </a:ext>
            </a:extLst>
          </p:cNvPr>
          <p:cNvSpPr>
            <a:spLocks noGrp="1"/>
          </p:cNvSpPr>
          <p:nvPr>
            <p:ph type="sldNum" sz="quarter" idx="12"/>
          </p:nvPr>
        </p:nvSpPr>
        <p:spPr/>
        <p:txBody>
          <a:bodyPr/>
          <a:lstStyle/>
          <a:p>
            <a:fld id="{009BFFD7-C5F1-47E2-A226-E50155270A5A}" type="slidenum">
              <a:rPr lang="pl-PL" smtClean="0"/>
              <a:t>‹#›</a:t>
            </a:fld>
            <a:endParaRPr lang="pl-PL"/>
          </a:p>
        </p:txBody>
      </p:sp>
    </p:spTree>
    <p:extLst>
      <p:ext uri="{BB962C8B-B14F-4D97-AF65-F5344CB8AC3E}">
        <p14:creationId xmlns:p14="http://schemas.microsoft.com/office/powerpoint/2010/main" val="4144130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A3DCE7F-5EF0-3DF0-FF4B-225B7AD697E3}"/>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FAC8725B-E7AC-C285-2AF0-C36ABB5C8BCA}"/>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3E7A28F2-5057-6830-E9B5-CAA7F39656C2}"/>
              </a:ext>
            </a:extLst>
          </p:cNvPr>
          <p:cNvSpPr>
            <a:spLocks noGrp="1"/>
          </p:cNvSpPr>
          <p:nvPr>
            <p:ph type="dt" sz="half" idx="10"/>
          </p:nvPr>
        </p:nvSpPr>
        <p:spPr/>
        <p:txBody>
          <a:bodyPr/>
          <a:lstStyle/>
          <a:p>
            <a:fld id="{A69A2002-53D1-4251-9377-24C22C31ED2D}" type="datetimeFigureOut">
              <a:rPr lang="pl-PL" smtClean="0"/>
              <a:t>16.10.2025</a:t>
            </a:fld>
            <a:endParaRPr lang="pl-PL"/>
          </a:p>
        </p:txBody>
      </p:sp>
      <p:sp>
        <p:nvSpPr>
          <p:cNvPr id="5" name="Symbol zastępczy stopki 4">
            <a:extLst>
              <a:ext uri="{FF2B5EF4-FFF2-40B4-BE49-F238E27FC236}">
                <a16:creationId xmlns:a16="http://schemas.microsoft.com/office/drawing/2014/main" id="{1ABC99E8-F94E-727A-E9FB-F01FD17EC9C6}"/>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B8AD861D-BA1A-EB40-D6B4-B7D85A94A7F1}"/>
              </a:ext>
            </a:extLst>
          </p:cNvPr>
          <p:cNvSpPr>
            <a:spLocks noGrp="1"/>
          </p:cNvSpPr>
          <p:nvPr>
            <p:ph type="sldNum" sz="quarter" idx="12"/>
          </p:nvPr>
        </p:nvSpPr>
        <p:spPr/>
        <p:txBody>
          <a:bodyPr/>
          <a:lstStyle/>
          <a:p>
            <a:fld id="{009BFFD7-C5F1-47E2-A226-E50155270A5A}" type="slidenum">
              <a:rPr lang="pl-PL" smtClean="0"/>
              <a:t>‹#›</a:t>
            </a:fld>
            <a:endParaRPr lang="pl-PL"/>
          </a:p>
        </p:txBody>
      </p:sp>
    </p:spTree>
    <p:extLst>
      <p:ext uri="{BB962C8B-B14F-4D97-AF65-F5344CB8AC3E}">
        <p14:creationId xmlns:p14="http://schemas.microsoft.com/office/powerpoint/2010/main" val="3329364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10AEDBD-1534-7413-6886-E188309AFE09}"/>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a:extLst>
              <a:ext uri="{FF2B5EF4-FFF2-40B4-BE49-F238E27FC236}">
                <a16:creationId xmlns:a16="http://schemas.microsoft.com/office/drawing/2014/main" id="{77D69738-76AA-4824-FC40-7F5A7AA859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A00B1681-CC1C-C86B-3F66-CCF082B27055}"/>
              </a:ext>
            </a:extLst>
          </p:cNvPr>
          <p:cNvSpPr>
            <a:spLocks noGrp="1"/>
          </p:cNvSpPr>
          <p:nvPr>
            <p:ph type="dt" sz="half" idx="10"/>
          </p:nvPr>
        </p:nvSpPr>
        <p:spPr/>
        <p:txBody>
          <a:bodyPr/>
          <a:lstStyle/>
          <a:p>
            <a:fld id="{A69A2002-53D1-4251-9377-24C22C31ED2D}" type="datetimeFigureOut">
              <a:rPr lang="pl-PL" smtClean="0"/>
              <a:t>16.10.2025</a:t>
            </a:fld>
            <a:endParaRPr lang="pl-PL"/>
          </a:p>
        </p:txBody>
      </p:sp>
      <p:sp>
        <p:nvSpPr>
          <p:cNvPr id="5" name="Symbol zastępczy stopki 4">
            <a:extLst>
              <a:ext uri="{FF2B5EF4-FFF2-40B4-BE49-F238E27FC236}">
                <a16:creationId xmlns:a16="http://schemas.microsoft.com/office/drawing/2014/main" id="{506ACDAE-129D-B58F-3D5A-22AA5C73AAE7}"/>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9888791B-8504-3488-B01E-101E33EBE37F}"/>
              </a:ext>
            </a:extLst>
          </p:cNvPr>
          <p:cNvSpPr>
            <a:spLocks noGrp="1"/>
          </p:cNvSpPr>
          <p:nvPr>
            <p:ph type="sldNum" sz="quarter" idx="12"/>
          </p:nvPr>
        </p:nvSpPr>
        <p:spPr/>
        <p:txBody>
          <a:bodyPr/>
          <a:lstStyle/>
          <a:p>
            <a:fld id="{009BFFD7-C5F1-47E2-A226-E50155270A5A}" type="slidenum">
              <a:rPr lang="pl-PL" smtClean="0"/>
              <a:t>‹#›</a:t>
            </a:fld>
            <a:endParaRPr lang="pl-PL"/>
          </a:p>
        </p:txBody>
      </p:sp>
    </p:spTree>
    <p:extLst>
      <p:ext uri="{BB962C8B-B14F-4D97-AF65-F5344CB8AC3E}">
        <p14:creationId xmlns:p14="http://schemas.microsoft.com/office/powerpoint/2010/main" val="4074291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AD35D3E-EACF-E8E5-7536-FBBC4DB145AE}"/>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B0BD488A-941C-3C84-F848-FC5F7C560EA7}"/>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a:extLst>
              <a:ext uri="{FF2B5EF4-FFF2-40B4-BE49-F238E27FC236}">
                <a16:creationId xmlns:a16="http://schemas.microsoft.com/office/drawing/2014/main" id="{48D0B15A-78EA-A175-5D4B-7108322FA172}"/>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a:extLst>
              <a:ext uri="{FF2B5EF4-FFF2-40B4-BE49-F238E27FC236}">
                <a16:creationId xmlns:a16="http://schemas.microsoft.com/office/drawing/2014/main" id="{C6E81CA6-F578-646A-FEE4-1410A4675526}"/>
              </a:ext>
            </a:extLst>
          </p:cNvPr>
          <p:cNvSpPr>
            <a:spLocks noGrp="1"/>
          </p:cNvSpPr>
          <p:nvPr>
            <p:ph type="dt" sz="half" idx="10"/>
          </p:nvPr>
        </p:nvSpPr>
        <p:spPr/>
        <p:txBody>
          <a:bodyPr/>
          <a:lstStyle/>
          <a:p>
            <a:fld id="{A69A2002-53D1-4251-9377-24C22C31ED2D}" type="datetimeFigureOut">
              <a:rPr lang="pl-PL" smtClean="0"/>
              <a:t>16.10.2025</a:t>
            </a:fld>
            <a:endParaRPr lang="pl-PL"/>
          </a:p>
        </p:txBody>
      </p:sp>
      <p:sp>
        <p:nvSpPr>
          <p:cNvPr id="6" name="Symbol zastępczy stopki 5">
            <a:extLst>
              <a:ext uri="{FF2B5EF4-FFF2-40B4-BE49-F238E27FC236}">
                <a16:creationId xmlns:a16="http://schemas.microsoft.com/office/drawing/2014/main" id="{DEC4CE02-A04D-116E-A0CB-9B460632A3B2}"/>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B11D23A0-1C09-482D-D941-BD41B39E21F3}"/>
              </a:ext>
            </a:extLst>
          </p:cNvPr>
          <p:cNvSpPr>
            <a:spLocks noGrp="1"/>
          </p:cNvSpPr>
          <p:nvPr>
            <p:ph type="sldNum" sz="quarter" idx="12"/>
          </p:nvPr>
        </p:nvSpPr>
        <p:spPr/>
        <p:txBody>
          <a:bodyPr/>
          <a:lstStyle/>
          <a:p>
            <a:fld id="{009BFFD7-C5F1-47E2-A226-E50155270A5A}" type="slidenum">
              <a:rPr lang="pl-PL" smtClean="0"/>
              <a:t>‹#›</a:t>
            </a:fld>
            <a:endParaRPr lang="pl-PL"/>
          </a:p>
        </p:txBody>
      </p:sp>
    </p:spTree>
    <p:extLst>
      <p:ext uri="{BB962C8B-B14F-4D97-AF65-F5344CB8AC3E}">
        <p14:creationId xmlns:p14="http://schemas.microsoft.com/office/powerpoint/2010/main" val="4051401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7C98DE1-E025-19CF-580C-C3278A5B5C7D}"/>
              </a:ext>
            </a:extLst>
          </p:cNvPr>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a:extLst>
              <a:ext uri="{FF2B5EF4-FFF2-40B4-BE49-F238E27FC236}">
                <a16:creationId xmlns:a16="http://schemas.microsoft.com/office/drawing/2014/main" id="{54E5797E-597B-8A7F-252F-707915E13C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1492F0A2-5508-F7FB-CC1C-88CA4096F425}"/>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a:extLst>
              <a:ext uri="{FF2B5EF4-FFF2-40B4-BE49-F238E27FC236}">
                <a16:creationId xmlns:a16="http://schemas.microsoft.com/office/drawing/2014/main" id="{4FF5D30B-8951-5951-AF9D-9C0B60491F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01589FD5-CC44-758D-694A-0871A3530AE3}"/>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a:extLst>
              <a:ext uri="{FF2B5EF4-FFF2-40B4-BE49-F238E27FC236}">
                <a16:creationId xmlns:a16="http://schemas.microsoft.com/office/drawing/2014/main" id="{4BC6050C-C757-496D-1801-A598F648ADC7}"/>
              </a:ext>
            </a:extLst>
          </p:cNvPr>
          <p:cNvSpPr>
            <a:spLocks noGrp="1"/>
          </p:cNvSpPr>
          <p:nvPr>
            <p:ph type="dt" sz="half" idx="10"/>
          </p:nvPr>
        </p:nvSpPr>
        <p:spPr/>
        <p:txBody>
          <a:bodyPr/>
          <a:lstStyle/>
          <a:p>
            <a:fld id="{A69A2002-53D1-4251-9377-24C22C31ED2D}" type="datetimeFigureOut">
              <a:rPr lang="pl-PL" smtClean="0"/>
              <a:t>16.10.2025</a:t>
            </a:fld>
            <a:endParaRPr lang="pl-PL"/>
          </a:p>
        </p:txBody>
      </p:sp>
      <p:sp>
        <p:nvSpPr>
          <p:cNvPr id="8" name="Symbol zastępczy stopki 7">
            <a:extLst>
              <a:ext uri="{FF2B5EF4-FFF2-40B4-BE49-F238E27FC236}">
                <a16:creationId xmlns:a16="http://schemas.microsoft.com/office/drawing/2014/main" id="{4812488B-A648-DE3B-4507-0B6FB7B0ADA8}"/>
              </a:ext>
            </a:extLst>
          </p:cNvPr>
          <p:cNvSpPr>
            <a:spLocks noGrp="1"/>
          </p:cNvSpPr>
          <p:nvPr>
            <p:ph type="ftr" sz="quarter" idx="11"/>
          </p:nvPr>
        </p:nvSpPr>
        <p:spPr/>
        <p:txBody>
          <a:bodyPr/>
          <a:lstStyle/>
          <a:p>
            <a:endParaRPr lang="pl-PL"/>
          </a:p>
        </p:txBody>
      </p:sp>
      <p:sp>
        <p:nvSpPr>
          <p:cNvPr id="9" name="Symbol zastępczy numeru slajdu 8">
            <a:extLst>
              <a:ext uri="{FF2B5EF4-FFF2-40B4-BE49-F238E27FC236}">
                <a16:creationId xmlns:a16="http://schemas.microsoft.com/office/drawing/2014/main" id="{910FFBB8-6840-13AA-9991-8983140F5185}"/>
              </a:ext>
            </a:extLst>
          </p:cNvPr>
          <p:cNvSpPr>
            <a:spLocks noGrp="1"/>
          </p:cNvSpPr>
          <p:nvPr>
            <p:ph type="sldNum" sz="quarter" idx="12"/>
          </p:nvPr>
        </p:nvSpPr>
        <p:spPr/>
        <p:txBody>
          <a:bodyPr/>
          <a:lstStyle/>
          <a:p>
            <a:fld id="{009BFFD7-C5F1-47E2-A226-E50155270A5A}" type="slidenum">
              <a:rPr lang="pl-PL" smtClean="0"/>
              <a:t>‹#›</a:t>
            </a:fld>
            <a:endParaRPr lang="pl-PL"/>
          </a:p>
        </p:txBody>
      </p:sp>
    </p:spTree>
    <p:extLst>
      <p:ext uri="{BB962C8B-B14F-4D97-AF65-F5344CB8AC3E}">
        <p14:creationId xmlns:p14="http://schemas.microsoft.com/office/powerpoint/2010/main" val="3543356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30E76BA-0D13-70AA-1135-8AED6A2BC8C7}"/>
              </a:ext>
            </a:extLst>
          </p:cNvPr>
          <p:cNvSpPr>
            <a:spLocks noGrp="1"/>
          </p:cNvSpPr>
          <p:nvPr>
            <p:ph type="title"/>
          </p:nvPr>
        </p:nvSpPr>
        <p:spPr/>
        <p:txBody>
          <a:bodyPr/>
          <a:lstStyle/>
          <a:p>
            <a:r>
              <a:rPr lang="pl-PL"/>
              <a:t>Kliknij, aby edytować styl</a:t>
            </a:r>
          </a:p>
        </p:txBody>
      </p:sp>
      <p:sp>
        <p:nvSpPr>
          <p:cNvPr id="3" name="Symbol zastępczy daty 2">
            <a:extLst>
              <a:ext uri="{FF2B5EF4-FFF2-40B4-BE49-F238E27FC236}">
                <a16:creationId xmlns:a16="http://schemas.microsoft.com/office/drawing/2014/main" id="{87D70578-24BC-79EB-E9CC-93704D27B9F1}"/>
              </a:ext>
            </a:extLst>
          </p:cNvPr>
          <p:cNvSpPr>
            <a:spLocks noGrp="1"/>
          </p:cNvSpPr>
          <p:nvPr>
            <p:ph type="dt" sz="half" idx="10"/>
          </p:nvPr>
        </p:nvSpPr>
        <p:spPr/>
        <p:txBody>
          <a:bodyPr/>
          <a:lstStyle/>
          <a:p>
            <a:fld id="{A69A2002-53D1-4251-9377-24C22C31ED2D}" type="datetimeFigureOut">
              <a:rPr lang="pl-PL" smtClean="0"/>
              <a:t>16.10.2025</a:t>
            </a:fld>
            <a:endParaRPr lang="pl-PL"/>
          </a:p>
        </p:txBody>
      </p:sp>
      <p:sp>
        <p:nvSpPr>
          <p:cNvPr id="4" name="Symbol zastępczy stopki 3">
            <a:extLst>
              <a:ext uri="{FF2B5EF4-FFF2-40B4-BE49-F238E27FC236}">
                <a16:creationId xmlns:a16="http://schemas.microsoft.com/office/drawing/2014/main" id="{0EF93D50-230B-407A-8155-44849C7A81F1}"/>
              </a:ext>
            </a:extLst>
          </p:cNvPr>
          <p:cNvSpPr>
            <a:spLocks noGrp="1"/>
          </p:cNvSpPr>
          <p:nvPr>
            <p:ph type="ftr" sz="quarter" idx="11"/>
          </p:nvPr>
        </p:nvSpPr>
        <p:spPr/>
        <p:txBody>
          <a:bodyPr/>
          <a:lstStyle/>
          <a:p>
            <a:endParaRPr lang="pl-PL"/>
          </a:p>
        </p:txBody>
      </p:sp>
      <p:sp>
        <p:nvSpPr>
          <p:cNvPr id="5" name="Symbol zastępczy numeru slajdu 4">
            <a:extLst>
              <a:ext uri="{FF2B5EF4-FFF2-40B4-BE49-F238E27FC236}">
                <a16:creationId xmlns:a16="http://schemas.microsoft.com/office/drawing/2014/main" id="{D82F86E2-D5EA-6CF7-5BE7-5BDDB7B6EC6E}"/>
              </a:ext>
            </a:extLst>
          </p:cNvPr>
          <p:cNvSpPr>
            <a:spLocks noGrp="1"/>
          </p:cNvSpPr>
          <p:nvPr>
            <p:ph type="sldNum" sz="quarter" idx="12"/>
          </p:nvPr>
        </p:nvSpPr>
        <p:spPr/>
        <p:txBody>
          <a:bodyPr/>
          <a:lstStyle/>
          <a:p>
            <a:fld id="{009BFFD7-C5F1-47E2-A226-E50155270A5A}" type="slidenum">
              <a:rPr lang="pl-PL" smtClean="0"/>
              <a:t>‹#›</a:t>
            </a:fld>
            <a:endParaRPr lang="pl-PL"/>
          </a:p>
        </p:txBody>
      </p:sp>
    </p:spTree>
    <p:extLst>
      <p:ext uri="{BB962C8B-B14F-4D97-AF65-F5344CB8AC3E}">
        <p14:creationId xmlns:p14="http://schemas.microsoft.com/office/powerpoint/2010/main" val="4231988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92E70AE5-423A-2677-6E0D-557A34EE558E}"/>
              </a:ext>
            </a:extLst>
          </p:cNvPr>
          <p:cNvSpPr>
            <a:spLocks noGrp="1"/>
          </p:cNvSpPr>
          <p:nvPr>
            <p:ph type="dt" sz="half" idx="10"/>
          </p:nvPr>
        </p:nvSpPr>
        <p:spPr/>
        <p:txBody>
          <a:bodyPr/>
          <a:lstStyle/>
          <a:p>
            <a:fld id="{A69A2002-53D1-4251-9377-24C22C31ED2D}" type="datetimeFigureOut">
              <a:rPr lang="pl-PL" smtClean="0"/>
              <a:t>16.10.2025</a:t>
            </a:fld>
            <a:endParaRPr lang="pl-PL"/>
          </a:p>
        </p:txBody>
      </p:sp>
      <p:sp>
        <p:nvSpPr>
          <p:cNvPr id="3" name="Symbol zastępczy stopki 2">
            <a:extLst>
              <a:ext uri="{FF2B5EF4-FFF2-40B4-BE49-F238E27FC236}">
                <a16:creationId xmlns:a16="http://schemas.microsoft.com/office/drawing/2014/main" id="{5D48CDD0-E989-19C4-87E0-BEC024371244}"/>
              </a:ext>
            </a:extLst>
          </p:cNvPr>
          <p:cNvSpPr>
            <a:spLocks noGrp="1"/>
          </p:cNvSpPr>
          <p:nvPr>
            <p:ph type="ftr" sz="quarter" idx="11"/>
          </p:nvPr>
        </p:nvSpPr>
        <p:spPr/>
        <p:txBody>
          <a:bodyPr/>
          <a:lstStyle/>
          <a:p>
            <a:endParaRPr lang="pl-PL"/>
          </a:p>
        </p:txBody>
      </p:sp>
      <p:sp>
        <p:nvSpPr>
          <p:cNvPr id="4" name="Symbol zastępczy numeru slajdu 3">
            <a:extLst>
              <a:ext uri="{FF2B5EF4-FFF2-40B4-BE49-F238E27FC236}">
                <a16:creationId xmlns:a16="http://schemas.microsoft.com/office/drawing/2014/main" id="{3ED110DD-D8B1-2FC3-D61B-6DE1A40CB4BD}"/>
              </a:ext>
            </a:extLst>
          </p:cNvPr>
          <p:cNvSpPr>
            <a:spLocks noGrp="1"/>
          </p:cNvSpPr>
          <p:nvPr>
            <p:ph type="sldNum" sz="quarter" idx="12"/>
          </p:nvPr>
        </p:nvSpPr>
        <p:spPr/>
        <p:txBody>
          <a:bodyPr/>
          <a:lstStyle/>
          <a:p>
            <a:fld id="{009BFFD7-C5F1-47E2-A226-E50155270A5A}" type="slidenum">
              <a:rPr lang="pl-PL" smtClean="0"/>
              <a:t>‹#›</a:t>
            </a:fld>
            <a:endParaRPr lang="pl-PL"/>
          </a:p>
        </p:txBody>
      </p:sp>
    </p:spTree>
    <p:extLst>
      <p:ext uri="{BB962C8B-B14F-4D97-AF65-F5344CB8AC3E}">
        <p14:creationId xmlns:p14="http://schemas.microsoft.com/office/powerpoint/2010/main" val="1143052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61D2FE0-CE5E-9CA6-5D05-8AE344CC435C}"/>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a:extLst>
              <a:ext uri="{FF2B5EF4-FFF2-40B4-BE49-F238E27FC236}">
                <a16:creationId xmlns:a16="http://schemas.microsoft.com/office/drawing/2014/main" id="{2D999256-9328-E03A-51D4-C17302CA7C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a:extLst>
              <a:ext uri="{FF2B5EF4-FFF2-40B4-BE49-F238E27FC236}">
                <a16:creationId xmlns:a16="http://schemas.microsoft.com/office/drawing/2014/main" id="{DA4C1919-D5C3-BD15-75FF-8E89488FC8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30289CFE-DEC8-FA69-8EA6-BB7B10D8CBA3}"/>
              </a:ext>
            </a:extLst>
          </p:cNvPr>
          <p:cNvSpPr>
            <a:spLocks noGrp="1"/>
          </p:cNvSpPr>
          <p:nvPr>
            <p:ph type="dt" sz="half" idx="10"/>
          </p:nvPr>
        </p:nvSpPr>
        <p:spPr/>
        <p:txBody>
          <a:bodyPr/>
          <a:lstStyle/>
          <a:p>
            <a:fld id="{A69A2002-53D1-4251-9377-24C22C31ED2D}" type="datetimeFigureOut">
              <a:rPr lang="pl-PL" smtClean="0"/>
              <a:t>16.10.2025</a:t>
            </a:fld>
            <a:endParaRPr lang="pl-PL"/>
          </a:p>
        </p:txBody>
      </p:sp>
      <p:sp>
        <p:nvSpPr>
          <p:cNvPr id="6" name="Symbol zastępczy stopki 5">
            <a:extLst>
              <a:ext uri="{FF2B5EF4-FFF2-40B4-BE49-F238E27FC236}">
                <a16:creationId xmlns:a16="http://schemas.microsoft.com/office/drawing/2014/main" id="{F3CBA77A-5816-CED3-20E6-0DE6709AB418}"/>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0C6B9422-D87B-DADC-1875-9DD2BA6DE09A}"/>
              </a:ext>
            </a:extLst>
          </p:cNvPr>
          <p:cNvSpPr>
            <a:spLocks noGrp="1"/>
          </p:cNvSpPr>
          <p:nvPr>
            <p:ph type="sldNum" sz="quarter" idx="12"/>
          </p:nvPr>
        </p:nvSpPr>
        <p:spPr/>
        <p:txBody>
          <a:bodyPr/>
          <a:lstStyle/>
          <a:p>
            <a:fld id="{009BFFD7-C5F1-47E2-A226-E50155270A5A}" type="slidenum">
              <a:rPr lang="pl-PL" smtClean="0"/>
              <a:t>‹#›</a:t>
            </a:fld>
            <a:endParaRPr lang="pl-PL"/>
          </a:p>
        </p:txBody>
      </p:sp>
    </p:spTree>
    <p:extLst>
      <p:ext uri="{BB962C8B-B14F-4D97-AF65-F5344CB8AC3E}">
        <p14:creationId xmlns:p14="http://schemas.microsoft.com/office/powerpoint/2010/main" val="1726287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EAFAF0A-9606-4BE2-F4B6-845AB580A66D}"/>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a:extLst>
              <a:ext uri="{FF2B5EF4-FFF2-40B4-BE49-F238E27FC236}">
                <a16:creationId xmlns:a16="http://schemas.microsoft.com/office/drawing/2014/main" id="{BEF96CE2-6D96-DAB9-E623-6CF252B598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a:extLst>
              <a:ext uri="{FF2B5EF4-FFF2-40B4-BE49-F238E27FC236}">
                <a16:creationId xmlns:a16="http://schemas.microsoft.com/office/drawing/2014/main" id="{9C6E6DA0-4B89-427A-0509-085FA9CA5A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AE305A50-8D6B-7AD2-AD3C-A1AFBC4B84B5}"/>
              </a:ext>
            </a:extLst>
          </p:cNvPr>
          <p:cNvSpPr>
            <a:spLocks noGrp="1"/>
          </p:cNvSpPr>
          <p:nvPr>
            <p:ph type="dt" sz="half" idx="10"/>
          </p:nvPr>
        </p:nvSpPr>
        <p:spPr/>
        <p:txBody>
          <a:bodyPr/>
          <a:lstStyle/>
          <a:p>
            <a:fld id="{A69A2002-53D1-4251-9377-24C22C31ED2D}" type="datetimeFigureOut">
              <a:rPr lang="pl-PL" smtClean="0"/>
              <a:t>16.10.2025</a:t>
            </a:fld>
            <a:endParaRPr lang="pl-PL"/>
          </a:p>
        </p:txBody>
      </p:sp>
      <p:sp>
        <p:nvSpPr>
          <p:cNvPr id="6" name="Symbol zastępczy stopki 5">
            <a:extLst>
              <a:ext uri="{FF2B5EF4-FFF2-40B4-BE49-F238E27FC236}">
                <a16:creationId xmlns:a16="http://schemas.microsoft.com/office/drawing/2014/main" id="{9B944FA5-C38D-B77C-5DA8-E2D979C95F46}"/>
              </a:ext>
            </a:extLst>
          </p:cNvPr>
          <p:cNvSpPr>
            <a:spLocks noGrp="1"/>
          </p:cNvSpPr>
          <p:nvPr>
            <p:ph type="ftr" sz="quarter" idx="11"/>
          </p:nvPr>
        </p:nvSpPr>
        <p:spPr/>
        <p:txBody>
          <a:bodyPr/>
          <a:lstStyle/>
          <a:p>
            <a:endParaRPr lang="pl-PL"/>
          </a:p>
        </p:txBody>
      </p:sp>
      <p:sp>
        <p:nvSpPr>
          <p:cNvPr id="7" name="Symbol zastępczy numeru slajdu 6">
            <a:extLst>
              <a:ext uri="{FF2B5EF4-FFF2-40B4-BE49-F238E27FC236}">
                <a16:creationId xmlns:a16="http://schemas.microsoft.com/office/drawing/2014/main" id="{EA77A255-9EE7-15B4-BB48-2EDC0D598B1D}"/>
              </a:ext>
            </a:extLst>
          </p:cNvPr>
          <p:cNvSpPr>
            <a:spLocks noGrp="1"/>
          </p:cNvSpPr>
          <p:nvPr>
            <p:ph type="sldNum" sz="quarter" idx="12"/>
          </p:nvPr>
        </p:nvSpPr>
        <p:spPr/>
        <p:txBody>
          <a:bodyPr/>
          <a:lstStyle/>
          <a:p>
            <a:fld id="{009BFFD7-C5F1-47E2-A226-E50155270A5A}" type="slidenum">
              <a:rPr lang="pl-PL" smtClean="0"/>
              <a:t>‹#›</a:t>
            </a:fld>
            <a:endParaRPr lang="pl-PL"/>
          </a:p>
        </p:txBody>
      </p:sp>
    </p:spTree>
    <p:extLst>
      <p:ext uri="{BB962C8B-B14F-4D97-AF65-F5344CB8AC3E}">
        <p14:creationId xmlns:p14="http://schemas.microsoft.com/office/powerpoint/2010/main" val="3476218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F7EE037-9EC4-05C6-250E-D55C14380144}"/>
              </a:ext>
            </a:extLst>
          </p:cNvPr>
          <p:cNvSpPr>
            <a:spLocks noGrp="1"/>
          </p:cNvSpPr>
          <p:nvPr>
            <p:ph type="title"/>
          </p:nvPr>
        </p:nvSpPr>
        <p:spPr/>
        <p:txBody>
          <a:bodyPr/>
          <a:lstStyle/>
          <a:p>
            <a:r>
              <a:rPr lang="pl-PL"/>
              <a:t>Kliknij, aby edytować styl</a:t>
            </a:r>
          </a:p>
        </p:txBody>
      </p:sp>
      <p:sp>
        <p:nvSpPr>
          <p:cNvPr id="3" name="Symbol zastępczy tytułu pionowego 2">
            <a:extLst>
              <a:ext uri="{FF2B5EF4-FFF2-40B4-BE49-F238E27FC236}">
                <a16:creationId xmlns:a16="http://schemas.microsoft.com/office/drawing/2014/main" id="{38C6AF50-1FD4-B23E-1D8C-F48279109923}"/>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1A812D0C-82A0-4F55-F331-2F17003C2D3C}"/>
              </a:ext>
            </a:extLst>
          </p:cNvPr>
          <p:cNvSpPr>
            <a:spLocks noGrp="1"/>
          </p:cNvSpPr>
          <p:nvPr>
            <p:ph type="dt" sz="half" idx="10"/>
          </p:nvPr>
        </p:nvSpPr>
        <p:spPr/>
        <p:txBody>
          <a:bodyPr/>
          <a:lstStyle/>
          <a:p>
            <a:fld id="{A69A2002-53D1-4251-9377-24C22C31ED2D}" type="datetimeFigureOut">
              <a:rPr lang="pl-PL" smtClean="0"/>
              <a:t>16.10.2025</a:t>
            </a:fld>
            <a:endParaRPr lang="pl-PL"/>
          </a:p>
        </p:txBody>
      </p:sp>
      <p:sp>
        <p:nvSpPr>
          <p:cNvPr id="5" name="Symbol zastępczy stopki 4">
            <a:extLst>
              <a:ext uri="{FF2B5EF4-FFF2-40B4-BE49-F238E27FC236}">
                <a16:creationId xmlns:a16="http://schemas.microsoft.com/office/drawing/2014/main" id="{BB680403-EB67-0B6C-6F9C-D65EDF03E913}"/>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258A1AED-74EE-E941-CE46-0FDEA3AC7388}"/>
              </a:ext>
            </a:extLst>
          </p:cNvPr>
          <p:cNvSpPr>
            <a:spLocks noGrp="1"/>
          </p:cNvSpPr>
          <p:nvPr>
            <p:ph type="sldNum" sz="quarter" idx="12"/>
          </p:nvPr>
        </p:nvSpPr>
        <p:spPr/>
        <p:txBody>
          <a:bodyPr/>
          <a:lstStyle/>
          <a:p>
            <a:fld id="{009BFFD7-C5F1-47E2-A226-E50155270A5A}" type="slidenum">
              <a:rPr lang="pl-PL" smtClean="0"/>
              <a:t>‹#›</a:t>
            </a:fld>
            <a:endParaRPr lang="pl-PL"/>
          </a:p>
        </p:txBody>
      </p:sp>
    </p:spTree>
    <p:extLst>
      <p:ext uri="{BB962C8B-B14F-4D97-AF65-F5344CB8AC3E}">
        <p14:creationId xmlns:p14="http://schemas.microsoft.com/office/powerpoint/2010/main" val="3470458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12270CDA-986B-1CD5-69CD-43D3F704DB79}"/>
              </a:ext>
            </a:extLst>
          </p:cNvPr>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a:extLst>
              <a:ext uri="{FF2B5EF4-FFF2-40B4-BE49-F238E27FC236}">
                <a16:creationId xmlns:a16="http://schemas.microsoft.com/office/drawing/2014/main" id="{35386078-01D5-F6CC-FE1B-16BE59E5BCCD}"/>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F0AA6FC6-AD0A-1428-8BE0-B1B31F610387}"/>
              </a:ext>
            </a:extLst>
          </p:cNvPr>
          <p:cNvSpPr>
            <a:spLocks noGrp="1"/>
          </p:cNvSpPr>
          <p:nvPr>
            <p:ph type="dt" sz="half" idx="10"/>
          </p:nvPr>
        </p:nvSpPr>
        <p:spPr/>
        <p:txBody>
          <a:bodyPr/>
          <a:lstStyle/>
          <a:p>
            <a:fld id="{A69A2002-53D1-4251-9377-24C22C31ED2D}" type="datetimeFigureOut">
              <a:rPr lang="pl-PL" smtClean="0"/>
              <a:t>16.10.2025</a:t>
            </a:fld>
            <a:endParaRPr lang="pl-PL"/>
          </a:p>
        </p:txBody>
      </p:sp>
      <p:sp>
        <p:nvSpPr>
          <p:cNvPr id="5" name="Symbol zastępczy stopki 4">
            <a:extLst>
              <a:ext uri="{FF2B5EF4-FFF2-40B4-BE49-F238E27FC236}">
                <a16:creationId xmlns:a16="http://schemas.microsoft.com/office/drawing/2014/main" id="{EF0C6943-F014-E29E-005E-E10D7F093CA0}"/>
              </a:ext>
            </a:extLst>
          </p:cNvPr>
          <p:cNvSpPr>
            <a:spLocks noGrp="1"/>
          </p:cNvSpPr>
          <p:nvPr>
            <p:ph type="ftr" sz="quarter" idx="11"/>
          </p:nvPr>
        </p:nvSpPr>
        <p:spPr/>
        <p:txBody>
          <a:bodyPr/>
          <a:lstStyle/>
          <a:p>
            <a:endParaRPr lang="pl-PL"/>
          </a:p>
        </p:txBody>
      </p:sp>
      <p:sp>
        <p:nvSpPr>
          <p:cNvPr id="6" name="Symbol zastępczy numeru slajdu 5">
            <a:extLst>
              <a:ext uri="{FF2B5EF4-FFF2-40B4-BE49-F238E27FC236}">
                <a16:creationId xmlns:a16="http://schemas.microsoft.com/office/drawing/2014/main" id="{6A812A67-7BC6-2768-36DA-CB17FDDA6F26}"/>
              </a:ext>
            </a:extLst>
          </p:cNvPr>
          <p:cNvSpPr>
            <a:spLocks noGrp="1"/>
          </p:cNvSpPr>
          <p:nvPr>
            <p:ph type="sldNum" sz="quarter" idx="12"/>
          </p:nvPr>
        </p:nvSpPr>
        <p:spPr/>
        <p:txBody>
          <a:bodyPr/>
          <a:lstStyle/>
          <a:p>
            <a:fld id="{009BFFD7-C5F1-47E2-A226-E50155270A5A}" type="slidenum">
              <a:rPr lang="pl-PL" smtClean="0"/>
              <a:t>‹#›</a:t>
            </a:fld>
            <a:endParaRPr lang="pl-PL"/>
          </a:p>
        </p:txBody>
      </p:sp>
    </p:spTree>
    <p:extLst>
      <p:ext uri="{BB962C8B-B14F-4D97-AF65-F5344CB8AC3E}">
        <p14:creationId xmlns:p14="http://schemas.microsoft.com/office/powerpoint/2010/main" val="1145144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3239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600" y="273600"/>
            <a:ext cx="10972320" cy="1144800"/>
          </a:xfrm>
          <a:prstGeom prst="rect">
            <a:avLst/>
          </a:prstGeom>
        </p:spPr>
        <p:txBody>
          <a:bodyPr lIns="0" tIns="0" rIns="0" bIns="0" anchor="ctr"/>
          <a:lstStyle/>
          <a:p>
            <a:endParaRPr/>
          </a:p>
        </p:txBody>
      </p:sp>
      <p:sp>
        <p:nvSpPr>
          <p:cNvPr id="3" name="PlaceHolder 2"/>
          <p:cNvSpPr>
            <a:spLocks noGrp="1"/>
          </p:cNvSpPr>
          <p:nvPr>
            <p:ph type="subTitle"/>
          </p:nvPr>
        </p:nvSpPr>
        <p:spPr>
          <a:xfrm>
            <a:off x="609600" y="1604520"/>
            <a:ext cx="10972320" cy="3977280"/>
          </a:xfrm>
          <a:prstGeom prst="rect">
            <a:avLst/>
          </a:prstGeom>
        </p:spPr>
        <p:txBody>
          <a:bodyPr lIns="0" tIns="0" rIns="0" bIns="0" anchor="ctr"/>
          <a:lstStyle/>
          <a:p>
            <a:pPr algn="ctr"/>
            <a:endParaRPr/>
          </a:p>
        </p:txBody>
      </p:sp>
    </p:spTree>
    <p:extLst>
      <p:ext uri="{BB962C8B-B14F-4D97-AF65-F5344CB8AC3E}">
        <p14:creationId xmlns:p14="http://schemas.microsoft.com/office/powerpoint/2010/main" val="20268513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600" y="273600"/>
            <a:ext cx="10972320" cy="1144800"/>
          </a:xfrm>
          <a:prstGeom prst="rect">
            <a:avLst/>
          </a:prstGeom>
        </p:spPr>
        <p:txBody>
          <a:bodyPr lIns="0" tIns="0" rIns="0" bIns="0" anchor="ctr"/>
          <a:lstStyle/>
          <a:p>
            <a:endParaRPr/>
          </a:p>
        </p:txBody>
      </p:sp>
      <p:sp>
        <p:nvSpPr>
          <p:cNvPr id="5" name="PlaceHolder 2"/>
          <p:cNvSpPr>
            <a:spLocks noGrp="1"/>
          </p:cNvSpPr>
          <p:nvPr>
            <p:ph type="body"/>
          </p:nvPr>
        </p:nvSpPr>
        <p:spPr>
          <a:xfrm>
            <a:off x="609600" y="1604520"/>
            <a:ext cx="10972320" cy="3977280"/>
          </a:xfrm>
          <a:prstGeom prst="rect">
            <a:avLst/>
          </a:prstGeom>
        </p:spPr>
        <p:txBody>
          <a:bodyPr lIns="0" tIns="0" rIns="0" bIns="0"/>
          <a:lstStyle/>
          <a:p>
            <a:endParaRPr/>
          </a:p>
        </p:txBody>
      </p:sp>
    </p:spTree>
    <p:extLst>
      <p:ext uri="{BB962C8B-B14F-4D97-AF65-F5344CB8AC3E}">
        <p14:creationId xmlns:p14="http://schemas.microsoft.com/office/powerpoint/2010/main" val="24298340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600" y="273600"/>
            <a:ext cx="10972320" cy="1144800"/>
          </a:xfrm>
          <a:prstGeom prst="rect">
            <a:avLst/>
          </a:prstGeom>
        </p:spPr>
        <p:txBody>
          <a:bodyPr lIns="0" tIns="0" rIns="0" bIns="0" anchor="ctr"/>
          <a:lstStyle/>
          <a:p>
            <a:endParaRPr/>
          </a:p>
        </p:txBody>
      </p:sp>
      <p:sp>
        <p:nvSpPr>
          <p:cNvPr id="7" name="PlaceHolder 2"/>
          <p:cNvSpPr>
            <a:spLocks noGrp="1"/>
          </p:cNvSpPr>
          <p:nvPr>
            <p:ph type="body"/>
          </p:nvPr>
        </p:nvSpPr>
        <p:spPr>
          <a:xfrm>
            <a:off x="609600" y="1604520"/>
            <a:ext cx="5354400" cy="3977280"/>
          </a:xfrm>
          <a:prstGeom prst="rect">
            <a:avLst/>
          </a:prstGeom>
        </p:spPr>
        <p:txBody>
          <a:bodyPr lIns="0" tIns="0" rIns="0" bIns="0"/>
          <a:lstStyle/>
          <a:p>
            <a:endParaRPr/>
          </a:p>
        </p:txBody>
      </p:sp>
      <p:sp>
        <p:nvSpPr>
          <p:cNvPr id="8" name="PlaceHolder 3"/>
          <p:cNvSpPr>
            <a:spLocks noGrp="1"/>
          </p:cNvSpPr>
          <p:nvPr>
            <p:ph type="body"/>
          </p:nvPr>
        </p:nvSpPr>
        <p:spPr>
          <a:xfrm>
            <a:off x="6232320" y="1604520"/>
            <a:ext cx="5354400" cy="3977280"/>
          </a:xfrm>
          <a:prstGeom prst="rect">
            <a:avLst/>
          </a:prstGeom>
        </p:spPr>
        <p:txBody>
          <a:bodyPr lIns="0" tIns="0" rIns="0" bIns="0"/>
          <a:lstStyle/>
          <a:p>
            <a:endParaRPr/>
          </a:p>
        </p:txBody>
      </p:sp>
    </p:spTree>
    <p:extLst>
      <p:ext uri="{BB962C8B-B14F-4D97-AF65-F5344CB8AC3E}">
        <p14:creationId xmlns:p14="http://schemas.microsoft.com/office/powerpoint/2010/main" val="23290371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600" y="273600"/>
            <a:ext cx="10972320" cy="1144800"/>
          </a:xfrm>
          <a:prstGeom prst="rect">
            <a:avLst/>
          </a:prstGeom>
        </p:spPr>
        <p:txBody>
          <a:bodyPr lIns="0" tIns="0" rIns="0" bIns="0" anchor="ctr"/>
          <a:lstStyle/>
          <a:p>
            <a:endParaRPr/>
          </a:p>
        </p:txBody>
      </p:sp>
    </p:spTree>
    <p:extLst>
      <p:ext uri="{BB962C8B-B14F-4D97-AF65-F5344CB8AC3E}">
        <p14:creationId xmlns:p14="http://schemas.microsoft.com/office/powerpoint/2010/main" val="18981631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600" y="273600"/>
            <a:ext cx="10972320" cy="5307840"/>
          </a:xfrm>
          <a:prstGeom prst="rect">
            <a:avLst/>
          </a:prstGeom>
        </p:spPr>
        <p:txBody>
          <a:bodyPr lIns="0" tIns="0" rIns="0" bIns="0" anchor="ctr"/>
          <a:lstStyle/>
          <a:p>
            <a:pPr algn="ctr"/>
            <a:endParaRPr/>
          </a:p>
        </p:txBody>
      </p:sp>
    </p:spTree>
    <p:extLst>
      <p:ext uri="{BB962C8B-B14F-4D97-AF65-F5344CB8AC3E}">
        <p14:creationId xmlns:p14="http://schemas.microsoft.com/office/powerpoint/2010/main" val="12164615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600" y="273600"/>
            <a:ext cx="10972320" cy="1144800"/>
          </a:xfrm>
          <a:prstGeom prst="rect">
            <a:avLst/>
          </a:prstGeom>
        </p:spPr>
        <p:txBody>
          <a:bodyPr lIns="0" tIns="0" rIns="0" bIns="0" anchor="ctr"/>
          <a:lstStyle/>
          <a:p>
            <a:endParaRPr/>
          </a:p>
        </p:txBody>
      </p:sp>
      <p:sp>
        <p:nvSpPr>
          <p:cNvPr id="12" name="PlaceHolder 2"/>
          <p:cNvSpPr>
            <a:spLocks noGrp="1"/>
          </p:cNvSpPr>
          <p:nvPr>
            <p:ph type="body"/>
          </p:nvPr>
        </p:nvSpPr>
        <p:spPr>
          <a:xfrm>
            <a:off x="609600" y="1604520"/>
            <a:ext cx="5354400" cy="1896840"/>
          </a:xfrm>
          <a:prstGeom prst="rect">
            <a:avLst/>
          </a:prstGeom>
        </p:spPr>
        <p:txBody>
          <a:bodyPr lIns="0" tIns="0" rIns="0" bIns="0"/>
          <a:lstStyle/>
          <a:p>
            <a:endParaRPr/>
          </a:p>
        </p:txBody>
      </p:sp>
      <p:sp>
        <p:nvSpPr>
          <p:cNvPr id="13" name="PlaceHolder 3"/>
          <p:cNvSpPr>
            <a:spLocks noGrp="1"/>
          </p:cNvSpPr>
          <p:nvPr>
            <p:ph type="body"/>
          </p:nvPr>
        </p:nvSpPr>
        <p:spPr>
          <a:xfrm>
            <a:off x="609600" y="3682080"/>
            <a:ext cx="5354400" cy="1896840"/>
          </a:xfrm>
          <a:prstGeom prst="rect">
            <a:avLst/>
          </a:prstGeom>
        </p:spPr>
        <p:txBody>
          <a:bodyPr lIns="0" tIns="0" rIns="0" bIns="0"/>
          <a:lstStyle/>
          <a:p>
            <a:endParaRPr/>
          </a:p>
        </p:txBody>
      </p:sp>
      <p:sp>
        <p:nvSpPr>
          <p:cNvPr id="14" name="PlaceHolder 4"/>
          <p:cNvSpPr>
            <a:spLocks noGrp="1"/>
          </p:cNvSpPr>
          <p:nvPr>
            <p:ph type="body"/>
          </p:nvPr>
        </p:nvSpPr>
        <p:spPr>
          <a:xfrm>
            <a:off x="6232320" y="1604520"/>
            <a:ext cx="5354400" cy="3977280"/>
          </a:xfrm>
          <a:prstGeom prst="rect">
            <a:avLst/>
          </a:prstGeom>
        </p:spPr>
        <p:txBody>
          <a:bodyPr lIns="0" tIns="0" rIns="0" bIns="0"/>
          <a:lstStyle/>
          <a:p>
            <a:endParaRPr/>
          </a:p>
        </p:txBody>
      </p:sp>
    </p:spTree>
    <p:extLst>
      <p:ext uri="{BB962C8B-B14F-4D97-AF65-F5344CB8AC3E}">
        <p14:creationId xmlns:p14="http://schemas.microsoft.com/office/powerpoint/2010/main" val="8705287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600" y="273600"/>
            <a:ext cx="10972320" cy="1144800"/>
          </a:xfrm>
          <a:prstGeom prst="rect">
            <a:avLst/>
          </a:prstGeom>
        </p:spPr>
        <p:txBody>
          <a:bodyPr lIns="0" tIns="0" rIns="0" bIns="0" anchor="ctr"/>
          <a:lstStyle/>
          <a:p>
            <a:endParaRPr/>
          </a:p>
        </p:txBody>
      </p:sp>
      <p:sp>
        <p:nvSpPr>
          <p:cNvPr id="16" name="PlaceHolder 2"/>
          <p:cNvSpPr>
            <a:spLocks noGrp="1"/>
          </p:cNvSpPr>
          <p:nvPr>
            <p:ph type="body"/>
          </p:nvPr>
        </p:nvSpPr>
        <p:spPr>
          <a:xfrm>
            <a:off x="609600" y="1604520"/>
            <a:ext cx="5354400" cy="3977280"/>
          </a:xfrm>
          <a:prstGeom prst="rect">
            <a:avLst/>
          </a:prstGeom>
        </p:spPr>
        <p:txBody>
          <a:bodyPr lIns="0" tIns="0" rIns="0" bIns="0"/>
          <a:lstStyle/>
          <a:p>
            <a:endParaRPr/>
          </a:p>
        </p:txBody>
      </p:sp>
      <p:sp>
        <p:nvSpPr>
          <p:cNvPr id="17" name="PlaceHolder 3"/>
          <p:cNvSpPr>
            <a:spLocks noGrp="1"/>
          </p:cNvSpPr>
          <p:nvPr>
            <p:ph type="body"/>
          </p:nvPr>
        </p:nvSpPr>
        <p:spPr>
          <a:xfrm>
            <a:off x="6232320" y="1604520"/>
            <a:ext cx="5354400" cy="1896840"/>
          </a:xfrm>
          <a:prstGeom prst="rect">
            <a:avLst/>
          </a:prstGeom>
        </p:spPr>
        <p:txBody>
          <a:bodyPr lIns="0" tIns="0" rIns="0" bIns="0"/>
          <a:lstStyle/>
          <a:p>
            <a:endParaRPr/>
          </a:p>
        </p:txBody>
      </p:sp>
      <p:sp>
        <p:nvSpPr>
          <p:cNvPr id="18" name="PlaceHolder 4"/>
          <p:cNvSpPr>
            <a:spLocks noGrp="1"/>
          </p:cNvSpPr>
          <p:nvPr>
            <p:ph type="body"/>
          </p:nvPr>
        </p:nvSpPr>
        <p:spPr>
          <a:xfrm>
            <a:off x="6232320" y="3682080"/>
            <a:ext cx="5354400" cy="1896840"/>
          </a:xfrm>
          <a:prstGeom prst="rect">
            <a:avLst/>
          </a:prstGeom>
        </p:spPr>
        <p:txBody>
          <a:bodyPr lIns="0" tIns="0" rIns="0" bIns="0"/>
          <a:lstStyle/>
          <a:p>
            <a:endParaRPr/>
          </a:p>
        </p:txBody>
      </p:sp>
    </p:spTree>
    <p:extLst>
      <p:ext uri="{BB962C8B-B14F-4D97-AF65-F5344CB8AC3E}">
        <p14:creationId xmlns:p14="http://schemas.microsoft.com/office/powerpoint/2010/main" val="37907134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600" y="273600"/>
            <a:ext cx="10972320" cy="1144800"/>
          </a:xfrm>
          <a:prstGeom prst="rect">
            <a:avLst/>
          </a:prstGeom>
        </p:spPr>
        <p:txBody>
          <a:bodyPr lIns="0" tIns="0" rIns="0" bIns="0" anchor="ctr"/>
          <a:lstStyle/>
          <a:p>
            <a:endParaRPr/>
          </a:p>
        </p:txBody>
      </p:sp>
      <p:sp>
        <p:nvSpPr>
          <p:cNvPr id="20" name="PlaceHolder 2"/>
          <p:cNvSpPr>
            <a:spLocks noGrp="1"/>
          </p:cNvSpPr>
          <p:nvPr>
            <p:ph type="body"/>
          </p:nvPr>
        </p:nvSpPr>
        <p:spPr>
          <a:xfrm>
            <a:off x="609600" y="1604520"/>
            <a:ext cx="5354400" cy="1896840"/>
          </a:xfrm>
          <a:prstGeom prst="rect">
            <a:avLst/>
          </a:prstGeom>
        </p:spPr>
        <p:txBody>
          <a:bodyPr lIns="0" tIns="0" rIns="0" bIns="0"/>
          <a:lstStyle/>
          <a:p>
            <a:endParaRPr/>
          </a:p>
        </p:txBody>
      </p:sp>
      <p:sp>
        <p:nvSpPr>
          <p:cNvPr id="21" name="PlaceHolder 3"/>
          <p:cNvSpPr>
            <a:spLocks noGrp="1"/>
          </p:cNvSpPr>
          <p:nvPr>
            <p:ph type="body"/>
          </p:nvPr>
        </p:nvSpPr>
        <p:spPr>
          <a:xfrm>
            <a:off x="6232320" y="1604520"/>
            <a:ext cx="5354400" cy="1896840"/>
          </a:xfrm>
          <a:prstGeom prst="rect">
            <a:avLst/>
          </a:prstGeom>
        </p:spPr>
        <p:txBody>
          <a:bodyPr lIns="0" tIns="0" rIns="0" bIns="0"/>
          <a:lstStyle/>
          <a:p>
            <a:endParaRPr/>
          </a:p>
        </p:txBody>
      </p:sp>
      <p:sp>
        <p:nvSpPr>
          <p:cNvPr id="22" name="PlaceHolder 4"/>
          <p:cNvSpPr>
            <a:spLocks noGrp="1"/>
          </p:cNvSpPr>
          <p:nvPr>
            <p:ph type="body"/>
          </p:nvPr>
        </p:nvSpPr>
        <p:spPr>
          <a:xfrm>
            <a:off x="609600" y="3682080"/>
            <a:ext cx="10972320" cy="1896840"/>
          </a:xfrm>
          <a:prstGeom prst="rect">
            <a:avLst/>
          </a:prstGeom>
        </p:spPr>
        <p:txBody>
          <a:bodyPr lIns="0" tIns="0" rIns="0" bIns="0"/>
          <a:lstStyle/>
          <a:p>
            <a:endParaRPr/>
          </a:p>
        </p:txBody>
      </p:sp>
    </p:spTree>
    <p:extLst>
      <p:ext uri="{BB962C8B-B14F-4D97-AF65-F5344CB8AC3E}">
        <p14:creationId xmlns:p14="http://schemas.microsoft.com/office/powerpoint/2010/main" val="27170074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600" y="273600"/>
            <a:ext cx="10972320" cy="1144800"/>
          </a:xfrm>
          <a:prstGeom prst="rect">
            <a:avLst/>
          </a:prstGeom>
        </p:spPr>
        <p:txBody>
          <a:bodyPr lIns="0" tIns="0" rIns="0" bIns="0" anchor="ctr"/>
          <a:lstStyle/>
          <a:p>
            <a:endParaRPr/>
          </a:p>
        </p:txBody>
      </p:sp>
      <p:sp>
        <p:nvSpPr>
          <p:cNvPr id="24" name="PlaceHolder 2"/>
          <p:cNvSpPr>
            <a:spLocks noGrp="1"/>
          </p:cNvSpPr>
          <p:nvPr>
            <p:ph type="body"/>
          </p:nvPr>
        </p:nvSpPr>
        <p:spPr>
          <a:xfrm>
            <a:off x="609600" y="1604520"/>
            <a:ext cx="10972320" cy="1896840"/>
          </a:xfrm>
          <a:prstGeom prst="rect">
            <a:avLst/>
          </a:prstGeom>
        </p:spPr>
        <p:txBody>
          <a:bodyPr lIns="0" tIns="0" rIns="0" bIns="0"/>
          <a:lstStyle/>
          <a:p>
            <a:endParaRPr/>
          </a:p>
        </p:txBody>
      </p:sp>
      <p:sp>
        <p:nvSpPr>
          <p:cNvPr id="25" name="PlaceHolder 3"/>
          <p:cNvSpPr>
            <a:spLocks noGrp="1"/>
          </p:cNvSpPr>
          <p:nvPr>
            <p:ph type="body"/>
          </p:nvPr>
        </p:nvSpPr>
        <p:spPr>
          <a:xfrm>
            <a:off x="609600" y="3682080"/>
            <a:ext cx="10972320" cy="1896840"/>
          </a:xfrm>
          <a:prstGeom prst="rect">
            <a:avLst/>
          </a:prstGeom>
        </p:spPr>
        <p:txBody>
          <a:bodyPr lIns="0" tIns="0" rIns="0" bIns="0"/>
          <a:lstStyle/>
          <a:p>
            <a:endParaRPr/>
          </a:p>
        </p:txBody>
      </p:sp>
    </p:spTree>
    <p:extLst>
      <p:ext uri="{BB962C8B-B14F-4D97-AF65-F5344CB8AC3E}">
        <p14:creationId xmlns:p14="http://schemas.microsoft.com/office/powerpoint/2010/main" val="3868953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600" y="273600"/>
            <a:ext cx="10972320" cy="1144800"/>
          </a:xfrm>
          <a:prstGeom prst="rect">
            <a:avLst/>
          </a:prstGeom>
        </p:spPr>
        <p:txBody>
          <a:bodyPr lIns="0" tIns="0" rIns="0" bIns="0" anchor="ctr"/>
          <a:lstStyle/>
          <a:p>
            <a:endParaRPr/>
          </a:p>
        </p:txBody>
      </p:sp>
      <p:sp>
        <p:nvSpPr>
          <p:cNvPr id="27" name="PlaceHolder 2"/>
          <p:cNvSpPr>
            <a:spLocks noGrp="1"/>
          </p:cNvSpPr>
          <p:nvPr>
            <p:ph type="body"/>
          </p:nvPr>
        </p:nvSpPr>
        <p:spPr>
          <a:xfrm>
            <a:off x="609600" y="1604520"/>
            <a:ext cx="5354400" cy="1896840"/>
          </a:xfrm>
          <a:prstGeom prst="rect">
            <a:avLst/>
          </a:prstGeom>
        </p:spPr>
        <p:txBody>
          <a:bodyPr lIns="0" tIns="0" rIns="0" bIns="0"/>
          <a:lstStyle/>
          <a:p>
            <a:endParaRPr/>
          </a:p>
        </p:txBody>
      </p:sp>
      <p:sp>
        <p:nvSpPr>
          <p:cNvPr id="28" name="PlaceHolder 3"/>
          <p:cNvSpPr>
            <a:spLocks noGrp="1"/>
          </p:cNvSpPr>
          <p:nvPr>
            <p:ph type="body"/>
          </p:nvPr>
        </p:nvSpPr>
        <p:spPr>
          <a:xfrm>
            <a:off x="6232320" y="1604520"/>
            <a:ext cx="5354400" cy="1896840"/>
          </a:xfrm>
          <a:prstGeom prst="rect">
            <a:avLst/>
          </a:prstGeom>
        </p:spPr>
        <p:txBody>
          <a:bodyPr lIns="0" tIns="0" rIns="0" bIns="0"/>
          <a:lstStyle/>
          <a:p>
            <a:endParaRPr/>
          </a:p>
        </p:txBody>
      </p:sp>
      <p:sp>
        <p:nvSpPr>
          <p:cNvPr id="29" name="PlaceHolder 4"/>
          <p:cNvSpPr>
            <a:spLocks noGrp="1"/>
          </p:cNvSpPr>
          <p:nvPr>
            <p:ph type="body"/>
          </p:nvPr>
        </p:nvSpPr>
        <p:spPr>
          <a:xfrm>
            <a:off x="6232320" y="3682080"/>
            <a:ext cx="5354400" cy="1896840"/>
          </a:xfrm>
          <a:prstGeom prst="rect">
            <a:avLst/>
          </a:prstGeom>
        </p:spPr>
        <p:txBody>
          <a:bodyPr lIns="0" tIns="0" rIns="0" bIns="0"/>
          <a:lstStyle/>
          <a:p>
            <a:endParaRPr/>
          </a:p>
        </p:txBody>
      </p:sp>
      <p:sp>
        <p:nvSpPr>
          <p:cNvPr id="30" name="PlaceHolder 5"/>
          <p:cNvSpPr>
            <a:spLocks noGrp="1"/>
          </p:cNvSpPr>
          <p:nvPr>
            <p:ph type="body"/>
          </p:nvPr>
        </p:nvSpPr>
        <p:spPr>
          <a:xfrm>
            <a:off x="609600" y="3682080"/>
            <a:ext cx="5354400" cy="1896840"/>
          </a:xfrm>
          <a:prstGeom prst="rect">
            <a:avLst/>
          </a:prstGeom>
        </p:spPr>
        <p:txBody>
          <a:bodyPr lIns="0" tIns="0" rIns="0" bIns="0"/>
          <a:lstStyle/>
          <a:p>
            <a:endParaRPr/>
          </a:p>
        </p:txBody>
      </p:sp>
    </p:spTree>
    <p:extLst>
      <p:ext uri="{BB962C8B-B14F-4D97-AF65-F5344CB8AC3E}">
        <p14:creationId xmlns:p14="http://schemas.microsoft.com/office/powerpoint/2010/main" val="5992690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600" y="273600"/>
            <a:ext cx="10972320" cy="1144800"/>
          </a:xfrm>
          <a:prstGeom prst="rect">
            <a:avLst/>
          </a:prstGeom>
        </p:spPr>
        <p:txBody>
          <a:bodyPr lIns="0" tIns="0" rIns="0" bIns="0" anchor="ctr"/>
          <a:lstStyle/>
          <a:p>
            <a:endParaRPr/>
          </a:p>
        </p:txBody>
      </p:sp>
      <p:sp>
        <p:nvSpPr>
          <p:cNvPr id="32" name="PlaceHolder 2"/>
          <p:cNvSpPr>
            <a:spLocks noGrp="1"/>
          </p:cNvSpPr>
          <p:nvPr>
            <p:ph type="body"/>
          </p:nvPr>
        </p:nvSpPr>
        <p:spPr>
          <a:xfrm>
            <a:off x="609600" y="1604520"/>
            <a:ext cx="10972320" cy="3977280"/>
          </a:xfrm>
          <a:prstGeom prst="rect">
            <a:avLst/>
          </a:prstGeom>
        </p:spPr>
        <p:txBody>
          <a:bodyPr lIns="0" tIns="0" rIns="0" bIns="0"/>
          <a:lstStyle/>
          <a:p>
            <a:endParaRPr/>
          </a:p>
        </p:txBody>
      </p:sp>
      <p:sp>
        <p:nvSpPr>
          <p:cNvPr id="33" name="PlaceHolder 3"/>
          <p:cNvSpPr>
            <a:spLocks noGrp="1"/>
          </p:cNvSpPr>
          <p:nvPr>
            <p:ph type="body"/>
          </p:nvPr>
        </p:nvSpPr>
        <p:spPr>
          <a:xfrm>
            <a:off x="609600" y="1604520"/>
            <a:ext cx="10972320" cy="3977280"/>
          </a:xfrm>
          <a:prstGeom prst="rect">
            <a:avLst/>
          </a:prstGeom>
        </p:spPr>
        <p:txBody>
          <a:bodyPr lIns="0" tIns="0" rIns="0" bIns="0"/>
          <a:lstStyle/>
          <a:p>
            <a:endParaRPr/>
          </a:p>
        </p:txBody>
      </p:sp>
      <p:pic>
        <p:nvPicPr>
          <p:cNvPr id="34" name="Obraz 33"/>
          <p:cNvPicPr/>
          <p:nvPr/>
        </p:nvPicPr>
        <p:blipFill>
          <a:blip r:embed="rId2"/>
          <a:stretch/>
        </p:blipFill>
        <p:spPr>
          <a:xfrm>
            <a:off x="2770560" y="1604520"/>
            <a:ext cx="6649920" cy="3977280"/>
          </a:xfrm>
          <a:prstGeom prst="rect">
            <a:avLst/>
          </a:prstGeom>
          <a:ln>
            <a:noFill/>
          </a:ln>
        </p:spPr>
      </p:pic>
      <p:pic>
        <p:nvPicPr>
          <p:cNvPr id="35" name="Obraz 34"/>
          <p:cNvPicPr/>
          <p:nvPr/>
        </p:nvPicPr>
        <p:blipFill>
          <a:blip r:embed="rId2"/>
          <a:stretch/>
        </p:blipFill>
        <p:spPr>
          <a:xfrm>
            <a:off x="2770560" y="1604520"/>
            <a:ext cx="6649920" cy="3977280"/>
          </a:xfrm>
          <a:prstGeom prst="rect">
            <a:avLst/>
          </a:prstGeom>
          <a:ln>
            <a:noFill/>
          </a:ln>
        </p:spPr>
      </p:pic>
    </p:spTree>
    <p:extLst>
      <p:ext uri="{BB962C8B-B14F-4D97-AF65-F5344CB8AC3E}">
        <p14:creationId xmlns:p14="http://schemas.microsoft.com/office/powerpoint/2010/main" val="16392312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en-GB"/>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0BED615-F1E0-4C35-81FC-6FC7D82097F5}" type="datetimeFigureOut">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17/10/2025</a:t>
            </a:fld>
            <a:endParaRPr kumimoji="0" lang="en-GB"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ymbol zastępczy stopki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ymbol zastępczy numeru slajdu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0D233A-2BC4-4C9C-9ADB-C10A5DAE7BF5}" type="slidenum">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6893850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914400" y="2130426"/>
            <a:ext cx="10363200" cy="1470025"/>
          </a:xfrm>
        </p:spPr>
        <p:txBody>
          <a:bodyPr/>
          <a:lstStyle/>
          <a:p>
            <a:r>
              <a:rPr lang="pl-PL"/>
              <a:t>Kliknij, aby edytować styl</a:t>
            </a:r>
          </a:p>
        </p:txBody>
      </p:sp>
      <p:sp>
        <p:nvSpPr>
          <p:cNvPr id="3" name="Podtytuł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p>
        </p:txBody>
      </p:sp>
      <p:sp>
        <p:nvSpPr>
          <p:cNvPr id="4" name="Symbol zastępczy daty 3"/>
          <p:cNvSpPr>
            <a:spLocks noGrp="1"/>
          </p:cNvSpPr>
          <p:nvPr>
            <p:ph type="dt" sz="half" idx="10"/>
          </p:nvPr>
        </p:nvSpPr>
        <p:spPr/>
        <p:txBody>
          <a:bodyPr/>
          <a:lstStyle/>
          <a:p>
            <a:fld id="{B313BEB1-2AF7-453C-981E-140EE2E939C9}" type="datetimeFigureOut">
              <a:rPr lang="pl-PL" smtClean="0">
                <a:solidFill>
                  <a:prstClr val="black">
                    <a:tint val="75000"/>
                  </a:prstClr>
                </a:solidFill>
              </a:rPr>
              <a:pPr/>
              <a:t>16.10.2025</a:t>
            </a:fld>
            <a:endParaRPr lang="pl-PL">
              <a:solidFill>
                <a:prstClr val="black">
                  <a:tint val="75000"/>
                </a:prstClr>
              </a:solidFill>
            </a:endParaRPr>
          </a:p>
        </p:txBody>
      </p:sp>
      <p:sp>
        <p:nvSpPr>
          <p:cNvPr id="5" name="Symbol zastępczy stopki 4"/>
          <p:cNvSpPr>
            <a:spLocks noGrp="1"/>
          </p:cNvSpPr>
          <p:nvPr>
            <p:ph type="ftr" sz="quarter" idx="11"/>
          </p:nvPr>
        </p:nvSpPr>
        <p:spPr/>
        <p:txBody>
          <a:bodyPr/>
          <a:lstStyle/>
          <a:p>
            <a:endParaRPr lang="pl-PL">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39091079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B313BEB1-2AF7-453C-981E-140EE2E939C9}" type="datetimeFigureOut">
              <a:rPr lang="pl-PL" smtClean="0">
                <a:solidFill>
                  <a:prstClr val="black">
                    <a:tint val="75000"/>
                  </a:prstClr>
                </a:solidFill>
              </a:rPr>
              <a:pPr/>
              <a:t>16.10.2025</a:t>
            </a:fld>
            <a:endParaRPr lang="pl-PL">
              <a:solidFill>
                <a:prstClr val="black">
                  <a:tint val="75000"/>
                </a:prstClr>
              </a:solidFill>
            </a:endParaRPr>
          </a:p>
        </p:txBody>
      </p:sp>
      <p:sp>
        <p:nvSpPr>
          <p:cNvPr id="5" name="Symbol zastępczy stopki 4"/>
          <p:cNvSpPr>
            <a:spLocks noGrp="1"/>
          </p:cNvSpPr>
          <p:nvPr>
            <p:ph type="ftr" sz="quarter" idx="11"/>
          </p:nvPr>
        </p:nvSpPr>
        <p:spPr/>
        <p:txBody>
          <a:bodyPr/>
          <a:lstStyle/>
          <a:p>
            <a:endParaRPr lang="pl-PL">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40390455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963084" y="4406901"/>
            <a:ext cx="10363200" cy="1362075"/>
          </a:xfrm>
        </p:spPr>
        <p:txBody>
          <a:bodyPr anchor="t"/>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Symbol zastępczy daty 3"/>
          <p:cNvSpPr>
            <a:spLocks noGrp="1"/>
          </p:cNvSpPr>
          <p:nvPr>
            <p:ph type="dt" sz="half" idx="10"/>
          </p:nvPr>
        </p:nvSpPr>
        <p:spPr/>
        <p:txBody>
          <a:bodyPr/>
          <a:lstStyle/>
          <a:p>
            <a:fld id="{B313BEB1-2AF7-453C-981E-140EE2E939C9}" type="datetimeFigureOut">
              <a:rPr lang="pl-PL" smtClean="0">
                <a:solidFill>
                  <a:prstClr val="black">
                    <a:tint val="75000"/>
                  </a:prstClr>
                </a:solidFill>
              </a:rPr>
              <a:pPr/>
              <a:t>16.10.2025</a:t>
            </a:fld>
            <a:endParaRPr lang="pl-PL">
              <a:solidFill>
                <a:prstClr val="black">
                  <a:tint val="75000"/>
                </a:prstClr>
              </a:solidFill>
            </a:endParaRPr>
          </a:p>
        </p:txBody>
      </p:sp>
      <p:sp>
        <p:nvSpPr>
          <p:cNvPr id="5" name="Symbol zastępczy stopki 4"/>
          <p:cNvSpPr>
            <a:spLocks noGrp="1"/>
          </p:cNvSpPr>
          <p:nvPr>
            <p:ph type="ftr" sz="quarter" idx="11"/>
          </p:nvPr>
        </p:nvSpPr>
        <p:spPr/>
        <p:txBody>
          <a:bodyPr/>
          <a:lstStyle/>
          <a:p>
            <a:endParaRPr lang="pl-PL">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14862233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p:cNvSpPr>
            <a:spLocks noGrp="1"/>
          </p:cNvSpPr>
          <p:nvPr>
            <p:ph type="dt" sz="half" idx="10"/>
          </p:nvPr>
        </p:nvSpPr>
        <p:spPr/>
        <p:txBody>
          <a:bodyPr/>
          <a:lstStyle/>
          <a:p>
            <a:fld id="{B313BEB1-2AF7-453C-981E-140EE2E939C9}" type="datetimeFigureOut">
              <a:rPr lang="pl-PL" smtClean="0">
                <a:solidFill>
                  <a:prstClr val="black">
                    <a:tint val="75000"/>
                  </a:prstClr>
                </a:solidFill>
              </a:rPr>
              <a:pPr/>
              <a:t>16.10.2025</a:t>
            </a:fld>
            <a:endParaRPr lang="pl-PL">
              <a:solidFill>
                <a:prstClr val="black">
                  <a:tint val="75000"/>
                </a:prstClr>
              </a:solidFill>
            </a:endParaRPr>
          </a:p>
        </p:txBody>
      </p:sp>
      <p:sp>
        <p:nvSpPr>
          <p:cNvPr id="6" name="Symbol zastępczy stopki 5"/>
          <p:cNvSpPr>
            <a:spLocks noGrp="1"/>
          </p:cNvSpPr>
          <p:nvPr>
            <p:ph type="ftr" sz="quarter" idx="11"/>
          </p:nvPr>
        </p:nvSpPr>
        <p:spPr/>
        <p:txBody>
          <a:bodyPr/>
          <a:lstStyle/>
          <a:p>
            <a:endParaRPr lang="pl-PL">
              <a:solidFill>
                <a:prstClr val="black">
                  <a:tint val="75000"/>
                </a:prstClr>
              </a:solidFill>
            </a:endParaRPr>
          </a:p>
        </p:txBody>
      </p:sp>
      <p:sp>
        <p:nvSpPr>
          <p:cNvPr id="7" name="Symbol zastępczy numeru slajdu 6"/>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7406245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p:cNvSpPr>
            <a:spLocks noGrp="1"/>
          </p:cNvSpPr>
          <p:nvPr>
            <p:ph type="dt" sz="half" idx="10"/>
          </p:nvPr>
        </p:nvSpPr>
        <p:spPr/>
        <p:txBody>
          <a:bodyPr/>
          <a:lstStyle/>
          <a:p>
            <a:fld id="{B313BEB1-2AF7-453C-981E-140EE2E939C9}" type="datetimeFigureOut">
              <a:rPr lang="pl-PL" smtClean="0">
                <a:solidFill>
                  <a:prstClr val="black">
                    <a:tint val="75000"/>
                  </a:prstClr>
                </a:solidFill>
              </a:rPr>
              <a:pPr/>
              <a:t>16.10.2025</a:t>
            </a:fld>
            <a:endParaRPr lang="pl-PL">
              <a:solidFill>
                <a:prstClr val="black">
                  <a:tint val="75000"/>
                </a:prstClr>
              </a:solidFill>
            </a:endParaRPr>
          </a:p>
        </p:txBody>
      </p:sp>
      <p:sp>
        <p:nvSpPr>
          <p:cNvPr id="8" name="Symbol zastępczy stopki 7"/>
          <p:cNvSpPr>
            <a:spLocks noGrp="1"/>
          </p:cNvSpPr>
          <p:nvPr>
            <p:ph type="ftr" sz="quarter" idx="11"/>
          </p:nvPr>
        </p:nvSpPr>
        <p:spPr/>
        <p:txBody>
          <a:bodyPr/>
          <a:lstStyle/>
          <a:p>
            <a:endParaRPr lang="pl-PL">
              <a:solidFill>
                <a:prstClr val="black">
                  <a:tint val="75000"/>
                </a:prstClr>
              </a:solidFill>
            </a:endParaRPr>
          </a:p>
        </p:txBody>
      </p:sp>
      <p:sp>
        <p:nvSpPr>
          <p:cNvPr id="9" name="Symbol zastępczy numeru slajdu 8"/>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16702825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2"/>
          <p:cNvSpPr>
            <a:spLocks noGrp="1"/>
          </p:cNvSpPr>
          <p:nvPr>
            <p:ph type="dt" sz="half" idx="10"/>
          </p:nvPr>
        </p:nvSpPr>
        <p:spPr/>
        <p:txBody>
          <a:bodyPr/>
          <a:lstStyle/>
          <a:p>
            <a:fld id="{B313BEB1-2AF7-453C-981E-140EE2E939C9}" type="datetimeFigureOut">
              <a:rPr lang="pl-PL" smtClean="0">
                <a:solidFill>
                  <a:prstClr val="black">
                    <a:tint val="75000"/>
                  </a:prstClr>
                </a:solidFill>
              </a:rPr>
              <a:pPr/>
              <a:t>16.10.2025</a:t>
            </a:fld>
            <a:endParaRPr lang="pl-PL">
              <a:solidFill>
                <a:prstClr val="black">
                  <a:tint val="75000"/>
                </a:prstClr>
              </a:solidFill>
            </a:endParaRPr>
          </a:p>
        </p:txBody>
      </p:sp>
      <p:sp>
        <p:nvSpPr>
          <p:cNvPr id="4" name="Symbol zastępczy stopki 3"/>
          <p:cNvSpPr>
            <a:spLocks noGrp="1"/>
          </p:cNvSpPr>
          <p:nvPr>
            <p:ph type="ftr" sz="quarter" idx="11"/>
          </p:nvPr>
        </p:nvSpPr>
        <p:spPr/>
        <p:txBody>
          <a:bodyPr/>
          <a:lstStyle/>
          <a:p>
            <a:endParaRPr lang="pl-PL">
              <a:solidFill>
                <a:prstClr val="black">
                  <a:tint val="75000"/>
                </a:prstClr>
              </a:solidFill>
            </a:endParaRPr>
          </a:p>
        </p:txBody>
      </p:sp>
      <p:sp>
        <p:nvSpPr>
          <p:cNvPr id="5" name="Symbol zastępczy numeru slajdu 4"/>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422168275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B313BEB1-2AF7-453C-981E-140EE2E939C9}" type="datetimeFigureOut">
              <a:rPr lang="pl-PL" smtClean="0">
                <a:solidFill>
                  <a:prstClr val="black">
                    <a:tint val="75000"/>
                  </a:prstClr>
                </a:solidFill>
              </a:rPr>
              <a:pPr/>
              <a:t>16.10.2025</a:t>
            </a:fld>
            <a:endParaRPr lang="pl-PL">
              <a:solidFill>
                <a:prstClr val="black">
                  <a:tint val="75000"/>
                </a:prstClr>
              </a:solidFill>
            </a:endParaRPr>
          </a:p>
        </p:txBody>
      </p:sp>
      <p:sp>
        <p:nvSpPr>
          <p:cNvPr id="3" name="Symbol zastępczy stopki 2"/>
          <p:cNvSpPr>
            <a:spLocks noGrp="1"/>
          </p:cNvSpPr>
          <p:nvPr>
            <p:ph type="ftr" sz="quarter" idx="11"/>
          </p:nvPr>
        </p:nvSpPr>
        <p:spPr/>
        <p:txBody>
          <a:bodyPr/>
          <a:lstStyle/>
          <a:p>
            <a:endParaRPr lang="pl-PL">
              <a:solidFill>
                <a:prstClr val="black">
                  <a:tint val="75000"/>
                </a:prstClr>
              </a:solidFill>
            </a:endParaRPr>
          </a:p>
        </p:txBody>
      </p:sp>
      <p:sp>
        <p:nvSpPr>
          <p:cNvPr id="4" name="Symbol zastępczy numeru slajdu 3"/>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523672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609601" y="273050"/>
            <a:ext cx="4011084" cy="1162050"/>
          </a:xfrm>
        </p:spPr>
        <p:txBody>
          <a:bodyPr anchor="b"/>
          <a:lstStyle>
            <a:lvl1pPr algn="l">
              <a:defRPr sz="2000" b="1"/>
            </a:lvl1pPr>
          </a:lstStyle>
          <a:p>
            <a:r>
              <a:rPr lang="pl-PL"/>
              <a:t>Kliknij, aby edytować styl</a:t>
            </a:r>
          </a:p>
        </p:txBody>
      </p:sp>
      <p:sp>
        <p:nvSpPr>
          <p:cNvPr id="3" name="Symbol zastępczy zawartości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B313BEB1-2AF7-453C-981E-140EE2E939C9}" type="datetimeFigureOut">
              <a:rPr lang="pl-PL" smtClean="0">
                <a:solidFill>
                  <a:prstClr val="black">
                    <a:tint val="75000"/>
                  </a:prstClr>
                </a:solidFill>
              </a:rPr>
              <a:pPr/>
              <a:t>16.10.2025</a:t>
            </a:fld>
            <a:endParaRPr lang="pl-PL">
              <a:solidFill>
                <a:prstClr val="black">
                  <a:tint val="75000"/>
                </a:prstClr>
              </a:solidFill>
            </a:endParaRPr>
          </a:p>
        </p:txBody>
      </p:sp>
      <p:sp>
        <p:nvSpPr>
          <p:cNvPr id="6" name="Symbol zastępczy stopki 5"/>
          <p:cNvSpPr>
            <a:spLocks noGrp="1"/>
          </p:cNvSpPr>
          <p:nvPr>
            <p:ph type="ftr" sz="quarter" idx="11"/>
          </p:nvPr>
        </p:nvSpPr>
        <p:spPr/>
        <p:txBody>
          <a:bodyPr/>
          <a:lstStyle/>
          <a:p>
            <a:endParaRPr lang="pl-PL">
              <a:solidFill>
                <a:prstClr val="black">
                  <a:tint val="75000"/>
                </a:prstClr>
              </a:solidFill>
            </a:endParaRPr>
          </a:p>
        </p:txBody>
      </p:sp>
      <p:sp>
        <p:nvSpPr>
          <p:cNvPr id="7" name="Symbol zastępczy numeru slajdu 6"/>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10960623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2389717" y="4800600"/>
            <a:ext cx="7315200" cy="566738"/>
          </a:xfrm>
        </p:spPr>
        <p:txBody>
          <a:bodyPr anchor="b"/>
          <a:lstStyle>
            <a:lvl1pPr algn="l">
              <a:defRPr sz="2000" b="1"/>
            </a:lvl1pPr>
          </a:lstStyle>
          <a:p>
            <a:r>
              <a:rPr lang="pl-PL"/>
              <a:t>Kliknij, aby edytować styl</a:t>
            </a:r>
          </a:p>
        </p:txBody>
      </p:sp>
      <p:sp>
        <p:nvSpPr>
          <p:cNvPr id="3" name="Symbol zastępczy obrazu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Symbol zastępczy tekstu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B313BEB1-2AF7-453C-981E-140EE2E939C9}" type="datetimeFigureOut">
              <a:rPr lang="pl-PL" smtClean="0">
                <a:solidFill>
                  <a:prstClr val="black">
                    <a:tint val="75000"/>
                  </a:prstClr>
                </a:solidFill>
              </a:rPr>
              <a:pPr/>
              <a:t>16.10.2025</a:t>
            </a:fld>
            <a:endParaRPr lang="pl-PL">
              <a:solidFill>
                <a:prstClr val="black">
                  <a:tint val="75000"/>
                </a:prstClr>
              </a:solidFill>
            </a:endParaRPr>
          </a:p>
        </p:txBody>
      </p:sp>
      <p:sp>
        <p:nvSpPr>
          <p:cNvPr id="6" name="Symbol zastępczy stopki 5"/>
          <p:cNvSpPr>
            <a:spLocks noGrp="1"/>
          </p:cNvSpPr>
          <p:nvPr>
            <p:ph type="ftr" sz="quarter" idx="11"/>
          </p:nvPr>
        </p:nvSpPr>
        <p:spPr/>
        <p:txBody>
          <a:bodyPr/>
          <a:lstStyle/>
          <a:p>
            <a:endParaRPr lang="pl-PL">
              <a:solidFill>
                <a:prstClr val="black">
                  <a:tint val="75000"/>
                </a:prstClr>
              </a:solidFill>
            </a:endParaRPr>
          </a:p>
        </p:txBody>
      </p:sp>
      <p:sp>
        <p:nvSpPr>
          <p:cNvPr id="7" name="Symbol zastępczy numeru slajdu 6"/>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213071462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B313BEB1-2AF7-453C-981E-140EE2E939C9}" type="datetimeFigureOut">
              <a:rPr lang="pl-PL" smtClean="0">
                <a:solidFill>
                  <a:prstClr val="black">
                    <a:tint val="75000"/>
                  </a:prstClr>
                </a:solidFill>
              </a:rPr>
              <a:pPr/>
              <a:t>16.10.2025</a:t>
            </a:fld>
            <a:endParaRPr lang="pl-PL">
              <a:solidFill>
                <a:prstClr val="black">
                  <a:tint val="75000"/>
                </a:prstClr>
              </a:solidFill>
            </a:endParaRPr>
          </a:p>
        </p:txBody>
      </p:sp>
      <p:sp>
        <p:nvSpPr>
          <p:cNvPr id="5" name="Symbol zastępczy stopki 4"/>
          <p:cNvSpPr>
            <a:spLocks noGrp="1"/>
          </p:cNvSpPr>
          <p:nvPr>
            <p:ph type="ftr" sz="quarter" idx="11"/>
          </p:nvPr>
        </p:nvSpPr>
        <p:spPr/>
        <p:txBody>
          <a:bodyPr/>
          <a:lstStyle/>
          <a:p>
            <a:endParaRPr lang="pl-PL">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26349427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8839200" y="274639"/>
            <a:ext cx="2743200" cy="5851525"/>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609600" y="274639"/>
            <a:ext cx="8026400" cy="5851525"/>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B313BEB1-2AF7-453C-981E-140EE2E939C9}" type="datetimeFigureOut">
              <a:rPr lang="pl-PL" smtClean="0">
                <a:solidFill>
                  <a:prstClr val="black">
                    <a:tint val="75000"/>
                  </a:prstClr>
                </a:solidFill>
              </a:rPr>
              <a:pPr/>
              <a:t>16.10.2025</a:t>
            </a:fld>
            <a:endParaRPr lang="pl-PL">
              <a:solidFill>
                <a:prstClr val="black">
                  <a:tint val="75000"/>
                </a:prstClr>
              </a:solidFill>
            </a:endParaRPr>
          </a:p>
        </p:txBody>
      </p:sp>
      <p:sp>
        <p:nvSpPr>
          <p:cNvPr id="5" name="Symbol zastępczy stopki 4"/>
          <p:cNvSpPr>
            <a:spLocks noGrp="1"/>
          </p:cNvSpPr>
          <p:nvPr>
            <p:ph type="ftr" sz="quarter" idx="11"/>
          </p:nvPr>
        </p:nvSpPr>
        <p:spPr/>
        <p:txBody>
          <a:bodyPr/>
          <a:lstStyle/>
          <a:p>
            <a:endParaRPr lang="pl-PL">
              <a:solidFill>
                <a:prstClr val="black">
                  <a:tint val="75000"/>
                </a:prstClr>
              </a:solidFill>
            </a:endParaRPr>
          </a:p>
        </p:txBody>
      </p:sp>
      <p:sp>
        <p:nvSpPr>
          <p:cNvPr id="6" name="Symbol zastępczy numeru slajdu 5"/>
          <p:cNvSpPr>
            <a:spLocks noGrp="1"/>
          </p:cNvSpPr>
          <p:nvPr>
            <p:ph type="sldNum" sz="quarter" idx="12"/>
          </p:nvPr>
        </p:nvSpPr>
        <p:spPr/>
        <p:txBody>
          <a:body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317736284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TwoObj">
  <p:cSld name="Tytuł, tekst i 2 elementy zawartości">
    <p:spTree>
      <p:nvGrpSpPr>
        <p:cNvPr id="1" name=""/>
        <p:cNvGrpSpPr/>
        <p:nvPr/>
      </p:nvGrpSpPr>
      <p:grpSpPr>
        <a:xfrm>
          <a:off x="0" y="0"/>
          <a:ext cx="0" cy="0"/>
          <a:chOff x="0" y="0"/>
          <a:chExt cx="0" cy="0"/>
        </a:xfrm>
      </p:grpSpPr>
      <p:sp>
        <p:nvSpPr>
          <p:cNvPr id="2" name="Tytuł 1"/>
          <p:cNvSpPr>
            <a:spLocks noGrp="1"/>
          </p:cNvSpPr>
          <p:nvPr>
            <p:ph type="title"/>
          </p:nvPr>
        </p:nvSpPr>
        <p:spPr>
          <a:xfrm>
            <a:off x="609600" y="274638"/>
            <a:ext cx="10972800" cy="1143000"/>
          </a:xfrm>
        </p:spPr>
        <p:txBody>
          <a:bodyPr/>
          <a:lstStyle/>
          <a:p>
            <a:r>
              <a:rPr lang="pl-PL"/>
              <a:t>Kliknij, aby edytować styl</a:t>
            </a:r>
          </a:p>
        </p:txBody>
      </p:sp>
      <p:sp>
        <p:nvSpPr>
          <p:cNvPr id="3" name="Symbol zastępczy tekstu 2"/>
          <p:cNvSpPr>
            <a:spLocks noGrp="1"/>
          </p:cNvSpPr>
          <p:nvPr>
            <p:ph type="body" sz="half" idx="1"/>
          </p:nvPr>
        </p:nvSpPr>
        <p:spPr>
          <a:xfrm>
            <a:off x="609600" y="1600201"/>
            <a:ext cx="5384800" cy="4525963"/>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quarter" idx="2"/>
          </p:nvPr>
        </p:nvSpPr>
        <p:spPr>
          <a:xfrm>
            <a:off x="6197600" y="1600200"/>
            <a:ext cx="5384800" cy="21859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zawartości 4"/>
          <p:cNvSpPr>
            <a:spLocks noGrp="1"/>
          </p:cNvSpPr>
          <p:nvPr>
            <p:ph sz="quarter" idx="3"/>
          </p:nvPr>
        </p:nvSpPr>
        <p:spPr>
          <a:xfrm>
            <a:off x="6197600" y="3938589"/>
            <a:ext cx="5384800" cy="2187575"/>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daty 5">
            <a:extLst>
              <a:ext uri="{FF2B5EF4-FFF2-40B4-BE49-F238E27FC236}">
                <a16:creationId xmlns:a16="http://schemas.microsoft.com/office/drawing/2014/main" id="{E157A8A0-9997-CC0A-EFA9-A99758AA1EF8}"/>
              </a:ext>
            </a:extLst>
          </p:cNvPr>
          <p:cNvSpPr>
            <a:spLocks noGrp="1"/>
          </p:cNvSpPr>
          <p:nvPr>
            <p:ph type="dt" sz="half" idx="10"/>
          </p:nvPr>
        </p:nvSpPr>
        <p:spPr>
          <a:xfrm>
            <a:off x="609600" y="6245225"/>
            <a:ext cx="2844800" cy="476250"/>
          </a:xfrm>
        </p:spPr>
        <p:txBody>
          <a:bodyPr/>
          <a:lstStyle>
            <a:lvl1pPr>
              <a:defRPr/>
            </a:lvl1pPr>
          </a:lstStyle>
          <a:p>
            <a:pPr>
              <a:defRPr/>
            </a:pPr>
            <a:endParaRPr lang="en-US"/>
          </a:p>
        </p:txBody>
      </p:sp>
      <p:sp>
        <p:nvSpPr>
          <p:cNvPr id="7" name="Symbol zastępczy stopki 6">
            <a:extLst>
              <a:ext uri="{FF2B5EF4-FFF2-40B4-BE49-F238E27FC236}">
                <a16:creationId xmlns:a16="http://schemas.microsoft.com/office/drawing/2014/main" id="{83D3AEFE-BA89-B51E-5BE3-B8286294A52E}"/>
              </a:ext>
            </a:extLst>
          </p:cNvPr>
          <p:cNvSpPr>
            <a:spLocks noGrp="1"/>
          </p:cNvSpPr>
          <p:nvPr>
            <p:ph type="ftr" sz="quarter" idx="11"/>
          </p:nvPr>
        </p:nvSpPr>
        <p:spPr>
          <a:xfrm>
            <a:off x="4165600" y="6245225"/>
            <a:ext cx="3860800" cy="476250"/>
          </a:xfrm>
        </p:spPr>
        <p:txBody>
          <a:bodyPr/>
          <a:lstStyle>
            <a:lvl1pPr>
              <a:defRPr/>
            </a:lvl1pPr>
          </a:lstStyle>
          <a:p>
            <a:pPr>
              <a:defRPr/>
            </a:pPr>
            <a:endParaRPr lang="en-US"/>
          </a:p>
        </p:txBody>
      </p:sp>
      <p:sp>
        <p:nvSpPr>
          <p:cNvPr id="8" name="Symbol zastępczy numeru slajdu 7">
            <a:extLst>
              <a:ext uri="{FF2B5EF4-FFF2-40B4-BE49-F238E27FC236}">
                <a16:creationId xmlns:a16="http://schemas.microsoft.com/office/drawing/2014/main" id="{E545ACC0-06FC-DFCA-B778-C3C1E75F3F47}"/>
              </a:ext>
            </a:extLst>
          </p:cNvPr>
          <p:cNvSpPr>
            <a:spLocks noGrp="1"/>
          </p:cNvSpPr>
          <p:nvPr>
            <p:ph type="sldNum" sz="quarter" idx="12"/>
          </p:nvPr>
        </p:nvSpPr>
        <p:spPr>
          <a:xfrm>
            <a:off x="8737600" y="6245225"/>
            <a:ext cx="2844800" cy="476250"/>
          </a:xfrm>
        </p:spPr>
        <p:txBody>
          <a:bodyPr/>
          <a:lstStyle>
            <a:lvl1pPr>
              <a:defRPr/>
            </a:lvl1pPr>
          </a:lstStyle>
          <a:p>
            <a:fld id="{DE661C62-AFDB-43D2-8C28-28FCDBA025A2}" type="slidenum">
              <a:rPr lang="en-US" altLang="pl-PL"/>
              <a:pPr/>
              <a:t>‹#›</a:t>
            </a:fld>
            <a:endParaRPr lang="en-US" altLang="pl-PL"/>
          </a:p>
        </p:txBody>
      </p:sp>
    </p:spTree>
    <p:extLst>
      <p:ext uri="{BB962C8B-B14F-4D97-AF65-F5344CB8AC3E}">
        <p14:creationId xmlns:p14="http://schemas.microsoft.com/office/powerpoint/2010/main" val="122484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C2740A25-34E4-F3C8-49F9-019614C06B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a:extLst>
              <a:ext uri="{FF2B5EF4-FFF2-40B4-BE49-F238E27FC236}">
                <a16:creationId xmlns:a16="http://schemas.microsoft.com/office/drawing/2014/main" id="{137B767D-0F74-B455-41A7-940BD7D20E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36751E68-A398-D4B6-4827-45F400CF2D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9A2002-53D1-4251-9377-24C22C31ED2D}" type="datetimeFigureOut">
              <a:rPr lang="pl-PL" smtClean="0"/>
              <a:t>16.10.2025</a:t>
            </a:fld>
            <a:endParaRPr lang="pl-PL"/>
          </a:p>
        </p:txBody>
      </p:sp>
      <p:sp>
        <p:nvSpPr>
          <p:cNvPr id="5" name="Symbol zastępczy stopki 4">
            <a:extLst>
              <a:ext uri="{FF2B5EF4-FFF2-40B4-BE49-F238E27FC236}">
                <a16:creationId xmlns:a16="http://schemas.microsoft.com/office/drawing/2014/main" id="{6CC3FDFF-9F04-D357-04E0-F4799682D5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l-PL"/>
          </a:p>
        </p:txBody>
      </p:sp>
      <p:sp>
        <p:nvSpPr>
          <p:cNvPr id="6" name="Symbol zastępczy numeru slajdu 5">
            <a:extLst>
              <a:ext uri="{FF2B5EF4-FFF2-40B4-BE49-F238E27FC236}">
                <a16:creationId xmlns:a16="http://schemas.microsoft.com/office/drawing/2014/main" id="{038AA4C8-E46E-1202-594E-C227218544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9BFFD7-C5F1-47E2-A226-E50155270A5A}" type="slidenum">
              <a:rPr lang="pl-PL" smtClean="0"/>
              <a:t>‹#›</a:t>
            </a:fld>
            <a:endParaRPr lang="pl-PL"/>
          </a:p>
        </p:txBody>
      </p:sp>
    </p:spTree>
    <p:extLst>
      <p:ext uri="{BB962C8B-B14F-4D97-AF65-F5344CB8AC3E}">
        <p14:creationId xmlns:p14="http://schemas.microsoft.com/office/powerpoint/2010/main" val="420052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600" y="273600"/>
            <a:ext cx="10972320" cy="1144800"/>
          </a:xfrm>
          <a:prstGeom prst="rect">
            <a:avLst/>
          </a:prstGeom>
        </p:spPr>
        <p:txBody>
          <a:bodyPr lIns="0" tIns="0" rIns="0" bIns="0" anchor="ctr"/>
          <a:lstStyle/>
          <a:p>
            <a:r>
              <a:rPr lang="en-US" sz="1800" spc="-1">
                <a:latin typeface="Arial"/>
              </a:rPr>
              <a:t>Kliknij, aby edytować format tekstu tytułu</a:t>
            </a:r>
            <a:endParaRPr/>
          </a:p>
        </p:txBody>
      </p:sp>
      <p:sp>
        <p:nvSpPr>
          <p:cNvPr id="3" name="PlaceHolder 2"/>
          <p:cNvSpPr>
            <a:spLocks noGrp="1"/>
          </p:cNvSpPr>
          <p:nvPr>
            <p:ph type="body"/>
          </p:nvPr>
        </p:nvSpPr>
        <p:spPr>
          <a:xfrm>
            <a:off x="609600" y="1604520"/>
            <a:ext cx="10972320" cy="3977280"/>
          </a:xfrm>
          <a:prstGeom prst="rect">
            <a:avLst/>
          </a:prstGeom>
        </p:spPr>
        <p:txBody>
          <a:bodyPr lIns="0" tIns="0" rIns="0" bIns="0"/>
          <a:lstStyle/>
          <a:p>
            <a:pPr marL="432000" indent="-324000">
              <a:buClr>
                <a:srgbClr val="FFFFFF"/>
              </a:buClr>
              <a:buSzPct val="45000"/>
              <a:buFont typeface="StarSymbol"/>
              <a:buChar char=""/>
            </a:pPr>
            <a:r>
              <a:rPr lang="en-US" sz="1800" spc="-1">
                <a:latin typeface="Arial"/>
              </a:rPr>
              <a:t>Kliknij, aby edytować format tekstu konspektu</a:t>
            </a:r>
            <a:endParaRPr/>
          </a:p>
          <a:p>
            <a:pPr marL="864000" lvl="1" indent="-324000">
              <a:buClr>
                <a:srgbClr val="FFFFFF"/>
              </a:buClr>
              <a:buSzPct val="75000"/>
              <a:buFont typeface="StarSymbol"/>
              <a:buChar char=""/>
            </a:pPr>
            <a:r>
              <a:rPr lang="en-US" sz="1800" spc="-1">
                <a:latin typeface="Arial"/>
              </a:rPr>
              <a:t>Drugi poziom konspektu</a:t>
            </a:r>
            <a:endParaRPr/>
          </a:p>
          <a:p>
            <a:pPr marL="1296000" lvl="2" indent="-288000">
              <a:buClr>
                <a:srgbClr val="FFFFFF"/>
              </a:buClr>
              <a:buSzPct val="45000"/>
              <a:buFont typeface="StarSymbol"/>
              <a:buChar char=""/>
            </a:pPr>
            <a:r>
              <a:rPr lang="en-US" sz="1800" spc="-1">
                <a:latin typeface="Arial"/>
              </a:rPr>
              <a:t>Trzeci poziom konspektu</a:t>
            </a:r>
            <a:endParaRPr/>
          </a:p>
          <a:p>
            <a:pPr marL="1728000" lvl="3" indent="-216000">
              <a:buClr>
                <a:srgbClr val="FFFFFF"/>
              </a:buClr>
              <a:buSzPct val="75000"/>
              <a:buFont typeface="StarSymbol"/>
              <a:buChar char=""/>
            </a:pPr>
            <a:r>
              <a:rPr lang="en-US" sz="1800" spc="-1">
                <a:latin typeface="Arial"/>
              </a:rPr>
              <a:t>Czwarty poziom konspektu</a:t>
            </a:r>
            <a:endParaRPr/>
          </a:p>
          <a:p>
            <a:pPr marL="2160000" lvl="4" indent="-216000">
              <a:buClr>
                <a:srgbClr val="FFFFFF"/>
              </a:buClr>
              <a:buSzPct val="45000"/>
              <a:buFont typeface="StarSymbol"/>
              <a:buChar char=""/>
            </a:pPr>
            <a:r>
              <a:rPr lang="en-US" sz="2000" spc="-1">
                <a:latin typeface="Arial"/>
              </a:rPr>
              <a:t>Piąty poziom konspektu</a:t>
            </a:r>
            <a:endParaRPr/>
          </a:p>
          <a:p>
            <a:pPr marL="2592000" lvl="5" indent="-216000">
              <a:buClr>
                <a:srgbClr val="FFFFFF"/>
              </a:buClr>
              <a:buSzPct val="45000"/>
              <a:buFont typeface="StarSymbol"/>
              <a:buChar char=""/>
            </a:pPr>
            <a:r>
              <a:rPr lang="en-US" sz="2000" spc="-1">
                <a:latin typeface="Arial"/>
              </a:rPr>
              <a:t>Szósty poziom konspektu</a:t>
            </a:r>
            <a:endParaRPr/>
          </a:p>
          <a:p>
            <a:pPr marL="3024000" lvl="6" indent="-216000">
              <a:buClr>
                <a:srgbClr val="FFFFFF"/>
              </a:buClr>
              <a:buSzPct val="45000"/>
              <a:buFont typeface="StarSymbol"/>
              <a:buChar char=""/>
            </a:pPr>
            <a:r>
              <a:rPr lang="en-US" sz="2000" spc="-1">
                <a:latin typeface="Arial"/>
              </a:rPr>
              <a:t>Siódmy poziom konspektu</a:t>
            </a:r>
            <a:endParaRPr/>
          </a:p>
        </p:txBody>
      </p:sp>
    </p:spTree>
    <p:extLst>
      <p:ext uri="{BB962C8B-B14F-4D97-AF65-F5344CB8AC3E}">
        <p14:creationId xmlns:p14="http://schemas.microsoft.com/office/powerpoint/2010/main" val="10472267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86" r:id="rId13"/>
  </p:sldLayoutIdLst>
  <p:txStyles>
    <p:titleStyle/>
    <p:bodyStyle>
      <a:lvl1pPr marL="432000" indent="-324000">
        <a:buClr>
          <a:srgbClr val="FFFFFF"/>
        </a:buClr>
        <a:buSzPct val="45000"/>
        <a:buFont typeface="StarSymbol"/>
        <a:buChar char=""/>
        <a:defRPr/>
      </a:lvl1pPr>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13BEB1-2AF7-453C-981E-140EE2E939C9}" type="datetimeFigureOut">
              <a:rPr lang="pl-PL" smtClean="0">
                <a:solidFill>
                  <a:prstClr val="black">
                    <a:tint val="75000"/>
                  </a:prstClr>
                </a:solidFill>
              </a:rPr>
              <a:pPr/>
              <a:t>16.10.2025</a:t>
            </a:fld>
            <a:endParaRPr lang="pl-PL">
              <a:solidFill>
                <a:prstClr val="black">
                  <a:tint val="75000"/>
                </a:prstClr>
              </a:solidFill>
            </a:endParaRPr>
          </a:p>
        </p:txBody>
      </p:sp>
      <p:sp>
        <p:nvSpPr>
          <p:cNvPr id="5" name="Symbol zastępczy stopki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a:solidFill>
                <a:prstClr val="black">
                  <a:tint val="75000"/>
                </a:prstClr>
              </a:solidFill>
            </a:endParaRPr>
          </a:p>
        </p:txBody>
      </p:sp>
      <p:sp>
        <p:nvSpPr>
          <p:cNvPr id="6" name="Symbol zastępczy numeru slajdu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E00024-3A4D-4BC7-BEFD-4D0D3F30976E}" type="slidenum">
              <a:rPr lang="pl-PL" smtClean="0">
                <a:solidFill>
                  <a:prstClr val="black">
                    <a:tint val="75000"/>
                  </a:prstClr>
                </a:solidFill>
              </a:rPr>
              <a:pPr/>
              <a:t>‹#›</a:t>
            </a:fld>
            <a:endParaRPr lang="pl-PL">
              <a:solidFill>
                <a:prstClr val="black">
                  <a:tint val="75000"/>
                </a:prstClr>
              </a:solidFill>
            </a:endParaRPr>
          </a:p>
        </p:txBody>
      </p:sp>
    </p:spTree>
    <p:extLst>
      <p:ext uri="{BB962C8B-B14F-4D97-AF65-F5344CB8AC3E}">
        <p14:creationId xmlns:p14="http://schemas.microsoft.com/office/powerpoint/2010/main" val="417502992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4.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610.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hyperlink" Target="https://www.cs.cmu.edu/~ggordon/10725-F12/slides/16-kkt.pdf" TargetMode="Externa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0.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bin"/><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1.xml"/><Relationship Id="rId4" Type="http://schemas.openxmlformats.org/officeDocument/2006/relationships/image" Target="../media/image18.png"/></Relationships>
</file>

<file path=ppt/slides/_rels/slide38.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image" Target="../media/image19.png"/><Relationship Id="rId1" Type="http://schemas.openxmlformats.org/officeDocument/2006/relationships/slideLayout" Target="../slideLayouts/slideLayout31.xml"/><Relationship Id="rId6" Type="http://schemas.openxmlformats.org/officeDocument/2006/relationships/image" Target="../media/image21.wmf"/><Relationship Id="rId5" Type="http://schemas.openxmlformats.org/officeDocument/2006/relationships/oleObject" Target="../embeddings/oleObject3.bin"/><Relationship Id="rId4" Type="http://schemas.openxmlformats.org/officeDocument/2006/relationships/image" Target="../media/image20.wmf"/></Relationships>
</file>

<file path=ppt/slides/_rels/slide39.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5.bin"/><Relationship Id="rId1" Type="http://schemas.openxmlformats.org/officeDocument/2006/relationships/slideLayout" Target="../slideLayouts/slideLayout31.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1.xml"/><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4.xml"/><Relationship Id="rId1" Type="http://schemas.openxmlformats.org/officeDocument/2006/relationships/slideLayout" Target="../slideLayouts/slideLayout26.xml"/><Relationship Id="rId4" Type="http://schemas.openxmlformats.org/officeDocument/2006/relationships/image" Target="../media/image27.wmf"/></Relationships>
</file>

<file path=ppt/slides/_rels/slide42.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5.xml"/><Relationship Id="rId1" Type="http://schemas.openxmlformats.org/officeDocument/2006/relationships/slideLayout" Target="../slideLayouts/slideLayout26.xml"/><Relationship Id="rId6" Type="http://schemas.openxmlformats.org/officeDocument/2006/relationships/image" Target="../media/image29.wmf"/><Relationship Id="rId5" Type="http://schemas.openxmlformats.org/officeDocument/2006/relationships/oleObject" Target="../embeddings/oleObject8.bin"/><Relationship Id="rId4" Type="http://schemas.openxmlformats.org/officeDocument/2006/relationships/image" Target="../media/image28.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6.xml"/><Relationship Id="rId1" Type="http://schemas.openxmlformats.org/officeDocument/2006/relationships/slideLayout" Target="../slideLayouts/slideLayout26.xml"/><Relationship Id="rId6" Type="http://schemas.openxmlformats.org/officeDocument/2006/relationships/image" Target="../media/image32.emf"/><Relationship Id="rId5" Type="http://schemas.openxmlformats.org/officeDocument/2006/relationships/oleObject" Target="../embeddings/oleObject11.bin"/><Relationship Id="rId4" Type="http://schemas.openxmlformats.org/officeDocument/2006/relationships/image" Target="../media/image31.emf"/></Relationships>
</file>

<file path=ppt/slides/_rels/slide44.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image" Target="../media/image37.emf"/><Relationship Id="rId2" Type="http://schemas.openxmlformats.org/officeDocument/2006/relationships/notesSlide" Target="../notesSlides/notesSlide7.xml"/><Relationship Id="rId1" Type="http://schemas.openxmlformats.org/officeDocument/2006/relationships/slideLayout" Target="../slideLayouts/slideLayout30.xml"/><Relationship Id="rId6" Type="http://schemas.openxmlformats.org/officeDocument/2006/relationships/image" Target="../media/image34.emf"/><Relationship Id="rId11" Type="http://schemas.openxmlformats.org/officeDocument/2006/relationships/oleObject" Target="../embeddings/oleObject16.bin"/><Relationship Id="rId5" Type="http://schemas.openxmlformats.org/officeDocument/2006/relationships/oleObject" Target="../embeddings/oleObject13.bin"/><Relationship Id="rId10" Type="http://schemas.openxmlformats.org/officeDocument/2006/relationships/image" Target="../media/image36.wmf"/><Relationship Id="rId4" Type="http://schemas.openxmlformats.org/officeDocument/2006/relationships/image" Target="../media/image33.emf"/><Relationship Id="rId9" Type="http://schemas.openxmlformats.org/officeDocument/2006/relationships/oleObject" Target="../embeddings/oleObject15.bin"/></Relationships>
</file>

<file path=ppt/slides/_rels/slide45.xml.rels><?xml version="1.0" encoding="UTF-8" standalone="yes"?>
<Relationships xmlns="http://schemas.openxmlformats.org/package/2006/relationships"><Relationship Id="rId8" Type="http://schemas.openxmlformats.org/officeDocument/2006/relationships/image" Target="../media/image40.emf"/><Relationship Id="rId3" Type="http://schemas.openxmlformats.org/officeDocument/2006/relationships/image" Target="../media/image38.wmf"/><Relationship Id="rId7" Type="http://schemas.openxmlformats.org/officeDocument/2006/relationships/oleObject" Target="../embeddings/oleObject20.bin"/><Relationship Id="rId12" Type="http://schemas.openxmlformats.org/officeDocument/2006/relationships/image" Target="../media/image42.emf"/><Relationship Id="rId2" Type="http://schemas.openxmlformats.org/officeDocument/2006/relationships/oleObject" Target="../embeddings/oleObject17.bin"/><Relationship Id="rId1" Type="http://schemas.openxmlformats.org/officeDocument/2006/relationships/slideLayout" Target="../slideLayouts/slideLayout36.xml"/><Relationship Id="rId6" Type="http://schemas.openxmlformats.org/officeDocument/2006/relationships/image" Target="../media/image39.emf"/><Relationship Id="rId11" Type="http://schemas.openxmlformats.org/officeDocument/2006/relationships/oleObject" Target="../embeddings/oleObject22.bin"/><Relationship Id="rId5" Type="http://schemas.openxmlformats.org/officeDocument/2006/relationships/oleObject" Target="../embeddings/oleObject19.bin"/><Relationship Id="rId10" Type="http://schemas.openxmlformats.org/officeDocument/2006/relationships/image" Target="../media/image41.emf"/><Relationship Id="rId4" Type="http://schemas.openxmlformats.org/officeDocument/2006/relationships/oleObject" Target="../embeddings/oleObject18.bin"/><Relationship Id="rId9" Type="http://schemas.openxmlformats.org/officeDocument/2006/relationships/oleObject" Target="../embeddings/oleObject21.bin"/></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5.emf"/><Relationship Id="rId2" Type="http://schemas.openxmlformats.org/officeDocument/2006/relationships/notesSlide" Target="../notesSlides/notesSlide8.xml"/><Relationship Id="rId1" Type="http://schemas.openxmlformats.org/officeDocument/2006/relationships/slideLayout" Target="../slideLayouts/slideLayout30.xml"/><Relationship Id="rId6" Type="http://schemas.openxmlformats.org/officeDocument/2006/relationships/oleObject" Target="../embeddings/oleObject24.bin"/><Relationship Id="rId5" Type="http://schemas.openxmlformats.org/officeDocument/2006/relationships/image" Target="../media/image44.emf"/><Relationship Id="rId4" Type="http://schemas.openxmlformats.org/officeDocument/2006/relationships/oleObject" Target="../embeddings/oleObject23.bin"/></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10.xml"/><Relationship Id="rId1" Type="http://schemas.openxmlformats.org/officeDocument/2006/relationships/slideLayout" Target="../slideLayouts/slideLayout26.xml"/><Relationship Id="rId5" Type="http://schemas.openxmlformats.org/officeDocument/2006/relationships/image" Target="../media/image48.png"/><Relationship Id="rId4" Type="http://schemas.openxmlformats.org/officeDocument/2006/relationships/image" Target="../media/image47.emf"/></Relationships>
</file>

<file path=ppt/slides/_rels/slide49.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1.wmf"/><Relationship Id="rId2" Type="http://schemas.openxmlformats.org/officeDocument/2006/relationships/notesSlide" Target="../notesSlides/notesSlide11.xml"/><Relationship Id="rId1" Type="http://schemas.openxmlformats.org/officeDocument/2006/relationships/slideLayout" Target="../slideLayouts/slideLayout30.xml"/><Relationship Id="rId6" Type="http://schemas.openxmlformats.org/officeDocument/2006/relationships/oleObject" Target="../embeddings/oleObject27.bin"/><Relationship Id="rId5" Type="http://schemas.openxmlformats.org/officeDocument/2006/relationships/image" Target="../media/image50.emf"/><Relationship Id="rId4" Type="http://schemas.openxmlformats.org/officeDocument/2006/relationships/oleObject" Target="../embeddings/oleObject26.bin"/></Relationships>
</file>

<file path=ppt/slides/_rels/slide50.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notesSlide" Target="../notesSlides/notesSlide12.xml"/><Relationship Id="rId1" Type="http://schemas.openxmlformats.org/officeDocument/2006/relationships/slideLayout" Target="../slideLayouts/slideLayout26.xml"/><Relationship Id="rId6" Type="http://schemas.openxmlformats.org/officeDocument/2006/relationships/image" Target="../media/image30.wmf"/><Relationship Id="rId5" Type="http://schemas.openxmlformats.org/officeDocument/2006/relationships/oleObject" Target="../embeddings/oleObject29.bin"/><Relationship Id="rId4" Type="http://schemas.openxmlformats.org/officeDocument/2006/relationships/image" Target="../media/image29.wmf"/></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6.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jpeg"/></Relationships>
</file>

<file path=ppt/slides/_rels/slide5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_rels/slide5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5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7.xml"/><Relationship Id="rId1" Type="http://schemas.openxmlformats.org/officeDocument/2006/relationships/slideLayout" Target="../slideLayouts/slideLayout26.xml"/><Relationship Id="rId4" Type="http://schemas.openxmlformats.org/officeDocument/2006/relationships/image" Target="../media/image57.png"/></Relationships>
</file>

<file path=ppt/slides/_rels/slide5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_rels/slide5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0.xml"/><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1.xml"/><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2.xml"/><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3.xml"/><Relationship Id="rId1" Type="http://schemas.openxmlformats.org/officeDocument/2006/relationships/slideLayout" Target="../slideLayouts/slideLayout26.xml"/><Relationship Id="rId5" Type="http://schemas.openxmlformats.org/officeDocument/2006/relationships/image" Target="../media/image65.png"/><Relationship Id="rId4" Type="http://schemas.openxmlformats.org/officeDocument/2006/relationships/image" Target="../media/image64.png"/></Relationships>
</file>

<file path=ppt/slides/_rels/slide6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4.xml"/><Relationship Id="rId1" Type="http://schemas.openxmlformats.org/officeDocument/2006/relationships/slideLayout" Target="../slideLayouts/slideLayout26.xml"/><Relationship Id="rId5" Type="http://schemas.openxmlformats.org/officeDocument/2006/relationships/image" Target="../media/image68.png"/><Relationship Id="rId4" Type="http://schemas.openxmlformats.org/officeDocument/2006/relationships/image" Target="../media/image67.png"/></Relationships>
</file>

<file path=ppt/slides/_rels/slide6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5.xml"/><Relationship Id="rId1" Type="http://schemas.openxmlformats.org/officeDocument/2006/relationships/slideLayout" Target="../slideLayouts/slideLayout26.xml"/><Relationship Id="rId4" Type="http://schemas.openxmlformats.org/officeDocument/2006/relationships/image" Target="../media/image70.png"/></Relationships>
</file>

<file path=ppt/slides/_rels/slide6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6.xml"/><Relationship Id="rId1" Type="http://schemas.openxmlformats.org/officeDocument/2006/relationships/slideLayout" Target="../slideLayouts/slideLayout26.xml"/><Relationship Id="rId4"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CustomShape 1"/>
          <p:cNvSpPr/>
          <p:nvPr/>
        </p:nvSpPr>
        <p:spPr>
          <a:xfrm>
            <a:off x="853440" y="1586382"/>
            <a:ext cx="10393680" cy="4751640"/>
          </a:xfrm>
          <a:prstGeom prst="rect">
            <a:avLst/>
          </a:prstGeom>
          <a:noFill/>
          <a:ln>
            <a:noFill/>
          </a:ln>
        </p:spPr>
        <p:style>
          <a:lnRef idx="0">
            <a:scrgbClr r="0" g="0" b="0"/>
          </a:lnRef>
          <a:fillRef idx="0">
            <a:scrgbClr r="0" g="0" b="0"/>
          </a:fillRef>
          <a:effectRef idx="0">
            <a:scrgbClr r="0" g="0" b="0"/>
          </a:effectRef>
          <a:fontRef idx="minor"/>
        </p:style>
        <p:txBody>
          <a:bodyPr lIns="90000" tIns="46800" rIns="90000" bIns="4680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rial"/>
              <a:ea typeface="DejaVu Sans"/>
              <a:cs typeface="DejaVu San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4400" b="1" i="1"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Topic </a:t>
            </a:r>
            <a:r>
              <a:rPr kumimoji="0" lang="pl-PL" sz="4400" b="1" i="1"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2.2</a:t>
            </a:r>
            <a:endParaRPr kumimoji="0" lang="en-GB" sz="4400" b="1" i="1"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4400" b="1" i="1"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1"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The Constrained Optimization</a:t>
            </a:r>
            <a:r>
              <a:rPr kumimoji="0" lang="pl-PL" sz="4400" b="1" i="1"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 </a:t>
            </a:r>
            <a:r>
              <a:rPr kumimoji="0" lang="en-US" sz="4400" b="1" i="1"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the foundation of modern microeconomics</a:t>
            </a:r>
            <a:endParaRPr kumimoji="0" lang="pl-PL" sz="4400" b="1" i="1"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endParaRPr>
          </a:p>
        </p:txBody>
      </p:sp>
      <p:sp>
        <p:nvSpPr>
          <p:cNvPr id="78" name="CustomShape 2"/>
          <p:cNvSpPr/>
          <p:nvPr/>
        </p:nvSpPr>
        <p:spPr>
          <a:xfrm>
            <a:off x="1716240" y="696960"/>
            <a:ext cx="8616240" cy="720000"/>
          </a:xfrm>
          <a:prstGeom prst="rect">
            <a:avLst/>
          </a:prstGeom>
          <a:solidFill>
            <a:srgbClr val="215968"/>
          </a:solidFill>
          <a:ln>
            <a:noFill/>
          </a:ln>
        </p:spPr>
        <p:style>
          <a:lnRef idx="0">
            <a:scrgbClr r="0" g="0" b="0"/>
          </a:lnRef>
          <a:fillRef idx="0">
            <a:scrgbClr r="0" g="0" b="0"/>
          </a:fillRef>
          <a:effectRef idx="0">
            <a:scrgbClr r="0" g="0" b="0"/>
          </a:effectRef>
          <a:fontRef idx="minor"/>
        </p:style>
        <p:txBody>
          <a:bodyPr lIns="90000" tIns="46800" rIns="90000" bIns="4680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3200" b="1" i="0" u="none" strike="noStrike" kern="1200" cap="none" spc="-1" normalizeH="0" baseline="0" noProof="0">
                <a:ln>
                  <a:noFill/>
                </a:ln>
                <a:solidFill>
                  <a:srgbClr val="FFFFFF"/>
                </a:solidFill>
                <a:effectLst/>
                <a:uLnTx/>
                <a:uFill>
                  <a:solidFill>
                    <a:srgbClr val="FFFFFF"/>
                  </a:solidFill>
                </a:uFill>
                <a:latin typeface="Calibri"/>
                <a:ea typeface="DejaVu Sans"/>
                <a:cs typeface="DejaVu Sans"/>
              </a:rPr>
              <a:t>WNE UW</a:t>
            </a:r>
            <a:endParaRPr kumimoji="0" sz="1800" b="0" i="0" u="none" strike="noStrike" kern="1200" cap="none" spc="0" normalizeH="0" baseline="0" noProof="0">
              <a:ln>
                <a:noFill/>
              </a:ln>
              <a:solidFill>
                <a:prstClr val="black"/>
              </a:solidFill>
              <a:effectLst/>
              <a:uLnTx/>
              <a:uFillTx/>
              <a:latin typeface="Arial"/>
              <a:ea typeface="DejaVu Sans"/>
              <a:cs typeface="DejaVu Sans"/>
            </a:endParaRPr>
          </a:p>
        </p:txBody>
      </p:sp>
      <p:pic>
        <p:nvPicPr>
          <p:cNvPr id="79" name="Picture 3"/>
          <p:cNvPicPr/>
          <p:nvPr/>
        </p:nvPicPr>
        <p:blipFill>
          <a:blip r:embed="rId3"/>
          <a:stretch/>
        </p:blipFill>
        <p:spPr>
          <a:xfrm>
            <a:off x="7536000" y="247680"/>
            <a:ext cx="2337480" cy="1897920"/>
          </a:xfrm>
          <a:prstGeom prst="rect">
            <a:avLst/>
          </a:prstGeom>
          <a:ln>
            <a:noFill/>
          </a:ln>
          <a:effectLst>
            <a:outerShdw dist="139498" dir="2700000">
              <a:srgbClr val="333333">
                <a:alpha val="65000"/>
              </a:srgbClr>
            </a:outerShdw>
          </a:effectLst>
        </p:spPr>
      </p:pic>
    </p:spTree>
    <p:extLst>
      <p:ext uri="{BB962C8B-B14F-4D97-AF65-F5344CB8AC3E}">
        <p14:creationId xmlns:p14="http://schemas.microsoft.com/office/powerpoint/2010/main" val="899678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CustomShape 1"/>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Overview of</a:t>
            </a:r>
            <a:r>
              <a:rPr kumimoji="0" lang="pl-PL" sz="4000" b="1"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a:t>
            </a:r>
            <a:r>
              <a:rPr kumimoji="0" lang="pl-PL" sz="4000" b="1" i="0" u="none" strike="noStrike" kern="1200" cap="none" spc="-1" normalizeH="0" baseline="0" noProof="0" dirty="0" err="1">
                <a:ln>
                  <a:noFill/>
                </a:ln>
                <a:solidFill>
                  <a:srgbClr val="215968"/>
                </a:solidFill>
                <a:effectLst/>
                <a:uLnTx/>
                <a:uFill>
                  <a:solidFill>
                    <a:srgbClr val="FFFFFF"/>
                  </a:solidFill>
                </a:uFill>
                <a:latin typeface="Calibri"/>
                <a:ea typeface="DejaVu Sans"/>
                <a:cs typeface="DejaVu Sans"/>
              </a:rPr>
              <a:t>today</a:t>
            </a:r>
            <a:r>
              <a:rPr kumimoji="0" lang="pl-PL" sz="4000" b="1"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a:t>
            </a:r>
            <a:r>
              <a:rPr kumimoji="0" lang="pl-PL" sz="4000" b="1" i="0" u="none" strike="noStrike" kern="1200" cap="none" spc="-1" normalizeH="0" baseline="0" noProof="0" dirty="0" err="1">
                <a:ln>
                  <a:noFill/>
                </a:ln>
                <a:solidFill>
                  <a:srgbClr val="215968"/>
                </a:solidFill>
                <a:effectLst/>
                <a:uLnTx/>
                <a:uFill>
                  <a:solidFill>
                    <a:srgbClr val="FFFFFF"/>
                  </a:solidFill>
                </a:uFill>
                <a:latin typeface="Calibri"/>
                <a:ea typeface="DejaVu Sans"/>
                <a:cs typeface="DejaVu Sans"/>
              </a:rPr>
              <a:t>lecture</a:t>
            </a:r>
            <a:r>
              <a:rPr kumimoji="0" lang="pl-PL" sz="4000" b="1" i="1"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a:t>
            </a:r>
            <a:endParaRPr kumimoji="0" sz="2400" b="1" i="0" u="none" strike="noStrike" kern="1200" cap="none" spc="0" normalizeH="0" baseline="0" noProof="0" dirty="0">
              <a:ln>
                <a:noFill/>
              </a:ln>
              <a:solidFill>
                <a:prstClr val="black"/>
              </a:solidFill>
              <a:effectLst/>
              <a:uLnTx/>
              <a:uFillTx/>
              <a:latin typeface="Arial"/>
              <a:ea typeface="DejaVu Sans"/>
              <a:cs typeface="DejaVu Sans"/>
            </a:endParaRPr>
          </a:p>
        </p:txBody>
      </p:sp>
      <p:sp>
        <p:nvSpPr>
          <p:cNvPr id="81" name="CustomShape 2"/>
          <p:cNvSpPr/>
          <p:nvPr/>
        </p:nvSpPr>
        <p:spPr>
          <a:xfrm>
            <a:off x="254540" y="1364722"/>
            <a:ext cx="11406471" cy="469583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R="0" lvl="0" algn="just" defTabSz="914400" rtl="0" eaLnBrk="1" fontAlgn="auto" latinLnBrk="0" hangingPunct="1">
              <a:lnSpc>
                <a:spcPct val="100000"/>
              </a:lnSpc>
              <a:spcBef>
                <a:spcPts val="0"/>
              </a:spcBef>
              <a:spcAft>
                <a:spcPts val="0"/>
              </a:spcAft>
              <a:buClrTx/>
              <a:buSzTx/>
              <a:tabLst/>
              <a:defRPr/>
            </a:pPr>
            <a:r>
              <a:rPr kumimoji="0" lang="en-US" sz="32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One optimization problem in two forms — primal and dual — is sufficient to move from modeling the “atom” (consumer, producer) to modeling the whole economy.</a:t>
            </a:r>
            <a:endParaRPr kumimoji="0" lang="pl-PL" sz="32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endParaRPr>
          </a:p>
          <a:p>
            <a:pPr marR="0" lvl="0" algn="just" defTabSz="914400" rtl="0" eaLnBrk="1" fontAlgn="auto" latinLnBrk="0" hangingPunct="1">
              <a:lnSpc>
                <a:spcPct val="100000"/>
              </a:lnSpc>
              <a:spcBef>
                <a:spcPts val="0"/>
              </a:spcBef>
              <a:spcAft>
                <a:spcPts val="0"/>
              </a:spcAft>
              <a:buClrTx/>
              <a:buSzTx/>
              <a:tabLst/>
              <a:defRPr/>
            </a:pPr>
            <a:endParaRPr kumimoji="0" lang="pl-PL" sz="32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endParaRPr>
          </a:p>
          <a:p>
            <a:pPr marR="0" lvl="0" algn="just" defTabSz="914400" rtl="0" eaLnBrk="1" fontAlgn="auto" latinLnBrk="0" hangingPunct="1">
              <a:lnSpc>
                <a:spcPct val="100000"/>
              </a:lnSpc>
              <a:spcBef>
                <a:spcPts val="0"/>
              </a:spcBef>
              <a:spcAft>
                <a:spcPts val="0"/>
              </a:spcAft>
              <a:buClrTx/>
              <a:buSzTx/>
              <a:tabLst/>
              <a:defRPr/>
            </a:pPr>
            <a:r>
              <a:rPr kumimoji="0" lang="en-US" sz="32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A brief overview of solving constrained optimization problems using the </a:t>
            </a:r>
            <a:r>
              <a:rPr kumimoji="0" lang="en-US" sz="3200" b="0" i="0" u="none" strike="noStrike" kern="1200" cap="none" spc="-1" normalizeH="0" baseline="0" noProof="0" dirty="0" err="1">
                <a:ln>
                  <a:noFill/>
                </a:ln>
                <a:solidFill>
                  <a:srgbClr val="215968"/>
                </a:solidFill>
                <a:effectLst/>
                <a:uLnTx/>
                <a:uFill>
                  <a:solidFill>
                    <a:srgbClr val="FFFFFF"/>
                  </a:solidFill>
                </a:uFill>
                <a:latin typeface="Calibri"/>
                <a:ea typeface="DejaVu Sans"/>
                <a:cs typeface="DejaVu Sans"/>
              </a:rPr>
              <a:t>Lagrangian</a:t>
            </a:r>
            <a:r>
              <a:rPr kumimoji="0" lang="en-US" sz="32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method</a:t>
            </a:r>
            <a:r>
              <a:rPr kumimoji="0" lang="pl-PL" sz="32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a:t>
            </a:r>
            <a:r>
              <a:rPr kumimoji="0" lang="en-US" sz="32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Primary and dual problems</a:t>
            </a:r>
          </a:p>
          <a:p>
            <a:pPr marR="0" lvl="0" algn="just" defTabSz="914400" rtl="0" eaLnBrk="1" fontAlgn="auto" latinLnBrk="0" hangingPunct="1">
              <a:lnSpc>
                <a:spcPct val="100000"/>
              </a:lnSpc>
              <a:spcBef>
                <a:spcPts val="0"/>
              </a:spcBef>
              <a:spcAft>
                <a:spcPts val="0"/>
              </a:spcAft>
              <a:buClrTx/>
              <a:buSzTx/>
              <a:tabLst/>
              <a:defRPr/>
            </a:pPr>
            <a:r>
              <a:rPr kumimoji="0" lang="en-US" sz="32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a:t>
            </a:r>
          </a:p>
          <a:p>
            <a:pPr marR="0" lvl="0" algn="just" defTabSz="914400" rtl="0" eaLnBrk="1" fontAlgn="auto" latinLnBrk="0" hangingPunct="1">
              <a:lnSpc>
                <a:spcPct val="100000"/>
              </a:lnSpc>
              <a:spcBef>
                <a:spcPts val="0"/>
              </a:spcBef>
              <a:spcAft>
                <a:spcPts val="0"/>
              </a:spcAft>
              <a:buClrTx/>
              <a:buSzTx/>
              <a:tabLst/>
              <a:defRPr/>
            </a:pPr>
            <a:r>
              <a:rPr kumimoji="0" lang="en-US" sz="32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Foundations of General Equilibrium Models</a:t>
            </a:r>
            <a:r>
              <a:rPr kumimoji="0" lang="pl-PL" sz="32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and </a:t>
            </a:r>
            <a:r>
              <a:rPr kumimoji="0" lang="en-US" sz="32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Computable General Equilibrium (CGE) Models</a:t>
            </a:r>
            <a:endParaRPr kumimoji="0" sz="3200" b="0" i="0" u="none" strike="noStrike" kern="1200" cap="none" spc="0" normalizeH="0" baseline="0" noProof="0" dirty="0">
              <a:ln>
                <a:noFill/>
              </a:ln>
              <a:solidFill>
                <a:srgbClr val="215968"/>
              </a:solidFill>
              <a:effectLst/>
              <a:uLnTx/>
              <a:uFillTx/>
              <a:latin typeface="Arial"/>
              <a:ea typeface="DejaVu Sans"/>
              <a:cs typeface="DejaVu Sans"/>
            </a:endParaRPr>
          </a:p>
        </p:txBody>
      </p:sp>
    </p:spTree>
    <p:extLst>
      <p:ext uri="{BB962C8B-B14F-4D97-AF65-F5344CB8AC3E}">
        <p14:creationId xmlns:p14="http://schemas.microsoft.com/office/powerpoint/2010/main" val="227447023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BEE84-EDB3-664C-BCF8-564029AC369A}"/>
            </a:ext>
          </a:extLst>
        </p:cNvPr>
        <p:cNvGrpSpPr/>
        <p:nvPr/>
      </p:nvGrpSpPr>
      <p:grpSpPr>
        <a:xfrm>
          <a:off x="0" y="0"/>
          <a:ext cx="0" cy="0"/>
          <a:chOff x="0" y="0"/>
          <a:chExt cx="0" cy="0"/>
        </a:xfrm>
      </p:grpSpPr>
      <p:sp>
        <p:nvSpPr>
          <p:cNvPr id="80" name="CustomShape 1">
            <a:extLst>
              <a:ext uri="{FF2B5EF4-FFF2-40B4-BE49-F238E27FC236}">
                <a16:creationId xmlns:a16="http://schemas.microsoft.com/office/drawing/2014/main" id="{46E8F584-20A9-456E-AB4F-E74DD7DF712B}"/>
              </a:ext>
            </a:extLst>
          </p:cNvPr>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Overview of</a:t>
            </a:r>
            <a:r>
              <a:rPr kumimoji="0" lang="pl-PL" sz="4000" b="1"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a:t>
            </a:r>
            <a:r>
              <a:rPr kumimoji="0" lang="pl-PL" sz="4000" b="1" i="0" u="none" strike="noStrike" kern="1200" cap="none" spc="-1" normalizeH="0" baseline="0" noProof="0" dirty="0" err="1">
                <a:ln>
                  <a:noFill/>
                </a:ln>
                <a:solidFill>
                  <a:srgbClr val="215968"/>
                </a:solidFill>
                <a:effectLst/>
                <a:uLnTx/>
                <a:uFill>
                  <a:solidFill>
                    <a:srgbClr val="FFFFFF"/>
                  </a:solidFill>
                </a:uFill>
                <a:latin typeface="Calibri"/>
                <a:ea typeface="DejaVu Sans"/>
                <a:cs typeface="DejaVu Sans"/>
              </a:rPr>
              <a:t>today</a:t>
            </a:r>
            <a:r>
              <a:rPr kumimoji="0" lang="pl-PL" sz="4000" b="1"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a:t>
            </a:r>
            <a:r>
              <a:rPr kumimoji="0" lang="pl-PL" sz="4000" b="1" i="0" u="none" strike="noStrike" kern="1200" cap="none" spc="-1" normalizeH="0" baseline="0" noProof="0" dirty="0" err="1">
                <a:ln>
                  <a:noFill/>
                </a:ln>
                <a:solidFill>
                  <a:srgbClr val="215968"/>
                </a:solidFill>
                <a:effectLst/>
                <a:uLnTx/>
                <a:uFill>
                  <a:solidFill>
                    <a:srgbClr val="FFFFFF"/>
                  </a:solidFill>
                </a:uFill>
                <a:latin typeface="Calibri"/>
                <a:ea typeface="DejaVu Sans"/>
                <a:cs typeface="DejaVu Sans"/>
              </a:rPr>
              <a:t>lecture</a:t>
            </a:r>
            <a:r>
              <a:rPr kumimoji="0" lang="pl-PL" sz="4000" b="1" i="1"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a:t>
            </a:r>
            <a:endParaRPr kumimoji="0" sz="2400" b="1" i="0" u="none" strike="noStrike" kern="1200" cap="none" spc="0" normalizeH="0" baseline="0" noProof="0" dirty="0">
              <a:ln>
                <a:noFill/>
              </a:ln>
              <a:solidFill>
                <a:prstClr val="black"/>
              </a:solidFill>
              <a:effectLst/>
              <a:uLnTx/>
              <a:uFillTx/>
              <a:latin typeface="Arial"/>
              <a:ea typeface="DejaVu Sans"/>
              <a:cs typeface="DejaVu Sans"/>
            </a:endParaRPr>
          </a:p>
        </p:txBody>
      </p:sp>
      <p:sp>
        <p:nvSpPr>
          <p:cNvPr id="81" name="CustomShape 2">
            <a:extLst>
              <a:ext uri="{FF2B5EF4-FFF2-40B4-BE49-F238E27FC236}">
                <a16:creationId xmlns:a16="http://schemas.microsoft.com/office/drawing/2014/main" id="{2B784921-C977-33D8-D0D5-25F032C82BFA}"/>
              </a:ext>
            </a:extLst>
          </p:cNvPr>
          <p:cNvSpPr/>
          <p:nvPr/>
        </p:nvSpPr>
        <p:spPr>
          <a:xfrm>
            <a:off x="186088" y="1356600"/>
            <a:ext cx="11819823" cy="539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R="0" lvl="0" algn="just" defTabSz="914400" rtl="0" eaLnBrk="1" fontAlgn="auto" latinLnBrk="0" hangingPunct="1">
              <a:lnSpc>
                <a:spcPct val="100000"/>
              </a:lnSpc>
              <a:spcBef>
                <a:spcPts val="0"/>
              </a:spcBef>
              <a:spcAft>
                <a:spcPts val="0"/>
              </a:spcAft>
              <a:buClrTx/>
              <a:buSzTx/>
              <a:tabLst/>
              <a:defRPr/>
            </a:pPr>
            <a:r>
              <a:rPr kumimoji="0" lang="en-US" sz="28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Most economic theories assume that economic agents optimize their behavior to achieve the best possible outcome. This behavior is translated into a model, framed as an optimization problem: consumers aim to maximize utility, while firms focus on minimizing costs and maximizing profit.</a:t>
            </a:r>
          </a:p>
          <a:p>
            <a:pPr marR="0" lvl="0" algn="just" defTabSz="914400" rtl="0" eaLnBrk="1" fontAlgn="auto" latinLnBrk="0" hangingPunct="1">
              <a:lnSpc>
                <a:spcPct val="100000"/>
              </a:lnSpc>
              <a:spcBef>
                <a:spcPts val="0"/>
              </a:spcBef>
              <a:spcAft>
                <a:spcPts val="0"/>
              </a:spcAft>
              <a:buClrTx/>
              <a:buSzTx/>
              <a:tabLst/>
              <a:defRPr/>
            </a:pPr>
            <a:endParaRPr kumimoji="0" lang="en-US" sz="28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endParaRPr>
          </a:p>
          <a:p>
            <a:pPr marR="0" lvl="0" algn="just" defTabSz="914400" rtl="0" eaLnBrk="1" fontAlgn="auto" latinLnBrk="0" hangingPunct="1">
              <a:lnSpc>
                <a:spcPct val="100000"/>
              </a:lnSpc>
              <a:spcBef>
                <a:spcPts val="0"/>
              </a:spcBef>
              <a:spcAft>
                <a:spcPts val="0"/>
              </a:spcAft>
              <a:buClrTx/>
              <a:buSzTx/>
              <a:tabLst/>
              <a:defRPr/>
            </a:pPr>
            <a:r>
              <a:rPr kumimoji="0" lang="en-US" sz="28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In the last lecture</a:t>
            </a:r>
            <a:r>
              <a:rPr kumimoji="0" lang="pl-PL" sz="28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s</a:t>
            </a:r>
            <a:r>
              <a:rPr kumimoji="0" lang="en-US" sz="28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I discussed unconstrained optimization. Today, we will explore constrained optimization, using examples from consumer and producer choices. Ninety percent of economic calculations involve either unconstrained or constrained optimization. I’ll demonstrate that a solid understanding of these concepts is enough to construct a simple General Equilibrium Model.</a:t>
            </a:r>
          </a:p>
          <a:p>
            <a:pPr marR="0" lvl="0" algn="just" defTabSz="914400" rtl="0" eaLnBrk="1" fontAlgn="auto" latinLnBrk="0" hangingPunct="1">
              <a:lnSpc>
                <a:spcPct val="100000"/>
              </a:lnSpc>
              <a:spcBef>
                <a:spcPts val="0"/>
              </a:spcBef>
              <a:spcAft>
                <a:spcPts val="0"/>
              </a:spcAft>
              <a:buClrTx/>
              <a:buSzTx/>
              <a:tabLst/>
              <a:defRPr/>
            </a:pPr>
            <a:endParaRPr kumimoji="0" lang="en-US" sz="28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endParaRPr>
          </a:p>
          <a:p>
            <a:pPr marR="0" lvl="0" algn="just" defTabSz="914400" rtl="0" eaLnBrk="1" fontAlgn="auto" latinLnBrk="0" hangingPunct="1">
              <a:lnSpc>
                <a:spcPct val="100000"/>
              </a:lnSpc>
              <a:spcBef>
                <a:spcPts val="0"/>
              </a:spcBef>
              <a:spcAft>
                <a:spcPts val="0"/>
              </a:spcAft>
              <a:buClrTx/>
              <a:buSzTx/>
              <a:tabLst/>
              <a:defRPr/>
            </a:pPr>
            <a:r>
              <a:rPr kumimoji="0" lang="en-US" sz="28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We’ll go into more detail as we dive deeper into producer and consumer theory..</a:t>
            </a:r>
            <a:endParaRPr kumimoji="0" sz="2800" b="0" i="0" u="none" strike="noStrike" kern="1200" cap="none" spc="0" normalizeH="0" baseline="0" noProof="0" dirty="0">
              <a:ln>
                <a:noFill/>
              </a:ln>
              <a:solidFill>
                <a:srgbClr val="215968"/>
              </a:solidFill>
              <a:effectLst/>
              <a:uLnTx/>
              <a:uFillTx/>
              <a:latin typeface="Arial"/>
              <a:ea typeface="DejaVu Sans"/>
              <a:cs typeface="DejaVu Sans"/>
            </a:endParaRPr>
          </a:p>
        </p:txBody>
      </p:sp>
    </p:spTree>
    <p:extLst>
      <p:ext uri="{BB962C8B-B14F-4D97-AF65-F5344CB8AC3E}">
        <p14:creationId xmlns:p14="http://schemas.microsoft.com/office/powerpoint/2010/main" val="89589120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ytuł 1"/>
          <p:cNvSpPr>
            <a:spLocks noGrp="1"/>
          </p:cNvSpPr>
          <p:nvPr>
            <p:ph type="title"/>
          </p:nvPr>
        </p:nvSpPr>
        <p:spPr>
          <a:xfrm>
            <a:off x="0" y="0"/>
            <a:ext cx="12192000" cy="999701"/>
          </a:xfrm>
          <a:solidFill>
            <a:schemeClr val="accent5">
              <a:lumMod val="20000"/>
              <a:lumOff val="80000"/>
            </a:schemeClr>
          </a:solidFill>
        </p:spPr>
        <p:txBody>
          <a:bodyPr>
            <a:noAutofit/>
          </a:bodyPr>
          <a:lstStyle/>
          <a:p>
            <a:pPr algn="ctr"/>
            <a:r>
              <a:rPr lang="en-US" sz="2800" b="1" dirty="0">
                <a:solidFill>
                  <a:schemeClr val="accent5">
                    <a:lumMod val="50000"/>
                  </a:schemeClr>
                </a:solidFill>
              </a:rPr>
              <a:t>Welcome to the Arrow–Debreu world (general equilibrium)</a:t>
            </a:r>
            <a:endParaRPr lang="en-GB" sz="2800" b="1" dirty="0">
              <a:solidFill>
                <a:schemeClr val="accent5">
                  <a:lumMod val="50000"/>
                </a:schemeClr>
              </a:solidFill>
            </a:endParaRPr>
          </a:p>
        </p:txBody>
      </p:sp>
      <p:sp>
        <p:nvSpPr>
          <p:cNvPr id="4" name="pole tekstowe 3"/>
          <p:cNvSpPr txBox="1"/>
          <p:nvPr/>
        </p:nvSpPr>
        <p:spPr>
          <a:xfrm>
            <a:off x="1918846" y="1163476"/>
            <a:ext cx="9804725" cy="1569660"/>
          </a:xfrm>
          <a:prstGeom prst="rect">
            <a:avLst/>
          </a:prstGeom>
          <a:noFill/>
        </p:spPr>
        <p:txBody>
          <a:bodyPr wrap="square">
            <a:spAutoFit/>
          </a:bodyPr>
          <a:lstStyle/>
          <a:p>
            <a:pPr lvl="0" algn="just">
              <a:defRPr/>
            </a:pPr>
            <a:r>
              <a:rPr kumimoji="0" lang="en-US" sz="2400" b="1" i="0" u="none" strike="noStrike" kern="1200" cap="none" spc="0" normalizeH="0" baseline="0" noProof="0" dirty="0">
                <a:ln>
                  <a:noFill/>
                </a:ln>
                <a:solidFill>
                  <a:srgbClr val="4BACC6">
                    <a:lumMod val="50000"/>
                  </a:srgbClr>
                </a:solidFill>
                <a:effectLst/>
                <a:uLnTx/>
                <a:uFillTx/>
                <a:latin typeface="Calibri"/>
                <a:ea typeface="+mn-ea"/>
                <a:cs typeface="+mn-cs"/>
              </a:rPr>
              <a:t>Today, general-equilibrium models dominate</a:t>
            </a:r>
            <a:r>
              <a:rPr kumimoji="0" lang="pl-PL" sz="2400" b="1"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2400" b="1" i="0" u="none" strike="noStrike" kern="1200" cap="none" spc="0" normalizeH="0" baseline="0" noProof="0" dirty="0" err="1">
                <a:ln>
                  <a:noFill/>
                </a:ln>
                <a:solidFill>
                  <a:srgbClr val="4BACC6">
                    <a:lumMod val="50000"/>
                  </a:srgbClr>
                </a:solidFill>
                <a:effectLst/>
                <a:uLnTx/>
                <a:uFillTx/>
                <a:latin typeface="Calibri"/>
                <a:ea typeface="+mn-ea"/>
                <a:cs typeface="+mn-cs"/>
              </a:rPr>
              <a:t>macroeconomics</a:t>
            </a:r>
            <a:r>
              <a:rPr kumimoji="0" lang="en-US" sz="2400" b="1" i="0" u="none" strike="noStrike" kern="1200" cap="none" spc="0" normalizeH="0" baseline="0" noProof="0" dirty="0">
                <a:ln>
                  <a:noFill/>
                </a:ln>
                <a:solidFill>
                  <a:srgbClr val="4BACC6">
                    <a:lumMod val="50000"/>
                  </a:srgbClr>
                </a:solidFill>
                <a:effectLst/>
                <a:uLnTx/>
                <a:uFillTx/>
                <a:latin typeface="Calibri"/>
                <a:ea typeface="+mn-ea"/>
                <a:cs typeface="+mn-cs"/>
              </a:rPr>
              <a:t>. We start from individual </a:t>
            </a:r>
            <a:r>
              <a:rPr lang="en-US" sz="2400" b="1" dirty="0">
                <a:solidFill>
                  <a:srgbClr val="4BACC6">
                    <a:lumMod val="50000"/>
                  </a:srgbClr>
                </a:solidFill>
                <a:latin typeface="Calibri"/>
              </a:rPr>
              <a:t>agents (homo </a:t>
            </a:r>
            <a:r>
              <a:rPr lang="en-US" sz="2400" b="1" dirty="0" err="1">
                <a:solidFill>
                  <a:srgbClr val="4BACC6">
                    <a:lumMod val="50000"/>
                  </a:srgbClr>
                </a:solidFill>
                <a:latin typeface="Calibri"/>
              </a:rPr>
              <a:t>oeconomicus</a:t>
            </a:r>
            <a:r>
              <a:rPr lang="en-US" sz="2400" b="1" dirty="0">
                <a:solidFill>
                  <a:srgbClr val="4BACC6">
                    <a:lumMod val="50000"/>
                  </a:srgbClr>
                </a:solidFill>
                <a:latin typeface="Calibri"/>
              </a:rPr>
              <a:t>) </a:t>
            </a:r>
            <a:r>
              <a:rPr kumimoji="0" lang="en-US" sz="2400" b="1" i="0" u="none" strike="noStrike" kern="1200" cap="none" spc="0" normalizeH="0" baseline="0" noProof="0" dirty="0">
                <a:ln>
                  <a:noFill/>
                </a:ln>
                <a:solidFill>
                  <a:srgbClr val="4BACC6">
                    <a:lumMod val="50000"/>
                  </a:srgbClr>
                </a:solidFill>
                <a:effectLst/>
                <a:uLnTx/>
                <a:uFillTx/>
                <a:latin typeface="Calibri"/>
                <a:ea typeface="+mn-ea"/>
                <a:cs typeface="+mn-cs"/>
              </a:rPr>
              <a:t>and end with the whole economy. Kenneth Arrow and Gérard Debreu did what physics could not: a model of atomic </a:t>
            </a:r>
            <a:r>
              <a:rPr kumimoji="0" lang="en-US" sz="2400" b="1" i="0" u="none" strike="noStrike" kern="1200" cap="none" spc="0" normalizeH="0" baseline="0" noProof="0" dirty="0" err="1">
                <a:ln>
                  <a:noFill/>
                </a:ln>
                <a:solidFill>
                  <a:srgbClr val="4BACC6">
                    <a:lumMod val="50000"/>
                  </a:srgbClr>
                </a:solidFill>
                <a:effectLst/>
                <a:uLnTx/>
                <a:uFillTx/>
                <a:latin typeface="Calibri"/>
                <a:ea typeface="+mn-ea"/>
                <a:cs typeface="+mn-cs"/>
              </a:rPr>
              <a:t>behaviour</a:t>
            </a:r>
            <a:r>
              <a:rPr kumimoji="0" lang="en-US" sz="2400" b="1" i="0" u="none" strike="noStrike" kern="1200" cap="none" spc="0" normalizeH="0" baseline="0" noProof="0" dirty="0">
                <a:ln>
                  <a:noFill/>
                </a:ln>
                <a:solidFill>
                  <a:srgbClr val="4BACC6">
                    <a:lumMod val="50000"/>
                  </a:srgbClr>
                </a:solidFill>
                <a:effectLst/>
                <a:uLnTx/>
                <a:uFillTx/>
                <a:latin typeface="Calibri"/>
                <a:ea typeface="+mn-ea"/>
                <a:cs typeface="+mn-cs"/>
              </a:rPr>
              <a:t> does not explain the </a:t>
            </a:r>
            <a:r>
              <a:rPr kumimoji="0" lang="en-US" sz="2400" b="1" i="0" u="none" strike="noStrike" kern="1200" cap="none" spc="0" normalizeH="0" baseline="0" noProof="0" dirty="0" err="1">
                <a:ln>
                  <a:noFill/>
                </a:ln>
                <a:solidFill>
                  <a:srgbClr val="4BACC6">
                    <a:lumMod val="50000"/>
                  </a:srgbClr>
                </a:solidFill>
                <a:effectLst/>
                <a:uLnTx/>
                <a:uFillTx/>
                <a:latin typeface="Calibri"/>
                <a:ea typeface="+mn-ea"/>
                <a:cs typeface="+mn-cs"/>
              </a:rPr>
              <a:t>behaviour</a:t>
            </a:r>
            <a:r>
              <a:rPr kumimoji="0" lang="en-US" sz="2400" b="1" i="0" u="none" strike="noStrike" kern="1200" cap="none" spc="0" normalizeH="0" baseline="0" noProof="0" dirty="0">
                <a:ln>
                  <a:noFill/>
                </a:ln>
                <a:solidFill>
                  <a:srgbClr val="4BACC6">
                    <a:lumMod val="50000"/>
                  </a:srgbClr>
                </a:solidFill>
                <a:effectLst/>
                <a:uLnTx/>
                <a:uFillTx/>
                <a:latin typeface="Calibri"/>
                <a:ea typeface="+mn-ea"/>
                <a:cs typeface="+mn-cs"/>
              </a:rPr>
              <a:t> of the universe.</a:t>
            </a:r>
            <a:endParaRPr kumimoji="0" lang="pl-PL" sz="2400" b="1" i="1" u="none" strike="noStrike" kern="1200" cap="none" spc="0" normalizeH="0" baseline="0" noProof="0" dirty="0">
              <a:ln>
                <a:noFill/>
              </a:ln>
              <a:solidFill>
                <a:srgbClr val="4BACC6">
                  <a:lumMod val="50000"/>
                </a:srgbClr>
              </a:solidFill>
              <a:effectLst/>
              <a:uLnTx/>
              <a:uFillTx/>
              <a:latin typeface="Calibri"/>
              <a:ea typeface="+mn-ea"/>
              <a:cs typeface="+mn-cs"/>
            </a:endParaRPr>
          </a:p>
        </p:txBody>
      </p:sp>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0411" y="2965157"/>
            <a:ext cx="3688161" cy="3483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7" name="Prostokąt 6"/>
          <p:cNvSpPr/>
          <p:nvPr/>
        </p:nvSpPr>
        <p:spPr>
          <a:xfrm>
            <a:off x="91745" y="2919081"/>
            <a:ext cx="1900219"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dirty="0">
                <a:ln>
                  <a:noFill/>
                </a:ln>
                <a:solidFill>
                  <a:srgbClr val="4BACC6">
                    <a:lumMod val="50000"/>
                  </a:srgbClr>
                </a:solidFill>
                <a:effectLst/>
                <a:uLnTx/>
                <a:uFillTx/>
                <a:latin typeface="Arial" charset="0"/>
                <a:ea typeface="+mn-ea"/>
                <a:cs typeface="+mn-cs"/>
              </a:rPr>
              <a:t>Kenneth Arrow</a:t>
            </a:r>
          </a:p>
        </p:txBody>
      </p:sp>
      <p:pic>
        <p:nvPicPr>
          <p:cNvPr id="8" name="Picture 2" descr="File:Kenneth Arrow, Stanford University.jpg"/>
          <p:cNvPicPr>
            <a:picLocks noChangeAspect="1" noChangeArrowheads="1"/>
          </p:cNvPicPr>
          <p:nvPr/>
        </p:nvPicPr>
        <p:blipFill>
          <a:blip r:embed="rId4"/>
          <a:srcRect/>
          <a:stretch>
            <a:fillRect/>
          </a:stretch>
        </p:blipFill>
        <p:spPr bwMode="auto">
          <a:xfrm>
            <a:off x="182487" y="1181281"/>
            <a:ext cx="1347673" cy="1683094"/>
          </a:xfrm>
          <a:prstGeom prst="rect">
            <a:avLst/>
          </a:prstGeom>
          <a:ln>
            <a:noFill/>
          </a:ln>
          <a:effectLst>
            <a:outerShdw blurRad="292100" dist="139700" dir="2700000" algn="tl" rotWithShape="0">
              <a:srgbClr val="333333">
                <a:alpha val="65000"/>
              </a:srgbClr>
            </a:outerShdw>
          </a:effectLst>
        </p:spPr>
      </p:pic>
      <p:sp>
        <p:nvSpPr>
          <p:cNvPr id="9" name="Prostokąt 8"/>
          <p:cNvSpPr/>
          <p:nvPr/>
        </p:nvSpPr>
        <p:spPr>
          <a:xfrm>
            <a:off x="182487" y="5260742"/>
            <a:ext cx="1903214"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dirty="0" err="1">
                <a:ln>
                  <a:noFill/>
                </a:ln>
                <a:solidFill>
                  <a:srgbClr val="4BACC6">
                    <a:lumMod val="50000"/>
                  </a:srgbClr>
                </a:solidFill>
                <a:effectLst/>
                <a:uLnTx/>
                <a:uFillTx/>
                <a:latin typeface="Arial" charset="0"/>
                <a:ea typeface="+mn-ea"/>
                <a:cs typeface="+mn-cs"/>
              </a:rPr>
              <a:t>Gérard</a:t>
            </a:r>
            <a:r>
              <a:rPr kumimoji="0" lang="pl-PL" sz="2000" b="0" i="0" u="none" strike="noStrike" kern="1200" cap="none" spc="0" normalizeH="0" baseline="0" noProof="0" dirty="0">
                <a:ln>
                  <a:noFill/>
                </a:ln>
                <a:solidFill>
                  <a:srgbClr val="4BACC6">
                    <a:lumMod val="50000"/>
                  </a:srgbClr>
                </a:solidFill>
                <a:effectLst/>
                <a:uLnTx/>
                <a:uFillTx/>
                <a:latin typeface="Arial" charset="0"/>
                <a:ea typeface="+mn-ea"/>
                <a:cs typeface="+mn-cs"/>
              </a:rPr>
              <a:t> </a:t>
            </a:r>
            <a:r>
              <a:rPr kumimoji="0" lang="pl-PL" sz="2000" b="0" i="0" u="none" strike="noStrike" kern="1200" cap="none" spc="0" normalizeH="0" baseline="0" noProof="0" dirty="0" err="1">
                <a:ln>
                  <a:noFill/>
                </a:ln>
                <a:solidFill>
                  <a:srgbClr val="4BACC6">
                    <a:lumMod val="50000"/>
                  </a:srgbClr>
                </a:solidFill>
                <a:effectLst/>
                <a:uLnTx/>
                <a:uFillTx/>
                <a:latin typeface="Arial" charset="0"/>
                <a:ea typeface="+mn-ea"/>
                <a:cs typeface="+mn-cs"/>
              </a:rPr>
              <a:t>Debreu</a:t>
            </a:r>
            <a:endParaRPr kumimoji="0" lang="pl-PL" sz="2000" b="0" i="0" u="none" strike="noStrike" kern="1200" cap="none" spc="0" normalizeH="0" baseline="0" noProof="0" dirty="0">
              <a:ln>
                <a:noFill/>
              </a:ln>
              <a:solidFill>
                <a:srgbClr val="4BACC6">
                  <a:lumMod val="50000"/>
                </a:srgbClr>
              </a:solidFill>
              <a:effectLst/>
              <a:uLnTx/>
              <a:uFillTx/>
              <a:latin typeface="Arial" charset="0"/>
              <a:ea typeface="+mn-ea"/>
              <a:cs typeface="+mn-cs"/>
            </a:endParaRPr>
          </a:p>
        </p:txBody>
      </p:sp>
      <p:pic>
        <p:nvPicPr>
          <p:cNvPr id="10" name="Picture 4" descr="http://t1.gstatic.com/images?q=tbn:ANd9GcQ37f8QzZJK6icXqZK_t-hyXFMtczFS0B8jXeW8TiiBfqs8ogzr2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14" y="3365386"/>
            <a:ext cx="1308740" cy="1642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pole tekstowe 10"/>
          <p:cNvSpPr txBox="1"/>
          <p:nvPr/>
        </p:nvSpPr>
        <p:spPr>
          <a:xfrm>
            <a:off x="5383463" y="3119136"/>
            <a:ext cx="2924964" cy="25545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Economics consists of:</a:t>
            </a:r>
            <a:br>
              <a:rPr lang="en-US" sz="1600" dirty="0"/>
            </a:br>
            <a:r>
              <a:rPr lang="en-US" sz="1600" dirty="0"/>
              <a:t>• N1 consumers</a:t>
            </a:r>
            <a:br>
              <a:rPr lang="en-US" sz="1600" dirty="0"/>
            </a:br>
            <a:r>
              <a:rPr lang="en-US" sz="1600" dirty="0"/>
              <a:t>• N2 goods and services</a:t>
            </a:r>
            <a:br>
              <a:rPr lang="en-US" sz="1600" dirty="0"/>
            </a:br>
            <a:r>
              <a:rPr lang="en-US" sz="1600" dirty="0"/>
              <a:t>• N3 factors of production</a:t>
            </a:r>
            <a:br>
              <a:rPr lang="en-US" sz="1600" dirty="0"/>
            </a:br>
            <a:r>
              <a:rPr lang="en-US" sz="1600" dirty="0"/>
              <a:t>• N2 markets for goods and services and their prices</a:t>
            </a:r>
            <a:br>
              <a:rPr lang="en-US" sz="1600" dirty="0"/>
            </a:br>
            <a:r>
              <a:rPr lang="en-US" sz="1600" dirty="0"/>
              <a:t>• N3 markets for factors of production and their prices</a:t>
            </a:r>
            <a:br>
              <a:rPr lang="en-US" sz="1600" dirty="0"/>
            </a:br>
            <a:r>
              <a:rPr lang="en-US" sz="1600" dirty="0"/>
              <a:t>and a mechanism that ties it all together.</a:t>
            </a:r>
            <a:endParaRPr kumimoji="0" lang="pl-PL" sz="1600" b="0" i="0" u="none" strike="noStrike" kern="1200" cap="none" spc="0" normalizeH="0" baseline="0" noProof="0" dirty="0">
              <a:ln>
                <a:noFill/>
              </a:ln>
              <a:solidFill>
                <a:srgbClr val="4BACC6">
                  <a:lumMod val="50000"/>
                </a:srgbClr>
              </a:solidFill>
              <a:effectLst/>
              <a:uLnTx/>
              <a:uFillTx/>
              <a:latin typeface="Arial" charset="0"/>
              <a:ea typeface="+mn-ea"/>
              <a:cs typeface="+mn-cs"/>
            </a:endParaRPr>
          </a:p>
        </p:txBody>
      </p:sp>
      <p:pic>
        <p:nvPicPr>
          <p:cNvPr id="3" name="Obraz 2"/>
          <p:cNvPicPr>
            <a:picLocks noChangeAspect="1"/>
          </p:cNvPicPr>
          <p:nvPr/>
        </p:nvPicPr>
        <p:blipFill>
          <a:blip r:embed="rId6"/>
          <a:stretch>
            <a:fillRect/>
          </a:stretch>
        </p:blipFill>
        <p:spPr>
          <a:xfrm>
            <a:off x="9756963" y="2600527"/>
            <a:ext cx="1141358" cy="1146453"/>
          </a:xfrm>
          <a:prstGeom prst="rect">
            <a:avLst/>
          </a:prstGeom>
        </p:spPr>
      </p:pic>
      <p:sp>
        <p:nvSpPr>
          <p:cNvPr id="6" name="Strzałka w dół 5"/>
          <p:cNvSpPr/>
          <p:nvPr/>
        </p:nvSpPr>
        <p:spPr>
          <a:xfrm>
            <a:off x="10587955" y="3496175"/>
            <a:ext cx="626473" cy="1851631"/>
          </a:xfrm>
          <a:prstGeom prst="downArrow">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white"/>
              </a:solidFill>
              <a:effectLst/>
              <a:uLnTx/>
              <a:uFillTx/>
              <a:latin typeface="Calibri"/>
              <a:ea typeface="+mn-ea"/>
              <a:cs typeface="+mn-cs"/>
            </a:endParaRPr>
          </a:p>
        </p:txBody>
      </p:sp>
      <p:pic>
        <p:nvPicPr>
          <p:cNvPr id="14" name="Obraz 13"/>
          <p:cNvPicPr>
            <a:picLocks noChangeAspect="1"/>
          </p:cNvPicPr>
          <p:nvPr/>
        </p:nvPicPr>
        <p:blipFill>
          <a:blip r:embed="rId7"/>
          <a:stretch>
            <a:fillRect/>
          </a:stretch>
        </p:blipFill>
        <p:spPr>
          <a:xfrm>
            <a:off x="8711692" y="5347806"/>
            <a:ext cx="3388563" cy="1308710"/>
          </a:xfrm>
          <a:prstGeom prst="rect">
            <a:avLst/>
          </a:prstGeom>
        </p:spPr>
      </p:pic>
      <p:cxnSp>
        <p:nvCxnSpPr>
          <p:cNvPr id="13" name="Łącznik prosty 12"/>
          <p:cNvCxnSpPr/>
          <p:nvPr/>
        </p:nvCxnSpPr>
        <p:spPr>
          <a:xfrm flipV="1">
            <a:off x="10289406" y="3686476"/>
            <a:ext cx="1434165" cy="1174282"/>
          </a:xfrm>
          <a:prstGeom prst="line">
            <a:avLst/>
          </a:prstGeom>
        </p:spPr>
        <p:style>
          <a:lnRef idx="1">
            <a:schemeClr val="accent2"/>
          </a:lnRef>
          <a:fillRef idx="0">
            <a:schemeClr val="accent2"/>
          </a:fillRef>
          <a:effectRef idx="0">
            <a:schemeClr val="accent2"/>
          </a:effectRef>
          <a:fontRef idx="minor">
            <a:schemeClr val="tx1"/>
          </a:fontRef>
        </p:style>
      </p:cxnSp>
      <p:cxnSp>
        <p:nvCxnSpPr>
          <p:cNvPr id="16" name="Łącznik prosty 15"/>
          <p:cNvCxnSpPr/>
          <p:nvPr/>
        </p:nvCxnSpPr>
        <p:spPr>
          <a:xfrm flipH="1" flipV="1">
            <a:off x="10039149" y="3794622"/>
            <a:ext cx="1578544" cy="912132"/>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791520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rrow: Left-Right 4">
            <a:extLst>
              <a:ext uri="{FF2B5EF4-FFF2-40B4-BE49-F238E27FC236}">
                <a16:creationId xmlns:a16="http://schemas.microsoft.com/office/drawing/2014/main" id="{7E9C615A-27EB-A4C7-DCB0-328106771EF1}"/>
              </a:ext>
            </a:extLst>
          </p:cNvPr>
          <p:cNvSpPr/>
          <p:nvPr/>
        </p:nvSpPr>
        <p:spPr>
          <a:xfrm rot="16200000">
            <a:off x="6682305" y="3466802"/>
            <a:ext cx="2560255" cy="1126717"/>
          </a:xfrm>
          <a:prstGeom prst="lef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dirty="0"/>
          </a:p>
        </p:txBody>
      </p:sp>
      <p:sp>
        <p:nvSpPr>
          <p:cNvPr id="27" name="pole tekstowe 26"/>
          <p:cNvSpPr txBox="1"/>
          <p:nvPr/>
        </p:nvSpPr>
        <p:spPr>
          <a:xfrm>
            <a:off x="9515811" y="4471139"/>
            <a:ext cx="2275696" cy="1200329"/>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dirty="0">
                <a:solidFill>
                  <a:schemeClr val="accent3">
                    <a:lumMod val="50000"/>
                  </a:schemeClr>
                </a:solidFill>
              </a:rPr>
              <a:t>Supply of goods and services</a:t>
            </a:r>
            <a:r>
              <a:rPr lang="pl-PL" dirty="0">
                <a:solidFill>
                  <a:schemeClr val="accent3">
                    <a:lumMod val="50000"/>
                  </a:schemeClr>
                </a:solidFill>
              </a:rPr>
              <a:t> </a:t>
            </a:r>
            <a:r>
              <a:rPr lang="en-US" dirty="0">
                <a:solidFill>
                  <a:schemeClr val="accent3">
                    <a:lumMod val="50000"/>
                  </a:schemeClr>
                </a:solidFill>
              </a:rPr>
              <a:t>and demand for factors of production</a:t>
            </a:r>
            <a:endParaRPr lang="pl-PL" dirty="0">
              <a:solidFill>
                <a:schemeClr val="accent3">
                  <a:lumMod val="50000"/>
                </a:schemeClr>
              </a:solidFill>
            </a:endParaRPr>
          </a:p>
        </p:txBody>
      </p:sp>
      <p:sp>
        <p:nvSpPr>
          <p:cNvPr id="12" name="Tytuł 1"/>
          <p:cNvSpPr>
            <a:spLocks noGrp="1"/>
          </p:cNvSpPr>
          <p:nvPr>
            <p:ph type="title"/>
          </p:nvPr>
        </p:nvSpPr>
        <p:spPr>
          <a:xfrm>
            <a:off x="0" y="-1"/>
            <a:ext cx="12192000" cy="1294807"/>
          </a:xfrm>
          <a:solidFill>
            <a:schemeClr val="accent5">
              <a:lumMod val="20000"/>
              <a:lumOff val="80000"/>
            </a:schemeClr>
          </a:solidFill>
        </p:spPr>
        <p:txBody>
          <a:bodyPr>
            <a:noAutofit/>
          </a:bodyPr>
          <a:lstStyle/>
          <a:p>
            <a:r>
              <a:rPr lang="pl-PL" b="1" dirty="0">
                <a:solidFill>
                  <a:schemeClr val="accent5">
                    <a:lumMod val="50000"/>
                  </a:schemeClr>
                </a:solidFill>
              </a:rPr>
              <a:t>Witamy w świecie Arrow–</a:t>
            </a:r>
            <a:r>
              <a:rPr lang="pl-PL" b="1" dirty="0" err="1">
                <a:solidFill>
                  <a:schemeClr val="accent5">
                    <a:lumMod val="50000"/>
                  </a:schemeClr>
                </a:solidFill>
              </a:rPr>
              <a:t>Debreu</a:t>
            </a:r>
            <a:r>
              <a:rPr lang="pl-PL" b="1" dirty="0">
                <a:solidFill>
                  <a:schemeClr val="accent5">
                    <a:lumMod val="50000"/>
                  </a:schemeClr>
                </a:solidFill>
              </a:rPr>
              <a:t> (równowagi ogólnej)   </a:t>
            </a:r>
            <a:endParaRPr lang="en-GB" b="1" dirty="0">
              <a:solidFill>
                <a:schemeClr val="accent5">
                  <a:lumMod val="50000"/>
                </a:schemeClr>
              </a:solidFill>
            </a:endParaRPr>
          </a:p>
        </p:txBody>
      </p:sp>
      <p:sp>
        <p:nvSpPr>
          <p:cNvPr id="2" name="pole tekstowe 1"/>
          <p:cNvSpPr txBox="1"/>
          <p:nvPr/>
        </p:nvSpPr>
        <p:spPr>
          <a:xfrm>
            <a:off x="501264" y="5585956"/>
            <a:ext cx="2328530" cy="646331"/>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pl-PL" dirty="0" err="1">
                <a:solidFill>
                  <a:schemeClr val="accent3">
                    <a:lumMod val="50000"/>
                  </a:schemeClr>
                </a:solidFill>
              </a:rPr>
              <a:t>Axioms</a:t>
            </a:r>
            <a:r>
              <a:rPr lang="pl-PL" dirty="0">
                <a:solidFill>
                  <a:schemeClr val="accent3">
                    <a:lumMod val="50000"/>
                  </a:schemeClr>
                </a:solidFill>
              </a:rPr>
              <a:t> </a:t>
            </a:r>
            <a:r>
              <a:rPr lang="pl-PL" dirty="0" err="1">
                <a:solidFill>
                  <a:schemeClr val="accent3">
                    <a:lumMod val="50000"/>
                  </a:schemeClr>
                </a:solidFill>
              </a:rPr>
              <a:t>defining</a:t>
            </a:r>
            <a:r>
              <a:rPr lang="pl-PL" dirty="0">
                <a:solidFill>
                  <a:schemeClr val="accent3">
                    <a:lumMod val="50000"/>
                  </a:schemeClr>
                </a:solidFill>
              </a:rPr>
              <a:t> </a:t>
            </a:r>
            <a:r>
              <a:rPr lang="pl-PL" dirty="0" err="1">
                <a:solidFill>
                  <a:schemeClr val="accent3">
                    <a:lumMod val="50000"/>
                  </a:schemeClr>
                </a:solidFill>
              </a:rPr>
              <a:t>technology</a:t>
            </a:r>
            <a:endParaRPr lang="pl-PL" dirty="0">
              <a:solidFill>
                <a:schemeClr val="accent3">
                  <a:lumMod val="50000"/>
                </a:schemeClr>
              </a:solidFill>
            </a:endParaRPr>
          </a:p>
        </p:txBody>
      </p:sp>
      <p:sp>
        <p:nvSpPr>
          <p:cNvPr id="15" name="Strzałka w prawo 14"/>
          <p:cNvSpPr/>
          <p:nvPr/>
        </p:nvSpPr>
        <p:spPr>
          <a:xfrm>
            <a:off x="3042446" y="5685837"/>
            <a:ext cx="882502" cy="446568"/>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pl-PL">
              <a:solidFill>
                <a:schemeClr val="accent3">
                  <a:lumMod val="50000"/>
                </a:schemeClr>
              </a:solidFill>
            </a:endParaRPr>
          </a:p>
        </p:txBody>
      </p:sp>
      <p:sp>
        <p:nvSpPr>
          <p:cNvPr id="17" name="pole tekstowe 16"/>
          <p:cNvSpPr txBox="1"/>
          <p:nvPr/>
        </p:nvSpPr>
        <p:spPr>
          <a:xfrm>
            <a:off x="3963934" y="5685836"/>
            <a:ext cx="2183218" cy="3693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pl-PL" dirty="0" err="1">
                <a:solidFill>
                  <a:schemeClr val="accent3">
                    <a:lumMod val="50000"/>
                  </a:schemeClr>
                </a:solidFill>
              </a:rPr>
              <a:t>Production</a:t>
            </a:r>
            <a:r>
              <a:rPr lang="pl-PL" dirty="0">
                <a:solidFill>
                  <a:schemeClr val="accent3">
                    <a:lumMod val="50000"/>
                  </a:schemeClr>
                </a:solidFill>
              </a:rPr>
              <a:t> </a:t>
            </a:r>
            <a:r>
              <a:rPr lang="pl-PL" dirty="0" err="1">
                <a:solidFill>
                  <a:schemeClr val="accent3">
                    <a:lumMod val="50000"/>
                  </a:schemeClr>
                </a:solidFill>
              </a:rPr>
              <a:t>function</a:t>
            </a:r>
            <a:endParaRPr lang="pl-PL" dirty="0">
              <a:solidFill>
                <a:schemeClr val="accent3">
                  <a:lumMod val="50000"/>
                </a:schemeClr>
              </a:solidFill>
            </a:endParaRPr>
          </a:p>
        </p:txBody>
      </p:sp>
      <p:sp>
        <p:nvSpPr>
          <p:cNvPr id="18" name="pole tekstowe 17"/>
          <p:cNvSpPr txBox="1"/>
          <p:nvPr/>
        </p:nvSpPr>
        <p:spPr>
          <a:xfrm>
            <a:off x="7132766" y="5447455"/>
            <a:ext cx="2183218" cy="92333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en-US" b="1" dirty="0">
                <a:solidFill>
                  <a:schemeClr val="accent3">
                    <a:lumMod val="50000"/>
                  </a:schemeClr>
                </a:solidFill>
              </a:rPr>
              <a:t>Cost minimization for a given output Y(K, L)</a:t>
            </a:r>
            <a:endParaRPr lang="pl-PL" b="1" dirty="0">
              <a:solidFill>
                <a:schemeClr val="accent3">
                  <a:lumMod val="50000"/>
                </a:schemeClr>
              </a:solidFill>
            </a:endParaRPr>
          </a:p>
        </p:txBody>
      </p:sp>
      <p:sp>
        <p:nvSpPr>
          <p:cNvPr id="19" name="Strzałka w prawo 18"/>
          <p:cNvSpPr/>
          <p:nvPr/>
        </p:nvSpPr>
        <p:spPr>
          <a:xfrm>
            <a:off x="6186138" y="5685836"/>
            <a:ext cx="882502" cy="446568"/>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pl-PL">
              <a:solidFill>
                <a:schemeClr val="accent3">
                  <a:lumMod val="50000"/>
                </a:schemeClr>
              </a:solidFill>
            </a:endParaRPr>
          </a:p>
        </p:txBody>
      </p:sp>
      <p:sp>
        <p:nvSpPr>
          <p:cNvPr id="20" name="Strzałka w prawo 19"/>
          <p:cNvSpPr/>
          <p:nvPr/>
        </p:nvSpPr>
        <p:spPr>
          <a:xfrm rot="18692380">
            <a:off x="9534298" y="5841016"/>
            <a:ext cx="882502" cy="446568"/>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pl-PL" dirty="0">
              <a:solidFill>
                <a:schemeClr val="accent3">
                  <a:lumMod val="50000"/>
                </a:schemeClr>
              </a:solidFill>
            </a:endParaRPr>
          </a:p>
        </p:txBody>
      </p:sp>
      <p:sp>
        <p:nvSpPr>
          <p:cNvPr id="21" name="pole tekstowe 20"/>
          <p:cNvSpPr txBox="1"/>
          <p:nvPr/>
        </p:nvSpPr>
        <p:spPr>
          <a:xfrm>
            <a:off x="253830" y="1689304"/>
            <a:ext cx="2328530"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pl-PL" dirty="0" err="1">
                <a:solidFill>
                  <a:schemeClr val="accent5">
                    <a:lumMod val="50000"/>
                  </a:schemeClr>
                </a:solidFill>
              </a:rPr>
              <a:t>Axioms</a:t>
            </a:r>
            <a:r>
              <a:rPr lang="pl-PL" dirty="0">
                <a:solidFill>
                  <a:schemeClr val="accent5">
                    <a:lumMod val="50000"/>
                  </a:schemeClr>
                </a:solidFill>
              </a:rPr>
              <a:t> of </a:t>
            </a:r>
            <a:r>
              <a:rPr lang="pl-PL" dirty="0" err="1">
                <a:solidFill>
                  <a:schemeClr val="accent5">
                    <a:lumMod val="50000"/>
                  </a:schemeClr>
                </a:solidFill>
              </a:rPr>
              <a:t>rational</a:t>
            </a:r>
            <a:r>
              <a:rPr lang="pl-PL" dirty="0">
                <a:solidFill>
                  <a:schemeClr val="accent5">
                    <a:lumMod val="50000"/>
                  </a:schemeClr>
                </a:solidFill>
              </a:rPr>
              <a:t> choice</a:t>
            </a:r>
          </a:p>
        </p:txBody>
      </p:sp>
      <p:sp>
        <p:nvSpPr>
          <p:cNvPr id="22" name="Strzałka w prawo 21"/>
          <p:cNvSpPr/>
          <p:nvPr/>
        </p:nvSpPr>
        <p:spPr>
          <a:xfrm>
            <a:off x="2727901" y="1780200"/>
            <a:ext cx="882502" cy="446568"/>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pl-PL">
              <a:solidFill>
                <a:schemeClr val="accent5">
                  <a:lumMod val="50000"/>
                </a:schemeClr>
              </a:solidFill>
            </a:endParaRPr>
          </a:p>
        </p:txBody>
      </p:sp>
      <p:sp>
        <p:nvSpPr>
          <p:cNvPr id="23" name="pole tekstowe 22"/>
          <p:cNvSpPr txBox="1"/>
          <p:nvPr/>
        </p:nvSpPr>
        <p:spPr>
          <a:xfrm>
            <a:off x="3677747" y="1541819"/>
            <a:ext cx="1883082"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pl-PL" dirty="0" err="1">
                <a:solidFill>
                  <a:schemeClr val="accent5">
                    <a:lumMod val="50000"/>
                  </a:schemeClr>
                </a:solidFill>
              </a:rPr>
              <a:t>Utility</a:t>
            </a:r>
            <a:r>
              <a:rPr lang="pl-PL" dirty="0">
                <a:solidFill>
                  <a:schemeClr val="accent5">
                    <a:lumMod val="50000"/>
                  </a:schemeClr>
                </a:solidFill>
              </a:rPr>
              <a:t> </a:t>
            </a:r>
            <a:r>
              <a:rPr lang="pl-PL" dirty="0" err="1">
                <a:solidFill>
                  <a:schemeClr val="accent5">
                    <a:lumMod val="50000"/>
                  </a:schemeClr>
                </a:solidFill>
              </a:rPr>
              <a:t>function</a:t>
            </a:r>
            <a:r>
              <a:rPr lang="pl-PL" dirty="0">
                <a:solidFill>
                  <a:schemeClr val="accent5">
                    <a:lumMod val="50000"/>
                  </a:schemeClr>
                </a:solidFill>
              </a:rPr>
              <a:t> </a:t>
            </a:r>
            <a:r>
              <a:rPr lang="pl-PL" dirty="0" err="1">
                <a:solidFill>
                  <a:schemeClr val="accent5">
                    <a:lumMod val="50000"/>
                  </a:schemeClr>
                </a:solidFill>
              </a:rPr>
              <a:t>representing</a:t>
            </a:r>
            <a:r>
              <a:rPr lang="pl-PL" dirty="0">
                <a:solidFill>
                  <a:schemeClr val="accent5">
                    <a:lumMod val="50000"/>
                  </a:schemeClr>
                </a:solidFill>
              </a:rPr>
              <a:t> </a:t>
            </a:r>
            <a:r>
              <a:rPr lang="pl-PL" dirty="0" err="1">
                <a:solidFill>
                  <a:schemeClr val="accent5">
                    <a:lumMod val="50000"/>
                  </a:schemeClr>
                </a:solidFill>
              </a:rPr>
              <a:t>preferences</a:t>
            </a:r>
            <a:endParaRPr lang="pl-PL" dirty="0">
              <a:solidFill>
                <a:schemeClr val="accent5">
                  <a:lumMod val="50000"/>
                </a:schemeClr>
              </a:solidFill>
            </a:endParaRPr>
          </a:p>
        </p:txBody>
      </p:sp>
      <p:sp>
        <p:nvSpPr>
          <p:cNvPr id="24" name="pole tekstowe 23"/>
          <p:cNvSpPr txBox="1"/>
          <p:nvPr/>
        </p:nvSpPr>
        <p:spPr>
          <a:xfrm>
            <a:off x="6882341" y="1476375"/>
            <a:ext cx="2183218" cy="120032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b="1" dirty="0">
                <a:solidFill>
                  <a:schemeClr val="accent5">
                    <a:lumMod val="50000"/>
                  </a:schemeClr>
                </a:solidFill>
              </a:rPr>
              <a:t>Maximization of U(x1, x2) subject to the budget constrain</a:t>
            </a:r>
            <a:endParaRPr lang="pl-PL" b="1" dirty="0">
              <a:solidFill>
                <a:schemeClr val="accent5">
                  <a:lumMod val="50000"/>
                </a:schemeClr>
              </a:solidFill>
            </a:endParaRPr>
          </a:p>
        </p:txBody>
      </p:sp>
      <p:sp>
        <p:nvSpPr>
          <p:cNvPr id="25" name="Strzałka w prawo 24"/>
          <p:cNvSpPr/>
          <p:nvPr/>
        </p:nvSpPr>
        <p:spPr>
          <a:xfrm>
            <a:off x="5705901" y="1716130"/>
            <a:ext cx="882502" cy="446568"/>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pl-PL">
              <a:solidFill>
                <a:schemeClr val="accent5">
                  <a:lumMod val="50000"/>
                </a:schemeClr>
              </a:solidFill>
            </a:endParaRPr>
          </a:p>
        </p:txBody>
      </p:sp>
      <p:sp>
        <p:nvSpPr>
          <p:cNvPr id="26" name="Strzałka w prawo 25"/>
          <p:cNvSpPr/>
          <p:nvPr/>
        </p:nvSpPr>
        <p:spPr>
          <a:xfrm rot="3109970">
            <a:off x="9366469" y="1548812"/>
            <a:ext cx="882502" cy="446568"/>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pl-PL"/>
          </a:p>
        </p:txBody>
      </p:sp>
      <p:sp>
        <p:nvSpPr>
          <p:cNvPr id="28" name="pole tekstowe 27"/>
          <p:cNvSpPr txBox="1"/>
          <p:nvPr/>
        </p:nvSpPr>
        <p:spPr>
          <a:xfrm>
            <a:off x="4423139" y="3548239"/>
            <a:ext cx="7630164" cy="707886"/>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2000" b="1" dirty="0">
                <a:solidFill>
                  <a:srgbClr val="C00000"/>
                </a:solidFill>
              </a:rPr>
              <a:t>Markets connecting both sides:</a:t>
            </a:r>
            <a:r>
              <a:rPr lang="pl-PL" sz="2000" b="1" dirty="0">
                <a:solidFill>
                  <a:srgbClr val="C00000"/>
                </a:solidFill>
              </a:rPr>
              <a:t> </a:t>
            </a:r>
          </a:p>
          <a:p>
            <a:pPr algn="ctr"/>
            <a:r>
              <a:rPr lang="en-US" sz="2000" b="1" dirty="0">
                <a:solidFill>
                  <a:srgbClr val="C00000"/>
                </a:solidFill>
              </a:rPr>
              <a:t>Markets for factors of production and for goods and services</a:t>
            </a:r>
            <a:endParaRPr lang="pl-PL" sz="2000" b="1" dirty="0">
              <a:solidFill>
                <a:srgbClr val="C00000"/>
              </a:solidFill>
            </a:endParaRPr>
          </a:p>
        </p:txBody>
      </p:sp>
      <p:sp>
        <p:nvSpPr>
          <p:cNvPr id="29" name="pole tekstowe 28"/>
          <p:cNvSpPr txBox="1"/>
          <p:nvPr/>
        </p:nvSpPr>
        <p:spPr>
          <a:xfrm>
            <a:off x="9359498" y="2134232"/>
            <a:ext cx="2587954"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b="1" dirty="0">
                <a:solidFill>
                  <a:schemeClr val="accent5">
                    <a:lumMod val="50000"/>
                  </a:schemeClr>
                </a:solidFill>
              </a:rPr>
              <a:t>Demand</a:t>
            </a:r>
            <a:r>
              <a:rPr lang="en-US" dirty="0">
                <a:solidFill>
                  <a:schemeClr val="accent5">
                    <a:lumMod val="50000"/>
                  </a:schemeClr>
                </a:solidFill>
              </a:rPr>
              <a:t> for goods and supply of factors of production</a:t>
            </a:r>
            <a:endParaRPr lang="pl-PL" dirty="0">
              <a:solidFill>
                <a:schemeClr val="accent5">
                  <a:lumMod val="50000"/>
                </a:schemeClr>
              </a:solidFill>
            </a:endParaRPr>
          </a:p>
        </p:txBody>
      </p:sp>
      <p:sp>
        <p:nvSpPr>
          <p:cNvPr id="30" name="Uśmiechnięta buźka 29"/>
          <p:cNvSpPr/>
          <p:nvPr/>
        </p:nvSpPr>
        <p:spPr>
          <a:xfrm>
            <a:off x="127211" y="2658236"/>
            <a:ext cx="233680" cy="213360"/>
          </a:xfrm>
          <a:prstGeom prst="smileyFac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Uśmiechnięta buźka 30"/>
          <p:cNvSpPr/>
          <p:nvPr/>
        </p:nvSpPr>
        <p:spPr>
          <a:xfrm>
            <a:off x="492971" y="2678710"/>
            <a:ext cx="233680" cy="213360"/>
          </a:xfrm>
          <a:prstGeom prst="smileyFac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Uśmiechnięta buźka 31"/>
          <p:cNvSpPr/>
          <p:nvPr/>
        </p:nvSpPr>
        <p:spPr>
          <a:xfrm>
            <a:off x="259291" y="2904445"/>
            <a:ext cx="233680" cy="213360"/>
          </a:xfrm>
          <a:prstGeom prst="smileyFac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white"/>
              </a:solidFill>
              <a:effectLst/>
              <a:uLnTx/>
              <a:uFillTx/>
              <a:latin typeface="Calibri"/>
              <a:ea typeface="+mn-ea"/>
              <a:cs typeface="+mn-cs"/>
            </a:endParaRPr>
          </a:p>
        </p:txBody>
      </p:sp>
      <p:sp>
        <p:nvSpPr>
          <p:cNvPr id="33" name="Uśmiechnięta buźka 32"/>
          <p:cNvSpPr/>
          <p:nvPr/>
        </p:nvSpPr>
        <p:spPr>
          <a:xfrm>
            <a:off x="609811" y="2904445"/>
            <a:ext cx="233680" cy="213360"/>
          </a:xfrm>
          <a:prstGeom prst="smileyFac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white"/>
              </a:solidFill>
              <a:effectLst/>
              <a:uLnTx/>
              <a:uFillTx/>
              <a:latin typeface="Calibri"/>
              <a:ea typeface="+mn-ea"/>
              <a:cs typeface="+mn-cs"/>
            </a:endParaRPr>
          </a:p>
        </p:txBody>
      </p:sp>
      <p:sp>
        <p:nvSpPr>
          <p:cNvPr id="34" name="Uśmiechnięta buźka 33"/>
          <p:cNvSpPr/>
          <p:nvPr/>
        </p:nvSpPr>
        <p:spPr>
          <a:xfrm>
            <a:off x="858731" y="2650445"/>
            <a:ext cx="233680" cy="213360"/>
          </a:xfrm>
          <a:prstGeom prst="smileyFac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white"/>
              </a:solidFill>
              <a:effectLst/>
              <a:uLnTx/>
              <a:uFillTx/>
              <a:latin typeface="Calibri"/>
              <a:ea typeface="+mn-ea"/>
              <a:cs typeface="+mn-cs"/>
            </a:endParaRPr>
          </a:p>
        </p:txBody>
      </p:sp>
      <p:sp>
        <p:nvSpPr>
          <p:cNvPr id="35" name="Uśmiechnięta buźka 34"/>
          <p:cNvSpPr/>
          <p:nvPr/>
        </p:nvSpPr>
        <p:spPr>
          <a:xfrm>
            <a:off x="975571" y="2926804"/>
            <a:ext cx="233680" cy="213360"/>
          </a:xfrm>
          <a:prstGeom prst="smileyFac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white"/>
              </a:solidFill>
              <a:effectLst/>
              <a:uLnTx/>
              <a:uFillTx/>
              <a:latin typeface="Calibri"/>
              <a:ea typeface="+mn-ea"/>
              <a:cs typeface="+mn-cs"/>
            </a:endParaRPr>
          </a:p>
        </p:txBody>
      </p:sp>
      <p:sp>
        <p:nvSpPr>
          <p:cNvPr id="36" name="Prostokąt 35"/>
          <p:cNvSpPr/>
          <p:nvPr/>
        </p:nvSpPr>
        <p:spPr>
          <a:xfrm>
            <a:off x="1278382" y="2587014"/>
            <a:ext cx="4712638"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BACC6">
                    <a:lumMod val="50000"/>
                  </a:srgbClr>
                </a:solidFill>
                <a:effectLst/>
                <a:uLnTx/>
                <a:uFillTx/>
                <a:latin typeface="Calibri"/>
                <a:ea typeface="+mn-ea"/>
                <a:cs typeface="+mn-cs"/>
              </a:rPr>
              <a:t>Consumers (the role they play)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BACC6">
                    <a:lumMod val="50000"/>
                  </a:srgbClr>
                </a:solidFill>
                <a:effectLst/>
                <a:uLnTx/>
                <a:uFillTx/>
                <a:latin typeface="Calibri"/>
                <a:ea typeface="+mn-ea"/>
                <a:cs typeface="+mn-cs"/>
              </a:rPr>
              <a:t>They own production factors K and L, sell them on the market, and consume them, maximizing utility.</a:t>
            </a:r>
            <a:endParaRPr kumimoji="0" lang="pl-PL"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37" name="Uśmiechnięta buźka 36"/>
          <p:cNvSpPr/>
          <p:nvPr/>
        </p:nvSpPr>
        <p:spPr>
          <a:xfrm>
            <a:off x="127211" y="4727235"/>
            <a:ext cx="233680" cy="213360"/>
          </a:xfrm>
          <a:prstGeom prst="smileyFac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C00000"/>
              </a:solidFill>
              <a:effectLst/>
              <a:uLnTx/>
              <a:uFillTx/>
              <a:latin typeface="Calibri"/>
              <a:ea typeface="+mn-ea"/>
              <a:cs typeface="+mn-cs"/>
            </a:endParaRPr>
          </a:p>
        </p:txBody>
      </p:sp>
      <p:sp>
        <p:nvSpPr>
          <p:cNvPr id="38" name="Uśmiechnięta buźka 37"/>
          <p:cNvSpPr/>
          <p:nvPr/>
        </p:nvSpPr>
        <p:spPr>
          <a:xfrm>
            <a:off x="492971" y="4747709"/>
            <a:ext cx="233680" cy="213360"/>
          </a:xfrm>
          <a:prstGeom prst="smileyFac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C00000"/>
              </a:solidFill>
              <a:effectLst/>
              <a:uLnTx/>
              <a:uFillTx/>
              <a:latin typeface="Calibri"/>
              <a:ea typeface="+mn-ea"/>
              <a:cs typeface="+mn-cs"/>
            </a:endParaRPr>
          </a:p>
        </p:txBody>
      </p:sp>
      <p:sp>
        <p:nvSpPr>
          <p:cNvPr id="39" name="Uśmiechnięta buźka 38"/>
          <p:cNvSpPr/>
          <p:nvPr/>
        </p:nvSpPr>
        <p:spPr>
          <a:xfrm>
            <a:off x="259291" y="4973444"/>
            <a:ext cx="233680" cy="213360"/>
          </a:xfrm>
          <a:prstGeom prst="smileyFac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C00000"/>
              </a:solidFill>
              <a:effectLst/>
              <a:uLnTx/>
              <a:uFillTx/>
              <a:latin typeface="Calibri"/>
              <a:ea typeface="+mn-ea"/>
              <a:cs typeface="+mn-cs"/>
            </a:endParaRPr>
          </a:p>
        </p:txBody>
      </p:sp>
      <p:sp>
        <p:nvSpPr>
          <p:cNvPr id="40" name="Uśmiechnięta buźka 39"/>
          <p:cNvSpPr/>
          <p:nvPr/>
        </p:nvSpPr>
        <p:spPr>
          <a:xfrm>
            <a:off x="609811" y="4973444"/>
            <a:ext cx="233680" cy="213360"/>
          </a:xfrm>
          <a:prstGeom prst="smileyFac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C00000"/>
              </a:solidFill>
              <a:effectLst/>
              <a:uLnTx/>
              <a:uFillTx/>
              <a:latin typeface="Calibri"/>
              <a:ea typeface="+mn-ea"/>
              <a:cs typeface="+mn-cs"/>
            </a:endParaRPr>
          </a:p>
        </p:txBody>
      </p:sp>
      <p:sp>
        <p:nvSpPr>
          <p:cNvPr id="41" name="Uśmiechnięta buźka 40"/>
          <p:cNvSpPr/>
          <p:nvPr/>
        </p:nvSpPr>
        <p:spPr>
          <a:xfrm>
            <a:off x="858731" y="4719444"/>
            <a:ext cx="233680" cy="213360"/>
          </a:xfrm>
          <a:prstGeom prst="smileyFac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C00000"/>
              </a:solidFill>
              <a:effectLst/>
              <a:uLnTx/>
              <a:uFillTx/>
              <a:latin typeface="Calibri"/>
              <a:ea typeface="+mn-ea"/>
              <a:cs typeface="+mn-cs"/>
            </a:endParaRPr>
          </a:p>
        </p:txBody>
      </p:sp>
      <p:sp>
        <p:nvSpPr>
          <p:cNvPr id="42" name="Uśmiechnięta buźka 41"/>
          <p:cNvSpPr/>
          <p:nvPr/>
        </p:nvSpPr>
        <p:spPr>
          <a:xfrm>
            <a:off x="913193" y="4976747"/>
            <a:ext cx="233680" cy="213360"/>
          </a:xfrm>
          <a:prstGeom prst="smileyFac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srgbClr val="C00000"/>
              </a:solidFill>
              <a:effectLst/>
              <a:uLnTx/>
              <a:uFillTx/>
              <a:latin typeface="Calibri"/>
              <a:ea typeface="+mn-ea"/>
              <a:cs typeface="+mn-cs"/>
            </a:endParaRPr>
          </a:p>
        </p:txBody>
      </p:sp>
      <p:sp>
        <p:nvSpPr>
          <p:cNvPr id="43" name="Prostokąt 42"/>
          <p:cNvSpPr/>
          <p:nvPr/>
        </p:nvSpPr>
        <p:spPr>
          <a:xfrm>
            <a:off x="1356692" y="4766343"/>
            <a:ext cx="5484653" cy="646331"/>
          </a:xfrm>
          <a:prstGeom prst="rect">
            <a:avLst/>
          </a:prstGeom>
        </p:spPr>
        <p:txBody>
          <a:bodyPr wrap="square">
            <a:spAutoFit/>
          </a:bodyPr>
          <a:lstStyle/>
          <a:p>
            <a:pPr>
              <a:defRPr/>
            </a:pPr>
            <a:r>
              <a:rPr kumimoji="0" lang="en-US" sz="1800" b="1" i="0" u="none" strike="noStrike" kern="1200" cap="none" spc="0" normalizeH="0" baseline="0" noProof="0" dirty="0">
                <a:ln>
                  <a:noFill/>
                </a:ln>
                <a:solidFill>
                  <a:schemeClr val="accent3">
                    <a:lumMod val="50000"/>
                  </a:schemeClr>
                </a:solidFill>
                <a:effectLst/>
                <a:uLnTx/>
                <a:uFillTx/>
                <a:latin typeface="Calibri"/>
                <a:ea typeface="+mn-ea"/>
                <a:cs typeface="+mn-cs"/>
              </a:rPr>
              <a:t>Producers (the role they take) buy K and L to produce to </a:t>
            </a:r>
            <a:r>
              <a:rPr kumimoji="0" lang="en-US" sz="1800" b="1" i="0" u="none" strike="noStrike" kern="1200" cap="none" spc="0" normalizeH="0" baseline="0" noProof="0" dirty="0" err="1">
                <a:ln>
                  <a:noFill/>
                </a:ln>
                <a:solidFill>
                  <a:schemeClr val="accent3">
                    <a:lumMod val="50000"/>
                  </a:schemeClr>
                </a:solidFill>
                <a:effectLst/>
                <a:uLnTx/>
                <a:uFillTx/>
                <a:latin typeface="Calibri"/>
                <a:ea typeface="+mn-ea"/>
                <a:cs typeface="+mn-cs"/>
              </a:rPr>
              <a:t>maximise</a:t>
            </a:r>
            <a:r>
              <a:rPr kumimoji="0" lang="en-US" sz="1800" b="1" i="0" u="none" strike="noStrike" kern="1200" cap="none" spc="0" normalizeH="0" baseline="0" noProof="0" dirty="0">
                <a:ln>
                  <a:noFill/>
                </a:ln>
                <a:solidFill>
                  <a:schemeClr val="accent3">
                    <a:lumMod val="50000"/>
                  </a:schemeClr>
                </a:solidFill>
                <a:effectLst/>
                <a:uLnTx/>
                <a:uFillTx/>
                <a:latin typeface="Calibri"/>
                <a:ea typeface="+mn-ea"/>
                <a:cs typeface="+mn-cs"/>
              </a:rPr>
              <a:t> profit.</a:t>
            </a:r>
            <a:endParaRPr lang="pl-PL" dirty="0">
              <a:solidFill>
                <a:schemeClr val="accent3">
                  <a:lumMod val="50000"/>
                </a:schemeClr>
              </a:solidFill>
            </a:endParaRPr>
          </a:p>
        </p:txBody>
      </p:sp>
      <p:sp>
        <p:nvSpPr>
          <p:cNvPr id="3" name="Strzałka w prawo 25">
            <a:extLst>
              <a:ext uri="{FF2B5EF4-FFF2-40B4-BE49-F238E27FC236}">
                <a16:creationId xmlns:a16="http://schemas.microsoft.com/office/drawing/2014/main" id="{1FDB1876-BF87-CF57-8C3B-610687C14B1D}"/>
              </a:ext>
            </a:extLst>
          </p:cNvPr>
          <p:cNvSpPr/>
          <p:nvPr/>
        </p:nvSpPr>
        <p:spPr>
          <a:xfrm rot="5400000">
            <a:off x="9902221" y="3033275"/>
            <a:ext cx="509816" cy="446568"/>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pl-PL"/>
          </a:p>
        </p:txBody>
      </p:sp>
      <p:sp>
        <p:nvSpPr>
          <p:cNvPr id="4" name="Strzałka w prawo 19">
            <a:extLst>
              <a:ext uri="{FF2B5EF4-FFF2-40B4-BE49-F238E27FC236}">
                <a16:creationId xmlns:a16="http://schemas.microsoft.com/office/drawing/2014/main" id="{9EFAAB7B-9628-0440-8BA8-A6E1EEF3B794}"/>
              </a:ext>
            </a:extLst>
          </p:cNvPr>
          <p:cNvSpPr/>
          <p:nvPr/>
        </p:nvSpPr>
        <p:spPr>
          <a:xfrm rot="16200000">
            <a:off x="8859416" y="4333833"/>
            <a:ext cx="553595" cy="446568"/>
          </a:xfrm>
          <a:prstGeom prst="rightArrow">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pl-PL" dirty="0">
              <a:solidFill>
                <a:schemeClr val="accent3">
                  <a:lumMod val="50000"/>
                </a:schemeClr>
              </a:solidFill>
            </a:endParaRPr>
          </a:p>
        </p:txBody>
      </p:sp>
    </p:spTree>
    <p:extLst>
      <p:ext uri="{BB962C8B-B14F-4D97-AF65-F5344CB8AC3E}">
        <p14:creationId xmlns:p14="http://schemas.microsoft.com/office/powerpoint/2010/main" val="3861548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98F7A-D9AA-EC20-DBA6-56709C03C35E}"/>
            </a:ext>
          </a:extLst>
        </p:cNvPr>
        <p:cNvGrpSpPr/>
        <p:nvPr/>
      </p:nvGrpSpPr>
      <p:grpSpPr>
        <a:xfrm>
          <a:off x="0" y="0"/>
          <a:ext cx="0" cy="0"/>
          <a:chOff x="0" y="0"/>
          <a:chExt cx="0" cy="0"/>
        </a:xfrm>
      </p:grpSpPr>
      <p:sp>
        <p:nvSpPr>
          <p:cNvPr id="80" name="CustomShape 1">
            <a:extLst>
              <a:ext uri="{FF2B5EF4-FFF2-40B4-BE49-F238E27FC236}">
                <a16:creationId xmlns:a16="http://schemas.microsoft.com/office/drawing/2014/main" id="{224C0EB2-9E75-ADCA-59C3-B93C1E410F45}"/>
              </a:ext>
            </a:extLst>
          </p:cNvPr>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Overview of</a:t>
            </a:r>
            <a:r>
              <a:rPr kumimoji="0" lang="pl-PL" sz="4000" b="1"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a:t>
            </a:r>
            <a:r>
              <a:rPr kumimoji="0" lang="pl-PL" sz="4000" b="1" i="0" u="none" strike="noStrike" kern="1200" cap="none" spc="-1" normalizeH="0" baseline="0" noProof="0" dirty="0" err="1">
                <a:ln>
                  <a:noFill/>
                </a:ln>
                <a:solidFill>
                  <a:srgbClr val="215968"/>
                </a:solidFill>
                <a:effectLst/>
                <a:uLnTx/>
                <a:uFill>
                  <a:solidFill>
                    <a:srgbClr val="FFFFFF"/>
                  </a:solidFill>
                </a:uFill>
                <a:latin typeface="Calibri"/>
                <a:ea typeface="DejaVu Sans"/>
                <a:cs typeface="DejaVu Sans"/>
              </a:rPr>
              <a:t>today</a:t>
            </a:r>
            <a:r>
              <a:rPr kumimoji="0" lang="pl-PL" sz="4000" b="1"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a:t>
            </a:r>
            <a:r>
              <a:rPr kumimoji="0" lang="pl-PL" sz="4000" b="1" i="0" u="none" strike="noStrike" kern="1200" cap="none" spc="-1" normalizeH="0" baseline="0" noProof="0" dirty="0" err="1">
                <a:ln>
                  <a:noFill/>
                </a:ln>
                <a:solidFill>
                  <a:srgbClr val="215968"/>
                </a:solidFill>
                <a:effectLst/>
                <a:uLnTx/>
                <a:uFill>
                  <a:solidFill>
                    <a:srgbClr val="FFFFFF"/>
                  </a:solidFill>
                </a:uFill>
                <a:latin typeface="Calibri"/>
                <a:ea typeface="DejaVu Sans"/>
                <a:cs typeface="DejaVu Sans"/>
              </a:rPr>
              <a:t>lecture</a:t>
            </a:r>
            <a:r>
              <a:rPr kumimoji="0" lang="pl-PL" sz="4000" b="1" i="1"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a:t>
            </a:r>
            <a:endParaRPr kumimoji="0" sz="2400" b="1" i="0" u="none" strike="noStrike" kern="1200" cap="none" spc="0" normalizeH="0" baseline="0" noProof="0" dirty="0">
              <a:ln>
                <a:noFill/>
              </a:ln>
              <a:solidFill>
                <a:prstClr val="black"/>
              </a:solidFill>
              <a:effectLst/>
              <a:uLnTx/>
              <a:uFillTx/>
              <a:latin typeface="Arial"/>
              <a:ea typeface="DejaVu Sans"/>
              <a:cs typeface="DejaVu Sans"/>
            </a:endParaRPr>
          </a:p>
        </p:txBody>
      </p:sp>
      <p:sp>
        <p:nvSpPr>
          <p:cNvPr id="81" name="CustomShape 2">
            <a:extLst>
              <a:ext uri="{FF2B5EF4-FFF2-40B4-BE49-F238E27FC236}">
                <a16:creationId xmlns:a16="http://schemas.microsoft.com/office/drawing/2014/main" id="{AE06F454-370D-9DE0-5AB0-B86EA2E59147}"/>
              </a:ext>
            </a:extLst>
          </p:cNvPr>
          <p:cNvSpPr/>
          <p:nvPr/>
        </p:nvSpPr>
        <p:spPr>
          <a:xfrm>
            <a:off x="186088" y="1356600"/>
            <a:ext cx="11819823" cy="5399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R="0" lvl="0" algn="just" defTabSz="914400" rtl="0" eaLnBrk="1" fontAlgn="auto" latinLnBrk="0" hangingPunct="1">
              <a:lnSpc>
                <a:spcPct val="100000"/>
              </a:lnSpc>
              <a:spcBef>
                <a:spcPts val="0"/>
              </a:spcBef>
              <a:spcAft>
                <a:spcPts val="0"/>
              </a:spcAft>
              <a:buClrTx/>
              <a:buSzTx/>
              <a:tabLst/>
              <a:defRPr/>
            </a:pPr>
            <a:r>
              <a:rPr kumimoji="0" lang="en-US" sz="28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Most economic theories assume that economic agents optimize their behavior to achieve the best possible outcome. This behavior is translated into a model, framed as an optimization problem: consumers aim to maximize utility, while firms focus on minimizing costs and maximizing profit.</a:t>
            </a:r>
          </a:p>
          <a:p>
            <a:pPr marR="0" lvl="0" algn="just" defTabSz="914400" rtl="0" eaLnBrk="1" fontAlgn="auto" latinLnBrk="0" hangingPunct="1">
              <a:lnSpc>
                <a:spcPct val="100000"/>
              </a:lnSpc>
              <a:spcBef>
                <a:spcPts val="0"/>
              </a:spcBef>
              <a:spcAft>
                <a:spcPts val="0"/>
              </a:spcAft>
              <a:buClrTx/>
              <a:buSzTx/>
              <a:tabLst/>
              <a:defRPr/>
            </a:pPr>
            <a:endParaRPr kumimoji="0" lang="en-US" sz="28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endParaRPr>
          </a:p>
          <a:p>
            <a:pPr marR="0" lvl="0" algn="just" defTabSz="914400" rtl="0" eaLnBrk="1" fontAlgn="auto" latinLnBrk="0" hangingPunct="1">
              <a:lnSpc>
                <a:spcPct val="100000"/>
              </a:lnSpc>
              <a:spcBef>
                <a:spcPts val="0"/>
              </a:spcBef>
              <a:spcAft>
                <a:spcPts val="0"/>
              </a:spcAft>
              <a:buClrTx/>
              <a:buSzTx/>
              <a:tabLst/>
              <a:defRPr/>
            </a:pPr>
            <a:r>
              <a:rPr kumimoji="0" lang="en-US" sz="28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In the last lecture</a:t>
            </a:r>
            <a:r>
              <a:rPr kumimoji="0" lang="pl-PL" sz="28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s</a:t>
            </a:r>
            <a:r>
              <a:rPr kumimoji="0" lang="en-US" sz="28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I discussed unconstrained optimization. Today, we will explore constrained optimization, using examples from consumer and producer choices. Ninety percent of economic calculations involve either unconstrained or constrained optimization. I’ll demonstrate that a solid understanding of these concepts is enough to construct a simple General Equilibrium Model.</a:t>
            </a:r>
          </a:p>
          <a:p>
            <a:pPr marR="0" lvl="0" algn="just" defTabSz="914400" rtl="0" eaLnBrk="1" fontAlgn="auto" latinLnBrk="0" hangingPunct="1">
              <a:lnSpc>
                <a:spcPct val="100000"/>
              </a:lnSpc>
              <a:spcBef>
                <a:spcPts val="0"/>
              </a:spcBef>
              <a:spcAft>
                <a:spcPts val="0"/>
              </a:spcAft>
              <a:buClrTx/>
              <a:buSzTx/>
              <a:tabLst/>
              <a:defRPr/>
            </a:pPr>
            <a:endParaRPr kumimoji="0" lang="en-US" sz="28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endParaRPr>
          </a:p>
          <a:p>
            <a:pPr marR="0" lvl="0" algn="just" defTabSz="914400" rtl="0" eaLnBrk="1" fontAlgn="auto" latinLnBrk="0" hangingPunct="1">
              <a:lnSpc>
                <a:spcPct val="100000"/>
              </a:lnSpc>
              <a:spcBef>
                <a:spcPts val="0"/>
              </a:spcBef>
              <a:spcAft>
                <a:spcPts val="0"/>
              </a:spcAft>
              <a:buClrTx/>
              <a:buSzTx/>
              <a:tabLst/>
              <a:defRPr/>
            </a:pPr>
            <a:r>
              <a:rPr kumimoji="0" lang="en-US" sz="2800" b="0"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We’ll go into more detail as we dive deeper into producer and consumer theory..</a:t>
            </a:r>
            <a:endParaRPr kumimoji="0" sz="2800" b="0" i="0" u="none" strike="noStrike" kern="1200" cap="none" spc="0" normalizeH="0" baseline="0" noProof="0" dirty="0">
              <a:ln>
                <a:noFill/>
              </a:ln>
              <a:solidFill>
                <a:srgbClr val="215968"/>
              </a:solidFill>
              <a:effectLst/>
              <a:uLnTx/>
              <a:uFillTx/>
              <a:latin typeface="Arial"/>
              <a:ea typeface="DejaVu Sans"/>
              <a:cs typeface="DejaVu Sans"/>
            </a:endParaRPr>
          </a:p>
        </p:txBody>
      </p:sp>
    </p:spTree>
    <p:extLst>
      <p:ext uri="{BB962C8B-B14F-4D97-AF65-F5344CB8AC3E}">
        <p14:creationId xmlns:p14="http://schemas.microsoft.com/office/powerpoint/2010/main" val="79986361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6CC82-2357-741F-7089-D56CAC24648E}"/>
            </a:ext>
          </a:extLst>
        </p:cNvPr>
        <p:cNvGrpSpPr/>
        <p:nvPr/>
      </p:nvGrpSpPr>
      <p:grpSpPr>
        <a:xfrm>
          <a:off x="0" y="0"/>
          <a:ext cx="0" cy="0"/>
          <a:chOff x="0" y="0"/>
          <a:chExt cx="0" cy="0"/>
        </a:xfrm>
      </p:grpSpPr>
      <p:sp>
        <p:nvSpPr>
          <p:cNvPr id="80" name="CustomShape 1">
            <a:extLst>
              <a:ext uri="{FF2B5EF4-FFF2-40B4-BE49-F238E27FC236}">
                <a16:creationId xmlns:a16="http://schemas.microsoft.com/office/drawing/2014/main" id="{B08F03CF-50C5-AD82-A99F-D76139092926}"/>
              </a:ext>
            </a:extLst>
          </p:cNvPr>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1" normalizeH="0" baseline="0" noProof="0" dirty="0" err="1">
                <a:ln>
                  <a:noFill/>
                </a:ln>
                <a:solidFill>
                  <a:srgbClr val="215968"/>
                </a:solidFill>
                <a:effectLst/>
                <a:uLnTx/>
                <a:uFill>
                  <a:solidFill>
                    <a:srgbClr val="FFFFFF"/>
                  </a:solidFill>
                </a:uFill>
                <a:latin typeface="Calibri"/>
                <a:ea typeface="DejaVu Sans"/>
                <a:cs typeface="DejaVu Sans"/>
              </a:rPr>
              <a:t>Lagrangian</a:t>
            </a:r>
            <a:r>
              <a:rPr kumimoji="0" lang="en-US" sz="4000" b="1"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Multiplier Method</a:t>
            </a:r>
            <a:endParaRPr kumimoji="0" sz="2400" b="1" i="0" u="none" strike="noStrike" kern="1200" cap="none" spc="0" normalizeH="0" baseline="0" noProof="0" dirty="0">
              <a:ln>
                <a:noFill/>
              </a:ln>
              <a:solidFill>
                <a:prstClr val="black"/>
              </a:solidFill>
              <a:effectLst/>
              <a:uLnTx/>
              <a:uFillTx/>
              <a:latin typeface="Arial"/>
              <a:ea typeface="DejaVu Sans"/>
              <a:cs typeface="DejaVu Sans"/>
            </a:endParaRPr>
          </a:p>
        </p:txBody>
      </p:sp>
      <mc:AlternateContent xmlns:mc="http://schemas.openxmlformats.org/markup-compatibility/2006" xmlns:a14="http://schemas.microsoft.com/office/drawing/2010/main">
        <mc:Choice Requires="a14">
          <p:sp>
            <p:nvSpPr>
              <p:cNvPr id="81" name="CustomShape 2">
                <a:extLst>
                  <a:ext uri="{FF2B5EF4-FFF2-40B4-BE49-F238E27FC236}">
                    <a16:creationId xmlns:a16="http://schemas.microsoft.com/office/drawing/2014/main" id="{9B1915DA-33AE-15D0-6627-3174F51DCB8E}"/>
                  </a:ext>
                </a:extLst>
              </p:cNvPr>
              <p:cNvSpPr/>
              <p:nvPr/>
            </p:nvSpPr>
            <p:spPr>
              <a:xfrm>
                <a:off x="400970" y="1737014"/>
                <a:ext cx="10674952" cy="46987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r>
                  <a:rPr lang="en-GB" sz="2800" b="1"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Objective</a:t>
                </a:r>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Maximize/Minimize </a:t>
                </a:r>
                <a14:m>
                  <m:oMath xmlns:m="http://schemas.openxmlformats.org/officeDocument/2006/math">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𝑦</m:t>
                    </m:r>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m:t>
                    </m:r>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𝑓</m:t>
                    </m:r>
                    <m:d>
                      <m:dPr>
                        <m:ctrlPr>
                          <a:rPr lang="pl-PL" sz="2800" i="1">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ctrlPr>
                      </m:dPr>
                      <m:e>
                        <m:sSub>
                          <m:sSubPr>
                            <m:ctrlPr>
                              <a:rPr lang="pl-PL" sz="2800" i="1">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1</m:t>
                            </m:r>
                          </m:sub>
                        </m:sSub>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pl-PL" sz="2800" i="1">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2</m:t>
                            </m:r>
                          </m:sub>
                        </m:sSub>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m:t>
                        </m:r>
                        <m:r>
                          <a:rPr lang="en-GB" sz="2800"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m:t>
                        </m:r>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pl-PL" sz="2800" i="1">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𝑛</m:t>
                            </m:r>
                          </m:sub>
                        </m:sSub>
                      </m:e>
                    </m:d>
                  </m:oMath>
                </a14:m>
                <a:endParaRPr lang="pl-PL"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algn="just"/>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t>
                </a:r>
                <a:b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br>
                <a:r>
                  <a:rPr lang="en-GB" sz="2800" b="1"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Subject to</a:t>
                </a:r>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𝑔</m:t>
                    </m:r>
                    <m:d>
                      <m:dPr>
                        <m:ctrlPr>
                          <a:rPr lang="pl-PL" sz="2800" i="1">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ctrlPr>
                      </m:dPr>
                      <m:e>
                        <m:sSub>
                          <m:sSubPr>
                            <m:ctrlPr>
                              <a:rPr lang="pl-PL" sz="2800" i="1">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1</m:t>
                            </m:r>
                          </m:sub>
                        </m:sSub>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pl-PL" sz="2800" i="1">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2</m:t>
                            </m:r>
                          </m:sub>
                        </m:sSub>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m:t>
                        </m:r>
                        <m:r>
                          <a:rPr lang="en-GB" sz="2800"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m:t>
                        </m:r>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pl-PL" sz="2800" i="1">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𝑛</m:t>
                            </m:r>
                          </m:sub>
                        </m:sSub>
                      </m:e>
                    </m:d>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=0</m:t>
                    </m:r>
                  </m:oMath>
                </a14:m>
                <a:r>
                  <a:rPr lang="pl-PL"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t>
                </a:r>
                <a:r>
                  <a:rPr lang="en-US" sz="28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Sometimes, we can add more conditions or add inequalities [very rarely]</a:t>
                </a:r>
                <a:r>
                  <a:rPr lang="pl-PL"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t>
                </a:r>
              </a:p>
              <a:p>
                <a:pPr algn="just"/>
                <a:endParaRPr lang="pl-PL"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algn="just"/>
                <a:endParaRPr lang="pl-PL" sz="28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This structure represents a typical constrained optimization problem, where the goal is to maximize/minimize the </a:t>
                </a:r>
                <a:r>
                  <a:rPr lang="en-GB" sz="28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(objective, goal) function</a:t>
                </a:r>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GB" sz="2800" i="1" dirty="0" smtClean="0">
                        <a:solidFill>
                          <a:schemeClr val="accent5">
                            <a:lumMod val="50000"/>
                          </a:schemeClr>
                        </a:solidFill>
                        <a:effectLst/>
                        <a:latin typeface="Cambria Math" panose="02040503050406030204" pitchFamily="18" charset="0"/>
                        <a:ea typeface="Calibri" panose="020F0502020204030204" pitchFamily="34" charset="0"/>
                        <a:cs typeface="Calibri" panose="020F0502020204030204" pitchFamily="34" charset="0"/>
                      </a:rPr>
                      <m:t>𝑦</m:t>
                    </m:r>
                  </m:oMath>
                </a14:m>
                <a:r>
                  <a:rPr lang="pl-PL"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t>
                </a:r>
                <a:r>
                  <a:rPr lang="pl-PL" sz="28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subject to the </a:t>
                </a:r>
                <a:r>
                  <a:rPr lang="pl-PL" sz="2800" dirty="0" err="1">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constraint</a:t>
                </a:r>
                <a:r>
                  <a:rPr lang="pl-PL"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𝑔</m:t>
                    </m:r>
                    <m:d>
                      <m:dPr>
                        <m:ctrlPr>
                          <a:rPr lang="pl-PL" sz="2800" i="1">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ctrlPr>
                      </m:dPr>
                      <m:e>
                        <m:sSub>
                          <m:sSubPr>
                            <m:ctrlPr>
                              <a:rPr lang="pl-PL" sz="2800" i="1">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1</m:t>
                            </m:r>
                          </m:sub>
                        </m:sSub>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pl-PL" sz="2800" i="1">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2</m:t>
                            </m:r>
                          </m:sub>
                        </m:sSub>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m:t>
                        </m:r>
                        <m:r>
                          <a:rPr lang="en-GB" sz="2800"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m:t>
                        </m:r>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pl-PL" sz="2800" i="1">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𝑛</m:t>
                            </m:r>
                          </m:sub>
                        </m:sSub>
                      </m:e>
                    </m:d>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=0</m:t>
                    </m:r>
                  </m:oMath>
                </a14:m>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which limits the values of the decision variables </a:t>
                </a:r>
                <a14:m>
                  <m:oMath xmlns:m="http://schemas.openxmlformats.org/officeDocument/2006/math">
                    <m:sSub>
                      <m:sSubPr>
                        <m:ctrlPr>
                          <a:rPr lang="pl-PL" sz="2800" i="1">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1</m:t>
                        </m:r>
                      </m:sub>
                    </m:sSub>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pl-PL" sz="2800" i="1">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2</m:t>
                        </m:r>
                      </m:sub>
                    </m:sSub>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m:t>
                    </m:r>
                    <m:r>
                      <a:rPr lang="en-GB" sz="2800"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m:t>
                    </m:r>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pl-PL" sz="2800" i="1">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𝑥</m:t>
                        </m:r>
                      </m:e>
                      <m:sub>
                        <m:r>
                          <a:rPr lang="en-GB" sz="2800" i="1" smtClean="0">
                            <a:solidFill>
                              <a:schemeClr val="accent5">
                                <a:lumMod val="50000"/>
                              </a:schemeClr>
                            </a:solidFill>
                            <a:effectLst/>
                            <a:latin typeface="Cambria Math" panose="02040503050406030204" pitchFamily="18" charset="0"/>
                            <a:ea typeface="Times New Roman" panose="02020603050405020304" pitchFamily="18" charset="0"/>
                            <a:cs typeface="Calibri" panose="020F0502020204030204" pitchFamily="34" charset="0"/>
                          </a:rPr>
                          <m:t>𝑛</m:t>
                        </m:r>
                      </m:sub>
                    </m:sSub>
                  </m:oMath>
                </a14:m>
                <a:endParaRPr lang="pl-PL"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CustomShape 2">
                <a:extLst>
                  <a:ext uri="{FF2B5EF4-FFF2-40B4-BE49-F238E27FC236}">
                    <a16:creationId xmlns:a16="http://schemas.microsoft.com/office/drawing/2014/main" id="{9B1915DA-33AE-15D0-6627-3174F51DCB8E}"/>
                  </a:ext>
                </a:extLst>
              </p:cNvPr>
              <p:cNvSpPr>
                <a:spLocks noRot="1" noChangeAspect="1" noMove="1" noResize="1" noEditPoints="1" noAdjustHandles="1" noChangeArrowheads="1" noChangeShapeType="1" noTextEdit="1"/>
              </p:cNvSpPr>
              <p:nvPr/>
            </p:nvSpPr>
            <p:spPr>
              <a:xfrm>
                <a:off x="400970" y="1737014"/>
                <a:ext cx="10674952" cy="4698760"/>
              </a:xfrm>
              <a:prstGeom prst="rect">
                <a:avLst/>
              </a:prstGeom>
              <a:blipFill>
                <a:blip r:embed="rId2"/>
                <a:stretch>
                  <a:fillRect l="-1199" t="-1297" r="-1142"/>
                </a:stretch>
              </a:blipFill>
              <a:ln>
                <a:noFill/>
              </a:ln>
            </p:spPr>
            <p:txBody>
              <a:bodyPr/>
              <a:lstStyle/>
              <a:p>
                <a:r>
                  <a:rPr lang="pl-PL">
                    <a:noFill/>
                  </a:rPr>
                  <a:t> </a:t>
                </a:r>
              </a:p>
            </p:txBody>
          </p:sp>
        </mc:Fallback>
      </mc:AlternateContent>
    </p:spTree>
    <p:extLst>
      <p:ext uri="{BB962C8B-B14F-4D97-AF65-F5344CB8AC3E}">
        <p14:creationId xmlns:p14="http://schemas.microsoft.com/office/powerpoint/2010/main" val="425562229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2A768-1AEE-B9A1-1488-2AD0A553C12A}"/>
            </a:ext>
          </a:extLst>
        </p:cNvPr>
        <p:cNvGrpSpPr/>
        <p:nvPr/>
      </p:nvGrpSpPr>
      <p:grpSpPr>
        <a:xfrm>
          <a:off x="0" y="0"/>
          <a:ext cx="0" cy="0"/>
          <a:chOff x="0" y="0"/>
          <a:chExt cx="0" cy="0"/>
        </a:xfrm>
      </p:grpSpPr>
      <p:sp>
        <p:nvSpPr>
          <p:cNvPr id="80" name="CustomShape 1">
            <a:extLst>
              <a:ext uri="{FF2B5EF4-FFF2-40B4-BE49-F238E27FC236}">
                <a16:creationId xmlns:a16="http://schemas.microsoft.com/office/drawing/2014/main" id="{CDA7F70A-A652-49D7-8955-6DD45F9697AD}"/>
              </a:ext>
            </a:extLst>
          </p:cNvPr>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1" normalizeH="0" baseline="0" noProof="0" dirty="0" err="1">
                <a:ln>
                  <a:noFill/>
                </a:ln>
                <a:solidFill>
                  <a:srgbClr val="215968"/>
                </a:solidFill>
                <a:effectLst/>
                <a:uLnTx/>
                <a:uFill>
                  <a:solidFill>
                    <a:srgbClr val="FFFFFF"/>
                  </a:solidFill>
                </a:uFill>
                <a:latin typeface="Calibri"/>
                <a:ea typeface="DejaVu Sans"/>
                <a:cs typeface="DejaVu Sans"/>
              </a:rPr>
              <a:t>Lagrangian</a:t>
            </a:r>
            <a:r>
              <a:rPr kumimoji="0" lang="en-US" sz="4000" b="1"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Multiplier Method</a:t>
            </a:r>
            <a:endParaRPr kumimoji="0" sz="2400" b="1" i="0" u="none" strike="noStrike" kern="1200" cap="none" spc="0" normalizeH="0" baseline="0" noProof="0" dirty="0">
              <a:ln>
                <a:noFill/>
              </a:ln>
              <a:solidFill>
                <a:prstClr val="black"/>
              </a:solidFill>
              <a:effectLst/>
              <a:uLnTx/>
              <a:uFillTx/>
              <a:latin typeface="Arial"/>
              <a:ea typeface="DejaVu Sans"/>
              <a:cs typeface="DejaVu Sans"/>
            </a:endParaRPr>
          </a:p>
        </p:txBody>
      </p:sp>
      <mc:AlternateContent xmlns:mc="http://schemas.openxmlformats.org/markup-compatibility/2006" xmlns:a14="http://schemas.microsoft.com/office/drawing/2010/main">
        <mc:Choice Requires="a14">
          <p:sp>
            <p:nvSpPr>
              <p:cNvPr id="81" name="CustomShape 2">
                <a:extLst>
                  <a:ext uri="{FF2B5EF4-FFF2-40B4-BE49-F238E27FC236}">
                    <a16:creationId xmlns:a16="http://schemas.microsoft.com/office/drawing/2014/main" id="{4683F85D-CE7D-80BD-C92E-28D00C50650D}"/>
                  </a:ext>
                </a:extLst>
              </p:cNvPr>
              <p:cNvSpPr/>
              <p:nvPr/>
            </p:nvSpPr>
            <p:spPr>
              <a:xfrm>
                <a:off x="508000" y="1742680"/>
                <a:ext cx="11175999" cy="4200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r>
                  <a:rPr lang="en-GB"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The </a:t>
                </a:r>
                <a:r>
                  <a:rPr lang="en-GB" sz="3200" b="1"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Lagrangian</a:t>
                </a:r>
                <a:r>
                  <a:rPr lang="en-GB" sz="3200" b="1"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multiplier method </a:t>
                </a:r>
                <a:r>
                  <a:rPr lang="en-GB"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begins by setting up the following expression</a:t>
                </a:r>
                <a:r>
                  <a:rPr lang="pl-PL"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(we ad zero to </a:t>
                </a:r>
                <a:r>
                  <a:rPr lang="pl-PL" sz="3200"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our</a:t>
                </a:r>
                <a:r>
                  <a:rPr lang="pl-PL"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a:t>
                </a:r>
                <a:r>
                  <a:rPr lang="pl-PL" sz="3200"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goal</a:t>
                </a:r>
                <a:r>
                  <a:rPr lang="pl-PL"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a:t>
                </a:r>
                <a:r>
                  <a:rPr lang="pl-PL" sz="3200"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function</a:t>
                </a:r>
                <a:r>
                  <a:rPr lang="pl-PL"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GB"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pl-PL"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pPr algn="just"/>
                <a:endParaRPr lang="pl-PL"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pPr algn="just"/>
                <a14:m>
                  <m:oMathPara xmlns:m="http://schemas.openxmlformats.org/officeDocument/2006/math">
                    <m:oMathParaPr>
                      <m:jc m:val="centerGroup"/>
                    </m:oMathParaPr>
                    <m:oMath xmlns:m="http://schemas.openxmlformats.org/officeDocument/2006/math">
                      <m:r>
                        <a:rPr lang="en-GB" sz="3200" b="1" i="1" smtClean="0">
                          <a:solidFill>
                            <a:schemeClr val="accent5">
                              <a:lumMod val="50000"/>
                            </a:schemeClr>
                          </a:solidFill>
                          <a:latin typeface="Cambria Math" panose="02040503050406030204" pitchFamily="18" charset="0"/>
                        </a:rPr>
                        <m:t>𝑳</m:t>
                      </m:r>
                      <m:r>
                        <a:rPr lang="en-GB" sz="3200" b="1" i="1" smtClean="0">
                          <a:solidFill>
                            <a:schemeClr val="accent5">
                              <a:lumMod val="50000"/>
                            </a:schemeClr>
                          </a:solidFill>
                          <a:latin typeface="Cambria Math" panose="02040503050406030204" pitchFamily="18" charset="0"/>
                        </a:rPr>
                        <m:t>=</m:t>
                      </m:r>
                      <m:r>
                        <a:rPr lang="en-GB" sz="3200" b="1" i="1" smtClean="0">
                          <a:solidFill>
                            <a:schemeClr val="accent5">
                              <a:lumMod val="50000"/>
                            </a:schemeClr>
                          </a:solidFill>
                          <a:latin typeface="Cambria Math" panose="02040503050406030204" pitchFamily="18" charset="0"/>
                        </a:rPr>
                        <m:t>𝒇</m:t>
                      </m:r>
                      <m:d>
                        <m:dPr>
                          <m:ctrlPr>
                            <a:rPr lang="pl-PL" sz="3200" b="1" i="1">
                              <a:solidFill>
                                <a:schemeClr val="accent5">
                                  <a:lumMod val="50000"/>
                                </a:schemeClr>
                              </a:solidFill>
                              <a:latin typeface="Cambria Math" panose="02040503050406030204" pitchFamily="18" charset="0"/>
                            </a:rPr>
                          </m:ctrlPr>
                        </m:dPr>
                        <m:e>
                          <m:sSub>
                            <m:sSubPr>
                              <m:ctrlPr>
                                <a:rPr lang="pl-PL" sz="3200" b="1" i="1">
                                  <a:solidFill>
                                    <a:schemeClr val="accent5">
                                      <a:lumMod val="50000"/>
                                    </a:schemeClr>
                                  </a:solidFill>
                                  <a:latin typeface="Cambria Math" panose="02040503050406030204" pitchFamily="18" charset="0"/>
                                </a:rPr>
                              </m:ctrlPr>
                            </m:sSubPr>
                            <m:e>
                              <m:r>
                                <a:rPr lang="en-GB" sz="3200" b="1" i="1" smtClean="0">
                                  <a:solidFill>
                                    <a:schemeClr val="accent5">
                                      <a:lumMod val="50000"/>
                                    </a:schemeClr>
                                  </a:solidFill>
                                  <a:latin typeface="Cambria Math" panose="02040503050406030204" pitchFamily="18" charset="0"/>
                                </a:rPr>
                                <m:t>𝒙</m:t>
                              </m:r>
                            </m:e>
                            <m:sub>
                              <m:r>
                                <a:rPr lang="en-GB" sz="3200" b="1" i="1" smtClean="0">
                                  <a:solidFill>
                                    <a:schemeClr val="accent5">
                                      <a:lumMod val="50000"/>
                                    </a:schemeClr>
                                  </a:solidFill>
                                  <a:latin typeface="Cambria Math" panose="02040503050406030204" pitchFamily="18" charset="0"/>
                                </a:rPr>
                                <m:t>𝟏</m:t>
                              </m:r>
                            </m:sub>
                          </m:sSub>
                          <m:r>
                            <a:rPr lang="en-GB" sz="3200" b="1" i="1" smtClean="0">
                              <a:solidFill>
                                <a:schemeClr val="accent5">
                                  <a:lumMod val="50000"/>
                                </a:schemeClr>
                              </a:solidFill>
                              <a:latin typeface="Cambria Math" panose="02040503050406030204" pitchFamily="18" charset="0"/>
                            </a:rPr>
                            <m:t>,</m:t>
                          </m:r>
                          <m:sSub>
                            <m:sSubPr>
                              <m:ctrlPr>
                                <a:rPr lang="pl-PL" sz="3200" b="1" i="1">
                                  <a:solidFill>
                                    <a:schemeClr val="accent5">
                                      <a:lumMod val="50000"/>
                                    </a:schemeClr>
                                  </a:solidFill>
                                  <a:latin typeface="Cambria Math" panose="02040503050406030204" pitchFamily="18" charset="0"/>
                                </a:rPr>
                              </m:ctrlPr>
                            </m:sSubPr>
                            <m:e>
                              <m:r>
                                <a:rPr lang="en-GB" sz="3200" b="1" i="1" smtClean="0">
                                  <a:solidFill>
                                    <a:schemeClr val="accent5">
                                      <a:lumMod val="50000"/>
                                    </a:schemeClr>
                                  </a:solidFill>
                                  <a:latin typeface="Cambria Math" panose="02040503050406030204" pitchFamily="18" charset="0"/>
                                </a:rPr>
                                <m:t>𝒙</m:t>
                              </m:r>
                            </m:e>
                            <m:sub>
                              <m:r>
                                <a:rPr lang="en-GB" sz="3200" b="1" i="1" smtClean="0">
                                  <a:solidFill>
                                    <a:schemeClr val="accent5">
                                      <a:lumMod val="50000"/>
                                    </a:schemeClr>
                                  </a:solidFill>
                                  <a:latin typeface="Cambria Math" panose="02040503050406030204" pitchFamily="18" charset="0"/>
                                </a:rPr>
                                <m:t>𝟐</m:t>
                              </m:r>
                            </m:sub>
                          </m:sSub>
                          <m:r>
                            <a:rPr lang="en-GB" sz="3200" b="1" i="1" smtClean="0">
                              <a:solidFill>
                                <a:schemeClr val="accent5">
                                  <a:lumMod val="50000"/>
                                </a:schemeClr>
                              </a:solidFill>
                              <a:latin typeface="Cambria Math" panose="02040503050406030204" pitchFamily="18" charset="0"/>
                            </a:rPr>
                            <m:t>,</m:t>
                          </m:r>
                          <m:r>
                            <a:rPr lang="en-GB" sz="3200" b="1" smtClean="0">
                              <a:solidFill>
                                <a:schemeClr val="accent5">
                                  <a:lumMod val="50000"/>
                                </a:schemeClr>
                              </a:solidFill>
                              <a:latin typeface="Cambria Math" panose="02040503050406030204" pitchFamily="18" charset="0"/>
                            </a:rPr>
                            <m:t>…</m:t>
                          </m:r>
                          <m:r>
                            <a:rPr lang="en-GB" sz="3200" b="1" i="1" smtClean="0">
                              <a:solidFill>
                                <a:schemeClr val="accent5">
                                  <a:lumMod val="50000"/>
                                </a:schemeClr>
                              </a:solidFill>
                              <a:latin typeface="Cambria Math" panose="02040503050406030204" pitchFamily="18" charset="0"/>
                            </a:rPr>
                            <m:t>,</m:t>
                          </m:r>
                          <m:sSub>
                            <m:sSubPr>
                              <m:ctrlPr>
                                <a:rPr lang="pl-PL" sz="3200" b="1" i="1">
                                  <a:solidFill>
                                    <a:schemeClr val="accent5">
                                      <a:lumMod val="50000"/>
                                    </a:schemeClr>
                                  </a:solidFill>
                                  <a:latin typeface="Cambria Math" panose="02040503050406030204" pitchFamily="18" charset="0"/>
                                </a:rPr>
                              </m:ctrlPr>
                            </m:sSubPr>
                            <m:e>
                              <m:r>
                                <a:rPr lang="en-GB" sz="3200" b="1" i="1" smtClean="0">
                                  <a:solidFill>
                                    <a:schemeClr val="accent5">
                                      <a:lumMod val="50000"/>
                                    </a:schemeClr>
                                  </a:solidFill>
                                  <a:latin typeface="Cambria Math" panose="02040503050406030204" pitchFamily="18" charset="0"/>
                                </a:rPr>
                                <m:t>𝒙</m:t>
                              </m:r>
                            </m:e>
                            <m:sub>
                              <m:r>
                                <a:rPr lang="en-GB" sz="3200" b="1" i="1" smtClean="0">
                                  <a:solidFill>
                                    <a:schemeClr val="accent5">
                                      <a:lumMod val="50000"/>
                                    </a:schemeClr>
                                  </a:solidFill>
                                  <a:latin typeface="Cambria Math" panose="02040503050406030204" pitchFamily="18" charset="0"/>
                                </a:rPr>
                                <m:t>𝒏</m:t>
                              </m:r>
                            </m:sub>
                          </m:sSub>
                        </m:e>
                      </m:d>
                      <m:r>
                        <a:rPr lang="en-GB" sz="3200" b="1" i="1" smtClean="0">
                          <a:solidFill>
                            <a:schemeClr val="accent5">
                              <a:lumMod val="50000"/>
                            </a:schemeClr>
                          </a:solidFill>
                          <a:latin typeface="Cambria Math" panose="02040503050406030204" pitchFamily="18" charset="0"/>
                        </a:rPr>
                        <m:t>+</m:t>
                      </m:r>
                      <m:r>
                        <a:rPr lang="en-GB" sz="3200" b="1" i="1" smtClean="0">
                          <a:solidFill>
                            <a:schemeClr val="accent5">
                              <a:lumMod val="50000"/>
                            </a:schemeClr>
                          </a:solidFill>
                          <a:latin typeface="Cambria Math" panose="02040503050406030204" pitchFamily="18" charset="0"/>
                        </a:rPr>
                        <m:t>𝛌</m:t>
                      </m:r>
                      <m:r>
                        <a:rPr lang="en-GB" sz="3200" b="1" smtClean="0">
                          <a:solidFill>
                            <a:schemeClr val="accent5">
                              <a:lumMod val="50000"/>
                            </a:schemeClr>
                          </a:solidFill>
                          <a:latin typeface="Cambria Math" panose="02040503050406030204" pitchFamily="18" charset="0"/>
                        </a:rPr>
                        <m:t>⋅</m:t>
                      </m:r>
                      <m:r>
                        <a:rPr lang="en-GB" sz="3200" b="1" i="1" smtClean="0">
                          <a:solidFill>
                            <a:schemeClr val="accent5">
                              <a:lumMod val="50000"/>
                            </a:schemeClr>
                          </a:solidFill>
                          <a:latin typeface="Cambria Math" panose="02040503050406030204" pitchFamily="18" charset="0"/>
                        </a:rPr>
                        <m:t>𝒈</m:t>
                      </m:r>
                      <m:d>
                        <m:dPr>
                          <m:ctrlPr>
                            <a:rPr lang="pl-PL" sz="3200" b="1" i="1">
                              <a:solidFill>
                                <a:schemeClr val="accent5">
                                  <a:lumMod val="50000"/>
                                </a:schemeClr>
                              </a:solidFill>
                              <a:latin typeface="Cambria Math" panose="02040503050406030204" pitchFamily="18" charset="0"/>
                            </a:rPr>
                          </m:ctrlPr>
                        </m:dPr>
                        <m:e>
                          <m:sSub>
                            <m:sSubPr>
                              <m:ctrlPr>
                                <a:rPr lang="pl-PL" sz="3200" b="1" i="1">
                                  <a:solidFill>
                                    <a:schemeClr val="accent5">
                                      <a:lumMod val="50000"/>
                                    </a:schemeClr>
                                  </a:solidFill>
                                  <a:latin typeface="Cambria Math" panose="02040503050406030204" pitchFamily="18" charset="0"/>
                                </a:rPr>
                              </m:ctrlPr>
                            </m:sSubPr>
                            <m:e>
                              <m:r>
                                <a:rPr lang="en-GB" sz="3200" b="1" i="1" smtClean="0">
                                  <a:solidFill>
                                    <a:schemeClr val="accent5">
                                      <a:lumMod val="50000"/>
                                    </a:schemeClr>
                                  </a:solidFill>
                                  <a:latin typeface="Cambria Math" panose="02040503050406030204" pitchFamily="18" charset="0"/>
                                </a:rPr>
                                <m:t>𝒙</m:t>
                              </m:r>
                            </m:e>
                            <m:sub>
                              <m:r>
                                <a:rPr lang="en-GB" sz="3200" b="1" i="1" smtClean="0">
                                  <a:solidFill>
                                    <a:schemeClr val="accent5">
                                      <a:lumMod val="50000"/>
                                    </a:schemeClr>
                                  </a:solidFill>
                                  <a:latin typeface="Cambria Math" panose="02040503050406030204" pitchFamily="18" charset="0"/>
                                </a:rPr>
                                <m:t>𝟏</m:t>
                              </m:r>
                            </m:sub>
                          </m:sSub>
                          <m:r>
                            <a:rPr lang="en-GB" sz="3200" b="1" i="1" smtClean="0">
                              <a:solidFill>
                                <a:schemeClr val="accent5">
                                  <a:lumMod val="50000"/>
                                </a:schemeClr>
                              </a:solidFill>
                              <a:latin typeface="Cambria Math" panose="02040503050406030204" pitchFamily="18" charset="0"/>
                            </a:rPr>
                            <m:t>,</m:t>
                          </m:r>
                          <m:sSub>
                            <m:sSubPr>
                              <m:ctrlPr>
                                <a:rPr lang="pl-PL" sz="3200" b="1" i="1">
                                  <a:solidFill>
                                    <a:schemeClr val="accent5">
                                      <a:lumMod val="50000"/>
                                    </a:schemeClr>
                                  </a:solidFill>
                                  <a:latin typeface="Cambria Math" panose="02040503050406030204" pitchFamily="18" charset="0"/>
                                </a:rPr>
                              </m:ctrlPr>
                            </m:sSubPr>
                            <m:e>
                              <m:r>
                                <a:rPr lang="en-GB" sz="3200" b="1" i="1" smtClean="0">
                                  <a:solidFill>
                                    <a:schemeClr val="accent5">
                                      <a:lumMod val="50000"/>
                                    </a:schemeClr>
                                  </a:solidFill>
                                  <a:latin typeface="Cambria Math" panose="02040503050406030204" pitchFamily="18" charset="0"/>
                                </a:rPr>
                                <m:t>𝒙</m:t>
                              </m:r>
                            </m:e>
                            <m:sub>
                              <m:r>
                                <a:rPr lang="en-GB" sz="3200" b="1" i="1" smtClean="0">
                                  <a:solidFill>
                                    <a:schemeClr val="accent5">
                                      <a:lumMod val="50000"/>
                                    </a:schemeClr>
                                  </a:solidFill>
                                  <a:latin typeface="Cambria Math" panose="02040503050406030204" pitchFamily="18" charset="0"/>
                                </a:rPr>
                                <m:t>𝟐</m:t>
                              </m:r>
                            </m:sub>
                          </m:sSub>
                          <m:r>
                            <a:rPr lang="en-GB" sz="3200" b="1" i="1" smtClean="0">
                              <a:solidFill>
                                <a:schemeClr val="accent5">
                                  <a:lumMod val="50000"/>
                                </a:schemeClr>
                              </a:solidFill>
                              <a:latin typeface="Cambria Math" panose="02040503050406030204" pitchFamily="18" charset="0"/>
                            </a:rPr>
                            <m:t>,</m:t>
                          </m:r>
                          <m:r>
                            <a:rPr lang="en-GB" sz="3200" b="1" smtClean="0">
                              <a:solidFill>
                                <a:schemeClr val="accent5">
                                  <a:lumMod val="50000"/>
                                </a:schemeClr>
                              </a:solidFill>
                              <a:latin typeface="Cambria Math" panose="02040503050406030204" pitchFamily="18" charset="0"/>
                            </a:rPr>
                            <m:t>…</m:t>
                          </m:r>
                          <m:r>
                            <a:rPr lang="en-GB" sz="3200" b="1" i="1" smtClean="0">
                              <a:solidFill>
                                <a:schemeClr val="accent5">
                                  <a:lumMod val="50000"/>
                                </a:schemeClr>
                              </a:solidFill>
                              <a:latin typeface="Cambria Math" panose="02040503050406030204" pitchFamily="18" charset="0"/>
                            </a:rPr>
                            <m:t>,</m:t>
                          </m:r>
                          <m:sSub>
                            <m:sSubPr>
                              <m:ctrlPr>
                                <a:rPr lang="pl-PL" sz="3200" b="1" i="1">
                                  <a:solidFill>
                                    <a:schemeClr val="accent5">
                                      <a:lumMod val="50000"/>
                                    </a:schemeClr>
                                  </a:solidFill>
                                  <a:latin typeface="Cambria Math" panose="02040503050406030204" pitchFamily="18" charset="0"/>
                                </a:rPr>
                              </m:ctrlPr>
                            </m:sSubPr>
                            <m:e>
                              <m:r>
                                <a:rPr lang="en-GB" sz="3200" b="1" i="1" smtClean="0">
                                  <a:solidFill>
                                    <a:schemeClr val="accent5">
                                      <a:lumMod val="50000"/>
                                    </a:schemeClr>
                                  </a:solidFill>
                                  <a:latin typeface="Cambria Math" panose="02040503050406030204" pitchFamily="18" charset="0"/>
                                </a:rPr>
                                <m:t>𝒙</m:t>
                              </m:r>
                            </m:e>
                            <m:sub>
                              <m:r>
                                <a:rPr lang="en-GB" sz="3200" b="1" i="1" smtClean="0">
                                  <a:solidFill>
                                    <a:schemeClr val="accent5">
                                      <a:lumMod val="50000"/>
                                    </a:schemeClr>
                                  </a:solidFill>
                                  <a:latin typeface="Cambria Math" panose="02040503050406030204" pitchFamily="18" charset="0"/>
                                </a:rPr>
                                <m:t>𝒏</m:t>
                              </m:r>
                            </m:sub>
                          </m:sSub>
                        </m:e>
                      </m:d>
                    </m:oMath>
                  </m:oMathPara>
                </a14:m>
                <a:endParaRPr lang="pl-PL" sz="3200" b="1"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GB"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a:t>
                </a:r>
                <a:endParaRPr lang="pl-PL"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GB"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Where </a:t>
                </a:r>
                <a14:m>
                  <m:oMath xmlns:m="http://schemas.openxmlformats.org/officeDocument/2006/math">
                    <m:r>
                      <a:rPr lang="pl-PL" sz="3200" b="1" i="1" smtClean="0">
                        <a:solidFill>
                          <a:schemeClr val="accent5">
                            <a:lumMod val="50000"/>
                          </a:schemeClr>
                        </a:solidFill>
                        <a:latin typeface="Cambria Math" panose="02040503050406030204" pitchFamily="18" charset="0"/>
                      </a:rPr>
                      <m:t>𝝀</m:t>
                    </m:r>
                  </m:oMath>
                </a14:m>
                <a:r>
                  <a:rPr lang="pl-PL"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GB"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is an additional variable called the </a:t>
                </a:r>
                <a:r>
                  <a:rPr lang="en-GB" sz="3200" b="1"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Lagrangian</a:t>
                </a:r>
                <a:r>
                  <a:rPr lang="en-GB" sz="3200" b="1"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multiplier</a:t>
                </a:r>
                <a:r>
                  <a:rPr lang="en-GB"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pl-PL"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GB"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When the constraint holds,</a:t>
                </a:r>
                <a:r>
                  <a:rPr lang="pl-PL"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pl-PL" sz="3200" b="0" i="0" smtClean="0">
                        <a:solidFill>
                          <a:schemeClr val="accent5">
                            <a:lumMod val="50000"/>
                          </a:schemeClr>
                        </a:solidFill>
                        <a:latin typeface="Cambria Math" panose="02040503050406030204" pitchFamily="18" charset="0"/>
                      </a:rPr>
                      <m:t> </m:t>
                    </m:r>
                    <m:r>
                      <a:rPr lang="en-GB" sz="3200" b="0" i="1" smtClean="0">
                        <a:solidFill>
                          <a:schemeClr val="accent5">
                            <a:lumMod val="50000"/>
                          </a:schemeClr>
                        </a:solidFill>
                        <a:latin typeface="Cambria Math" panose="02040503050406030204" pitchFamily="18" charset="0"/>
                      </a:rPr>
                      <m:t>𝐿</m:t>
                    </m:r>
                    <m:r>
                      <a:rPr lang="en-GB" sz="3200" b="0" i="1" smtClean="0">
                        <a:solidFill>
                          <a:schemeClr val="accent5">
                            <a:lumMod val="50000"/>
                          </a:schemeClr>
                        </a:solidFill>
                        <a:latin typeface="Cambria Math" panose="02040503050406030204" pitchFamily="18" charset="0"/>
                      </a:rPr>
                      <m:t>=</m:t>
                    </m:r>
                    <m:r>
                      <a:rPr lang="en-GB" sz="3200" b="0" i="1" smtClean="0">
                        <a:solidFill>
                          <a:schemeClr val="accent5">
                            <a:lumMod val="50000"/>
                          </a:schemeClr>
                        </a:solidFill>
                        <a:latin typeface="Cambria Math" panose="02040503050406030204" pitchFamily="18" charset="0"/>
                      </a:rPr>
                      <m:t>𝑓</m:t>
                    </m:r>
                  </m:oMath>
                </a14:m>
                <a:r>
                  <a:rPr lang="en-GB"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because </a:t>
                </a:r>
                <a14:m>
                  <m:oMath xmlns:m="http://schemas.openxmlformats.org/officeDocument/2006/math">
                    <m:r>
                      <a:rPr lang="en-GB" sz="3200" b="0" i="1" smtClean="0">
                        <a:solidFill>
                          <a:schemeClr val="accent5">
                            <a:lumMod val="50000"/>
                          </a:schemeClr>
                        </a:solidFill>
                        <a:latin typeface="Cambria Math" panose="02040503050406030204" pitchFamily="18" charset="0"/>
                      </a:rPr>
                      <m:t>𝑔</m:t>
                    </m:r>
                    <m:d>
                      <m:dPr>
                        <m:ctrlPr>
                          <a:rPr lang="pl-PL" sz="3200" i="1">
                            <a:solidFill>
                              <a:schemeClr val="accent5">
                                <a:lumMod val="50000"/>
                              </a:schemeClr>
                            </a:solidFill>
                            <a:latin typeface="Cambria Math" panose="02040503050406030204" pitchFamily="18" charset="0"/>
                          </a:rPr>
                        </m:ctrlPr>
                      </m:dPr>
                      <m:e>
                        <m:sSub>
                          <m:sSubPr>
                            <m:ctrlPr>
                              <a:rPr lang="pl-PL" sz="3200" i="1">
                                <a:solidFill>
                                  <a:schemeClr val="accent5">
                                    <a:lumMod val="50000"/>
                                  </a:schemeClr>
                                </a:solidFill>
                                <a:latin typeface="Cambria Math" panose="02040503050406030204" pitchFamily="18" charset="0"/>
                              </a:rPr>
                            </m:ctrlPr>
                          </m:sSubPr>
                          <m:e>
                            <m:r>
                              <a:rPr lang="en-GB" sz="3200" b="0" i="1" smtClean="0">
                                <a:solidFill>
                                  <a:schemeClr val="accent5">
                                    <a:lumMod val="50000"/>
                                  </a:schemeClr>
                                </a:solidFill>
                                <a:latin typeface="Cambria Math" panose="02040503050406030204" pitchFamily="18" charset="0"/>
                              </a:rPr>
                              <m:t>𝑥</m:t>
                            </m:r>
                          </m:e>
                          <m:sub>
                            <m:r>
                              <a:rPr lang="en-GB" sz="3200" b="0" i="1" smtClean="0">
                                <a:solidFill>
                                  <a:schemeClr val="accent5">
                                    <a:lumMod val="50000"/>
                                  </a:schemeClr>
                                </a:solidFill>
                                <a:latin typeface="Cambria Math" panose="02040503050406030204" pitchFamily="18" charset="0"/>
                              </a:rPr>
                              <m:t>1</m:t>
                            </m:r>
                          </m:sub>
                        </m:sSub>
                        <m:r>
                          <a:rPr lang="en-GB" sz="3200" b="0" i="1" smtClean="0">
                            <a:solidFill>
                              <a:schemeClr val="accent5">
                                <a:lumMod val="50000"/>
                              </a:schemeClr>
                            </a:solidFill>
                            <a:latin typeface="Cambria Math" panose="02040503050406030204" pitchFamily="18" charset="0"/>
                          </a:rPr>
                          <m:t>,</m:t>
                        </m:r>
                        <m:sSub>
                          <m:sSubPr>
                            <m:ctrlPr>
                              <a:rPr lang="pl-PL" sz="3200" i="1">
                                <a:solidFill>
                                  <a:schemeClr val="accent5">
                                    <a:lumMod val="50000"/>
                                  </a:schemeClr>
                                </a:solidFill>
                                <a:latin typeface="Cambria Math" panose="02040503050406030204" pitchFamily="18" charset="0"/>
                              </a:rPr>
                            </m:ctrlPr>
                          </m:sSubPr>
                          <m:e>
                            <m:r>
                              <a:rPr lang="en-GB" sz="3200" b="0" i="1" smtClean="0">
                                <a:solidFill>
                                  <a:schemeClr val="accent5">
                                    <a:lumMod val="50000"/>
                                  </a:schemeClr>
                                </a:solidFill>
                                <a:latin typeface="Cambria Math" panose="02040503050406030204" pitchFamily="18" charset="0"/>
                              </a:rPr>
                              <m:t>𝑥</m:t>
                            </m:r>
                          </m:e>
                          <m:sub>
                            <m:r>
                              <a:rPr lang="en-GB" sz="3200" b="0" i="1" smtClean="0">
                                <a:solidFill>
                                  <a:schemeClr val="accent5">
                                    <a:lumMod val="50000"/>
                                  </a:schemeClr>
                                </a:solidFill>
                                <a:latin typeface="Cambria Math" panose="02040503050406030204" pitchFamily="18" charset="0"/>
                              </a:rPr>
                              <m:t>2</m:t>
                            </m:r>
                          </m:sub>
                        </m:sSub>
                        <m:r>
                          <a:rPr lang="en-GB" sz="3200" b="0" i="1" smtClean="0">
                            <a:solidFill>
                              <a:schemeClr val="accent5">
                                <a:lumMod val="50000"/>
                              </a:schemeClr>
                            </a:solidFill>
                            <a:latin typeface="Cambria Math" panose="02040503050406030204" pitchFamily="18" charset="0"/>
                          </a:rPr>
                          <m:t>,</m:t>
                        </m:r>
                        <m:r>
                          <a:rPr lang="en-GB" sz="3200" b="0" smtClean="0">
                            <a:solidFill>
                              <a:schemeClr val="accent5">
                                <a:lumMod val="50000"/>
                              </a:schemeClr>
                            </a:solidFill>
                            <a:latin typeface="Cambria Math" panose="02040503050406030204" pitchFamily="18" charset="0"/>
                          </a:rPr>
                          <m:t>…</m:t>
                        </m:r>
                        <m:r>
                          <a:rPr lang="en-GB" sz="3200" b="0" i="1" smtClean="0">
                            <a:solidFill>
                              <a:schemeClr val="accent5">
                                <a:lumMod val="50000"/>
                              </a:schemeClr>
                            </a:solidFill>
                            <a:latin typeface="Cambria Math" panose="02040503050406030204" pitchFamily="18" charset="0"/>
                          </a:rPr>
                          <m:t>,</m:t>
                        </m:r>
                        <m:sSub>
                          <m:sSubPr>
                            <m:ctrlPr>
                              <a:rPr lang="pl-PL" sz="3200" i="1">
                                <a:solidFill>
                                  <a:schemeClr val="accent5">
                                    <a:lumMod val="50000"/>
                                  </a:schemeClr>
                                </a:solidFill>
                                <a:latin typeface="Cambria Math" panose="02040503050406030204" pitchFamily="18" charset="0"/>
                              </a:rPr>
                            </m:ctrlPr>
                          </m:sSubPr>
                          <m:e>
                            <m:r>
                              <a:rPr lang="en-GB" sz="3200" b="0" i="1" smtClean="0">
                                <a:solidFill>
                                  <a:schemeClr val="accent5">
                                    <a:lumMod val="50000"/>
                                  </a:schemeClr>
                                </a:solidFill>
                                <a:latin typeface="Cambria Math" panose="02040503050406030204" pitchFamily="18" charset="0"/>
                              </a:rPr>
                              <m:t>𝑥</m:t>
                            </m:r>
                          </m:e>
                          <m:sub>
                            <m:r>
                              <a:rPr lang="en-GB" sz="3200" b="0" i="1" smtClean="0">
                                <a:solidFill>
                                  <a:schemeClr val="accent5">
                                    <a:lumMod val="50000"/>
                                  </a:schemeClr>
                                </a:solidFill>
                                <a:latin typeface="Cambria Math" panose="02040503050406030204" pitchFamily="18" charset="0"/>
                              </a:rPr>
                              <m:t>𝑛</m:t>
                            </m:r>
                          </m:sub>
                        </m:sSub>
                      </m:e>
                    </m:d>
                    <m:r>
                      <a:rPr lang="en-GB" sz="3200" b="0" i="1" smtClean="0">
                        <a:solidFill>
                          <a:schemeClr val="accent5">
                            <a:lumMod val="50000"/>
                          </a:schemeClr>
                        </a:solidFill>
                        <a:latin typeface="Cambria Math" panose="02040503050406030204" pitchFamily="18" charset="0"/>
                      </a:rPr>
                      <m:t>=0</m:t>
                    </m:r>
                  </m:oMath>
                </a14:m>
                <a:r>
                  <a:rPr lang="pl-PL"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(we ad zero to </a:t>
                </a:r>
                <a:r>
                  <a:rPr lang="pl-PL" sz="3200"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our</a:t>
                </a:r>
                <a:r>
                  <a:rPr lang="pl-PL"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a:t>
                </a:r>
                <a:r>
                  <a:rPr lang="pl-PL" sz="3200"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goal</a:t>
                </a:r>
                <a:r>
                  <a:rPr lang="pl-PL"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a:t>
                </a:r>
                <a:r>
                  <a:rPr lang="pl-PL" sz="3200"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function</a:t>
                </a:r>
                <a:r>
                  <a:rPr lang="pl-PL"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a:t>
                </a:r>
                <a:r>
                  <a:rPr lang="en-GB"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pl-PL" sz="32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endParaRPr lang="pl-PL"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CustomShape 2">
                <a:extLst>
                  <a:ext uri="{FF2B5EF4-FFF2-40B4-BE49-F238E27FC236}">
                    <a16:creationId xmlns:a16="http://schemas.microsoft.com/office/drawing/2014/main" id="{4683F85D-CE7D-80BD-C92E-28D00C50650D}"/>
                  </a:ext>
                </a:extLst>
              </p:cNvPr>
              <p:cNvSpPr>
                <a:spLocks noRot="1" noChangeAspect="1" noMove="1" noResize="1" noEditPoints="1" noAdjustHandles="1" noChangeArrowheads="1" noChangeShapeType="1" noTextEdit="1"/>
              </p:cNvSpPr>
              <p:nvPr/>
            </p:nvSpPr>
            <p:spPr>
              <a:xfrm>
                <a:off x="508000" y="1742680"/>
                <a:ext cx="11175999" cy="4200920"/>
              </a:xfrm>
              <a:prstGeom prst="rect">
                <a:avLst/>
              </a:prstGeom>
              <a:blipFill>
                <a:blip r:embed="rId2"/>
                <a:stretch>
                  <a:fillRect l="-1363" t="-1887" r="-1418"/>
                </a:stretch>
              </a:blipFill>
              <a:ln>
                <a:noFill/>
              </a:ln>
            </p:spPr>
            <p:txBody>
              <a:bodyPr/>
              <a:lstStyle/>
              <a:p>
                <a:r>
                  <a:rPr lang="pl-PL">
                    <a:noFill/>
                  </a:rPr>
                  <a:t> </a:t>
                </a:r>
              </a:p>
            </p:txBody>
          </p:sp>
        </mc:Fallback>
      </mc:AlternateContent>
    </p:spTree>
    <p:extLst>
      <p:ext uri="{BB962C8B-B14F-4D97-AF65-F5344CB8AC3E}">
        <p14:creationId xmlns:p14="http://schemas.microsoft.com/office/powerpoint/2010/main" val="243148638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B5625-C3A2-2962-3CD0-269CF423CE85}"/>
            </a:ext>
          </a:extLst>
        </p:cNvPr>
        <p:cNvGrpSpPr/>
        <p:nvPr/>
      </p:nvGrpSpPr>
      <p:grpSpPr>
        <a:xfrm>
          <a:off x="0" y="0"/>
          <a:ext cx="0" cy="0"/>
          <a:chOff x="0" y="0"/>
          <a:chExt cx="0" cy="0"/>
        </a:xfrm>
      </p:grpSpPr>
      <p:sp>
        <p:nvSpPr>
          <p:cNvPr id="80" name="CustomShape 1">
            <a:extLst>
              <a:ext uri="{FF2B5EF4-FFF2-40B4-BE49-F238E27FC236}">
                <a16:creationId xmlns:a16="http://schemas.microsoft.com/office/drawing/2014/main" id="{5715CB64-EBE0-3DC9-4903-D3451FCA0546}"/>
              </a:ext>
            </a:extLst>
          </p:cNvPr>
          <p:cNvSpPr/>
          <p:nvPr/>
        </p:nvSpPr>
        <p:spPr>
          <a:xfrm>
            <a:off x="0" y="-14040"/>
            <a:ext cx="12192000" cy="95892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1" normalizeH="0" baseline="0" noProof="0" dirty="0" err="1">
                <a:ln>
                  <a:noFill/>
                </a:ln>
                <a:solidFill>
                  <a:srgbClr val="215968"/>
                </a:solidFill>
                <a:effectLst/>
                <a:uLnTx/>
                <a:uFill>
                  <a:solidFill>
                    <a:srgbClr val="FFFFFF"/>
                  </a:solidFill>
                </a:uFill>
                <a:latin typeface="Calibri"/>
                <a:ea typeface="DejaVu Sans"/>
                <a:cs typeface="DejaVu Sans"/>
              </a:rPr>
              <a:t>Lagrangian</a:t>
            </a:r>
            <a:r>
              <a:rPr kumimoji="0" lang="en-US" sz="4000" b="1"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Multiplier Method</a:t>
            </a:r>
            <a:r>
              <a:rPr kumimoji="0" lang="pl-PL" sz="4000" b="1"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a:t>
            </a:r>
            <a:r>
              <a:rPr kumimoji="0" lang="en-US" sz="4000" b="1"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First-Order Conditions</a:t>
            </a:r>
          </a:p>
        </p:txBody>
      </p:sp>
      <mc:AlternateContent xmlns:mc="http://schemas.openxmlformats.org/markup-compatibility/2006" xmlns:a14="http://schemas.microsoft.com/office/drawing/2010/main">
        <mc:Choice Requires="a14">
          <p:sp>
            <p:nvSpPr>
              <p:cNvPr id="81" name="CustomShape 2">
                <a:extLst>
                  <a:ext uri="{FF2B5EF4-FFF2-40B4-BE49-F238E27FC236}">
                    <a16:creationId xmlns:a16="http://schemas.microsoft.com/office/drawing/2014/main" id="{9624E1D0-ABE6-E45A-9A49-9C5D77630526}"/>
                  </a:ext>
                </a:extLst>
              </p:cNvPr>
              <p:cNvSpPr/>
              <p:nvPr/>
            </p:nvSpPr>
            <p:spPr>
              <a:xfrm>
                <a:off x="193040" y="1128240"/>
                <a:ext cx="11856720" cy="54554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7000"/>
                  </a:lnSpc>
                  <a:spcAft>
                    <a:spcPts val="800"/>
                  </a:spcAft>
                </a:pPr>
                <a:r>
                  <a:rPr lang="en-GB"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For a function </a:t>
                </a:r>
                <a14:m>
                  <m:oMath xmlns:m="http://schemas.openxmlformats.org/officeDocument/2006/math">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𝑓</m:t>
                    </m:r>
                    <m:d>
                      <m:dPr>
                        <m:ctrlPr>
                          <a:rPr lang="pl-PL"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pl-PL"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pl-PL"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GB" sz="2800"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pl-PL"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𝑛</m:t>
                            </m:r>
                          </m:sub>
                        </m:sSub>
                      </m:e>
                    </m:d>
                  </m:oMath>
                </a14:m>
                <a:r>
                  <a:rPr lang="en-GB"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subject to the constraint </a:t>
                </a:r>
                <a14:m>
                  <m:oMath xmlns:m="http://schemas.openxmlformats.org/officeDocument/2006/math">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𝑔</m:t>
                    </m:r>
                    <m:d>
                      <m:dPr>
                        <m:ctrlPr>
                          <a:rPr lang="pl-PL"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pl-PL"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pl-PL"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GB" sz="2800"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pl-PL"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𝑛</m:t>
                            </m:r>
                          </m:sub>
                        </m:sSub>
                      </m:e>
                    </m:d>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=0</m:t>
                    </m:r>
                  </m:oMath>
                </a14:m>
                <a:r>
                  <a:rPr lang="en-GB"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the </a:t>
                </a:r>
                <a:r>
                  <a:rPr lang="en-GB" sz="28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first-order conditions</a:t>
                </a:r>
                <a:r>
                  <a:rPr lang="en-GB"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are derived as follows:</a:t>
                </a:r>
                <a:endParaRPr lang="pl-PL" sz="24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14:m>
                  <m:oMathPara xmlns:m="http://schemas.openxmlformats.org/officeDocument/2006/math">
                    <m:oMathParaPr>
                      <m:jc m:val="center"/>
                    </m:oMathParaPr>
                    <m:oMath xmlns:m="http://schemas.openxmlformats.org/officeDocument/2006/math">
                      <m:m>
                        <m:mPr>
                          <m:mcs>
                            <m:mc>
                              <m:mcPr>
                                <m:count m:val="1"/>
                                <m:mcJc m:val="center"/>
                              </m:mcPr>
                            </m:mc>
                          </m:mcs>
                          <m:ctrlPr>
                            <a:rPr lang="pl-PL" sz="2400" i="1" kern="100" smtClean="0">
                              <a:solidFill>
                                <a:schemeClr val="accent5">
                                  <a:lumMod val="50000"/>
                                </a:schemeClr>
                              </a:solidFill>
                              <a:effectLst/>
                              <a:latin typeface="Cambria Math" panose="02040503050406030204" pitchFamily="18" charset="0"/>
                              <a:cs typeface="Times New Roman" panose="02020603050405020304" pitchFamily="18" charset="0"/>
                            </a:rPr>
                          </m:ctrlPr>
                        </m:mPr>
                        <m:mr>
                          <m:e>
                            <m:f>
                              <m:fPr>
                                <m:ctrlPr>
                                  <a:rPr lang="pl-PL" sz="2400" i="1">
                                    <a:solidFill>
                                      <a:schemeClr val="accent5">
                                        <a:lumMod val="50000"/>
                                      </a:schemeClr>
                                    </a:solidFill>
                                    <a:latin typeface="Cambria Math" panose="02040503050406030204" pitchFamily="18" charset="0"/>
                                    <a:ea typeface="Times New Roman" panose="02020603050405020304" pitchFamily="18" charset="0"/>
                                  </a:rPr>
                                </m:ctrlPr>
                              </m:fPr>
                              <m:num>
                                <m:r>
                                  <a:rPr lang="en-GB" sz="2400">
                                    <a:solidFill>
                                      <a:schemeClr val="accent5">
                                        <a:lumMod val="50000"/>
                                      </a:schemeClr>
                                    </a:solidFill>
                                    <a:latin typeface="Cambria Math" panose="02040503050406030204" pitchFamily="18" charset="0"/>
                                    <a:ea typeface="Times New Roman" panose="02020603050405020304" pitchFamily="18" charset="0"/>
                                  </a:rPr>
                                  <m:t>𝜕</m:t>
                                </m:r>
                                <m:r>
                                  <a:rPr lang="en-GB" sz="2400" i="1">
                                    <a:solidFill>
                                      <a:schemeClr val="accent5">
                                        <a:lumMod val="50000"/>
                                      </a:schemeClr>
                                    </a:solidFill>
                                    <a:latin typeface="Cambria Math" panose="02040503050406030204" pitchFamily="18" charset="0"/>
                                    <a:ea typeface="Times New Roman" panose="02020603050405020304" pitchFamily="18" charset="0"/>
                                  </a:rPr>
                                  <m:t>𝐿</m:t>
                                </m:r>
                              </m:num>
                              <m:den>
                                <m:r>
                                  <a:rPr lang="en-GB" sz="2400">
                                    <a:solidFill>
                                      <a:schemeClr val="accent5">
                                        <a:lumMod val="50000"/>
                                      </a:schemeClr>
                                    </a:solidFill>
                                    <a:latin typeface="Cambria Math" panose="02040503050406030204" pitchFamily="18" charset="0"/>
                                    <a:ea typeface="Times New Roman" panose="02020603050405020304" pitchFamily="18" charset="0"/>
                                  </a:rPr>
                                  <m:t>𝜕</m:t>
                                </m:r>
                                <m:sSub>
                                  <m:sSubPr>
                                    <m:ctrlPr>
                                      <a:rPr lang="pl-PL" sz="2400" i="1">
                                        <a:solidFill>
                                          <a:schemeClr val="accent5">
                                            <a:lumMod val="50000"/>
                                          </a:schemeClr>
                                        </a:solidFill>
                                        <a:latin typeface="Cambria Math" panose="02040503050406030204" pitchFamily="18" charset="0"/>
                                        <a:ea typeface="Times New Roman" panose="02020603050405020304" pitchFamily="18" charset="0"/>
                                      </a:rPr>
                                    </m:ctrlPr>
                                  </m:sSubPr>
                                  <m:e>
                                    <m:r>
                                      <a:rPr lang="en-GB" sz="2400" i="1">
                                        <a:solidFill>
                                          <a:schemeClr val="accent5">
                                            <a:lumMod val="50000"/>
                                          </a:schemeClr>
                                        </a:solidFill>
                                        <a:latin typeface="Cambria Math" panose="02040503050406030204" pitchFamily="18" charset="0"/>
                                        <a:ea typeface="Times New Roman" panose="02020603050405020304" pitchFamily="18" charset="0"/>
                                      </a:rPr>
                                      <m:t>𝑥</m:t>
                                    </m:r>
                                  </m:e>
                                  <m:sub>
                                    <m:r>
                                      <a:rPr lang="en-GB" sz="2400" i="1">
                                        <a:solidFill>
                                          <a:schemeClr val="accent5">
                                            <a:lumMod val="50000"/>
                                          </a:schemeClr>
                                        </a:solidFill>
                                        <a:latin typeface="Cambria Math" panose="02040503050406030204" pitchFamily="18" charset="0"/>
                                        <a:ea typeface="Times New Roman" panose="02020603050405020304" pitchFamily="18" charset="0"/>
                                      </a:rPr>
                                      <m:t>1</m:t>
                                    </m:r>
                                  </m:sub>
                                </m:sSub>
                              </m:den>
                            </m:f>
                            <m:r>
                              <a:rPr lang="en-GB" sz="2400" i="1">
                                <a:solidFill>
                                  <a:schemeClr val="accent5">
                                    <a:lumMod val="50000"/>
                                  </a:schemeClr>
                                </a:solidFill>
                                <a:latin typeface="Cambria Math" panose="02040503050406030204" pitchFamily="18" charset="0"/>
                                <a:ea typeface="Times New Roman" panose="02020603050405020304" pitchFamily="18" charset="0"/>
                              </a:rPr>
                              <m:t>=</m:t>
                            </m:r>
                            <m:sSub>
                              <m:sSubPr>
                                <m:ctrlPr>
                                  <a:rPr lang="pl-PL" sz="2400" i="1">
                                    <a:solidFill>
                                      <a:schemeClr val="accent5">
                                        <a:lumMod val="50000"/>
                                      </a:schemeClr>
                                    </a:solidFill>
                                    <a:latin typeface="Cambria Math" panose="02040503050406030204" pitchFamily="18" charset="0"/>
                                    <a:ea typeface="Times New Roman" panose="02020603050405020304" pitchFamily="18" charset="0"/>
                                  </a:rPr>
                                </m:ctrlPr>
                              </m:sSubPr>
                              <m:e>
                                <m:r>
                                  <a:rPr lang="en-GB" sz="2400" i="1">
                                    <a:solidFill>
                                      <a:schemeClr val="accent5">
                                        <a:lumMod val="50000"/>
                                      </a:schemeClr>
                                    </a:solidFill>
                                    <a:latin typeface="Cambria Math" panose="02040503050406030204" pitchFamily="18" charset="0"/>
                                    <a:ea typeface="Times New Roman" panose="02020603050405020304" pitchFamily="18" charset="0"/>
                                  </a:rPr>
                                  <m:t>𝑓</m:t>
                                </m:r>
                              </m:e>
                              <m:sub>
                                <m:r>
                                  <a:rPr lang="en-GB" sz="2400" i="1">
                                    <a:solidFill>
                                      <a:schemeClr val="accent5">
                                        <a:lumMod val="50000"/>
                                      </a:schemeClr>
                                    </a:solidFill>
                                    <a:latin typeface="Cambria Math" panose="02040503050406030204" pitchFamily="18" charset="0"/>
                                    <a:ea typeface="Times New Roman" panose="02020603050405020304" pitchFamily="18" charset="0"/>
                                  </a:rPr>
                                  <m:t>1</m:t>
                                </m:r>
                              </m:sub>
                            </m:sSub>
                            <m:r>
                              <a:rPr lang="en-GB" sz="2400" i="1">
                                <a:solidFill>
                                  <a:schemeClr val="accent5">
                                    <a:lumMod val="50000"/>
                                  </a:schemeClr>
                                </a:solidFill>
                                <a:latin typeface="Cambria Math" panose="02040503050406030204" pitchFamily="18" charset="0"/>
                                <a:ea typeface="Times New Roman" panose="02020603050405020304" pitchFamily="18" charset="0"/>
                              </a:rPr>
                              <m:t>+</m:t>
                            </m:r>
                            <m:r>
                              <m:rPr>
                                <m:sty m:val="p"/>
                              </m:rPr>
                              <a:rPr lang="en-GB" sz="2400">
                                <a:solidFill>
                                  <a:schemeClr val="accent5">
                                    <a:lumMod val="50000"/>
                                  </a:schemeClr>
                                </a:solidFill>
                                <a:latin typeface="Cambria Math" panose="02040503050406030204" pitchFamily="18" charset="0"/>
                                <a:ea typeface="Times New Roman" panose="02020603050405020304" pitchFamily="18" charset="0"/>
                              </a:rPr>
                              <m:t>λ</m:t>
                            </m:r>
                            <m:sSub>
                              <m:sSubPr>
                                <m:ctrlPr>
                                  <a:rPr lang="pl-PL" sz="2400" i="1">
                                    <a:solidFill>
                                      <a:schemeClr val="accent5">
                                        <a:lumMod val="50000"/>
                                      </a:schemeClr>
                                    </a:solidFill>
                                    <a:latin typeface="Cambria Math" panose="02040503050406030204" pitchFamily="18" charset="0"/>
                                    <a:ea typeface="Times New Roman" panose="02020603050405020304" pitchFamily="18" charset="0"/>
                                  </a:rPr>
                                </m:ctrlPr>
                              </m:sSubPr>
                              <m:e>
                                <m:r>
                                  <a:rPr lang="en-GB" sz="2400" i="1">
                                    <a:solidFill>
                                      <a:schemeClr val="accent5">
                                        <a:lumMod val="50000"/>
                                      </a:schemeClr>
                                    </a:solidFill>
                                    <a:latin typeface="Cambria Math" panose="02040503050406030204" pitchFamily="18" charset="0"/>
                                    <a:ea typeface="Times New Roman" panose="02020603050405020304" pitchFamily="18" charset="0"/>
                                  </a:rPr>
                                  <m:t>𝑔</m:t>
                                </m:r>
                              </m:e>
                              <m:sub>
                                <m:r>
                                  <a:rPr lang="en-GB" sz="2400" i="1">
                                    <a:solidFill>
                                      <a:schemeClr val="accent5">
                                        <a:lumMod val="50000"/>
                                      </a:schemeClr>
                                    </a:solidFill>
                                    <a:latin typeface="Cambria Math" panose="02040503050406030204" pitchFamily="18" charset="0"/>
                                    <a:ea typeface="Times New Roman" panose="02020603050405020304" pitchFamily="18" charset="0"/>
                                  </a:rPr>
                                  <m:t>1</m:t>
                                </m:r>
                              </m:sub>
                            </m:sSub>
                            <m:r>
                              <a:rPr lang="en-GB" sz="2400" i="1">
                                <a:solidFill>
                                  <a:schemeClr val="accent5">
                                    <a:lumMod val="50000"/>
                                  </a:schemeClr>
                                </a:solidFill>
                                <a:latin typeface="Cambria Math" panose="02040503050406030204" pitchFamily="18" charset="0"/>
                                <a:ea typeface="Times New Roman" panose="02020603050405020304" pitchFamily="18" charset="0"/>
                              </a:rPr>
                              <m:t>=0</m:t>
                            </m:r>
                            <m:r>
                              <m:rPr>
                                <m:nor/>
                              </m:rP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 </m:t>
                            </m:r>
                          </m:e>
                        </m:mr>
                        <m:mr>
                          <m:e>
                            <m:f>
                              <m:fPr>
                                <m:ctrlPr>
                                  <a:rPr lang="pl-PL" sz="2400" i="1">
                                    <a:solidFill>
                                      <a:schemeClr val="accent5">
                                        <a:lumMod val="50000"/>
                                      </a:schemeClr>
                                    </a:solidFill>
                                    <a:latin typeface="Cambria Math" panose="02040503050406030204" pitchFamily="18" charset="0"/>
                                    <a:ea typeface="Times New Roman" panose="02020603050405020304" pitchFamily="18" charset="0"/>
                                  </a:rPr>
                                </m:ctrlPr>
                              </m:fPr>
                              <m:num>
                                <m:r>
                                  <a:rPr lang="en-GB" sz="2400">
                                    <a:solidFill>
                                      <a:schemeClr val="accent5">
                                        <a:lumMod val="50000"/>
                                      </a:schemeClr>
                                    </a:solidFill>
                                    <a:latin typeface="Cambria Math" panose="02040503050406030204" pitchFamily="18" charset="0"/>
                                    <a:ea typeface="Times New Roman" panose="02020603050405020304" pitchFamily="18" charset="0"/>
                                  </a:rPr>
                                  <m:t>𝜕</m:t>
                                </m:r>
                                <m:r>
                                  <a:rPr lang="en-GB" sz="2400" i="1">
                                    <a:solidFill>
                                      <a:schemeClr val="accent5">
                                        <a:lumMod val="50000"/>
                                      </a:schemeClr>
                                    </a:solidFill>
                                    <a:latin typeface="Cambria Math" panose="02040503050406030204" pitchFamily="18" charset="0"/>
                                    <a:ea typeface="Times New Roman" panose="02020603050405020304" pitchFamily="18" charset="0"/>
                                  </a:rPr>
                                  <m:t>𝐿</m:t>
                                </m:r>
                              </m:num>
                              <m:den>
                                <m:r>
                                  <a:rPr lang="en-GB" sz="2400">
                                    <a:solidFill>
                                      <a:schemeClr val="accent5">
                                        <a:lumMod val="50000"/>
                                      </a:schemeClr>
                                    </a:solidFill>
                                    <a:latin typeface="Cambria Math" panose="02040503050406030204" pitchFamily="18" charset="0"/>
                                    <a:ea typeface="Times New Roman" panose="02020603050405020304" pitchFamily="18" charset="0"/>
                                  </a:rPr>
                                  <m:t>𝜕</m:t>
                                </m:r>
                                <m:sSub>
                                  <m:sSubPr>
                                    <m:ctrlPr>
                                      <a:rPr lang="pl-PL" sz="2400" i="1">
                                        <a:solidFill>
                                          <a:schemeClr val="accent5">
                                            <a:lumMod val="50000"/>
                                          </a:schemeClr>
                                        </a:solidFill>
                                        <a:latin typeface="Cambria Math" panose="02040503050406030204" pitchFamily="18" charset="0"/>
                                        <a:ea typeface="Times New Roman" panose="02020603050405020304" pitchFamily="18" charset="0"/>
                                      </a:rPr>
                                    </m:ctrlPr>
                                  </m:sSubPr>
                                  <m:e>
                                    <m:r>
                                      <a:rPr lang="en-GB" sz="2400" i="1">
                                        <a:solidFill>
                                          <a:schemeClr val="accent5">
                                            <a:lumMod val="50000"/>
                                          </a:schemeClr>
                                        </a:solidFill>
                                        <a:latin typeface="Cambria Math" panose="02040503050406030204" pitchFamily="18" charset="0"/>
                                        <a:ea typeface="Times New Roman" panose="02020603050405020304" pitchFamily="18" charset="0"/>
                                      </a:rPr>
                                      <m:t>𝑥</m:t>
                                    </m:r>
                                  </m:e>
                                  <m:sub>
                                    <m:r>
                                      <a:rPr lang="en-GB" sz="2400" i="1">
                                        <a:solidFill>
                                          <a:schemeClr val="accent5">
                                            <a:lumMod val="50000"/>
                                          </a:schemeClr>
                                        </a:solidFill>
                                        <a:latin typeface="Cambria Math" panose="02040503050406030204" pitchFamily="18" charset="0"/>
                                        <a:ea typeface="Times New Roman" panose="02020603050405020304" pitchFamily="18" charset="0"/>
                                      </a:rPr>
                                      <m:t>2</m:t>
                                    </m:r>
                                  </m:sub>
                                </m:sSub>
                              </m:den>
                            </m:f>
                            <m:r>
                              <a:rPr lang="en-GB" sz="2400" i="1">
                                <a:solidFill>
                                  <a:schemeClr val="accent5">
                                    <a:lumMod val="50000"/>
                                  </a:schemeClr>
                                </a:solidFill>
                                <a:latin typeface="Cambria Math" panose="02040503050406030204" pitchFamily="18" charset="0"/>
                                <a:ea typeface="Times New Roman" panose="02020603050405020304" pitchFamily="18" charset="0"/>
                              </a:rPr>
                              <m:t>=</m:t>
                            </m:r>
                            <m:sSub>
                              <m:sSubPr>
                                <m:ctrlPr>
                                  <a:rPr lang="pl-PL" sz="2400" i="1">
                                    <a:solidFill>
                                      <a:schemeClr val="accent5">
                                        <a:lumMod val="50000"/>
                                      </a:schemeClr>
                                    </a:solidFill>
                                    <a:latin typeface="Cambria Math" panose="02040503050406030204" pitchFamily="18" charset="0"/>
                                    <a:ea typeface="Times New Roman" panose="02020603050405020304" pitchFamily="18" charset="0"/>
                                  </a:rPr>
                                </m:ctrlPr>
                              </m:sSubPr>
                              <m:e>
                                <m:r>
                                  <a:rPr lang="en-GB" sz="2400" i="1">
                                    <a:solidFill>
                                      <a:schemeClr val="accent5">
                                        <a:lumMod val="50000"/>
                                      </a:schemeClr>
                                    </a:solidFill>
                                    <a:latin typeface="Cambria Math" panose="02040503050406030204" pitchFamily="18" charset="0"/>
                                    <a:ea typeface="Times New Roman" panose="02020603050405020304" pitchFamily="18" charset="0"/>
                                  </a:rPr>
                                  <m:t>𝑓</m:t>
                                </m:r>
                              </m:e>
                              <m:sub>
                                <m:r>
                                  <a:rPr lang="en-GB" sz="2400" i="1">
                                    <a:solidFill>
                                      <a:schemeClr val="accent5">
                                        <a:lumMod val="50000"/>
                                      </a:schemeClr>
                                    </a:solidFill>
                                    <a:latin typeface="Cambria Math" panose="02040503050406030204" pitchFamily="18" charset="0"/>
                                    <a:ea typeface="Times New Roman" panose="02020603050405020304" pitchFamily="18" charset="0"/>
                                  </a:rPr>
                                  <m:t>2</m:t>
                                </m:r>
                              </m:sub>
                            </m:sSub>
                            <m:r>
                              <a:rPr lang="en-GB" sz="2400" i="1">
                                <a:solidFill>
                                  <a:schemeClr val="accent5">
                                    <a:lumMod val="50000"/>
                                  </a:schemeClr>
                                </a:solidFill>
                                <a:latin typeface="Cambria Math" panose="02040503050406030204" pitchFamily="18" charset="0"/>
                                <a:ea typeface="Times New Roman" panose="02020603050405020304" pitchFamily="18" charset="0"/>
                              </a:rPr>
                              <m:t>+</m:t>
                            </m:r>
                            <m:r>
                              <m:rPr>
                                <m:sty m:val="p"/>
                              </m:rPr>
                              <a:rPr lang="en-GB" sz="2400">
                                <a:solidFill>
                                  <a:schemeClr val="accent5">
                                    <a:lumMod val="50000"/>
                                  </a:schemeClr>
                                </a:solidFill>
                                <a:latin typeface="Cambria Math" panose="02040503050406030204" pitchFamily="18" charset="0"/>
                                <a:ea typeface="Times New Roman" panose="02020603050405020304" pitchFamily="18" charset="0"/>
                              </a:rPr>
                              <m:t>λ</m:t>
                            </m:r>
                            <m:sSub>
                              <m:sSubPr>
                                <m:ctrlPr>
                                  <a:rPr lang="pl-PL" sz="2400" i="1">
                                    <a:solidFill>
                                      <a:schemeClr val="accent5">
                                        <a:lumMod val="50000"/>
                                      </a:schemeClr>
                                    </a:solidFill>
                                    <a:latin typeface="Cambria Math" panose="02040503050406030204" pitchFamily="18" charset="0"/>
                                    <a:ea typeface="Times New Roman" panose="02020603050405020304" pitchFamily="18" charset="0"/>
                                  </a:rPr>
                                </m:ctrlPr>
                              </m:sSubPr>
                              <m:e>
                                <m:r>
                                  <a:rPr lang="en-GB" sz="2400" i="1">
                                    <a:solidFill>
                                      <a:schemeClr val="accent5">
                                        <a:lumMod val="50000"/>
                                      </a:schemeClr>
                                    </a:solidFill>
                                    <a:latin typeface="Cambria Math" panose="02040503050406030204" pitchFamily="18" charset="0"/>
                                    <a:ea typeface="Times New Roman" panose="02020603050405020304" pitchFamily="18" charset="0"/>
                                  </a:rPr>
                                  <m:t>𝑔</m:t>
                                </m:r>
                              </m:e>
                              <m:sub>
                                <m:r>
                                  <a:rPr lang="en-GB" sz="2400" i="1">
                                    <a:solidFill>
                                      <a:schemeClr val="accent5">
                                        <a:lumMod val="50000"/>
                                      </a:schemeClr>
                                    </a:solidFill>
                                    <a:latin typeface="Cambria Math" panose="02040503050406030204" pitchFamily="18" charset="0"/>
                                    <a:ea typeface="Times New Roman" panose="02020603050405020304" pitchFamily="18" charset="0"/>
                                  </a:rPr>
                                  <m:t>2</m:t>
                                </m:r>
                              </m:sub>
                            </m:sSub>
                            <m:r>
                              <a:rPr lang="en-GB" sz="2400" i="1">
                                <a:solidFill>
                                  <a:schemeClr val="accent5">
                                    <a:lumMod val="50000"/>
                                  </a:schemeClr>
                                </a:solidFill>
                                <a:latin typeface="Cambria Math" panose="02040503050406030204" pitchFamily="18" charset="0"/>
                                <a:ea typeface="Times New Roman" panose="02020603050405020304" pitchFamily="18" charset="0"/>
                              </a:rPr>
                              <m:t>=0</m:t>
                            </m:r>
                            <m:r>
                              <m:rPr>
                                <m:nor/>
                              </m:rP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 </m:t>
                            </m:r>
                          </m:e>
                        </m:mr>
                        <m:mr>
                          <m:e>
                            <m:m>
                              <m:mPr>
                                <m:mcs>
                                  <m:mc>
                                    <m:mcPr>
                                      <m:count m:val="1"/>
                                      <m:mcJc m:val="center"/>
                                    </m:mcPr>
                                  </m:mc>
                                </m:mcs>
                                <m:ctrlPr>
                                  <a:rPr lang="pl-PL" sz="2400" i="1" kern="100" smtClean="0">
                                    <a:solidFill>
                                      <a:schemeClr val="accent5">
                                        <a:lumMod val="50000"/>
                                      </a:schemeClr>
                                    </a:solidFill>
                                    <a:effectLst/>
                                    <a:latin typeface="Cambria Math" panose="02040503050406030204" pitchFamily="18" charset="0"/>
                                    <a:cs typeface="Times New Roman" panose="02020603050405020304" pitchFamily="18" charset="0"/>
                                  </a:rPr>
                                </m:ctrlPr>
                              </m:mPr>
                              <m:mr>
                                <m:e>
                                  <m:r>
                                    <a:rPr lang="en-GB" sz="2400" i="1">
                                      <a:solidFill>
                                        <a:schemeClr val="accent5">
                                          <a:lumMod val="50000"/>
                                        </a:schemeClr>
                                      </a:solidFill>
                                      <a:latin typeface="Cambria Math" panose="02040503050406030204" pitchFamily="18" charset="0"/>
                                      <a:ea typeface="Times New Roman" panose="02020603050405020304" pitchFamily="18" charset="0"/>
                                      <a:cs typeface="Cambria Math" panose="02040503050406030204" pitchFamily="18" charset="0"/>
                                    </a:rPr>
                                    <m:t>⋮</m:t>
                                  </m:r>
                                  <m:r>
                                    <m:rPr>
                                      <m:nor/>
                                    </m:rP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 </m:t>
                                  </m:r>
                                </m:e>
                              </m:mr>
                              <m:mr>
                                <m:e>
                                  <m:eqArr>
                                    <m:eqArrPr>
                                      <m:ctrlPr>
                                        <a:rPr lang="pl-PL" sz="2400" i="1">
                                          <a:solidFill>
                                            <a:schemeClr val="accent5">
                                              <a:lumMod val="50000"/>
                                            </a:schemeClr>
                                          </a:solidFill>
                                          <a:latin typeface="Cambria Math" panose="02040503050406030204" pitchFamily="18" charset="0"/>
                                          <a:ea typeface="Times New Roman" panose="02020603050405020304" pitchFamily="18" charset="0"/>
                                        </a:rPr>
                                      </m:ctrlPr>
                                    </m:eqArrPr>
                                    <m:e>
                                      <m:f>
                                        <m:fPr>
                                          <m:ctrlPr>
                                            <a:rPr lang="pl-PL" sz="2400" i="1">
                                              <a:solidFill>
                                                <a:schemeClr val="accent5">
                                                  <a:lumMod val="50000"/>
                                                </a:schemeClr>
                                              </a:solidFill>
                                              <a:latin typeface="Cambria Math" panose="02040503050406030204" pitchFamily="18" charset="0"/>
                                              <a:ea typeface="Times New Roman" panose="02020603050405020304" pitchFamily="18" charset="0"/>
                                            </a:rPr>
                                          </m:ctrlPr>
                                        </m:fPr>
                                        <m:num>
                                          <m:r>
                                            <a:rPr lang="en-GB" sz="2400">
                                              <a:solidFill>
                                                <a:schemeClr val="accent5">
                                                  <a:lumMod val="50000"/>
                                                </a:schemeClr>
                                              </a:solidFill>
                                              <a:latin typeface="Cambria Math" panose="02040503050406030204" pitchFamily="18" charset="0"/>
                                              <a:ea typeface="Times New Roman" panose="02020603050405020304" pitchFamily="18" charset="0"/>
                                            </a:rPr>
                                            <m:t>𝜕</m:t>
                                          </m:r>
                                          <m:r>
                                            <a:rPr lang="en-GB" sz="2400" i="1">
                                              <a:solidFill>
                                                <a:schemeClr val="accent5">
                                                  <a:lumMod val="50000"/>
                                                </a:schemeClr>
                                              </a:solidFill>
                                              <a:latin typeface="Cambria Math" panose="02040503050406030204" pitchFamily="18" charset="0"/>
                                              <a:ea typeface="Times New Roman" panose="02020603050405020304" pitchFamily="18" charset="0"/>
                                            </a:rPr>
                                            <m:t>𝐿</m:t>
                                          </m:r>
                                        </m:num>
                                        <m:den>
                                          <m:r>
                                            <a:rPr lang="en-GB" sz="2400">
                                              <a:solidFill>
                                                <a:schemeClr val="accent5">
                                                  <a:lumMod val="50000"/>
                                                </a:schemeClr>
                                              </a:solidFill>
                                              <a:latin typeface="Cambria Math" panose="02040503050406030204" pitchFamily="18" charset="0"/>
                                              <a:ea typeface="Times New Roman" panose="02020603050405020304" pitchFamily="18" charset="0"/>
                                            </a:rPr>
                                            <m:t>𝜕</m:t>
                                          </m:r>
                                          <m:sSub>
                                            <m:sSubPr>
                                              <m:ctrlPr>
                                                <a:rPr lang="pl-PL" sz="2400" i="1">
                                                  <a:solidFill>
                                                    <a:schemeClr val="accent5">
                                                      <a:lumMod val="50000"/>
                                                    </a:schemeClr>
                                                  </a:solidFill>
                                                  <a:latin typeface="Cambria Math" panose="02040503050406030204" pitchFamily="18" charset="0"/>
                                                  <a:ea typeface="Times New Roman" panose="02020603050405020304" pitchFamily="18" charset="0"/>
                                                </a:rPr>
                                              </m:ctrlPr>
                                            </m:sSubPr>
                                            <m:e>
                                              <m:r>
                                                <a:rPr lang="en-GB" sz="2400" i="1">
                                                  <a:solidFill>
                                                    <a:schemeClr val="accent5">
                                                      <a:lumMod val="50000"/>
                                                    </a:schemeClr>
                                                  </a:solidFill>
                                                  <a:latin typeface="Cambria Math" panose="02040503050406030204" pitchFamily="18" charset="0"/>
                                                  <a:ea typeface="Times New Roman" panose="02020603050405020304" pitchFamily="18" charset="0"/>
                                                </a:rPr>
                                                <m:t>𝑥</m:t>
                                              </m:r>
                                            </m:e>
                                            <m:sub>
                                              <m:r>
                                                <a:rPr lang="en-GB" sz="2400" i="1">
                                                  <a:solidFill>
                                                    <a:schemeClr val="accent5">
                                                      <a:lumMod val="50000"/>
                                                    </a:schemeClr>
                                                  </a:solidFill>
                                                  <a:latin typeface="Cambria Math" panose="02040503050406030204" pitchFamily="18" charset="0"/>
                                                  <a:ea typeface="Times New Roman" panose="02020603050405020304" pitchFamily="18" charset="0"/>
                                                </a:rPr>
                                                <m:t>𝑛</m:t>
                                              </m:r>
                                            </m:sub>
                                          </m:sSub>
                                        </m:den>
                                      </m:f>
                                      <m:r>
                                        <a:rPr lang="en-GB" sz="2400" i="1">
                                          <a:solidFill>
                                            <a:schemeClr val="accent5">
                                              <a:lumMod val="50000"/>
                                            </a:schemeClr>
                                          </a:solidFill>
                                          <a:latin typeface="Cambria Math" panose="02040503050406030204" pitchFamily="18" charset="0"/>
                                          <a:ea typeface="Times New Roman" panose="02020603050405020304" pitchFamily="18" charset="0"/>
                                        </a:rPr>
                                        <m:t>=</m:t>
                                      </m:r>
                                      <m:sSub>
                                        <m:sSubPr>
                                          <m:ctrlPr>
                                            <a:rPr lang="pl-PL" sz="2400" i="1">
                                              <a:solidFill>
                                                <a:schemeClr val="accent5">
                                                  <a:lumMod val="50000"/>
                                                </a:schemeClr>
                                              </a:solidFill>
                                              <a:latin typeface="Cambria Math" panose="02040503050406030204" pitchFamily="18" charset="0"/>
                                              <a:ea typeface="Times New Roman" panose="02020603050405020304" pitchFamily="18" charset="0"/>
                                            </a:rPr>
                                          </m:ctrlPr>
                                        </m:sSubPr>
                                        <m:e>
                                          <m:r>
                                            <a:rPr lang="en-GB" sz="2400" i="1">
                                              <a:solidFill>
                                                <a:schemeClr val="accent5">
                                                  <a:lumMod val="50000"/>
                                                </a:schemeClr>
                                              </a:solidFill>
                                              <a:latin typeface="Cambria Math" panose="02040503050406030204" pitchFamily="18" charset="0"/>
                                              <a:ea typeface="Times New Roman" panose="02020603050405020304" pitchFamily="18" charset="0"/>
                                            </a:rPr>
                                            <m:t>𝑓</m:t>
                                          </m:r>
                                        </m:e>
                                        <m:sub>
                                          <m:r>
                                            <a:rPr lang="en-GB" sz="2400" i="1">
                                              <a:solidFill>
                                                <a:schemeClr val="accent5">
                                                  <a:lumMod val="50000"/>
                                                </a:schemeClr>
                                              </a:solidFill>
                                              <a:latin typeface="Cambria Math" panose="02040503050406030204" pitchFamily="18" charset="0"/>
                                              <a:ea typeface="Times New Roman" panose="02020603050405020304" pitchFamily="18" charset="0"/>
                                            </a:rPr>
                                            <m:t>𝑛</m:t>
                                          </m:r>
                                        </m:sub>
                                      </m:sSub>
                                      <m:r>
                                        <a:rPr lang="en-GB" sz="2400" i="1">
                                          <a:solidFill>
                                            <a:schemeClr val="accent5">
                                              <a:lumMod val="50000"/>
                                            </a:schemeClr>
                                          </a:solidFill>
                                          <a:latin typeface="Cambria Math" panose="02040503050406030204" pitchFamily="18" charset="0"/>
                                          <a:ea typeface="Times New Roman" panose="02020603050405020304" pitchFamily="18" charset="0"/>
                                        </a:rPr>
                                        <m:t>+</m:t>
                                      </m:r>
                                      <m:r>
                                        <m:rPr>
                                          <m:sty m:val="p"/>
                                        </m:rPr>
                                        <a:rPr lang="en-GB" sz="2400">
                                          <a:solidFill>
                                            <a:schemeClr val="accent5">
                                              <a:lumMod val="50000"/>
                                            </a:schemeClr>
                                          </a:solidFill>
                                          <a:latin typeface="Cambria Math" panose="02040503050406030204" pitchFamily="18" charset="0"/>
                                          <a:ea typeface="Times New Roman" panose="02020603050405020304" pitchFamily="18" charset="0"/>
                                        </a:rPr>
                                        <m:t>λ</m:t>
                                      </m:r>
                                      <m:sSub>
                                        <m:sSubPr>
                                          <m:ctrlPr>
                                            <a:rPr lang="pl-PL" sz="2400" i="1">
                                              <a:solidFill>
                                                <a:schemeClr val="accent5">
                                                  <a:lumMod val="50000"/>
                                                </a:schemeClr>
                                              </a:solidFill>
                                              <a:latin typeface="Cambria Math" panose="02040503050406030204" pitchFamily="18" charset="0"/>
                                              <a:ea typeface="Times New Roman" panose="02020603050405020304" pitchFamily="18" charset="0"/>
                                            </a:rPr>
                                          </m:ctrlPr>
                                        </m:sSubPr>
                                        <m:e>
                                          <m:r>
                                            <a:rPr lang="en-GB" sz="2400" i="1">
                                              <a:solidFill>
                                                <a:schemeClr val="accent5">
                                                  <a:lumMod val="50000"/>
                                                </a:schemeClr>
                                              </a:solidFill>
                                              <a:latin typeface="Cambria Math" panose="02040503050406030204" pitchFamily="18" charset="0"/>
                                              <a:ea typeface="Times New Roman" panose="02020603050405020304" pitchFamily="18" charset="0"/>
                                            </a:rPr>
                                            <m:t>𝑔</m:t>
                                          </m:r>
                                        </m:e>
                                        <m:sub>
                                          <m:r>
                                            <a:rPr lang="en-GB" sz="2400" i="1">
                                              <a:solidFill>
                                                <a:schemeClr val="accent5">
                                                  <a:lumMod val="50000"/>
                                                </a:schemeClr>
                                              </a:solidFill>
                                              <a:latin typeface="Cambria Math" panose="02040503050406030204" pitchFamily="18" charset="0"/>
                                              <a:ea typeface="Times New Roman" panose="02020603050405020304" pitchFamily="18" charset="0"/>
                                            </a:rPr>
                                            <m:t>𝑛</m:t>
                                          </m:r>
                                        </m:sub>
                                      </m:sSub>
                                      <m:r>
                                        <a:rPr lang="en-GB" sz="2400" i="1">
                                          <a:solidFill>
                                            <a:schemeClr val="accent5">
                                              <a:lumMod val="50000"/>
                                            </a:schemeClr>
                                          </a:solidFill>
                                          <a:latin typeface="Cambria Math" panose="02040503050406030204" pitchFamily="18" charset="0"/>
                                          <a:ea typeface="Times New Roman" panose="02020603050405020304" pitchFamily="18" charset="0"/>
                                        </a:rPr>
                                        <m:t>=0</m:t>
                                      </m:r>
                                      <m:r>
                                        <m:rPr>
                                          <m:nor/>
                                        </m:rP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 </m:t>
                                      </m:r>
                                    </m:e>
                                    <m:e/>
                                  </m:eqArr>
                                </m:e>
                              </m:mr>
                              <m:mr>
                                <m:e>
                                  <m:f>
                                    <m:fPr>
                                      <m:ctrlPr>
                                        <a:rPr lang="pl-PL" sz="2400" i="1" smtClean="0">
                                          <a:solidFill>
                                            <a:schemeClr val="accent5">
                                              <a:lumMod val="50000"/>
                                            </a:schemeClr>
                                          </a:solidFill>
                                          <a:latin typeface="Cambria Math" panose="02040503050406030204" pitchFamily="18" charset="0"/>
                                          <a:ea typeface="Times New Roman" panose="02020603050405020304" pitchFamily="18" charset="0"/>
                                        </a:rPr>
                                      </m:ctrlPr>
                                    </m:fPr>
                                    <m:num>
                                      <m:r>
                                        <a:rPr lang="en-GB" sz="2400">
                                          <a:solidFill>
                                            <a:schemeClr val="accent5">
                                              <a:lumMod val="50000"/>
                                            </a:schemeClr>
                                          </a:solidFill>
                                          <a:latin typeface="Cambria Math" panose="02040503050406030204" pitchFamily="18" charset="0"/>
                                          <a:ea typeface="Times New Roman" panose="02020603050405020304" pitchFamily="18" charset="0"/>
                                        </a:rPr>
                                        <m:t>𝜕</m:t>
                                      </m:r>
                                      <m:r>
                                        <a:rPr lang="en-GB" sz="2400" i="1">
                                          <a:solidFill>
                                            <a:schemeClr val="accent5">
                                              <a:lumMod val="50000"/>
                                            </a:schemeClr>
                                          </a:solidFill>
                                          <a:latin typeface="Cambria Math" panose="02040503050406030204" pitchFamily="18" charset="0"/>
                                          <a:ea typeface="Times New Roman" panose="02020603050405020304" pitchFamily="18" charset="0"/>
                                        </a:rPr>
                                        <m:t>𝐿</m:t>
                                      </m:r>
                                    </m:num>
                                    <m:den>
                                      <m:r>
                                        <a:rPr lang="en-GB" sz="2400">
                                          <a:solidFill>
                                            <a:schemeClr val="accent5">
                                              <a:lumMod val="50000"/>
                                            </a:schemeClr>
                                          </a:solidFill>
                                          <a:latin typeface="Cambria Math" panose="02040503050406030204" pitchFamily="18" charset="0"/>
                                          <a:ea typeface="Times New Roman" panose="02020603050405020304" pitchFamily="18" charset="0"/>
                                        </a:rPr>
                                        <m:t>𝜕</m:t>
                                      </m:r>
                                      <m:r>
                                        <m:rPr>
                                          <m:sty m:val="p"/>
                                        </m:rPr>
                                        <a:rPr lang="en-GB" sz="2400">
                                          <a:solidFill>
                                            <a:schemeClr val="accent5">
                                              <a:lumMod val="50000"/>
                                            </a:schemeClr>
                                          </a:solidFill>
                                          <a:latin typeface="Cambria Math" panose="02040503050406030204" pitchFamily="18" charset="0"/>
                                          <a:ea typeface="Times New Roman" panose="02020603050405020304" pitchFamily="18" charset="0"/>
                                        </a:rPr>
                                        <m:t>λ</m:t>
                                      </m:r>
                                    </m:den>
                                  </m:f>
                                  <m:r>
                                    <a:rPr lang="en-GB" sz="2400" i="1">
                                      <a:solidFill>
                                        <a:schemeClr val="accent5">
                                          <a:lumMod val="50000"/>
                                        </a:schemeClr>
                                      </a:solidFill>
                                      <a:latin typeface="Cambria Math" panose="02040503050406030204" pitchFamily="18" charset="0"/>
                                      <a:ea typeface="Times New Roman" panose="02020603050405020304" pitchFamily="18" charset="0"/>
                                    </a:rPr>
                                    <m:t>=</m:t>
                                  </m:r>
                                  <m:r>
                                    <a:rPr lang="en-GB" sz="2400" i="1">
                                      <a:solidFill>
                                        <a:schemeClr val="accent5">
                                          <a:lumMod val="50000"/>
                                        </a:schemeClr>
                                      </a:solidFill>
                                      <a:latin typeface="Cambria Math" panose="02040503050406030204" pitchFamily="18" charset="0"/>
                                      <a:ea typeface="Times New Roman" panose="02020603050405020304" pitchFamily="18" charset="0"/>
                                    </a:rPr>
                                    <m:t>𝑔</m:t>
                                  </m:r>
                                  <m:d>
                                    <m:dPr>
                                      <m:ctrlPr>
                                        <a:rPr lang="pl-PL" sz="2400" i="1">
                                          <a:solidFill>
                                            <a:schemeClr val="accent5">
                                              <a:lumMod val="50000"/>
                                            </a:schemeClr>
                                          </a:solidFill>
                                          <a:latin typeface="Cambria Math" panose="02040503050406030204" pitchFamily="18" charset="0"/>
                                          <a:ea typeface="Times New Roman" panose="02020603050405020304" pitchFamily="18" charset="0"/>
                                        </a:rPr>
                                      </m:ctrlPr>
                                    </m:dPr>
                                    <m:e>
                                      <m:sSub>
                                        <m:sSubPr>
                                          <m:ctrlPr>
                                            <a:rPr lang="pl-PL" sz="2400" i="1">
                                              <a:solidFill>
                                                <a:schemeClr val="accent5">
                                                  <a:lumMod val="50000"/>
                                                </a:schemeClr>
                                              </a:solidFill>
                                              <a:latin typeface="Cambria Math" panose="02040503050406030204" pitchFamily="18" charset="0"/>
                                              <a:ea typeface="Times New Roman" panose="02020603050405020304" pitchFamily="18" charset="0"/>
                                            </a:rPr>
                                          </m:ctrlPr>
                                        </m:sSubPr>
                                        <m:e>
                                          <m:r>
                                            <a:rPr lang="en-GB" sz="2400" i="1">
                                              <a:solidFill>
                                                <a:schemeClr val="accent5">
                                                  <a:lumMod val="50000"/>
                                                </a:schemeClr>
                                              </a:solidFill>
                                              <a:latin typeface="Cambria Math" panose="02040503050406030204" pitchFamily="18" charset="0"/>
                                              <a:ea typeface="Times New Roman" panose="02020603050405020304" pitchFamily="18" charset="0"/>
                                            </a:rPr>
                                            <m:t>𝑥</m:t>
                                          </m:r>
                                        </m:e>
                                        <m:sub>
                                          <m:r>
                                            <a:rPr lang="en-GB" sz="2400" i="1">
                                              <a:solidFill>
                                                <a:schemeClr val="accent5">
                                                  <a:lumMod val="50000"/>
                                                </a:schemeClr>
                                              </a:solidFill>
                                              <a:latin typeface="Cambria Math" panose="02040503050406030204" pitchFamily="18" charset="0"/>
                                              <a:ea typeface="Times New Roman" panose="02020603050405020304" pitchFamily="18" charset="0"/>
                                            </a:rPr>
                                            <m:t>1</m:t>
                                          </m:r>
                                        </m:sub>
                                      </m:sSub>
                                      <m:r>
                                        <a:rPr lang="en-GB" sz="2400" i="1">
                                          <a:solidFill>
                                            <a:schemeClr val="accent5">
                                              <a:lumMod val="50000"/>
                                            </a:schemeClr>
                                          </a:solidFill>
                                          <a:latin typeface="Cambria Math" panose="02040503050406030204" pitchFamily="18" charset="0"/>
                                          <a:ea typeface="Times New Roman" panose="02020603050405020304" pitchFamily="18" charset="0"/>
                                        </a:rPr>
                                        <m:t>,</m:t>
                                      </m:r>
                                      <m:sSub>
                                        <m:sSubPr>
                                          <m:ctrlPr>
                                            <a:rPr lang="pl-PL" sz="2400" i="1">
                                              <a:solidFill>
                                                <a:schemeClr val="accent5">
                                                  <a:lumMod val="50000"/>
                                                </a:schemeClr>
                                              </a:solidFill>
                                              <a:latin typeface="Cambria Math" panose="02040503050406030204" pitchFamily="18" charset="0"/>
                                              <a:ea typeface="Times New Roman" panose="02020603050405020304" pitchFamily="18" charset="0"/>
                                            </a:rPr>
                                          </m:ctrlPr>
                                        </m:sSubPr>
                                        <m:e>
                                          <m:r>
                                            <a:rPr lang="en-GB" sz="2400" i="1">
                                              <a:solidFill>
                                                <a:schemeClr val="accent5">
                                                  <a:lumMod val="50000"/>
                                                </a:schemeClr>
                                              </a:solidFill>
                                              <a:latin typeface="Cambria Math" panose="02040503050406030204" pitchFamily="18" charset="0"/>
                                              <a:ea typeface="Times New Roman" panose="02020603050405020304" pitchFamily="18" charset="0"/>
                                            </a:rPr>
                                            <m:t>𝑥</m:t>
                                          </m:r>
                                        </m:e>
                                        <m:sub>
                                          <m:r>
                                            <a:rPr lang="en-GB" sz="2400" i="1">
                                              <a:solidFill>
                                                <a:schemeClr val="accent5">
                                                  <a:lumMod val="50000"/>
                                                </a:schemeClr>
                                              </a:solidFill>
                                              <a:latin typeface="Cambria Math" panose="02040503050406030204" pitchFamily="18" charset="0"/>
                                              <a:ea typeface="Times New Roman" panose="02020603050405020304" pitchFamily="18" charset="0"/>
                                            </a:rPr>
                                            <m:t>2</m:t>
                                          </m:r>
                                        </m:sub>
                                      </m:sSub>
                                      <m:r>
                                        <a:rPr lang="en-GB" sz="2400" i="1">
                                          <a:solidFill>
                                            <a:schemeClr val="accent5">
                                              <a:lumMod val="50000"/>
                                            </a:schemeClr>
                                          </a:solidFill>
                                          <a:latin typeface="Cambria Math" panose="02040503050406030204" pitchFamily="18" charset="0"/>
                                          <a:ea typeface="Times New Roman" panose="02020603050405020304" pitchFamily="18" charset="0"/>
                                        </a:rPr>
                                        <m:t>,</m:t>
                                      </m:r>
                                      <m:r>
                                        <a:rPr lang="en-GB" sz="2400">
                                          <a:solidFill>
                                            <a:schemeClr val="accent5">
                                              <a:lumMod val="50000"/>
                                            </a:schemeClr>
                                          </a:solidFill>
                                          <a:latin typeface="Cambria Math" panose="02040503050406030204" pitchFamily="18" charset="0"/>
                                          <a:ea typeface="Times New Roman" panose="02020603050405020304" pitchFamily="18" charset="0"/>
                                        </a:rPr>
                                        <m:t>…</m:t>
                                      </m:r>
                                      <m:r>
                                        <a:rPr lang="en-GB" sz="2400" i="1">
                                          <a:solidFill>
                                            <a:schemeClr val="accent5">
                                              <a:lumMod val="50000"/>
                                            </a:schemeClr>
                                          </a:solidFill>
                                          <a:latin typeface="Cambria Math" panose="02040503050406030204" pitchFamily="18" charset="0"/>
                                          <a:ea typeface="Times New Roman" panose="02020603050405020304" pitchFamily="18" charset="0"/>
                                        </a:rPr>
                                        <m:t>,</m:t>
                                      </m:r>
                                      <m:sSub>
                                        <m:sSubPr>
                                          <m:ctrlPr>
                                            <a:rPr lang="pl-PL" sz="2400" i="1">
                                              <a:solidFill>
                                                <a:schemeClr val="accent5">
                                                  <a:lumMod val="50000"/>
                                                </a:schemeClr>
                                              </a:solidFill>
                                              <a:latin typeface="Cambria Math" panose="02040503050406030204" pitchFamily="18" charset="0"/>
                                              <a:ea typeface="Times New Roman" panose="02020603050405020304" pitchFamily="18" charset="0"/>
                                            </a:rPr>
                                          </m:ctrlPr>
                                        </m:sSubPr>
                                        <m:e>
                                          <m:r>
                                            <a:rPr lang="en-GB" sz="2400" i="1">
                                              <a:solidFill>
                                                <a:schemeClr val="accent5">
                                                  <a:lumMod val="50000"/>
                                                </a:schemeClr>
                                              </a:solidFill>
                                              <a:latin typeface="Cambria Math" panose="02040503050406030204" pitchFamily="18" charset="0"/>
                                              <a:ea typeface="Times New Roman" panose="02020603050405020304" pitchFamily="18" charset="0"/>
                                            </a:rPr>
                                            <m:t>𝑥</m:t>
                                          </m:r>
                                        </m:e>
                                        <m:sub>
                                          <m:r>
                                            <a:rPr lang="en-GB" sz="2400" i="1">
                                              <a:solidFill>
                                                <a:schemeClr val="accent5">
                                                  <a:lumMod val="50000"/>
                                                </a:schemeClr>
                                              </a:solidFill>
                                              <a:latin typeface="Cambria Math" panose="02040503050406030204" pitchFamily="18" charset="0"/>
                                              <a:ea typeface="Times New Roman" panose="02020603050405020304" pitchFamily="18" charset="0"/>
                                            </a:rPr>
                                            <m:t>𝑛</m:t>
                                          </m:r>
                                        </m:sub>
                                      </m:sSub>
                                    </m:e>
                                  </m:d>
                                  <m:r>
                                    <a:rPr lang="en-GB" sz="2400" i="1">
                                      <a:solidFill>
                                        <a:schemeClr val="accent5">
                                          <a:lumMod val="50000"/>
                                        </a:schemeClr>
                                      </a:solidFill>
                                      <a:latin typeface="Cambria Math" panose="02040503050406030204" pitchFamily="18" charset="0"/>
                                      <a:ea typeface="Times New Roman" panose="02020603050405020304" pitchFamily="18" charset="0"/>
                                    </a:rPr>
                                    <m:t>=0</m:t>
                                  </m:r>
                                  <m:r>
                                    <m:rPr>
                                      <m:nor/>
                                    </m:rP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 </m:t>
                                  </m:r>
                                </m:e>
                              </m:mr>
                            </m:m>
                          </m:e>
                        </m:mr>
                      </m:m>
                    </m:oMath>
                  </m:oMathPara>
                </a14:m>
                <a:endParaRPr lang="pl-PL" sz="2800" kern="1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endParaRPr lang="pl-PL" sz="2800" kern="100" dirty="0">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endParaRPr lang="pl-PL" sz="2800" kern="100" dirty="0">
                  <a:effectLst/>
                  <a:latin typeface="Calibri" panose="020F0502020204030204" pitchFamily="34" charset="0"/>
                  <a:ea typeface="Calibri" panose="020F0502020204030204" pitchFamily="34" charset="0"/>
                  <a:cs typeface="Calibri" panose="020F0502020204030204" pitchFamily="34" charset="0"/>
                </a:endParaRPr>
              </a:p>
              <a:p>
                <a:endParaRPr lang="pl-PL"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CustomShape 2">
                <a:extLst>
                  <a:ext uri="{FF2B5EF4-FFF2-40B4-BE49-F238E27FC236}">
                    <a16:creationId xmlns:a16="http://schemas.microsoft.com/office/drawing/2014/main" id="{9624E1D0-ABE6-E45A-9A49-9C5D77630526}"/>
                  </a:ext>
                </a:extLst>
              </p:cNvPr>
              <p:cNvSpPr>
                <a:spLocks noRot="1" noChangeAspect="1" noMove="1" noResize="1" noEditPoints="1" noAdjustHandles="1" noChangeArrowheads="1" noChangeShapeType="1" noTextEdit="1"/>
              </p:cNvSpPr>
              <p:nvPr/>
            </p:nvSpPr>
            <p:spPr>
              <a:xfrm>
                <a:off x="193040" y="1128240"/>
                <a:ext cx="11856720" cy="5455440"/>
              </a:xfrm>
              <a:prstGeom prst="rect">
                <a:avLst/>
              </a:prstGeom>
              <a:blipFill>
                <a:blip r:embed="rId2"/>
                <a:stretch>
                  <a:fillRect l="-1080" t="-1006"/>
                </a:stretch>
              </a:blipFill>
              <a:ln>
                <a:noFill/>
              </a:ln>
            </p:spPr>
            <p:txBody>
              <a:bodyPr/>
              <a:lstStyle/>
              <a:p>
                <a:r>
                  <a:rPr lang="pl-PL">
                    <a:noFill/>
                  </a:rPr>
                  <a:t> </a:t>
                </a:r>
              </a:p>
            </p:txBody>
          </p:sp>
        </mc:Fallback>
      </mc:AlternateContent>
    </p:spTree>
    <p:extLst>
      <p:ext uri="{BB962C8B-B14F-4D97-AF65-F5344CB8AC3E}">
        <p14:creationId xmlns:p14="http://schemas.microsoft.com/office/powerpoint/2010/main" val="262391512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EC189-DD7F-4602-C419-A0B00CEBE7ED}"/>
            </a:ext>
          </a:extLst>
        </p:cNvPr>
        <p:cNvGrpSpPr/>
        <p:nvPr/>
      </p:nvGrpSpPr>
      <p:grpSpPr>
        <a:xfrm>
          <a:off x="0" y="0"/>
          <a:ext cx="0" cy="0"/>
          <a:chOff x="0" y="0"/>
          <a:chExt cx="0" cy="0"/>
        </a:xfrm>
      </p:grpSpPr>
      <p:sp>
        <p:nvSpPr>
          <p:cNvPr id="80" name="CustomShape 1">
            <a:extLst>
              <a:ext uri="{FF2B5EF4-FFF2-40B4-BE49-F238E27FC236}">
                <a16:creationId xmlns:a16="http://schemas.microsoft.com/office/drawing/2014/main" id="{5A2C52D7-9FA2-321D-B4FF-CD665929AAFC}"/>
              </a:ext>
            </a:extLst>
          </p:cNvPr>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1" normalizeH="0" baseline="0" noProof="0" dirty="0" err="1">
                <a:ln>
                  <a:noFill/>
                </a:ln>
                <a:solidFill>
                  <a:srgbClr val="215968"/>
                </a:solidFill>
                <a:effectLst/>
                <a:uLnTx/>
                <a:uFill>
                  <a:solidFill>
                    <a:srgbClr val="FFFFFF"/>
                  </a:solidFill>
                </a:uFill>
                <a:latin typeface="Calibri"/>
                <a:ea typeface="DejaVu Sans"/>
                <a:cs typeface="DejaVu Sans"/>
              </a:rPr>
              <a:t>Lagrangian</a:t>
            </a:r>
            <a:r>
              <a:rPr kumimoji="0" lang="en-US" sz="4000" b="1"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Multiplier Method</a:t>
            </a:r>
            <a:endParaRPr kumimoji="0" sz="2400" b="1" i="0" u="none" strike="noStrike" kern="1200" cap="none" spc="0" normalizeH="0" baseline="0" noProof="0" dirty="0">
              <a:ln>
                <a:noFill/>
              </a:ln>
              <a:solidFill>
                <a:prstClr val="black"/>
              </a:solidFill>
              <a:effectLst/>
              <a:uLnTx/>
              <a:uFillTx/>
              <a:latin typeface="Arial"/>
              <a:ea typeface="DejaVu Sans"/>
              <a:cs typeface="DejaVu Sans"/>
            </a:endParaRPr>
          </a:p>
        </p:txBody>
      </p:sp>
      <mc:AlternateContent xmlns:mc="http://schemas.openxmlformats.org/markup-compatibility/2006" xmlns:a14="http://schemas.microsoft.com/office/drawing/2010/main">
        <mc:Choice Requires="a14">
          <p:sp>
            <p:nvSpPr>
              <p:cNvPr id="81" name="CustomShape 2">
                <a:extLst>
                  <a:ext uri="{FF2B5EF4-FFF2-40B4-BE49-F238E27FC236}">
                    <a16:creationId xmlns:a16="http://schemas.microsoft.com/office/drawing/2014/main" id="{216312C4-03D2-1416-AF30-2273C49F1F37}"/>
                  </a:ext>
                </a:extLst>
              </p:cNvPr>
              <p:cNvSpPr/>
              <p:nvPr/>
            </p:nvSpPr>
            <p:spPr>
              <a:xfrm>
                <a:off x="243840" y="1605760"/>
                <a:ext cx="11704320" cy="5069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7000"/>
                  </a:lnSpc>
                  <a:spcAft>
                    <a:spcPts val="800"/>
                  </a:spcAft>
                </a:pPr>
                <a:r>
                  <a:rPr lang="en-GB" sz="28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First-Order Conditions and Solution Properties</a:t>
                </a:r>
                <a:endParaRPr lang="pl-PL" sz="2800" kern="1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lvl="0" algn="just">
                  <a:lnSpc>
                    <a:spcPct val="107000"/>
                  </a:lnSpc>
                  <a:spcAft>
                    <a:spcPts val="800"/>
                  </a:spcAft>
                  <a:buSzPts val="1000"/>
                  <a:tabLst>
                    <a:tab pos="457200" algn="l"/>
                  </a:tabLst>
                </a:pPr>
                <a:r>
                  <a:rPr lang="en-GB" sz="28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First-Order Conditions</a:t>
                </a:r>
                <a:r>
                  <a:rPr lang="en-GB"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can be solved for </a:t>
                </a:r>
                <a14:m>
                  <m:oMath xmlns:m="http://schemas.openxmlformats.org/officeDocument/2006/math">
                    <m:sSub>
                      <m:sSubPr>
                        <m:ctrlPr>
                          <a:rPr lang="pl-PL"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pl-PL"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GB" sz="2800"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pl-PL"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𝑛</m:t>
                        </m:r>
                      </m:sub>
                    </m:sSub>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𝑎𝑛𝑑</m:t>
                    </m:r>
                    <m:r>
                      <a:rPr lang="en-GB" sz="28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 </m:t>
                    </m:r>
                    <m:r>
                      <m:rPr>
                        <m:sty m:val="p"/>
                      </m:rPr>
                      <a:rPr lang="en-GB" sz="2800"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λ</m:t>
                    </m:r>
                  </m:oMath>
                </a14:m>
                <a:r>
                  <a:rPr lang="en-GB"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a:t>
                </a:r>
                <a:endParaRPr lang="pl-PL" sz="2800" kern="1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lvl="0" algn="just">
                  <a:lnSpc>
                    <a:spcPct val="107000"/>
                  </a:lnSpc>
                  <a:spcAft>
                    <a:spcPts val="800"/>
                  </a:spcAft>
                  <a:buSzPts val="1000"/>
                  <a:tabLst>
                    <a:tab pos="457200" algn="l"/>
                  </a:tabLst>
                </a:pPr>
                <a:r>
                  <a:rPr lang="en-GB" sz="28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The solution</a:t>
                </a:r>
                <a:r>
                  <a:rPr lang="en-GB"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will have properties:</a:t>
                </a:r>
                <a:endParaRPr lang="pl-PL" sz="2800" kern="1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lvl="2" algn="just">
                  <a:lnSpc>
                    <a:spcPct val="107000"/>
                  </a:lnSpc>
                  <a:spcAft>
                    <a:spcPts val="800"/>
                  </a:spcAft>
                  <a:tabLst>
                    <a:tab pos="914400" algn="l"/>
                  </a:tabLst>
                </a:pPr>
                <a:r>
                  <a:rPr lang="en-GB"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The x's will </a:t>
                </a:r>
                <a:r>
                  <a:rPr lang="en-GB" sz="28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satisfy the constraint</a:t>
                </a:r>
                <a:r>
                  <a:rPr lang="en-GB"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a:t>
                </a:r>
                <a:endParaRPr lang="pl-PL" sz="2800" kern="1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lvl="2" algn="just">
                  <a:lnSpc>
                    <a:spcPct val="107000"/>
                  </a:lnSpc>
                  <a:spcAft>
                    <a:spcPts val="800"/>
                  </a:spcAft>
                  <a:tabLst>
                    <a:tab pos="914400" algn="l"/>
                  </a:tabLst>
                </a:pPr>
                <a:r>
                  <a:rPr lang="en-GB"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These x's will </a:t>
                </a:r>
                <a:r>
                  <a:rPr lang="en-GB" sz="28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maximize the value of L</a:t>
                </a:r>
                <a:r>
                  <a:rPr lang="en-GB"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and therefore the goal function f.</a:t>
                </a:r>
                <a:endParaRPr lang="pl-PL" sz="2800" kern="1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algn="just">
                  <a:buFont typeface="Arial" panose="020B0604020202020204" pitchFamily="34" charset="0"/>
                  <a:buChar char="•"/>
                </a:pPr>
                <a:endParaRPr lang="pl-PL" sz="28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sz="28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The </a:t>
                </a:r>
                <a:r>
                  <a:rPr lang="en-US" sz="2800" b="1"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Lagrangian</a:t>
                </a:r>
                <a:r>
                  <a:rPr lang="en-US" sz="2800" b="1"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multiplier </a:t>
                </a:r>
                <a14:m>
                  <m:oMath xmlns:m="http://schemas.openxmlformats.org/officeDocument/2006/math">
                    <m:r>
                      <a:rPr lang="en-US" sz="2800" b="1" i="1" dirty="0" smtClean="0">
                        <a:solidFill>
                          <a:schemeClr val="accent5">
                            <a:lumMod val="50000"/>
                          </a:schemeClr>
                        </a:solidFill>
                        <a:latin typeface="Cambria Math" panose="02040503050406030204" pitchFamily="18" charset="0"/>
                      </a:rPr>
                      <m:t>𝝀</m:t>
                    </m:r>
                    <m:r>
                      <m:rPr>
                        <m:nor/>
                      </m:rPr>
                      <a:rPr lang="pl-PL" sz="2800" b="0" i="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 </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provides</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 </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a</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 </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measure</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 </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of</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 </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how</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 </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the</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 </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relaxation</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 </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in</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 </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the</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 </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constraint</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 </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will</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 </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affect</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 </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the</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 </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value</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 </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of</m:t>
                    </m:r>
                    <m:r>
                      <m:rPr>
                        <m:nor/>
                      </m:rPr>
                      <a:rPr lang="en-US" altLang="pl-PL" sz="2800"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 </m:t>
                    </m:r>
                    <m:r>
                      <m:rPr>
                        <m:nor/>
                      </m:rPr>
                      <a:rPr lang="en-US" altLang="pl-PL" sz="2800" i="1" dirty="0" smtClean="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m:t>y</m:t>
                    </m:r>
                  </m:oMath>
                </a14:m>
                <a:r>
                  <a:rPr lang="en-US" sz="28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a:t>
                </a:r>
                <a:endParaRPr lang="pl-PL"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CustomShape 2">
                <a:extLst>
                  <a:ext uri="{FF2B5EF4-FFF2-40B4-BE49-F238E27FC236}">
                    <a16:creationId xmlns:a16="http://schemas.microsoft.com/office/drawing/2014/main" id="{216312C4-03D2-1416-AF30-2273C49F1F37}"/>
                  </a:ext>
                </a:extLst>
              </p:cNvPr>
              <p:cNvSpPr>
                <a:spLocks noRot="1" noChangeAspect="1" noMove="1" noResize="1" noEditPoints="1" noAdjustHandles="1" noChangeArrowheads="1" noChangeShapeType="1" noTextEdit="1"/>
              </p:cNvSpPr>
              <p:nvPr/>
            </p:nvSpPr>
            <p:spPr>
              <a:xfrm>
                <a:off x="243840" y="1605760"/>
                <a:ext cx="11704320" cy="5069360"/>
              </a:xfrm>
              <a:prstGeom prst="rect">
                <a:avLst/>
              </a:prstGeom>
              <a:blipFill>
                <a:blip r:embed="rId2"/>
                <a:stretch>
                  <a:fillRect l="-1094" t="-962"/>
                </a:stretch>
              </a:blipFill>
              <a:ln>
                <a:noFill/>
              </a:ln>
            </p:spPr>
            <p:txBody>
              <a:bodyPr/>
              <a:lstStyle/>
              <a:p>
                <a:r>
                  <a:rPr lang="pl-PL">
                    <a:noFill/>
                  </a:rPr>
                  <a:t> </a:t>
                </a:r>
              </a:p>
            </p:txBody>
          </p:sp>
        </mc:Fallback>
      </mc:AlternateContent>
    </p:spTree>
    <p:extLst>
      <p:ext uri="{BB962C8B-B14F-4D97-AF65-F5344CB8AC3E}">
        <p14:creationId xmlns:p14="http://schemas.microsoft.com/office/powerpoint/2010/main" val="21462415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336CF-8F64-3449-FB5C-92AAAC178566}"/>
            </a:ext>
          </a:extLst>
        </p:cNvPr>
        <p:cNvGrpSpPr/>
        <p:nvPr/>
      </p:nvGrpSpPr>
      <p:grpSpPr>
        <a:xfrm>
          <a:off x="0" y="0"/>
          <a:ext cx="0" cy="0"/>
          <a:chOff x="0" y="0"/>
          <a:chExt cx="0" cy="0"/>
        </a:xfrm>
      </p:grpSpPr>
      <p:sp>
        <p:nvSpPr>
          <p:cNvPr id="80" name="CustomShape 1">
            <a:extLst>
              <a:ext uri="{FF2B5EF4-FFF2-40B4-BE49-F238E27FC236}">
                <a16:creationId xmlns:a16="http://schemas.microsoft.com/office/drawing/2014/main" id="{E53CB12F-F8C6-0C46-F191-D59EFCBA8E12}"/>
              </a:ext>
            </a:extLst>
          </p:cNvPr>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1" normalizeH="0" baseline="0" noProof="0" dirty="0" err="1">
                <a:ln>
                  <a:noFill/>
                </a:ln>
                <a:solidFill>
                  <a:srgbClr val="215968"/>
                </a:solidFill>
                <a:effectLst/>
                <a:uLnTx/>
                <a:uFill>
                  <a:solidFill>
                    <a:srgbClr val="FFFFFF"/>
                  </a:solidFill>
                </a:uFill>
                <a:latin typeface="Calibri"/>
                <a:ea typeface="DejaVu Sans"/>
                <a:cs typeface="DejaVu Sans"/>
              </a:rPr>
              <a:t>Lagrangian</a:t>
            </a:r>
            <a:r>
              <a:rPr kumimoji="0" lang="en-US" sz="4000" b="1"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Multiplier Method</a:t>
            </a:r>
            <a:endParaRPr kumimoji="0" sz="2400" b="1" i="0" u="none" strike="noStrike" kern="1200" cap="none" spc="0" normalizeH="0" baseline="0" noProof="0" dirty="0">
              <a:ln>
                <a:noFill/>
              </a:ln>
              <a:solidFill>
                <a:prstClr val="black"/>
              </a:solidFill>
              <a:effectLst/>
              <a:uLnTx/>
              <a:uFillTx/>
              <a:latin typeface="Arial"/>
              <a:ea typeface="DejaVu Sans"/>
              <a:cs typeface="DejaVu Sans"/>
            </a:endParaRPr>
          </a:p>
        </p:txBody>
      </p:sp>
      <p:sp>
        <p:nvSpPr>
          <p:cNvPr id="81" name="CustomShape 2">
            <a:extLst>
              <a:ext uri="{FF2B5EF4-FFF2-40B4-BE49-F238E27FC236}">
                <a16:creationId xmlns:a16="http://schemas.microsoft.com/office/drawing/2014/main" id="{92CAE0B7-3C54-2BC2-525A-2BE245345628}"/>
              </a:ext>
            </a:extLst>
          </p:cNvPr>
          <p:cNvSpPr/>
          <p:nvPr/>
        </p:nvSpPr>
        <p:spPr>
          <a:xfrm>
            <a:off x="243840" y="1199360"/>
            <a:ext cx="11704320" cy="5353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7000"/>
              </a:lnSpc>
              <a:spcAft>
                <a:spcPts val="800"/>
              </a:spcAft>
            </a:pPr>
            <a:r>
              <a:rPr lang="en-US" sz="28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Second-order conditions </a:t>
            </a:r>
            <a:r>
              <a:rPr lang="en-US"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that describe the curvature of the function must be checked. For minimization, the Hessian of the </a:t>
            </a:r>
            <a:r>
              <a:rPr lang="en-US" sz="2800" kern="0" dirty="0" err="1">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Lagrangian</a:t>
            </a:r>
            <a:r>
              <a:rPr lang="en-US"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must be </a:t>
            </a:r>
            <a:r>
              <a:rPr lang="pl-PL" sz="2800" kern="0" dirty="0" err="1">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positive</a:t>
            </a:r>
            <a:r>
              <a:rPr lang="en-US"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semidefinite, while for maximization, it must be negative semidefinite. </a:t>
            </a:r>
            <a:endParaRPr lang="pl-PL"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algn="just">
              <a:lnSpc>
                <a:spcPct val="107000"/>
              </a:lnSpc>
              <a:spcAft>
                <a:spcPts val="800"/>
              </a:spcAft>
            </a:pPr>
            <a:endParaRPr lang="pl-PL"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algn="just">
              <a:lnSpc>
                <a:spcPct val="107000"/>
              </a:lnSpc>
              <a:spcAft>
                <a:spcPts val="800"/>
              </a:spcAft>
            </a:pPr>
            <a:r>
              <a:rPr lang="en-US"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However, we typically select </a:t>
            </a:r>
            <a:r>
              <a:rPr lang="pl-PL"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a </a:t>
            </a:r>
            <a:r>
              <a:rPr lang="pl-PL" sz="2800" kern="0" dirty="0" err="1">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goal</a:t>
            </a:r>
            <a:r>
              <a:rPr lang="pl-PL"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t>
            </a:r>
            <a:r>
              <a:rPr lang="en-US"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function that satisfy these conditions (our discussions about the production function).</a:t>
            </a:r>
          </a:p>
          <a:p>
            <a:pPr algn="just">
              <a:lnSpc>
                <a:spcPct val="107000"/>
              </a:lnSpc>
              <a:spcAft>
                <a:spcPts val="800"/>
              </a:spcAft>
            </a:pPr>
            <a:endParaRPr lang="pl-PL"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algn="just">
              <a:lnSpc>
                <a:spcPct val="107000"/>
              </a:lnSpc>
              <a:spcAft>
                <a:spcPts val="800"/>
              </a:spcAft>
            </a:pPr>
            <a:r>
              <a:rPr lang="en-US" sz="24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For those interested in more mathematical rigor, refer to the following link for a detailed explanation</a:t>
            </a:r>
            <a:r>
              <a:rPr lang="pl-PL" sz="24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of </a:t>
            </a:r>
            <a:r>
              <a:rPr lang="en-US" sz="24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the Kuhn–Tucker conditions:</a:t>
            </a:r>
            <a:r>
              <a:rPr lang="pl-PL" sz="24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t>
            </a:r>
            <a:r>
              <a:rPr lang="pl-PL" sz="16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hlinkClick r:id="rId2"/>
              </a:rPr>
              <a:t>https://www.cs.cmu.edu/~ggordon/10725-F12/slides/16-kkt.pdf</a:t>
            </a:r>
            <a:endParaRPr lang="pl-PL" sz="16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algn="just">
              <a:lnSpc>
                <a:spcPct val="107000"/>
              </a:lnSpc>
              <a:spcAft>
                <a:spcPts val="800"/>
              </a:spcAft>
            </a:pPr>
            <a:r>
              <a:rPr lang="pl-PL" sz="24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a:t>
            </a:r>
            <a:r>
              <a:rPr lang="en-US" sz="24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As a final paper, you can prepare a cheat sheet based on Polish materials [previous final papers] in Maxima, Python, (symbolic/numerical calculation) and in R (only numerical)</a:t>
            </a:r>
            <a:r>
              <a:rPr lang="pl-PL" sz="24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40594693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6EB0F-2B1F-85C4-621B-53771CF02853}"/>
            </a:ext>
          </a:extLst>
        </p:cNvPr>
        <p:cNvGrpSpPr/>
        <p:nvPr/>
      </p:nvGrpSpPr>
      <p:grpSpPr>
        <a:xfrm>
          <a:off x="0" y="0"/>
          <a:ext cx="0" cy="0"/>
          <a:chOff x="0" y="0"/>
          <a:chExt cx="0" cy="0"/>
        </a:xfrm>
      </p:grpSpPr>
      <p:sp>
        <p:nvSpPr>
          <p:cNvPr id="80" name="CustomShape 1">
            <a:extLst>
              <a:ext uri="{FF2B5EF4-FFF2-40B4-BE49-F238E27FC236}">
                <a16:creationId xmlns:a16="http://schemas.microsoft.com/office/drawing/2014/main" id="{42A99B6B-893F-DAE9-2A95-164D8C40DC7C}"/>
              </a:ext>
            </a:extLst>
          </p:cNvPr>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1" normalizeH="0" baseline="0" noProof="0" dirty="0" err="1">
                <a:ln>
                  <a:noFill/>
                </a:ln>
                <a:solidFill>
                  <a:srgbClr val="215968"/>
                </a:solidFill>
                <a:effectLst/>
                <a:uLnTx/>
                <a:uFill>
                  <a:solidFill>
                    <a:srgbClr val="FFFFFF"/>
                  </a:solidFill>
                </a:uFill>
                <a:latin typeface="Calibri"/>
                <a:ea typeface="DejaVu Sans"/>
                <a:cs typeface="DejaVu Sans"/>
              </a:rPr>
              <a:t>Lagrangian</a:t>
            </a:r>
            <a:r>
              <a:rPr kumimoji="0" lang="en-US" sz="4000" b="1"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Multiplier Method</a:t>
            </a:r>
            <a:endParaRPr kumimoji="0" sz="2400" b="1" i="0" u="none" strike="noStrike" kern="1200" cap="none" spc="0" normalizeH="0" baseline="0" noProof="0" dirty="0">
              <a:ln>
                <a:noFill/>
              </a:ln>
              <a:solidFill>
                <a:prstClr val="black"/>
              </a:solidFill>
              <a:effectLst/>
              <a:uLnTx/>
              <a:uFillTx/>
              <a:latin typeface="Arial"/>
              <a:ea typeface="DejaVu Sans"/>
              <a:cs typeface="DejaVu Sans"/>
            </a:endParaRPr>
          </a:p>
        </p:txBody>
      </p:sp>
      <p:sp>
        <p:nvSpPr>
          <p:cNvPr id="81" name="CustomShape 2">
            <a:extLst>
              <a:ext uri="{FF2B5EF4-FFF2-40B4-BE49-F238E27FC236}">
                <a16:creationId xmlns:a16="http://schemas.microsoft.com/office/drawing/2014/main" id="{82B246B0-0FC8-07D2-FD0D-3B891FB6081C}"/>
              </a:ext>
            </a:extLst>
          </p:cNvPr>
          <p:cNvSpPr/>
          <p:nvPr/>
        </p:nvSpPr>
        <p:spPr>
          <a:xfrm>
            <a:off x="243840" y="1351760"/>
            <a:ext cx="11704320" cy="5292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7000"/>
              </a:lnSpc>
              <a:spcAft>
                <a:spcPts val="800"/>
              </a:spcAft>
            </a:pPr>
            <a:r>
              <a:rPr lang="en-US"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A </a:t>
            </a:r>
            <a:r>
              <a:rPr lang="en-US" sz="28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constrained </a:t>
            </a:r>
            <a:r>
              <a:rPr lang="pl-PL" sz="2800" b="1" kern="0" dirty="0" err="1">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optymalization</a:t>
            </a:r>
            <a:r>
              <a:rPr lang="en-US" sz="28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t>
            </a:r>
            <a:r>
              <a:rPr lang="en-US"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problem </a:t>
            </a:r>
            <a:r>
              <a:rPr lang="pl-PL" sz="2800" kern="0" dirty="0" err="1">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can</a:t>
            </a:r>
            <a:r>
              <a:rPr lang="pl-PL"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t>
            </a:r>
            <a:r>
              <a:rPr lang="pl-PL" sz="2800" kern="0" dirty="0" err="1">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have</a:t>
            </a:r>
            <a:r>
              <a:rPr lang="en-US"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an associated </a:t>
            </a:r>
            <a:r>
              <a:rPr lang="en-US" sz="28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dual</a:t>
            </a:r>
            <a:r>
              <a:rPr lang="en-US"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problem that focuses on the constraints in the original problem.</a:t>
            </a:r>
          </a:p>
          <a:p>
            <a:pPr lvl="1">
              <a:lnSpc>
                <a:spcPct val="107000"/>
              </a:lnSpc>
              <a:spcAft>
                <a:spcPts val="800"/>
              </a:spcAft>
            </a:pPr>
            <a:r>
              <a:rPr lang="pl-PL" sz="28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P</a:t>
            </a:r>
            <a:r>
              <a:rPr lang="en-US" sz="2800" b="1" kern="0" dirty="0" err="1">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rimal</a:t>
            </a:r>
            <a:r>
              <a:rPr lang="en-US" sz="28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problem</a:t>
            </a:r>
            <a:r>
              <a:rPr lang="pl-PL"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a:t>
            </a:r>
            <a:r>
              <a:rPr lang="en-US"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Consumers maximize utility subject to a budget constraint</a:t>
            </a:r>
          </a:p>
          <a:p>
            <a:pPr lvl="1">
              <a:lnSpc>
                <a:spcPct val="107000"/>
              </a:lnSpc>
              <a:spcAft>
                <a:spcPts val="800"/>
              </a:spcAft>
            </a:pPr>
            <a:r>
              <a:rPr lang="en-US" sz="28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Dual problem</a:t>
            </a:r>
            <a:r>
              <a:rPr lang="en-US"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consumers minimize the expenditure needed to achieve a given level of utility</a:t>
            </a:r>
          </a:p>
          <a:p>
            <a:pPr lvl="1">
              <a:lnSpc>
                <a:spcPct val="107000"/>
              </a:lnSpc>
              <a:spcAft>
                <a:spcPts val="800"/>
              </a:spcAft>
            </a:pPr>
            <a:r>
              <a:rPr lang="en-US" sz="28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Primal problem</a:t>
            </a:r>
            <a:r>
              <a:rPr lang="en-US"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Firms minimize the cost of inputs to produce a given level of output</a:t>
            </a:r>
          </a:p>
          <a:p>
            <a:pPr lvl="1">
              <a:lnSpc>
                <a:spcPct val="107000"/>
              </a:lnSpc>
              <a:spcAft>
                <a:spcPts val="800"/>
              </a:spcAft>
            </a:pPr>
            <a:r>
              <a:rPr lang="en-US" sz="28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Dual problem</a:t>
            </a:r>
            <a:r>
              <a:rPr lang="en-US"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firms maximize output for a given cost of inputs purchased</a:t>
            </a:r>
            <a:endParaRPr lang="pl-PL" sz="28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r>
              <a:rPr lang="en-US"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Typically, for consumers, we use the primal problem (maximizing utility), while for firms, we use the dual problem (minimizing costs). </a:t>
            </a:r>
          </a:p>
          <a:p>
            <a:pPr lvl="1">
              <a:lnSpc>
                <a:spcPct val="107000"/>
              </a:lnSpc>
              <a:spcAft>
                <a:spcPts val="800"/>
              </a:spcAft>
            </a:pPr>
            <a:endParaRPr lang="pl-PL"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4713266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ytuł 1"/>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b="1" i="1" dirty="0" err="1">
                <a:solidFill>
                  <a:schemeClr val="accent5">
                    <a:lumMod val="50000"/>
                  </a:schemeClr>
                </a:solidFill>
              </a:rPr>
              <a:t>Utility</a:t>
            </a:r>
            <a:r>
              <a:rPr lang="pl-PL" b="1" i="1" dirty="0">
                <a:solidFill>
                  <a:schemeClr val="accent5">
                    <a:lumMod val="50000"/>
                  </a:schemeClr>
                </a:solidFill>
              </a:rPr>
              <a:t> </a:t>
            </a:r>
            <a:r>
              <a:rPr lang="pl-PL" b="1" i="1" dirty="0" err="1">
                <a:solidFill>
                  <a:schemeClr val="accent5">
                    <a:lumMod val="50000"/>
                  </a:schemeClr>
                </a:solidFill>
              </a:rPr>
              <a:t>maximization</a:t>
            </a:r>
            <a:r>
              <a:rPr lang="pl-PL" b="1" i="1" dirty="0">
                <a:solidFill>
                  <a:schemeClr val="accent5">
                    <a:lumMod val="50000"/>
                  </a:schemeClr>
                </a:solidFill>
              </a:rPr>
              <a:t> - </a:t>
            </a:r>
            <a:r>
              <a:rPr lang="pl-PL" b="1" i="1" dirty="0" err="1">
                <a:solidFill>
                  <a:schemeClr val="accent5">
                    <a:lumMod val="50000"/>
                  </a:schemeClr>
                </a:solidFill>
              </a:rPr>
              <a:t>preferences</a:t>
            </a:r>
            <a:r>
              <a:rPr lang="pl-PL" b="1" i="1" dirty="0">
                <a:solidFill>
                  <a:schemeClr val="accent5">
                    <a:lumMod val="50000"/>
                  </a:schemeClr>
                </a:solidFill>
              </a:rPr>
              <a:t> </a:t>
            </a:r>
            <a:endParaRPr lang="en-GB" b="1" i="1" dirty="0">
              <a:solidFill>
                <a:schemeClr val="accent5">
                  <a:lumMod val="50000"/>
                </a:schemeClr>
              </a:solidFill>
            </a:endParaRPr>
          </a:p>
        </p:txBody>
      </p:sp>
      <p:sp>
        <p:nvSpPr>
          <p:cNvPr id="4" name="AutoShape 2" descr="https://mikroekonomia.wne.uw.edu.pl/moodle/pluginfile.php/21105/course/section/1679/BBB%20settings%202.png"/>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Prostokąt 2"/>
          <p:cNvSpPr/>
          <p:nvPr/>
        </p:nvSpPr>
        <p:spPr>
          <a:xfrm>
            <a:off x="243968" y="1329140"/>
            <a:ext cx="11704062" cy="483209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rPr>
              <a:t>Rational choice theory makes some basic assumptions (axioms) about the preferences of homo </a:t>
            </a:r>
            <a:r>
              <a:rPr kumimoji="0" lang="en-GB" sz="2800" b="0" i="0" u="none" strike="noStrike" kern="1200" cap="none" spc="0" normalizeH="0" baseline="0" noProof="0" dirty="0" err="1">
                <a:ln>
                  <a:noFill/>
                </a:ln>
                <a:solidFill>
                  <a:srgbClr val="4BACC6">
                    <a:lumMod val="50000"/>
                  </a:srgbClr>
                </a:solidFill>
                <a:effectLst/>
                <a:uLnTx/>
                <a:uFillTx/>
                <a:latin typeface="Calibri"/>
                <a:ea typeface="+mn-ea"/>
                <a:cs typeface="+mn-cs"/>
              </a:rPr>
              <a:t>economicus</a:t>
            </a:r>
            <a:r>
              <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rPr>
              <a: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1" i="0" u="none" strike="noStrike" kern="1200" cap="none" spc="0" normalizeH="0" baseline="0" noProof="0" dirty="0">
                <a:ln>
                  <a:noFill/>
                </a:ln>
                <a:solidFill>
                  <a:srgbClr val="4BACC6">
                    <a:lumMod val="50000"/>
                  </a:srgbClr>
                </a:solidFill>
                <a:effectLst/>
                <a:uLnTx/>
                <a:uFillTx/>
                <a:latin typeface="Calibri"/>
                <a:ea typeface="+mn-ea"/>
                <a:cs typeface="+mn-cs"/>
              </a:rPr>
              <a:t>Completeness</a:t>
            </a:r>
            <a:r>
              <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rPr>
              <a:t> - all alternatives can be ranked. If A and B are any two alternatives, an individual can always specify exactly one of these possibilities:</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i) </a:t>
            </a:r>
            <a:r>
              <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rPr>
              <a:t>A is preferred to B</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ii) </a:t>
            </a:r>
            <a:r>
              <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rPr>
              <a:t>B is preferred to A</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iii) </a:t>
            </a:r>
            <a:r>
              <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rPr>
              <a:t>A and B </a:t>
            </a:r>
            <a:r>
              <a:rPr kumimoji="0" lang="pl-PL" sz="2800" b="0" i="0" u="none" strike="noStrike" kern="1200" cap="none" spc="0" normalizeH="0" baseline="0" noProof="0" dirty="0" err="1">
                <a:ln>
                  <a:noFill/>
                </a:ln>
                <a:solidFill>
                  <a:srgbClr val="4BACC6">
                    <a:lumMod val="50000"/>
                  </a:srgbClr>
                </a:solidFill>
                <a:effectLst/>
                <a:uLnTx/>
                <a:uFillTx/>
                <a:latin typeface="Calibri"/>
                <a:ea typeface="+mn-ea"/>
                <a:cs typeface="+mn-cs"/>
              </a:rPr>
              <a:t>are</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rPr>
              <a:t>indifferent</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2800" b="1" i="0" u="none" strike="noStrike" kern="1200" cap="none" spc="0" normalizeH="0" baseline="0" noProof="0" dirty="0">
                <a:ln>
                  <a:noFill/>
                </a:ln>
                <a:solidFill>
                  <a:srgbClr val="4BACC6">
                    <a:lumMod val="50000"/>
                  </a:srgbClr>
                </a:solidFill>
                <a:effectLst/>
                <a:uLnTx/>
                <a:uFillTx/>
                <a:latin typeface="Calibri"/>
                <a:ea typeface="+mn-ea"/>
                <a:cs typeface="+mn-cs"/>
              </a:rPr>
              <a:t>Transitivity</a:t>
            </a:r>
            <a:r>
              <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rPr>
              <a:t> - if alternative A is preferred to B, and alternative B is preferred to C, then A is preferred to C. </a:t>
            </a:r>
            <a:endParaRPr lang="pl-PL" sz="2800" dirty="0">
              <a:solidFill>
                <a:srgbClr val="4BACC6">
                  <a:lumMod val="50000"/>
                </a:srgbClr>
              </a:solidFill>
              <a:latin typeface="Calibri"/>
            </a:endParaRPr>
          </a:p>
          <a:p>
            <a:pPr marR="0" lvl="1" algn="l" defTabSz="914400" rtl="0" eaLnBrk="1" fontAlgn="auto" latinLnBrk="0" hangingPunct="1">
              <a:lnSpc>
                <a:spcPct val="100000"/>
              </a:lnSpc>
              <a:spcBef>
                <a:spcPts val="0"/>
              </a:spcBef>
              <a:spcAft>
                <a:spcPts val="0"/>
              </a:spcAft>
              <a:buClrTx/>
              <a:buSzTx/>
              <a:tabLst/>
              <a:defRPr/>
            </a:pPr>
            <a:endParaRPr lang="pl-PL" sz="2800" dirty="0">
              <a:solidFill>
                <a:srgbClr val="4BACC6">
                  <a:lumMod val="50000"/>
                </a:srgbClr>
              </a:solidFill>
              <a:latin typeface="Calibri"/>
            </a:endParaRPr>
          </a:p>
          <a:p>
            <a:pPr marL="0" marR="0" lvl="1" algn="l" defTabSz="914400" rtl="0" eaLnBrk="1" fontAlgn="auto" latinLnBrk="0" hangingPunct="1">
              <a:lnSpc>
                <a:spcPct val="100000"/>
              </a:lnSpc>
              <a:spcBef>
                <a:spcPts val="0"/>
              </a:spcBef>
              <a:spcAft>
                <a:spcPts val="0"/>
              </a:spcAft>
              <a:buClrTx/>
              <a:buSzTx/>
              <a:tabLst/>
              <a:defRPr/>
            </a:pPr>
            <a:r>
              <a:rPr kumimoji="0" lang="en-US" sz="2800" b="0" i="0" u="none" strike="noStrike" kern="1200" cap="none" spc="0" normalizeH="0" baseline="0" noProof="0" dirty="0">
                <a:ln>
                  <a:noFill/>
                </a:ln>
                <a:solidFill>
                  <a:srgbClr val="4BACC6">
                    <a:lumMod val="50000"/>
                  </a:srgbClr>
                </a:solidFill>
                <a:effectLst/>
                <a:uLnTx/>
                <a:uFillTx/>
                <a:latin typeface="Calibri"/>
                <a:ea typeface="+mn-ea"/>
                <a:cs typeface="+mn-cs"/>
              </a:rPr>
              <a:t>We can add more axioms, but they mainly have technical implications and do not constitute a core of rationality assumption. </a:t>
            </a:r>
            <a:endPar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pic>
        <p:nvPicPr>
          <p:cNvPr id="2" name="Obraz 1">
            <a:extLst>
              <a:ext uri="{FF2B5EF4-FFF2-40B4-BE49-F238E27FC236}">
                <a16:creationId xmlns:a16="http://schemas.microsoft.com/office/drawing/2014/main" id="{58D6EB34-860B-8C13-6DBA-43E4218421EA}"/>
              </a:ext>
            </a:extLst>
          </p:cNvPr>
          <p:cNvPicPr>
            <a:picLocks noChangeAspect="1"/>
          </p:cNvPicPr>
          <p:nvPr/>
        </p:nvPicPr>
        <p:blipFill>
          <a:blip r:embed="rId2"/>
          <a:stretch>
            <a:fillRect/>
          </a:stretch>
        </p:blipFill>
        <p:spPr>
          <a:xfrm>
            <a:off x="9022080" y="1799015"/>
            <a:ext cx="2499102" cy="43253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9168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6D728-E359-2079-DE4E-516721B0106C}"/>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92A8FCEB-C412-7972-C9AF-21662C3BD146}"/>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b="1" i="1" dirty="0" err="1">
                <a:solidFill>
                  <a:schemeClr val="accent5">
                    <a:lumMod val="50000"/>
                  </a:schemeClr>
                </a:solidFill>
              </a:rPr>
              <a:t>Utility</a:t>
            </a:r>
            <a:r>
              <a:rPr lang="pl-PL" b="1" i="1" dirty="0">
                <a:solidFill>
                  <a:schemeClr val="accent5">
                    <a:lumMod val="50000"/>
                  </a:schemeClr>
                </a:solidFill>
              </a:rPr>
              <a:t> </a:t>
            </a:r>
            <a:r>
              <a:rPr lang="pl-PL" b="1" i="1" dirty="0" err="1">
                <a:solidFill>
                  <a:schemeClr val="accent5">
                    <a:lumMod val="50000"/>
                  </a:schemeClr>
                </a:solidFill>
              </a:rPr>
              <a:t>maximization</a:t>
            </a:r>
            <a:r>
              <a:rPr lang="pl-PL" b="1" i="1" dirty="0">
                <a:solidFill>
                  <a:schemeClr val="accent5">
                    <a:lumMod val="50000"/>
                  </a:schemeClr>
                </a:solidFill>
              </a:rPr>
              <a:t> - </a:t>
            </a:r>
            <a:r>
              <a:rPr lang="pl-PL" b="1" i="1" dirty="0" err="1">
                <a:solidFill>
                  <a:schemeClr val="accent5">
                    <a:lumMod val="50000"/>
                  </a:schemeClr>
                </a:solidFill>
              </a:rPr>
              <a:t>preferences</a:t>
            </a:r>
            <a:r>
              <a:rPr lang="pl-PL" b="1" i="1" dirty="0">
                <a:solidFill>
                  <a:schemeClr val="accent5">
                    <a:lumMod val="50000"/>
                  </a:schemeClr>
                </a:solidFill>
              </a:rPr>
              <a:t> </a:t>
            </a:r>
            <a:endParaRPr lang="en-GB"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4B7251CB-62EF-7BC8-97C4-7886515F2872}"/>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Prostokąt 2">
            <a:extLst>
              <a:ext uri="{FF2B5EF4-FFF2-40B4-BE49-F238E27FC236}">
                <a16:creationId xmlns:a16="http://schemas.microsoft.com/office/drawing/2014/main" id="{1CBFC72E-9917-038F-2761-8284652B4E94}"/>
              </a:ext>
            </a:extLst>
          </p:cNvPr>
          <p:cNvSpPr/>
          <p:nvPr/>
        </p:nvSpPr>
        <p:spPr>
          <a:xfrm>
            <a:off x="345440" y="1173138"/>
            <a:ext cx="11775182" cy="5262979"/>
          </a:xfrm>
          <a:prstGeom prst="rect">
            <a:avLst/>
          </a:prstGeom>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srgbClr val="4BACC6">
                    <a:lumMod val="50000"/>
                  </a:srgbClr>
                </a:solidFill>
                <a:effectLst/>
                <a:uLnTx/>
                <a:uFillTx/>
                <a:latin typeface="Calibri"/>
                <a:ea typeface="+mn-ea"/>
                <a:cs typeface="+mn-cs"/>
              </a:rPr>
              <a:t>Non-Satiation </a:t>
            </a:r>
            <a:r>
              <a:rPr kumimoji="0" lang="en-US" sz="2800" b="0" i="0" u="none" strike="noStrike" kern="1200" cap="none" spc="0" normalizeH="0" baseline="0" noProof="0" dirty="0">
                <a:ln>
                  <a:noFill/>
                </a:ln>
                <a:solidFill>
                  <a:srgbClr val="4BACC6">
                    <a:lumMod val="50000"/>
                  </a:srgbClr>
                </a:solidFill>
                <a:effectLst/>
                <a:uLnTx/>
                <a:uFillTx/>
                <a:latin typeface="Calibri"/>
                <a:ea typeface="+mn-ea"/>
                <a:cs typeface="+mn-cs"/>
              </a:rPr>
              <a:t>(Monotonicity)</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-&gt; </a:t>
            </a:r>
            <a:r>
              <a:rPr kumimoji="0" lang="en-US" sz="2800" b="0" i="0" u="none" strike="noStrike" kern="1200" cap="none" spc="0" normalizeH="0" baseline="0" noProof="0" dirty="0">
                <a:ln>
                  <a:noFill/>
                </a:ln>
                <a:solidFill>
                  <a:srgbClr val="4BACC6">
                    <a:lumMod val="50000"/>
                  </a:srgbClr>
                </a:solidFill>
                <a:effectLst/>
                <a:uLnTx/>
                <a:uFillTx/>
                <a:latin typeface="Calibri"/>
                <a:ea typeface="+mn-ea"/>
                <a:cs typeface="+mn-cs"/>
              </a:rPr>
              <a:t> More of a good is always better (or at least not worse) than less, assuming the additional amount is desirable.</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srgbClr val="4BACC6">
                    <a:lumMod val="50000"/>
                  </a:srgbClr>
                </a:solidFill>
                <a:effectLst/>
                <a:uLnTx/>
                <a:uFillTx/>
                <a:latin typeface="Calibri"/>
                <a:ea typeface="+mn-ea"/>
                <a:cs typeface="+mn-cs"/>
              </a:rPr>
              <a:t>Continuit</a:t>
            </a:r>
            <a:r>
              <a:rPr kumimoji="0" lang="en-US" sz="2800" b="0" i="0" u="none" strike="noStrike" kern="1200" cap="none" spc="0" normalizeH="0" baseline="0" noProof="0" dirty="0">
                <a:ln>
                  <a:noFill/>
                </a:ln>
                <a:solidFill>
                  <a:srgbClr val="4BACC6">
                    <a:lumMod val="50000"/>
                  </a:srgbClr>
                </a:solidFill>
                <a:effectLst/>
                <a:uLnTx/>
                <a:uFillTx/>
                <a:latin typeface="Calibri"/>
                <a:ea typeface="+mn-ea"/>
                <a:cs typeface="+mn-cs"/>
              </a:rPr>
              <a:t>y</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sym typeface="Wingdings" panose="05000000000000000000" pitchFamily="2" charset="2"/>
              </a:rPr>
              <a:t>-&gt; </a:t>
            </a:r>
            <a:r>
              <a:rPr kumimoji="0" lang="en-US" sz="2800" b="0" i="0" u="none" strike="noStrike" kern="1200" cap="none" spc="0" normalizeH="0" baseline="0" noProof="0" dirty="0">
                <a:ln>
                  <a:noFill/>
                </a:ln>
                <a:solidFill>
                  <a:srgbClr val="4BACC6">
                    <a:lumMod val="50000"/>
                  </a:srgbClr>
                </a:solidFill>
                <a:effectLst/>
                <a:uLnTx/>
                <a:uFillTx/>
                <a:latin typeface="Calibri"/>
                <a:ea typeface="+mn-ea"/>
                <a:cs typeface="+mn-cs"/>
              </a:rPr>
              <a:t>Small changes in outcomes result in small changes in preferences. This means that if A is preferred over B and B over C, there exists some mix of A and C that is equally as preferred as B.</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a:t>
            </a:r>
            <a:endParaRPr kumimoji="0" lang="en-US" sz="2800" b="0" i="0" u="none" strike="noStrike" kern="1200" cap="none" spc="0" normalizeH="0" baseline="0" noProof="0" dirty="0">
              <a:ln>
                <a:noFill/>
              </a:ln>
              <a:solidFill>
                <a:srgbClr val="4BACC6">
                  <a:lumMod val="50000"/>
                </a:srgbClr>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srgbClr val="4BACC6">
                    <a:lumMod val="50000"/>
                  </a:srgbClr>
                </a:solidFill>
                <a:effectLst/>
                <a:uLnTx/>
                <a:uFillTx/>
                <a:latin typeface="Calibri"/>
                <a:ea typeface="+mn-ea"/>
                <a:cs typeface="+mn-cs"/>
              </a:rPr>
              <a:t>Independence of Irrelevant Alternatives</a:t>
            </a:r>
            <a:r>
              <a:rPr lang="pl-PL" sz="2800" dirty="0">
                <a:solidFill>
                  <a:srgbClr val="4BACC6">
                    <a:lumMod val="50000"/>
                  </a:srgbClr>
                </a:solidFill>
                <a:latin typeface="Calibri"/>
              </a:rPr>
              <a:t> -&gt;</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en-US" sz="2800" b="0" i="0" u="none" strike="noStrike" kern="1200" cap="none" spc="0" normalizeH="0" baseline="0" noProof="0" dirty="0">
                <a:ln>
                  <a:noFill/>
                </a:ln>
                <a:solidFill>
                  <a:srgbClr val="4BACC6">
                    <a:lumMod val="50000"/>
                  </a:srgbClr>
                </a:solidFill>
                <a:effectLst/>
                <a:uLnTx/>
                <a:uFillTx/>
                <a:latin typeface="Calibri"/>
                <a:ea typeface="+mn-ea"/>
                <a:cs typeface="+mn-cs"/>
              </a:rPr>
              <a:t>Preferences between options should remain consistent, even if additional options are introduced. If A is preferred over B in a choice set, then introducing a third option C should not change the preference for A over B.</a:t>
            </a:r>
            <a:endPar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srgbClr val="4BACC6">
                    <a:lumMod val="50000"/>
                  </a:srgbClr>
                </a:solidFill>
                <a:effectLst/>
                <a:uLnTx/>
                <a:uFillTx/>
                <a:latin typeface="Calibri"/>
                <a:ea typeface="+mn-ea"/>
                <a:cs typeface="+mn-cs"/>
              </a:rPr>
              <a:t>Consistency</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-&gt; </a:t>
            </a:r>
            <a:r>
              <a:rPr kumimoji="0" lang="en-US" sz="2800" b="0" i="0" u="none" strike="noStrike" kern="1200" cap="none" spc="0" normalizeH="0" baseline="0" noProof="0" dirty="0">
                <a:ln>
                  <a:noFill/>
                </a:ln>
                <a:solidFill>
                  <a:srgbClr val="4BACC6">
                    <a:lumMod val="50000"/>
                  </a:srgbClr>
                </a:solidFill>
                <a:effectLst/>
                <a:uLnTx/>
                <a:uFillTx/>
                <a:latin typeface="Calibri"/>
                <a:ea typeface="+mn-ea"/>
                <a:cs typeface="+mn-cs"/>
              </a:rPr>
              <a:t>Choices are consistent over time and context; if a decision-maker prefers A over B today, they should prefer A over B in similar situations in the future.</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a:t>
            </a:r>
            <a:endPar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13509110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C73C3-775C-57A9-DB59-6412B97E1D94}"/>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1CC5AC97-CB7B-9EF0-3C7B-F707457EC27B}"/>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b="1" i="1" dirty="0" err="1">
                <a:solidFill>
                  <a:schemeClr val="accent5">
                    <a:lumMod val="50000"/>
                  </a:schemeClr>
                </a:solidFill>
              </a:rPr>
              <a:t>Utility</a:t>
            </a:r>
            <a:r>
              <a:rPr lang="pl-PL" b="1" i="1" dirty="0">
                <a:solidFill>
                  <a:schemeClr val="accent5">
                    <a:lumMod val="50000"/>
                  </a:schemeClr>
                </a:solidFill>
              </a:rPr>
              <a:t> </a:t>
            </a:r>
            <a:r>
              <a:rPr lang="pl-PL" b="1" i="1" dirty="0" err="1">
                <a:solidFill>
                  <a:schemeClr val="accent5">
                    <a:lumMod val="50000"/>
                  </a:schemeClr>
                </a:solidFill>
              </a:rPr>
              <a:t>maximization</a:t>
            </a:r>
            <a:r>
              <a:rPr lang="pl-PL" b="1" i="1" dirty="0">
                <a:solidFill>
                  <a:schemeClr val="accent5">
                    <a:lumMod val="50000"/>
                  </a:schemeClr>
                </a:solidFill>
              </a:rPr>
              <a:t> - </a:t>
            </a:r>
            <a:r>
              <a:rPr lang="pl-PL" b="1" i="1" dirty="0" err="1">
                <a:solidFill>
                  <a:schemeClr val="accent5">
                    <a:lumMod val="50000"/>
                  </a:schemeClr>
                </a:solidFill>
              </a:rPr>
              <a:t>preferences</a:t>
            </a:r>
            <a:r>
              <a:rPr lang="pl-PL" b="1" i="1" dirty="0">
                <a:solidFill>
                  <a:schemeClr val="accent5">
                    <a:lumMod val="50000"/>
                  </a:schemeClr>
                </a:solidFill>
              </a:rPr>
              <a:t> </a:t>
            </a:r>
            <a:endParaRPr lang="en-GB"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9D8FAA37-6B69-5F3E-F68F-975732424299}"/>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Prostokąt 2">
            <a:extLst>
              <a:ext uri="{FF2B5EF4-FFF2-40B4-BE49-F238E27FC236}">
                <a16:creationId xmlns:a16="http://schemas.microsoft.com/office/drawing/2014/main" id="{80CB443B-05A4-1C2F-8260-E750D3E47E94}"/>
              </a:ext>
            </a:extLst>
          </p:cNvPr>
          <p:cNvSpPr/>
          <p:nvPr/>
        </p:nvSpPr>
        <p:spPr>
          <a:xfrm>
            <a:off x="339383" y="1242608"/>
            <a:ext cx="10952480" cy="5262979"/>
          </a:xfrm>
          <a:prstGeom prst="rect">
            <a:avLst/>
          </a:prstGeom>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srgbClr val="4BACC6">
                    <a:lumMod val="50000"/>
                  </a:srgbClr>
                </a:solidFill>
                <a:effectLst/>
                <a:uLnTx/>
                <a:uFillTx/>
                <a:latin typeface="Calibri"/>
                <a:ea typeface="+mn-ea"/>
                <a:cs typeface="+mn-cs"/>
              </a:rPr>
              <a:t>Convexity </a:t>
            </a:r>
            <a:r>
              <a:rPr kumimoji="0" lang="en-US" sz="2800" b="0" i="0" u="none" strike="noStrike" kern="1200" cap="none" spc="0" normalizeH="0" baseline="0" noProof="0" dirty="0">
                <a:ln>
                  <a:noFill/>
                </a:ln>
                <a:solidFill>
                  <a:srgbClr val="4BACC6">
                    <a:lumMod val="50000"/>
                  </a:srgbClr>
                </a:solidFill>
                <a:effectLst/>
                <a:uLnTx/>
                <a:uFillTx/>
                <a:latin typeface="Calibri"/>
                <a:ea typeface="+mn-ea"/>
                <a:cs typeface="+mn-cs"/>
              </a:rPr>
              <a:t>(for </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p</a:t>
            </a:r>
            <a:r>
              <a:rPr kumimoji="0" lang="en-US" sz="2800" b="0" i="0" u="none" strike="noStrike" kern="1200" cap="none" spc="0" normalizeH="0" baseline="0" noProof="0" dirty="0">
                <a:ln>
                  <a:noFill/>
                </a:ln>
                <a:solidFill>
                  <a:srgbClr val="4BACC6">
                    <a:lumMod val="50000"/>
                  </a:srgbClr>
                </a:solidFill>
                <a:effectLst/>
                <a:uLnTx/>
                <a:uFillTx/>
                <a:latin typeface="Calibri"/>
                <a:ea typeface="+mn-ea"/>
                <a:cs typeface="+mn-cs"/>
              </a:rPr>
              <a:t>references)</a:t>
            </a:r>
            <a:r>
              <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rPr>
              <a:t> -&gt;</a:t>
            </a:r>
            <a:r>
              <a:rPr kumimoji="0" lang="en-US" sz="2800" b="0" i="0" u="none" strike="noStrike" kern="1200" cap="none" spc="0" normalizeH="0" baseline="0" noProof="0" dirty="0">
                <a:ln>
                  <a:noFill/>
                </a:ln>
                <a:solidFill>
                  <a:srgbClr val="4BACC6">
                    <a:lumMod val="50000"/>
                  </a:srgbClr>
                </a:solidFill>
                <a:effectLst/>
                <a:uLnTx/>
                <a:uFillTx/>
                <a:latin typeface="Calibri"/>
                <a:ea typeface="+mn-ea"/>
                <a:cs typeface="+mn-cs"/>
              </a:rPr>
              <a:t> means that individuals prefer averages or mixes of extreme choices. For example, if an agent is indifferent between A and B, they would also be indifferent to a mix of A and B. </a:t>
            </a:r>
            <a:endPar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b="1" dirty="0">
                <a:solidFill>
                  <a:srgbClr val="4BACC6">
                    <a:lumMod val="50000"/>
                  </a:srgbClr>
                </a:solidFill>
                <a:latin typeface="Calibri"/>
              </a:rPr>
              <a:t>Independence from Social or Group Preferences </a:t>
            </a:r>
            <a:r>
              <a:rPr lang="en-US" sz="2800" dirty="0">
                <a:solidFill>
                  <a:srgbClr val="4BACC6">
                    <a:lumMod val="50000"/>
                  </a:srgbClr>
                </a:solidFill>
                <a:latin typeface="Calibri"/>
              </a:rPr>
              <a:t>– Individual preferences are unaffected by others’ choices.</a:t>
            </a:r>
            <a:r>
              <a:rPr lang="pl-PL" sz="2800" dirty="0">
                <a:solidFill>
                  <a:srgbClr val="4BACC6">
                    <a:lumMod val="50000"/>
                  </a:srgbClr>
                </a:solidFill>
                <a:latin typeface="Calibri"/>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pl-PL" sz="2800" dirty="0">
              <a:solidFill>
                <a:srgbClr val="4BACC6">
                  <a:lumMod val="50000"/>
                </a:srgbClr>
              </a:solidFill>
              <a:latin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pl-PL" sz="2800" dirty="0">
                <a:solidFill>
                  <a:srgbClr val="4BACC6">
                    <a:lumMod val="50000"/>
                  </a:srgbClr>
                </a:solidFill>
                <a:latin typeface="Calibri"/>
              </a:rPr>
              <a:t>…. </a:t>
            </a:r>
            <a:r>
              <a:rPr lang="pl-PL" sz="2800" dirty="0" err="1">
                <a:solidFill>
                  <a:srgbClr val="4BACC6">
                    <a:lumMod val="50000"/>
                  </a:srgbClr>
                </a:solidFill>
                <a:latin typeface="Calibri"/>
              </a:rPr>
              <a:t>More</a:t>
            </a:r>
            <a:r>
              <a:rPr lang="pl-PL" sz="2800" dirty="0">
                <a:solidFill>
                  <a:srgbClr val="4BACC6">
                    <a:lumMod val="50000"/>
                  </a:srgbClr>
                </a:solidFill>
                <a:latin typeface="Calibri"/>
              </a:rPr>
              <a:t> ……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l-PL" sz="2800" b="0" i="0" u="none" strike="noStrike" kern="1200" cap="none" spc="0" normalizeH="0" baseline="0" noProof="0" dirty="0">
              <a:ln>
                <a:noFill/>
              </a:ln>
              <a:solidFill>
                <a:srgbClr val="4BACC6">
                  <a:lumMod val="50000"/>
                </a:srgbClr>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4BACC6">
                    <a:lumMod val="50000"/>
                  </a:srgbClr>
                </a:solidFill>
                <a:effectLst/>
                <a:uLnTx/>
                <a:uFillTx/>
                <a:latin typeface="Calibri"/>
                <a:ea typeface="+mn-ea"/>
                <a:cs typeface="+mn-cs"/>
              </a:rPr>
              <a:t>Together these assumptions ensure that preferences are consistent --&gt; we can predict the </a:t>
            </a:r>
            <a:r>
              <a:rPr kumimoji="0" lang="en-US" sz="2800" b="0" i="0" u="none" strike="noStrike" kern="1200" cap="none" spc="0" normalizeH="0" baseline="0" noProof="0" dirty="0" err="1">
                <a:ln>
                  <a:noFill/>
                </a:ln>
                <a:solidFill>
                  <a:srgbClr val="4BACC6">
                    <a:lumMod val="50000"/>
                  </a:srgbClr>
                </a:solidFill>
                <a:effectLst/>
                <a:uLnTx/>
                <a:uFillTx/>
                <a:latin typeface="Calibri"/>
                <a:ea typeface="+mn-ea"/>
                <a:cs typeface="+mn-cs"/>
              </a:rPr>
              <a:t>behaviour</a:t>
            </a:r>
            <a:r>
              <a:rPr kumimoji="0" lang="en-US" sz="2800" b="0" i="0" u="none" strike="noStrike" kern="1200" cap="none" spc="0" normalizeH="0" baseline="0" noProof="0" dirty="0">
                <a:ln>
                  <a:noFill/>
                </a:ln>
                <a:solidFill>
                  <a:srgbClr val="4BACC6">
                    <a:lumMod val="50000"/>
                  </a:srgbClr>
                </a:solidFill>
                <a:effectLst/>
                <a:uLnTx/>
                <a:uFillTx/>
                <a:latin typeface="Calibri"/>
                <a:ea typeface="+mn-ea"/>
                <a:cs typeface="+mn-cs"/>
              </a:rPr>
              <a:t> of homo </a:t>
            </a:r>
            <a:r>
              <a:rPr kumimoji="0" lang="en-US" sz="2800" b="0" i="0" u="none" strike="noStrike" kern="1200" cap="none" spc="0" normalizeH="0" baseline="0" noProof="0" dirty="0" err="1">
                <a:ln>
                  <a:noFill/>
                </a:ln>
                <a:solidFill>
                  <a:srgbClr val="4BACC6">
                    <a:lumMod val="50000"/>
                  </a:srgbClr>
                </a:solidFill>
                <a:effectLst/>
                <a:uLnTx/>
                <a:uFillTx/>
                <a:latin typeface="Calibri"/>
                <a:ea typeface="+mn-ea"/>
                <a:cs typeface="+mn-cs"/>
              </a:rPr>
              <a:t>oeconomicus</a:t>
            </a:r>
            <a:r>
              <a:rPr kumimoji="0" lang="en-US" sz="2800" b="0" i="0" u="none" strike="noStrike" kern="1200" cap="none" spc="0" normalizeH="0" baseline="0" noProof="0" dirty="0">
                <a:ln>
                  <a:noFill/>
                </a:ln>
                <a:solidFill>
                  <a:srgbClr val="4BACC6">
                    <a:lumMod val="50000"/>
                  </a:srgbClr>
                </a:solidFill>
                <a:effectLst/>
                <a:uLnTx/>
                <a:uFillTx/>
                <a:latin typeface="Calibri"/>
                <a:ea typeface="+mn-ea"/>
                <a:cs typeface="+mn-cs"/>
              </a:rPr>
              <a:t> and need some of them to have the possibility of obtaining a "nice” mathematical representation of preferences as a utility function. </a:t>
            </a:r>
            <a:endParaRPr kumimoji="0" lang="en-GB" sz="2800" b="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34282329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ytuł 1"/>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b="1" i="1" dirty="0" err="1">
                <a:solidFill>
                  <a:schemeClr val="accent5">
                    <a:lumMod val="50000"/>
                  </a:schemeClr>
                </a:solidFill>
              </a:rPr>
              <a:t>Utility</a:t>
            </a:r>
            <a:r>
              <a:rPr lang="pl-PL" b="1" i="1" dirty="0">
                <a:solidFill>
                  <a:schemeClr val="accent5">
                    <a:lumMod val="50000"/>
                  </a:schemeClr>
                </a:solidFill>
              </a:rPr>
              <a:t> </a:t>
            </a:r>
            <a:r>
              <a:rPr lang="pl-PL" b="1" i="1" dirty="0" err="1">
                <a:solidFill>
                  <a:schemeClr val="accent5">
                    <a:lumMod val="50000"/>
                  </a:schemeClr>
                </a:solidFill>
              </a:rPr>
              <a:t>maximization</a:t>
            </a:r>
            <a:r>
              <a:rPr lang="pl-PL" b="1" i="1" dirty="0">
                <a:solidFill>
                  <a:schemeClr val="accent5">
                    <a:lumMod val="50000"/>
                  </a:schemeClr>
                </a:solidFill>
              </a:rPr>
              <a:t> – </a:t>
            </a:r>
            <a:r>
              <a:rPr lang="pl-PL" b="1" i="1" dirty="0" err="1">
                <a:solidFill>
                  <a:schemeClr val="accent5">
                    <a:lumMod val="50000"/>
                  </a:schemeClr>
                </a:solidFill>
              </a:rPr>
              <a:t>utility</a:t>
            </a:r>
            <a:r>
              <a:rPr lang="pl-PL" b="1" i="1" dirty="0">
                <a:solidFill>
                  <a:schemeClr val="accent5">
                    <a:lumMod val="50000"/>
                  </a:schemeClr>
                </a:solidFill>
              </a:rPr>
              <a:t> </a:t>
            </a:r>
            <a:r>
              <a:rPr lang="pl-PL" b="1" i="1" dirty="0" err="1">
                <a:solidFill>
                  <a:schemeClr val="accent5">
                    <a:lumMod val="50000"/>
                  </a:schemeClr>
                </a:solidFill>
              </a:rPr>
              <a:t>function</a:t>
            </a:r>
            <a:r>
              <a:rPr lang="pl-PL" b="1" i="1" dirty="0">
                <a:solidFill>
                  <a:schemeClr val="accent5">
                    <a:lumMod val="50000"/>
                  </a:schemeClr>
                </a:solidFill>
              </a:rPr>
              <a:t> </a:t>
            </a:r>
            <a:endParaRPr lang="en-GB" b="1" dirty="0">
              <a:solidFill>
                <a:schemeClr val="accent5">
                  <a:lumMod val="50000"/>
                </a:schemeClr>
              </a:solidFill>
            </a:endParaRPr>
          </a:p>
        </p:txBody>
      </p:sp>
      <p:sp>
        <p:nvSpPr>
          <p:cNvPr id="4" name="AutoShape 2" descr="https://mikroekonomia.wne.uw.edu.pl/moodle/pluginfile.php/21105/course/section/1679/BBB%20settings%202.png"/>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Prostokąt 19"/>
          <p:cNvSpPr/>
          <p:nvPr/>
        </p:nvSpPr>
        <p:spPr>
          <a:xfrm>
            <a:off x="159794" y="1173138"/>
            <a:ext cx="11872410" cy="5509200"/>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We </a:t>
            </a:r>
            <a:r>
              <a:rPr kumimoji="0" lang="pl-PL" sz="3200" b="0" i="0" u="none" strike="noStrike" kern="1200" cap="none" spc="0" normalizeH="0" baseline="0" noProof="0" dirty="0" err="1">
                <a:ln>
                  <a:noFill/>
                </a:ln>
                <a:solidFill>
                  <a:srgbClr val="4BACC6">
                    <a:lumMod val="50000"/>
                  </a:srgbClr>
                </a:solidFill>
                <a:effectLst/>
                <a:uLnTx/>
                <a:uFillTx/>
                <a:latin typeface="Calibri"/>
                <a:ea typeface="+mn-ea"/>
                <a:cs typeface="+mn-cs"/>
              </a:rPr>
              <a:t>assume</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3200" b="0" i="0" u="none" strike="noStrike" kern="1200" cap="none" spc="0" normalizeH="0" baseline="0" noProof="0" dirty="0" err="1">
                <a:ln>
                  <a:noFill/>
                </a:ln>
                <a:solidFill>
                  <a:srgbClr val="4BACC6">
                    <a:lumMod val="50000"/>
                  </a:srgbClr>
                </a:solidFill>
                <a:effectLst/>
                <a:uLnTx/>
                <a:uFillTx/>
                <a:latin typeface="Calibri"/>
                <a:ea typeface="+mn-ea"/>
                <a:cs typeface="+mn-cs"/>
              </a:rPr>
              <a:t>that</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 p</a:t>
            </a:r>
            <a:r>
              <a:rPr kumimoji="0" lang="en-GB" sz="3200" b="0" i="0" u="none" strike="noStrike" kern="1200" cap="none" spc="0" normalizeH="0" baseline="0" noProof="0" dirty="0" err="1">
                <a:ln>
                  <a:noFill/>
                </a:ln>
                <a:solidFill>
                  <a:srgbClr val="4BACC6">
                    <a:lumMod val="50000"/>
                  </a:srgbClr>
                </a:solidFill>
                <a:effectLst/>
                <a:uLnTx/>
                <a:uFillTx/>
                <a:latin typeface="Calibri"/>
                <a:ea typeface="+mn-ea"/>
                <a:cs typeface="+mn-cs"/>
              </a:rPr>
              <a:t>eople</a:t>
            </a:r>
            <a:r>
              <a:rPr kumimoji="0" lang="en-GB" sz="3200" b="0" i="0" u="none" strike="noStrike" kern="1200" cap="none" spc="0" normalizeH="0" baseline="0" noProof="0" dirty="0">
                <a:ln>
                  <a:noFill/>
                </a:ln>
                <a:solidFill>
                  <a:srgbClr val="4BACC6">
                    <a:lumMod val="50000"/>
                  </a:srgbClr>
                </a:solidFill>
                <a:effectLst/>
                <a:uLnTx/>
                <a:uFillTx/>
                <a:latin typeface="Calibri"/>
                <a:ea typeface="+mn-ea"/>
                <a:cs typeface="+mn-cs"/>
              </a:rPr>
              <a:t> are able to rank in order all possible situations from least desirable to most</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 We </a:t>
            </a:r>
            <a:r>
              <a:rPr kumimoji="0" lang="pl-PL" sz="3200" b="0" i="0" u="none" strike="noStrike" kern="1200" cap="none" spc="0" normalizeH="0" baseline="0" noProof="0" dirty="0" err="1">
                <a:ln>
                  <a:noFill/>
                </a:ln>
                <a:solidFill>
                  <a:srgbClr val="4BACC6">
                    <a:lumMod val="50000"/>
                  </a:srgbClr>
                </a:solidFill>
                <a:effectLst/>
                <a:uLnTx/>
                <a:uFillTx/>
                <a:latin typeface="Calibri"/>
                <a:ea typeface="+mn-ea"/>
                <a:cs typeface="+mn-cs"/>
              </a:rPr>
              <a:t>can</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3200" b="0" i="0" u="none" strike="noStrike" kern="1200" cap="none" spc="0" normalizeH="0" baseline="0" noProof="0" dirty="0" err="1">
                <a:ln>
                  <a:noFill/>
                </a:ln>
                <a:solidFill>
                  <a:srgbClr val="4BACC6">
                    <a:lumMod val="50000"/>
                  </a:srgbClr>
                </a:solidFill>
                <a:effectLst/>
                <a:uLnTx/>
                <a:uFillTx/>
                <a:latin typeface="Calibri"/>
                <a:ea typeface="+mn-ea"/>
                <a:cs typeface="+mn-cs"/>
              </a:rPr>
              <a:t>find</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 a </a:t>
            </a:r>
            <a:r>
              <a:rPr kumimoji="0" lang="pl-PL" sz="3200" b="0" i="0" u="none" strike="noStrike" kern="1200" cap="none" spc="0" normalizeH="0" baseline="0" noProof="0" dirty="0" err="1">
                <a:ln>
                  <a:noFill/>
                </a:ln>
                <a:solidFill>
                  <a:srgbClr val="4BACC6">
                    <a:lumMod val="50000"/>
                  </a:srgbClr>
                </a:solidFill>
                <a:effectLst/>
                <a:uLnTx/>
                <a:uFillTx/>
                <a:latin typeface="Calibri"/>
                <a:ea typeface="+mn-ea"/>
                <a:cs typeface="+mn-cs"/>
              </a:rPr>
              <a:t>fu</a:t>
            </a:r>
            <a:r>
              <a:rPr kumimoji="0" lang="en-CA" sz="3200" b="0" i="0" u="none" strike="noStrike" kern="1200" cap="none" spc="0" normalizeH="0" baseline="0" noProof="0" dirty="0">
                <a:ln>
                  <a:noFill/>
                </a:ln>
                <a:solidFill>
                  <a:srgbClr val="4BACC6">
                    <a:lumMod val="50000"/>
                  </a:srgbClr>
                </a:solidFill>
                <a:effectLst/>
                <a:uLnTx/>
                <a:uFillTx/>
                <a:latin typeface="Calibri"/>
                <a:ea typeface="+mn-ea"/>
                <a:cs typeface="+mn-cs"/>
              </a:rPr>
              <a:t>n</a:t>
            </a:r>
            <a:r>
              <a:rPr kumimoji="0" lang="pl-PL" sz="3200" b="0" i="0" u="none" strike="noStrike" kern="1200" cap="none" spc="0" normalizeH="0" baseline="0" noProof="0" dirty="0" err="1">
                <a:ln>
                  <a:noFill/>
                </a:ln>
                <a:solidFill>
                  <a:srgbClr val="4BACC6">
                    <a:lumMod val="50000"/>
                  </a:srgbClr>
                </a:solidFill>
                <a:effectLst/>
                <a:uLnTx/>
                <a:uFillTx/>
                <a:latin typeface="Calibri"/>
                <a:ea typeface="+mn-ea"/>
                <a:cs typeface="+mn-cs"/>
              </a:rPr>
              <a:t>ction</a:t>
            </a:r>
            <a:r>
              <a:rPr kumimoji="0" lang="en-CA" sz="3200" b="0" i="0" u="none" strike="noStrike" kern="1200" cap="none" spc="0" normalizeH="0" baseline="0" noProof="0" dirty="0">
                <a:ln>
                  <a:noFill/>
                </a:ln>
                <a:solidFill>
                  <a:srgbClr val="4BACC6">
                    <a:lumMod val="50000"/>
                  </a:srgbClr>
                </a:solidFill>
                <a:effectLst/>
                <a:uLnTx/>
                <a:uFillTx/>
                <a:latin typeface="Calibri"/>
                <a:ea typeface="+mn-ea"/>
                <a:cs typeface="+mn-cs"/>
              </a:rPr>
              <a:t>,</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3200" b="0" i="0" u="none" strike="noStrike" kern="1200" cap="none" spc="0" normalizeH="0" baseline="0" noProof="0" dirty="0" err="1">
                <a:ln>
                  <a:noFill/>
                </a:ln>
                <a:solidFill>
                  <a:srgbClr val="4BACC6">
                    <a:lumMod val="50000"/>
                  </a:srgbClr>
                </a:solidFill>
                <a:effectLst/>
                <a:uLnTx/>
                <a:uFillTx/>
                <a:latin typeface="Calibri"/>
                <a:ea typeface="+mn-ea"/>
                <a:cs typeface="+mn-cs"/>
              </a:rPr>
              <a:t>which</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3200" b="0" i="0" u="none" strike="noStrike" kern="1200" cap="none" spc="0" normalizeH="0" baseline="0" noProof="0" dirty="0" err="1">
                <a:ln>
                  <a:noFill/>
                </a:ln>
                <a:solidFill>
                  <a:srgbClr val="4BACC6">
                    <a:lumMod val="50000"/>
                  </a:srgbClr>
                </a:solidFill>
                <a:effectLst/>
                <a:uLnTx/>
                <a:uFillTx/>
                <a:latin typeface="Calibri"/>
                <a:ea typeface="+mn-ea"/>
                <a:cs typeface="+mn-cs"/>
              </a:rPr>
              <a:t>maps</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 the ranking -&gt; </a:t>
            </a:r>
            <a:r>
              <a:rPr kumimoji="0" lang="en-GB" sz="3200" b="1" i="0" u="none" strike="noStrike" kern="1200" cap="none" spc="0" normalizeH="0" baseline="0" noProof="0" dirty="0">
                <a:ln>
                  <a:noFill/>
                </a:ln>
                <a:solidFill>
                  <a:srgbClr val="4BACC6">
                    <a:lumMod val="50000"/>
                  </a:srgbClr>
                </a:solidFill>
                <a:effectLst/>
                <a:uLnTx/>
                <a:uFillTx/>
                <a:latin typeface="Calibri"/>
                <a:ea typeface="+mn-ea"/>
                <a:cs typeface="+mn-cs"/>
              </a:rPr>
              <a:t>utility</a:t>
            </a:r>
            <a:r>
              <a:rPr kumimoji="0" lang="pl-PL" sz="3200" b="1"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3200" b="1" i="0" u="none" strike="noStrike" kern="1200" cap="none" spc="0" normalizeH="0" baseline="0" noProof="0" dirty="0" err="1">
                <a:ln>
                  <a:noFill/>
                </a:ln>
                <a:solidFill>
                  <a:srgbClr val="4BACC6">
                    <a:lumMod val="50000"/>
                  </a:srgbClr>
                </a:solidFill>
                <a:effectLst/>
                <a:uLnTx/>
                <a:uFillTx/>
                <a:latin typeface="Calibri"/>
                <a:ea typeface="+mn-ea"/>
                <a:cs typeface="+mn-cs"/>
              </a:rPr>
              <a:t>funct</a:t>
            </a:r>
            <a:r>
              <a:rPr kumimoji="0" lang="en-CA" sz="3200" b="1" i="0" u="none" strike="noStrike" kern="1200" cap="none" spc="0" normalizeH="0" baseline="0" noProof="0" dirty="0" err="1">
                <a:ln>
                  <a:noFill/>
                </a:ln>
                <a:solidFill>
                  <a:srgbClr val="4BACC6">
                    <a:lumMod val="50000"/>
                  </a:srgbClr>
                </a:solidFill>
                <a:effectLst/>
                <a:uLnTx/>
                <a:uFillTx/>
                <a:latin typeface="Calibri"/>
                <a:ea typeface="+mn-ea"/>
                <a:cs typeface="+mn-cs"/>
              </a:rPr>
              <a:t>i</a:t>
            </a:r>
            <a:r>
              <a:rPr kumimoji="0" lang="pl-PL" sz="3200" b="1" i="0" u="none" strike="noStrike" kern="1200" cap="none" spc="0" normalizeH="0" baseline="0" noProof="0" dirty="0">
                <a:ln>
                  <a:noFill/>
                </a:ln>
                <a:solidFill>
                  <a:srgbClr val="4BACC6">
                    <a:lumMod val="50000"/>
                  </a:srgbClr>
                </a:solidFill>
                <a:effectLst/>
                <a:uLnTx/>
                <a:uFillTx/>
                <a:latin typeface="Calibri"/>
                <a:ea typeface="+mn-ea"/>
                <a:cs typeface="+mn-cs"/>
              </a:rPr>
              <a:t>on</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en-GB" sz="3200" b="0" i="0" u="none" strike="noStrike" kern="1200" cap="none" spc="0" normalizeH="0" baseline="0" noProof="0" dirty="0">
                <a:ln>
                  <a:noFill/>
                </a:ln>
                <a:solidFill>
                  <a:srgbClr val="4BACC6">
                    <a:lumMod val="50000"/>
                  </a:srgbClr>
                </a:solidFill>
                <a:effectLst/>
                <a:uLnTx/>
                <a:uFillTx/>
                <a:latin typeface="Calibri"/>
                <a:ea typeface="+mn-ea"/>
                <a:cs typeface="+mn-cs"/>
              </a:rPr>
              <a:t>If A is preferred to B, then the utility assigned to A exceeds the utility assigned to B</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dirty="0">
                <a:ln>
                  <a:noFill/>
                </a:ln>
                <a:solidFill>
                  <a:srgbClr val="4BACC6">
                    <a:lumMod val="50000"/>
                  </a:srgbClr>
                </a:solidFill>
                <a:effectLst/>
                <a:uLnTx/>
                <a:uFillTx/>
                <a:latin typeface="Calibri"/>
                <a:ea typeface="+mn-ea"/>
                <a:cs typeface="+mn-cs"/>
              </a:rPr>
              <a:t>U(A) &gt; U(B)</a:t>
            </a:r>
            <a:endPar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4BACC6">
                    <a:lumMod val="50000"/>
                  </a:srgbClr>
                </a:solidFill>
                <a:effectLst/>
                <a:uLnTx/>
                <a:uFillTx/>
                <a:latin typeface="Calibri"/>
                <a:ea typeface="+mn-ea"/>
                <a:cs typeface="+mn-cs"/>
              </a:rPr>
              <a:t>Well-behaving preferences give us well-behaving utility function, which is continuous and monotonically increasing</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en-US" sz="3200" b="0" i="0" u="none" strike="noStrike" kern="1200" cap="none" spc="0" normalizeH="0" baseline="0" noProof="0" dirty="0">
                <a:ln>
                  <a:noFill/>
                </a:ln>
                <a:solidFill>
                  <a:srgbClr val="4BACC6">
                    <a:lumMod val="50000"/>
                  </a:srgbClr>
                </a:solidFill>
                <a:effectLst/>
                <a:uLnTx/>
                <a:uFillTx/>
                <a:latin typeface="Calibri"/>
                <a:ea typeface="+mn-ea"/>
                <a:cs typeface="+mn-cs"/>
              </a:rPr>
              <a:t>the second derivative of the function is negative =&gt; </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t</a:t>
            </a:r>
            <a:r>
              <a:rPr kumimoji="0" lang="en-US" sz="3200" b="0" i="0" u="none" strike="noStrike" kern="1200" cap="none" spc="0" normalizeH="0" baseline="0" noProof="0" dirty="0">
                <a:ln>
                  <a:noFill/>
                </a:ln>
                <a:solidFill>
                  <a:srgbClr val="4BACC6">
                    <a:lumMod val="50000"/>
                  </a:srgbClr>
                </a:solidFill>
                <a:effectLst/>
                <a:uLnTx/>
                <a:uFillTx/>
                <a:latin typeface="Calibri"/>
                <a:ea typeface="+mn-ea"/>
                <a:cs typeface="+mn-cs"/>
              </a:rPr>
              <a:t>he</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 l</a:t>
            </a:r>
            <a:r>
              <a:rPr kumimoji="0" lang="en-US" sz="3200" b="0" i="0" u="none" strike="noStrike" kern="1200" cap="none" spc="0" normalizeH="0" baseline="0" noProof="0" dirty="0">
                <a:ln>
                  <a:noFill/>
                </a:ln>
                <a:solidFill>
                  <a:srgbClr val="4BACC6">
                    <a:lumMod val="50000"/>
                  </a:srgbClr>
                </a:solidFill>
                <a:effectLst/>
                <a:uLnTx/>
                <a:uFillTx/>
                <a:latin typeface="Calibri"/>
                <a:ea typeface="+mn-ea"/>
                <a:cs typeface="+mn-cs"/>
              </a:rPr>
              <a:t>aw of </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d</a:t>
            </a:r>
            <a:r>
              <a:rPr kumimoji="0" lang="en-US" sz="3200" b="0" i="0" u="none" strike="noStrike" kern="1200" cap="none" spc="0" normalizeH="0" baseline="0" noProof="0" dirty="0" err="1">
                <a:ln>
                  <a:noFill/>
                </a:ln>
                <a:solidFill>
                  <a:srgbClr val="4BACC6">
                    <a:lumMod val="50000"/>
                  </a:srgbClr>
                </a:solidFill>
                <a:effectLst/>
                <a:uLnTx/>
                <a:uFillTx/>
                <a:latin typeface="Calibri"/>
                <a:ea typeface="+mn-ea"/>
                <a:cs typeface="+mn-cs"/>
              </a:rPr>
              <a:t>iminishing</a:t>
            </a:r>
            <a:r>
              <a:rPr kumimoji="0" lang="en-US" sz="32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m</a:t>
            </a:r>
            <a:r>
              <a:rPr kumimoji="0" lang="en-US" sz="3200" b="0" i="0" u="none" strike="noStrike" kern="1200" cap="none" spc="0" normalizeH="0" baseline="0" noProof="0" dirty="0" err="1">
                <a:ln>
                  <a:noFill/>
                </a:ln>
                <a:solidFill>
                  <a:srgbClr val="4BACC6">
                    <a:lumMod val="50000"/>
                  </a:srgbClr>
                </a:solidFill>
                <a:effectLst/>
                <a:uLnTx/>
                <a:uFillTx/>
                <a:latin typeface="Calibri"/>
                <a:ea typeface="+mn-ea"/>
                <a:cs typeface="+mn-cs"/>
              </a:rPr>
              <a:t>arginal</a:t>
            </a:r>
            <a:r>
              <a:rPr kumimoji="0" lang="en-US" sz="32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u</a:t>
            </a:r>
            <a:r>
              <a:rPr kumimoji="0" lang="en-US" sz="3200" b="0" i="0" u="none" strike="noStrike" kern="1200" cap="none" spc="0" normalizeH="0" baseline="0" noProof="0" dirty="0" err="1">
                <a:ln>
                  <a:noFill/>
                </a:ln>
                <a:solidFill>
                  <a:srgbClr val="4BACC6">
                    <a:lumMod val="50000"/>
                  </a:srgbClr>
                </a:solidFill>
                <a:effectLst/>
                <a:uLnTx/>
                <a:uFillTx/>
                <a:latin typeface="Calibri"/>
                <a:ea typeface="+mn-ea"/>
                <a:cs typeface="+mn-cs"/>
              </a:rPr>
              <a:t>tility</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3200" b="0" i="0" u="none" strike="noStrike" kern="1200" cap="none" spc="0" normalizeH="0" baseline="0" noProof="0" dirty="0" err="1">
                <a:ln>
                  <a:noFill/>
                </a:ln>
                <a:solidFill>
                  <a:srgbClr val="4BACC6">
                    <a:lumMod val="50000"/>
                  </a:srgbClr>
                </a:solidFill>
                <a:effectLst/>
                <a:uLnTx/>
                <a:uFillTx/>
                <a:latin typeface="Calibri"/>
                <a:ea typeface="+mn-ea"/>
                <a:cs typeface="+mn-cs"/>
              </a:rPr>
              <a:t>mixture</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 of </a:t>
            </a:r>
            <a:r>
              <a:rPr kumimoji="0" lang="pl-PL" sz="3200" b="0" i="0" u="none" strike="noStrike" kern="1200" cap="none" spc="0" normalizeH="0" baseline="0" noProof="0" dirty="0" err="1">
                <a:ln>
                  <a:noFill/>
                </a:ln>
                <a:solidFill>
                  <a:srgbClr val="4BACC6">
                    <a:lumMod val="50000"/>
                  </a:srgbClr>
                </a:solidFill>
                <a:effectLst/>
                <a:uLnTx/>
                <a:uFillTx/>
                <a:latin typeface="Calibri"/>
                <a:ea typeface="+mn-ea"/>
                <a:cs typeface="+mn-cs"/>
              </a:rPr>
              <a:t>technical</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 and </a:t>
            </a:r>
            <a:r>
              <a:rPr kumimoji="0" lang="pl-PL" sz="3200" b="0" i="0" u="none" strike="noStrike" kern="1200" cap="none" spc="0" normalizeH="0" baseline="0" noProof="0" dirty="0" err="1">
                <a:ln>
                  <a:noFill/>
                </a:ln>
                <a:solidFill>
                  <a:srgbClr val="4BACC6">
                    <a:lumMod val="50000"/>
                  </a:srgbClr>
                </a:solidFill>
                <a:effectLst/>
                <a:uLnTx/>
                <a:uFillTx/>
                <a:latin typeface="Calibri"/>
                <a:ea typeface="+mn-ea"/>
                <a:cs typeface="+mn-cs"/>
              </a:rPr>
              <a:t>bahavioral</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3200" b="0" i="0" u="none" strike="noStrike" kern="1200" cap="none" spc="0" normalizeH="0" baseline="0" noProof="0" dirty="0" err="1">
                <a:ln>
                  <a:noFill/>
                </a:ln>
                <a:solidFill>
                  <a:srgbClr val="4BACC6">
                    <a:lumMod val="50000"/>
                  </a:srgbClr>
                </a:solidFill>
                <a:effectLst/>
                <a:uLnTx/>
                <a:uFillTx/>
                <a:latin typeface="Calibri"/>
                <a:ea typeface="+mn-ea"/>
                <a:cs typeface="+mn-cs"/>
              </a:rPr>
              <a:t>assumption</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 </a:t>
            </a:r>
            <a:endParaRPr kumimoji="0" lang="en-GB" sz="3200" b="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2952274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76237-62D2-39C9-9591-43C8165280ED}"/>
            </a:ext>
          </a:extLst>
        </p:cNvPr>
        <p:cNvGrpSpPr/>
        <p:nvPr/>
      </p:nvGrpSpPr>
      <p:grpSpPr>
        <a:xfrm>
          <a:off x="0" y="0"/>
          <a:ext cx="0" cy="0"/>
          <a:chOff x="0" y="0"/>
          <a:chExt cx="0" cy="0"/>
        </a:xfrm>
      </p:grpSpPr>
      <p:sp>
        <p:nvSpPr>
          <p:cNvPr id="80" name="CustomShape 1">
            <a:extLst>
              <a:ext uri="{FF2B5EF4-FFF2-40B4-BE49-F238E27FC236}">
                <a16:creationId xmlns:a16="http://schemas.microsoft.com/office/drawing/2014/main" id="{9E589C1F-23B5-3FE8-9A96-01EDD0CC8595}"/>
              </a:ext>
            </a:extLst>
          </p:cNvPr>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1" normalizeH="0" baseline="0" noProof="0" dirty="0" err="1">
                <a:ln>
                  <a:noFill/>
                </a:ln>
                <a:solidFill>
                  <a:srgbClr val="215968"/>
                </a:solidFill>
                <a:effectLst/>
                <a:uLnTx/>
                <a:uFill>
                  <a:solidFill>
                    <a:srgbClr val="FFFFFF"/>
                  </a:solidFill>
                </a:uFill>
                <a:latin typeface="Calibri"/>
                <a:ea typeface="DejaVu Sans"/>
                <a:cs typeface="DejaVu Sans"/>
              </a:rPr>
              <a:t>Lagrangian</a:t>
            </a:r>
            <a:r>
              <a:rPr kumimoji="0" lang="en-US" sz="4000" b="1" i="0" u="none" strike="noStrike" kern="1200" cap="none" spc="-1" normalizeH="0" baseline="0" noProof="0" dirty="0">
                <a:ln>
                  <a:noFill/>
                </a:ln>
                <a:solidFill>
                  <a:srgbClr val="215968"/>
                </a:solidFill>
                <a:effectLst/>
                <a:uLnTx/>
                <a:uFill>
                  <a:solidFill>
                    <a:srgbClr val="FFFFFF"/>
                  </a:solidFill>
                </a:uFill>
                <a:latin typeface="Calibri"/>
                <a:ea typeface="DejaVu Sans"/>
                <a:cs typeface="DejaVu Sans"/>
              </a:rPr>
              <a:t> Multiplier Method</a:t>
            </a:r>
            <a:endParaRPr kumimoji="0" sz="2400" b="1" i="0" u="none" strike="noStrike" kern="1200" cap="none" spc="0" normalizeH="0" baseline="0" noProof="0" dirty="0">
              <a:ln>
                <a:noFill/>
              </a:ln>
              <a:solidFill>
                <a:prstClr val="black"/>
              </a:solidFill>
              <a:effectLst/>
              <a:uLnTx/>
              <a:uFillTx/>
              <a:latin typeface="Arial"/>
              <a:ea typeface="DejaVu Sans"/>
              <a:cs typeface="DejaVu Sans"/>
            </a:endParaRPr>
          </a:p>
        </p:txBody>
      </p:sp>
      <p:sp>
        <p:nvSpPr>
          <p:cNvPr id="81" name="CustomShape 2">
            <a:extLst>
              <a:ext uri="{FF2B5EF4-FFF2-40B4-BE49-F238E27FC236}">
                <a16:creationId xmlns:a16="http://schemas.microsoft.com/office/drawing/2014/main" id="{A9D74925-F8A2-B42E-9EE7-C14C1C6C99B4}"/>
              </a:ext>
            </a:extLst>
          </p:cNvPr>
          <p:cNvSpPr/>
          <p:nvPr/>
        </p:nvSpPr>
        <p:spPr>
          <a:xfrm>
            <a:off x="406400" y="1224520"/>
            <a:ext cx="10779760" cy="5298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7000"/>
              </a:lnSpc>
              <a:spcAft>
                <a:spcPts val="800"/>
              </a:spcAft>
            </a:pPr>
            <a:r>
              <a:rPr lang="en-US" sz="2800" kern="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The properties of the utility function are similar to those discussed for the production function (we will use the same Cobb-Douglas function), but its interpretation is different.</a:t>
            </a:r>
          </a:p>
          <a:p>
            <a:pPr algn="just">
              <a:lnSpc>
                <a:spcPct val="107000"/>
              </a:lnSpc>
              <a:spcAft>
                <a:spcPts val="800"/>
              </a:spcAft>
            </a:pPr>
            <a:endParaRPr lang="en-US" sz="2800" kern="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pPr algn="just">
              <a:lnSpc>
                <a:spcPct val="107000"/>
              </a:lnSpc>
              <a:spcAft>
                <a:spcPts val="800"/>
              </a:spcAft>
            </a:pPr>
            <a:r>
              <a:rPr lang="en-US" sz="2800" kern="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The utility function represents </a:t>
            </a:r>
            <a:r>
              <a:rPr lang="en-US" sz="2800" b="1" kern="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ordinal preferences </a:t>
            </a:r>
            <a:r>
              <a:rPr lang="en-US" sz="2800" kern="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(e.g., A is better than B, but we do not measure by how much), so there is no need to analyze scale effects or homogeneity. The utility function can also be transformed monotonically, and such transformations do not change the ordinal ranking of preferences.</a:t>
            </a:r>
            <a:r>
              <a:rPr lang="pl-PL" sz="2800" kern="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2800" kern="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A common trick to make life easier is to take the logarithm of a utility function, this makes the function easier to manipulate and can help find extrema.</a:t>
            </a:r>
            <a:endParaRPr lang="pl-PL"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388816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DBD9D-4536-16BD-6E0A-18E2FB25C483}"/>
            </a:ext>
          </a:extLst>
        </p:cNvPr>
        <p:cNvGrpSpPr/>
        <p:nvPr/>
      </p:nvGrpSpPr>
      <p:grpSpPr>
        <a:xfrm>
          <a:off x="0" y="0"/>
          <a:ext cx="0" cy="0"/>
          <a:chOff x="0" y="0"/>
          <a:chExt cx="0" cy="0"/>
        </a:xfrm>
      </p:grpSpPr>
      <p:sp>
        <p:nvSpPr>
          <p:cNvPr id="80" name="CustomShape 1">
            <a:extLst>
              <a:ext uri="{FF2B5EF4-FFF2-40B4-BE49-F238E27FC236}">
                <a16:creationId xmlns:a16="http://schemas.microsoft.com/office/drawing/2014/main" id="{FDC5BEF3-9922-A91A-FC8F-B1A0F1716BB1}"/>
              </a:ext>
            </a:extLst>
          </p:cNvPr>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lvl="1" algn="ctr">
              <a:lnSpc>
                <a:spcPct val="107000"/>
              </a:lnSpc>
              <a:spcAft>
                <a:spcPts val="800"/>
              </a:spcAft>
            </a:pPr>
            <a:r>
              <a:rPr lang="en-US" sz="40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Utility maximization – utility function </a:t>
            </a:r>
          </a:p>
        </p:txBody>
      </p:sp>
      <mc:AlternateContent xmlns:mc="http://schemas.openxmlformats.org/markup-compatibility/2006" xmlns:a14="http://schemas.microsoft.com/office/drawing/2010/main">
        <mc:Choice Requires="a14">
          <p:sp>
            <p:nvSpPr>
              <p:cNvPr id="81" name="CustomShape 2">
                <a:extLst>
                  <a:ext uri="{FF2B5EF4-FFF2-40B4-BE49-F238E27FC236}">
                    <a16:creationId xmlns:a16="http://schemas.microsoft.com/office/drawing/2014/main" id="{E461C47D-2B45-BF98-DA4F-8E6308AD3A14}"/>
                  </a:ext>
                </a:extLst>
              </p:cNvPr>
              <p:cNvSpPr/>
              <p:nvPr/>
            </p:nvSpPr>
            <p:spPr>
              <a:xfrm>
                <a:off x="6341874" y="1158396"/>
                <a:ext cx="5354320" cy="5292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The choice space is reduced to </a:t>
                </a:r>
                <a:r>
                  <a:rPr lang="en-GB" sz="2800" b="1"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two dimensions</a:t>
                </a:r>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The consumer chooses between good </a:t>
                </a:r>
                <a14:m>
                  <m:oMath xmlns:m="http://schemas.openxmlformats.org/officeDocument/2006/math">
                    <m:sSub>
                      <m:sSubPr>
                        <m:ctrlPr>
                          <a:rPr lang="pl-PL" sz="2800" i="1">
                            <a:solidFill>
                              <a:schemeClr val="accent5">
                                <a:lumMod val="50000"/>
                              </a:schemeClr>
                            </a:solidFill>
                            <a:effectLst/>
                            <a:latin typeface="Cambria Math" panose="02040503050406030204" pitchFamily="18" charset="0"/>
                            <a:ea typeface="Times New Roman" panose="02020603050405020304" pitchFamily="18" charset="0"/>
                          </a:rPr>
                        </m:ctrlPr>
                      </m:sSubPr>
                      <m:e>
                        <m:r>
                          <a:rPr lang="en-GB" sz="2800" i="1">
                            <a:solidFill>
                              <a:schemeClr val="accent5">
                                <a:lumMod val="50000"/>
                              </a:schemeClr>
                            </a:solidFill>
                            <a:effectLst/>
                            <a:latin typeface="Cambria Math" panose="02040503050406030204" pitchFamily="18" charset="0"/>
                            <a:ea typeface="Times New Roman" panose="02020603050405020304" pitchFamily="18" charset="0"/>
                          </a:rPr>
                          <m:t>𝑥</m:t>
                        </m:r>
                      </m:e>
                      <m:sub>
                        <m:r>
                          <a:rPr lang="en-GB" sz="2800" i="1">
                            <a:solidFill>
                              <a:schemeClr val="accent5">
                                <a:lumMod val="50000"/>
                              </a:schemeClr>
                            </a:solidFill>
                            <a:effectLst/>
                            <a:latin typeface="Cambria Math" panose="02040503050406030204" pitchFamily="18" charset="0"/>
                            <a:ea typeface="Times New Roman" panose="02020603050405020304" pitchFamily="18" charset="0"/>
                          </a:rPr>
                          <m:t>1</m:t>
                        </m:r>
                      </m:sub>
                    </m:sSub>
                    <m:r>
                      <a:rPr lang="en-GB" sz="2800" i="1">
                        <a:solidFill>
                          <a:schemeClr val="accent5">
                            <a:lumMod val="50000"/>
                          </a:schemeClr>
                        </a:solidFill>
                        <a:effectLst/>
                        <a:latin typeface="Cambria Math" panose="02040503050406030204" pitchFamily="18" charset="0"/>
                        <a:ea typeface="Times New Roman" panose="02020603050405020304" pitchFamily="18" charset="0"/>
                      </a:rPr>
                      <m:t> </m:t>
                    </m:r>
                    <m:r>
                      <a:rPr lang="en-GB" sz="2800" i="1">
                        <a:solidFill>
                          <a:schemeClr val="accent5">
                            <a:lumMod val="50000"/>
                          </a:schemeClr>
                        </a:solidFill>
                        <a:effectLst/>
                        <a:latin typeface="Cambria Math" panose="02040503050406030204" pitchFamily="18" charset="0"/>
                        <a:ea typeface="Times New Roman" panose="02020603050405020304" pitchFamily="18" charset="0"/>
                        <a:cs typeface="Arial" panose="020B0604020202020204" pitchFamily="34" charset="0"/>
                      </a:rPr>
                      <m:t>​</m:t>
                    </m:r>
                    <m:r>
                      <a:rPr lang="en-GB" sz="2800" i="1">
                        <a:solidFill>
                          <a:schemeClr val="accent5">
                            <a:lumMod val="50000"/>
                          </a:schemeClr>
                        </a:solidFill>
                        <a:effectLst/>
                        <a:latin typeface="Cambria Math" panose="02040503050406030204" pitchFamily="18" charset="0"/>
                        <a:ea typeface="Times New Roman" panose="02020603050405020304" pitchFamily="18" charset="0"/>
                      </a:rPr>
                      <m:t>𝑎𝑛𝑑</m:t>
                    </m:r>
                    <m:r>
                      <a:rPr lang="en-GB" sz="2800" i="1">
                        <a:solidFill>
                          <a:schemeClr val="accent5">
                            <a:lumMod val="50000"/>
                          </a:schemeClr>
                        </a:solidFill>
                        <a:effectLst/>
                        <a:latin typeface="Cambria Math" panose="02040503050406030204" pitchFamily="18" charset="0"/>
                        <a:ea typeface="Times New Roman" panose="02020603050405020304" pitchFamily="18" charset="0"/>
                      </a:rPr>
                      <m:t> </m:t>
                    </m:r>
                    <m:sSub>
                      <m:sSubPr>
                        <m:ctrlPr>
                          <a:rPr lang="pl-PL" sz="2800" i="1">
                            <a:solidFill>
                              <a:schemeClr val="accent5">
                                <a:lumMod val="50000"/>
                              </a:schemeClr>
                            </a:solidFill>
                            <a:effectLst/>
                            <a:latin typeface="Cambria Math" panose="02040503050406030204" pitchFamily="18" charset="0"/>
                            <a:ea typeface="Times New Roman" panose="02020603050405020304" pitchFamily="18" charset="0"/>
                          </a:rPr>
                        </m:ctrlPr>
                      </m:sSubPr>
                      <m:e>
                        <m:r>
                          <a:rPr lang="en-GB" sz="2800" i="1">
                            <a:solidFill>
                              <a:schemeClr val="accent5">
                                <a:lumMod val="50000"/>
                              </a:schemeClr>
                            </a:solidFill>
                            <a:effectLst/>
                            <a:latin typeface="Cambria Math" panose="02040503050406030204" pitchFamily="18" charset="0"/>
                            <a:ea typeface="Times New Roman" panose="02020603050405020304" pitchFamily="18" charset="0"/>
                          </a:rPr>
                          <m:t>𝑥</m:t>
                        </m:r>
                      </m:e>
                      <m:sub>
                        <m:r>
                          <a:rPr lang="en-GB" sz="2800" i="1">
                            <a:solidFill>
                              <a:schemeClr val="accent5">
                                <a:lumMod val="50000"/>
                              </a:schemeClr>
                            </a:solidFill>
                            <a:effectLst/>
                            <a:latin typeface="Cambria Math" panose="02040503050406030204" pitchFamily="18" charset="0"/>
                            <a:ea typeface="Times New Roman" panose="02020603050405020304" pitchFamily="18" charset="0"/>
                          </a:rPr>
                          <m:t>2</m:t>
                        </m:r>
                      </m:sub>
                    </m:sSub>
                  </m:oMath>
                </a14:m>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The consumer’s preferences are represented by the utility function </a:t>
                </a:r>
                <a14:m>
                  <m:oMath xmlns:m="http://schemas.openxmlformats.org/officeDocument/2006/math">
                    <m:r>
                      <a:rPr lang="en-GB" sz="2800" i="1">
                        <a:solidFill>
                          <a:schemeClr val="accent5">
                            <a:lumMod val="50000"/>
                          </a:schemeClr>
                        </a:solidFill>
                        <a:effectLst/>
                        <a:latin typeface="Cambria Math" panose="02040503050406030204" pitchFamily="18" charset="0"/>
                        <a:ea typeface="Times New Roman" panose="02020603050405020304" pitchFamily="18" charset="0"/>
                      </a:rPr>
                      <m:t>𝑈</m:t>
                    </m:r>
                    <m:r>
                      <a:rPr lang="en-GB" sz="2800" i="1">
                        <a:solidFill>
                          <a:schemeClr val="accent5">
                            <a:lumMod val="50000"/>
                          </a:schemeClr>
                        </a:solidFill>
                        <a:effectLst/>
                        <a:latin typeface="Cambria Math" panose="02040503050406030204" pitchFamily="18" charset="0"/>
                        <a:ea typeface="Times New Roman" panose="02020603050405020304" pitchFamily="18" charset="0"/>
                      </a:rPr>
                      <m:t> =</m:t>
                    </m:r>
                    <m:r>
                      <a:rPr lang="en-GB" sz="2800" i="1">
                        <a:solidFill>
                          <a:schemeClr val="accent5">
                            <a:lumMod val="50000"/>
                          </a:schemeClr>
                        </a:solidFill>
                        <a:effectLst/>
                        <a:latin typeface="Cambria Math" panose="02040503050406030204" pitchFamily="18" charset="0"/>
                        <a:ea typeface="Times New Roman" panose="02020603050405020304" pitchFamily="18" charset="0"/>
                      </a:rPr>
                      <m:t>𝑓</m:t>
                    </m:r>
                    <m:d>
                      <m:dPr>
                        <m:ctrlPr>
                          <a:rPr lang="pl-PL" sz="2800" i="1">
                            <a:solidFill>
                              <a:schemeClr val="accent5">
                                <a:lumMod val="50000"/>
                              </a:schemeClr>
                            </a:solidFill>
                            <a:effectLst/>
                            <a:latin typeface="Cambria Math" panose="02040503050406030204" pitchFamily="18" charset="0"/>
                            <a:ea typeface="Times New Roman" panose="02020603050405020304" pitchFamily="18" charset="0"/>
                          </a:rPr>
                        </m:ctrlPr>
                      </m:dPr>
                      <m:e>
                        <m:sSub>
                          <m:sSubPr>
                            <m:ctrlPr>
                              <a:rPr lang="pl-PL" sz="2800" i="1">
                                <a:solidFill>
                                  <a:schemeClr val="accent5">
                                    <a:lumMod val="50000"/>
                                  </a:schemeClr>
                                </a:solidFill>
                                <a:effectLst/>
                                <a:latin typeface="Cambria Math" panose="02040503050406030204" pitchFamily="18" charset="0"/>
                                <a:ea typeface="Times New Roman" panose="02020603050405020304" pitchFamily="18" charset="0"/>
                              </a:rPr>
                            </m:ctrlPr>
                          </m:sSubPr>
                          <m:e>
                            <m:r>
                              <a:rPr lang="en-GB" sz="2800" i="1">
                                <a:solidFill>
                                  <a:schemeClr val="accent5">
                                    <a:lumMod val="50000"/>
                                  </a:schemeClr>
                                </a:solidFill>
                                <a:effectLst/>
                                <a:latin typeface="Cambria Math" panose="02040503050406030204" pitchFamily="18" charset="0"/>
                                <a:ea typeface="Times New Roman" panose="02020603050405020304" pitchFamily="18" charset="0"/>
                              </a:rPr>
                              <m:t>𝑥</m:t>
                            </m:r>
                          </m:e>
                          <m:sub>
                            <m:r>
                              <a:rPr lang="en-GB" sz="2800" i="1">
                                <a:solidFill>
                                  <a:schemeClr val="accent5">
                                    <a:lumMod val="50000"/>
                                  </a:schemeClr>
                                </a:solidFill>
                                <a:effectLst/>
                                <a:latin typeface="Cambria Math" panose="02040503050406030204" pitchFamily="18" charset="0"/>
                                <a:ea typeface="Times New Roman" panose="02020603050405020304" pitchFamily="18" charset="0"/>
                              </a:rPr>
                              <m:t>1</m:t>
                            </m:r>
                          </m:sub>
                        </m:sSub>
                        <m:r>
                          <a:rPr lang="en-GB" sz="2800" i="1">
                            <a:solidFill>
                              <a:schemeClr val="accent5">
                                <a:lumMod val="50000"/>
                              </a:schemeClr>
                            </a:solidFill>
                            <a:effectLst/>
                            <a:latin typeface="Cambria Math" panose="02040503050406030204" pitchFamily="18" charset="0"/>
                            <a:ea typeface="Times New Roman" panose="02020603050405020304" pitchFamily="18" charset="0"/>
                          </a:rPr>
                          <m:t>,</m:t>
                        </m:r>
                        <m:sSub>
                          <m:sSubPr>
                            <m:ctrlPr>
                              <a:rPr lang="pl-PL" sz="2800" i="1">
                                <a:solidFill>
                                  <a:schemeClr val="accent5">
                                    <a:lumMod val="50000"/>
                                  </a:schemeClr>
                                </a:solidFill>
                                <a:effectLst/>
                                <a:latin typeface="Cambria Math" panose="02040503050406030204" pitchFamily="18" charset="0"/>
                                <a:ea typeface="Times New Roman" panose="02020603050405020304" pitchFamily="18" charset="0"/>
                              </a:rPr>
                            </m:ctrlPr>
                          </m:sSubPr>
                          <m:e>
                            <m:r>
                              <a:rPr lang="en-GB" sz="2800" i="1">
                                <a:solidFill>
                                  <a:schemeClr val="accent5">
                                    <a:lumMod val="50000"/>
                                  </a:schemeClr>
                                </a:solidFill>
                                <a:effectLst/>
                                <a:latin typeface="Cambria Math" panose="02040503050406030204" pitchFamily="18" charset="0"/>
                                <a:ea typeface="Times New Roman" panose="02020603050405020304" pitchFamily="18" charset="0"/>
                              </a:rPr>
                              <m:t>𝑥</m:t>
                            </m:r>
                          </m:e>
                          <m:sub>
                            <m:r>
                              <a:rPr lang="en-GB" sz="2800" i="1">
                                <a:solidFill>
                                  <a:schemeClr val="accent5">
                                    <a:lumMod val="50000"/>
                                  </a:schemeClr>
                                </a:solidFill>
                                <a:effectLst/>
                                <a:latin typeface="Cambria Math" panose="02040503050406030204" pitchFamily="18" charset="0"/>
                                <a:ea typeface="Times New Roman" panose="02020603050405020304" pitchFamily="18" charset="0"/>
                              </a:rPr>
                              <m:t>2</m:t>
                            </m:r>
                          </m:sub>
                        </m:sSub>
                      </m:e>
                    </m:d>
                  </m:oMath>
                </a14:m>
                <a:endParaRPr lang="pl-PL"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algn="just"/>
                <a:endParaRPr lang="pl-PL" sz="2800" b="1"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algn="just"/>
                <a:r>
                  <a:rPr lang="en-GB" sz="2800" b="1"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Mapping the </a:t>
                </a:r>
                <a:r>
                  <a:rPr lang="pl-PL" sz="2800" b="1" dirty="0" err="1">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utility</a:t>
                </a:r>
                <a:r>
                  <a:rPr lang="pl-PL" sz="2800" b="1"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t>
                </a:r>
                <a:r>
                  <a:rPr lang="pl-PL" sz="2800" b="1" dirty="0" err="1">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function</a:t>
                </a:r>
                <a:r>
                  <a:rPr lang="pl-PL" sz="2800" b="1"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on </a:t>
                </a:r>
                <a:r>
                  <a:rPr lang="en-GB" sz="2800" b="1"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choice space</a:t>
                </a:r>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gives us the </a:t>
                </a:r>
                <a:r>
                  <a:rPr lang="en-GB" sz="2800" b="1"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indifference </a:t>
                </a:r>
                <a:r>
                  <a:rPr lang="pl-PL" sz="2800" b="1" dirty="0" err="1">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curve</a:t>
                </a:r>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each point</a:t>
                </a:r>
                <a:r>
                  <a:rPr lang="pl-PL"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s</a:t>
                </a:r>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 basket of two goods </a:t>
                </a:r>
                <a14:m>
                  <m:oMath xmlns:m="http://schemas.openxmlformats.org/officeDocument/2006/math">
                    <m:sSub>
                      <m:sSubPr>
                        <m:ctrlPr>
                          <a:rPr lang="pl-PL" sz="2800" i="1">
                            <a:solidFill>
                              <a:schemeClr val="accent5">
                                <a:lumMod val="50000"/>
                              </a:schemeClr>
                            </a:solidFill>
                            <a:effectLst/>
                            <a:latin typeface="Cambria Math" panose="02040503050406030204" pitchFamily="18" charset="0"/>
                            <a:ea typeface="Times New Roman" panose="02020603050405020304" pitchFamily="18" charset="0"/>
                          </a:rPr>
                        </m:ctrlPr>
                      </m:sSubPr>
                      <m:e>
                        <m:r>
                          <a:rPr lang="en-GB" sz="2800" i="1">
                            <a:solidFill>
                              <a:schemeClr val="accent5">
                                <a:lumMod val="50000"/>
                              </a:schemeClr>
                            </a:solidFill>
                            <a:effectLst/>
                            <a:latin typeface="Cambria Math" panose="02040503050406030204" pitchFamily="18" charset="0"/>
                            <a:ea typeface="Times New Roman" panose="02020603050405020304" pitchFamily="18" charset="0"/>
                          </a:rPr>
                          <m:t>𝑥</m:t>
                        </m:r>
                      </m:e>
                      <m:sub>
                        <m:r>
                          <a:rPr lang="en-GB" sz="2800" i="1">
                            <a:solidFill>
                              <a:schemeClr val="accent5">
                                <a:lumMod val="50000"/>
                              </a:schemeClr>
                            </a:solidFill>
                            <a:effectLst/>
                            <a:latin typeface="Cambria Math" panose="02040503050406030204" pitchFamily="18" charset="0"/>
                            <a:ea typeface="Times New Roman" panose="02020603050405020304" pitchFamily="18" charset="0"/>
                          </a:rPr>
                          <m:t>1</m:t>
                        </m:r>
                      </m:sub>
                    </m:sSub>
                    <m:r>
                      <a:rPr lang="en-GB" sz="2800" i="1">
                        <a:solidFill>
                          <a:schemeClr val="accent5">
                            <a:lumMod val="50000"/>
                          </a:schemeClr>
                        </a:solidFill>
                        <a:effectLst/>
                        <a:latin typeface="Cambria Math" panose="02040503050406030204" pitchFamily="18" charset="0"/>
                        <a:ea typeface="Times New Roman" panose="02020603050405020304" pitchFamily="18" charset="0"/>
                      </a:rPr>
                      <m:t> </m:t>
                    </m:r>
                    <m:r>
                      <a:rPr lang="en-GB" sz="2800" i="1">
                        <a:solidFill>
                          <a:schemeClr val="accent5">
                            <a:lumMod val="50000"/>
                          </a:schemeClr>
                        </a:solidFill>
                        <a:effectLst/>
                        <a:latin typeface="Cambria Math" panose="02040503050406030204" pitchFamily="18" charset="0"/>
                        <a:ea typeface="Times New Roman" panose="02020603050405020304" pitchFamily="18" charset="0"/>
                        <a:cs typeface="Arial" panose="020B0604020202020204" pitchFamily="34" charset="0"/>
                      </a:rPr>
                      <m:t>​</m:t>
                    </m:r>
                    <m:r>
                      <a:rPr lang="en-GB" sz="2800" i="1">
                        <a:solidFill>
                          <a:schemeClr val="accent5">
                            <a:lumMod val="50000"/>
                          </a:schemeClr>
                        </a:solidFill>
                        <a:effectLst/>
                        <a:latin typeface="Cambria Math" panose="02040503050406030204" pitchFamily="18" charset="0"/>
                        <a:ea typeface="Times New Roman" panose="02020603050405020304" pitchFamily="18" charset="0"/>
                      </a:rPr>
                      <m:t>𝑎𝑛𝑑</m:t>
                    </m:r>
                    <m:r>
                      <a:rPr lang="en-GB" sz="2800" i="1">
                        <a:solidFill>
                          <a:schemeClr val="accent5">
                            <a:lumMod val="50000"/>
                          </a:schemeClr>
                        </a:solidFill>
                        <a:effectLst/>
                        <a:latin typeface="Cambria Math" panose="02040503050406030204" pitchFamily="18" charset="0"/>
                        <a:ea typeface="Times New Roman" panose="02020603050405020304" pitchFamily="18" charset="0"/>
                      </a:rPr>
                      <m:t> </m:t>
                    </m:r>
                    <m:sSub>
                      <m:sSubPr>
                        <m:ctrlPr>
                          <a:rPr lang="pl-PL" sz="2800" i="1">
                            <a:solidFill>
                              <a:schemeClr val="accent5">
                                <a:lumMod val="50000"/>
                              </a:schemeClr>
                            </a:solidFill>
                            <a:effectLst/>
                            <a:latin typeface="Cambria Math" panose="02040503050406030204" pitchFamily="18" charset="0"/>
                            <a:ea typeface="Times New Roman" panose="02020603050405020304" pitchFamily="18" charset="0"/>
                          </a:rPr>
                        </m:ctrlPr>
                      </m:sSubPr>
                      <m:e>
                        <m:r>
                          <a:rPr lang="en-GB" sz="2800" i="1">
                            <a:solidFill>
                              <a:schemeClr val="accent5">
                                <a:lumMod val="50000"/>
                              </a:schemeClr>
                            </a:solidFill>
                            <a:effectLst/>
                            <a:latin typeface="Cambria Math" panose="02040503050406030204" pitchFamily="18" charset="0"/>
                            <a:ea typeface="Times New Roman" panose="02020603050405020304" pitchFamily="18" charset="0"/>
                          </a:rPr>
                          <m:t>𝑥</m:t>
                        </m:r>
                      </m:e>
                      <m:sub>
                        <m:r>
                          <a:rPr lang="en-GB" sz="2800" i="1">
                            <a:solidFill>
                              <a:schemeClr val="accent5">
                                <a:lumMod val="50000"/>
                              </a:schemeClr>
                            </a:solidFill>
                            <a:effectLst/>
                            <a:latin typeface="Cambria Math" panose="02040503050406030204" pitchFamily="18" charset="0"/>
                            <a:ea typeface="Times New Roman" panose="02020603050405020304" pitchFamily="18" charset="0"/>
                          </a:rPr>
                          <m:t>2</m:t>
                        </m:r>
                      </m:sub>
                    </m:sSub>
                  </m:oMath>
                </a14:m>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provides the same utility.</a:t>
                </a:r>
                <a:endParaRPr lang="pl-PL"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algn="just"/>
                <a:endParaRPr lang="pl-PL"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CustomShape 2">
                <a:extLst>
                  <a:ext uri="{FF2B5EF4-FFF2-40B4-BE49-F238E27FC236}">
                    <a16:creationId xmlns:a16="http://schemas.microsoft.com/office/drawing/2014/main" id="{E461C47D-2B45-BF98-DA4F-8E6308AD3A14}"/>
                  </a:ext>
                </a:extLst>
              </p:cNvPr>
              <p:cNvSpPr>
                <a:spLocks noRot="1" noChangeAspect="1" noMove="1" noResize="1" noEditPoints="1" noAdjustHandles="1" noChangeArrowheads="1" noChangeShapeType="1" noTextEdit="1"/>
              </p:cNvSpPr>
              <p:nvPr/>
            </p:nvSpPr>
            <p:spPr>
              <a:xfrm>
                <a:off x="6341874" y="1158396"/>
                <a:ext cx="5354320" cy="5292880"/>
              </a:xfrm>
              <a:prstGeom prst="rect">
                <a:avLst/>
              </a:prstGeom>
              <a:blipFill>
                <a:blip r:embed="rId2"/>
                <a:stretch>
                  <a:fillRect l="-2275" t="-1152" r="-2389" b="-1843"/>
                </a:stretch>
              </a:blipFill>
              <a:ln>
                <a:noFill/>
              </a:ln>
            </p:spPr>
            <p:txBody>
              <a:bodyPr/>
              <a:lstStyle/>
              <a:p>
                <a:r>
                  <a:rPr lang="pl-PL">
                    <a:noFill/>
                  </a:rPr>
                  <a:t> </a:t>
                </a:r>
              </a:p>
            </p:txBody>
          </p:sp>
        </mc:Fallback>
      </mc:AlternateContent>
      <p:pic>
        <p:nvPicPr>
          <p:cNvPr id="3" name="Obraz 2">
            <a:extLst>
              <a:ext uri="{FF2B5EF4-FFF2-40B4-BE49-F238E27FC236}">
                <a16:creationId xmlns:a16="http://schemas.microsoft.com/office/drawing/2014/main" id="{C12CFBCA-44C3-710A-DFC8-36ADC42BE86D}"/>
              </a:ext>
            </a:extLst>
          </p:cNvPr>
          <p:cNvPicPr>
            <a:picLocks noChangeAspect="1"/>
          </p:cNvPicPr>
          <p:nvPr/>
        </p:nvPicPr>
        <p:blipFill>
          <a:blip r:embed="rId3"/>
          <a:stretch>
            <a:fillRect/>
          </a:stretch>
        </p:blipFill>
        <p:spPr>
          <a:xfrm>
            <a:off x="375722" y="1523834"/>
            <a:ext cx="5474406" cy="4562005"/>
          </a:xfrm>
          <a:prstGeom prst="rect">
            <a:avLst/>
          </a:prstGeom>
        </p:spPr>
      </p:pic>
    </p:spTree>
    <p:extLst>
      <p:ext uri="{BB962C8B-B14F-4D97-AF65-F5344CB8AC3E}">
        <p14:creationId xmlns:p14="http://schemas.microsoft.com/office/powerpoint/2010/main" val="345424496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E01B3-A5E0-1CE9-7C6A-2E10F4087F83}"/>
            </a:ext>
          </a:extLst>
        </p:cNvPr>
        <p:cNvGrpSpPr/>
        <p:nvPr/>
      </p:nvGrpSpPr>
      <p:grpSpPr>
        <a:xfrm>
          <a:off x="0" y="0"/>
          <a:ext cx="0" cy="0"/>
          <a:chOff x="0" y="0"/>
          <a:chExt cx="0" cy="0"/>
        </a:xfrm>
      </p:grpSpPr>
      <p:pic>
        <p:nvPicPr>
          <p:cNvPr id="3" name="Obraz 2">
            <a:extLst>
              <a:ext uri="{FF2B5EF4-FFF2-40B4-BE49-F238E27FC236}">
                <a16:creationId xmlns:a16="http://schemas.microsoft.com/office/drawing/2014/main" id="{584D913A-DA5F-ABC3-B7E9-D7D70E99A1CC}"/>
              </a:ext>
            </a:extLst>
          </p:cNvPr>
          <p:cNvPicPr>
            <a:picLocks noChangeAspect="1"/>
          </p:cNvPicPr>
          <p:nvPr/>
        </p:nvPicPr>
        <p:blipFill>
          <a:blip r:embed="rId2"/>
          <a:stretch>
            <a:fillRect/>
          </a:stretch>
        </p:blipFill>
        <p:spPr>
          <a:xfrm>
            <a:off x="192842" y="1483193"/>
            <a:ext cx="5791398" cy="4826165"/>
          </a:xfrm>
          <a:prstGeom prst="rect">
            <a:avLst/>
          </a:prstGeom>
        </p:spPr>
      </p:pic>
      <p:sp>
        <p:nvSpPr>
          <p:cNvPr id="80" name="CustomShape 1">
            <a:extLst>
              <a:ext uri="{FF2B5EF4-FFF2-40B4-BE49-F238E27FC236}">
                <a16:creationId xmlns:a16="http://schemas.microsoft.com/office/drawing/2014/main" id="{3A329F36-35D2-33E5-14A4-D49BA74031AC}"/>
              </a:ext>
            </a:extLst>
          </p:cNvPr>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lvl="1" algn="ctr">
              <a:lnSpc>
                <a:spcPct val="107000"/>
              </a:lnSpc>
              <a:spcAft>
                <a:spcPts val="800"/>
              </a:spcAft>
            </a:pPr>
            <a:r>
              <a:rPr lang="en-US" sz="40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Utility maximization – utility function</a:t>
            </a:r>
          </a:p>
        </p:txBody>
      </p:sp>
      <mc:AlternateContent xmlns:mc="http://schemas.openxmlformats.org/markup-compatibility/2006" xmlns:a14="http://schemas.microsoft.com/office/drawing/2010/main">
        <mc:Choice Requires="a14">
          <p:sp>
            <p:nvSpPr>
              <p:cNvPr id="81" name="CustomShape 2">
                <a:extLst>
                  <a:ext uri="{FF2B5EF4-FFF2-40B4-BE49-F238E27FC236}">
                    <a16:creationId xmlns:a16="http://schemas.microsoft.com/office/drawing/2014/main" id="{2FE206F6-3705-4414-CF8D-2376F242BBAB}"/>
                  </a:ext>
                </a:extLst>
              </p:cNvPr>
              <p:cNvSpPr/>
              <p:nvPr/>
            </p:nvSpPr>
            <p:spPr>
              <a:xfrm>
                <a:off x="6096000" y="1249836"/>
                <a:ext cx="6096000" cy="5292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r>
                  <a:rPr lang="pl-PL"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P</a:t>
                </a:r>
                <a:r>
                  <a:rPr lang="en-US" sz="2800" dirty="0" err="1">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oints</a:t>
                </a:r>
                <a:r>
                  <a:rPr lang="en-US"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t>
                </a:r>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(a basket of two goods </a:t>
                </a:r>
                <a14:m>
                  <m:oMath xmlns:m="http://schemas.openxmlformats.org/officeDocument/2006/math">
                    <m:sSub>
                      <m:sSubPr>
                        <m:ctrlPr>
                          <a:rPr lang="pl-PL" sz="2800" i="1">
                            <a:solidFill>
                              <a:schemeClr val="accent5">
                                <a:lumMod val="50000"/>
                              </a:schemeClr>
                            </a:solidFill>
                            <a:effectLst/>
                            <a:latin typeface="Cambria Math" panose="02040503050406030204" pitchFamily="18" charset="0"/>
                            <a:ea typeface="Times New Roman" panose="02020603050405020304" pitchFamily="18" charset="0"/>
                          </a:rPr>
                        </m:ctrlPr>
                      </m:sSubPr>
                      <m:e>
                        <m:r>
                          <a:rPr lang="en-GB" sz="2800" i="1">
                            <a:solidFill>
                              <a:schemeClr val="accent5">
                                <a:lumMod val="50000"/>
                              </a:schemeClr>
                            </a:solidFill>
                            <a:effectLst/>
                            <a:latin typeface="Cambria Math" panose="02040503050406030204" pitchFamily="18" charset="0"/>
                            <a:ea typeface="Times New Roman" panose="02020603050405020304" pitchFamily="18" charset="0"/>
                          </a:rPr>
                          <m:t>𝑥</m:t>
                        </m:r>
                      </m:e>
                      <m:sub>
                        <m:r>
                          <a:rPr lang="en-GB" sz="2800" i="1">
                            <a:solidFill>
                              <a:schemeClr val="accent5">
                                <a:lumMod val="50000"/>
                              </a:schemeClr>
                            </a:solidFill>
                            <a:effectLst/>
                            <a:latin typeface="Cambria Math" panose="02040503050406030204" pitchFamily="18" charset="0"/>
                            <a:ea typeface="Times New Roman" panose="02020603050405020304" pitchFamily="18" charset="0"/>
                          </a:rPr>
                          <m:t>1</m:t>
                        </m:r>
                      </m:sub>
                    </m:sSub>
                    <m:r>
                      <a:rPr lang="en-GB" sz="2800" i="1">
                        <a:solidFill>
                          <a:schemeClr val="accent5">
                            <a:lumMod val="50000"/>
                          </a:schemeClr>
                        </a:solidFill>
                        <a:effectLst/>
                        <a:latin typeface="Cambria Math" panose="02040503050406030204" pitchFamily="18" charset="0"/>
                        <a:ea typeface="Times New Roman" panose="02020603050405020304" pitchFamily="18" charset="0"/>
                      </a:rPr>
                      <m:t> </m:t>
                    </m:r>
                    <m:r>
                      <a:rPr lang="en-GB" sz="2800" i="1">
                        <a:solidFill>
                          <a:schemeClr val="accent5">
                            <a:lumMod val="50000"/>
                          </a:schemeClr>
                        </a:solidFill>
                        <a:effectLst/>
                        <a:latin typeface="Cambria Math" panose="02040503050406030204" pitchFamily="18" charset="0"/>
                        <a:ea typeface="Times New Roman" panose="02020603050405020304" pitchFamily="18" charset="0"/>
                        <a:cs typeface="Arial" panose="020B0604020202020204" pitchFamily="34" charset="0"/>
                      </a:rPr>
                      <m:t>​</m:t>
                    </m:r>
                    <m:r>
                      <a:rPr lang="en-GB" sz="2800" i="1">
                        <a:solidFill>
                          <a:schemeClr val="accent5">
                            <a:lumMod val="50000"/>
                          </a:schemeClr>
                        </a:solidFill>
                        <a:effectLst/>
                        <a:latin typeface="Cambria Math" panose="02040503050406030204" pitchFamily="18" charset="0"/>
                        <a:ea typeface="Times New Roman" panose="02020603050405020304" pitchFamily="18" charset="0"/>
                      </a:rPr>
                      <m:t>𝑎𝑛𝑑</m:t>
                    </m:r>
                    <m:r>
                      <a:rPr lang="en-GB" sz="2800" i="1">
                        <a:solidFill>
                          <a:schemeClr val="accent5">
                            <a:lumMod val="50000"/>
                          </a:schemeClr>
                        </a:solidFill>
                        <a:effectLst/>
                        <a:latin typeface="Cambria Math" panose="02040503050406030204" pitchFamily="18" charset="0"/>
                        <a:ea typeface="Times New Roman" panose="02020603050405020304" pitchFamily="18" charset="0"/>
                      </a:rPr>
                      <m:t> </m:t>
                    </m:r>
                    <m:sSub>
                      <m:sSubPr>
                        <m:ctrlPr>
                          <a:rPr lang="pl-PL" sz="2800" i="1">
                            <a:solidFill>
                              <a:schemeClr val="accent5">
                                <a:lumMod val="50000"/>
                              </a:schemeClr>
                            </a:solidFill>
                            <a:effectLst/>
                            <a:latin typeface="Cambria Math" panose="02040503050406030204" pitchFamily="18" charset="0"/>
                            <a:ea typeface="Times New Roman" panose="02020603050405020304" pitchFamily="18" charset="0"/>
                          </a:rPr>
                        </m:ctrlPr>
                      </m:sSubPr>
                      <m:e>
                        <m:r>
                          <a:rPr lang="en-GB" sz="2800" i="1">
                            <a:solidFill>
                              <a:schemeClr val="accent5">
                                <a:lumMod val="50000"/>
                              </a:schemeClr>
                            </a:solidFill>
                            <a:effectLst/>
                            <a:latin typeface="Cambria Math" panose="02040503050406030204" pitchFamily="18" charset="0"/>
                            <a:ea typeface="Times New Roman" panose="02020603050405020304" pitchFamily="18" charset="0"/>
                          </a:rPr>
                          <m:t>𝑥</m:t>
                        </m:r>
                      </m:e>
                      <m:sub>
                        <m:r>
                          <a:rPr lang="en-GB" sz="2800" i="1">
                            <a:solidFill>
                              <a:schemeClr val="accent5">
                                <a:lumMod val="50000"/>
                              </a:schemeClr>
                            </a:solidFill>
                            <a:effectLst/>
                            <a:latin typeface="Cambria Math" panose="02040503050406030204" pitchFamily="18" charset="0"/>
                            <a:ea typeface="Times New Roman" panose="02020603050405020304" pitchFamily="18" charset="0"/>
                          </a:rPr>
                          <m:t>2</m:t>
                        </m:r>
                      </m:sub>
                    </m:sSub>
                  </m:oMath>
                </a14:m>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lying on the </a:t>
                </a:r>
                <a:r>
                  <a:rPr lang="en-GB" sz="2800" b="1"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indifference curve</a:t>
                </a:r>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are </a:t>
                </a:r>
                <a:r>
                  <a:rPr lang="en-GB" sz="2800" b="1"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equally good</a:t>
                </a:r>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for the consumer. </a:t>
                </a:r>
                <a:endParaRPr lang="pl-PL"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endParaRPr lang="pl-PL" sz="2800" b="1"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algn="just"/>
                <a:r>
                  <a:rPr lang="en-GB" sz="2800" b="1"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Baskets lying on higher indifference curves</a:t>
                </a:r>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are </a:t>
                </a:r>
                <a:r>
                  <a:rPr lang="en-GB" sz="2800" b="1"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preferred</a:t>
                </a:r>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to those on lower curves. However, we cannot determine </a:t>
                </a:r>
                <a:r>
                  <a:rPr lang="en-GB" sz="2800" b="1"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by how much</a:t>
                </a:r>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one basket is better than another. For example, we cannot say that one basket is "120 times better" than another on a lower indifference curve.</a:t>
                </a:r>
                <a:endParaRPr lang="pl-PL"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CustomShape 2">
                <a:extLst>
                  <a:ext uri="{FF2B5EF4-FFF2-40B4-BE49-F238E27FC236}">
                    <a16:creationId xmlns:a16="http://schemas.microsoft.com/office/drawing/2014/main" id="{2FE206F6-3705-4414-CF8D-2376F242BBAB}"/>
                  </a:ext>
                </a:extLst>
              </p:cNvPr>
              <p:cNvSpPr>
                <a:spLocks noRot="1" noChangeAspect="1" noMove="1" noResize="1" noEditPoints="1" noAdjustHandles="1" noChangeArrowheads="1" noChangeShapeType="1" noTextEdit="1"/>
              </p:cNvSpPr>
              <p:nvPr/>
            </p:nvSpPr>
            <p:spPr>
              <a:xfrm>
                <a:off x="6096000" y="1249836"/>
                <a:ext cx="6096000" cy="5292880"/>
              </a:xfrm>
              <a:prstGeom prst="rect">
                <a:avLst/>
              </a:prstGeom>
              <a:blipFill>
                <a:blip r:embed="rId3"/>
                <a:stretch>
                  <a:fillRect l="-2100" t="-1152" r="-2000" b="-1843"/>
                </a:stretch>
              </a:blipFill>
              <a:ln>
                <a:noFill/>
              </a:ln>
            </p:spPr>
            <p:txBody>
              <a:bodyPr/>
              <a:lstStyle/>
              <a:p>
                <a:r>
                  <a:rPr lang="pl-PL">
                    <a:noFill/>
                  </a:rPr>
                  <a:t> </a:t>
                </a:r>
              </a:p>
            </p:txBody>
          </p:sp>
        </mc:Fallback>
      </mc:AlternateContent>
      <p:sp>
        <p:nvSpPr>
          <p:cNvPr id="2" name="Strzałka: w prawo 1">
            <a:extLst>
              <a:ext uri="{FF2B5EF4-FFF2-40B4-BE49-F238E27FC236}">
                <a16:creationId xmlns:a16="http://schemas.microsoft.com/office/drawing/2014/main" id="{1960E895-5EFB-E216-8780-AB0B68388654}"/>
              </a:ext>
            </a:extLst>
          </p:cNvPr>
          <p:cNvSpPr/>
          <p:nvPr/>
        </p:nvSpPr>
        <p:spPr>
          <a:xfrm rot="17975943">
            <a:off x="1004692" y="3831435"/>
            <a:ext cx="1991360" cy="527654"/>
          </a:xfrm>
          <a:prstGeom prst="rightArrow">
            <a:avLst>
              <a:gd name="adj1" fmla="val 50000"/>
              <a:gd name="adj2" fmla="val 146723"/>
            </a:avLst>
          </a:prstGeom>
          <a:noFill/>
          <a:ln>
            <a:solidFill>
              <a:srgbClr val="C00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dirty="0"/>
          </a:p>
        </p:txBody>
      </p:sp>
    </p:spTree>
    <p:extLst>
      <p:ext uri="{BB962C8B-B14F-4D97-AF65-F5344CB8AC3E}">
        <p14:creationId xmlns:p14="http://schemas.microsoft.com/office/powerpoint/2010/main" val="42922488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37BE0-CC93-843D-709A-D11ABEC30F0E}"/>
            </a:ext>
          </a:extLst>
        </p:cNvPr>
        <p:cNvGrpSpPr/>
        <p:nvPr/>
      </p:nvGrpSpPr>
      <p:grpSpPr>
        <a:xfrm>
          <a:off x="0" y="0"/>
          <a:ext cx="0" cy="0"/>
          <a:chOff x="0" y="0"/>
          <a:chExt cx="0" cy="0"/>
        </a:xfrm>
      </p:grpSpPr>
      <p:sp>
        <p:nvSpPr>
          <p:cNvPr id="2" name="CustomShape 1">
            <a:extLst>
              <a:ext uri="{FF2B5EF4-FFF2-40B4-BE49-F238E27FC236}">
                <a16:creationId xmlns:a16="http://schemas.microsoft.com/office/drawing/2014/main" id="{D5A1B4E5-B576-47EE-BCBC-1AAABA59C21D}"/>
              </a:ext>
            </a:extLst>
          </p:cNvPr>
          <p:cNvSpPr/>
          <p:nvPr/>
        </p:nvSpPr>
        <p:spPr>
          <a:xfrm>
            <a:off x="0" y="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lvl="1" algn="ctr">
              <a:lnSpc>
                <a:spcPct val="107000"/>
              </a:lnSpc>
              <a:spcAft>
                <a:spcPts val="800"/>
              </a:spcAft>
            </a:pPr>
            <a:r>
              <a:rPr lang="en-US" sz="40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Utility maximization – utility function</a:t>
            </a:r>
          </a:p>
        </p:txBody>
      </p:sp>
      <p:sp>
        <p:nvSpPr>
          <p:cNvPr id="81" name="CustomShape 2">
            <a:extLst>
              <a:ext uri="{FF2B5EF4-FFF2-40B4-BE49-F238E27FC236}">
                <a16:creationId xmlns:a16="http://schemas.microsoft.com/office/drawing/2014/main" id="{340DC1E1-6981-7517-DA78-90B8DD7A37E3}"/>
              </a:ext>
            </a:extLst>
          </p:cNvPr>
          <p:cNvSpPr/>
          <p:nvPr/>
        </p:nvSpPr>
        <p:spPr>
          <a:xfrm>
            <a:off x="5394960" y="1096722"/>
            <a:ext cx="6715760" cy="519231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r>
              <a:rPr lang="en-GB" sz="28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Moving along the indifference curve does not change the utility. We can calculate the change in utility, ΔU, using the total differential.  </a:t>
            </a:r>
            <a:endParaRPr lang="pl-PL" sz="28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pPr algn="just"/>
            <a:endParaRPr lang="pl-PL" sz="28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GB" sz="28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Since utility remains constant along the indifference curve, ΔU = 0.</a:t>
            </a:r>
            <a:endParaRPr lang="pl-PL" sz="28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pPr algn="just"/>
            <a:endParaRPr lang="pl-PL" sz="28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sz="2800" b="1"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The Marginal Rate of Substitution </a:t>
            </a:r>
            <a:r>
              <a:rPr lang="en-US" sz="28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(MRS) is essentially a measure of how much of one good a person is willing to give up to gain an additional unit of another good, keeping the utility level constant. </a:t>
            </a:r>
            <a:endParaRPr lang="pl-PL" sz="28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grpSp>
        <p:nvGrpSpPr>
          <p:cNvPr id="10" name="Grupa 9">
            <a:extLst>
              <a:ext uri="{FF2B5EF4-FFF2-40B4-BE49-F238E27FC236}">
                <a16:creationId xmlns:a16="http://schemas.microsoft.com/office/drawing/2014/main" id="{53FFD419-6956-E270-6948-9046845DA519}"/>
              </a:ext>
            </a:extLst>
          </p:cNvPr>
          <p:cNvGrpSpPr/>
          <p:nvPr/>
        </p:nvGrpSpPr>
        <p:grpSpPr>
          <a:xfrm>
            <a:off x="233482" y="1729215"/>
            <a:ext cx="4572396" cy="3810330"/>
            <a:chOff x="-183078" y="708965"/>
            <a:chExt cx="4572396" cy="3810330"/>
          </a:xfrm>
        </p:grpSpPr>
        <p:pic>
          <p:nvPicPr>
            <p:cNvPr id="8" name="Obraz 7">
              <a:extLst>
                <a:ext uri="{FF2B5EF4-FFF2-40B4-BE49-F238E27FC236}">
                  <a16:creationId xmlns:a16="http://schemas.microsoft.com/office/drawing/2014/main" id="{6A976E24-8D11-53EE-5D77-84C73E14ED4C}"/>
                </a:ext>
              </a:extLst>
            </p:cNvPr>
            <p:cNvPicPr>
              <a:picLocks noChangeAspect="1"/>
            </p:cNvPicPr>
            <p:nvPr/>
          </p:nvPicPr>
          <p:blipFill>
            <a:blip r:embed="rId2"/>
            <a:stretch>
              <a:fillRect/>
            </a:stretch>
          </p:blipFill>
          <p:spPr>
            <a:xfrm>
              <a:off x="-183078" y="708965"/>
              <a:ext cx="4572396" cy="3810330"/>
            </a:xfrm>
            <a:prstGeom prst="rect">
              <a:avLst/>
            </a:prstGeom>
          </p:spPr>
        </p:pic>
        <p:cxnSp>
          <p:nvCxnSpPr>
            <p:cNvPr id="6" name="Łącznik prosty 5">
              <a:extLst>
                <a:ext uri="{FF2B5EF4-FFF2-40B4-BE49-F238E27FC236}">
                  <a16:creationId xmlns:a16="http://schemas.microsoft.com/office/drawing/2014/main" id="{417DA1F4-524F-B647-3CEA-A411BA9608DA}"/>
                </a:ext>
              </a:extLst>
            </p:cNvPr>
            <p:cNvCxnSpPr>
              <a:cxnSpLocks/>
            </p:cNvCxnSpPr>
            <p:nvPr/>
          </p:nvCxnSpPr>
          <p:spPr>
            <a:xfrm>
              <a:off x="513080" y="2703272"/>
              <a:ext cx="3180080" cy="560379"/>
            </a:xfrm>
            <a:prstGeom prst="line">
              <a:avLst/>
            </a:prstGeom>
          </p:spPr>
          <p:style>
            <a:lnRef idx="3">
              <a:schemeClr val="accent1"/>
            </a:lnRef>
            <a:fillRef idx="0">
              <a:schemeClr val="accent1"/>
            </a:fillRef>
            <a:effectRef idx="2">
              <a:schemeClr val="accent1"/>
            </a:effectRef>
            <a:fontRef idx="minor">
              <a:schemeClr val="tx1"/>
            </a:fontRef>
          </p:style>
        </p:cxnSp>
        <p:sp>
          <p:nvSpPr>
            <p:cNvPr id="3" name="Line 12">
              <a:extLst>
                <a:ext uri="{FF2B5EF4-FFF2-40B4-BE49-F238E27FC236}">
                  <a16:creationId xmlns:a16="http://schemas.microsoft.com/office/drawing/2014/main" id="{6CA1A01E-FF8C-D5BA-0283-2C5BBE0F5112}"/>
                </a:ext>
              </a:extLst>
            </p:cNvPr>
            <p:cNvSpPr>
              <a:spLocks noChangeShapeType="1"/>
            </p:cNvSpPr>
            <p:nvPr/>
          </p:nvSpPr>
          <p:spPr bwMode="auto">
            <a:xfrm flipH="1">
              <a:off x="1713286" y="2911341"/>
              <a:ext cx="0" cy="246541"/>
            </a:xfrm>
            <a:prstGeom prst="line">
              <a:avLst/>
            </a:prstGeom>
            <a:noFill/>
            <a:ln w="25400">
              <a:solidFill>
                <a:schemeClr val="tx1"/>
              </a:solidFill>
              <a:prstDash val="dash"/>
              <a:round/>
              <a:headEnd type="none" w="sm" len="sm"/>
              <a:tailEnd type="none" w="sm" len="sm"/>
            </a:ln>
            <a:effectLst/>
          </p:spPr>
          <p:txBody>
            <a:bodyPr wrap="none" anchor="ctr"/>
            <a:lstStyle/>
            <a:p>
              <a:pPr>
                <a:defRPr/>
              </a:pPr>
              <a:endParaRPr lang="pl-PL" sz="1800">
                <a:solidFill>
                  <a:schemeClr val="accent1">
                    <a:lumMod val="50000"/>
                  </a:schemeClr>
                </a:solidFill>
              </a:endParaRPr>
            </a:p>
          </p:txBody>
        </p:sp>
        <p:sp>
          <p:nvSpPr>
            <p:cNvPr id="4" name="Line 13">
              <a:extLst>
                <a:ext uri="{FF2B5EF4-FFF2-40B4-BE49-F238E27FC236}">
                  <a16:creationId xmlns:a16="http://schemas.microsoft.com/office/drawing/2014/main" id="{9E296400-9153-2396-9FFE-329BA6EF624B}"/>
                </a:ext>
              </a:extLst>
            </p:cNvPr>
            <p:cNvSpPr>
              <a:spLocks noChangeShapeType="1"/>
            </p:cNvSpPr>
            <p:nvPr/>
          </p:nvSpPr>
          <p:spPr bwMode="auto">
            <a:xfrm>
              <a:off x="1741282" y="3168993"/>
              <a:ext cx="1387998" cy="34027"/>
            </a:xfrm>
            <a:prstGeom prst="line">
              <a:avLst/>
            </a:prstGeom>
            <a:noFill/>
            <a:ln w="25400">
              <a:solidFill>
                <a:schemeClr val="tx1"/>
              </a:solidFill>
              <a:prstDash val="dash"/>
              <a:round/>
              <a:headEnd type="none" w="sm" len="sm"/>
              <a:tailEnd type="none" w="sm" len="sm"/>
            </a:ln>
            <a:effectLst/>
          </p:spPr>
          <p:txBody>
            <a:bodyPr wrap="none" anchor="ctr"/>
            <a:lstStyle/>
            <a:p>
              <a:pPr>
                <a:defRPr/>
              </a:pPr>
              <a:endParaRPr lang="pl-PL" sz="1800">
                <a:solidFill>
                  <a:schemeClr val="accent1">
                    <a:lumMod val="50000"/>
                  </a:schemeClr>
                </a:solidFill>
              </a:endParaRPr>
            </a:p>
          </p:txBody>
        </p:sp>
        <p:sp>
          <p:nvSpPr>
            <p:cNvPr id="5" name="Rectangle 14">
              <a:extLst>
                <a:ext uri="{FF2B5EF4-FFF2-40B4-BE49-F238E27FC236}">
                  <a16:creationId xmlns:a16="http://schemas.microsoft.com/office/drawing/2014/main" id="{34CC5B45-EA27-2D25-46E6-175B419CD4DE}"/>
                </a:ext>
              </a:extLst>
            </p:cNvPr>
            <p:cNvSpPr>
              <a:spLocks noChangeArrowheads="1"/>
            </p:cNvSpPr>
            <p:nvPr/>
          </p:nvSpPr>
          <p:spPr bwMode="auto">
            <a:xfrm>
              <a:off x="1277446" y="2955476"/>
              <a:ext cx="519112" cy="404813"/>
            </a:xfrm>
            <a:prstGeom prst="rect">
              <a:avLst/>
            </a:prstGeom>
            <a:noFill/>
            <a:ln w="9525">
              <a:noFill/>
              <a:miter lim="800000"/>
              <a:headEnd/>
              <a:tailEnd/>
            </a:ln>
            <a:effectLst/>
          </p:spPr>
          <p:txBody>
            <a:bodyPr wrap="none" lIns="92075" tIns="46038" rIns="92075" bIns="46038">
              <a:spAutoFit/>
            </a:bodyPr>
            <a:lstStyle/>
            <a:p>
              <a:pPr algn="l">
                <a:defRPr/>
              </a:pPr>
              <a:r>
                <a:rPr lang="en-US" sz="1800" b="1" dirty="0">
                  <a:solidFill>
                    <a:schemeClr val="accent1">
                      <a:lumMod val="50000"/>
                    </a:schemeClr>
                  </a:solidFill>
                  <a:latin typeface="Symbol" pitchFamily="18" charset="2"/>
                </a:rPr>
                <a:t>D</a:t>
              </a:r>
              <a:r>
                <a:rPr lang="en-US" sz="1800" b="1" dirty="0">
                  <a:solidFill>
                    <a:schemeClr val="accent1">
                      <a:lumMod val="50000"/>
                    </a:schemeClr>
                  </a:solidFill>
                </a:rPr>
                <a:t>x</a:t>
              </a:r>
              <a:r>
                <a:rPr lang="en-US" sz="1800" b="1" baseline="-25000" dirty="0">
                  <a:solidFill>
                    <a:schemeClr val="accent1">
                      <a:lumMod val="50000"/>
                    </a:schemeClr>
                  </a:solidFill>
                </a:rPr>
                <a:t>2</a:t>
              </a:r>
            </a:p>
          </p:txBody>
        </p:sp>
        <p:sp>
          <p:nvSpPr>
            <p:cNvPr id="7" name="Rectangle 15">
              <a:extLst>
                <a:ext uri="{FF2B5EF4-FFF2-40B4-BE49-F238E27FC236}">
                  <a16:creationId xmlns:a16="http://schemas.microsoft.com/office/drawing/2014/main" id="{0078C390-17F6-4E11-A73D-ACA3C89D4B08}"/>
                </a:ext>
              </a:extLst>
            </p:cNvPr>
            <p:cNvSpPr>
              <a:spLocks noChangeArrowheads="1"/>
            </p:cNvSpPr>
            <p:nvPr/>
          </p:nvSpPr>
          <p:spPr bwMode="auto">
            <a:xfrm>
              <a:off x="2293960" y="3203021"/>
              <a:ext cx="517525" cy="404812"/>
            </a:xfrm>
            <a:prstGeom prst="rect">
              <a:avLst/>
            </a:prstGeom>
            <a:noFill/>
            <a:ln w="9525">
              <a:noFill/>
              <a:miter lim="800000"/>
              <a:headEnd/>
              <a:tailEnd/>
            </a:ln>
            <a:effectLst/>
          </p:spPr>
          <p:txBody>
            <a:bodyPr wrap="none" lIns="92075" tIns="46038" rIns="92075" bIns="46038">
              <a:spAutoFit/>
            </a:bodyPr>
            <a:lstStyle/>
            <a:p>
              <a:pPr algn="l">
                <a:defRPr/>
              </a:pPr>
              <a:r>
                <a:rPr lang="en-US" sz="1800" b="1" dirty="0">
                  <a:solidFill>
                    <a:schemeClr val="accent1">
                      <a:lumMod val="50000"/>
                    </a:schemeClr>
                  </a:solidFill>
                  <a:latin typeface="Symbol" pitchFamily="18" charset="2"/>
                </a:rPr>
                <a:t>D</a:t>
              </a:r>
              <a:r>
                <a:rPr lang="en-US" sz="1800" b="1" dirty="0">
                  <a:solidFill>
                    <a:schemeClr val="accent1">
                      <a:lumMod val="50000"/>
                    </a:schemeClr>
                  </a:solidFill>
                </a:rPr>
                <a:t>x</a:t>
              </a:r>
              <a:r>
                <a:rPr lang="en-US" sz="1800" b="1" baseline="-25000" dirty="0">
                  <a:solidFill>
                    <a:schemeClr val="accent1">
                      <a:lumMod val="50000"/>
                    </a:schemeClr>
                  </a:solidFill>
                </a:rPr>
                <a:t>1</a:t>
              </a:r>
            </a:p>
          </p:txBody>
        </p:sp>
      </p:grpSp>
    </p:spTree>
    <p:extLst>
      <p:ext uri="{BB962C8B-B14F-4D97-AF65-F5344CB8AC3E}">
        <p14:creationId xmlns:p14="http://schemas.microsoft.com/office/powerpoint/2010/main" val="285798204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B108D-0EA6-07F9-EE1C-B05E827809B6}"/>
            </a:ext>
          </a:extLst>
        </p:cNvPr>
        <p:cNvGrpSpPr/>
        <p:nvPr/>
      </p:nvGrpSpPr>
      <p:grpSpPr>
        <a:xfrm>
          <a:off x="0" y="0"/>
          <a:ext cx="0" cy="0"/>
          <a:chOff x="0" y="0"/>
          <a:chExt cx="0" cy="0"/>
        </a:xfrm>
      </p:grpSpPr>
      <p:sp>
        <p:nvSpPr>
          <p:cNvPr id="2" name="CustomShape 1">
            <a:extLst>
              <a:ext uri="{FF2B5EF4-FFF2-40B4-BE49-F238E27FC236}">
                <a16:creationId xmlns:a16="http://schemas.microsoft.com/office/drawing/2014/main" id="{92BC6B31-B2C6-6110-65F1-84114CB7E39B}"/>
              </a:ext>
            </a:extLst>
          </p:cNvPr>
          <p:cNvSpPr/>
          <p:nvPr/>
        </p:nvSpPr>
        <p:spPr>
          <a:xfrm>
            <a:off x="0" y="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lvl="1" algn="ctr">
              <a:lnSpc>
                <a:spcPct val="107000"/>
              </a:lnSpc>
              <a:spcAft>
                <a:spcPts val="800"/>
              </a:spcAft>
            </a:pPr>
            <a:r>
              <a:rPr lang="en-US" sz="40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Utility maximization – utility function</a:t>
            </a:r>
          </a:p>
        </p:txBody>
      </p:sp>
      <mc:AlternateContent xmlns:mc="http://schemas.openxmlformats.org/markup-compatibility/2006" xmlns:a14="http://schemas.microsoft.com/office/drawing/2010/main">
        <mc:Choice Requires="a14">
          <p:sp>
            <p:nvSpPr>
              <p:cNvPr id="81" name="CustomShape 2">
                <a:extLst>
                  <a:ext uri="{FF2B5EF4-FFF2-40B4-BE49-F238E27FC236}">
                    <a16:creationId xmlns:a16="http://schemas.microsoft.com/office/drawing/2014/main" id="{A3E15E44-AE33-DF61-8353-C1D7486AE336}"/>
                  </a:ext>
                </a:extLst>
              </p:cNvPr>
              <p:cNvSpPr/>
              <p:nvPr/>
            </p:nvSpPr>
            <p:spPr>
              <a:xfrm>
                <a:off x="5241718" y="1242407"/>
                <a:ext cx="7305610" cy="546663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7000"/>
                  </a:lnSpc>
                  <a:spcAft>
                    <a:spcPts val="800"/>
                  </a:spcAft>
                </a:pPr>
                <a:r>
                  <a:rPr lang="en-GB" sz="24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Marginal Rate of Substitution (MRS) derive from total differential:</a:t>
                </a:r>
                <a:endParaRPr lang="pl-PL" sz="2400" kern="1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marL="457200">
                  <a:lnSpc>
                    <a:spcPct val="107000"/>
                  </a:lnSpc>
                  <a:spcAft>
                    <a:spcPts val="800"/>
                  </a:spcAft>
                </a:pPr>
                <a14:m>
                  <m:oMathPara xmlns:m="http://schemas.openxmlformats.org/officeDocument/2006/math">
                    <m:oMathParaPr>
                      <m:jc m:val="centerGroup"/>
                    </m:oMathParaPr>
                    <m:oMath xmlns:m="http://schemas.openxmlformats.org/officeDocument/2006/math">
                      <m:r>
                        <m:rPr>
                          <m:sty m:val="p"/>
                        </m:rPr>
                        <a:rPr lang="en-GB" sz="2400"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Δ</m:t>
                      </m:r>
                      <m:r>
                        <a:rPr lang="en-GB"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𝑈</m:t>
                      </m:r>
                      <m:r>
                        <a:rPr lang="en-GB"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=0=</m:t>
                      </m:r>
                      <m:r>
                        <m:rPr>
                          <m:sty m:val="p"/>
                        </m:rPr>
                        <a:rPr lang="en-GB" sz="2400"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Δ</m:t>
                      </m:r>
                      <m:sSub>
                        <m:sSubPr>
                          <m:ctrlP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GB"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f>
                        <m:fPr>
                          <m:ctrlP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GB" sz="2400"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δ</m:t>
                          </m:r>
                          <m:r>
                            <a:rPr lang="en-GB"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𝑈</m:t>
                          </m:r>
                        </m:num>
                        <m:den>
                          <m:r>
                            <m:rPr>
                              <m:sty m:val="p"/>
                            </m:rPr>
                            <a:rPr lang="en-GB" sz="2400"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δ</m:t>
                          </m:r>
                          <m:sSub>
                            <m:sSubPr>
                              <m:ctrlP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𝑋</m:t>
                              </m:r>
                            </m:e>
                            <m:sub>
                              <m:r>
                                <a:rPr lang="en-GB"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den>
                      </m:f>
                      <m:r>
                        <a:rPr lang="en-GB"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GB" sz="2400"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Δ</m:t>
                      </m:r>
                      <m:sSub>
                        <m:sSubPr>
                          <m:ctrlP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GB"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f>
                        <m:fPr>
                          <m:ctrlP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GB" sz="2400"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δ</m:t>
                          </m:r>
                          <m:r>
                            <a:rPr lang="en-GB"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𝑈</m:t>
                          </m:r>
                        </m:num>
                        <m:den>
                          <m:r>
                            <m:rPr>
                              <m:sty m:val="p"/>
                            </m:rPr>
                            <a:rPr lang="en-GB" sz="2400"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δ</m:t>
                          </m:r>
                          <m:sSub>
                            <m:sSubPr>
                              <m:ctrlP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𝑋</m:t>
                              </m:r>
                            </m:e>
                            <m:sub>
                              <m:r>
                                <a:rPr lang="en-GB"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den>
                      </m:f>
                    </m:oMath>
                  </m:oMathPara>
                </a14:m>
                <a:endParaRPr lang="pl-PL" sz="2400" kern="1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a:lnSpc>
                    <a:spcPct val="107000"/>
                  </a:lnSpc>
                  <a:spcAft>
                    <a:spcPts val="800"/>
                  </a:spcAft>
                </a:pPr>
                <a:r>
                  <a:rPr lang="pl-PL" sz="24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Ratio of </a:t>
                </a:r>
                <a:r>
                  <a:rPr lang="pl-PL" sz="2400" b="1" kern="0" dirty="0" err="1">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Marginal</a:t>
                </a:r>
                <a:r>
                  <a:rPr lang="pl-PL" sz="24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Utilities:</a:t>
                </a:r>
                <a:endParaRPr lang="pl-PL" sz="2400" kern="1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marL="457200">
                  <a:lnSpc>
                    <a:spcPct val="107000"/>
                  </a:lnSpc>
                  <a:spcAft>
                    <a:spcPts val="800"/>
                  </a:spcAft>
                </a:pPr>
                <a14:m>
                  <m:oMathPara xmlns:m="http://schemas.openxmlformats.org/officeDocument/2006/math">
                    <m:oMathParaPr>
                      <m:jc m:val="centerGroup"/>
                    </m:oMathParaPr>
                    <m:oMath xmlns:m="http://schemas.openxmlformats.org/officeDocument/2006/math">
                      <m:f>
                        <m:fPr>
                          <m:ctrlP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pl-PL" sz="2400"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Δ</m:t>
                          </m:r>
                          <m:sSub>
                            <m:sSubPr>
                              <m:ctrlP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num>
                        <m:den>
                          <m:r>
                            <m:rPr>
                              <m:sty m:val="p"/>
                            </m:rPr>
                            <a:rPr lang="pl-PL" sz="2400"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Δ</m:t>
                          </m:r>
                          <m:sSub>
                            <m:sSubPr>
                              <m:ctrlP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den>
                      </m:f>
                      <m: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f>
                            <m:fPr>
                              <m:ctrlP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pl-PL" sz="2400"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δ</m:t>
                              </m:r>
                              <m: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𝑈</m:t>
                              </m:r>
                            </m:num>
                            <m:den>
                              <m:r>
                                <m:rPr>
                                  <m:sty m:val="p"/>
                                </m:rPr>
                                <a:rPr lang="pl-PL" sz="2400"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δ</m:t>
                              </m:r>
                              <m:sSub>
                                <m:sSubPr>
                                  <m:ctrlP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den>
                          </m:f>
                        </m:num>
                        <m:den>
                          <m:f>
                            <m:fPr>
                              <m:ctrlP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pl-PL" sz="2400"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δ</m:t>
                              </m:r>
                              <m: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𝑈</m:t>
                              </m:r>
                            </m:num>
                            <m:den>
                              <m:r>
                                <m:rPr>
                                  <m:sty m:val="p"/>
                                </m:rPr>
                                <a:rPr lang="pl-PL" sz="2400"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δ</m:t>
                              </m:r>
                              <m:sSub>
                                <m:sSubPr>
                                  <m:ctrlP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den>
                          </m:f>
                        </m:den>
                      </m:f>
                      <m: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𝑀</m:t>
                          </m:r>
                          <m:sSub>
                            <m:sSubPr>
                              <m:ctrlP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𝑈</m:t>
                              </m:r>
                            </m:e>
                            <m:sub>
                              <m: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num>
                        <m:den>
                          <m: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𝑀</m:t>
                          </m:r>
                          <m:sSub>
                            <m:sSubPr>
                              <m:ctrlP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𝑈</m:t>
                              </m:r>
                            </m:e>
                            <m:sub>
                              <m:r>
                                <a:rPr lang="pl-PL" sz="2400"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den>
                      </m:f>
                    </m:oMath>
                  </m:oMathPara>
                </a14:m>
                <a:endParaRPr lang="pl-PL" sz="2400" kern="1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lvl="0">
                  <a:lnSpc>
                    <a:spcPct val="107000"/>
                  </a:lnSpc>
                  <a:spcAft>
                    <a:spcPts val="800"/>
                  </a:spcAft>
                  <a:buSzPts val="1000"/>
                  <a:tabLst>
                    <a:tab pos="457200" algn="l"/>
                  </a:tabLst>
                </a:pPr>
                <a:r>
                  <a:rPr lang="pl-PL"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Δ</a:t>
                </a:r>
                <a:r>
                  <a:rPr lang="en-GB"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U the change in utility,</a:t>
                </a:r>
                <a:endParaRPr lang="pl-PL" kern="1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lvl="0">
                  <a:lnSpc>
                    <a:spcPct val="107000"/>
                  </a:lnSpc>
                  <a:spcAft>
                    <a:spcPts val="800"/>
                  </a:spcAft>
                  <a:buSzPts val="1000"/>
                  <a:tabLst>
                    <a:tab pos="457200" algn="l"/>
                  </a:tabLst>
                </a:pPr>
                <a:r>
                  <a:rPr lang="pl-PL"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Δ</a:t>
                </a:r>
                <a:r>
                  <a:rPr lang="en-GB"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x</a:t>
                </a:r>
                <a:r>
                  <a:rPr lang="en-GB" kern="0" baseline="-250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1</a:t>
                </a:r>
                <a:r>
                  <a:rPr lang="en-GB"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and </a:t>
                </a:r>
                <a:r>
                  <a:rPr lang="pl-PL"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Δ</a:t>
                </a:r>
                <a:r>
                  <a:rPr lang="en-GB"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x</a:t>
                </a:r>
                <a:r>
                  <a:rPr lang="en-GB" kern="0" baseline="-250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2</a:t>
                </a:r>
                <a:r>
                  <a:rPr lang="en-GB"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are changes in goods x1and x2​,</a:t>
                </a:r>
                <a:endParaRPr lang="pl-PL" kern="1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lvl="0">
                  <a:lnSpc>
                    <a:spcPct val="107000"/>
                  </a:lnSpc>
                  <a:spcAft>
                    <a:spcPts val="800"/>
                  </a:spcAft>
                  <a:buSzPts val="1000"/>
                  <a:tabLst>
                    <a:tab pos="457200" algn="l"/>
                  </a:tabLst>
                </a:pPr>
                <a14:m>
                  <m:oMath xmlns:m="http://schemas.openxmlformats.org/officeDocument/2006/math">
                    <m:f>
                      <m:fPr>
                        <m:ctrlPr>
                          <a:rPr lang="pl-PL"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pl-PL"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δ</m:t>
                        </m:r>
                        <m:r>
                          <a:rPr lang="pl-PL"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𝑈</m:t>
                        </m:r>
                      </m:num>
                      <m:den>
                        <m:r>
                          <m:rPr>
                            <m:sty m:val="p"/>
                          </m:rPr>
                          <a:rPr lang="pl-PL"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δ</m:t>
                        </m:r>
                        <m:sSub>
                          <m:sSubPr>
                            <m:ctrlPr>
                              <a:rPr lang="pl-PL"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GB"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den>
                    </m:f>
                    <m:r>
                      <a:rPr lang="pl-PL"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GB"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pl-PL"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𝑀</m:t>
                    </m:r>
                    <m:sSub>
                      <m:sSubPr>
                        <m:ctrlPr>
                          <a:rPr lang="pl-PL"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pl-PL"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𝑈</m:t>
                        </m:r>
                      </m:e>
                      <m:sub>
                        <m:r>
                          <a:rPr lang="en-GB"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1</m:t>
                        </m:r>
                      </m:sub>
                    </m:sSub>
                    <m:r>
                      <a:rPr lang="pl-PL"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GB"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and </a:t>
                </a:r>
                <a14:m>
                  <m:oMath xmlns:m="http://schemas.openxmlformats.org/officeDocument/2006/math">
                    <m:f>
                      <m:fPr>
                        <m:ctrlPr>
                          <a:rPr lang="pl-PL"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pl-PL"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δ</m:t>
                        </m:r>
                        <m:r>
                          <a:rPr lang="pl-PL"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𝑈</m:t>
                        </m:r>
                      </m:num>
                      <m:den>
                        <m:r>
                          <m:rPr>
                            <m:sty m:val="p"/>
                          </m:rPr>
                          <a:rPr lang="pl-PL"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δ</m:t>
                        </m:r>
                        <m:sSub>
                          <m:sSubPr>
                            <m:ctrlPr>
                              <a:rPr lang="pl-PL"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GB"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GB"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den>
                    </m:f>
                    <m:r>
                      <a:rPr lang="pl-PL"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GB"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pl-PL"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𝑀</m:t>
                    </m:r>
                    <m:sSub>
                      <m:sSubPr>
                        <m:ctrlPr>
                          <a:rPr lang="pl-PL"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pl-PL"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𝑈</m:t>
                        </m:r>
                      </m:e>
                      <m:sub>
                        <m:r>
                          <a:rPr lang="en-GB"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2</m:t>
                        </m:r>
                      </m:sub>
                    </m:sSub>
                    <m:r>
                      <a:rPr lang="pl-PL" i="1" kern="0">
                        <a:solidFill>
                          <a:schemeClr val="accent5">
                            <a:lumMod val="50000"/>
                          </a:schemeClr>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pl-PL"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t>
                </a:r>
                <a:r>
                  <a:rPr lang="en-GB"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the marginal utilities</a:t>
                </a:r>
                <a:endParaRPr lang="pl-PL" kern="1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CustomShape 2">
                <a:extLst>
                  <a:ext uri="{FF2B5EF4-FFF2-40B4-BE49-F238E27FC236}">
                    <a16:creationId xmlns:a16="http://schemas.microsoft.com/office/drawing/2014/main" id="{A3E15E44-AE33-DF61-8353-C1D7486AE336}"/>
                  </a:ext>
                </a:extLst>
              </p:cNvPr>
              <p:cNvSpPr>
                <a:spLocks noRot="1" noChangeAspect="1" noMove="1" noResize="1" noEditPoints="1" noAdjustHandles="1" noChangeArrowheads="1" noChangeShapeType="1" noTextEdit="1"/>
              </p:cNvSpPr>
              <p:nvPr/>
            </p:nvSpPr>
            <p:spPr>
              <a:xfrm>
                <a:off x="5241718" y="1242407"/>
                <a:ext cx="7305610" cy="5466638"/>
              </a:xfrm>
              <a:prstGeom prst="rect">
                <a:avLst/>
              </a:prstGeom>
              <a:blipFill>
                <a:blip r:embed="rId2"/>
                <a:stretch>
                  <a:fillRect l="-1336" t="-780"/>
                </a:stretch>
              </a:blipFill>
              <a:ln>
                <a:noFill/>
              </a:ln>
            </p:spPr>
            <p:txBody>
              <a:bodyPr/>
              <a:lstStyle/>
              <a:p>
                <a:r>
                  <a:rPr lang="pl-PL">
                    <a:noFill/>
                  </a:rPr>
                  <a:t> </a:t>
                </a:r>
              </a:p>
            </p:txBody>
          </p:sp>
        </mc:Fallback>
      </mc:AlternateContent>
      <p:grpSp>
        <p:nvGrpSpPr>
          <p:cNvPr id="17" name="Grupa 16">
            <a:extLst>
              <a:ext uri="{FF2B5EF4-FFF2-40B4-BE49-F238E27FC236}">
                <a16:creationId xmlns:a16="http://schemas.microsoft.com/office/drawing/2014/main" id="{3081BBAF-C2CF-4A2F-4FD5-3EBF57BDA4B0}"/>
              </a:ext>
            </a:extLst>
          </p:cNvPr>
          <p:cNvGrpSpPr/>
          <p:nvPr/>
        </p:nvGrpSpPr>
        <p:grpSpPr>
          <a:xfrm>
            <a:off x="233482" y="1729215"/>
            <a:ext cx="4572396" cy="3810330"/>
            <a:chOff x="-183078" y="708965"/>
            <a:chExt cx="4572396" cy="3810330"/>
          </a:xfrm>
        </p:grpSpPr>
        <p:pic>
          <p:nvPicPr>
            <p:cNvPr id="18" name="Obraz 17">
              <a:extLst>
                <a:ext uri="{FF2B5EF4-FFF2-40B4-BE49-F238E27FC236}">
                  <a16:creationId xmlns:a16="http://schemas.microsoft.com/office/drawing/2014/main" id="{BA94EC8F-66B9-8340-DE3A-50E5139D336A}"/>
                </a:ext>
              </a:extLst>
            </p:cNvPr>
            <p:cNvPicPr>
              <a:picLocks noChangeAspect="1"/>
            </p:cNvPicPr>
            <p:nvPr/>
          </p:nvPicPr>
          <p:blipFill>
            <a:blip r:embed="rId3"/>
            <a:stretch>
              <a:fillRect/>
            </a:stretch>
          </p:blipFill>
          <p:spPr>
            <a:xfrm>
              <a:off x="-183078" y="708965"/>
              <a:ext cx="4572396" cy="3810330"/>
            </a:xfrm>
            <a:prstGeom prst="rect">
              <a:avLst/>
            </a:prstGeom>
          </p:spPr>
        </p:pic>
        <p:cxnSp>
          <p:nvCxnSpPr>
            <p:cNvPr id="19" name="Łącznik prosty 18">
              <a:extLst>
                <a:ext uri="{FF2B5EF4-FFF2-40B4-BE49-F238E27FC236}">
                  <a16:creationId xmlns:a16="http://schemas.microsoft.com/office/drawing/2014/main" id="{B7BCBFE5-5B2B-5747-0BBF-772D0714BB4E}"/>
                </a:ext>
              </a:extLst>
            </p:cNvPr>
            <p:cNvCxnSpPr>
              <a:cxnSpLocks/>
            </p:cNvCxnSpPr>
            <p:nvPr/>
          </p:nvCxnSpPr>
          <p:spPr>
            <a:xfrm>
              <a:off x="513080" y="2703272"/>
              <a:ext cx="3180080" cy="560379"/>
            </a:xfrm>
            <a:prstGeom prst="line">
              <a:avLst/>
            </a:prstGeom>
          </p:spPr>
          <p:style>
            <a:lnRef idx="3">
              <a:schemeClr val="accent1"/>
            </a:lnRef>
            <a:fillRef idx="0">
              <a:schemeClr val="accent1"/>
            </a:fillRef>
            <a:effectRef idx="2">
              <a:schemeClr val="accent1"/>
            </a:effectRef>
            <a:fontRef idx="minor">
              <a:schemeClr val="tx1"/>
            </a:fontRef>
          </p:style>
        </p:cxnSp>
        <p:sp>
          <p:nvSpPr>
            <p:cNvPr id="20" name="Line 12">
              <a:extLst>
                <a:ext uri="{FF2B5EF4-FFF2-40B4-BE49-F238E27FC236}">
                  <a16:creationId xmlns:a16="http://schemas.microsoft.com/office/drawing/2014/main" id="{77D57590-26E2-31CC-89A6-9FAD1922A6FC}"/>
                </a:ext>
              </a:extLst>
            </p:cNvPr>
            <p:cNvSpPr>
              <a:spLocks noChangeShapeType="1"/>
            </p:cNvSpPr>
            <p:nvPr/>
          </p:nvSpPr>
          <p:spPr bwMode="auto">
            <a:xfrm flipH="1">
              <a:off x="1713286" y="2911341"/>
              <a:ext cx="0" cy="246541"/>
            </a:xfrm>
            <a:prstGeom prst="line">
              <a:avLst/>
            </a:prstGeom>
            <a:noFill/>
            <a:ln w="25400">
              <a:solidFill>
                <a:schemeClr val="tx1"/>
              </a:solidFill>
              <a:prstDash val="dash"/>
              <a:round/>
              <a:headEnd type="none" w="sm" len="sm"/>
              <a:tailEnd type="none" w="sm" len="sm"/>
            </a:ln>
            <a:effectLst/>
          </p:spPr>
          <p:txBody>
            <a:bodyPr wrap="none" anchor="ctr"/>
            <a:lstStyle/>
            <a:p>
              <a:pPr>
                <a:defRPr/>
              </a:pPr>
              <a:endParaRPr lang="pl-PL" sz="1800">
                <a:solidFill>
                  <a:schemeClr val="accent1">
                    <a:lumMod val="50000"/>
                  </a:schemeClr>
                </a:solidFill>
              </a:endParaRPr>
            </a:p>
          </p:txBody>
        </p:sp>
        <p:sp>
          <p:nvSpPr>
            <p:cNvPr id="21" name="Line 13">
              <a:extLst>
                <a:ext uri="{FF2B5EF4-FFF2-40B4-BE49-F238E27FC236}">
                  <a16:creationId xmlns:a16="http://schemas.microsoft.com/office/drawing/2014/main" id="{4D3E6BA5-6461-1219-AE88-73B8CBD2850D}"/>
                </a:ext>
              </a:extLst>
            </p:cNvPr>
            <p:cNvSpPr>
              <a:spLocks noChangeShapeType="1"/>
            </p:cNvSpPr>
            <p:nvPr/>
          </p:nvSpPr>
          <p:spPr bwMode="auto">
            <a:xfrm>
              <a:off x="1741282" y="3168993"/>
              <a:ext cx="1387998" cy="34027"/>
            </a:xfrm>
            <a:prstGeom prst="line">
              <a:avLst/>
            </a:prstGeom>
            <a:noFill/>
            <a:ln w="25400">
              <a:solidFill>
                <a:schemeClr val="tx1"/>
              </a:solidFill>
              <a:prstDash val="dash"/>
              <a:round/>
              <a:headEnd type="none" w="sm" len="sm"/>
              <a:tailEnd type="none" w="sm" len="sm"/>
            </a:ln>
            <a:effectLst/>
          </p:spPr>
          <p:txBody>
            <a:bodyPr wrap="none" anchor="ctr"/>
            <a:lstStyle/>
            <a:p>
              <a:pPr>
                <a:defRPr/>
              </a:pPr>
              <a:endParaRPr lang="pl-PL" sz="1800">
                <a:solidFill>
                  <a:schemeClr val="accent1">
                    <a:lumMod val="50000"/>
                  </a:schemeClr>
                </a:solidFill>
              </a:endParaRPr>
            </a:p>
          </p:txBody>
        </p:sp>
        <p:sp>
          <p:nvSpPr>
            <p:cNvPr id="22" name="Rectangle 14">
              <a:extLst>
                <a:ext uri="{FF2B5EF4-FFF2-40B4-BE49-F238E27FC236}">
                  <a16:creationId xmlns:a16="http://schemas.microsoft.com/office/drawing/2014/main" id="{ABDC69F9-4A2D-B107-F4F4-5C93E7053BA2}"/>
                </a:ext>
              </a:extLst>
            </p:cNvPr>
            <p:cNvSpPr>
              <a:spLocks noChangeArrowheads="1"/>
            </p:cNvSpPr>
            <p:nvPr/>
          </p:nvSpPr>
          <p:spPr bwMode="auto">
            <a:xfrm>
              <a:off x="1277446" y="2955476"/>
              <a:ext cx="519112" cy="404813"/>
            </a:xfrm>
            <a:prstGeom prst="rect">
              <a:avLst/>
            </a:prstGeom>
            <a:noFill/>
            <a:ln w="9525">
              <a:noFill/>
              <a:miter lim="800000"/>
              <a:headEnd/>
              <a:tailEnd/>
            </a:ln>
            <a:effectLst/>
          </p:spPr>
          <p:txBody>
            <a:bodyPr wrap="none" lIns="92075" tIns="46038" rIns="92075" bIns="46038">
              <a:spAutoFit/>
            </a:bodyPr>
            <a:lstStyle/>
            <a:p>
              <a:pPr algn="l">
                <a:defRPr/>
              </a:pPr>
              <a:r>
                <a:rPr lang="en-US" sz="1800" b="1" dirty="0">
                  <a:solidFill>
                    <a:schemeClr val="accent1">
                      <a:lumMod val="50000"/>
                    </a:schemeClr>
                  </a:solidFill>
                  <a:latin typeface="Symbol" pitchFamily="18" charset="2"/>
                </a:rPr>
                <a:t>D</a:t>
              </a:r>
              <a:r>
                <a:rPr lang="en-US" sz="1800" b="1" dirty="0">
                  <a:solidFill>
                    <a:schemeClr val="accent1">
                      <a:lumMod val="50000"/>
                    </a:schemeClr>
                  </a:solidFill>
                </a:rPr>
                <a:t>x</a:t>
              </a:r>
              <a:r>
                <a:rPr lang="en-US" sz="1800" b="1" baseline="-25000" dirty="0">
                  <a:solidFill>
                    <a:schemeClr val="accent1">
                      <a:lumMod val="50000"/>
                    </a:schemeClr>
                  </a:solidFill>
                </a:rPr>
                <a:t>2</a:t>
              </a:r>
            </a:p>
          </p:txBody>
        </p:sp>
        <p:sp>
          <p:nvSpPr>
            <p:cNvPr id="23" name="Rectangle 15">
              <a:extLst>
                <a:ext uri="{FF2B5EF4-FFF2-40B4-BE49-F238E27FC236}">
                  <a16:creationId xmlns:a16="http://schemas.microsoft.com/office/drawing/2014/main" id="{00122D7A-5BCC-A237-37A4-168A4A468A70}"/>
                </a:ext>
              </a:extLst>
            </p:cNvPr>
            <p:cNvSpPr>
              <a:spLocks noChangeArrowheads="1"/>
            </p:cNvSpPr>
            <p:nvPr/>
          </p:nvSpPr>
          <p:spPr bwMode="auto">
            <a:xfrm>
              <a:off x="2293960" y="3203021"/>
              <a:ext cx="517525" cy="404812"/>
            </a:xfrm>
            <a:prstGeom prst="rect">
              <a:avLst/>
            </a:prstGeom>
            <a:noFill/>
            <a:ln w="9525">
              <a:noFill/>
              <a:miter lim="800000"/>
              <a:headEnd/>
              <a:tailEnd/>
            </a:ln>
            <a:effectLst/>
          </p:spPr>
          <p:txBody>
            <a:bodyPr wrap="none" lIns="92075" tIns="46038" rIns="92075" bIns="46038">
              <a:spAutoFit/>
            </a:bodyPr>
            <a:lstStyle/>
            <a:p>
              <a:pPr algn="l">
                <a:defRPr/>
              </a:pPr>
              <a:r>
                <a:rPr lang="en-US" sz="1800" b="1" dirty="0">
                  <a:solidFill>
                    <a:schemeClr val="accent1">
                      <a:lumMod val="50000"/>
                    </a:schemeClr>
                  </a:solidFill>
                  <a:latin typeface="Symbol" pitchFamily="18" charset="2"/>
                </a:rPr>
                <a:t>D</a:t>
              </a:r>
              <a:r>
                <a:rPr lang="en-US" sz="1800" b="1" dirty="0">
                  <a:solidFill>
                    <a:schemeClr val="accent1">
                      <a:lumMod val="50000"/>
                    </a:schemeClr>
                  </a:solidFill>
                </a:rPr>
                <a:t>x</a:t>
              </a:r>
              <a:r>
                <a:rPr lang="en-US" sz="1800" b="1" baseline="-25000" dirty="0">
                  <a:solidFill>
                    <a:schemeClr val="accent1">
                      <a:lumMod val="50000"/>
                    </a:schemeClr>
                  </a:solidFill>
                </a:rPr>
                <a:t>1</a:t>
              </a:r>
            </a:p>
          </p:txBody>
        </p:sp>
      </p:grpSp>
    </p:spTree>
    <p:extLst>
      <p:ext uri="{BB962C8B-B14F-4D97-AF65-F5344CB8AC3E}">
        <p14:creationId xmlns:p14="http://schemas.microsoft.com/office/powerpoint/2010/main" val="222273211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7C262-BC8E-BE9F-0E48-DCB695B45A96}"/>
            </a:ext>
          </a:extLst>
        </p:cNvPr>
        <p:cNvGrpSpPr/>
        <p:nvPr/>
      </p:nvGrpSpPr>
      <p:grpSpPr>
        <a:xfrm>
          <a:off x="0" y="0"/>
          <a:ext cx="0" cy="0"/>
          <a:chOff x="0" y="0"/>
          <a:chExt cx="0" cy="0"/>
        </a:xfrm>
      </p:grpSpPr>
      <p:sp>
        <p:nvSpPr>
          <p:cNvPr id="80" name="CustomShape 1">
            <a:extLst>
              <a:ext uri="{FF2B5EF4-FFF2-40B4-BE49-F238E27FC236}">
                <a16:creationId xmlns:a16="http://schemas.microsoft.com/office/drawing/2014/main" id="{7617F010-27B1-4B58-A1D6-229E80539697}"/>
              </a:ext>
            </a:extLst>
          </p:cNvPr>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lvl="1">
              <a:lnSpc>
                <a:spcPct val="107000"/>
              </a:lnSpc>
              <a:spcAft>
                <a:spcPts val="800"/>
              </a:spcAft>
            </a:pPr>
            <a:r>
              <a:rPr lang="en-US" sz="40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Utility maximization </a:t>
            </a:r>
            <a:r>
              <a:rPr lang="en-US" sz="4000" b="1"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Psychological Perspective on MRS</a:t>
            </a:r>
            <a:endParaRPr lang="pl-PL" sz="4000" b="1"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grpSp>
        <p:nvGrpSpPr>
          <p:cNvPr id="2" name="Grupa 31">
            <a:extLst>
              <a:ext uri="{FF2B5EF4-FFF2-40B4-BE49-F238E27FC236}">
                <a16:creationId xmlns:a16="http://schemas.microsoft.com/office/drawing/2014/main" id="{802C9898-563A-CDE5-1B67-4F6FA96765CE}"/>
              </a:ext>
            </a:extLst>
          </p:cNvPr>
          <p:cNvGrpSpPr>
            <a:grpSpLocks/>
          </p:cNvGrpSpPr>
          <p:nvPr/>
        </p:nvGrpSpPr>
        <p:grpSpPr bwMode="auto">
          <a:xfrm>
            <a:off x="217488" y="1490663"/>
            <a:ext cx="4768850" cy="4659312"/>
            <a:chOff x="190954" y="2081666"/>
            <a:chExt cx="4971148" cy="4256174"/>
          </a:xfrm>
        </p:grpSpPr>
        <p:sp>
          <p:nvSpPr>
            <p:cNvPr id="3" name="Line 20">
              <a:extLst>
                <a:ext uri="{FF2B5EF4-FFF2-40B4-BE49-F238E27FC236}">
                  <a16:creationId xmlns:a16="http://schemas.microsoft.com/office/drawing/2014/main" id="{E9127A00-5949-1E6C-B4FA-BF2772DDE0FC}"/>
                </a:ext>
              </a:extLst>
            </p:cNvPr>
            <p:cNvSpPr>
              <a:spLocks noChangeShapeType="1"/>
            </p:cNvSpPr>
            <p:nvPr/>
          </p:nvSpPr>
          <p:spPr bwMode="auto">
            <a:xfrm>
              <a:off x="950526" y="2969155"/>
              <a:ext cx="1904725" cy="2285428"/>
            </a:xfrm>
            <a:prstGeom prst="line">
              <a:avLst/>
            </a:prstGeom>
            <a:ln>
              <a:headEnd type="none" w="sm" len="sm"/>
              <a:tailEnd type="none" w="sm" len="sm"/>
            </a:ln>
          </p:spPr>
          <p:style>
            <a:lnRef idx="1">
              <a:schemeClr val="dk1"/>
            </a:lnRef>
            <a:fillRef idx="0">
              <a:schemeClr val="dk1"/>
            </a:fillRef>
            <a:effectRef idx="0">
              <a:schemeClr val="dk1"/>
            </a:effectRef>
            <a:fontRef idx="minor">
              <a:schemeClr val="tx1"/>
            </a:fontRef>
          </p:style>
          <p:txBody>
            <a:bodyPr wrap="none" anchor="ctr"/>
            <a:lstStyle/>
            <a:p>
              <a:pPr>
                <a:defRPr/>
              </a:pPr>
              <a:endParaRPr lang="pl-PL" sz="1800">
                <a:solidFill>
                  <a:schemeClr val="accent1">
                    <a:lumMod val="50000"/>
                  </a:schemeClr>
                </a:solidFill>
              </a:endParaRPr>
            </a:p>
          </p:txBody>
        </p:sp>
        <p:sp>
          <p:nvSpPr>
            <p:cNvPr id="4" name="Line 3">
              <a:extLst>
                <a:ext uri="{FF2B5EF4-FFF2-40B4-BE49-F238E27FC236}">
                  <a16:creationId xmlns:a16="http://schemas.microsoft.com/office/drawing/2014/main" id="{99FA8582-6439-0378-B7E0-3A4347F36127}"/>
                </a:ext>
              </a:extLst>
            </p:cNvPr>
            <p:cNvSpPr>
              <a:spLocks noChangeShapeType="1"/>
            </p:cNvSpPr>
            <p:nvPr/>
          </p:nvSpPr>
          <p:spPr bwMode="auto">
            <a:xfrm>
              <a:off x="816485" y="2416649"/>
              <a:ext cx="0" cy="3429592"/>
            </a:xfrm>
            <a:prstGeom prst="line">
              <a:avLst/>
            </a:prstGeom>
            <a:ln>
              <a:headEnd type="triangle" w="med" len="med"/>
              <a:tailEnd type="none" w="sm" len="sm"/>
            </a:ln>
          </p:spPr>
          <p:style>
            <a:lnRef idx="2">
              <a:schemeClr val="dk1"/>
            </a:lnRef>
            <a:fillRef idx="0">
              <a:schemeClr val="dk1"/>
            </a:fillRef>
            <a:effectRef idx="1">
              <a:schemeClr val="dk1"/>
            </a:effectRef>
            <a:fontRef idx="minor">
              <a:schemeClr val="tx1"/>
            </a:fontRef>
          </p:style>
          <p:txBody>
            <a:bodyPr wrap="none" anchor="ctr"/>
            <a:lstStyle/>
            <a:p>
              <a:pPr>
                <a:defRPr/>
              </a:pPr>
              <a:endParaRPr lang="pl-PL" sz="1800">
                <a:solidFill>
                  <a:schemeClr val="accent1">
                    <a:lumMod val="50000"/>
                  </a:schemeClr>
                </a:solidFill>
              </a:endParaRPr>
            </a:p>
          </p:txBody>
        </p:sp>
        <p:sp>
          <p:nvSpPr>
            <p:cNvPr id="5" name="Line 4">
              <a:extLst>
                <a:ext uri="{FF2B5EF4-FFF2-40B4-BE49-F238E27FC236}">
                  <a16:creationId xmlns:a16="http://schemas.microsoft.com/office/drawing/2014/main" id="{EEBAB9E0-A6C1-0727-994B-FFB2A5D76132}"/>
                </a:ext>
              </a:extLst>
            </p:cNvPr>
            <p:cNvSpPr>
              <a:spLocks noChangeShapeType="1"/>
            </p:cNvSpPr>
            <p:nvPr/>
          </p:nvSpPr>
          <p:spPr bwMode="auto">
            <a:xfrm>
              <a:off x="816485" y="5846241"/>
              <a:ext cx="4037817" cy="0"/>
            </a:xfrm>
            <a:prstGeom prst="line">
              <a:avLst/>
            </a:prstGeom>
            <a:ln>
              <a:headEnd type="none" w="sm" len="sm"/>
              <a:tailEnd type="triangl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pl-PL" sz="1800">
                <a:solidFill>
                  <a:schemeClr val="accent1">
                    <a:lumMod val="50000"/>
                  </a:schemeClr>
                </a:solidFill>
              </a:endParaRPr>
            </a:p>
          </p:txBody>
        </p:sp>
        <p:sp>
          <p:nvSpPr>
            <p:cNvPr id="7" name="Rectangle 5">
              <a:extLst>
                <a:ext uri="{FF2B5EF4-FFF2-40B4-BE49-F238E27FC236}">
                  <a16:creationId xmlns:a16="http://schemas.microsoft.com/office/drawing/2014/main" id="{F25BAF51-ED7D-7F52-9308-583BACECA852}"/>
                </a:ext>
              </a:extLst>
            </p:cNvPr>
            <p:cNvSpPr>
              <a:spLocks noChangeArrowheads="1"/>
            </p:cNvSpPr>
            <p:nvPr/>
          </p:nvSpPr>
          <p:spPr bwMode="auto">
            <a:xfrm>
              <a:off x="190954" y="2081666"/>
              <a:ext cx="398817" cy="369786"/>
            </a:xfrm>
            <a:prstGeom prst="rect">
              <a:avLst/>
            </a:prstGeom>
            <a:noFill/>
            <a:ln w="9525">
              <a:noFill/>
              <a:miter lim="800000"/>
              <a:headEnd/>
              <a:tailEnd/>
            </a:ln>
            <a:effectLst/>
          </p:spPr>
          <p:txBody>
            <a:bodyPr wrap="none" lIns="92075" tIns="46038" rIns="92075" bIns="46038">
              <a:spAutoFit/>
            </a:bodyPr>
            <a:lstStyle/>
            <a:p>
              <a:pPr algn="l">
                <a:defRPr/>
              </a:pPr>
              <a:r>
                <a:rPr lang="en-US" sz="1800" b="1" dirty="0">
                  <a:solidFill>
                    <a:schemeClr val="accent1">
                      <a:lumMod val="50000"/>
                    </a:schemeClr>
                  </a:solidFill>
                </a:rPr>
                <a:t>x</a:t>
              </a:r>
              <a:r>
                <a:rPr lang="en-US" sz="1800" b="1" baseline="-25000" dirty="0">
                  <a:solidFill>
                    <a:schemeClr val="accent1">
                      <a:lumMod val="50000"/>
                    </a:schemeClr>
                  </a:solidFill>
                </a:rPr>
                <a:t>2</a:t>
              </a:r>
            </a:p>
          </p:txBody>
        </p:sp>
        <p:sp>
          <p:nvSpPr>
            <p:cNvPr id="10" name="Rectangle 6">
              <a:extLst>
                <a:ext uri="{FF2B5EF4-FFF2-40B4-BE49-F238E27FC236}">
                  <a16:creationId xmlns:a16="http://schemas.microsoft.com/office/drawing/2014/main" id="{227C7241-5CC7-477A-971E-FC87BCE66F80}"/>
                </a:ext>
              </a:extLst>
            </p:cNvPr>
            <p:cNvSpPr>
              <a:spLocks noChangeArrowheads="1"/>
            </p:cNvSpPr>
            <p:nvPr/>
          </p:nvSpPr>
          <p:spPr bwMode="auto">
            <a:xfrm>
              <a:off x="4763284" y="5968054"/>
              <a:ext cx="398818" cy="369786"/>
            </a:xfrm>
            <a:prstGeom prst="rect">
              <a:avLst/>
            </a:prstGeom>
            <a:noFill/>
            <a:ln w="9525">
              <a:noFill/>
              <a:miter lim="800000"/>
              <a:headEnd/>
              <a:tailEnd/>
            </a:ln>
            <a:effectLst/>
          </p:spPr>
          <p:txBody>
            <a:bodyPr wrap="none" lIns="92075" tIns="46038" rIns="92075" bIns="46038">
              <a:spAutoFit/>
            </a:bodyPr>
            <a:lstStyle/>
            <a:p>
              <a:pPr algn="l">
                <a:defRPr/>
              </a:pPr>
              <a:r>
                <a:rPr lang="en-US" sz="1800" b="1" dirty="0">
                  <a:solidFill>
                    <a:schemeClr val="accent1">
                      <a:lumMod val="50000"/>
                    </a:schemeClr>
                  </a:solidFill>
                </a:rPr>
                <a:t>x</a:t>
              </a:r>
              <a:r>
                <a:rPr lang="en-US" sz="1800" b="1" baseline="-25000" dirty="0">
                  <a:solidFill>
                    <a:schemeClr val="accent1">
                      <a:lumMod val="50000"/>
                    </a:schemeClr>
                  </a:solidFill>
                </a:rPr>
                <a:t>1</a:t>
              </a:r>
            </a:p>
          </p:txBody>
        </p:sp>
        <p:sp>
          <p:nvSpPr>
            <p:cNvPr id="11" name="Arc 7">
              <a:extLst>
                <a:ext uri="{FF2B5EF4-FFF2-40B4-BE49-F238E27FC236}">
                  <a16:creationId xmlns:a16="http://schemas.microsoft.com/office/drawing/2014/main" id="{9E2EA9A4-DA26-F3C9-BBF0-1B74999C46BA}"/>
                </a:ext>
              </a:extLst>
            </p:cNvPr>
            <p:cNvSpPr>
              <a:spLocks/>
            </p:cNvSpPr>
            <p:nvPr/>
          </p:nvSpPr>
          <p:spPr bwMode="auto">
            <a:xfrm rot="10800000">
              <a:off x="1423811" y="2647222"/>
              <a:ext cx="3125999" cy="2666815"/>
            </a:xfrm>
            <a:custGeom>
              <a:avLst/>
              <a:gdLst>
                <a:gd name="G0" fmla="+- 11 0 0"/>
                <a:gd name="G1" fmla="+- 21600 0 0"/>
                <a:gd name="G2" fmla="+- 21600 0 0"/>
                <a:gd name="T0" fmla="*/ 0 w 21611"/>
                <a:gd name="T1" fmla="*/ 0 h 21600"/>
                <a:gd name="T2" fmla="*/ 21611 w 21611"/>
                <a:gd name="T3" fmla="*/ 21600 h 21600"/>
                <a:gd name="T4" fmla="*/ 11 w 21611"/>
                <a:gd name="T5" fmla="*/ 21600 h 21600"/>
              </a:gdLst>
              <a:ahLst/>
              <a:cxnLst>
                <a:cxn ang="0">
                  <a:pos x="T0" y="T1"/>
                </a:cxn>
                <a:cxn ang="0">
                  <a:pos x="T2" y="T3"/>
                </a:cxn>
                <a:cxn ang="0">
                  <a:pos x="T4" y="T5"/>
                </a:cxn>
              </a:cxnLst>
              <a:rect l="0" t="0" r="r" b="b"/>
              <a:pathLst>
                <a:path w="21611" h="21600" fill="none" extrusionOk="0">
                  <a:moveTo>
                    <a:pt x="0" y="0"/>
                  </a:moveTo>
                  <a:cubicBezTo>
                    <a:pt x="3" y="0"/>
                    <a:pt x="7" y="-1"/>
                    <a:pt x="11" y="0"/>
                  </a:cubicBezTo>
                  <a:cubicBezTo>
                    <a:pt x="11940" y="0"/>
                    <a:pt x="21611" y="9670"/>
                    <a:pt x="21611" y="21600"/>
                  </a:cubicBezTo>
                </a:path>
                <a:path w="21611" h="21600" stroke="0" extrusionOk="0">
                  <a:moveTo>
                    <a:pt x="0" y="0"/>
                  </a:moveTo>
                  <a:cubicBezTo>
                    <a:pt x="3" y="0"/>
                    <a:pt x="7" y="-1"/>
                    <a:pt x="11" y="0"/>
                  </a:cubicBezTo>
                  <a:cubicBezTo>
                    <a:pt x="11940" y="0"/>
                    <a:pt x="21611" y="9670"/>
                    <a:pt x="21611" y="21600"/>
                  </a:cubicBezTo>
                  <a:lnTo>
                    <a:pt x="11" y="21600"/>
                  </a:lnTo>
                  <a:close/>
                </a:path>
              </a:pathLst>
            </a:custGeom>
            <a:noFill/>
            <a:ln w="38100">
              <a:headEnd type="none" w="sm" len="sm"/>
              <a:tailEnd type="none" w="sm" len="sm"/>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pl-PL" sz="1800">
                <a:solidFill>
                  <a:schemeClr val="accent1">
                    <a:lumMod val="50000"/>
                  </a:schemeClr>
                </a:solidFill>
              </a:endParaRPr>
            </a:p>
          </p:txBody>
        </p:sp>
        <p:sp>
          <p:nvSpPr>
            <p:cNvPr id="12" name="Line 12">
              <a:extLst>
                <a:ext uri="{FF2B5EF4-FFF2-40B4-BE49-F238E27FC236}">
                  <a16:creationId xmlns:a16="http://schemas.microsoft.com/office/drawing/2014/main" id="{F8387B87-5E84-6303-985E-8057CCDC97E4}"/>
                </a:ext>
              </a:extLst>
            </p:cNvPr>
            <p:cNvSpPr>
              <a:spLocks noChangeShapeType="1"/>
            </p:cNvSpPr>
            <p:nvPr/>
          </p:nvSpPr>
          <p:spPr bwMode="auto">
            <a:xfrm>
              <a:off x="1501590" y="3614468"/>
              <a:ext cx="0" cy="1239874"/>
            </a:xfrm>
            <a:prstGeom prst="line">
              <a:avLst/>
            </a:prstGeom>
            <a:noFill/>
            <a:ln w="25400">
              <a:solidFill>
                <a:schemeClr val="tx1"/>
              </a:solidFill>
              <a:prstDash val="dash"/>
              <a:round/>
              <a:headEnd type="none" w="sm" len="sm"/>
              <a:tailEnd type="none" w="sm" len="sm"/>
            </a:ln>
            <a:effectLst/>
          </p:spPr>
          <p:txBody>
            <a:bodyPr wrap="none" anchor="ctr"/>
            <a:lstStyle/>
            <a:p>
              <a:pPr>
                <a:defRPr/>
              </a:pPr>
              <a:endParaRPr lang="pl-PL" sz="1800">
                <a:solidFill>
                  <a:schemeClr val="accent1">
                    <a:lumMod val="50000"/>
                  </a:schemeClr>
                </a:solidFill>
              </a:endParaRPr>
            </a:p>
          </p:txBody>
        </p:sp>
        <p:sp>
          <p:nvSpPr>
            <p:cNvPr id="13" name="Line 13">
              <a:extLst>
                <a:ext uri="{FF2B5EF4-FFF2-40B4-BE49-F238E27FC236}">
                  <a16:creationId xmlns:a16="http://schemas.microsoft.com/office/drawing/2014/main" id="{5D0B56D2-7E5A-3FA3-4951-6CD07286F2F8}"/>
                </a:ext>
              </a:extLst>
            </p:cNvPr>
            <p:cNvSpPr>
              <a:spLocks noChangeShapeType="1"/>
            </p:cNvSpPr>
            <p:nvPr/>
          </p:nvSpPr>
          <p:spPr bwMode="auto">
            <a:xfrm flipV="1">
              <a:off x="1501590" y="4844191"/>
              <a:ext cx="991250" cy="10151"/>
            </a:xfrm>
            <a:prstGeom prst="line">
              <a:avLst/>
            </a:prstGeom>
            <a:noFill/>
            <a:ln w="25400">
              <a:solidFill>
                <a:schemeClr val="tx1"/>
              </a:solidFill>
              <a:prstDash val="dash"/>
              <a:round/>
              <a:headEnd type="none" w="sm" len="sm"/>
              <a:tailEnd type="none" w="sm" len="sm"/>
            </a:ln>
            <a:effectLst/>
          </p:spPr>
          <p:txBody>
            <a:bodyPr wrap="none" anchor="ctr"/>
            <a:lstStyle/>
            <a:p>
              <a:pPr>
                <a:defRPr/>
              </a:pPr>
              <a:endParaRPr lang="pl-PL" sz="1800">
                <a:solidFill>
                  <a:schemeClr val="accent1">
                    <a:lumMod val="50000"/>
                  </a:schemeClr>
                </a:solidFill>
              </a:endParaRPr>
            </a:p>
          </p:txBody>
        </p:sp>
        <p:sp>
          <p:nvSpPr>
            <p:cNvPr id="14" name="Rectangle 14">
              <a:extLst>
                <a:ext uri="{FF2B5EF4-FFF2-40B4-BE49-F238E27FC236}">
                  <a16:creationId xmlns:a16="http://schemas.microsoft.com/office/drawing/2014/main" id="{F7609A76-4B51-B6DE-7FCC-BC5D2FAFA9D0}"/>
                </a:ext>
              </a:extLst>
            </p:cNvPr>
            <p:cNvSpPr>
              <a:spLocks noChangeArrowheads="1"/>
            </p:cNvSpPr>
            <p:nvPr/>
          </p:nvSpPr>
          <p:spPr bwMode="auto">
            <a:xfrm>
              <a:off x="799936" y="3802987"/>
              <a:ext cx="541133" cy="369787"/>
            </a:xfrm>
            <a:prstGeom prst="rect">
              <a:avLst/>
            </a:prstGeom>
            <a:noFill/>
            <a:ln w="9525">
              <a:noFill/>
              <a:miter lim="800000"/>
              <a:headEnd/>
              <a:tailEnd/>
            </a:ln>
            <a:effectLst/>
          </p:spPr>
          <p:txBody>
            <a:bodyPr wrap="none" lIns="92075" tIns="46038" rIns="92075" bIns="46038">
              <a:spAutoFit/>
            </a:bodyPr>
            <a:lstStyle/>
            <a:p>
              <a:pPr algn="l">
                <a:defRPr/>
              </a:pPr>
              <a:r>
                <a:rPr lang="en-US" sz="1800" b="1">
                  <a:solidFill>
                    <a:schemeClr val="accent1">
                      <a:lumMod val="50000"/>
                    </a:schemeClr>
                  </a:solidFill>
                  <a:latin typeface="Symbol" pitchFamily="18" charset="2"/>
                </a:rPr>
                <a:t>D</a:t>
              </a:r>
              <a:r>
                <a:rPr lang="en-US" sz="1800" b="1">
                  <a:solidFill>
                    <a:schemeClr val="accent1">
                      <a:lumMod val="50000"/>
                    </a:schemeClr>
                  </a:solidFill>
                </a:rPr>
                <a:t>x</a:t>
              </a:r>
              <a:r>
                <a:rPr lang="en-US" sz="1800" b="1" baseline="-25000">
                  <a:solidFill>
                    <a:schemeClr val="accent1">
                      <a:lumMod val="50000"/>
                    </a:schemeClr>
                  </a:solidFill>
                </a:rPr>
                <a:t>2</a:t>
              </a:r>
            </a:p>
          </p:txBody>
        </p:sp>
        <p:sp>
          <p:nvSpPr>
            <p:cNvPr id="15" name="Rectangle 15">
              <a:extLst>
                <a:ext uri="{FF2B5EF4-FFF2-40B4-BE49-F238E27FC236}">
                  <a16:creationId xmlns:a16="http://schemas.microsoft.com/office/drawing/2014/main" id="{1D0DFD6B-DBF2-1DB5-C99C-E465730CA294}"/>
                </a:ext>
              </a:extLst>
            </p:cNvPr>
            <p:cNvSpPr>
              <a:spLocks noChangeArrowheads="1"/>
            </p:cNvSpPr>
            <p:nvPr/>
          </p:nvSpPr>
          <p:spPr bwMode="auto">
            <a:xfrm>
              <a:off x="1791187" y="4868844"/>
              <a:ext cx="539479" cy="369786"/>
            </a:xfrm>
            <a:prstGeom prst="rect">
              <a:avLst/>
            </a:prstGeom>
            <a:noFill/>
            <a:ln w="9525">
              <a:noFill/>
              <a:miter lim="800000"/>
              <a:headEnd/>
              <a:tailEnd/>
            </a:ln>
            <a:effectLst/>
          </p:spPr>
          <p:txBody>
            <a:bodyPr wrap="none" lIns="92075" tIns="46038" rIns="92075" bIns="46038">
              <a:spAutoFit/>
            </a:bodyPr>
            <a:lstStyle/>
            <a:p>
              <a:pPr algn="l">
                <a:defRPr/>
              </a:pPr>
              <a:r>
                <a:rPr lang="en-US" sz="1800" b="1" dirty="0">
                  <a:solidFill>
                    <a:schemeClr val="accent1">
                      <a:lumMod val="50000"/>
                    </a:schemeClr>
                  </a:solidFill>
                  <a:latin typeface="Symbol" pitchFamily="18" charset="2"/>
                </a:rPr>
                <a:t>D</a:t>
              </a:r>
              <a:r>
                <a:rPr lang="en-US" sz="1800" b="1" dirty="0">
                  <a:solidFill>
                    <a:schemeClr val="accent1">
                      <a:lumMod val="50000"/>
                    </a:schemeClr>
                  </a:solidFill>
                </a:rPr>
                <a:t>x</a:t>
              </a:r>
              <a:r>
                <a:rPr lang="en-US" sz="1800" b="1" baseline="-25000" dirty="0">
                  <a:solidFill>
                    <a:schemeClr val="accent1">
                      <a:lumMod val="50000"/>
                    </a:schemeClr>
                  </a:solidFill>
                </a:rPr>
                <a:t>1</a:t>
              </a:r>
            </a:p>
          </p:txBody>
        </p:sp>
        <p:sp>
          <p:nvSpPr>
            <p:cNvPr id="16" name="Oval 18">
              <a:extLst>
                <a:ext uri="{FF2B5EF4-FFF2-40B4-BE49-F238E27FC236}">
                  <a16:creationId xmlns:a16="http://schemas.microsoft.com/office/drawing/2014/main" id="{7A7B0264-C6A2-214A-5ABC-B632EF2DFF4E}"/>
                </a:ext>
              </a:extLst>
            </p:cNvPr>
            <p:cNvSpPr>
              <a:spLocks noChangeArrowheads="1"/>
            </p:cNvSpPr>
            <p:nvPr/>
          </p:nvSpPr>
          <p:spPr bwMode="auto">
            <a:xfrm>
              <a:off x="1948277" y="4156433"/>
              <a:ext cx="97875" cy="105860"/>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defRPr/>
              </a:pPr>
              <a:endParaRPr lang="pl-PL" sz="1800">
                <a:solidFill>
                  <a:schemeClr val="accent1">
                    <a:lumMod val="50000"/>
                  </a:schemeClr>
                </a:solidFill>
              </a:endParaRPr>
            </a:p>
          </p:txBody>
        </p:sp>
        <p:sp>
          <p:nvSpPr>
            <p:cNvPr id="17" name="Rectangle 19">
              <a:extLst>
                <a:ext uri="{FF2B5EF4-FFF2-40B4-BE49-F238E27FC236}">
                  <a16:creationId xmlns:a16="http://schemas.microsoft.com/office/drawing/2014/main" id="{D5C381D4-8D50-ED42-F641-3F3D79DD6037}"/>
                </a:ext>
              </a:extLst>
            </p:cNvPr>
            <p:cNvSpPr>
              <a:spLocks noChangeArrowheads="1"/>
            </p:cNvSpPr>
            <p:nvPr/>
          </p:nvSpPr>
          <p:spPr bwMode="auto">
            <a:xfrm>
              <a:off x="2143669" y="3795737"/>
              <a:ext cx="378958" cy="369786"/>
            </a:xfrm>
            <a:prstGeom prst="rect">
              <a:avLst/>
            </a:prstGeom>
            <a:noFill/>
            <a:ln w="9525">
              <a:noFill/>
              <a:miter lim="800000"/>
              <a:headEnd/>
              <a:tailEnd/>
            </a:ln>
            <a:effectLst/>
          </p:spPr>
          <p:txBody>
            <a:bodyPr wrap="none" lIns="92075" tIns="46038" rIns="92075" bIns="46038">
              <a:spAutoFit/>
            </a:bodyPr>
            <a:lstStyle/>
            <a:p>
              <a:pPr algn="l">
                <a:defRPr/>
              </a:pPr>
              <a:r>
                <a:rPr lang="en-US" sz="1800" b="1">
                  <a:solidFill>
                    <a:schemeClr val="accent1">
                      <a:lumMod val="50000"/>
                    </a:schemeClr>
                  </a:solidFill>
                </a:rPr>
                <a:t>x’</a:t>
              </a:r>
            </a:p>
          </p:txBody>
        </p:sp>
      </p:grpSp>
      <p:grpSp>
        <p:nvGrpSpPr>
          <p:cNvPr id="31" name="Grupa 30">
            <a:extLst>
              <a:ext uri="{FF2B5EF4-FFF2-40B4-BE49-F238E27FC236}">
                <a16:creationId xmlns:a16="http://schemas.microsoft.com/office/drawing/2014/main" id="{C29558D0-D97A-07A6-650D-2AF466A709E9}"/>
              </a:ext>
            </a:extLst>
          </p:cNvPr>
          <p:cNvGrpSpPr/>
          <p:nvPr/>
        </p:nvGrpSpPr>
        <p:grpSpPr>
          <a:xfrm>
            <a:off x="2736204" y="1745939"/>
            <a:ext cx="2846387" cy="2440450"/>
            <a:chOff x="3201872" y="1473363"/>
            <a:chExt cx="2846387" cy="2440450"/>
          </a:xfrm>
        </p:grpSpPr>
        <p:grpSp>
          <p:nvGrpSpPr>
            <p:cNvPr id="18" name="Grupa 30">
              <a:extLst>
                <a:ext uri="{FF2B5EF4-FFF2-40B4-BE49-F238E27FC236}">
                  <a16:creationId xmlns:a16="http://schemas.microsoft.com/office/drawing/2014/main" id="{242CC85F-84A4-044D-2ABF-FBC4C3B0A30B}"/>
                </a:ext>
              </a:extLst>
            </p:cNvPr>
            <p:cNvGrpSpPr>
              <a:grpSpLocks/>
            </p:cNvGrpSpPr>
            <p:nvPr/>
          </p:nvGrpSpPr>
          <p:grpSpPr bwMode="auto">
            <a:xfrm>
              <a:off x="3201872" y="1473363"/>
              <a:ext cx="2846387" cy="2440450"/>
              <a:chOff x="4789714" y="1031430"/>
              <a:chExt cx="4038600" cy="3659838"/>
            </a:xfrm>
          </p:grpSpPr>
          <p:sp>
            <p:nvSpPr>
              <p:cNvPr id="20" name="Arc 7">
                <a:extLst>
                  <a:ext uri="{FF2B5EF4-FFF2-40B4-BE49-F238E27FC236}">
                    <a16:creationId xmlns:a16="http://schemas.microsoft.com/office/drawing/2014/main" id="{F325D504-D079-85AE-8925-1B1176DD5FEA}"/>
                  </a:ext>
                </a:extLst>
              </p:cNvPr>
              <p:cNvSpPr>
                <a:spLocks/>
              </p:cNvSpPr>
              <p:nvPr/>
            </p:nvSpPr>
            <p:spPr bwMode="auto">
              <a:xfrm rot="10800000">
                <a:off x="5365041" y="1385841"/>
                <a:ext cx="3126047" cy="2667152"/>
              </a:xfrm>
              <a:custGeom>
                <a:avLst/>
                <a:gdLst>
                  <a:gd name="G0" fmla="+- 11 0 0"/>
                  <a:gd name="G1" fmla="+- 21600 0 0"/>
                  <a:gd name="G2" fmla="+- 21600 0 0"/>
                  <a:gd name="T0" fmla="*/ 0 w 21611"/>
                  <a:gd name="T1" fmla="*/ 0 h 21600"/>
                  <a:gd name="T2" fmla="*/ 21611 w 21611"/>
                  <a:gd name="T3" fmla="*/ 21600 h 21600"/>
                  <a:gd name="T4" fmla="*/ 11 w 21611"/>
                  <a:gd name="T5" fmla="*/ 21600 h 21600"/>
                </a:gdLst>
                <a:ahLst/>
                <a:cxnLst>
                  <a:cxn ang="0">
                    <a:pos x="T0" y="T1"/>
                  </a:cxn>
                  <a:cxn ang="0">
                    <a:pos x="T2" y="T3"/>
                  </a:cxn>
                  <a:cxn ang="0">
                    <a:pos x="T4" y="T5"/>
                  </a:cxn>
                </a:cxnLst>
                <a:rect l="0" t="0" r="r" b="b"/>
                <a:pathLst>
                  <a:path w="21611" h="21600" fill="none" extrusionOk="0">
                    <a:moveTo>
                      <a:pt x="0" y="0"/>
                    </a:moveTo>
                    <a:cubicBezTo>
                      <a:pt x="3" y="0"/>
                      <a:pt x="7" y="-1"/>
                      <a:pt x="11" y="0"/>
                    </a:cubicBezTo>
                    <a:cubicBezTo>
                      <a:pt x="11940" y="0"/>
                      <a:pt x="21611" y="9670"/>
                      <a:pt x="21611" y="21600"/>
                    </a:cubicBezTo>
                  </a:path>
                  <a:path w="21611" h="21600" stroke="0" extrusionOk="0">
                    <a:moveTo>
                      <a:pt x="0" y="0"/>
                    </a:moveTo>
                    <a:cubicBezTo>
                      <a:pt x="3" y="0"/>
                      <a:pt x="7" y="-1"/>
                      <a:pt x="11" y="0"/>
                    </a:cubicBezTo>
                    <a:cubicBezTo>
                      <a:pt x="11940" y="0"/>
                      <a:pt x="21611" y="9670"/>
                      <a:pt x="21611" y="21600"/>
                    </a:cubicBezTo>
                    <a:lnTo>
                      <a:pt x="11" y="21600"/>
                    </a:lnTo>
                    <a:close/>
                  </a:path>
                </a:pathLst>
              </a:custGeom>
              <a:noFill/>
              <a:ln w="38100">
                <a:headEnd type="none" w="sm" len="sm"/>
                <a:tailEnd type="none" w="sm" len="sm"/>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pl-PL" sz="1800">
                  <a:solidFill>
                    <a:schemeClr val="accent1">
                      <a:lumMod val="50000"/>
                    </a:schemeClr>
                  </a:solidFill>
                </a:endParaRPr>
              </a:p>
            </p:txBody>
          </p:sp>
          <p:grpSp>
            <p:nvGrpSpPr>
              <p:cNvPr id="19" name="Grupa 28">
                <a:extLst>
                  <a:ext uri="{FF2B5EF4-FFF2-40B4-BE49-F238E27FC236}">
                    <a16:creationId xmlns:a16="http://schemas.microsoft.com/office/drawing/2014/main" id="{6ECA7FD4-1B60-A8F0-5499-0E4A59D10290}"/>
                  </a:ext>
                </a:extLst>
              </p:cNvPr>
              <p:cNvGrpSpPr>
                <a:grpSpLocks/>
              </p:cNvGrpSpPr>
              <p:nvPr/>
            </p:nvGrpSpPr>
            <p:grpSpPr bwMode="auto">
              <a:xfrm>
                <a:off x="4789714" y="1031430"/>
                <a:ext cx="4038600" cy="3659838"/>
                <a:chOff x="3624943" y="1641030"/>
                <a:chExt cx="4038600" cy="3659838"/>
              </a:xfrm>
            </p:grpSpPr>
            <p:sp>
              <p:nvSpPr>
                <p:cNvPr id="21" name="Line 3">
                  <a:extLst>
                    <a:ext uri="{FF2B5EF4-FFF2-40B4-BE49-F238E27FC236}">
                      <a16:creationId xmlns:a16="http://schemas.microsoft.com/office/drawing/2014/main" id="{E6D3D521-1789-EE9B-996F-39AE29D0B39E}"/>
                    </a:ext>
                  </a:extLst>
                </p:cNvPr>
                <p:cNvSpPr>
                  <a:spLocks noChangeShapeType="1"/>
                </p:cNvSpPr>
                <p:nvPr/>
              </p:nvSpPr>
              <p:spPr bwMode="auto">
                <a:xfrm>
                  <a:off x="3624943" y="1818494"/>
                  <a:ext cx="0" cy="3428421"/>
                </a:xfrm>
                <a:prstGeom prst="line">
                  <a:avLst/>
                </a:prstGeom>
                <a:ln>
                  <a:headEnd type="triangle" w="med" len="med"/>
                  <a:tailEnd type="none" w="sm" len="sm"/>
                </a:ln>
              </p:spPr>
              <p:style>
                <a:lnRef idx="2">
                  <a:schemeClr val="dk1"/>
                </a:lnRef>
                <a:fillRef idx="0">
                  <a:schemeClr val="dk1"/>
                </a:fillRef>
                <a:effectRef idx="1">
                  <a:schemeClr val="dk1"/>
                </a:effectRef>
                <a:fontRef idx="minor">
                  <a:schemeClr val="tx1"/>
                </a:fontRef>
              </p:style>
              <p:txBody>
                <a:bodyPr wrap="none" anchor="ctr"/>
                <a:lstStyle/>
                <a:p>
                  <a:pPr>
                    <a:defRPr/>
                  </a:pPr>
                  <a:endParaRPr lang="pl-PL" sz="1800">
                    <a:solidFill>
                      <a:schemeClr val="accent1">
                        <a:lumMod val="50000"/>
                      </a:schemeClr>
                    </a:solidFill>
                  </a:endParaRPr>
                </a:p>
              </p:txBody>
            </p:sp>
            <p:sp>
              <p:nvSpPr>
                <p:cNvPr id="22" name="Line 4">
                  <a:extLst>
                    <a:ext uri="{FF2B5EF4-FFF2-40B4-BE49-F238E27FC236}">
                      <a16:creationId xmlns:a16="http://schemas.microsoft.com/office/drawing/2014/main" id="{601ACDBC-08C1-E37C-A49B-47407F0628D4}"/>
                    </a:ext>
                  </a:extLst>
                </p:cNvPr>
                <p:cNvSpPr>
                  <a:spLocks noChangeShapeType="1"/>
                </p:cNvSpPr>
                <p:nvPr/>
              </p:nvSpPr>
              <p:spPr bwMode="auto">
                <a:xfrm>
                  <a:off x="3624943" y="5246915"/>
                  <a:ext cx="4038600" cy="0"/>
                </a:xfrm>
                <a:prstGeom prst="line">
                  <a:avLst/>
                </a:prstGeom>
                <a:ln>
                  <a:headEnd type="none" w="sm" len="sm"/>
                  <a:tailEnd type="triangl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pl-PL" sz="1800">
                    <a:solidFill>
                      <a:schemeClr val="accent1">
                        <a:lumMod val="50000"/>
                      </a:schemeClr>
                    </a:solidFill>
                  </a:endParaRPr>
                </a:p>
              </p:txBody>
            </p:sp>
            <p:sp>
              <p:nvSpPr>
                <p:cNvPr id="23" name="Oval 8">
                  <a:extLst>
                    <a:ext uri="{FF2B5EF4-FFF2-40B4-BE49-F238E27FC236}">
                      <a16:creationId xmlns:a16="http://schemas.microsoft.com/office/drawing/2014/main" id="{E9D9BAD1-E484-D8D8-84A8-A719885167B7}"/>
                    </a:ext>
                  </a:extLst>
                </p:cNvPr>
                <p:cNvSpPr>
                  <a:spLocks noChangeArrowheads="1"/>
                </p:cNvSpPr>
                <p:nvPr/>
              </p:nvSpPr>
              <p:spPr bwMode="auto">
                <a:xfrm>
                  <a:off x="6436386" y="4517671"/>
                  <a:ext cx="119825" cy="130194"/>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defRPr/>
                  </a:pPr>
                  <a:endParaRPr lang="pl-PL" sz="1800">
                    <a:solidFill>
                      <a:schemeClr val="accent1">
                        <a:lumMod val="50000"/>
                      </a:schemeClr>
                    </a:solidFill>
                  </a:endParaRPr>
                </a:p>
              </p:txBody>
            </p:sp>
            <p:sp>
              <p:nvSpPr>
                <p:cNvPr id="24" name="Oval 9">
                  <a:extLst>
                    <a:ext uri="{FF2B5EF4-FFF2-40B4-BE49-F238E27FC236}">
                      <a16:creationId xmlns:a16="http://schemas.microsoft.com/office/drawing/2014/main" id="{A597B712-46EB-116C-6BE4-E798A8A7EF51}"/>
                    </a:ext>
                  </a:extLst>
                </p:cNvPr>
                <p:cNvSpPr>
                  <a:spLocks noChangeArrowheads="1"/>
                </p:cNvSpPr>
                <p:nvPr/>
              </p:nvSpPr>
              <p:spPr bwMode="auto">
                <a:xfrm>
                  <a:off x="4210887" y="2535374"/>
                  <a:ext cx="143671" cy="119859"/>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defRPr/>
                  </a:pPr>
                  <a:endParaRPr lang="pl-PL" sz="1800">
                    <a:solidFill>
                      <a:schemeClr val="accent1">
                        <a:lumMod val="50000"/>
                      </a:schemeClr>
                    </a:solidFill>
                  </a:endParaRPr>
                </a:p>
              </p:txBody>
            </p:sp>
            <p:sp>
              <p:nvSpPr>
                <p:cNvPr id="25" name="Line 10">
                  <a:extLst>
                    <a:ext uri="{FF2B5EF4-FFF2-40B4-BE49-F238E27FC236}">
                      <a16:creationId xmlns:a16="http://schemas.microsoft.com/office/drawing/2014/main" id="{221AC4B1-AEA5-C14A-0966-8630130B172A}"/>
                    </a:ext>
                  </a:extLst>
                </p:cNvPr>
                <p:cNvSpPr>
                  <a:spLocks noChangeShapeType="1"/>
                </p:cNvSpPr>
                <p:nvPr/>
              </p:nvSpPr>
              <p:spPr bwMode="auto">
                <a:xfrm>
                  <a:off x="4114108" y="1641030"/>
                  <a:ext cx="272188" cy="1718424"/>
                </a:xfrm>
                <a:prstGeom prst="line">
                  <a:avLst/>
                </a:prstGeom>
                <a:ln>
                  <a:headEnd type="none" w="sm" len="sm"/>
                  <a:tailEnd type="none" w="sm" len="sm"/>
                </a:ln>
              </p:spPr>
              <p:style>
                <a:lnRef idx="1">
                  <a:schemeClr val="dk1"/>
                </a:lnRef>
                <a:fillRef idx="0">
                  <a:schemeClr val="dk1"/>
                </a:fillRef>
                <a:effectRef idx="0">
                  <a:schemeClr val="dk1"/>
                </a:effectRef>
                <a:fontRef idx="minor">
                  <a:schemeClr val="tx1"/>
                </a:fontRef>
              </p:style>
              <p:txBody>
                <a:bodyPr wrap="none" anchor="ctr"/>
                <a:lstStyle/>
                <a:p>
                  <a:pPr>
                    <a:defRPr/>
                  </a:pPr>
                  <a:endParaRPr lang="pl-PL" sz="1800">
                    <a:solidFill>
                      <a:schemeClr val="accent1">
                        <a:lumMod val="50000"/>
                      </a:schemeClr>
                    </a:solidFill>
                  </a:endParaRPr>
                </a:p>
              </p:txBody>
            </p:sp>
            <p:sp>
              <p:nvSpPr>
                <p:cNvPr id="26" name="Line 11">
                  <a:extLst>
                    <a:ext uri="{FF2B5EF4-FFF2-40B4-BE49-F238E27FC236}">
                      <a16:creationId xmlns:a16="http://schemas.microsoft.com/office/drawing/2014/main" id="{1419794C-B91F-F2EE-26E4-5B301B55BC41}"/>
                    </a:ext>
                  </a:extLst>
                </p:cNvPr>
                <p:cNvSpPr>
                  <a:spLocks noChangeShapeType="1"/>
                </p:cNvSpPr>
                <p:nvPr/>
              </p:nvSpPr>
              <p:spPr bwMode="auto">
                <a:xfrm>
                  <a:off x="4933735" y="4185234"/>
                  <a:ext cx="2494881" cy="624675"/>
                </a:xfrm>
                <a:prstGeom prst="line">
                  <a:avLst/>
                </a:prstGeom>
                <a:ln>
                  <a:headEnd type="none" w="sm" len="sm"/>
                  <a:tailEnd type="none" w="sm" len="sm"/>
                </a:ln>
              </p:spPr>
              <p:style>
                <a:lnRef idx="1">
                  <a:schemeClr val="dk1"/>
                </a:lnRef>
                <a:fillRef idx="0">
                  <a:schemeClr val="dk1"/>
                </a:fillRef>
                <a:effectRef idx="0">
                  <a:schemeClr val="dk1"/>
                </a:effectRef>
                <a:fontRef idx="minor">
                  <a:schemeClr val="tx1"/>
                </a:fontRef>
              </p:style>
              <p:txBody>
                <a:bodyPr wrap="none" anchor="ctr"/>
                <a:lstStyle/>
                <a:p>
                  <a:pPr>
                    <a:defRPr/>
                  </a:pPr>
                  <a:endParaRPr lang="pl-PL" sz="1800">
                    <a:solidFill>
                      <a:schemeClr val="accent1">
                        <a:lumMod val="50000"/>
                      </a:schemeClr>
                    </a:solidFill>
                  </a:endParaRPr>
                </a:p>
              </p:txBody>
            </p:sp>
            <p:sp>
              <p:nvSpPr>
                <p:cNvPr id="27" name="Rectangle 12">
                  <a:extLst>
                    <a:ext uri="{FF2B5EF4-FFF2-40B4-BE49-F238E27FC236}">
                      <a16:creationId xmlns:a16="http://schemas.microsoft.com/office/drawing/2014/main" id="{C771CAA3-FD5F-1D3F-5E43-BD1A79B4F4C1}"/>
                    </a:ext>
                  </a:extLst>
                </p:cNvPr>
                <p:cNvSpPr>
                  <a:spLocks noChangeArrowheads="1"/>
                </p:cNvSpPr>
                <p:nvPr/>
              </p:nvSpPr>
              <p:spPr bwMode="auto">
                <a:xfrm>
                  <a:off x="4243837" y="1787753"/>
                  <a:ext cx="2312373" cy="554834"/>
                </a:xfrm>
                <a:prstGeom prst="rect">
                  <a:avLst/>
                </a:prstGeom>
                <a:noFill/>
                <a:ln w="9525">
                  <a:noFill/>
                  <a:miter lim="800000"/>
                  <a:headEnd/>
                  <a:tailEnd/>
                </a:ln>
                <a:effectLst/>
              </p:spPr>
              <p:txBody>
                <a:bodyPr wrap="square" lIns="92075" tIns="46038" rIns="92075" bIns="46038">
                  <a:spAutoFit/>
                </a:bodyPr>
                <a:lstStyle/>
                <a:p>
                  <a:pPr algn="l">
                    <a:defRPr/>
                  </a:pPr>
                  <a:r>
                    <a:rPr lang="en-US" sz="1800" b="1" dirty="0">
                      <a:solidFill>
                        <a:schemeClr val="accent1">
                          <a:lumMod val="50000"/>
                        </a:schemeClr>
                      </a:solidFill>
                    </a:rPr>
                    <a:t>MRS = </a:t>
                  </a:r>
                  <a:r>
                    <a:rPr lang="pl-PL" sz="1800" b="1" dirty="0">
                      <a:solidFill>
                        <a:schemeClr val="accent1">
                          <a:lumMod val="50000"/>
                        </a:schemeClr>
                      </a:solidFill>
                    </a:rPr>
                    <a:t>(</a:t>
                  </a:r>
                  <a:r>
                    <a:rPr lang="en-US" sz="1800" b="1" dirty="0">
                      <a:solidFill>
                        <a:schemeClr val="accent1">
                          <a:lumMod val="50000"/>
                        </a:schemeClr>
                      </a:solidFill>
                    </a:rPr>
                    <a:t>-</a:t>
                  </a:r>
                  <a:r>
                    <a:rPr lang="pl-PL" sz="1800" b="1" dirty="0">
                      <a:solidFill>
                        <a:schemeClr val="accent1">
                          <a:lumMod val="50000"/>
                        </a:schemeClr>
                      </a:solidFill>
                    </a:rPr>
                    <a:t>)</a:t>
                  </a:r>
                  <a:r>
                    <a:rPr lang="en-US" sz="1800" b="1" dirty="0">
                      <a:solidFill>
                        <a:schemeClr val="accent1">
                          <a:lumMod val="50000"/>
                        </a:schemeClr>
                      </a:solidFill>
                    </a:rPr>
                    <a:t> 5</a:t>
                  </a:r>
                </a:p>
              </p:txBody>
            </p:sp>
            <p:sp>
              <p:nvSpPr>
                <p:cNvPr id="28" name="Rectangle 13">
                  <a:extLst>
                    <a:ext uri="{FF2B5EF4-FFF2-40B4-BE49-F238E27FC236}">
                      <a16:creationId xmlns:a16="http://schemas.microsoft.com/office/drawing/2014/main" id="{A2336CDC-A8D9-27F5-FA6C-2E60EB0E6B67}"/>
                    </a:ext>
                  </a:extLst>
                </p:cNvPr>
                <p:cNvSpPr>
                  <a:spLocks noChangeArrowheads="1"/>
                </p:cNvSpPr>
                <p:nvPr/>
              </p:nvSpPr>
              <p:spPr bwMode="auto">
                <a:xfrm>
                  <a:off x="5056924" y="4746034"/>
                  <a:ext cx="2371692" cy="554834"/>
                </a:xfrm>
                <a:prstGeom prst="rect">
                  <a:avLst/>
                </a:prstGeom>
                <a:noFill/>
                <a:ln w="9525">
                  <a:noFill/>
                  <a:miter lim="800000"/>
                  <a:headEnd/>
                  <a:tailEnd/>
                </a:ln>
                <a:effectLst/>
              </p:spPr>
              <p:txBody>
                <a:bodyPr wrap="square" lIns="92075" tIns="46038" rIns="92075" bIns="46038">
                  <a:spAutoFit/>
                </a:bodyPr>
                <a:lstStyle/>
                <a:p>
                  <a:pPr algn="l">
                    <a:defRPr/>
                  </a:pPr>
                  <a:r>
                    <a:rPr lang="en-US" sz="1800" b="1" dirty="0">
                      <a:solidFill>
                        <a:schemeClr val="accent1">
                          <a:lumMod val="50000"/>
                        </a:schemeClr>
                      </a:solidFill>
                    </a:rPr>
                    <a:t>MRS = </a:t>
                  </a:r>
                  <a:r>
                    <a:rPr lang="pl-PL" sz="1800" b="1" dirty="0">
                      <a:solidFill>
                        <a:schemeClr val="accent1">
                          <a:lumMod val="50000"/>
                        </a:schemeClr>
                      </a:solidFill>
                    </a:rPr>
                    <a:t>(</a:t>
                  </a:r>
                  <a:r>
                    <a:rPr lang="en-US" sz="1800" b="1" dirty="0">
                      <a:solidFill>
                        <a:schemeClr val="accent1">
                          <a:lumMod val="50000"/>
                        </a:schemeClr>
                      </a:solidFill>
                    </a:rPr>
                    <a:t>-</a:t>
                  </a:r>
                  <a:r>
                    <a:rPr lang="pl-PL" sz="1800" b="1" dirty="0">
                      <a:solidFill>
                        <a:schemeClr val="accent1">
                          <a:lumMod val="50000"/>
                        </a:schemeClr>
                      </a:solidFill>
                    </a:rPr>
                    <a:t>)</a:t>
                  </a:r>
                  <a:r>
                    <a:rPr lang="en-US" sz="1800" b="1" dirty="0">
                      <a:solidFill>
                        <a:schemeClr val="accent1">
                          <a:lumMod val="50000"/>
                        </a:schemeClr>
                      </a:solidFill>
                    </a:rPr>
                    <a:t> 0.5</a:t>
                  </a:r>
                </a:p>
              </p:txBody>
            </p:sp>
          </p:grpSp>
        </p:grpSp>
        <p:sp>
          <p:nvSpPr>
            <p:cNvPr id="8" name="pole tekstowe 7">
              <a:extLst>
                <a:ext uri="{FF2B5EF4-FFF2-40B4-BE49-F238E27FC236}">
                  <a16:creationId xmlns:a16="http://schemas.microsoft.com/office/drawing/2014/main" id="{F5EB3D70-D274-E971-8D2A-EB853FF81CB0}"/>
                </a:ext>
              </a:extLst>
            </p:cNvPr>
            <p:cNvSpPr txBox="1"/>
            <p:nvPr/>
          </p:nvSpPr>
          <p:spPr>
            <a:xfrm>
              <a:off x="3345824" y="1916921"/>
              <a:ext cx="536085" cy="369332"/>
            </a:xfrm>
            <a:prstGeom prst="rect">
              <a:avLst/>
            </a:prstGeom>
            <a:noFill/>
          </p:spPr>
          <p:txBody>
            <a:bodyPr wrap="square">
              <a:spAutoFit/>
            </a:bodyPr>
            <a:lstStyle/>
            <a:p>
              <a:pPr algn="l">
                <a:defRPr/>
              </a:pPr>
              <a:r>
                <a:rPr lang="pl-PL" sz="1800" b="1" dirty="0">
                  <a:solidFill>
                    <a:schemeClr val="accent1">
                      <a:lumMod val="50000"/>
                    </a:schemeClr>
                  </a:solidFill>
                </a:rPr>
                <a:t>A</a:t>
              </a:r>
              <a:endParaRPr lang="en-US" sz="1800" b="1" dirty="0">
                <a:solidFill>
                  <a:schemeClr val="accent1">
                    <a:lumMod val="50000"/>
                  </a:schemeClr>
                </a:solidFill>
              </a:endParaRPr>
            </a:p>
          </p:txBody>
        </p:sp>
        <p:sp>
          <p:nvSpPr>
            <p:cNvPr id="9" name="pole tekstowe 8">
              <a:extLst>
                <a:ext uri="{FF2B5EF4-FFF2-40B4-BE49-F238E27FC236}">
                  <a16:creationId xmlns:a16="http://schemas.microsoft.com/office/drawing/2014/main" id="{8781C6E9-3BDB-59B6-6A61-3F159033B25B}"/>
                </a:ext>
              </a:extLst>
            </p:cNvPr>
            <p:cNvSpPr txBox="1"/>
            <p:nvPr/>
          </p:nvSpPr>
          <p:spPr>
            <a:xfrm>
              <a:off x="5107414" y="3061194"/>
              <a:ext cx="536085" cy="369332"/>
            </a:xfrm>
            <a:prstGeom prst="rect">
              <a:avLst/>
            </a:prstGeom>
            <a:noFill/>
          </p:spPr>
          <p:txBody>
            <a:bodyPr wrap="square">
              <a:spAutoFit/>
            </a:bodyPr>
            <a:lstStyle/>
            <a:p>
              <a:pPr algn="l">
                <a:defRPr/>
              </a:pPr>
              <a:r>
                <a:rPr lang="pl-PL" sz="1800" b="1" dirty="0">
                  <a:solidFill>
                    <a:schemeClr val="accent1">
                      <a:lumMod val="50000"/>
                    </a:schemeClr>
                  </a:solidFill>
                </a:rPr>
                <a:t>B</a:t>
              </a:r>
              <a:endParaRPr lang="en-US" sz="1800" b="1" dirty="0">
                <a:solidFill>
                  <a:schemeClr val="accent1">
                    <a:lumMod val="50000"/>
                  </a:schemeClr>
                </a:solidFill>
              </a:endParaRPr>
            </a:p>
          </p:txBody>
        </p:sp>
      </p:grpSp>
      <p:sp>
        <p:nvSpPr>
          <p:cNvPr id="30" name="pole tekstowe 29">
            <a:extLst>
              <a:ext uri="{FF2B5EF4-FFF2-40B4-BE49-F238E27FC236}">
                <a16:creationId xmlns:a16="http://schemas.microsoft.com/office/drawing/2014/main" id="{0A255C0C-AF38-9878-326B-9328CF80E90C}"/>
              </a:ext>
            </a:extLst>
          </p:cNvPr>
          <p:cNvSpPr txBox="1"/>
          <p:nvPr/>
        </p:nvSpPr>
        <p:spPr>
          <a:xfrm>
            <a:off x="5460876" y="1062775"/>
            <a:ext cx="6731124" cy="5632311"/>
          </a:xfrm>
          <a:prstGeom prst="rect">
            <a:avLst/>
          </a:prstGeom>
          <a:noFill/>
        </p:spPr>
        <p:txBody>
          <a:bodyPr wrap="square">
            <a:spAutoFit/>
          </a:bodyPr>
          <a:lstStyle/>
          <a:p>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MRS defines our psychological exchange relations</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(we </a:t>
            </a:r>
            <a:r>
              <a:rPr lang="pl-PL" sz="2400"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can</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a:t>
            </a:r>
            <a:r>
              <a:rPr lang="pl-PL" sz="2400"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substuitute</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one </a:t>
            </a:r>
            <a:r>
              <a:rPr lang="pl-PL" sz="2400"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good</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by </a:t>
            </a:r>
            <a:r>
              <a:rPr lang="pl-PL" sz="2400"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another</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in </a:t>
            </a:r>
            <a:r>
              <a:rPr lang="pl-PL" sz="2400"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given</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a:t>
            </a:r>
            <a:r>
              <a:rPr lang="pl-PL" sz="2400"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proportion</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and </a:t>
            </a:r>
            <a:r>
              <a:rPr lang="pl-PL" sz="2400"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it</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not </a:t>
            </a:r>
            <a:r>
              <a:rPr lang="pl-PL" sz="2400"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change</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a:t>
            </a:r>
            <a:r>
              <a:rPr lang="pl-PL" sz="2400"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our</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a:t>
            </a:r>
            <a:r>
              <a:rPr lang="pl-PL" sz="2400"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sytuation</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 </a:t>
            </a:r>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The law of diminishing MRS </a:t>
            </a:r>
            <a:r>
              <a:rPr lang="pl-PL" sz="2400"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fits</a:t>
            </a:r>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with human behavior – we value what we lack.</a:t>
            </a:r>
            <a:endPar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endPar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A: We have a lot of </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x2 </a:t>
            </a:r>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and a little x1​</a:t>
            </a:r>
          </a:p>
          <a:p>
            <a:pPr marL="742950" lvl="1" indent="-285750">
              <a:buFont typeface="Arial" panose="020B0604020202020204" pitchFamily="34" charset="0"/>
              <a:buChar char="•"/>
            </a:pPr>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Psychological Insight: We value what we lack – </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x1</a:t>
            </a:r>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is valued more.</a:t>
            </a:r>
          </a:p>
          <a:p>
            <a:pPr marL="742950" lvl="1" indent="-285750">
              <a:buFont typeface="Arial" panose="020B0604020202020204" pitchFamily="34" charset="0"/>
              <a:buChar char="•"/>
            </a:pPr>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Behavior: Willing to trade 5 units of </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x2</a:t>
            </a:r>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for 1 unit of </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x1</a:t>
            </a:r>
            <a:endPar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B: We have a lot of </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x1</a:t>
            </a:r>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and a little </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x2</a:t>
            </a:r>
            <a:endPar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Psychological Insight: Now </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x2</a:t>
            </a:r>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is more valuable.</a:t>
            </a:r>
          </a:p>
          <a:p>
            <a:pPr marL="742950" lvl="1" indent="-285750">
              <a:buFont typeface="Arial" panose="020B0604020202020204" pitchFamily="34" charset="0"/>
              <a:buChar char="•"/>
            </a:pPr>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Behavior: Willing to trade only 1/2 unit of </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x2</a:t>
            </a:r>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for 1 unit of </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x1</a:t>
            </a:r>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229909421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ytuł 1"/>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b="1" dirty="0" err="1">
                <a:solidFill>
                  <a:schemeClr val="accent5">
                    <a:lumMod val="50000"/>
                  </a:schemeClr>
                </a:solidFill>
              </a:rPr>
              <a:t>Utility</a:t>
            </a:r>
            <a:r>
              <a:rPr lang="pl-PL" b="1" dirty="0">
                <a:solidFill>
                  <a:schemeClr val="accent5">
                    <a:lumMod val="50000"/>
                  </a:schemeClr>
                </a:solidFill>
              </a:rPr>
              <a:t> </a:t>
            </a:r>
            <a:r>
              <a:rPr lang="pl-PL" b="1" dirty="0" err="1">
                <a:solidFill>
                  <a:schemeClr val="accent5">
                    <a:lumMod val="50000"/>
                  </a:schemeClr>
                </a:solidFill>
              </a:rPr>
              <a:t>maximization</a:t>
            </a:r>
            <a:r>
              <a:rPr lang="pl-PL" b="1" dirty="0">
                <a:solidFill>
                  <a:schemeClr val="accent5">
                    <a:lumMod val="50000"/>
                  </a:schemeClr>
                </a:solidFill>
              </a:rPr>
              <a:t> - </a:t>
            </a:r>
            <a:r>
              <a:rPr lang="pl-PL" b="1" dirty="0" err="1">
                <a:solidFill>
                  <a:schemeClr val="accent5">
                    <a:lumMod val="50000"/>
                  </a:schemeClr>
                </a:solidFill>
              </a:rPr>
              <a:t>budget</a:t>
            </a:r>
            <a:r>
              <a:rPr lang="pl-PL" b="1" dirty="0">
                <a:solidFill>
                  <a:schemeClr val="accent5">
                    <a:lumMod val="50000"/>
                  </a:schemeClr>
                </a:solidFill>
              </a:rPr>
              <a:t> </a:t>
            </a:r>
            <a:r>
              <a:rPr lang="pl-PL" b="1" dirty="0" err="1">
                <a:solidFill>
                  <a:schemeClr val="accent5">
                    <a:lumMod val="50000"/>
                  </a:schemeClr>
                </a:solidFill>
              </a:rPr>
              <a:t>constraint</a:t>
            </a:r>
            <a:endParaRPr lang="en-GB" b="1" dirty="0">
              <a:solidFill>
                <a:schemeClr val="accent5">
                  <a:lumMod val="50000"/>
                </a:schemeClr>
              </a:solidFill>
            </a:endParaRPr>
          </a:p>
        </p:txBody>
      </p:sp>
      <p:sp>
        <p:nvSpPr>
          <p:cNvPr id="4" name="AutoShape 2" descr="https://mikroekonomia.wne.uw.edu.pl/moodle/pluginfile.php/21105/course/section/1679/BBB%20settings%202.png"/>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Prostokąt 19"/>
          <p:cNvSpPr/>
          <p:nvPr/>
        </p:nvSpPr>
        <p:spPr>
          <a:xfrm>
            <a:off x="159794" y="1329140"/>
            <a:ext cx="11872410" cy="4524315"/>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4BACC6">
                    <a:lumMod val="50000"/>
                  </a:srgbClr>
                </a:solidFill>
                <a:effectLst/>
                <a:uLnTx/>
                <a:uFillTx/>
                <a:latin typeface="Calibri"/>
                <a:ea typeface="+mn-ea"/>
                <a:cs typeface="+mn-cs"/>
              </a:rPr>
              <a:t>The consumers have finite resources. We assume that consumers spend all their income (there are no savings in this model; if we want to allow for savings, we treat them as an additional variable).</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4BACC6">
                    <a:lumMod val="50000"/>
                  </a:srgbClr>
                </a:solidFill>
                <a:effectLst/>
                <a:uLnTx/>
                <a:uFillTx/>
                <a:latin typeface="Calibri"/>
                <a:ea typeface="+mn-ea"/>
                <a:cs typeface="+mn-cs"/>
              </a:rPr>
              <a:t>Therefore, consumer spending can be represented by budget constraint</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 of the form</a:t>
            </a:r>
            <a:r>
              <a:rPr kumimoji="0" lang="en-US" sz="3200" b="0" i="0" u="none" strike="noStrike" kern="1200" cap="none" spc="0" normalizeH="0" baseline="0" noProof="0" dirty="0">
                <a:ln>
                  <a:noFill/>
                </a:ln>
                <a:solidFill>
                  <a:srgbClr val="4BACC6">
                    <a:lumMod val="50000"/>
                  </a:srgbClr>
                </a:solidFill>
                <a:effectLst/>
                <a:uLnTx/>
                <a:uFillTx/>
                <a:latin typeface="Calibri"/>
                <a:ea typeface="+mn-ea"/>
                <a:cs typeface="+mn-cs"/>
              </a:rPr>
              <a:t>:</a:t>
            </a:r>
            <a:r>
              <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sz="3200" b="1"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p</a:t>
            </a:r>
            <a:r>
              <a:rPr kumimoji="0" lang="pl-PL" sz="3200" b="1" i="0" u="none" strike="noStrike" kern="1200" cap="none" spc="-1" normalizeH="0" baseline="-25000" noProof="0" dirty="0">
                <a:ln>
                  <a:noFill/>
                </a:ln>
                <a:solidFill>
                  <a:srgbClr val="215968"/>
                </a:solidFill>
                <a:effectLst/>
                <a:uLnTx/>
                <a:uFill>
                  <a:solidFill>
                    <a:srgbClr val="FFFFFF"/>
                  </a:solidFill>
                </a:uFill>
                <a:latin typeface="Calibri"/>
                <a:ea typeface="DejaVu Sans"/>
                <a:cs typeface="+mn-cs"/>
              </a:rPr>
              <a:t>1</a:t>
            </a:r>
            <a:r>
              <a:rPr kumimoji="0" lang="pl-PL" sz="3200" b="1"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x</a:t>
            </a:r>
            <a:r>
              <a:rPr kumimoji="0" lang="pl-PL" sz="3200" b="1" i="0" u="none" strike="noStrike" kern="1200" cap="none" spc="-1" normalizeH="0" baseline="-25000" noProof="0" dirty="0">
                <a:ln>
                  <a:noFill/>
                </a:ln>
                <a:solidFill>
                  <a:srgbClr val="215968"/>
                </a:solidFill>
                <a:effectLst/>
                <a:uLnTx/>
                <a:uFill>
                  <a:solidFill>
                    <a:srgbClr val="FFFFFF"/>
                  </a:solidFill>
                </a:uFill>
                <a:latin typeface="Calibri"/>
                <a:ea typeface="DejaVu Sans"/>
                <a:cs typeface="+mn-cs"/>
              </a:rPr>
              <a:t>1</a:t>
            </a:r>
            <a:r>
              <a:rPr kumimoji="0" lang="pl-PL" sz="3200" b="1"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 + p</a:t>
            </a:r>
            <a:r>
              <a:rPr kumimoji="0" lang="pl-PL" sz="3200" b="1" i="0" u="none" strike="noStrike" kern="1200" cap="none" spc="-1" normalizeH="0" baseline="-25000" noProof="0" dirty="0">
                <a:ln>
                  <a:noFill/>
                </a:ln>
                <a:solidFill>
                  <a:srgbClr val="215968"/>
                </a:solidFill>
                <a:effectLst/>
                <a:uLnTx/>
                <a:uFill>
                  <a:solidFill>
                    <a:srgbClr val="FFFFFF"/>
                  </a:solidFill>
                </a:uFill>
                <a:latin typeface="Calibri"/>
                <a:ea typeface="DejaVu Sans"/>
                <a:cs typeface="+mn-cs"/>
              </a:rPr>
              <a:t>2</a:t>
            </a:r>
            <a:r>
              <a:rPr kumimoji="0" lang="pl-PL" sz="3200" b="1"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x</a:t>
            </a:r>
            <a:r>
              <a:rPr kumimoji="0" lang="pl-PL" sz="3200" b="1" i="0" u="none" strike="noStrike" kern="1200" cap="none" spc="-1" normalizeH="0" baseline="-25000" noProof="0" dirty="0">
                <a:ln>
                  <a:noFill/>
                </a:ln>
                <a:solidFill>
                  <a:srgbClr val="215968"/>
                </a:solidFill>
                <a:effectLst/>
                <a:uLnTx/>
                <a:uFill>
                  <a:solidFill>
                    <a:srgbClr val="FFFFFF"/>
                  </a:solidFill>
                </a:uFill>
                <a:latin typeface="Calibri"/>
                <a:ea typeface="DejaVu Sans"/>
                <a:cs typeface="+mn-cs"/>
              </a:rPr>
              <a:t>2</a:t>
            </a:r>
            <a:r>
              <a:rPr kumimoji="0" lang="pl-PL" sz="3200" b="1"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 +…+ </a:t>
            </a:r>
            <a:r>
              <a:rPr kumimoji="0" lang="pl-PL" sz="3200" b="1" i="0" u="none" strike="noStrike" kern="1200" cap="none" spc="-1" normalizeH="0" baseline="0" noProof="0" dirty="0" err="1">
                <a:ln>
                  <a:noFill/>
                </a:ln>
                <a:solidFill>
                  <a:srgbClr val="215968"/>
                </a:solidFill>
                <a:effectLst/>
                <a:uLnTx/>
                <a:uFill>
                  <a:solidFill>
                    <a:srgbClr val="FFFFFF"/>
                  </a:solidFill>
                </a:uFill>
                <a:latin typeface="Calibri"/>
                <a:ea typeface="DejaVu Sans"/>
                <a:cs typeface="+mn-cs"/>
              </a:rPr>
              <a:t>p</a:t>
            </a:r>
            <a:r>
              <a:rPr kumimoji="0" lang="pl-PL" sz="3200" b="1" i="0" u="none" strike="noStrike" kern="1200" cap="none" spc="-1" normalizeH="0" baseline="-25000" noProof="0" dirty="0" err="1">
                <a:ln>
                  <a:noFill/>
                </a:ln>
                <a:solidFill>
                  <a:srgbClr val="215968"/>
                </a:solidFill>
                <a:effectLst/>
                <a:uLnTx/>
                <a:uFill>
                  <a:solidFill>
                    <a:srgbClr val="FFFFFF"/>
                  </a:solidFill>
                </a:uFill>
                <a:latin typeface="Calibri"/>
                <a:ea typeface="DejaVu Sans"/>
                <a:cs typeface="+mn-cs"/>
              </a:rPr>
              <a:t>n</a:t>
            </a:r>
            <a:r>
              <a:rPr kumimoji="0" lang="pl-PL" sz="3200" b="1" i="0" u="none" strike="noStrike" kern="1200" cap="none" spc="-1" normalizeH="0" baseline="0" noProof="0" dirty="0" err="1">
                <a:ln>
                  <a:noFill/>
                </a:ln>
                <a:solidFill>
                  <a:srgbClr val="215968"/>
                </a:solidFill>
                <a:effectLst/>
                <a:uLnTx/>
                <a:uFill>
                  <a:solidFill>
                    <a:srgbClr val="FFFFFF"/>
                  </a:solidFill>
                </a:uFill>
                <a:latin typeface="Calibri"/>
                <a:ea typeface="DejaVu Sans"/>
                <a:cs typeface="+mn-cs"/>
              </a:rPr>
              <a:t>x</a:t>
            </a:r>
            <a:r>
              <a:rPr kumimoji="0" lang="pl-PL" sz="3200" b="1" i="0" u="none" strike="noStrike" kern="1200" cap="none" spc="-1" normalizeH="0" baseline="-25000" noProof="0" dirty="0" err="1">
                <a:ln>
                  <a:noFill/>
                </a:ln>
                <a:solidFill>
                  <a:srgbClr val="215968"/>
                </a:solidFill>
                <a:effectLst/>
                <a:uLnTx/>
                <a:uFill>
                  <a:solidFill>
                    <a:srgbClr val="FFFFFF"/>
                  </a:solidFill>
                </a:uFill>
                <a:latin typeface="Calibri"/>
                <a:ea typeface="DejaVu Sans"/>
                <a:cs typeface="+mn-cs"/>
              </a:rPr>
              <a:t>n</a:t>
            </a:r>
            <a:r>
              <a:rPr kumimoji="0" lang="pl-PL" sz="3200" b="1"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 = M.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pl-PL" sz="3200" b="1"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The budget constraint is defined by the market: M and prices p1, p2 are given </a:t>
            </a:r>
            <a:r>
              <a:rPr lang="pl-PL" sz="3200" spc="-1" dirty="0">
                <a:solidFill>
                  <a:srgbClr val="215968"/>
                </a:solidFill>
                <a:uFill>
                  <a:solidFill>
                    <a:srgbClr val="FFFFFF"/>
                  </a:solidFill>
                </a:uFill>
                <a:latin typeface="Calibri"/>
                <a:ea typeface="DejaVu Sans"/>
              </a:rPr>
              <a:t>- t</a:t>
            </a:r>
            <a:r>
              <a:rPr kumimoji="0" lang="en-US" sz="3200" b="0"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he external world defines </a:t>
            </a:r>
            <a:r>
              <a:rPr kumimoji="0" lang="pl-PL" sz="3200" b="0"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HO</a:t>
            </a:r>
            <a:r>
              <a:rPr kumimoji="0" lang="en-US" sz="3200" b="0"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 possibility of consumption. </a:t>
            </a:r>
            <a:endParaRPr kumimoji="0" lang="en-GB" sz="3200" b="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23675963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ytuł 1"/>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b="1" i="1" dirty="0" err="1">
                <a:solidFill>
                  <a:schemeClr val="accent5">
                    <a:lumMod val="50000"/>
                  </a:schemeClr>
                </a:solidFill>
              </a:rPr>
              <a:t>Utility</a:t>
            </a:r>
            <a:r>
              <a:rPr lang="pl-PL" b="1" i="1" dirty="0">
                <a:solidFill>
                  <a:schemeClr val="accent5">
                    <a:lumMod val="50000"/>
                  </a:schemeClr>
                </a:solidFill>
              </a:rPr>
              <a:t> - the </a:t>
            </a:r>
            <a:r>
              <a:rPr lang="pl-PL" b="1" i="1" dirty="0" err="1">
                <a:solidFill>
                  <a:schemeClr val="accent5">
                    <a:lumMod val="50000"/>
                  </a:schemeClr>
                </a:solidFill>
              </a:rPr>
              <a:t>maximization</a:t>
            </a:r>
            <a:r>
              <a:rPr lang="pl-PL" b="1" i="1" dirty="0">
                <a:solidFill>
                  <a:schemeClr val="accent5">
                    <a:lumMod val="50000"/>
                  </a:schemeClr>
                </a:solidFill>
              </a:rPr>
              <a:t> problem </a:t>
            </a:r>
            <a:endParaRPr lang="en-GB" b="1" i="1" dirty="0">
              <a:solidFill>
                <a:schemeClr val="accent5">
                  <a:lumMod val="50000"/>
                </a:schemeClr>
              </a:solidFill>
            </a:endParaRPr>
          </a:p>
        </p:txBody>
      </p:sp>
      <p:sp>
        <p:nvSpPr>
          <p:cNvPr id="4" name="AutoShape 2" descr="https://mikroekonomia.wne.uw.edu.pl/moodle/pluginfile.php/21105/course/section/1679/BBB%20settings%202.png"/>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Prostokąt 19"/>
          <p:cNvSpPr/>
          <p:nvPr/>
        </p:nvSpPr>
        <p:spPr>
          <a:xfrm>
            <a:off x="758790" y="1799015"/>
            <a:ext cx="10674418" cy="4315027"/>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4400" b="0" i="0" u="none" strike="noStrike" kern="1200" cap="none" spc="0" normalizeH="0" baseline="0" dirty="0">
                <a:ln>
                  <a:noFill/>
                </a:ln>
                <a:solidFill>
                  <a:srgbClr val="4BACC6">
                    <a:lumMod val="50000"/>
                  </a:srgbClr>
                </a:solidFill>
                <a:effectLst/>
                <a:uLnTx/>
                <a:uFillTx/>
                <a:latin typeface="Calibri"/>
                <a:ea typeface="+mn-ea"/>
                <a:cs typeface="+mn-cs"/>
              </a:rPr>
              <a:t>The consumer choice is simplified to maximization problem with constraints.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GB" sz="4400" b="0" i="0" u="none" strike="noStrike" kern="1200" cap="none" spc="0" normalizeH="0" baseline="0" dirty="0">
              <a:ln>
                <a:noFill/>
              </a:ln>
              <a:solidFill>
                <a:srgbClr val="4BACC6">
                  <a:lumMod val="50000"/>
                </a:srgbClr>
              </a:solidFill>
              <a:effectLst/>
              <a:uLnTx/>
              <a:uFillTx/>
              <a:latin typeface="Calibri"/>
              <a:ea typeface="+mn-ea"/>
              <a:cs typeface="+mn-cs"/>
            </a:endParaRP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pl-PL" sz="4400" b="0" i="0" u="none" strike="noStrike" kern="1200" cap="none" spc="0" normalizeH="0" baseline="0" noProof="0" dirty="0">
                <a:ln>
                  <a:noFill/>
                </a:ln>
                <a:solidFill>
                  <a:srgbClr val="4BACC6">
                    <a:lumMod val="50000"/>
                  </a:srgbClr>
                </a:solidFill>
                <a:effectLst/>
                <a:uLnTx/>
                <a:uFillTx/>
                <a:latin typeface="Calibri"/>
                <a:ea typeface="+mn-ea"/>
                <a:cs typeface="+mn-cs"/>
              </a:rPr>
              <a:t>Max </a:t>
            </a:r>
            <a:r>
              <a:rPr kumimoji="0" lang="en-US" altLang="en-US" sz="4400" b="0" i="0" u="none" strike="noStrike" kern="1200" cap="none" spc="0" normalizeH="0" baseline="0" noProof="0" dirty="0">
                <a:ln>
                  <a:noFill/>
                </a:ln>
                <a:solidFill>
                  <a:srgbClr val="4BACC6">
                    <a:lumMod val="50000"/>
                  </a:srgbClr>
                </a:solidFill>
                <a:effectLst/>
                <a:uLnTx/>
                <a:uFillTx/>
                <a:latin typeface="Calibri"/>
                <a:ea typeface="+mn-ea"/>
                <a:cs typeface="+mn-cs"/>
              </a:rPr>
              <a:t>U(</a:t>
            </a:r>
            <a:r>
              <a:rPr kumimoji="0" lang="pl-PL" altLang="en-US" sz="4400" b="0" i="1" u="none" strike="noStrike" kern="1200" cap="none" spc="0" normalizeH="0" baseline="0" noProof="0" dirty="0">
                <a:ln>
                  <a:noFill/>
                </a:ln>
                <a:solidFill>
                  <a:srgbClr val="4BACC6">
                    <a:lumMod val="50000"/>
                  </a:srgbClr>
                </a:solidFill>
                <a:effectLst/>
                <a:uLnTx/>
                <a:uFillTx/>
                <a:latin typeface="Calibri"/>
                <a:ea typeface="+mn-ea"/>
                <a:cs typeface="+mn-cs"/>
              </a:rPr>
              <a:t>x</a:t>
            </a:r>
            <a:r>
              <a:rPr kumimoji="0" lang="en-US" altLang="en-US" sz="4400" b="0" i="0" u="none" strike="noStrike" kern="1200" cap="none" spc="0" normalizeH="0" baseline="-25000" noProof="0" dirty="0">
                <a:ln>
                  <a:noFill/>
                </a:ln>
                <a:solidFill>
                  <a:srgbClr val="4BACC6">
                    <a:lumMod val="50000"/>
                  </a:srgbClr>
                </a:solidFill>
                <a:effectLst/>
                <a:uLnTx/>
                <a:uFillTx/>
                <a:latin typeface="Calibri"/>
                <a:ea typeface="+mn-ea"/>
                <a:cs typeface="+mn-cs"/>
              </a:rPr>
              <a:t>1</a:t>
            </a:r>
            <a:r>
              <a:rPr kumimoji="0" lang="en-US" altLang="en-US" sz="44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altLang="en-US" sz="4400" b="0" i="1" u="none" strike="noStrike" kern="1200" cap="none" spc="0" normalizeH="0" baseline="0" noProof="0" dirty="0">
                <a:ln>
                  <a:noFill/>
                </a:ln>
                <a:solidFill>
                  <a:srgbClr val="4BACC6">
                    <a:lumMod val="50000"/>
                  </a:srgbClr>
                </a:solidFill>
                <a:effectLst/>
                <a:uLnTx/>
                <a:uFillTx/>
                <a:latin typeface="Calibri"/>
                <a:ea typeface="+mn-ea"/>
                <a:cs typeface="+mn-cs"/>
              </a:rPr>
              <a:t>x</a:t>
            </a:r>
            <a:r>
              <a:rPr kumimoji="0" lang="en-US" altLang="en-US" sz="4400" b="0" i="0" u="none" strike="noStrike" kern="1200" cap="none" spc="0" normalizeH="0" baseline="-25000" noProof="0" dirty="0">
                <a:ln>
                  <a:noFill/>
                </a:ln>
                <a:solidFill>
                  <a:srgbClr val="4BACC6">
                    <a:lumMod val="50000"/>
                  </a:srgbClr>
                </a:solidFill>
                <a:effectLst/>
                <a:uLnTx/>
                <a:uFillTx/>
                <a:latin typeface="Calibri"/>
                <a:ea typeface="+mn-ea"/>
                <a:cs typeface="+mn-cs"/>
              </a:rPr>
              <a:t>2</a:t>
            </a:r>
            <a:r>
              <a:rPr kumimoji="0" lang="en-US" altLang="en-US" sz="44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pl-PL" altLang="en-US" sz="4400" b="0" i="1" u="none" strike="noStrike" kern="1200" cap="none" spc="0" normalizeH="0" baseline="0" noProof="0" dirty="0">
                <a:ln>
                  <a:noFill/>
                </a:ln>
                <a:solidFill>
                  <a:srgbClr val="4BACC6">
                    <a:lumMod val="50000"/>
                  </a:srgbClr>
                </a:solidFill>
                <a:effectLst/>
                <a:uLnTx/>
                <a:uFillTx/>
                <a:latin typeface="Calibri"/>
                <a:ea typeface="+mn-ea"/>
                <a:cs typeface="+mn-cs"/>
              </a:rPr>
              <a:t>x</a:t>
            </a:r>
            <a:r>
              <a:rPr kumimoji="0" lang="en-US" altLang="en-US" sz="4400" b="0" i="0" u="none" strike="noStrike" kern="1200" cap="none" spc="0" normalizeH="0" baseline="-25000" noProof="0" dirty="0">
                <a:ln>
                  <a:noFill/>
                </a:ln>
                <a:solidFill>
                  <a:srgbClr val="4BACC6">
                    <a:lumMod val="50000"/>
                  </a:srgbClr>
                </a:solidFill>
                <a:effectLst/>
                <a:uLnTx/>
                <a:uFillTx/>
                <a:latin typeface="Calibri"/>
                <a:ea typeface="+mn-ea"/>
                <a:cs typeface="+mn-cs"/>
              </a:rPr>
              <a:t>n</a:t>
            </a:r>
            <a:r>
              <a:rPr kumimoji="0" lang="en-US" altLang="en-US" sz="4400" b="0" i="0" u="none" strike="noStrike" kern="1200" cap="none" spc="0" normalizeH="0" baseline="0" noProof="0" dirty="0">
                <a:ln>
                  <a:noFill/>
                </a:ln>
                <a:solidFill>
                  <a:srgbClr val="4BACC6">
                    <a:lumMod val="50000"/>
                  </a:srgbClr>
                </a:solidFill>
                <a:effectLst/>
                <a:uLnTx/>
                <a:uFillTx/>
                <a:latin typeface="Calibri"/>
                <a:ea typeface="+mn-ea"/>
                <a:cs typeface="+mn-cs"/>
              </a:rPr>
              <a:t>)</a:t>
            </a:r>
            <a:r>
              <a:rPr kumimoji="0" lang="pl-PL" altLang="en-US" sz="4400" b="0" i="0" u="none" strike="noStrike" kern="1200" cap="none" spc="0" normalizeH="0" baseline="0" noProof="0" dirty="0">
                <a:ln>
                  <a:noFill/>
                </a:ln>
                <a:solidFill>
                  <a:srgbClr val="4BACC6">
                    <a:lumMod val="50000"/>
                  </a:srgbClr>
                </a:solidFill>
                <a:effectLst/>
                <a:uLnTx/>
                <a:uFillTx/>
                <a:latin typeface="Calibri"/>
                <a:ea typeface="+mn-ea"/>
                <a:cs typeface="+mn-cs"/>
              </a:rPr>
              <a:t> </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pl-PL" altLang="en-US" sz="4400" b="0" i="0" u="none" strike="noStrike" kern="1200" cap="none" spc="0" normalizeH="0" baseline="0" noProof="0" dirty="0" err="1">
                <a:ln>
                  <a:noFill/>
                </a:ln>
                <a:solidFill>
                  <a:srgbClr val="4BACC6">
                    <a:lumMod val="50000"/>
                  </a:srgbClr>
                </a:solidFill>
                <a:effectLst/>
                <a:uLnTx/>
                <a:uFillTx/>
                <a:latin typeface="Calibri"/>
                <a:ea typeface="+mn-ea"/>
                <a:cs typeface="+mn-cs"/>
              </a:rPr>
              <a:t>subject</a:t>
            </a:r>
            <a:r>
              <a:rPr kumimoji="0" lang="pl-PL" altLang="en-US" sz="4400" b="0" i="0" u="none" strike="noStrike" kern="1200" cap="none" spc="0" normalizeH="0" baseline="0" noProof="0" dirty="0">
                <a:ln>
                  <a:noFill/>
                </a:ln>
                <a:solidFill>
                  <a:srgbClr val="4BACC6">
                    <a:lumMod val="50000"/>
                  </a:srgbClr>
                </a:solidFill>
                <a:effectLst/>
                <a:uLnTx/>
                <a:uFillTx/>
                <a:latin typeface="Calibri"/>
                <a:ea typeface="+mn-ea"/>
                <a:cs typeface="+mn-cs"/>
              </a:rPr>
              <a:t> to</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pl-PL" sz="4400" b="0"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p</a:t>
            </a:r>
            <a:r>
              <a:rPr kumimoji="0" lang="pl-PL" sz="4400" b="0" i="0" u="none" strike="noStrike" kern="1200" cap="none" spc="-1" normalizeH="0" baseline="-25000" noProof="0" dirty="0">
                <a:ln>
                  <a:noFill/>
                </a:ln>
                <a:solidFill>
                  <a:srgbClr val="215968"/>
                </a:solidFill>
                <a:effectLst/>
                <a:uLnTx/>
                <a:uFill>
                  <a:solidFill>
                    <a:srgbClr val="FFFFFF"/>
                  </a:solidFill>
                </a:uFill>
                <a:latin typeface="Calibri"/>
                <a:ea typeface="DejaVu Sans"/>
                <a:cs typeface="+mn-cs"/>
              </a:rPr>
              <a:t>1</a:t>
            </a:r>
            <a:r>
              <a:rPr kumimoji="0" lang="pl-PL" sz="4400" b="0"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x</a:t>
            </a:r>
            <a:r>
              <a:rPr kumimoji="0" lang="pl-PL" sz="4400" b="0" i="0" u="none" strike="noStrike" kern="1200" cap="none" spc="-1" normalizeH="0" baseline="-25000" noProof="0" dirty="0">
                <a:ln>
                  <a:noFill/>
                </a:ln>
                <a:solidFill>
                  <a:srgbClr val="215968"/>
                </a:solidFill>
                <a:effectLst/>
                <a:uLnTx/>
                <a:uFill>
                  <a:solidFill>
                    <a:srgbClr val="FFFFFF"/>
                  </a:solidFill>
                </a:uFill>
                <a:latin typeface="Calibri"/>
                <a:ea typeface="DejaVu Sans"/>
                <a:cs typeface="+mn-cs"/>
              </a:rPr>
              <a:t>1</a:t>
            </a:r>
            <a:r>
              <a:rPr kumimoji="0" lang="pl-PL" sz="4400" b="0"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 + p</a:t>
            </a:r>
            <a:r>
              <a:rPr kumimoji="0" lang="pl-PL" sz="4400" b="0" i="0" u="none" strike="noStrike" kern="1200" cap="none" spc="-1" normalizeH="0" baseline="-25000" noProof="0" dirty="0">
                <a:ln>
                  <a:noFill/>
                </a:ln>
                <a:solidFill>
                  <a:srgbClr val="215968"/>
                </a:solidFill>
                <a:effectLst/>
                <a:uLnTx/>
                <a:uFill>
                  <a:solidFill>
                    <a:srgbClr val="FFFFFF"/>
                  </a:solidFill>
                </a:uFill>
                <a:latin typeface="Calibri"/>
                <a:ea typeface="DejaVu Sans"/>
                <a:cs typeface="+mn-cs"/>
              </a:rPr>
              <a:t>2</a:t>
            </a:r>
            <a:r>
              <a:rPr kumimoji="0" lang="pl-PL" sz="4400" b="0"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x</a:t>
            </a:r>
            <a:r>
              <a:rPr kumimoji="0" lang="pl-PL" sz="4400" b="0" i="0" u="none" strike="noStrike" kern="1200" cap="none" spc="-1" normalizeH="0" baseline="-25000" noProof="0" dirty="0">
                <a:ln>
                  <a:noFill/>
                </a:ln>
                <a:solidFill>
                  <a:srgbClr val="215968"/>
                </a:solidFill>
                <a:effectLst/>
                <a:uLnTx/>
                <a:uFill>
                  <a:solidFill>
                    <a:srgbClr val="FFFFFF"/>
                  </a:solidFill>
                </a:uFill>
                <a:latin typeface="Calibri"/>
                <a:ea typeface="DejaVu Sans"/>
                <a:cs typeface="+mn-cs"/>
              </a:rPr>
              <a:t>2</a:t>
            </a:r>
            <a:r>
              <a:rPr kumimoji="0" lang="pl-PL" sz="4400" b="0"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 +…+ </a:t>
            </a:r>
            <a:r>
              <a:rPr kumimoji="0" lang="pl-PL" sz="4400" b="0" i="0" u="none" strike="noStrike" kern="1200" cap="none" spc="-1" normalizeH="0" baseline="0" noProof="0" dirty="0" err="1">
                <a:ln>
                  <a:noFill/>
                </a:ln>
                <a:solidFill>
                  <a:srgbClr val="215968"/>
                </a:solidFill>
                <a:effectLst/>
                <a:uLnTx/>
                <a:uFill>
                  <a:solidFill>
                    <a:srgbClr val="FFFFFF"/>
                  </a:solidFill>
                </a:uFill>
                <a:latin typeface="Calibri"/>
                <a:ea typeface="DejaVu Sans"/>
                <a:cs typeface="+mn-cs"/>
              </a:rPr>
              <a:t>p</a:t>
            </a:r>
            <a:r>
              <a:rPr kumimoji="0" lang="pl-PL" sz="4400" b="0" i="0" u="none" strike="noStrike" kern="1200" cap="none" spc="-1" normalizeH="0" baseline="-25000" noProof="0" dirty="0" err="1">
                <a:ln>
                  <a:noFill/>
                </a:ln>
                <a:solidFill>
                  <a:srgbClr val="215968"/>
                </a:solidFill>
                <a:effectLst/>
                <a:uLnTx/>
                <a:uFill>
                  <a:solidFill>
                    <a:srgbClr val="FFFFFF"/>
                  </a:solidFill>
                </a:uFill>
                <a:latin typeface="Calibri"/>
                <a:ea typeface="DejaVu Sans"/>
                <a:cs typeface="+mn-cs"/>
              </a:rPr>
              <a:t>n</a:t>
            </a:r>
            <a:r>
              <a:rPr kumimoji="0" lang="pl-PL" sz="4400" b="0" i="0" u="none" strike="noStrike" kern="1200" cap="none" spc="-1" normalizeH="0" baseline="0" noProof="0" dirty="0" err="1">
                <a:ln>
                  <a:noFill/>
                </a:ln>
                <a:solidFill>
                  <a:srgbClr val="215968"/>
                </a:solidFill>
                <a:effectLst/>
                <a:uLnTx/>
                <a:uFill>
                  <a:solidFill>
                    <a:srgbClr val="FFFFFF"/>
                  </a:solidFill>
                </a:uFill>
                <a:latin typeface="Calibri"/>
                <a:ea typeface="DejaVu Sans"/>
                <a:cs typeface="+mn-cs"/>
              </a:rPr>
              <a:t>x</a:t>
            </a:r>
            <a:r>
              <a:rPr kumimoji="0" lang="pl-PL" sz="4400" b="0" i="0" u="none" strike="noStrike" kern="1200" cap="none" spc="-1" normalizeH="0" baseline="-25000" noProof="0" dirty="0" err="1">
                <a:ln>
                  <a:noFill/>
                </a:ln>
                <a:solidFill>
                  <a:srgbClr val="215968"/>
                </a:solidFill>
                <a:effectLst/>
                <a:uLnTx/>
                <a:uFill>
                  <a:solidFill>
                    <a:srgbClr val="FFFFFF"/>
                  </a:solidFill>
                </a:uFill>
                <a:latin typeface="Calibri"/>
                <a:ea typeface="DejaVu Sans"/>
                <a:cs typeface="+mn-cs"/>
              </a:rPr>
              <a:t>n</a:t>
            </a:r>
            <a:r>
              <a:rPr kumimoji="0" lang="pl-PL" sz="4400" b="0"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 </a:t>
            </a:r>
            <a:r>
              <a:rPr kumimoji="0" lang="pl-PL" sz="4400" b="0" i="0" u="none" strike="noStrike" kern="1200" cap="none" spc="-1" normalizeH="0" baseline="0" noProof="0" dirty="0">
                <a:ln>
                  <a:noFill/>
                </a:ln>
                <a:solidFill>
                  <a:srgbClr val="215968"/>
                </a:solidFill>
                <a:effectLst/>
                <a:uLnTx/>
                <a:uFill>
                  <a:solidFill>
                    <a:srgbClr val="FFFFFF"/>
                  </a:solidFill>
                </a:uFill>
                <a:latin typeface="Symbol"/>
                <a:ea typeface="DejaVu Sans"/>
                <a:cs typeface="+mn-cs"/>
              </a:rPr>
              <a:t>=</a:t>
            </a:r>
            <a:r>
              <a:rPr kumimoji="0" lang="pl-PL" sz="4400" b="0" i="0" u="none" strike="noStrike" kern="1200" cap="none" spc="-1" normalizeH="0" baseline="0" noProof="0" dirty="0">
                <a:ln>
                  <a:noFill/>
                </a:ln>
                <a:solidFill>
                  <a:srgbClr val="215968"/>
                </a:solidFill>
                <a:effectLst/>
                <a:uLnTx/>
                <a:uFill>
                  <a:solidFill>
                    <a:srgbClr val="FFFFFF"/>
                  </a:solidFill>
                </a:uFill>
                <a:latin typeface="Calibri"/>
                <a:ea typeface="DejaVu Sans"/>
                <a:cs typeface="+mn-cs"/>
              </a:rPr>
              <a:t> M</a:t>
            </a:r>
            <a:endParaRPr kumimoji="0" lang="en-US" altLang="en-US" sz="4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899322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ytuł 1"/>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b="1" dirty="0" err="1">
                <a:solidFill>
                  <a:schemeClr val="accent5">
                    <a:lumMod val="50000"/>
                  </a:schemeClr>
                </a:solidFill>
                <a:latin typeface="+mn-lt"/>
              </a:rPr>
              <a:t>Utility</a:t>
            </a:r>
            <a:r>
              <a:rPr lang="pl-PL" b="1" dirty="0">
                <a:solidFill>
                  <a:schemeClr val="accent5">
                    <a:lumMod val="50000"/>
                  </a:schemeClr>
                </a:solidFill>
                <a:latin typeface="+mn-lt"/>
              </a:rPr>
              <a:t> - the </a:t>
            </a:r>
            <a:r>
              <a:rPr lang="en-GB" altLang="pl-PL" b="1" dirty="0">
                <a:solidFill>
                  <a:schemeClr val="accent5">
                    <a:lumMod val="50000"/>
                  </a:schemeClr>
                </a:solidFill>
                <a:latin typeface="+mn-lt"/>
              </a:rPr>
              <a:t>equilibrium</a:t>
            </a:r>
            <a:endParaRPr lang="en-GB" b="1" dirty="0">
              <a:solidFill>
                <a:schemeClr val="accent5">
                  <a:lumMod val="50000"/>
                </a:schemeClr>
              </a:solidFill>
              <a:latin typeface="+mn-lt"/>
            </a:endParaRPr>
          </a:p>
        </p:txBody>
      </p:sp>
      <p:sp>
        <p:nvSpPr>
          <p:cNvPr id="4" name="AutoShape 2" descr="https://mikroekonomia.wne.uw.edu.pl/moodle/pluginfile.php/21105/course/section/1679/BBB%20settings%202.png"/>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pole tekstowe 2"/>
          <p:cNvSpPr txBox="1">
            <a:spLocks noChangeArrowheads="1"/>
          </p:cNvSpPr>
          <p:nvPr/>
        </p:nvSpPr>
        <p:spPr bwMode="auto">
          <a:xfrm>
            <a:off x="160446" y="1212599"/>
            <a:ext cx="879662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20000"/>
              </a:spcBef>
              <a:buFont typeface="Arial" charset="0"/>
              <a:buChar char="•"/>
              <a:defRPr sz="3200">
                <a:solidFill>
                  <a:schemeClr val="tx1"/>
                </a:solidFill>
                <a:latin typeface="Calibri" pitchFamily="34" charset="0"/>
              </a:defRPr>
            </a:lvl1pPr>
            <a:lvl2pPr marL="742950" indent="-285750" algn="l">
              <a:spcBef>
                <a:spcPct val="20000"/>
              </a:spcBef>
              <a:buFont typeface="Arial" charset="0"/>
              <a:buChar char="–"/>
              <a:defRPr sz="2800">
                <a:solidFill>
                  <a:schemeClr val="tx1"/>
                </a:solidFill>
                <a:latin typeface="Calibri" pitchFamily="34" charset="0"/>
              </a:defRPr>
            </a:lvl2pPr>
            <a:lvl3pPr marL="1143000" indent="-228600" algn="l">
              <a:spcBef>
                <a:spcPct val="20000"/>
              </a:spcBef>
              <a:buFont typeface="Arial" charset="0"/>
              <a:buChar char="•"/>
              <a:defRPr sz="2400">
                <a:solidFill>
                  <a:schemeClr val="tx1"/>
                </a:solidFill>
                <a:latin typeface="Calibri" pitchFamily="34" charset="0"/>
              </a:defRPr>
            </a:lvl3pPr>
            <a:lvl4pPr marL="1600200" indent="-228600" algn="l">
              <a:spcBef>
                <a:spcPct val="20000"/>
              </a:spcBef>
              <a:buFont typeface="Arial" charset="0"/>
              <a:buChar char="–"/>
              <a:defRPr sz="2000">
                <a:solidFill>
                  <a:schemeClr val="tx1"/>
                </a:solidFill>
                <a:latin typeface="Calibri" pitchFamily="34" charset="0"/>
              </a:defRPr>
            </a:lvl4pPr>
            <a:lvl5pPr marL="2057400" indent="-228600" algn="l">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altLang="pl-PL" sz="2800" b="0" i="0" u="none" strike="noStrike" kern="1200" cap="none" spc="0" normalizeH="0" baseline="0" noProof="0" dirty="0">
                <a:ln>
                  <a:noFill/>
                </a:ln>
                <a:solidFill>
                  <a:srgbClr val="4BACC6">
                    <a:lumMod val="50000"/>
                  </a:srgbClr>
                </a:solidFill>
                <a:effectLst/>
                <a:uLnTx/>
                <a:uFillTx/>
                <a:latin typeface="Arial" charset="0"/>
                <a:ea typeface="+mn-ea"/>
                <a:cs typeface="+mn-cs"/>
              </a:rPr>
              <a:t>We know the consumer choice</a:t>
            </a:r>
            <a:r>
              <a:rPr kumimoji="0" lang="pl-PL" altLang="pl-PL" sz="2800" b="0" i="0" u="none" strike="noStrike" kern="1200" cap="none" spc="0" normalizeH="0" baseline="0" noProof="0" dirty="0">
                <a:ln>
                  <a:noFill/>
                </a:ln>
                <a:solidFill>
                  <a:srgbClr val="4BACC6">
                    <a:lumMod val="50000"/>
                  </a:srgbClr>
                </a:solidFill>
                <a:effectLst/>
                <a:uLnTx/>
                <a:uFillTx/>
                <a:latin typeface="Arial" charset="0"/>
                <a:ea typeface="+mn-ea"/>
                <a:cs typeface="+mn-cs"/>
              </a:rPr>
              <a:t>. It </a:t>
            </a:r>
            <a:r>
              <a:rPr kumimoji="0" lang="pl-PL" altLang="pl-PL" sz="2800" b="0" i="0" u="none" strike="noStrike" kern="1200" cap="none" spc="0" normalizeH="0" baseline="0" noProof="0" dirty="0" err="1">
                <a:ln>
                  <a:noFill/>
                </a:ln>
                <a:solidFill>
                  <a:srgbClr val="4BACC6">
                    <a:lumMod val="50000"/>
                  </a:srgbClr>
                </a:solidFill>
                <a:effectLst/>
                <a:uLnTx/>
                <a:uFillTx/>
                <a:latin typeface="Arial" charset="0"/>
                <a:ea typeface="+mn-ea"/>
                <a:cs typeface="+mn-cs"/>
              </a:rPr>
              <a:t>is</a:t>
            </a:r>
            <a:r>
              <a:rPr kumimoji="0" lang="pl-PL" altLang="pl-PL" sz="2800" b="0" i="0" u="none" strike="noStrike" kern="1200" cap="none" spc="0" normalizeH="0" baseline="0" noProof="0" dirty="0">
                <a:ln>
                  <a:noFill/>
                </a:ln>
                <a:solidFill>
                  <a:srgbClr val="4BACC6">
                    <a:lumMod val="50000"/>
                  </a:srgbClr>
                </a:solidFill>
                <a:effectLst/>
                <a:uLnTx/>
                <a:uFillTx/>
                <a:latin typeface="Arial" charset="0"/>
                <a:ea typeface="+mn-ea"/>
                <a:cs typeface="+mn-cs"/>
              </a:rPr>
              <a:t> </a:t>
            </a:r>
            <a:r>
              <a:rPr kumimoji="0" lang="en-GB" altLang="pl-PL" sz="2800" b="0" i="0" u="none" strike="noStrike" kern="1200" cap="none" spc="0" normalizeH="0" baseline="0" noProof="0" dirty="0">
                <a:ln>
                  <a:noFill/>
                </a:ln>
                <a:solidFill>
                  <a:srgbClr val="4BACC6">
                    <a:lumMod val="50000"/>
                  </a:srgbClr>
                </a:solidFill>
                <a:effectLst/>
                <a:uLnTx/>
                <a:uFillTx/>
                <a:latin typeface="Arial" charset="0"/>
                <a:ea typeface="+mn-ea"/>
                <a:cs typeface="+mn-cs"/>
              </a:rPr>
              <a:t>defined by an equilibrium condition. </a:t>
            </a:r>
            <a:endParaRPr kumimoji="0" lang="pl-PL" altLang="pl-PL" sz="2800" b="0" i="0" u="none" strike="noStrike" kern="1200" cap="none" spc="0" normalizeH="0" baseline="0" noProof="0" dirty="0">
              <a:ln>
                <a:noFill/>
              </a:ln>
              <a:solidFill>
                <a:srgbClr val="4BACC6">
                  <a:lumMod val="50000"/>
                </a:srgbClr>
              </a:solidFill>
              <a:effectLst/>
              <a:uLnTx/>
              <a:uFillTx/>
              <a:latin typeface="Arial" charset="0"/>
              <a:ea typeface="+mn-ea"/>
              <a:cs typeface="+mn-cs"/>
            </a:endParaRPr>
          </a:p>
        </p:txBody>
      </p:sp>
      <p:sp>
        <p:nvSpPr>
          <p:cNvPr id="16" name="pole tekstowe 2"/>
          <p:cNvSpPr txBox="1">
            <a:spLocks noChangeArrowheads="1"/>
          </p:cNvSpPr>
          <p:nvPr/>
        </p:nvSpPr>
        <p:spPr bwMode="auto">
          <a:xfrm>
            <a:off x="6373326" y="2029655"/>
            <a:ext cx="5334262"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20000"/>
              </a:spcBef>
              <a:buFont typeface="Arial" charset="0"/>
              <a:buChar char="•"/>
              <a:defRPr sz="3200">
                <a:solidFill>
                  <a:schemeClr val="tx1"/>
                </a:solidFill>
                <a:latin typeface="Calibri" pitchFamily="34" charset="0"/>
              </a:defRPr>
            </a:lvl1pPr>
            <a:lvl2pPr marL="742950" indent="-285750" algn="l">
              <a:spcBef>
                <a:spcPct val="20000"/>
              </a:spcBef>
              <a:buFont typeface="Arial" charset="0"/>
              <a:buChar char="–"/>
              <a:defRPr sz="2800">
                <a:solidFill>
                  <a:schemeClr val="tx1"/>
                </a:solidFill>
                <a:latin typeface="Calibri" pitchFamily="34" charset="0"/>
              </a:defRPr>
            </a:lvl2pPr>
            <a:lvl3pPr marL="1143000" indent="-228600" algn="l">
              <a:spcBef>
                <a:spcPct val="20000"/>
              </a:spcBef>
              <a:buFont typeface="Arial" charset="0"/>
              <a:buChar char="•"/>
              <a:defRPr sz="2400">
                <a:solidFill>
                  <a:schemeClr val="tx1"/>
                </a:solidFill>
                <a:latin typeface="Calibri" pitchFamily="34" charset="0"/>
              </a:defRPr>
            </a:lvl3pPr>
            <a:lvl4pPr marL="1600200" indent="-228600" algn="l">
              <a:spcBef>
                <a:spcPct val="20000"/>
              </a:spcBef>
              <a:buFont typeface="Arial" charset="0"/>
              <a:buChar char="–"/>
              <a:defRPr sz="2000">
                <a:solidFill>
                  <a:schemeClr val="tx1"/>
                </a:solidFill>
                <a:latin typeface="Calibri" pitchFamily="34" charset="0"/>
              </a:defRPr>
            </a:lvl4pPr>
            <a:lvl5pPr marL="2057400" indent="-228600" algn="l">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altLang="pl-PL" sz="2000" b="1" i="0" u="none" strike="noStrike" kern="1200" cap="none" spc="0" normalizeH="0" baseline="0" noProof="0" dirty="0">
                <a:ln>
                  <a:noFill/>
                </a:ln>
                <a:solidFill>
                  <a:srgbClr val="4BACC6">
                    <a:lumMod val="50000"/>
                  </a:srgbClr>
                </a:solidFill>
                <a:effectLst/>
                <a:uLnTx/>
                <a:uFillTx/>
                <a:latin typeface="Arial" charset="0"/>
                <a:ea typeface="+mn-ea"/>
                <a:cs typeface="+mn-cs"/>
              </a:rPr>
              <a:t>The psychological trade-off between consumption x1 and x2 (MRS) is equal the market trade-off which is set by price relations (p1/p2)</a:t>
            </a:r>
            <a:endParaRPr kumimoji="0" lang="pl-PL" altLang="pl-PL" sz="2000" b="1" i="0" u="none" strike="noStrike" kern="1200" cap="none" spc="0" normalizeH="0" baseline="0" noProof="0" dirty="0">
              <a:ln>
                <a:noFill/>
              </a:ln>
              <a:solidFill>
                <a:srgbClr val="4BACC6">
                  <a:lumMod val="50000"/>
                </a:srgbClr>
              </a:solidFill>
              <a:effectLst/>
              <a:uLnTx/>
              <a:uFillTx/>
              <a:latin typeface="Arial" charset="0"/>
              <a:ea typeface="+mn-ea"/>
              <a:cs typeface="+mn-cs"/>
            </a:endParaRPr>
          </a:p>
        </p:txBody>
      </p:sp>
      <p:grpSp>
        <p:nvGrpSpPr>
          <p:cNvPr id="2" name="Grupa 1"/>
          <p:cNvGrpSpPr/>
          <p:nvPr/>
        </p:nvGrpSpPr>
        <p:grpSpPr>
          <a:xfrm>
            <a:off x="88965" y="2454238"/>
            <a:ext cx="11639625" cy="3911917"/>
            <a:chOff x="-1750149" y="1484784"/>
            <a:chExt cx="14517585" cy="4700000"/>
          </a:xfrm>
        </p:grpSpPr>
        <p:graphicFrame>
          <p:nvGraphicFramePr>
            <p:cNvPr id="6" name="Object 28"/>
            <p:cNvGraphicFramePr>
              <a:graphicFrameLocks noChangeAspect="1"/>
            </p:cNvGraphicFramePr>
            <p:nvPr/>
          </p:nvGraphicFramePr>
          <p:xfrm>
            <a:off x="3805700" y="2570090"/>
            <a:ext cx="3364051" cy="1037578"/>
          </p:xfrm>
          <a:graphic>
            <a:graphicData uri="http://schemas.openxmlformats.org/presentationml/2006/ole">
              <mc:AlternateContent xmlns:mc="http://schemas.openxmlformats.org/markup-compatibility/2006">
                <mc:Choice xmlns:v="urn:schemas-microsoft-com:vml" Requires="v">
                  <p:oleObj name="Równanie" r:id="rId2" imgW="749160" imgH="431640" progId="Equation.3">
                    <p:embed/>
                  </p:oleObj>
                </mc:Choice>
                <mc:Fallback>
                  <p:oleObj name="Równanie" r:id="rId2" imgW="749160" imgH="431640" progId="Equation.3">
                    <p:embed/>
                    <p:pic>
                      <p:nvPicPr>
                        <p:cNvPr id="6" name="Object 28"/>
                        <p:cNvPicPr>
                          <a:picLocks noChangeAspect="1" noChangeArrowheads="1"/>
                        </p:cNvPicPr>
                        <p:nvPr/>
                      </p:nvPicPr>
                      <p:blipFill>
                        <a:blip r:embed="rId3"/>
                        <a:srcRect/>
                        <a:stretch>
                          <a:fillRect/>
                        </a:stretch>
                      </p:blipFill>
                      <p:spPr bwMode="auto">
                        <a:xfrm>
                          <a:off x="3805700" y="2570090"/>
                          <a:ext cx="3364051" cy="1037578"/>
                        </a:xfrm>
                        <a:prstGeom prst="rect">
                          <a:avLst/>
                        </a:prstGeom>
                        <a:noFill/>
                        <a:ln w="19050">
                          <a:solidFill>
                            <a:srgbClr val="3B4F89"/>
                          </a:solidFill>
                          <a:miter lim="800000"/>
                          <a:headEnd/>
                          <a:tailEnd/>
                        </a:ln>
                        <a:effectLst/>
                      </p:spPr>
                    </p:pic>
                  </p:oleObj>
                </mc:Fallback>
              </mc:AlternateContent>
            </a:graphicData>
          </a:graphic>
        </p:graphicFrame>
        <p:grpSp>
          <p:nvGrpSpPr>
            <p:cNvPr id="7" name="Grupa 14"/>
            <p:cNvGrpSpPr>
              <a:grpSpLocks/>
            </p:cNvGrpSpPr>
            <p:nvPr/>
          </p:nvGrpSpPr>
          <p:grpSpPr bwMode="auto">
            <a:xfrm>
              <a:off x="1763689" y="1484784"/>
              <a:ext cx="6120680" cy="4248472"/>
              <a:chOff x="4648200" y="239486"/>
              <a:chExt cx="3505201" cy="2830285"/>
            </a:xfrm>
          </p:grpSpPr>
          <p:sp>
            <p:nvSpPr>
              <p:cNvPr id="8" name="Line 8"/>
              <p:cNvSpPr>
                <a:spLocks noChangeShapeType="1"/>
              </p:cNvSpPr>
              <p:nvPr/>
            </p:nvSpPr>
            <p:spPr bwMode="auto">
              <a:xfrm>
                <a:off x="4648200" y="925040"/>
                <a:ext cx="2133029" cy="2134370"/>
              </a:xfrm>
              <a:prstGeom prst="line">
                <a:avLst/>
              </a:prstGeom>
              <a:ln>
                <a:headEnd/>
                <a:tailEnd/>
              </a:ln>
            </p:spPr>
            <p:style>
              <a:lnRef idx="3">
                <a:schemeClr val="accent1"/>
              </a:lnRef>
              <a:fillRef idx="0">
                <a:schemeClr val="accent1"/>
              </a:fillRef>
              <a:effectRef idx="2">
                <a:schemeClr val="accent1"/>
              </a:effectRef>
              <a:fontRef idx="minor">
                <a:schemeClr val="tx1"/>
              </a:fontRef>
            </p:style>
            <p:txBody>
              <a:bodyPr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Freeform 10"/>
              <p:cNvSpPr>
                <a:spLocks/>
              </p:cNvSpPr>
              <p:nvPr/>
            </p:nvSpPr>
            <p:spPr bwMode="auto">
              <a:xfrm>
                <a:off x="4952214" y="697097"/>
                <a:ext cx="2134673" cy="1676759"/>
              </a:xfrm>
              <a:custGeom>
                <a:avLst/>
                <a:gdLst>
                  <a:gd name="T0" fmla="*/ 0 w 1008"/>
                  <a:gd name="T1" fmla="*/ 0 h 864"/>
                  <a:gd name="T2" fmla="*/ 336 w 1008"/>
                  <a:gd name="T3" fmla="*/ 624 h 864"/>
                  <a:gd name="T4" fmla="*/ 1008 w 1008"/>
                  <a:gd name="T5" fmla="*/ 864 h 864"/>
                  <a:gd name="T6" fmla="*/ 0 60000 65536"/>
                  <a:gd name="T7" fmla="*/ 0 60000 65536"/>
                  <a:gd name="T8" fmla="*/ 0 60000 65536"/>
                  <a:gd name="T9" fmla="*/ 0 w 1008"/>
                  <a:gd name="T10" fmla="*/ 0 h 864"/>
                  <a:gd name="T11" fmla="*/ 1008 w 1008"/>
                  <a:gd name="T12" fmla="*/ 864 h 864"/>
                </a:gdLst>
                <a:ahLst/>
                <a:cxnLst>
                  <a:cxn ang="T6">
                    <a:pos x="T0" y="T1"/>
                  </a:cxn>
                  <a:cxn ang="T7">
                    <a:pos x="T2" y="T3"/>
                  </a:cxn>
                  <a:cxn ang="T8">
                    <a:pos x="T4" y="T5"/>
                  </a:cxn>
                </a:cxnLst>
                <a:rect l="T9" t="T10" r="T11" b="T12"/>
                <a:pathLst>
                  <a:path w="1008" h="864">
                    <a:moveTo>
                      <a:pt x="0" y="0"/>
                    </a:moveTo>
                    <a:cubicBezTo>
                      <a:pt x="84" y="240"/>
                      <a:pt x="168" y="480"/>
                      <a:pt x="336" y="624"/>
                    </a:cubicBezTo>
                    <a:cubicBezTo>
                      <a:pt x="504" y="768"/>
                      <a:pt x="756" y="816"/>
                      <a:pt x="1008" y="864"/>
                    </a:cubicBezTo>
                  </a:path>
                </a:pathLst>
              </a:cu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Oval 16"/>
              <p:cNvSpPr>
                <a:spLocks noChangeArrowheads="1"/>
              </p:cNvSpPr>
              <p:nvPr/>
            </p:nvSpPr>
            <p:spPr bwMode="auto">
              <a:xfrm>
                <a:off x="5486401" y="1763486"/>
                <a:ext cx="76200" cy="76200"/>
              </a:xfrm>
              <a:prstGeom prst="ellipse">
                <a:avLst/>
              </a:prstGeom>
              <a:solidFill>
                <a:schemeClr val="tx1"/>
              </a:solidFill>
              <a:ln w="15875">
                <a:solidFill>
                  <a:schemeClr val="tx1"/>
                </a:solidFill>
                <a:round/>
                <a:headEnd/>
                <a:tailEnd/>
              </a:ln>
            </p:spPr>
            <p:txBody>
              <a:bodyPr anchor="ctr">
                <a:spAutoFit/>
              </a:bodyPr>
              <a:lstStyle>
                <a:lvl1pPr algn="l">
                  <a:spcBef>
                    <a:spcPct val="20000"/>
                  </a:spcBef>
                  <a:buFont typeface="Arial" charset="0"/>
                  <a:buChar char="•"/>
                  <a:defRPr sz="3200">
                    <a:solidFill>
                      <a:schemeClr val="tx1"/>
                    </a:solidFill>
                    <a:latin typeface="Calibri" pitchFamily="34" charset="0"/>
                  </a:defRPr>
                </a:lvl1pPr>
                <a:lvl2pPr marL="742950" indent="-285750" algn="l">
                  <a:spcBef>
                    <a:spcPct val="20000"/>
                  </a:spcBef>
                  <a:buFont typeface="Arial" charset="0"/>
                  <a:buChar char="–"/>
                  <a:defRPr sz="2800">
                    <a:solidFill>
                      <a:schemeClr val="tx1"/>
                    </a:solidFill>
                    <a:latin typeface="Calibri" pitchFamily="34" charset="0"/>
                  </a:defRPr>
                </a:lvl2pPr>
                <a:lvl3pPr marL="1143000" indent="-228600" algn="l">
                  <a:spcBef>
                    <a:spcPct val="20000"/>
                  </a:spcBef>
                  <a:buFont typeface="Arial" charset="0"/>
                  <a:buChar char="•"/>
                  <a:defRPr sz="2400">
                    <a:solidFill>
                      <a:schemeClr val="tx1"/>
                    </a:solidFill>
                    <a:latin typeface="Calibri" pitchFamily="34" charset="0"/>
                  </a:defRPr>
                </a:lvl3pPr>
                <a:lvl4pPr marL="1600200" indent="-228600" algn="l">
                  <a:spcBef>
                    <a:spcPct val="20000"/>
                  </a:spcBef>
                  <a:buFont typeface="Arial" charset="0"/>
                  <a:buChar char="–"/>
                  <a:defRPr sz="2000">
                    <a:solidFill>
                      <a:schemeClr val="tx1"/>
                    </a:solidFill>
                    <a:latin typeface="Calibri" pitchFamily="34" charset="0"/>
                  </a:defRPr>
                </a:lvl4pPr>
                <a:lvl5pPr marL="2057400" indent="-228600" algn="l">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pl-PL" altLang="pl-PL" sz="2400" b="0" i="0" u="none" strike="noStrike" kern="1200" cap="none" spc="0" normalizeH="0" baseline="0" noProof="0">
                  <a:ln>
                    <a:noFill/>
                  </a:ln>
                  <a:solidFill>
                    <a:prstClr val="black"/>
                  </a:solidFill>
                  <a:effectLst/>
                  <a:uLnTx/>
                  <a:uFillTx/>
                  <a:latin typeface="Arial" charset="0"/>
                  <a:ea typeface="+mn-ea"/>
                  <a:cs typeface="+mn-cs"/>
                </a:endParaRPr>
              </a:p>
            </p:txBody>
          </p:sp>
          <p:sp>
            <p:nvSpPr>
              <p:cNvPr id="12" name="Line 5"/>
              <p:cNvSpPr>
                <a:spLocks noChangeShapeType="1"/>
              </p:cNvSpPr>
              <p:nvPr/>
            </p:nvSpPr>
            <p:spPr bwMode="auto">
              <a:xfrm>
                <a:off x="4648200" y="3059410"/>
                <a:ext cx="3505201" cy="0"/>
              </a:xfrm>
              <a:prstGeom prst="line">
                <a:avLst/>
              </a:prstGeom>
              <a:ln>
                <a:headEnd/>
                <a:tailEnd type="triangle"/>
              </a:ln>
            </p:spPr>
            <p:style>
              <a:lnRef idx="2">
                <a:schemeClr val="dk1"/>
              </a:lnRef>
              <a:fillRef idx="0">
                <a:schemeClr val="dk1"/>
              </a:fillRef>
              <a:effectRef idx="1">
                <a:schemeClr val="dk1"/>
              </a:effectRef>
              <a:fontRef idx="minor">
                <a:schemeClr val="tx1"/>
              </a:fontRef>
            </p:style>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Line 4"/>
              <p:cNvSpPr>
                <a:spLocks noChangeShapeType="1"/>
              </p:cNvSpPr>
              <p:nvPr/>
            </p:nvSpPr>
            <p:spPr bwMode="auto">
              <a:xfrm flipV="1">
                <a:off x="4648200" y="239486"/>
                <a:ext cx="21363" cy="2830285"/>
              </a:xfrm>
              <a:prstGeom prst="line">
                <a:avLst/>
              </a:prstGeom>
              <a:ln>
                <a:headEnd/>
                <a:tailEnd type="triangle"/>
              </a:ln>
            </p:spPr>
            <p:style>
              <a:lnRef idx="2">
                <a:schemeClr val="dk1"/>
              </a:lnRef>
              <a:fillRef idx="0">
                <a:schemeClr val="dk1"/>
              </a:fillRef>
              <a:effectRef idx="1">
                <a:schemeClr val="dk1"/>
              </a:effectRef>
              <a:fontRef idx="minor">
                <a:schemeClr val="tx1"/>
              </a:fontRef>
            </p:style>
            <p:txBody>
              <a:bodyPr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4" name="Łącznik prostoliniowy 2"/>
            <p:cNvCxnSpPr/>
            <p:nvPr/>
          </p:nvCxnSpPr>
          <p:spPr>
            <a:xfrm>
              <a:off x="3293860" y="3886805"/>
              <a:ext cx="0" cy="184645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Łącznik prostoliniowy 37"/>
            <p:cNvCxnSpPr/>
            <p:nvPr/>
          </p:nvCxnSpPr>
          <p:spPr>
            <a:xfrm flipH="1">
              <a:off x="1763689" y="3819834"/>
              <a:ext cx="1483129"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pole tekstowe 2"/>
            <p:cNvSpPr txBox="1">
              <a:spLocks noChangeArrowheads="1"/>
            </p:cNvSpPr>
            <p:nvPr/>
          </p:nvSpPr>
          <p:spPr bwMode="auto">
            <a:xfrm>
              <a:off x="2063244" y="5784674"/>
              <a:ext cx="37426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20000"/>
                </a:spcBef>
                <a:buFont typeface="Arial" charset="0"/>
                <a:buChar char="•"/>
                <a:defRPr sz="3200">
                  <a:solidFill>
                    <a:schemeClr val="tx1"/>
                  </a:solidFill>
                  <a:latin typeface="Calibri" pitchFamily="34" charset="0"/>
                </a:defRPr>
              </a:lvl1pPr>
              <a:lvl2pPr marL="742950" indent="-285750" algn="l">
                <a:spcBef>
                  <a:spcPct val="20000"/>
                </a:spcBef>
                <a:buFont typeface="Arial" charset="0"/>
                <a:buChar char="–"/>
                <a:defRPr sz="2800">
                  <a:solidFill>
                    <a:schemeClr val="tx1"/>
                  </a:solidFill>
                  <a:latin typeface="Calibri" pitchFamily="34" charset="0"/>
                </a:defRPr>
              </a:lvl2pPr>
              <a:lvl3pPr marL="1143000" indent="-228600" algn="l">
                <a:spcBef>
                  <a:spcPct val="20000"/>
                </a:spcBef>
                <a:buFont typeface="Arial" charset="0"/>
                <a:buChar char="•"/>
                <a:defRPr sz="2400">
                  <a:solidFill>
                    <a:schemeClr val="tx1"/>
                  </a:solidFill>
                  <a:latin typeface="Calibri" pitchFamily="34" charset="0"/>
                </a:defRPr>
              </a:lvl3pPr>
              <a:lvl4pPr marL="1600200" indent="-228600" algn="l">
                <a:spcBef>
                  <a:spcPct val="20000"/>
                </a:spcBef>
                <a:buFont typeface="Arial" charset="0"/>
                <a:buChar char="–"/>
                <a:defRPr sz="2000">
                  <a:solidFill>
                    <a:schemeClr val="tx1"/>
                  </a:solidFill>
                  <a:latin typeface="Calibri" pitchFamily="34" charset="0"/>
                </a:defRPr>
              </a:lvl4pPr>
              <a:lvl5pPr marL="2057400" indent="-228600" algn="l">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pl-PL" altLang="pl-PL" sz="2000" b="1" i="0" u="none" strike="noStrike" kern="1200" cap="none" spc="0" normalizeH="0" baseline="0" noProof="0" dirty="0">
                  <a:ln>
                    <a:noFill/>
                  </a:ln>
                  <a:solidFill>
                    <a:srgbClr val="4BACC6">
                      <a:lumMod val="50000"/>
                    </a:srgbClr>
                  </a:solidFill>
                  <a:effectLst/>
                  <a:uLnTx/>
                  <a:uFillTx/>
                  <a:latin typeface="Arial" charset="0"/>
                  <a:ea typeface="+mn-ea"/>
                  <a:cs typeface="+mn-cs"/>
                </a:rPr>
                <a:t>x1* </a:t>
              </a:r>
              <a:r>
                <a:rPr kumimoji="0" lang="pl-PL" altLang="pl-PL" sz="2000" b="1" i="0" u="none" strike="noStrike" kern="1200" cap="none" spc="0" normalizeH="0" baseline="0" noProof="0" dirty="0">
                  <a:ln>
                    <a:noFill/>
                  </a:ln>
                  <a:solidFill>
                    <a:srgbClr val="4BACC6">
                      <a:lumMod val="50000"/>
                    </a:srgbClr>
                  </a:solidFill>
                  <a:effectLst/>
                  <a:uLnTx/>
                  <a:uFillTx/>
                  <a:latin typeface="Arial" charset="0"/>
                  <a:ea typeface="+mn-ea"/>
                  <a:cs typeface="+mn-cs"/>
                  <a:sym typeface="Wingdings" panose="05000000000000000000" pitchFamily="2" charset="2"/>
                </a:rPr>
                <a:t> </a:t>
              </a:r>
              <a:r>
                <a:rPr kumimoji="0" lang="pl-PL" altLang="pl-PL" sz="2000" b="1" i="0" u="none" strike="noStrike" kern="1200" cap="none" spc="0" normalizeH="0" baseline="0" noProof="0" dirty="0" err="1">
                  <a:ln>
                    <a:noFill/>
                  </a:ln>
                  <a:solidFill>
                    <a:srgbClr val="4BACC6">
                      <a:lumMod val="50000"/>
                    </a:srgbClr>
                  </a:solidFill>
                  <a:effectLst/>
                  <a:uLnTx/>
                  <a:uFillTx/>
                  <a:latin typeface="Arial" charset="0"/>
                  <a:ea typeface="+mn-ea"/>
                  <a:cs typeface="+mn-cs"/>
                </a:rPr>
                <a:t>demand</a:t>
              </a:r>
              <a:r>
                <a:rPr kumimoji="0" lang="pl-PL" altLang="pl-PL" sz="2000" b="1" i="0" u="none" strike="noStrike" kern="1200" cap="none" spc="0" normalizeH="0" baseline="0" noProof="0" dirty="0">
                  <a:ln>
                    <a:noFill/>
                  </a:ln>
                  <a:solidFill>
                    <a:srgbClr val="4BACC6">
                      <a:lumMod val="50000"/>
                    </a:srgbClr>
                  </a:solidFill>
                  <a:effectLst/>
                  <a:uLnTx/>
                  <a:uFillTx/>
                  <a:latin typeface="Arial" charset="0"/>
                  <a:ea typeface="+mn-ea"/>
                  <a:cs typeface="+mn-cs"/>
                </a:rPr>
                <a:t> for x1</a:t>
              </a:r>
            </a:p>
          </p:txBody>
        </p:sp>
        <p:sp>
          <p:nvSpPr>
            <p:cNvPr id="18" name="pole tekstowe 2"/>
            <p:cNvSpPr txBox="1">
              <a:spLocks noChangeArrowheads="1"/>
            </p:cNvSpPr>
            <p:nvPr/>
          </p:nvSpPr>
          <p:spPr bwMode="auto">
            <a:xfrm>
              <a:off x="-1750149" y="3635063"/>
              <a:ext cx="3509222" cy="480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20000"/>
                </a:spcBef>
                <a:buFont typeface="Arial" charset="0"/>
                <a:buChar char="•"/>
                <a:defRPr sz="3200">
                  <a:solidFill>
                    <a:schemeClr val="tx1"/>
                  </a:solidFill>
                  <a:latin typeface="Calibri" pitchFamily="34" charset="0"/>
                </a:defRPr>
              </a:lvl1pPr>
              <a:lvl2pPr marL="742950" indent="-285750" algn="l">
                <a:spcBef>
                  <a:spcPct val="20000"/>
                </a:spcBef>
                <a:buFont typeface="Arial" charset="0"/>
                <a:buChar char="–"/>
                <a:defRPr sz="2800">
                  <a:solidFill>
                    <a:schemeClr val="tx1"/>
                  </a:solidFill>
                  <a:latin typeface="Calibri" pitchFamily="34" charset="0"/>
                </a:defRPr>
              </a:lvl2pPr>
              <a:lvl3pPr marL="1143000" indent="-228600" algn="l">
                <a:spcBef>
                  <a:spcPct val="20000"/>
                </a:spcBef>
                <a:buFont typeface="Arial" charset="0"/>
                <a:buChar char="•"/>
                <a:defRPr sz="2400">
                  <a:solidFill>
                    <a:schemeClr val="tx1"/>
                  </a:solidFill>
                  <a:latin typeface="Calibri" pitchFamily="34" charset="0"/>
                </a:defRPr>
              </a:lvl3pPr>
              <a:lvl4pPr marL="1600200" indent="-228600" algn="l">
                <a:spcBef>
                  <a:spcPct val="20000"/>
                </a:spcBef>
                <a:buFont typeface="Arial" charset="0"/>
                <a:buChar char="–"/>
                <a:defRPr sz="2000">
                  <a:solidFill>
                    <a:schemeClr val="tx1"/>
                  </a:solidFill>
                  <a:latin typeface="Calibri" pitchFamily="34" charset="0"/>
                </a:defRPr>
              </a:lvl4pPr>
              <a:lvl5pPr marL="2057400" indent="-228600" algn="l">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pl-PL" altLang="pl-PL" sz="2000" b="1" i="0" u="none" strike="noStrike" kern="1200" cap="none" spc="0" normalizeH="0" baseline="0" noProof="0" dirty="0">
                  <a:ln>
                    <a:noFill/>
                  </a:ln>
                  <a:solidFill>
                    <a:srgbClr val="4BACC6">
                      <a:lumMod val="50000"/>
                    </a:srgbClr>
                  </a:solidFill>
                  <a:effectLst/>
                  <a:uLnTx/>
                  <a:uFillTx/>
                  <a:latin typeface="Arial" charset="0"/>
                  <a:ea typeface="+mn-ea"/>
                  <a:cs typeface="+mn-cs"/>
                </a:rPr>
                <a:t>x2*</a:t>
              </a:r>
              <a:r>
                <a:rPr kumimoji="0" lang="pl-PL" altLang="pl-PL" sz="2000" b="1" i="0" u="none" strike="noStrike" kern="1200" cap="none" spc="0" normalizeH="0" baseline="0" noProof="0" dirty="0">
                  <a:ln>
                    <a:noFill/>
                  </a:ln>
                  <a:solidFill>
                    <a:srgbClr val="4BACC6">
                      <a:lumMod val="50000"/>
                    </a:srgbClr>
                  </a:solidFill>
                  <a:effectLst/>
                  <a:uLnTx/>
                  <a:uFillTx/>
                  <a:latin typeface="Arial" charset="0"/>
                  <a:ea typeface="+mn-ea"/>
                  <a:cs typeface="+mn-cs"/>
                  <a:sym typeface="Wingdings" panose="05000000000000000000" pitchFamily="2" charset="2"/>
                </a:rPr>
                <a:t> </a:t>
              </a:r>
              <a:r>
                <a:rPr kumimoji="0" lang="pl-PL" altLang="pl-PL" sz="2000" b="1" i="0" u="none" strike="noStrike" kern="1200" cap="none" spc="0" normalizeH="0" baseline="0" noProof="0" dirty="0" err="1">
                  <a:ln>
                    <a:noFill/>
                  </a:ln>
                  <a:solidFill>
                    <a:srgbClr val="4BACC6">
                      <a:lumMod val="50000"/>
                    </a:srgbClr>
                  </a:solidFill>
                  <a:effectLst/>
                  <a:uLnTx/>
                  <a:uFillTx/>
                  <a:latin typeface="Arial" charset="0"/>
                  <a:ea typeface="+mn-ea"/>
                  <a:cs typeface="+mn-cs"/>
                </a:rPr>
                <a:t>demand</a:t>
              </a:r>
              <a:r>
                <a:rPr kumimoji="0" lang="pl-PL" altLang="pl-PL" sz="2000" b="1" i="0" u="none" strike="noStrike" kern="1200" cap="none" spc="0" normalizeH="0" baseline="0" noProof="0" dirty="0">
                  <a:ln>
                    <a:noFill/>
                  </a:ln>
                  <a:solidFill>
                    <a:srgbClr val="4BACC6">
                      <a:lumMod val="50000"/>
                    </a:srgbClr>
                  </a:solidFill>
                  <a:effectLst/>
                  <a:uLnTx/>
                  <a:uFillTx/>
                  <a:latin typeface="Arial" charset="0"/>
                  <a:ea typeface="+mn-ea"/>
                  <a:cs typeface="+mn-cs"/>
                </a:rPr>
                <a:t> for x2</a:t>
              </a:r>
            </a:p>
          </p:txBody>
        </p:sp>
        <p:sp>
          <p:nvSpPr>
            <p:cNvPr id="19" name="pole tekstowe 2"/>
            <p:cNvSpPr txBox="1">
              <a:spLocks noChangeArrowheads="1"/>
            </p:cNvSpPr>
            <p:nvPr/>
          </p:nvSpPr>
          <p:spPr bwMode="auto">
            <a:xfrm>
              <a:off x="6088055" y="4442555"/>
              <a:ext cx="6679381" cy="850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spcBef>
                  <a:spcPct val="20000"/>
                </a:spcBef>
                <a:buFont typeface="Arial" charset="0"/>
                <a:buChar char="•"/>
                <a:defRPr sz="3200">
                  <a:solidFill>
                    <a:schemeClr val="tx1"/>
                  </a:solidFill>
                  <a:latin typeface="Calibri" pitchFamily="34" charset="0"/>
                </a:defRPr>
              </a:lvl1pPr>
              <a:lvl2pPr marL="742950" indent="-285750" algn="l">
                <a:spcBef>
                  <a:spcPct val="20000"/>
                </a:spcBef>
                <a:buFont typeface="Arial" charset="0"/>
                <a:buChar char="–"/>
                <a:defRPr sz="2800">
                  <a:solidFill>
                    <a:schemeClr val="tx1"/>
                  </a:solidFill>
                  <a:latin typeface="Calibri" pitchFamily="34" charset="0"/>
                </a:defRPr>
              </a:lvl2pPr>
              <a:lvl3pPr marL="1143000" indent="-228600" algn="l">
                <a:spcBef>
                  <a:spcPct val="20000"/>
                </a:spcBef>
                <a:buFont typeface="Arial" charset="0"/>
                <a:buChar char="•"/>
                <a:defRPr sz="2400">
                  <a:solidFill>
                    <a:schemeClr val="tx1"/>
                  </a:solidFill>
                  <a:latin typeface="Calibri" pitchFamily="34" charset="0"/>
                </a:defRPr>
              </a:lvl3pPr>
              <a:lvl4pPr marL="1600200" indent="-228600" algn="l">
                <a:spcBef>
                  <a:spcPct val="20000"/>
                </a:spcBef>
                <a:buFont typeface="Arial" charset="0"/>
                <a:buChar char="–"/>
                <a:defRPr sz="2000">
                  <a:solidFill>
                    <a:schemeClr val="tx1"/>
                  </a:solidFill>
                  <a:latin typeface="Calibri" pitchFamily="34" charset="0"/>
                </a:defRPr>
              </a:lvl4pPr>
              <a:lvl5pPr marL="2057400" indent="-228600" algn="l">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altLang="pl-PL" sz="2000" b="1" i="0" u="none" strike="noStrike" kern="1200" cap="none" spc="0" normalizeH="0" baseline="0" noProof="0" dirty="0">
                  <a:ln>
                    <a:noFill/>
                  </a:ln>
                  <a:solidFill>
                    <a:srgbClr val="4BACC6">
                      <a:lumMod val="50000"/>
                    </a:srgbClr>
                  </a:solidFill>
                  <a:effectLst/>
                  <a:uLnTx/>
                  <a:uFillTx/>
                  <a:latin typeface="Arial" charset="0"/>
                  <a:ea typeface="+mn-ea"/>
                  <a:cs typeface="+mn-cs"/>
                </a:rPr>
                <a:t>U* - maximal level of utility for given p1,p2 and M </a:t>
              </a:r>
              <a:endParaRPr kumimoji="0" lang="pl-PL" altLang="pl-PL" sz="2000" b="1" i="0" u="none" strike="noStrike" kern="1200" cap="none" spc="0" normalizeH="0" baseline="0" noProof="0" dirty="0">
                <a:ln>
                  <a:noFill/>
                </a:ln>
                <a:solidFill>
                  <a:srgbClr val="4BACC6">
                    <a:lumMod val="50000"/>
                  </a:srgbClr>
                </a:solidFill>
                <a:effectLst/>
                <a:uLnTx/>
                <a:uFillTx/>
                <a:latin typeface="Arial" charset="0"/>
                <a:ea typeface="+mn-ea"/>
                <a:cs typeface="+mn-cs"/>
              </a:endParaRPr>
            </a:p>
          </p:txBody>
        </p:sp>
      </p:grpSp>
      <p:sp>
        <p:nvSpPr>
          <p:cNvPr id="20" name="pole tekstowe 19">
            <a:extLst>
              <a:ext uri="{FF2B5EF4-FFF2-40B4-BE49-F238E27FC236}">
                <a16:creationId xmlns:a16="http://schemas.microsoft.com/office/drawing/2014/main" id="{A0C394E2-5C7A-71CE-5153-3E3C65A66B53}"/>
              </a:ext>
            </a:extLst>
          </p:cNvPr>
          <p:cNvSpPr txBox="1"/>
          <p:nvPr/>
        </p:nvSpPr>
        <p:spPr>
          <a:xfrm>
            <a:off x="7545252" y="6087322"/>
            <a:ext cx="536575" cy="369332"/>
          </a:xfrm>
          <a:prstGeom prst="rect">
            <a:avLst/>
          </a:prstGeom>
          <a:noFill/>
        </p:spPr>
        <p:txBody>
          <a:bodyPr wrap="square">
            <a:spAutoFit/>
          </a:bodyPr>
          <a:lstStyle/>
          <a:p>
            <a:r>
              <a:rPr kumimoji="0" lang="pl-PL" altLang="pl-PL" sz="1800" b="1" i="0" u="none" strike="noStrike" kern="1200" cap="none" spc="0" normalizeH="0" baseline="0" noProof="0" dirty="0">
                <a:ln>
                  <a:noFill/>
                </a:ln>
                <a:solidFill>
                  <a:srgbClr val="4BACC6">
                    <a:lumMod val="50000"/>
                  </a:srgbClr>
                </a:solidFill>
                <a:effectLst/>
                <a:uLnTx/>
                <a:uFillTx/>
                <a:latin typeface="Arial" charset="0"/>
                <a:ea typeface="+mn-ea"/>
                <a:cs typeface="+mn-cs"/>
              </a:rPr>
              <a:t>x1</a:t>
            </a:r>
            <a:endParaRPr lang="pl-PL" dirty="0"/>
          </a:p>
        </p:txBody>
      </p:sp>
      <p:sp>
        <p:nvSpPr>
          <p:cNvPr id="22" name="pole tekstowe 21">
            <a:extLst>
              <a:ext uri="{FF2B5EF4-FFF2-40B4-BE49-F238E27FC236}">
                <a16:creationId xmlns:a16="http://schemas.microsoft.com/office/drawing/2014/main" id="{7B8547D6-50F0-A06F-098F-F9835C6C0481}"/>
              </a:ext>
            </a:extLst>
          </p:cNvPr>
          <p:cNvSpPr txBox="1"/>
          <p:nvPr/>
        </p:nvSpPr>
        <p:spPr>
          <a:xfrm>
            <a:off x="2153920" y="2458510"/>
            <a:ext cx="579692" cy="369332"/>
          </a:xfrm>
          <a:prstGeom prst="rect">
            <a:avLst/>
          </a:prstGeom>
          <a:noFill/>
        </p:spPr>
        <p:txBody>
          <a:bodyPr wrap="square">
            <a:spAutoFit/>
          </a:bodyPr>
          <a:lstStyle/>
          <a:p>
            <a:r>
              <a:rPr kumimoji="0" lang="pl-PL" altLang="pl-PL" sz="1800" b="1" i="0" u="none" strike="noStrike" kern="1200" cap="none" spc="0" normalizeH="0" baseline="0" noProof="0" dirty="0">
                <a:ln>
                  <a:noFill/>
                </a:ln>
                <a:solidFill>
                  <a:srgbClr val="4BACC6">
                    <a:lumMod val="50000"/>
                  </a:srgbClr>
                </a:solidFill>
                <a:effectLst/>
                <a:uLnTx/>
                <a:uFillTx/>
                <a:latin typeface="Arial" charset="0"/>
                <a:ea typeface="+mn-ea"/>
                <a:cs typeface="+mn-cs"/>
              </a:rPr>
              <a:t>x2</a:t>
            </a:r>
            <a:endParaRPr lang="pl-PL" dirty="0"/>
          </a:p>
        </p:txBody>
      </p:sp>
    </p:spTree>
    <p:extLst>
      <p:ext uri="{BB962C8B-B14F-4D97-AF65-F5344CB8AC3E}">
        <p14:creationId xmlns:p14="http://schemas.microsoft.com/office/powerpoint/2010/main" val="19385862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D61FF-2F4E-42FE-5094-BC5BACE357A4}"/>
            </a:ext>
          </a:extLst>
        </p:cNvPr>
        <p:cNvGrpSpPr/>
        <p:nvPr/>
      </p:nvGrpSpPr>
      <p:grpSpPr>
        <a:xfrm>
          <a:off x="0" y="0"/>
          <a:ext cx="0" cy="0"/>
          <a:chOff x="0" y="0"/>
          <a:chExt cx="0" cy="0"/>
        </a:xfrm>
      </p:grpSpPr>
      <p:sp>
        <p:nvSpPr>
          <p:cNvPr id="80" name="CustomShape 1">
            <a:extLst>
              <a:ext uri="{FF2B5EF4-FFF2-40B4-BE49-F238E27FC236}">
                <a16:creationId xmlns:a16="http://schemas.microsoft.com/office/drawing/2014/main" id="{E5AFE548-3945-4D4A-FECF-2BFD50AF3BAE}"/>
              </a:ext>
            </a:extLst>
          </p:cNvPr>
          <p:cNvSpPr/>
          <p:nvPr/>
        </p:nvSpPr>
        <p:spPr>
          <a:xfrm>
            <a:off x="0" y="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lvl="1">
              <a:lnSpc>
                <a:spcPct val="107000"/>
              </a:lnSpc>
              <a:spcAft>
                <a:spcPts val="800"/>
              </a:spcAft>
            </a:pPr>
            <a:r>
              <a:rPr lang="en-US" sz="40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Utility maximization subject to a budget constraint</a:t>
            </a:r>
          </a:p>
        </p:txBody>
      </p:sp>
      <p:sp>
        <p:nvSpPr>
          <p:cNvPr id="3" name="pole tekstowe 2">
            <a:extLst>
              <a:ext uri="{FF2B5EF4-FFF2-40B4-BE49-F238E27FC236}">
                <a16:creationId xmlns:a16="http://schemas.microsoft.com/office/drawing/2014/main" id="{1DC907D4-44E9-ECE0-D8D3-8DE1E245B32F}"/>
              </a:ext>
            </a:extLst>
          </p:cNvPr>
          <p:cNvSpPr txBox="1"/>
          <p:nvPr/>
        </p:nvSpPr>
        <p:spPr>
          <a:xfrm>
            <a:off x="5361822" y="1115593"/>
            <a:ext cx="6372413" cy="5632311"/>
          </a:xfrm>
          <a:prstGeom prst="rect">
            <a:avLst/>
          </a:prstGeom>
          <a:noFill/>
        </p:spPr>
        <p:txBody>
          <a:bodyPr wrap="square">
            <a:spAutoFit/>
          </a:bodyPr>
          <a:lstStyle/>
          <a:p>
            <a:pPr algn="just"/>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C</a:t>
            </a:r>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an we find </a:t>
            </a:r>
            <a:r>
              <a:rPr lang="pl-PL" sz="2400" b="1"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the</a:t>
            </a:r>
            <a:r>
              <a:rPr lang="en-US" sz="2400" b="1"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candy experiment </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in </a:t>
            </a:r>
            <a:r>
              <a:rPr lang="pl-PL" sz="2400"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this</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a:t>
            </a:r>
            <a:r>
              <a:rPr lang="pl-PL" sz="2400"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case</a:t>
            </a:r>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a:t>
            </a:r>
          </a:p>
          <a:p>
            <a:pPr algn="just"/>
            <a:endPar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Let's assume the market exchange ratio (the </a:t>
            </a:r>
            <a:r>
              <a:rPr lang="pl-PL" sz="2400"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slope</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of the budget constraint) equals (-) 1 --&gt; we can exchange a unit of x1 for a unit of x2 on the "market"</a:t>
            </a:r>
          </a:p>
          <a:p>
            <a:pPr algn="just"/>
            <a:endPar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We are at point</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(basket)</a:t>
            </a:r>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A --&gt; MRS = (-)5 --&gt; we are willing to give up 5 units of x2 for 1 unit of x1 and the market tradeoff is 1 to 1 --&gt; it pays to increase x1, because psychologically we gain from the difference in exchange ratios</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and </a:t>
            </a:r>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Marginal Benefit = 5 ≠ Marginal Cost = 1</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from exchange. </a:t>
            </a:r>
          </a:p>
          <a:p>
            <a:pPr algn="just"/>
            <a:endPar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Point B -&gt; by </a:t>
            </a:r>
            <a:r>
              <a:rPr lang="pl-PL" sz="2400"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analogy</a:t>
            </a:r>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a:t>
            </a:r>
          </a:p>
        </p:txBody>
      </p:sp>
      <p:grpSp>
        <p:nvGrpSpPr>
          <p:cNvPr id="31" name="Grupa 30">
            <a:extLst>
              <a:ext uri="{FF2B5EF4-FFF2-40B4-BE49-F238E27FC236}">
                <a16:creationId xmlns:a16="http://schemas.microsoft.com/office/drawing/2014/main" id="{F7EFF029-9808-4F4B-B558-0E0DFE82822A}"/>
              </a:ext>
            </a:extLst>
          </p:cNvPr>
          <p:cNvGrpSpPr/>
          <p:nvPr/>
        </p:nvGrpSpPr>
        <p:grpSpPr>
          <a:xfrm>
            <a:off x="347288" y="2236952"/>
            <a:ext cx="4930778" cy="3886929"/>
            <a:chOff x="721296" y="2688897"/>
            <a:chExt cx="4930778" cy="3886929"/>
          </a:xfrm>
        </p:grpSpPr>
        <p:sp>
          <p:nvSpPr>
            <p:cNvPr id="22" name="Line 8">
              <a:extLst>
                <a:ext uri="{FF2B5EF4-FFF2-40B4-BE49-F238E27FC236}">
                  <a16:creationId xmlns:a16="http://schemas.microsoft.com/office/drawing/2014/main" id="{DD3C0098-D0D8-510E-B71D-8BEF11030D0B}"/>
                </a:ext>
              </a:extLst>
            </p:cNvPr>
            <p:cNvSpPr>
              <a:spLocks noChangeShapeType="1"/>
            </p:cNvSpPr>
            <p:nvPr/>
          </p:nvSpPr>
          <p:spPr bwMode="auto">
            <a:xfrm>
              <a:off x="721296" y="2913948"/>
              <a:ext cx="3836647" cy="3369020"/>
            </a:xfrm>
            <a:prstGeom prst="line">
              <a:avLst/>
            </a:prstGeom>
            <a:ln>
              <a:headEnd/>
              <a:tailEnd/>
            </a:ln>
          </p:spPr>
          <p:style>
            <a:lnRef idx="3">
              <a:schemeClr val="accent1"/>
            </a:lnRef>
            <a:fillRef idx="0">
              <a:schemeClr val="accent1"/>
            </a:fillRef>
            <a:effectRef idx="2">
              <a:schemeClr val="accent1"/>
            </a:effectRef>
            <a:fontRef idx="minor">
              <a:schemeClr val="tx1"/>
            </a:fontRef>
          </p:style>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2" name="Grupa 1">
              <a:extLst>
                <a:ext uri="{FF2B5EF4-FFF2-40B4-BE49-F238E27FC236}">
                  <a16:creationId xmlns:a16="http://schemas.microsoft.com/office/drawing/2014/main" id="{9C873747-562F-AC7C-C598-D1C231676F8D}"/>
                </a:ext>
              </a:extLst>
            </p:cNvPr>
            <p:cNvGrpSpPr/>
            <p:nvPr/>
          </p:nvGrpSpPr>
          <p:grpSpPr>
            <a:xfrm>
              <a:off x="721296" y="2688897"/>
              <a:ext cx="4930778" cy="3653199"/>
              <a:chOff x="3201872" y="1526808"/>
              <a:chExt cx="2928899" cy="2351028"/>
            </a:xfrm>
          </p:grpSpPr>
          <p:grpSp>
            <p:nvGrpSpPr>
              <p:cNvPr id="4" name="Grupa 30">
                <a:extLst>
                  <a:ext uri="{FF2B5EF4-FFF2-40B4-BE49-F238E27FC236}">
                    <a16:creationId xmlns:a16="http://schemas.microsoft.com/office/drawing/2014/main" id="{A17B3713-61D7-F892-87B3-9E7A7F683AED}"/>
                  </a:ext>
                </a:extLst>
              </p:cNvPr>
              <p:cNvGrpSpPr>
                <a:grpSpLocks/>
              </p:cNvGrpSpPr>
              <p:nvPr/>
            </p:nvGrpSpPr>
            <p:grpSpPr bwMode="auto">
              <a:xfrm>
                <a:off x="3201872" y="1526808"/>
                <a:ext cx="2928899" cy="2351028"/>
                <a:chOff x="4789714" y="1111579"/>
                <a:chExt cx="4155672" cy="3525736"/>
              </a:xfrm>
            </p:grpSpPr>
            <p:sp>
              <p:nvSpPr>
                <p:cNvPr id="7" name="Arc 7">
                  <a:extLst>
                    <a:ext uri="{FF2B5EF4-FFF2-40B4-BE49-F238E27FC236}">
                      <a16:creationId xmlns:a16="http://schemas.microsoft.com/office/drawing/2014/main" id="{66429E0D-68C9-17D9-55CB-F91190457178}"/>
                    </a:ext>
                  </a:extLst>
                </p:cNvPr>
                <p:cNvSpPr>
                  <a:spLocks/>
                </p:cNvSpPr>
                <p:nvPr/>
              </p:nvSpPr>
              <p:spPr bwMode="auto">
                <a:xfrm rot="10800000">
                  <a:off x="5375658" y="1456690"/>
                  <a:ext cx="3233536" cy="2307947"/>
                </a:xfrm>
                <a:custGeom>
                  <a:avLst/>
                  <a:gdLst>
                    <a:gd name="G0" fmla="+- 11 0 0"/>
                    <a:gd name="G1" fmla="+- 21600 0 0"/>
                    <a:gd name="G2" fmla="+- 21600 0 0"/>
                    <a:gd name="T0" fmla="*/ 0 w 21611"/>
                    <a:gd name="T1" fmla="*/ 0 h 21600"/>
                    <a:gd name="T2" fmla="*/ 21611 w 21611"/>
                    <a:gd name="T3" fmla="*/ 21600 h 21600"/>
                    <a:gd name="T4" fmla="*/ 11 w 21611"/>
                    <a:gd name="T5" fmla="*/ 21600 h 21600"/>
                  </a:gdLst>
                  <a:ahLst/>
                  <a:cxnLst>
                    <a:cxn ang="0">
                      <a:pos x="T0" y="T1"/>
                    </a:cxn>
                    <a:cxn ang="0">
                      <a:pos x="T2" y="T3"/>
                    </a:cxn>
                    <a:cxn ang="0">
                      <a:pos x="T4" y="T5"/>
                    </a:cxn>
                  </a:cxnLst>
                  <a:rect l="0" t="0" r="r" b="b"/>
                  <a:pathLst>
                    <a:path w="21611" h="21600" fill="none" extrusionOk="0">
                      <a:moveTo>
                        <a:pt x="0" y="0"/>
                      </a:moveTo>
                      <a:cubicBezTo>
                        <a:pt x="3" y="0"/>
                        <a:pt x="7" y="-1"/>
                        <a:pt x="11" y="0"/>
                      </a:cubicBezTo>
                      <a:cubicBezTo>
                        <a:pt x="11940" y="0"/>
                        <a:pt x="21611" y="9670"/>
                        <a:pt x="21611" y="21600"/>
                      </a:cubicBezTo>
                    </a:path>
                    <a:path w="21611" h="21600" stroke="0" extrusionOk="0">
                      <a:moveTo>
                        <a:pt x="0" y="0"/>
                      </a:moveTo>
                      <a:cubicBezTo>
                        <a:pt x="3" y="0"/>
                        <a:pt x="7" y="-1"/>
                        <a:pt x="11" y="0"/>
                      </a:cubicBezTo>
                      <a:cubicBezTo>
                        <a:pt x="11940" y="0"/>
                        <a:pt x="21611" y="9670"/>
                        <a:pt x="21611" y="21600"/>
                      </a:cubicBezTo>
                      <a:lnTo>
                        <a:pt x="11" y="21600"/>
                      </a:lnTo>
                      <a:close/>
                    </a:path>
                  </a:pathLst>
                </a:custGeom>
                <a:noFill/>
                <a:ln w="38100">
                  <a:headEnd type="none" w="sm" len="sm"/>
                  <a:tailEnd type="none" w="sm" len="sm"/>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pl-PL" sz="1800">
                    <a:solidFill>
                      <a:schemeClr val="accent1">
                        <a:lumMod val="50000"/>
                      </a:schemeClr>
                    </a:solidFill>
                  </a:endParaRPr>
                </a:p>
              </p:txBody>
            </p:sp>
            <p:grpSp>
              <p:nvGrpSpPr>
                <p:cNvPr id="8" name="Grupa 28">
                  <a:extLst>
                    <a:ext uri="{FF2B5EF4-FFF2-40B4-BE49-F238E27FC236}">
                      <a16:creationId xmlns:a16="http://schemas.microsoft.com/office/drawing/2014/main" id="{FEAA4D4B-EBC4-55AB-D6F1-92E8B99784F1}"/>
                    </a:ext>
                  </a:extLst>
                </p:cNvPr>
                <p:cNvGrpSpPr>
                  <a:grpSpLocks/>
                </p:cNvGrpSpPr>
                <p:nvPr/>
              </p:nvGrpSpPr>
              <p:grpSpPr bwMode="auto">
                <a:xfrm>
                  <a:off x="4789714" y="1111579"/>
                  <a:ext cx="4155672" cy="3525736"/>
                  <a:chOff x="3624943" y="1721179"/>
                  <a:chExt cx="4155672" cy="3525736"/>
                </a:xfrm>
              </p:grpSpPr>
              <p:sp>
                <p:nvSpPr>
                  <p:cNvPr id="9" name="Line 3">
                    <a:extLst>
                      <a:ext uri="{FF2B5EF4-FFF2-40B4-BE49-F238E27FC236}">
                        <a16:creationId xmlns:a16="http://schemas.microsoft.com/office/drawing/2014/main" id="{9CA5996C-A734-EEED-D0EB-1486684771DE}"/>
                      </a:ext>
                    </a:extLst>
                  </p:cNvPr>
                  <p:cNvSpPr>
                    <a:spLocks noChangeShapeType="1"/>
                  </p:cNvSpPr>
                  <p:nvPr/>
                </p:nvSpPr>
                <p:spPr bwMode="auto">
                  <a:xfrm>
                    <a:off x="3624943" y="1818494"/>
                    <a:ext cx="0" cy="3428421"/>
                  </a:xfrm>
                  <a:prstGeom prst="line">
                    <a:avLst/>
                  </a:prstGeom>
                  <a:ln>
                    <a:headEnd type="triangle" w="med" len="med"/>
                    <a:tailEnd type="none" w="sm" len="sm"/>
                  </a:ln>
                </p:spPr>
                <p:style>
                  <a:lnRef idx="2">
                    <a:schemeClr val="dk1"/>
                  </a:lnRef>
                  <a:fillRef idx="0">
                    <a:schemeClr val="dk1"/>
                  </a:fillRef>
                  <a:effectRef idx="1">
                    <a:schemeClr val="dk1"/>
                  </a:effectRef>
                  <a:fontRef idx="minor">
                    <a:schemeClr val="tx1"/>
                  </a:fontRef>
                </p:style>
                <p:txBody>
                  <a:bodyPr wrap="none" anchor="ctr"/>
                  <a:lstStyle/>
                  <a:p>
                    <a:pPr>
                      <a:defRPr/>
                    </a:pPr>
                    <a:endParaRPr lang="pl-PL" sz="1800">
                      <a:solidFill>
                        <a:schemeClr val="accent1">
                          <a:lumMod val="50000"/>
                        </a:schemeClr>
                      </a:solidFill>
                    </a:endParaRPr>
                  </a:p>
                </p:txBody>
              </p:sp>
              <p:sp>
                <p:nvSpPr>
                  <p:cNvPr id="10" name="Line 4">
                    <a:extLst>
                      <a:ext uri="{FF2B5EF4-FFF2-40B4-BE49-F238E27FC236}">
                        <a16:creationId xmlns:a16="http://schemas.microsoft.com/office/drawing/2014/main" id="{11B9572C-297B-C049-2F9B-A538978B63D4}"/>
                      </a:ext>
                    </a:extLst>
                  </p:cNvPr>
                  <p:cNvSpPr>
                    <a:spLocks noChangeShapeType="1"/>
                  </p:cNvSpPr>
                  <p:nvPr/>
                </p:nvSpPr>
                <p:spPr bwMode="auto">
                  <a:xfrm>
                    <a:off x="3624943" y="5246915"/>
                    <a:ext cx="4038600" cy="0"/>
                  </a:xfrm>
                  <a:prstGeom prst="line">
                    <a:avLst/>
                  </a:prstGeom>
                  <a:ln>
                    <a:headEnd type="none" w="sm" len="sm"/>
                    <a:tailEnd type="triangl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pl-PL" sz="1800">
                      <a:solidFill>
                        <a:schemeClr val="accent1">
                          <a:lumMod val="50000"/>
                        </a:schemeClr>
                      </a:solidFill>
                    </a:endParaRPr>
                  </a:p>
                </p:txBody>
              </p:sp>
              <p:sp>
                <p:nvSpPr>
                  <p:cNvPr id="13" name="Line 10">
                    <a:extLst>
                      <a:ext uri="{FF2B5EF4-FFF2-40B4-BE49-F238E27FC236}">
                        <a16:creationId xmlns:a16="http://schemas.microsoft.com/office/drawing/2014/main" id="{44EE95D4-586E-CB91-89CB-8C1AD7BAB614}"/>
                      </a:ext>
                    </a:extLst>
                  </p:cNvPr>
                  <p:cNvSpPr>
                    <a:spLocks noChangeShapeType="1"/>
                  </p:cNvSpPr>
                  <p:nvPr/>
                </p:nvSpPr>
                <p:spPr bwMode="auto">
                  <a:xfrm>
                    <a:off x="4035404" y="1721179"/>
                    <a:ext cx="461018" cy="1636174"/>
                  </a:xfrm>
                  <a:prstGeom prst="line">
                    <a:avLst/>
                  </a:prstGeom>
                  <a:ln>
                    <a:headEnd type="none" w="sm" len="sm"/>
                    <a:tailEnd type="none" w="sm" len="sm"/>
                  </a:ln>
                </p:spPr>
                <p:style>
                  <a:lnRef idx="1">
                    <a:schemeClr val="dk1"/>
                  </a:lnRef>
                  <a:fillRef idx="0">
                    <a:schemeClr val="dk1"/>
                  </a:fillRef>
                  <a:effectRef idx="0">
                    <a:schemeClr val="dk1"/>
                  </a:effectRef>
                  <a:fontRef idx="minor">
                    <a:schemeClr val="tx1"/>
                  </a:fontRef>
                </p:style>
                <p:txBody>
                  <a:bodyPr wrap="none" anchor="ctr"/>
                  <a:lstStyle/>
                  <a:p>
                    <a:pPr>
                      <a:defRPr/>
                    </a:pPr>
                    <a:endParaRPr lang="pl-PL" sz="1800">
                      <a:solidFill>
                        <a:schemeClr val="accent1">
                          <a:lumMod val="50000"/>
                        </a:schemeClr>
                      </a:solidFill>
                    </a:endParaRPr>
                  </a:p>
                </p:txBody>
              </p:sp>
              <p:sp>
                <p:nvSpPr>
                  <p:cNvPr id="15" name="Rectangle 12">
                    <a:extLst>
                      <a:ext uri="{FF2B5EF4-FFF2-40B4-BE49-F238E27FC236}">
                        <a16:creationId xmlns:a16="http://schemas.microsoft.com/office/drawing/2014/main" id="{7B286E7C-66B0-B5F0-77EC-EECDF61DCE78}"/>
                      </a:ext>
                    </a:extLst>
                  </p:cNvPr>
                  <p:cNvSpPr>
                    <a:spLocks noChangeArrowheads="1"/>
                  </p:cNvSpPr>
                  <p:nvPr/>
                </p:nvSpPr>
                <p:spPr bwMode="auto">
                  <a:xfrm>
                    <a:off x="4614450" y="1831690"/>
                    <a:ext cx="1231473" cy="370690"/>
                  </a:xfrm>
                  <a:prstGeom prst="rect">
                    <a:avLst/>
                  </a:prstGeom>
                  <a:noFill/>
                  <a:ln w="9525">
                    <a:noFill/>
                    <a:miter lim="800000"/>
                    <a:headEnd/>
                    <a:tailEnd/>
                  </a:ln>
                  <a:effectLst/>
                </p:spPr>
                <p:txBody>
                  <a:bodyPr wrap="none" lIns="92075" tIns="46038" rIns="92075" bIns="46038">
                    <a:spAutoFit/>
                  </a:bodyPr>
                  <a:lstStyle/>
                  <a:p>
                    <a:pPr algn="l">
                      <a:defRPr/>
                    </a:pPr>
                    <a:r>
                      <a:rPr lang="en-US" sz="1800" b="1" dirty="0">
                        <a:solidFill>
                          <a:schemeClr val="accent1">
                            <a:lumMod val="50000"/>
                          </a:schemeClr>
                        </a:solidFill>
                      </a:rPr>
                      <a:t>MRS = - 5</a:t>
                    </a:r>
                  </a:p>
                </p:txBody>
              </p:sp>
              <p:sp>
                <p:nvSpPr>
                  <p:cNvPr id="16" name="Rectangle 13">
                    <a:extLst>
                      <a:ext uri="{FF2B5EF4-FFF2-40B4-BE49-F238E27FC236}">
                        <a16:creationId xmlns:a16="http://schemas.microsoft.com/office/drawing/2014/main" id="{F3366E19-46E4-03FB-8A2B-7C2E82FE3364}"/>
                      </a:ext>
                    </a:extLst>
                  </p:cNvPr>
                  <p:cNvSpPr>
                    <a:spLocks noChangeArrowheads="1"/>
                  </p:cNvSpPr>
                  <p:nvPr/>
                </p:nvSpPr>
                <p:spPr bwMode="auto">
                  <a:xfrm>
                    <a:off x="6667379" y="4590848"/>
                    <a:ext cx="1113236" cy="357065"/>
                  </a:xfrm>
                  <a:prstGeom prst="rect">
                    <a:avLst/>
                  </a:prstGeom>
                  <a:noFill/>
                  <a:ln w="9525">
                    <a:noFill/>
                    <a:miter lim="800000"/>
                    <a:headEnd/>
                    <a:tailEnd/>
                  </a:ln>
                  <a:effectLst/>
                </p:spPr>
                <p:txBody>
                  <a:bodyPr wrap="none" lIns="92075" tIns="46038" rIns="92075" bIns="46038">
                    <a:spAutoFit/>
                  </a:bodyPr>
                  <a:lstStyle/>
                  <a:p>
                    <a:pPr algn="l">
                      <a:defRPr/>
                    </a:pPr>
                    <a:r>
                      <a:rPr lang="pl-PL" sz="1800" b="1" dirty="0">
                        <a:solidFill>
                          <a:schemeClr val="accent1">
                            <a:lumMod val="50000"/>
                          </a:schemeClr>
                        </a:solidFill>
                      </a:rPr>
                      <a:t>p2/p1</a:t>
                    </a:r>
                    <a:r>
                      <a:rPr lang="en-US" sz="1800" b="1" dirty="0">
                        <a:solidFill>
                          <a:schemeClr val="accent1">
                            <a:lumMod val="50000"/>
                          </a:schemeClr>
                        </a:solidFill>
                      </a:rPr>
                      <a:t> = - </a:t>
                    </a:r>
                    <a:r>
                      <a:rPr lang="pl-PL" sz="1800" b="1" dirty="0">
                        <a:solidFill>
                          <a:schemeClr val="accent1">
                            <a:lumMod val="50000"/>
                          </a:schemeClr>
                        </a:solidFill>
                      </a:rPr>
                      <a:t>1</a:t>
                    </a:r>
                    <a:endParaRPr lang="en-US" sz="1800" b="1" dirty="0">
                      <a:solidFill>
                        <a:schemeClr val="accent1">
                          <a:lumMod val="50000"/>
                        </a:schemeClr>
                      </a:solidFill>
                    </a:endParaRPr>
                  </a:p>
                </p:txBody>
              </p:sp>
              <p:sp>
                <p:nvSpPr>
                  <p:cNvPr id="12" name="Oval 9">
                    <a:extLst>
                      <a:ext uri="{FF2B5EF4-FFF2-40B4-BE49-F238E27FC236}">
                        <a16:creationId xmlns:a16="http://schemas.microsoft.com/office/drawing/2014/main" id="{D655ADDA-C117-77F5-4F9E-077D58058EDE}"/>
                      </a:ext>
                    </a:extLst>
                  </p:cNvPr>
                  <p:cNvSpPr>
                    <a:spLocks noChangeArrowheads="1"/>
                  </p:cNvSpPr>
                  <p:nvPr/>
                </p:nvSpPr>
                <p:spPr bwMode="auto">
                  <a:xfrm>
                    <a:off x="4210887" y="2535374"/>
                    <a:ext cx="143671" cy="119859"/>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defRPr/>
                    </a:pPr>
                    <a:endParaRPr lang="pl-PL" sz="1800">
                      <a:solidFill>
                        <a:schemeClr val="accent1">
                          <a:lumMod val="50000"/>
                        </a:schemeClr>
                      </a:solidFill>
                    </a:endParaRPr>
                  </a:p>
                </p:txBody>
              </p:sp>
            </p:grpSp>
          </p:grpSp>
          <p:sp>
            <p:nvSpPr>
              <p:cNvPr id="5" name="pole tekstowe 4">
                <a:extLst>
                  <a:ext uri="{FF2B5EF4-FFF2-40B4-BE49-F238E27FC236}">
                    <a16:creationId xmlns:a16="http://schemas.microsoft.com/office/drawing/2014/main" id="{99A5CB52-2CC7-B004-1740-16DD15CD8DE4}"/>
                  </a:ext>
                </a:extLst>
              </p:cNvPr>
              <p:cNvSpPr txBox="1"/>
              <p:nvPr/>
            </p:nvSpPr>
            <p:spPr>
              <a:xfrm>
                <a:off x="3424363" y="2207807"/>
                <a:ext cx="536085" cy="369332"/>
              </a:xfrm>
              <a:prstGeom prst="rect">
                <a:avLst/>
              </a:prstGeom>
              <a:noFill/>
            </p:spPr>
            <p:txBody>
              <a:bodyPr wrap="square">
                <a:spAutoFit/>
              </a:bodyPr>
              <a:lstStyle/>
              <a:p>
                <a:pPr algn="l">
                  <a:defRPr/>
                </a:pPr>
                <a:r>
                  <a:rPr lang="pl-PL" sz="1800" b="1" dirty="0">
                    <a:solidFill>
                      <a:schemeClr val="accent1">
                        <a:lumMod val="50000"/>
                      </a:schemeClr>
                    </a:solidFill>
                  </a:rPr>
                  <a:t>A</a:t>
                </a:r>
                <a:endParaRPr lang="en-US" sz="1800" b="1" dirty="0">
                  <a:solidFill>
                    <a:schemeClr val="accent1">
                      <a:lumMod val="50000"/>
                    </a:schemeClr>
                  </a:solidFill>
                </a:endParaRPr>
              </a:p>
            </p:txBody>
          </p:sp>
        </p:grpSp>
        <p:sp>
          <p:nvSpPr>
            <p:cNvPr id="18" name="Line 12">
              <a:extLst>
                <a:ext uri="{FF2B5EF4-FFF2-40B4-BE49-F238E27FC236}">
                  <a16:creationId xmlns:a16="http://schemas.microsoft.com/office/drawing/2014/main" id="{2CC1D9B6-0489-C53C-D151-9F16E1F498CC}"/>
                </a:ext>
              </a:extLst>
            </p:cNvPr>
            <p:cNvSpPr>
              <a:spLocks noChangeShapeType="1"/>
            </p:cNvSpPr>
            <p:nvPr/>
          </p:nvSpPr>
          <p:spPr bwMode="auto">
            <a:xfrm>
              <a:off x="3673131" y="5505659"/>
              <a:ext cx="17236" cy="596511"/>
            </a:xfrm>
            <a:prstGeom prst="line">
              <a:avLst/>
            </a:prstGeom>
            <a:noFill/>
            <a:ln w="25400">
              <a:solidFill>
                <a:schemeClr val="tx1"/>
              </a:solidFill>
              <a:prstDash val="dash"/>
              <a:round/>
              <a:headEnd type="none" w="sm" len="sm"/>
              <a:tailEnd type="none" w="sm" len="sm"/>
            </a:ln>
            <a:effectLst/>
          </p:spPr>
          <p:txBody>
            <a:bodyPr wrap="none" anchor="ctr"/>
            <a:lstStyle/>
            <a:p>
              <a:pPr>
                <a:defRPr/>
              </a:pPr>
              <a:endParaRPr lang="pl-PL" sz="1800">
                <a:solidFill>
                  <a:schemeClr val="accent1">
                    <a:lumMod val="50000"/>
                  </a:schemeClr>
                </a:solidFill>
              </a:endParaRPr>
            </a:p>
          </p:txBody>
        </p:sp>
        <p:sp>
          <p:nvSpPr>
            <p:cNvPr id="19" name="Line 13">
              <a:extLst>
                <a:ext uri="{FF2B5EF4-FFF2-40B4-BE49-F238E27FC236}">
                  <a16:creationId xmlns:a16="http://schemas.microsoft.com/office/drawing/2014/main" id="{A37947AC-C379-20DF-67EE-2EB10312A3D8}"/>
                </a:ext>
              </a:extLst>
            </p:cNvPr>
            <p:cNvSpPr>
              <a:spLocks noChangeShapeType="1"/>
            </p:cNvSpPr>
            <p:nvPr/>
          </p:nvSpPr>
          <p:spPr bwMode="auto">
            <a:xfrm>
              <a:off x="3673131" y="6063415"/>
              <a:ext cx="539249" cy="21143"/>
            </a:xfrm>
            <a:prstGeom prst="line">
              <a:avLst/>
            </a:prstGeom>
            <a:noFill/>
            <a:ln w="25400">
              <a:solidFill>
                <a:schemeClr val="tx1"/>
              </a:solidFill>
              <a:prstDash val="dash"/>
              <a:round/>
              <a:headEnd type="none" w="sm" len="sm"/>
              <a:tailEnd type="none" w="sm" len="sm"/>
            </a:ln>
            <a:effectLst/>
          </p:spPr>
          <p:txBody>
            <a:bodyPr wrap="none" anchor="ctr"/>
            <a:lstStyle/>
            <a:p>
              <a:pPr>
                <a:defRPr/>
              </a:pPr>
              <a:endParaRPr lang="pl-PL" sz="1800">
                <a:solidFill>
                  <a:schemeClr val="accent1">
                    <a:lumMod val="50000"/>
                  </a:schemeClr>
                </a:solidFill>
              </a:endParaRPr>
            </a:p>
          </p:txBody>
        </p:sp>
        <p:sp>
          <p:nvSpPr>
            <p:cNvPr id="20" name="Rectangle 14">
              <a:extLst>
                <a:ext uri="{FF2B5EF4-FFF2-40B4-BE49-F238E27FC236}">
                  <a16:creationId xmlns:a16="http://schemas.microsoft.com/office/drawing/2014/main" id="{407F37C2-3BC3-D978-89D0-DF50C62D8F38}"/>
                </a:ext>
              </a:extLst>
            </p:cNvPr>
            <p:cNvSpPr>
              <a:spLocks noChangeArrowheads="1"/>
            </p:cNvSpPr>
            <p:nvPr/>
          </p:nvSpPr>
          <p:spPr bwMode="auto">
            <a:xfrm>
              <a:off x="3117231" y="5628778"/>
              <a:ext cx="519112" cy="404813"/>
            </a:xfrm>
            <a:prstGeom prst="rect">
              <a:avLst/>
            </a:prstGeom>
            <a:noFill/>
            <a:ln w="9525">
              <a:noFill/>
              <a:miter lim="800000"/>
              <a:headEnd/>
              <a:tailEnd/>
            </a:ln>
            <a:effectLst/>
          </p:spPr>
          <p:txBody>
            <a:bodyPr wrap="none" lIns="92075" tIns="46038" rIns="92075" bIns="46038">
              <a:spAutoFit/>
            </a:bodyPr>
            <a:lstStyle/>
            <a:p>
              <a:pPr algn="l">
                <a:defRPr/>
              </a:pPr>
              <a:r>
                <a:rPr lang="en-US" sz="1800" b="1" dirty="0">
                  <a:solidFill>
                    <a:schemeClr val="accent1">
                      <a:lumMod val="50000"/>
                    </a:schemeClr>
                  </a:solidFill>
                  <a:latin typeface="Symbol" pitchFamily="18" charset="2"/>
                </a:rPr>
                <a:t>D</a:t>
              </a:r>
              <a:r>
                <a:rPr lang="en-US" sz="1800" b="1" dirty="0">
                  <a:solidFill>
                    <a:schemeClr val="accent1">
                      <a:lumMod val="50000"/>
                    </a:schemeClr>
                  </a:solidFill>
                </a:rPr>
                <a:t>x</a:t>
              </a:r>
              <a:r>
                <a:rPr lang="en-US" sz="1800" b="1" baseline="-25000" dirty="0">
                  <a:solidFill>
                    <a:schemeClr val="accent1">
                      <a:lumMod val="50000"/>
                    </a:schemeClr>
                  </a:solidFill>
                </a:rPr>
                <a:t>2</a:t>
              </a:r>
            </a:p>
          </p:txBody>
        </p:sp>
        <p:sp>
          <p:nvSpPr>
            <p:cNvPr id="21" name="Rectangle 15">
              <a:extLst>
                <a:ext uri="{FF2B5EF4-FFF2-40B4-BE49-F238E27FC236}">
                  <a16:creationId xmlns:a16="http://schemas.microsoft.com/office/drawing/2014/main" id="{84EA6B38-2186-2CEA-372E-872ED97BE5FA}"/>
                </a:ext>
              </a:extLst>
            </p:cNvPr>
            <p:cNvSpPr>
              <a:spLocks noChangeArrowheads="1"/>
            </p:cNvSpPr>
            <p:nvPr/>
          </p:nvSpPr>
          <p:spPr bwMode="auto">
            <a:xfrm>
              <a:off x="3694859" y="6171014"/>
              <a:ext cx="517525" cy="404812"/>
            </a:xfrm>
            <a:prstGeom prst="rect">
              <a:avLst/>
            </a:prstGeom>
            <a:noFill/>
            <a:ln w="9525">
              <a:noFill/>
              <a:miter lim="800000"/>
              <a:headEnd/>
              <a:tailEnd/>
            </a:ln>
            <a:effectLst/>
          </p:spPr>
          <p:txBody>
            <a:bodyPr wrap="none" lIns="92075" tIns="46038" rIns="92075" bIns="46038">
              <a:spAutoFit/>
            </a:bodyPr>
            <a:lstStyle/>
            <a:p>
              <a:pPr algn="l">
                <a:defRPr/>
              </a:pPr>
              <a:r>
                <a:rPr lang="en-US" sz="1800" b="1" dirty="0">
                  <a:solidFill>
                    <a:schemeClr val="accent1">
                      <a:lumMod val="50000"/>
                    </a:schemeClr>
                  </a:solidFill>
                  <a:latin typeface="Symbol" pitchFamily="18" charset="2"/>
                </a:rPr>
                <a:t>D</a:t>
              </a:r>
              <a:r>
                <a:rPr lang="en-US" sz="1800" b="1" dirty="0">
                  <a:solidFill>
                    <a:schemeClr val="accent1">
                      <a:lumMod val="50000"/>
                    </a:schemeClr>
                  </a:solidFill>
                </a:rPr>
                <a:t>x</a:t>
              </a:r>
              <a:r>
                <a:rPr lang="en-US" sz="1800" b="1" baseline="-25000" dirty="0">
                  <a:solidFill>
                    <a:schemeClr val="accent1">
                      <a:lumMod val="50000"/>
                    </a:schemeClr>
                  </a:solidFill>
                </a:rPr>
                <a:t>1</a:t>
              </a:r>
            </a:p>
          </p:txBody>
        </p:sp>
        <p:sp>
          <p:nvSpPr>
            <p:cNvPr id="23" name="Strzałka: w dół 22">
              <a:extLst>
                <a:ext uri="{FF2B5EF4-FFF2-40B4-BE49-F238E27FC236}">
                  <a16:creationId xmlns:a16="http://schemas.microsoft.com/office/drawing/2014/main" id="{69503A53-F114-3EC0-FA9B-FA551645129E}"/>
                </a:ext>
              </a:extLst>
            </p:cNvPr>
            <p:cNvSpPr/>
            <p:nvPr/>
          </p:nvSpPr>
          <p:spPr>
            <a:xfrm rot="18979308">
              <a:off x="2096980" y="3659516"/>
              <a:ext cx="264445" cy="34514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4" name="Arc 7">
              <a:extLst>
                <a:ext uri="{FF2B5EF4-FFF2-40B4-BE49-F238E27FC236}">
                  <a16:creationId xmlns:a16="http://schemas.microsoft.com/office/drawing/2014/main" id="{2DFDD963-6971-3FAA-3066-36B6186A6941}"/>
                </a:ext>
              </a:extLst>
            </p:cNvPr>
            <p:cNvSpPr>
              <a:spLocks/>
            </p:cNvSpPr>
            <p:nvPr/>
          </p:nvSpPr>
          <p:spPr bwMode="auto">
            <a:xfrm rot="10800000">
              <a:off x="1586997" y="2880546"/>
              <a:ext cx="3836647" cy="2391384"/>
            </a:xfrm>
            <a:custGeom>
              <a:avLst/>
              <a:gdLst>
                <a:gd name="G0" fmla="+- 11 0 0"/>
                <a:gd name="G1" fmla="+- 21600 0 0"/>
                <a:gd name="G2" fmla="+- 21600 0 0"/>
                <a:gd name="T0" fmla="*/ 0 w 21611"/>
                <a:gd name="T1" fmla="*/ 0 h 21600"/>
                <a:gd name="T2" fmla="*/ 21611 w 21611"/>
                <a:gd name="T3" fmla="*/ 21600 h 21600"/>
                <a:gd name="T4" fmla="*/ 11 w 21611"/>
                <a:gd name="T5" fmla="*/ 21600 h 21600"/>
              </a:gdLst>
              <a:ahLst/>
              <a:cxnLst>
                <a:cxn ang="0">
                  <a:pos x="T0" y="T1"/>
                </a:cxn>
                <a:cxn ang="0">
                  <a:pos x="T2" y="T3"/>
                </a:cxn>
                <a:cxn ang="0">
                  <a:pos x="T4" y="T5"/>
                </a:cxn>
              </a:cxnLst>
              <a:rect l="0" t="0" r="r" b="b"/>
              <a:pathLst>
                <a:path w="21611" h="21600" fill="none" extrusionOk="0">
                  <a:moveTo>
                    <a:pt x="0" y="0"/>
                  </a:moveTo>
                  <a:cubicBezTo>
                    <a:pt x="3" y="0"/>
                    <a:pt x="7" y="-1"/>
                    <a:pt x="11" y="0"/>
                  </a:cubicBezTo>
                  <a:cubicBezTo>
                    <a:pt x="11940" y="0"/>
                    <a:pt x="21611" y="9670"/>
                    <a:pt x="21611" y="21600"/>
                  </a:cubicBezTo>
                </a:path>
                <a:path w="21611" h="21600" stroke="0" extrusionOk="0">
                  <a:moveTo>
                    <a:pt x="0" y="0"/>
                  </a:moveTo>
                  <a:cubicBezTo>
                    <a:pt x="3" y="0"/>
                    <a:pt x="7" y="-1"/>
                    <a:pt x="11" y="0"/>
                  </a:cubicBezTo>
                  <a:cubicBezTo>
                    <a:pt x="11940" y="0"/>
                    <a:pt x="21611" y="9670"/>
                    <a:pt x="21611" y="21600"/>
                  </a:cubicBezTo>
                  <a:lnTo>
                    <a:pt x="11" y="21600"/>
                  </a:lnTo>
                  <a:close/>
                </a:path>
              </a:pathLst>
            </a:custGeom>
            <a:noFill/>
            <a:ln w="38100">
              <a:headEnd type="none" w="sm" len="sm"/>
              <a:tailEnd type="none" w="sm" len="sm"/>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pl-PL" sz="1800">
                <a:solidFill>
                  <a:schemeClr val="accent1">
                    <a:lumMod val="50000"/>
                  </a:schemeClr>
                </a:solidFill>
              </a:endParaRPr>
            </a:p>
          </p:txBody>
        </p:sp>
        <p:sp>
          <p:nvSpPr>
            <p:cNvPr id="25" name="Strzałka: w dół 24">
              <a:extLst>
                <a:ext uri="{FF2B5EF4-FFF2-40B4-BE49-F238E27FC236}">
                  <a16:creationId xmlns:a16="http://schemas.microsoft.com/office/drawing/2014/main" id="{9FC05BDD-0DFE-67C7-EF36-BEBD1C73EF68}"/>
                </a:ext>
              </a:extLst>
            </p:cNvPr>
            <p:cNvSpPr/>
            <p:nvPr/>
          </p:nvSpPr>
          <p:spPr>
            <a:xfrm rot="8267447">
              <a:off x="2587526" y="4130700"/>
              <a:ext cx="264445" cy="34514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6" name="Rectangle 12">
              <a:extLst>
                <a:ext uri="{FF2B5EF4-FFF2-40B4-BE49-F238E27FC236}">
                  <a16:creationId xmlns:a16="http://schemas.microsoft.com/office/drawing/2014/main" id="{737852B0-0AC7-E91C-3EF8-210B2EA12465}"/>
                </a:ext>
              </a:extLst>
            </p:cNvPr>
            <p:cNvSpPr>
              <a:spLocks noChangeArrowheads="1"/>
            </p:cNvSpPr>
            <p:nvPr/>
          </p:nvSpPr>
          <p:spPr bwMode="auto">
            <a:xfrm>
              <a:off x="3389793" y="4655237"/>
              <a:ext cx="1423467" cy="369974"/>
            </a:xfrm>
            <a:prstGeom prst="rect">
              <a:avLst/>
            </a:prstGeom>
            <a:noFill/>
            <a:ln w="9525">
              <a:noFill/>
              <a:miter lim="800000"/>
              <a:headEnd/>
              <a:tailEnd/>
            </a:ln>
            <a:effectLst/>
          </p:spPr>
          <p:txBody>
            <a:bodyPr wrap="none" lIns="92075" tIns="46038" rIns="92075" bIns="46038">
              <a:spAutoFit/>
            </a:bodyPr>
            <a:lstStyle/>
            <a:p>
              <a:pPr algn="l">
                <a:defRPr/>
              </a:pPr>
              <a:r>
                <a:rPr lang="en-US" sz="1800" b="1" dirty="0">
                  <a:solidFill>
                    <a:schemeClr val="accent1">
                      <a:lumMod val="50000"/>
                    </a:schemeClr>
                  </a:solidFill>
                </a:rPr>
                <a:t>MRS = - </a:t>
              </a:r>
              <a:r>
                <a:rPr lang="pl-PL" b="1" dirty="0">
                  <a:solidFill>
                    <a:schemeClr val="accent1">
                      <a:lumMod val="50000"/>
                    </a:schemeClr>
                  </a:solidFill>
                </a:rPr>
                <a:t>0.</a:t>
              </a:r>
              <a:r>
                <a:rPr lang="en-US" sz="1800" b="1" dirty="0">
                  <a:solidFill>
                    <a:schemeClr val="accent1">
                      <a:lumMod val="50000"/>
                    </a:schemeClr>
                  </a:solidFill>
                </a:rPr>
                <a:t>5</a:t>
              </a:r>
            </a:p>
          </p:txBody>
        </p:sp>
        <p:sp>
          <p:nvSpPr>
            <p:cNvPr id="27" name="Oval 9">
              <a:extLst>
                <a:ext uri="{FF2B5EF4-FFF2-40B4-BE49-F238E27FC236}">
                  <a16:creationId xmlns:a16="http://schemas.microsoft.com/office/drawing/2014/main" id="{19198D76-D5F3-3D6C-5070-F34ED82EABFD}"/>
                </a:ext>
              </a:extLst>
            </p:cNvPr>
            <p:cNvSpPr>
              <a:spLocks noChangeArrowheads="1"/>
            </p:cNvSpPr>
            <p:nvPr/>
          </p:nvSpPr>
          <p:spPr bwMode="auto">
            <a:xfrm>
              <a:off x="3006605" y="4963115"/>
              <a:ext cx="170468" cy="124192"/>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defRPr/>
              </a:pPr>
              <a:endParaRPr lang="pl-PL" sz="1800">
                <a:solidFill>
                  <a:schemeClr val="accent1">
                    <a:lumMod val="50000"/>
                  </a:schemeClr>
                </a:solidFill>
              </a:endParaRPr>
            </a:p>
          </p:txBody>
        </p:sp>
        <p:sp>
          <p:nvSpPr>
            <p:cNvPr id="28" name="pole tekstowe 27">
              <a:extLst>
                <a:ext uri="{FF2B5EF4-FFF2-40B4-BE49-F238E27FC236}">
                  <a16:creationId xmlns:a16="http://schemas.microsoft.com/office/drawing/2014/main" id="{8A527A90-E236-E3CF-EA6A-9392D0E93F75}"/>
                </a:ext>
              </a:extLst>
            </p:cNvPr>
            <p:cNvSpPr txBox="1"/>
            <p:nvPr/>
          </p:nvSpPr>
          <p:spPr>
            <a:xfrm>
              <a:off x="2665983" y="5025211"/>
              <a:ext cx="902495" cy="369332"/>
            </a:xfrm>
            <a:prstGeom prst="rect">
              <a:avLst/>
            </a:prstGeom>
            <a:noFill/>
          </p:spPr>
          <p:txBody>
            <a:bodyPr wrap="square">
              <a:spAutoFit/>
            </a:bodyPr>
            <a:lstStyle/>
            <a:p>
              <a:pPr algn="l">
                <a:defRPr/>
              </a:pPr>
              <a:r>
                <a:rPr lang="pl-PL" sz="1800" b="1" dirty="0">
                  <a:solidFill>
                    <a:schemeClr val="accent1">
                      <a:lumMod val="50000"/>
                    </a:schemeClr>
                  </a:solidFill>
                </a:rPr>
                <a:t>B</a:t>
              </a:r>
              <a:endParaRPr lang="en-US" sz="1800" b="1" dirty="0">
                <a:solidFill>
                  <a:schemeClr val="accent1">
                    <a:lumMod val="50000"/>
                  </a:schemeClr>
                </a:solidFill>
              </a:endParaRPr>
            </a:p>
          </p:txBody>
        </p:sp>
        <p:graphicFrame>
          <p:nvGraphicFramePr>
            <p:cNvPr id="29" name="Object 28">
              <a:extLst>
                <a:ext uri="{FF2B5EF4-FFF2-40B4-BE49-F238E27FC236}">
                  <a16:creationId xmlns:a16="http://schemas.microsoft.com/office/drawing/2014/main" id="{4555A2CE-4B00-E039-212E-2B029FF827AD}"/>
                </a:ext>
              </a:extLst>
            </p:cNvPr>
            <p:cNvGraphicFramePr>
              <a:graphicFrameLocks noChangeAspect="1"/>
            </p:cNvGraphicFramePr>
            <p:nvPr>
              <p:extLst>
                <p:ext uri="{D42A27DB-BD31-4B8C-83A1-F6EECF244321}">
                  <p14:modId xmlns:p14="http://schemas.microsoft.com/office/powerpoint/2010/main" val="2447566481"/>
                </p:ext>
              </p:extLst>
            </p:nvPr>
          </p:nvGraphicFramePr>
          <p:xfrm>
            <a:off x="2562498" y="3656719"/>
            <a:ext cx="1153486" cy="369332"/>
          </p:xfrm>
          <a:graphic>
            <a:graphicData uri="http://schemas.openxmlformats.org/presentationml/2006/ole">
              <mc:AlternateContent xmlns:mc="http://schemas.openxmlformats.org/markup-compatibility/2006">
                <mc:Choice xmlns:v="urn:schemas-microsoft-com:vml" Requires="v">
                  <p:oleObj name="Równanie" r:id="rId2" imgW="749160" imgH="431640" progId="Equation.3">
                    <p:embed/>
                  </p:oleObj>
                </mc:Choice>
                <mc:Fallback>
                  <p:oleObj name="Równanie" r:id="rId2" imgW="749160" imgH="431640" progId="Equation.3">
                    <p:embed/>
                    <p:pic>
                      <p:nvPicPr>
                        <p:cNvPr id="6" name="Object 28"/>
                        <p:cNvPicPr>
                          <a:picLocks noChangeAspect="1" noChangeArrowheads="1"/>
                        </p:cNvPicPr>
                        <p:nvPr/>
                      </p:nvPicPr>
                      <p:blipFill>
                        <a:blip r:embed="rId3"/>
                        <a:srcRect/>
                        <a:stretch>
                          <a:fillRect/>
                        </a:stretch>
                      </p:blipFill>
                      <p:spPr bwMode="auto">
                        <a:xfrm>
                          <a:off x="2562498" y="3656719"/>
                          <a:ext cx="1153486" cy="369332"/>
                        </a:xfrm>
                        <a:prstGeom prst="rect">
                          <a:avLst/>
                        </a:prstGeom>
                        <a:noFill/>
                        <a:ln w="19050">
                          <a:solidFill>
                            <a:srgbClr val="3B4F89"/>
                          </a:solidFill>
                          <a:miter lim="800000"/>
                          <a:headEnd/>
                          <a:tailEnd/>
                        </a:ln>
                        <a:effectLst/>
                      </p:spPr>
                    </p:pic>
                  </p:oleObj>
                </mc:Fallback>
              </mc:AlternateContent>
            </a:graphicData>
          </a:graphic>
        </p:graphicFrame>
        <p:sp>
          <p:nvSpPr>
            <p:cNvPr id="30" name="Oval 9">
              <a:extLst>
                <a:ext uri="{FF2B5EF4-FFF2-40B4-BE49-F238E27FC236}">
                  <a16:creationId xmlns:a16="http://schemas.microsoft.com/office/drawing/2014/main" id="{A4A32A25-8277-2149-27A0-1A8DBE9792EF}"/>
                </a:ext>
              </a:extLst>
            </p:cNvPr>
            <p:cNvSpPr>
              <a:spLocks noChangeArrowheads="1"/>
            </p:cNvSpPr>
            <p:nvPr/>
          </p:nvSpPr>
          <p:spPr bwMode="auto">
            <a:xfrm>
              <a:off x="2190277" y="4213085"/>
              <a:ext cx="170468" cy="124192"/>
            </a:xfrm>
            <a:prstGeom prst="ellipse">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defRPr/>
              </a:pPr>
              <a:endParaRPr lang="pl-PL" sz="1800">
                <a:solidFill>
                  <a:schemeClr val="accent1">
                    <a:lumMod val="50000"/>
                  </a:schemeClr>
                </a:solidFill>
              </a:endParaRPr>
            </a:p>
          </p:txBody>
        </p:sp>
      </p:grpSp>
    </p:spTree>
    <p:extLst>
      <p:ext uri="{BB962C8B-B14F-4D97-AF65-F5344CB8AC3E}">
        <p14:creationId xmlns:p14="http://schemas.microsoft.com/office/powerpoint/2010/main" val="287470448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B2F28-92A3-A2AB-A343-FB98473025ED}"/>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6A329F13-0290-C153-B803-B901766C93BB}"/>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sz="3600" b="1" i="1" dirty="0">
                <a:solidFill>
                  <a:schemeClr val="accent5">
                    <a:lumMod val="50000"/>
                  </a:schemeClr>
                </a:solidFill>
              </a:rPr>
              <a:t>The </a:t>
            </a:r>
            <a:r>
              <a:rPr lang="pl-PL" sz="3600" b="1" i="1" dirty="0" err="1">
                <a:solidFill>
                  <a:schemeClr val="accent5">
                    <a:lumMod val="50000"/>
                  </a:schemeClr>
                </a:solidFill>
              </a:rPr>
              <a:t>maximization</a:t>
            </a:r>
            <a:r>
              <a:rPr lang="pl-PL" sz="3600" b="1" i="1" dirty="0">
                <a:solidFill>
                  <a:schemeClr val="accent5">
                    <a:lumMod val="50000"/>
                  </a:schemeClr>
                </a:solidFill>
              </a:rPr>
              <a:t> problem</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D0409CE6-F698-2D6E-3F7F-589C71450CC7}"/>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 name="Prostokąt 1">
            <a:extLst>
              <a:ext uri="{FF2B5EF4-FFF2-40B4-BE49-F238E27FC236}">
                <a16:creationId xmlns:a16="http://schemas.microsoft.com/office/drawing/2014/main" id="{B958BD5F-9516-024D-5C4C-B90ABC09B089}"/>
              </a:ext>
            </a:extLst>
          </p:cNvPr>
          <p:cNvSpPr/>
          <p:nvPr/>
        </p:nvSpPr>
        <p:spPr>
          <a:xfrm>
            <a:off x="9559925" y="1670742"/>
            <a:ext cx="2306320" cy="452431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l">
              <a:defRPr/>
            </a:pPr>
            <a:r>
              <a:rPr lang="en-US" sz="800" b="1" dirty="0">
                <a:solidFill>
                  <a:schemeClr val="accent5">
                    <a:lumMod val="50000"/>
                  </a:schemeClr>
                </a:solidFill>
              </a:rPr>
              <a:t>kill(all)$  /* Clear all previous variables and functions */</a:t>
            </a:r>
          </a:p>
          <a:p>
            <a:pPr algn="l">
              <a:defRPr/>
            </a:pPr>
            <a:r>
              <a:rPr lang="en-US" sz="800" b="1" dirty="0">
                <a:solidFill>
                  <a:schemeClr val="accent5">
                    <a:lumMod val="50000"/>
                  </a:schemeClr>
                </a:solidFill>
              </a:rPr>
              <a:t>assume(x1&gt;0, x2&gt;0, p1&gt;0, p2&gt;0, u&gt;0, a&gt;0, a&lt;1, b&gt;0,b&lt;1, M&gt;0,lambda&gt;0)$  /* Assume all variables are positive to simplify the solution */</a:t>
            </a:r>
          </a:p>
          <a:p>
            <a:pPr algn="l">
              <a:defRPr/>
            </a:pPr>
            <a:r>
              <a:rPr lang="en-US" sz="800" b="1" dirty="0">
                <a:solidFill>
                  <a:schemeClr val="accent5">
                    <a:lumMod val="50000"/>
                  </a:schemeClr>
                </a:solidFill>
              </a:rPr>
              <a:t>L: (x1^a * x2^b) + lambda * (p1 * x1 + p2 * x2 - M);  /* Define the Lagrange function with a utility function and budget constraint */</a:t>
            </a:r>
          </a:p>
          <a:p>
            <a:pPr algn="l">
              <a:defRPr/>
            </a:pPr>
            <a:endParaRPr lang="en-US" sz="800" b="1" dirty="0">
              <a:solidFill>
                <a:schemeClr val="accent5">
                  <a:lumMod val="50000"/>
                </a:schemeClr>
              </a:solidFill>
            </a:endParaRPr>
          </a:p>
          <a:p>
            <a:pPr algn="l">
              <a:defRPr/>
            </a:pPr>
            <a:r>
              <a:rPr lang="en-US" sz="800" b="1" dirty="0">
                <a:solidFill>
                  <a:schemeClr val="accent5">
                    <a:lumMod val="50000"/>
                  </a:schemeClr>
                </a:solidFill>
              </a:rPr>
              <a:t>/* First-order conditions */</a:t>
            </a:r>
          </a:p>
          <a:p>
            <a:pPr algn="l">
              <a:defRPr/>
            </a:pPr>
            <a:r>
              <a:rPr lang="en-US" sz="800" b="1" dirty="0">
                <a:solidFill>
                  <a:schemeClr val="accent5">
                    <a:lumMod val="50000"/>
                  </a:schemeClr>
                </a:solidFill>
              </a:rPr>
              <a:t>eq1: diff(L, x1, 1) = 0;  /* Take the first derivative of L with respect to x1 and set it to zero */</a:t>
            </a:r>
          </a:p>
          <a:p>
            <a:pPr algn="l">
              <a:defRPr/>
            </a:pPr>
            <a:r>
              <a:rPr lang="en-US" sz="800" b="1" dirty="0">
                <a:solidFill>
                  <a:schemeClr val="accent5">
                    <a:lumMod val="50000"/>
                  </a:schemeClr>
                </a:solidFill>
              </a:rPr>
              <a:t>eq2: diff(L, x2, 1) = 0;  /* Take the first derivative of L with respect to x2 and set it to zero */</a:t>
            </a:r>
          </a:p>
          <a:p>
            <a:pPr algn="l">
              <a:defRPr/>
            </a:pPr>
            <a:r>
              <a:rPr lang="en-US" sz="800" b="1" dirty="0">
                <a:solidFill>
                  <a:schemeClr val="accent5">
                    <a:lumMod val="50000"/>
                  </a:schemeClr>
                </a:solidFill>
              </a:rPr>
              <a:t>eq3: diff(L, lambda, 1) = 0;  /* Take the first derivative of L with respect to lambda and set it to zero (budget constraint) */</a:t>
            </a:r>
          </a:p>
          <a:p>
            <a:pPr algn="l">
              <a:defRPr/>
            </a:pPr>
            <a:endParaRPr lang="en-US" sz="800" b="1" dirty="0">
              <a:solidFill>
                <a:schemeClr val="accent5">
                  <a:lumMod val="50000"/>
                </a:schemeClr>
              </a:solidFill>
            </a:endParaRPr>
          </a:p>
          <a:p>
            <a:pPr algn="l">
              <a:defRPr/>
            </a:pPr>
            <a:r>
              <a:rPr lang="en-US" sz="800" b="1" dirty="0">
                <a:solidFill>
                  <a:schemeClr val="accent5">
                    <a:lumMod val="50000"/>
                  </a:schemeClr>
                </a:solidFill>
              </a:rPr>
              <a:t>/* Solve the system of equations for x1, x2, and lambda */</a:t>
            </a:r>
          </a:p>
          <a:p>
            <a:pPr algn="l">
              <a:defRPr/>
            </a:pPr>
            <a:r>
              <a:rPr lang="en-US" sz="800" b="1" dirty="0">
                <a:solidFill>
                  <a:schemeClr val="accent5">
                    <a:lumMod val="50000"/>
                  </a:schemeClr>
                </a:solidFill>
              </a:rPr>
              <a:t>solution: solve([eq1, eq2, eq3], [x1, x2, lambda]);</a:t>
            </a:r>
          </a:p>
          <a:p>
            <a:pPr algn="l">
              <a:defRPr/>
            </a:pPr>
            <a:endParaRPr lang="en-US" sz="800" b="1" dirty="0">
              <a:solidFill>
                <a:schemeClr val="accent5">
                  <a:lumMod val="50000"/>
                </a:schemeClr>
              </a:solidFill>
            </a:endParaRPr>
          </a:p>
          <a:p>
            <a:pPr algn="l">
              <a:defRPr/>
            </a:pPr>
            <a:r>
              <a:rPr lang="en-US" sz="800" b="1" dirty="0">
                <a:solidFill>
                  <a:schemeClr val="accent5">
                    <a:lumMod val="50000"/>
                  </a:schemeClr>
                </a:solidFill>
              </a:rPr>
              <a:t>/* Second-order conditions - Compute the Hessian matrix */</a:t>
            </a:r>
          </a:p>
          <a:p>
            <a:pPr algn="l">
              <a:defRPr/>
            </a:pPr>
            <a:r>
              <a:rPr lang="en-US" sz="800" b="1" dirty="0">
                <a:solidFill>
                  <a:schemeClr val="accent5">
                    <a:lumMod val="50000"/>
                  </a:schemeClr>
                </a:solidFill>
              </a:rPr>
              <a:t>Hessian: matrix(</a:t>
            </a:r>
          </a:p>
          <a:p>
            <a:pPr algn="l">
              <a:defRPr/>
            </a:pPr>
            <a:r>
              <a:rPr lang="en-US" sz="800" b="1" dirty="0">
                <a:solidFill>
                  <a:schemeClr val="accent5">
                    <a:lumMod val="50000"/>
                  </a:schemeClr>
                </a:solidFill>
              </a:rPr>
              <a:t>    [diff(L, x1, 2), diff(diff(L, x1), x2)],</a:t>
            </a:r>
          </a:p>
          <a:p>
            <a:pPr algn="l">
              <a:defRPr/>
            </a:pPr>
            <a:r>
              <a:rPr lang="en-US" sz="800" b="1" dirty="0">
                <a:solidFill>
                  <a:schemeClr val="accent5">
                    <a:lumMod val="50000"/>
                  </a:schemeClr>
                </a:solidFill>
              </a:rPr>
              <a:t>    [diff(diff(L, x2), x1), diff(L, x2, 2)]</a:t>
            </a:r>
          </a:p>
          <a:p>
            <a:pPr algn="l">
              <a:defRPr/>
            </a:pPr>
            <a:r>
              <a:rPr lang="en-US" sz="800" b="1" dirty="0">
                <a:solidFill>
                  <a:schemeClr val="accent5">
                    <a:lumMod val="50000"/>
                  </a:schemeClr>
                </a:solidFill>
              </a:rPr>
              <a:t>);</a:t>
            </a:r>
          </a:p>
          <a:p>
            <a:pPr algn="l">
              <a:defRPr/>
            </a:pPr>
            <a:endParaRPr lang="en-US" sz="800" b="1" dirty="0">
              <a:solidFill>
                <a:schemeClr val="accent5">
                  <a:lumMod val="50000"/>
                </a:schemeClr>
              </a:solidFill>
            </a:endParaRPr>
          </a:p>
          <a:p>
            <a:pPr algn="l">
              <a:defRPr/>
            </a:pPr>
            <a:r>
              <a:rPr lang="en-US" sz="800" b="1" dirty="0">
                <a:solidFill>
                  <a:schemeClr val="accent5">
                    <a:lumMod val="50000"/>
                  </a:schemeClr>
                </a:solidFill>
              </a:rPr>
              <a:t>/* Evaluate the Hessian at the solution values for x1, x2, and lambda */</a:t>
            </a:r>
          </a:p>
          <a:p>
            <a:pPr algn="l">
              <a:defRPr/>
            </a:pPr>
            <a:r>
              <a:rPr lang="en-US" sz="800" b="1" dirty="0" err="1">
                <a:solidFill>
                  <a:schemeClr val="accent5">
                    <a:lumMod val="50000"/>
                  </a:schemeClr>
                </a:solidFill>
              </a:rPr>
              <a:t>Hessian_at_solution</a:t>
            </a:r>
            <a:r>
              <a:rPr lang="en-US" sz="800" b="1" dirty="0">
                <a:solidFill>
                  <a:schemeClr val="accent5">
                    <a:lumMod val="50000"/>
                  </a:schemeClr>
                </a:solidFill>
              </a:rPr>
              <a:t>: </a:t>
            </a:r>
            <a:r>
              <a:rPr lang="en-US" sz="800" b="1" dirty="0" err="1">
                <a:solidFill>
                  <a:schemeClr val="accent5">
                    <a:lumMod val="50000"/>
                  </a:schemeClr>
                </a:solidFill>
              </a:rPr>
              <a:t>subst</a:t>
            </a:r>
            <a:r>
              <a:rPr lang="en-US" sz="800" b="1" dirty="0">
                <a:solidFill>
                  <a:schemeClr val="accent5">
                    <a:lumMod val="50000"/>
                  </a:schemeClr>
                </a:solidFill>
              </a:rPr>
              <a:t>(solution, Hessian);</a:t>
            </a:r>
          </a:p>
          <a:p>
            <a:pPr algn="l">
              <a:defRPr/>
            </a:pPr>
            <a:endParaRPr lang="en-US" sz="800" b="1" dirty="0">
              <a:solidFill>
                <a:schemeClr val="accent5">
                  <a:lumMod val="50000"/>
                </a:schemeClr>
              </a:solidFill>
            </a:endParaRPr>
          </a:p>
          <a:p>
            <a:pPr algn="l">
              <a:defRPr/>
            </a:pPr>
            <a:r>
              <a:rPr lang="en-US" sz="800" b="1" dirty="0">
                <a:solidFill>
                  <a:schemeClr val="accent5">
                    <a:lumMod val="50000"/>
                  </a:schemeClr>
                </a:solidFill>
              </a:rPr>
              <a:t>/* Check if the Hessian is negative semi-definite for maximization */</a:t>
            </a:r>
          </a:p>
          <a:p>
            <a:pPr algn="l">
              <a:defRPr/>
            </a:pPr>
            <a:r>
              <a:rPr lang="en-US" sz="800" b="1" dirty="0">
                <a:solidFill>
                  <a:schemeClr val="accent5">
                    <a:lumMod val="50000"/>
                  </a:schemeClr>
                </a:solidFill>
              </a:rPr>
              <a:t> compare(determinant(''</a:t>
            </a:r>
            <a:r>
              <a:rPr lang="en-US" sz="800" b="1" dirty="0" err="1">
                <a:solidFill>
                  <a:schemeClr val="accent5">
                    <a:lumMod val="50000"/>
                  </a:schemeClr>
                </a:solidFill>
              </a:rPr>
              <a:t>Hessian_at_solution</a:t>
            </a:r>
            <a:r>
              <a:rPr lang="en-US" sz="800" b="1" dirty="0">
                <a:solidFill>
                  <a:schemeClr val="accent5">
                    <a:lumMod val="50000"/>
                  </a:schemeClr>
                </a:solidFill>
              </a:rPr>
              <a:t>),0);</a:t>
            </a:r>
            <a:endParaRPr lang="pl-PL" sz="800" b="1" dirty="0">
              <a:solidFill>
                <a:schemeClr val="accent5">
                  <a:lumMod val="50000"/>
                </a:schemeClr>
              </a:solidFill>
            </a:endParaRPr>
          </a:p>
        </p:txBody>
      </p:sp>
      <mc:AlternateContent xmlns:mc="http://schemas.openxmlformats.org/markup-compatibility/2006" xmlns:a14="http://schemas.microsoft.com/office/drawing/2010/main">
        <mc:Choice Requires="a14">
          <p:sp>
            <p:nvSpPr>
              <p:cNvPr id="5" name="pole tekstowe 4">
                <a:extLst>
                  <a:ext uri="{FF2B5EF4-FFF2-40B4-BE49-F238E27FC236}">
                    <a16:creationId xmlns:a16="http://schemas.microsoft.com/office/drawing/2014/main" id="{71390E34-1BE2-6063-04D1-C3A4C62CB8F3}"/>
                  </a:ext>
                </a:extLst>
              </p:cNvPr>
              <p:cNvSpPr txBox="1"/>
              <p:nvPr/>
            </p:nvSpPr>
            <p:spPr>
              <a:xfrm>
                <a:off x="138431" y="1173138"/>
                <a:ext cx="7024369" cy="5131854"/>
              </a:xfrm>
              <a:prstGeom prst="rect">
                <a:avLst/>
              </a:prstGeom>
              <a:noFill/>
            </p:spPr>
            <p:txBody>
              <a:bodyPr wrap="square">
                <a:spAutoFit/>
              </a:bodyPr>
              <a:lstStyle/>
              <a:p>
                <a:pPr algn="l">
                  <a:defRPr/>
                </a:pPr>
                <a:r>
                  <a:rPr lang="en-US" sz="2400" b="1" dirty="0">
                    <a:solidFill>
                      <a:schemeClr val="accent5">
                        <a:lumMod val="50000"/>
                      </a:schemeClr>
                    </a:solidFill>
                    <a:cs typeface="Arial" charset="0"/>
                  </a:rPr>
                  <a:t>Cobb-Douglas</a:t>
                </a:r>
                <a:r>
                  <a:rPr lang="pl-PL" sz="2400" b="1" dirty="0">
                    <a:solidFill>
                      <a:schemeClr val="accent5">
                        <a:lumMod val="50000"/>
                      </a:schemeClr>
                    </a:solidFill>
                    <a:cs typeface="Arial" charset="0"/>
                  </a:rPr>
                  <a:t>: </a:t>
                </a:r>
                <a:r>
                  <a:rPr lang="en-US" sz="2400" b="1" i="1" dirty="0">
                    <a:solidFill>
                      <a:schemeClr val="accent5">
                        <a:lumMod val="50000"/>
                      </a:schemeClr>
                    </a:solidFill>
                    <a:cs typeface="Arial" charset="0"/>
                  </a:rPr>
                  <a:t>U(x</a:t>
                </a:r>
                <a:r>
                  <a:rPr lang="pl-PL" sz="2400" b="1" i="1" dirty="0">
                    <a:solidFill>
                      <a:schemeClr val="accent5">
                        <a:lumMod val="50000"/>
                      </a:schemeClr>
                    </a:solidFill>
                    <a:cs typeface="Arial" charset="0"/>
                  </a:rPr>
                  <a:t>1</a:t>
                </a:r>
                <a:r>
                  <a:rPr lang="en-US" sz="2400" b="1" i="1" dirty="0">
                    <a:solidFill>
                      <a:schemeClr val="accent5">
                        <a:lumMod val="50000"/>
                      </a:schemeClr>
                    </a:solidFill>
                    <a:cs typeface="Arial" charset="0"/>
                  </a:rPr>
                  <a:t>,</a:t>
                </a:r>
                <a:r>
                  <a:rPr lang="pl-PL" sz="2400" b="1" i="1" dirty="0">
                    <a:solidFill>
                      <a:schemeClr val="accent5">
                        <a:lumMod val="50000"/>
                      </a:schemeClr>
                    </a:solidFill>
                    <a:cs typeface="Arial" charset="0"/>
                  </a:rPr>
                  <a:t>x2</a:t>
                </a:r>
                <a:r>
                  <a:rPr lang="en-US" sz="2400" b="1" i="1" dirty="0">
                    <a:solidFill>
                      <a:schemeClr val="accent5">
                        <a:lumMod val="50000"/>
                      </a:schemeClr>
                    </a:solidFill>
                    <a:cs typeface="Arial" charset="0"/>
                  </a:rPr>
                  <a:t>) = x</a:t>
                </a:r>
                <a:r>
                  <a:rPr lang="pl-PL" sz="2400" b="1" i="1" dirty="0">
                    <a:solidFill>
                      <a:schemeClr val="accent5">
                        <a:lumMod val="50000"/>
                      </a:schemeClr>
                    </a:solidFill>
                    <a:cs typeface="Arial" charset="0"/>
                  </a:rPr>
                  <a:t>1</a:t>
                </a:r>
                <a:r>
                  <a:rPr lang="pl-PL" sz="2400" b="1" i="1" baseline="30000" dirty="0">
                    <a:solidFill>
                      <a:schemeClr val="accent5">
                        <a:lumMod val="50000"/>
                      </a:schemeClr>
                    </a:solidFill>
                    <a:cs typeface="Arial" charset="0"/>
                    <a:sym typeface="Symbol" pitchFamily="18" charset="2"/>
                  </a:rPr>
                  <a:t>a</a:t>
                </a:r>
                <a:r>
                  <a:rPr lang="pl-PL" sz="2400" b="1" i="1" dirty="0">
                    <a:solidFill>
                      <a:schemeClr val="accent5">
                        <a:lumMod val="50000"/>
                      </a:schemeClr>
                    </a:solidFill>
                    <a:cs typeface="Arial" charset="0"/>
                    <a:sym typeface="Symbol" pitchFamily="18" charset="2"/>
                  </a:rPr>
                  <a:t>x2</a:t>
                </a:r>
                <a:r>
                  <a:rPr lang="pl-PL" sz="2400" b="1" i="1" baseline="30000" dirty="0">
                    <a:solidFill>
                      <a:schemeClr val="accent5">
                        <a:lumMod val="50000"/>
                      </a:schemeClr>
                    </a:solidFill>
                    <a:cs typeface="Arial" charset="0"/>
                    <a:sym typeface="Symbol" pitchFamily="18" charset="2"/>
                  </a:rPr>
                  <a:t>b</a:t>
                </a:r>
              </a:p>
              <a:p>
                <a:pPr algn="l">
                  <a:defRPr/>
                </a:pPr>
                <a:endParaRPr lang="pl-PL" sz="2400" b="1" dirty="0">
                  <a:solidFill>
                    <a:schemeClr val="accent5">
                      <a:lumMod val="50000"/>
                    </a:schemeClr>
                  </a:solidFill>
                  <a:cs typeface="Arial" charset="0"/>
                </a:endParaRPr>
              </a:p>
              <a:p>
                <a:pPr>
                  <a:defRPr/>
                </a:pPr>
                <a:r>
                  <a:rPr lang="en-US" sz="2400" b="1" dirty="0" err="1">
                    <a:solidFill>
                      <a:schemeClr val="accent5">
                        <a:lumMod val="50000"/>
                      </a:schemeClr>
                    </a:solidFill>
                    <a:cs typeface="Arial" charset="0"/>
                  </a:rPr>
                  <a:t>Lagrangian</a:t>
                </a:r>
                <a:r>
                  <a:rPr lang="en-US" sz="2400" b="1" dirty="0">
                    <a:solidFill>
                      <a:schemeClr val="accent5">
                        <a:lumMod val="50000"/>
                      </a:schemeClr>
                    </a:solidFill>
                    <a:cs typeface="Arial" charset="0"/>
                  </a:rPr>
                  <a:t>:</a:t>
                </a:r>
                <a:r>
                  <a:rPr lang="pl-PL" sz="2400" b="1" dirty="0">
                    <a:solidFill>
                      <a:schemeClr val="accent5">
                        <a:lumMod val="50000"/>
                      </a:schemeClr>
                    </a:solidFill>
                    <a:cs typeface="Arial" charset="0"/>
                  </a:rPr>
                  <a:t>   </a:t>
                </a:r>
              </a:p>
              <a:p>
                <a:pPr lvl="3">
                  <a:defRPr/>
                </a:pPr>
                <a14:m>
                  <m:oMathPara xmlns:m="http://schemas.openxmlformats.org/officeDocument/2006/math">
                    <m:oMathParaPr>
                      <m:jc m:val="centerGroup"/>
                    </m:oMathParaPr>
                    <m:oMath xmlns:m="http://schemas.openxmlformats.org/officeDocument/2006/math">
                      <m:r>
                        <a:rPr lang="pl-PL" sz="2400" b="1" i="0" dirty="0" smtClean="0">
                          <a:solidFill>
                            <a:schemeClr val="accent5">
                              <a:lumMod val="50000"/>
                            </a:schemeClr>
                          </a:solidFill>
                          <a:latin typeface="Cambria Math" panose="02040503050406030204" pitchFamily="18" charset="0"/>
                          <a:cs typeface="Arial" charset="0"/>
                        </a:rPr>
                        <m:t>𝐋</m:t>
                      </m:r>
                      <m:r>
                        <a:rPr lang="en-US" sz="2400" b="1" i="1" dirty="0">
                          <a:solidFill>
                            <a:schemeClr val="accent5">
                              <a:lumMod val="50000"/>
                            </a:schemeClr>
                          </a:solidFill>
                          <a:latin typeface="Cambria Math" panose="02040503050406030204" pitchFamily="18" charset="0"/>
                          <a:cs typeface="Arial" charset="0"/>
                        </a:rPr>
                        <m:t>= </m:t>
                      </m:r>
                      <m:r>
                        <a:rPr lang="en-US" sz="2400" b="1" i="1" dirty="0">
                          <a:solidFill>
                            <a:schemeClr val="accent5">
                              <a:lumMod val="50000"/>
                            </a:schemeClr>
                          </a:solidFill>
                          <a:latin typeface="Cambria Math" panose="02040503050406030204" pitchFamily="18" charset="0"/>
                          <a:cs typeface="Arial" charset="0"/>
                        </a:rPr>
                        <m:t>𝒙</m:t>
                      </m:r>
                      <m:r>
                        <a:rPr lang="pl-PL" sz="2400" b="1" i="1" dirty="0">
                          <a:solidFill>
                            <a:schemeClr val="accent5">
                              <a:lumMod val="50000"/>
                            </a:schemeClr>
                          </a:solidFill>
                          <a:latin typeface="Cambria Math" panose="02040503050406030204" pitchFamily="18" charset="0"/>
                          <a:cs typeface="Arial" charset="0"/>
                        </a:rPr>
                        <m:t>𝟏</m:t>
                      </m:r>
                      <m:r>
                        <a:rPr lang="pl-PL" sz="2400" b="1" i="1" baseline="30000" dirty="0">
                          <a:solidFill>
                            <a:schemeClr val="accent5">
                              <a:lumMod val="50000"/>
                            </a:schemeClr>
                          </a:solidFill>
                          <a:latin typeface="Cambria Math" panose="02040503050406030204" pitchFamily="18" charset="0"/>
                          <a:cs typeface="Arial" charset="0"/>
                          <a:sym typeface="Symbol" pitchFamily="18" charset="2"/>
                        </a:rPr>
                        <m:t>𝒂</m:t>
                      </m:r>
                      <m:r>
                        <a:rPr lang="pl-PL" sz="2400" b="1" i="1" dirty="0">
                          <a:solidFill>
                            <a:schemeClr val="accent5">
                              <a:lumMod val="50000"/>
                            </a:schemeClr>
                          </a:solidFill>
                          <a:latin typeface="Cambria Math" panose="02040503050406030204" pitchFamily="18" charset="0"/>
                          <a:cs typeface="Arial" charset="0"/>
                          <a:sym typeface="Symbol" pitchFamily="18" charset="2"/>
                        </a:rPr>
                        <m:t>𝒙</m:t>
                      </m:r>
                      <m:r>
                        <a:rPr lang="pl-PL" sz="2400" b="1" i="1" dirty="0">
                          <a:solidFill>
                            <a:schemeClr val="accent5">
                              <a:lumMod val="50000"/>
                            </a:schemeClr>
                          </a:solidFill>
                          <a:latin typeface="Cambria Math" panose="02040503050406030204" pitchFamily="18" charset="0"/>
                          <a:cs typeface="Arial" charset="0"/>
                          <a:sym typeface="Symbol" pitchFamily="18" charset="2"/>
                        </a:rPr>
                        <m:t>𝟐</m:t>
                      </m:r>
                      <m:r>
                        <a:rPr lang="pl-PL" sz="2400" b="1" i="1" baseline="30000" dirty="0">
                          <a:solidFill>
                            <a:schemeClr val="accent5">
                              <a:lumMod val="50000"/>
                            </a:schemeClr>
                          </a:solidFill>
                          <a:latin typeface="Cambria Math" panose="02040503050406030204" pitchFamily="18" charset="0"/>
                          <a:cs typeface="Arial" charset="0"/>
                          <a:sym typeface="Symbol" pitchFamily="18" charset="2"/>
                        </a:rPr>
                        <m:t>𝒃</m:t>
                      </m:r>
                      <m:r>
                        <a:rPr lang="en-US" sz="2400" b="1" i="1" dirty="0">
                          <a:solidFill>
                            <a:schemeClr val="accent5">
                              <a:lumMod val="50000"/>
                            </a:schemeClr>
                          </a:solidFill>
                          <a:latin typeface="Cambria Math" panose="02040503050406030204" pitchFamily="18" charset="0"/>
                          <a:cs typeface="Arial" charset="0"/>
                          <a:sym typeface="Symbol" pitchFamily="18" charset="2"/>
                        </a:rPr>
                        <m:t> + (</m:t>
                      </m:r>
                      <m:r>
                        <a:rPr lang="en-US" sz="2400" b="1" i="1" dirty="0">
                          <a:solidFill>
                            <a:schemeClr val="accent5">
                              <a:lumMod val="50000"/>
                            </a:schemeClr>
                          </a:solidFill>
                          <a:latin typeface="Cambria Math" panose="02040503050406030204" pitchFamily="18" charset="0"/>
                          <a:cs typeface="Arial" charset="0"/>
                          <a:sym typeface="Symbol" pitchFamily="18" charset="2"/>
                        </a:rPr>
                        <m:t>𝒑</m:t>
                      </m:r>
                      <m:r>
                        <a:rPr lang="pl-PL" sz="2400" b="1" i="1" dirty="0">
                          <a:solidFill>
                            <a:schemeClr val="accent5">
                              <a:lumMod val="50000"/>
                            </a:schemeClr>
                          </a:solidFill>
                          <a:latin typeface="Cambria Math" panose="02040503050406030204" pitchFamily="18" charset="0"/>
                          <a:cs typeface="Arial" charset="0"/>
                          <a:sym typeface="Symbol" pitchFamily="18" charset="2"/>
                        </a:rPr>
                        <m:t>𝟏</m:t>
                      </m:r>
                      <m:r>
                        <a:rPr lang="en-US" sz="2400" b="1" i="1" dirty="0">
                          <a:solidFill>
                            <a:schemeClr val="accent5">
                              <a:lumMod val="50000"/>
                            </a:schemeClr>
                          </a:solidFill>
                          <a:latin typeface="Cambria Math" panose="02040503050406030204" pitchFamily="18" charset="0"/>
                          <a:cs typeface="Arial" charset="0"/>
                          <a:sym typeface="Symbol" pitchFamily="18" charset="2"/>
                        </a:rPr>
                        <m:t>𝒙</m:t>
                      </m:r>
                      <m:r>
                        <a:rPr lang="pl-PL" sz="2400" b="1" i="1" dirty="0">
                          <a:solidFill>
                            <a:schemeClr val="accent5">
                              <a:lumMod val="50000"/>
                            </a:schemeClr>
                          </a:solidFill>
                          <a:latin typeface="Cambria Math" panose="02040503050406030204" pitchFamily="18" charset="0"/>
                          <a:cs typeface="Arial" charset="0"/>
                          <a:sym typeface="Symbol" pitchFamily="18" charset="2"/>
                        </a:rPr>
                        <m:t>𝟏</m:t>
                      </m:r>
                      <m:r>
                        <a:rPr lang="en-US" sz="2400" b="1" i="1" dirty="0">
                          <a:solidFill>
                            <a:schemeClr val="accent5">
                              <a:lumMod val="50000"/>
                            </a:schemeClr>
                          </a:solidFill>
                          <a:latin typeface="Cambria Math" panose="02040503050406030204" pitchFamily="18" charset="0"/>
                          <a:cs typeface="Arial" charset="0"/>
                          <a:sym typeface="Symbol" pitchFamily="18" charset="2"/>
                        </a:rPr>
                        <m:t> </m:t>
                      </m:r>
                      <m:r>
                        <a:rPr lang="pl-PL" sz="2400" b="1" i="1" dirty="0">
                          <a:solidFill>
                            <a:schemeClr val="accent5">
                              <a:lumMod val="50000"/>
                            </a:schemeClr>
                          </a:solidFill>
                          <a:latin typeface="Cambria Math" panose="02040503050406030204" pitchFamily="18" charset="0"/>
                          <a:cs typeface="Arial" charset="0"/>
                          <a:sym typeface="Symbol" pitchFamily="18" charset="2"/>
                        </a:rPr>
                        <m:t>+</m:t>
                      </m:r>
                      <m:r>
                        <a:rPr lang="en-US" sz="2400" b="1" i="1" dirty="0">
                          <a:solidFill>
                            <a:schemeClr val="accent5">
                              <a:lumMod val="50000"/>
                            </a:schemeClr>
                          </a:solidFill>
                          <a:latin typeface="Cambria Math" panose="02040503050406030204" pitchFamily="18" charset="0"/>
                          <a:cs typeface="Arial" charset="0"/>
                          <a:sym typeface="Symbol" pitchFamily="18" charset="2"/>
                        </a:rPr>
                        <m:t> </m:t>
                      </m:r>
                      <m:r>
                        <a:rPr lang="en-US" sz="2400" b="1" i="1" dirty="0">
                          <a:solidFill>
                            <a:schemeClr val="accent5">
                              <a:lumMod val="50000"/>
                            </a:schemeClr>
                          </a:solidFill>
                          <a:latin typeface="Cambria Math" panose="02040503050406030204" pitchFamily="18" charset="0"/>
                          <a:cs typeface="Arial" charset="0"/>
                          <a:sym typeface="Symbol" pitchFamily="18" charset="2"/>
                        </a:rPr>
                        <m:t>𝒑</m:t>
                      </m:r>
                      <m:r>
                        <a:rPr lang="pl-PL" sz="2400" b="1" i="1" dirty="0">
                          <a:solidFill>
                            <a:schemeClr val="accent5">
                              <a:lumMod val="50000"/>
                            </a:schemeClr>
                          </a:solidFill>
                          <a:latin typeface="Cambria Math" panose="02040503050406030204" pitchFamily="18" charset="0"/>
                          <a:cs typeface="Arial" charset="0"/>
                          <a:sym typeface="Symbol" pitchFamily="18" charset="2"/>
                        </a:rPr>
                        <m:t>𝟐</m:t>
                      </m:r>
                      <m:r>
                        <a:rPr lang="pl-PL" sz="2400" b="1" i="1" dirty="0">
                          <a:solidFill>
                            <a:schemeClr val="accent5">
                              <a:lumMod val="50000"/>
                            </a:schemeClr>
                          </a:solidFill>
                          <a:latin typeface="Cambria Math" panose="02040503050406030204" pitchFamily="18" charset="0"/>
                          <a:cs typeface="Arial" charset="0"/>
                          <a:sym typeface="Symbol" pitchFamily="18" charset="2"/>
                        </a:rPr>
                        <m:t>𝒙</m:t>
                      </m:r>
                      <m:r>
                        <a:rPr lang="pl-PL" sz="2400" b="1" i="1" dirty="0">
                          <a:solidFill>
                            <a:schemeClr val="accent5">
                              <a:lumMod val="50000"/>
                            </a:schemeClr>
                          </a:solidFill>
                          <a:latin typeface="Cambria Math" panose="02040503050406030204" pitchFamily="18" charset="0"/>
                          <a:cs typeface="Arial" charset="0"/>
                          <a:sym typeface="Symbol" pitchFamily="18" charset="2"/>
                        </a:rPr>
                        <m:t>𝟐</m:t>
                      </m:r>
                      <m:r>
                        <a:rPr lang="pl-PL" sz="2400" b="1" i="1" dirty="0">
                          <a:solidFill>
                            <a:schemeClr val="accent5">
                              <a:lumMod val="50000"/>
                            </a:schemeClr>
                          </a:solidFill>
                          <a:latin typeface="Cambria Math" panose="02040503050406030204" pitchFamily="18" charset="0"/>
                          <a:cs typeface="Arial" charset="0"/>
                          <a:sym typeface="Symbol" pitchFamily="18" charset="2"/>
                        </a:rPr>
                        <m:t> – </m:t>
                      </m:r>
                      <m:r>
                        <a:rPr lang="pl-PL" sz="2400" b="1" i="1" dirty="0">
                          <a:solidFill>
                            <a:schemeClr val="accent5">
                              <a:lumMod val="50000"/>
                            </a:schemeClr>
                          </a:solidFill>
                          <a:latin typeface="Cambria Math" panose="02040503050406030204" pitchFamily="18" charset="0"/>
                          <a:cs typeface="Arial" charset="0"/>
                          <a:sym typeface="Symbol" pitchFamily="18" charset="2"/>
                        </a:rPr>
                        <m:t>𝑴</m:t>
                      </m:r>
                      <m:r>
                        <a:rPr lang="en-US" sz="2400" b="1" i="1" dirty="0">
                          <a:solidFill>
                            <a:schemeClr val="accent5">
                              <a:lumMod val="50000"/>
                            </a:schemeClr>
                          </a:solidFill>
                          <a:latin typeface="Cambria Math" panose="02040503050406030204" pitchFamily="18" charset="0"/>
                          <a:cs typeface="Arial" charset="0"/>
                          <a:sym typeface="Symbol" pitchFamily="18" charset="2"/>
                        </a:rPr>
                        <m:t> )</m:t>
                      </m:r>
                    </m:oMath>
                  </m:oMathPara>
                </a14:m>
                <a:endParaRPr lang="pl-PL" sz="2400" b="1" i="1" dirty="0">
                  <a:solidFill>
                    <a:schemeClr val="accent5">
                      <a:lumMod val="50000"/>
                    </a:schemeClr>
                  </a:solidFill>
                  <a:cs typeface="Arial" charset="0"/>
                  <a:sym typeface="Symbol" pitchFamily="18" charset="2"/>
                </a:endParaRPr>
              </a:p>
              <a:p>
                <a:pPr lvl="5">
                  <a:defRPr/>
                </a:pPr>
                <a:endParaRPr lang="pl-PL" sz="2400" b="1" dirty="0">
                  <a:solidFill>
                    <a:schemeClr val="accent5">
                      <a:lumMod val="50000"/>
                    </a:schemeClr>
                  </a:solidFill>
                  <a:cs typeface="Arial" charset="0"/>
                  <a:sym typeface="Symbol" pitchFamily="18" charset="2"/>
                </a:endParaRPr>
              </a:p>
              <a:p>
                <a:pPr algn="l">
                  <a:defRPr/>
                </a:pPr>
                <a:r>
                  <a:rPr lang="pl-PL" sz="2400" b="1" dirty="0">
                    <a:solidFill>
                      <a:schemeClr val="accent5">
                        <a:lumMod val="50000"/>
                      </a:schemeClr>
                    </a:solidFill>
                    <a:cs typeface="Arial" charset="0"/>
                    <a:sym typeface="Symbol" pitchFamily="18" charset="2"/>
                  </a:rPr>
                  <a:t>(F.O.C)</a:t>
                </a:r>
              </a:p>
              <a:p>
                <a:pPr algn="l">
                  <a:lnSpc>
                    <a:spcPct val="110000"/>
                  </a:lnSpc>
                  <a:defRPr/>
                </a:pPr>
                <a:r>
                  <a:rPr lang="en-US" sz="2400" b="1" i="1" dirty="0">
                    <a:solidFill>
                      <a:schemeClr val="accent5">
                        <a:lumMod val="50000"/>
                      </a:schemeClr>
                    </a:solidFill>
                    <a:sym typeface="Symbol" pitchFamily="18" charset="2"/>
                  </a:rPr>
                  <a:t>L/x</a:t>
                </a:r>
                <a:r>
                  <a:rPr lang="pl-PL" sz="2400" b="1" i="1" dirty="0">
                    <a:solidFill>
                      <a:schemeClr val="accent5">
                        <a:lumMod val="50000"/>
                      </a:schemeClr>
                    </a:solidFill>
                    <a:sym typeface="Symbol" pitchFamily="18" charset="2"/>
                  </a:rPr>
                  <a:t>1</a:t>
                </a:r>
                <a:r>
                  <a:rPr lang="en-US" sz="2400" b="1" i="1" dirty="0">
                    <a:solidFill>
                      <a:schemeClr val="accent5">
                        <a:lumMod val="50000"/>
                      </a:schemeClr>
                    </a:solidFill>
                    <a:sym typeface="Symbol" pitchFamily="18" charset="2"/>
                  </a:rPr>
                  <a:t> = </a:t>
                </a:r>
                <a:r>
                  <a:rPr lang="pl-PL" sz="2400" b="1" i="1" dirty="0">
                    <a:solidFill>
                      <a:schemeClr val="accent5">
                        <a:lumMod val="50000"/>
                      </a:schemeClr>
                    </a:solidFill>
                    <a:sym typeface="Symbol" pitchFamily="18" charset="2"/>
                  </a:rPr>
                  <a:t>ax1</a:t>
                </a:r>
                <a:r>
                  <a:rPr lang="pl-PL" sz="2400" b="1" i="1" baseline="30000" dirty="0">
                    <a:solidFill>
                      <a:schemeClr val="accent5">
                        <a:lumMod val="50000"/>
                      </a:schemeClr>
                    </a:solidFill>
                    <a:sym typeface="Symbol" pitchFamily="18" charset="2"/>
                  </a:rPr>
                  <a:t>a</a:t>
                </a:r>
                <a:r>
                  <a:rPr lang="en-US" sz="2400" b="1" i="1" baseline="30000" dirty="0">
                    <a:solidFill>
                      <a:schemeClr val="accent5">
                        <a:lumMod val="50000"/>
                      </a:schemeClr>
                    </a:solidFill>
                    <a:sym typeface="Symbol" pitchFamily="18" charset="2"/>
                  </a:rPr>
                  <a:t>-1</a:t>
                </a:r>
                <a:r>
                  <a:rPr lang="pl-PL" sz="2400" b="1" i="1" dirty="0">
                    <a:solidFill>
                      <a:schemeClr val="accent5">
                        <a:lumMod val="50000"/>
                      </a:schemeClr>
                    </a:solidFill>
                    <a:sym typeface="Symbol" pitchFamily="18" charset="2"/>
                  </a:rPr>
                  <a:t>x2</a:t>
                </a:r>
                <a:r>
                  <a:rPr lang="pl-PL" sz="2400" b="1" i="1" baseline="30000" dirty="0">
                    <a:solidFill>
                      <a:schemeClr val="accent5">
                        <a:lumMod val="50000"/>
                      </a:schemeClr>
                    </a:solidFill>
                    <a:sym typeface="Symbol" pitchFamily="18" charset="2"/>
                  </a:rPr>
                  <a:t>b</a:t>
                </a:r>
                <a:r>
                  <a:rPr lang="en-US" sz="2400" b="1" i="1" dirty="0">
                    <a:solidFill>
                      <a:schemeClr val="accent5">
                        <a:lumMod val="50000"/>
                      </a:schemeClr>
                    </a:solidFill>
                    <a:sym typeface="Symbol" pitchFamily="18" charset="2"/>
                  </a:rPr>
                  <a:t> </a:t>
                </a:r>
                <a:r>
                  <a:rPr lang="pl-PL" sz="2400" b="1" i="1" dirty="0">
                    <a:solidFill>
                      <a:schemeClr val="accent5">
                        <a:lumMod val="50000"/>
                      </a:schemeClr>
                    </a:solidFill>
                    <a:sym typeface="Symbol" pitchFamily="18" charset="2"/>
                  </a:rPr>
                  <a:t>+</a:t>
                </a:r>
                <a:r>
                  <a:rPr lang="en-US" sz="2400" b="1" i="1" dirty="0">
                    <a:solidFill>
                      <a:schemeClr val="accent5">
                        <a:lumMod val="50000"/>
                      </a:schemeClr>
                    </a:solidFill>
                    <a:sym typeface="Symbol" pitchFamily="18" charset="2"/>
                  </a:rPr>
                  <a:t> p</a:t>
                </a:r>
                <a:r>
                  <a:rPr lang="pl-PL" sz="2400" b="1" i="1" dirty="0">
                    <a:solidFill>
                      <a:schemeClr val="accent5">
                        <a:lumMod val="50000"/>
                      </a:schemeClr>
                    </a:solidFill>
                    <a:sym typeface="Symbol" pitchFamily="18" charset="2"/>
                  </a:rPr>
                  <a:t>1</a:t>
                </a:r>
                <a:r>
                  <a:rPr lang="en-US" sz="2400" b="1" i="1" dirty="0">
                    <a:solidFill>
                      <a:schemeClr val="accent5">
                        <a:lumMod val="50000"/>
                      </a:schemeClr>
                    </a:solidFill>
                    <a:sym typeface="Symbol" pitchFamily="18" charset="2"/>
                  </a:rPr>
                  <a:t> </a:t>
                </a:r>
                <a:r>
                  <a:rPr lang="pl-PL" sz="2400" b="1" i="1" dirty="0">
                    <a:solidFill>
                      <a:schemeClr val="accent5">
                        <a:lumMod val="50000"/>
                      </a:schemeClr>
                    </a:solidFill>
                    <a:sym typeface="Symbol" pitchFamily="18" charset="2"/>
                  </a:rPr>
                  <a:t>   </a:t>
                </a:r>
                <a:r>
                  <a:rPr lang="en-US" sz="2400" b="1" i="1" dirty="0">
                    <a:solidFill>
                      <a:schemeClr val="accent5">
                        <a:lumMod val="50000"/>
                      </a:schemeClr>
                    </a:solidFill>
                    <a:sym typeface="Symbol" pitchFamily="18" charset="2"/>
                  </a:rPr>
                  <a:t>= 0</a:t>
                </a:r>
              </a:p>
              <a:p>
                <a:pPr algn="l">
                  <a:lnSpc>
                    <a:spcPct val="110000"/>
                  </a:lnSpc>
                  <a:defRPr/>
                </a:pPr>
                <a:r>
                  <a:rPr lang="en-US" sz="2400" b="1" i="1" dirty="0">
                    <a:solidFill>
                      <a:schemeClr val="accent5">
                        <a:lumMod val="50000"/>
                      </a:schemeClr>
                    </a:solidFill>
                    <a:sym typeface="Symbol" pitchFamily="18" charset="2"/>
                  </a:rPr>
                  <a:t>L/</a:t>
                </a:r>
                <a:r>
                  <a:rPr lang="pl-PL" sz="2400" b="1" i="1" dirty="0">
                    <a:solidFill>
                      <a:schemeClr val="accent5">
                        <a:lumMod val="50000"/>
                      </a:schemeClr>
                    </a:solidFill>
                    <a:sym typeface="Symbol" pitchFamily="18" charset="2"/>
                  </a:rPr>
                  <a:t>x2</a:t>
                </a:r>
                <a:r>
                  <a:rPr lang="en-US" sz="2400" b="1" i="1" dirty="0">
                    <a:solidFill>
                      <a:schemeClr val="accent5">
                        <a:lumMod val="50000"/>
                      </a:schemeClr>
                    </a:solidFill>
                    <a:sym typeface="Symbol" pitchFamily="18" charset="2"/>
                  </a:rPr>
                  <a:t> = </a:t>
                </a:r>
                <a:r>
                  <a:rPr lang="pl-PL" sz="2400" b="1" i="1" dirty="0">
                    <a:solidFill>
                      <a:schemeClr val="accent5">
                        <a:lumMod val="50000"/>
                      </a:schemeClr>
                    </a:solidFill>
                    <a:sym typeface="Symbol" pitchFamily="18" charset="2"/>
                  </a:rPr>
                  <a:t>b</a:t>
                </a:r>
                <a:r>
                  <a:rPr lang="en-US" sz="2400" b="1" i="1" dirty="0">
                    <a:solidFill>
                      <a:schemeClr val="accent5">
                        <a:lumMod val="50000"/>
                      </a:schemeClr>
                    </a:solidFill>
                    <a:sym typeface="Symbol" pitchFamily="18" charset="2"/>
                  </a:rPr>
                  <a:t>x</a:t>
                </a:r>
                <a:r>
                  <a:rPr lang="pl-PL" sz="2400" b="1" i="1" dirty="0">
                    <a:solidFill>
                      <a:schemeClr val="accent5">
                        <a:lumMod val="50000"/>
                      </a:schemeClr>
                    </a:solidFill>
                    <a:sym typeface="Symbol" pitchFamily="18" charset="2"/>
                  </a:rPr>
                  <a:t>1</a:t>
                </a:r>
                <a:r>
                  <a:rPr lang="pl-PL" sz="2400" b="1" i="1" baseline="30000" dirty="0">
                    <a:solidFill>
                      <a:schemeClr val="accent5">
                        <a:lumMod val="50000"/>
                      </a:schemeClr>
                    </a:solidFill>
                    <a:sym typeface="Symbol" pitchFamily="18" charset="2"/>
                  </a:rPr>
                  <a:t>a</a:t>
                </a:r>
                <a:r>
                  <a:rPr lang="pl-PL" sz="2400" b="1" i="1" dirty="0">
                    <a:solidFill>
                      <a:schemeClr val="accent5">
                        <a:lumMod val="50000"/>
                      </a:schemeClr>
                    </a:solidFill>
                    <a:sym typeface="Symbol" pitchFamily="18" charset="2"/>
                  </a:rPr>
                  <a:t>x2</a:t>
                </a:r>
                <a:r>
                  <a:rPr lang="pl-PL" sz="2400" b="1" i="1" baseline="30000" dirty="0">
                    <a:solidFill>
                      <a:schemeClr val="accent5">
                        <a:lumMod val="50000"/>
                      </a:schemeClr>
                    </a:solidFill>
                    <a:sym typeface="Symbol" pitchFamily="18" charset="2"/>
                  </a:rPr>
                  <a:t>b</a:t>
                </a:r>
                <a:r>
                  <a:rPr lang="en-US" sz="2400" b="1" i="1" baseline="30000" dirty="0">
                    <a:solidFill>
                      <a:schemeClr val="accent5">
                        <a:lumMod val="50000"/>
                      </a:schemeClr>
                    </a:solidFill>
                    <a:sym typeface="Symbol" pitchFamily="18" charset="2"/>
                  </a:rPr>
                  <a:t>-1</a:t>
                </a:r>
                <a:r>
                  <a:rPr lang="en-US" sz="2400" b="1" i="1" dirty="0">
                    <a:solidFill>
                      <a:schemeClr val="accent5">
                        <a:lumMod val="50000"/>
                      </a:schemeClr>
                    </a:solidFill>
                    <a:sym typeface="Symbol" pitchFamily="18" charset="2"/>
                  </a:rPr>
                  <a:t> </a:t>
                </a:r>
                <a:r>
                  <a:rPr lang="pl-PL" sz="2400" b="1" i="1" dirty="0">
                    <a:solidFill>
                      <a:schemeClr val="accent5">
                        <a:lumMod val="50000"/>
                      </a:schemeClr>
                    </a:solidFill>
                    <a:sym typeface="Symbol" pitchFamily="18" charset="2"/>
                  </a:rPr>
                  <a:t>+</a:t>
                </a:r>
                <a:r>
                  <a:rPr lang="en-US" sz="2400" b="1" i="1" dirty="0">
                    <a:solidFill>
                      <a:schemeClr val="accent5">
                        <a:lumMod val="50000"/>
                      </a:schemeClr>
                    </a:solidFill>
                    <a:sym typeface="Symbol" pitchFamily="18" charset="2"/>
                  </a:rPr>
                  <a:t> p</a:t>
                </a:r>
                <a:r>
                  <a:rPr lang="pl-PL" sz="2400" b="1" i="1" dirty="0">
                    <a:solidFill>
                      <a:schemeClr val="accent5">
                        <a:lumMod val="50000"/>
                      </a:schemeClr>
                    </a:solidFill>
                    <a:sym typeface="Symbol" pitchFamily="18" charset="2"/>
                  </a:rPr>
                  <a:t>2    </a:t>
                </a:r>
                <a:r>
                  <a:rPr lang="en-US" sz="2400" b="1" i="1" dirty="0">
                    <a:solidFill>
                      <a:schemeClr val="accent5">
                        <a:lumMod val="50000"/>
                      </a:schemeClr>
                    </a:solidFill>
                    <a:sym typeface="Symbol" pitchFamily="18" charset="2"/>
                  </a:rPr>
                  <a:t>= 0</a:t>
                </a:r>
              </a:p>
              <a:p>
                <a:pPr algn="l">
                  <a:lnSpc>
                    <a:spcPct val="110000"/>
                  </a:lnSpc>
                  <a:defRPr/>
                </a:pPr>
                <a:r>
                  <a:rPr lang="en-US" sz="2400" b="1" i="1" dirty="0">
                    <a:solidFill>
                      <a:schemeClr val="accent5">
                        <a:lumMod val="50000"/>
                      </a:schemeClr>
                    </a:solidFill>
                    <a:sym typeface="Symbol" pitchFamily="18" charset="2"/>
                  </a:rPr>
                  <a:t>L/ </a:t>
                </a:r>
                <a:r>
                  <a:rPr lang="pl-PL" sz="2400" b="1" i="1" dirty="0">
                    <a:solidFill>
                      <a:schemeClr val="accent5">
                        <a:lumMod val="50000"/>
                      </a:schemeClr>
                    </a:solidFill>
                    <a:sym typeface="Symbol" pitchFamily="18" charset="2"/>
                  </a:rPr>
                  <a:t>  </a:t>
                </a:r>
                <a:r>
                  <a:rPr lang="en-US" sz="2400" b="1" i="1" dirty="0">
                    <a:solidFill>
                      <a:schemeClr val="accent5">
                        <a:lumMod val="50000"/>
                      </a:schemeClr>
                    </a:solidFill>
                    <a:sym typeface="Symbol" pitchFamily="18" charset="2"/>
                  </a:rPr>
                  <a:t>= </a:t>
                </a:r>
                <a:r>
                  <a:rPr lang="en-US" sz="2400" b="1" i="1" dirty="0">
                    <a:solidFill>
                      <a:schemeClr val="accent5">
                        <a:lumMod val="50000"/>
                      </a:schemeClr>
                    </a:solidFill>
                  </a:rPr>
                  <a:t>p</a:t>
                </a:r>
                <a:r>
                  <a:rPr lang="pl-PL" sz="2400" b="1" i="1" dirty="0">
                    <a:solidFill>
                      <a:schemeClr val="accent5">
                        <a:lumMod val="50000"/>
                      </a:schemeClr>
                    </a:solidFill>
                  </a:rPr>
                  <a:t>1</a:t>
                </a:r>
                <a:r>
                  <a:rPr lang="en-US" sz="2400" b="1" i="1" dirty="0">
                    <a:solidFill>
                      <a:schemeClr val="accent5">
                        <a:lumMod val="50000"/>
                      </a:schemeClr>
                    </a:solidFill>
                  </a:rPr>
                  <a:t>x</a:t>
                </a:r>
                <a:r>
                  <a:rPr lang="pl-PL" sz="2400" b="1" i="1" dirty="0">
                    <a:solidFill>
                      <a:schemeClr val="accent5">
                        <a:lumMod val="50000"/>
                      </a:schemeClr>
                    </a:solidFill>
                  </a:rPr>
                  <a:t>1</a:t>
                </a:r>
                <a:r>
                  <a:rPr lang="en-US" sz="2400" b="1" i="1" baseline="-25000" dirty="0">
                    <a:solidFill>
                      <a:schemeClr val="accent5">
                        <a:lumMod val="50000"/>
                      </a:schemeClr>
                    </a:solidFill>
                  </a:rPr>
                  <a:t> </a:t>
                </a:r>
                <a:r>
                  <a:rPr lang="pl-PL" sz="2400" b="1" i="1" dirty="0">
                    <a:solidFill>
                      <a:schemeClr val="accent5">
                        <a:lumMod val="50000"/>
                      </a:schemeClr>
                    </a:solidFill>
                  </a:rPr>
                  <a:t>+</a:t>
                </a:r>
                <a:r>
                  <a:rPr lang="en-US" sz="2400" b="1" i="1" dirty="0">
                    <a:solidFill>
                      <a:schemeClr val="accent5">
                        <a:lumMod val="50000"/>
                      </a:schemeClr>
                    </a:solidFill>
                  </a:rPr>
                  <a:t> p</a:t>
                </a:r>
                <a:r>
                  <a:rPr lang="pl-PL" sz="2400" b="1" i="1" dirty="0">
                    <a:solidFill>
                      <a:schemeClr val="accent5">
                        <a:lumMod val="50000"/>
                      </a:schemeClr>
                    </a:solidFill>
                  </a:rPr>
                  <a:t>2x2</a:t>
                </a:r>
                <a:r>
                  <a:rPr lang="en-US" sz="2400" b="1" i="1" baseline="-25000" dirty="0">
                    <a:solidFill>
                      <a:schemeClr val="accent5">
                        <a:lumMod val="50000"/>
                      </a:schemeClr>
                    </a:solidFill>
                  </a:rPr>
                  <a:t> </a:t>
                </a:r>
                <a:r>
                  <a:rPr lang="pl-PL" sz="2400" b="1" i="1" dirty="0">
                    <a:solidFill>
                      <a:schemeClr val="accent5">
                        <a:lumMod val="50000"/>
                      </a:schemeClr>
                    </a:solidFill>
                  </a:rPr>
                  <a:t>- M</a:t>
                </a:r>
                <a:r>
                  <a:rPr lang="pl-PL" sz="2400" b="1" i="1" baseline="-25000" dirty="0">
                    <a:solidFill>
                      <a:schemeClr val="accent5">
                        <a:lumMod val="50000"/>
                      </a:schemeClr>
                    </a:solidFill>
                  </a:rPr>
                  <a:t>     </a:t>
                </a:r>
                <a:r>
                  <a:rPr lang="en-US" sz="2400" b="1" i="1" dirty="0">
                    <a:solidFill>
                      <a:schemeClr val="accent5">
                        <a:lumMod val="50000"/>
                      </a:schemeClr>
                    </a:solidFill>
                    <a:sym typeface="Symbol" pitchFamily="18" charset="2"/>
                  </a:rPr>
                  <a:t>= 0</a:t>
                </a:r>
                <a:endParaRPr lang="pl-PL" sz="2400" b="1" i="1" dirty="0">
                  <a:solidFill>
                    <a:schemeClr val="accent5">
                      <a:lumMod val="50000"/>
                    </a:schemeClr>
                  </a:solidFill>
                  <a:sym typeface="Symbol" pitchFamily="18" charset="2"/>
                </a:endParaRPr>
              </a:p>
              <a:p>
                <a:pPr algn="l">
                  <a:lnSpc>
                    <a:spcPct val="110000"/>
                  </a:lnSpc>
                  <a:defRPr/>
                </a:pPr>
                <a:endParaRPr lang="pl-PL" sz="2400" b="1" dirty="0">
                  <a:solidFill>
                    <a:schemeClr val="accent5">
                      <a:lumMod val="50000"/>
                    </a:schemeClr>
                  </a:solidFill>
                  <a:sym typeface="Symbol" pitchFamily="18" charset="2"/>
                </a:endParaRPr>
              </a:p>
              <a:p>
                <a:pPr algn="l">
                  <a:lnSpc>
                    <a:spcPct val="110000"/>
                  </a:lnSpc>
                  <a:defRPr/>
                </a:pPr>
                <a:r>
                  <a:rPr lang="pl-PL" sz="2400" b="1" dirty="0">
                    <a:solidFill>
                      <a:schemeClr val="accent5">
                        <a:lumMod val="50000"/>
                      </a:schemeClr>
                    </a:solidFill>
                    <a:sym typeface="Symbol" pitchFamily="18" charset="2"/>
                  </a:rPr>
                  <a:t>S.O.C</a:t>
                </a:r>
              </a:p>
              <a:p>
                <a:pPr algn="l">
                  <a:lnSpc>
                    <a:spcPct val="110000"/>
                  </a:lnSpc>
                  <a:defRPr/>
                </a:pPr>
                <a:r>
                  <a:rPr lang="en-US" sz="24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Hessian of the </a:t>
                </a:r>
                <a:r>
                  <a:rPr lang="en-US" sz="2400" kern="0" dirty="0" err="1">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Lagrangian</a:t>
                </a:r>
                <a:r>
                  <a:rPr lang="en-US" sz="2400"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must be negative semidefinite</a:t>
                </a:r>
                <a:endParaRPr lang="pl-PL" sz="2400" b="1" dirty="0">
                  <a:solidFill>
                    <a:schemeClr val="accent5">
                      <a:lumMod val="50000"/>
                    </a:schemeClr>
                  </a:solidFill>
                  <a:sym typeface="Symbol" pitchFamily="18" charset="2"/>
                </a:endParaRPr>
              </a:p>
            </p:txBody>
          </p:sp>
        </mc:Choice>
        <mc:Fallback xmlns="">
          <p:sp>
            <p:nvSpPr>
              <p:cNvPr id="5" name="pole tekstowe 4">
                <a:extLst>
                  <a:ext uri="{FF2B5EF4-FFF2-40B4-BE49-F238E27FC236}">
                    <a16:creationId xmlns:a16="http://schemas.microsoft.com/office/drawing/2014/main" id="{71390E34-1BE2-6063-04D1-C3A4C62CB8F3}"/>
                  </a:ext>
                </a:extLst>
              </p:cNvPr>
              <p:cNvSpPr txBox="1">
                <a:spLocks noRot="1" noChangeAspect="1" noMove="1" noResize="1" noEditPoints="1" noAdjustHandles="1" noChangeArrowheads="1" noChangeShapeType="1" noTextEdit="1"/>
              </p:cNvSpPr>
              <p:nvPr/>
            </p:nvSpPr>
            <p:spPr>
              <a:xfrm>
                <a:off x="138431" y="1173138"/>
                <a:ext cx="7024369" cy="5131854"/>
              </a:xfrm>
              <a:prstGeom prst="rect">
                <a:avLst/>
              </a:prstGeom>
              <a:blipFill>
                <a:blip r:embed="rId2"/>
                <a:stretch>
                  <a:fillRect l="-1389" t="-950" b="-1781"/>
                </a:stretch>
              </a:blipFill>
            </p:spPr>
            <p:txBody>
              <a:bodyPr/>
              <a:lstStyle/>
              <a:p>
                <a:r>
                  <a:rPr lang="pl-PL">
                    <a:noFill/>
                  </a:rPr>
                  <a:t> </a:t>
                </a:r>
              </a:p>
            </p:txBody>
          </p:sp>
        </mc:Fallback>
      </mc:AlternateContent>
      <p:cxnSp>
        <p:nvCxnSpPr>
          <p:cNvPr id="10" name="Łącznik prosty ze strzałką 9">
            <a:extLst>
              <a:ext uri="{FF2B5EF4-FFF2-40B4-BE49-F238E27FC236}">
                <a16:creationId xmlns:a16="http://schemas.microsoft.com/office/drawing/2014/main" id="{12F864AD-6676-A440-B14F-1FC6B0F55D38}"/>
              </a:ext>
            </a:extLst>
          </p:cNvPr>
          <p:cNvCxnSpPr>
            <a:cxnSpLocks/>
          </p:cNvCxnSpPr>
          <p:nvPr/>
        </p:nvCxnSpPr>
        <p:spPr>
          <a:xfrm flipV="1">
            <a:off x="2632075" y="1799015"/>
            <a:ext cx="3667125" cy="5611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Łącznik prosty ze strzałką 11">
            <a:extLst>
              <a:ext uri="{FF2B5EF4-FFF2-40B4-BE49-F238E27FC236}">
                <a16:creationId xmlns:a16="http://schemas.microsoft.com/office/drawing/2014/main" id="{10557407-08D1-E488-2F43-34A16D288270}"/>
              </a:ext>
            </a:extLst>
          </p:cNvPr>
          <p:cNvCxnSpPr>
            <a:cxnSpLocks/>
            <a:endCxn id="24" idx="0"/>
          </p:cNvCxnSpPr>
          <p:nvPr/>
        </p:nvCxnSpPr>
        <p:spPr>
          <a:xfrm>
            <a:off x="5253386" y="2749967"/>
            <a:ext cx="2204054" cy="11477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pole tekstowe 22">
            <a:extLst>
              <a:ext uri="{FF2B5EF4-FFF2-40B4-BE49-F238E27FC236}">
                <a16:creationId xmlns:a16="http://schemas.microsoft.com/office/drawing/2014/main" id="{ADC9548A-0DD7-AAE9-4AFB-8767D90B6402}"/>
              </a:ext>
            </a:extLst>
          </p:cNvPr>
          <p:cNvSpPr txBox="1"/>
          <p:nvPr/>
        </p:nvSpPr>
        <p:spPr>
          <a:xfrm>
            <a:off x="5294835" y="1301410"/>
            <a:ext cx="4010025" cy="369332"/>
          </a:xfrm>
          <a:prstGeom prst="rect">
            <a:avLst/>
          </a:prstGeom>
          <a:noFill/>
        </p:spPr>
        <p:txBody>
          <a:bodyPr>
            <a:spAutoFit/>
          </a:bodyPr>
          <a:lstStyle/>
          <a:p>
            <a:pPr algn="l">
              <a:defRPr/>
            </a:pPr>
            <a:r>
              <a:rPr lang="pl-PL" sz="1800" b="1" dirty="0" err="1">
                <a:solidFill>
                  <a:schemeClr val="accent5">
                    <a:lumMod val="50000"/>
                  </a:schemeClr>
                </a:solidFill>
                <a:latin typeface="Arial" pitchFamily="34" charset="0"/>
                <a:cs typeface="Arial" pitchFamily="34" charset="0"/>
                <a:sym typeface="Mathematica3"/>
              </a:rPr>
              <a:t>Objective</a:t>
            </a:r>
            <a:r>
              <a:rPr lang="pl-PL" sz="1800" b="1" dirty="0">
                <a:solidFill>
                  <a:schemeClr val="accent5">
                    <a:lumMod val="50000"/>
                  </a:schemeClr>
                </a:solidFill>
                <a:latin typeface="Arial" pitchFamily="34" charset="0"/>
                <a:cs typeface="Arial" pitchFamily="34" charset="0"/>
                <a:sym typeface="Mathematica3"/>
              </a:rPr>
              <a:t> </a:t>
            </a:r>
            <a:r>
              <a:rPr lang="pl-PL" sz="1800" b="1" dirty="0" err="1">
                <a:solidFill>
                  <a:schemeClr val="accent5">
                    <a:lumMod val="50000"/>
                  </a:schemeClr>
                </a:solidFill>
                <a:latin typeface="Arial" pitchFamily="34" charset="0"/>
                <a:cs typeface="Arial" pitchFamily="34" charset="0"/>
                <a:sym typeface="Mathematica3"/>
              </a:rPr>
              <a:t>function</a:t>
            </a:r>
            <a:r>
              <a:rPr lang="pl-PL" sz="1800" b="1" dirty="0">
                <a:solidFill>
                  <a:schemeClr val="accent5">
                    <a:lumMod val="50000"/>
                  </a:schemeClr>
                </a:solidFill>
                <a:latin typeface="Arial" pitchFamily="34" charset="0"/>
                <a:cs typeface="Arial" pitchFamily="34" charset="0"/>
                <a:sym typeface="Mathematica3"/>
              </a:rPr>
              <a:t> (</a:t>
            </a:r>
            <a:r>
              <a:rPr lang="pl-PL" sz="1800" b="1" dirty="0" err="1">
                <a:solidFill>
                  <a:schemeClr val="accent5">
                    <a:lumMod val="50000"/>
                  </a:schemeClr>
                </a:solidFill>
                <a:latin typeface="Arial" pitchFamily="34" charset="0"/>
                <a:cs typeface="Arial" pitchFamily="34" charset="0"/>
                <a:sym typeface="Mathematica3"/>
              </a:rPr>
              <a:t>utility</a:t>
            </a:r>
            <a:r>
              <a:rPr lang="pl-PL" sz="1800" b="1" dirty="0">
                <a:solidFill>
                  <a:schemeClr val="accent5">
                    <a:lumMod val="50000"/>
                  </a:schemeClr>
                </a:solidFill>
                <a:latin typeface="Arial" pitchFamily="34" charset="0"/>
                <a:cs typeface="Arial" pitchFamily="34" charset="0"/>
                <a:sym typeface="Mathematica3"/>
              </a:rPr>
              <a:t>)</a:t>
            </a:r>
            <a:endParaRPr lang="pl-PL" sz="1800" b="1" dirty="0">
              <a:solidFill>
                <a:schemeClr val="accent5">
                  <a:lumMod val="50000"/>
                </a:schemeClr>
              </a:solidFill>
            </a:endParaRPr>
          </a:p>
        </p:txBody>
      </p:sp>
      <p:sp>
        <p:nvSpPr>
          <p:cNvPr id="24" name="pole tekstowe 23">
            <a:extLst>
              <a:ext uri="{FF2B5EF4-FFF2-40B4-BE49-F238E27FC236}">
                <a16:creationId xmlns:a16="http://schemas.microsoft.com/office/drawing/2014/main" id="{C5AEFB79-2131-4540-13D7-F33E80230B20}"/>
              </a:ext>
            </a:extLst>
          </p:cNvPr>
          <p:cNvSpPr txBox="1"/>
          <p:nvPr/>
        </p:nvSpPr>
        <p:spPr>
          <a:xfrm>
            <a:off x="5452427" y="3897674"/>
            <a:ext cx="4010025" cy="1200329"/>
          </a:xfrm>
          <a:prstGeom prst="rect">
            <a:avLst/>
          </a:prstGeom>
          <a:noFill/>
        </p:spPr>
        <p:txBody>
          <a:bodyPr>
            <a:spAutoFit/>
          </a:bodyPr>
          <a:lstStyle/>
          <a:p>
            <a:pPr algn="l">
              <a:defRPr/>
            </a:pPr>
            <a:r>
              <a:rPr lang="en-US" sz="1800" b="1" dirty="0">
                <a:solidFill>
                  <a:schemeClr val="accent5">
                    <a:lumMod val="50000"/>
                  </a:schemeClr>
                </a:solidFill>
                <a:latin typeface="Arial" pitchFamily="34" charset="0"/>
                <a:cs typeface="Arial" pitchFamily="34" charset="0"/>
                <a:sym typeface="Mathematica3"/>
              </a:rPr>
              <a:t>We add zero --&gt; the equation gives zero when our choices satisfy the budget constraint, and there are no savings. </a:t>
            </a:r>
            <a:endParaRPr lang="pl-PL" sz="1800" b="1" dirty="0">
              <a:solidFill>
                <a:schemeClr val="accent5">
                  <a:lumMod val="50000"/>
                </a:schemeClr>
              </a:solidFill>
            </a:endParaRPr>
          </a:p>
        </p:txBody>
      </p:sp>
    </p:spTree>
    <p:extLst>
      <p:ext uri="{BB962C8B-B14F-4D97-AF65-F5344CB8AC3E}">
        <p14:creationId xmlns:p14="http://schemas.microsoft.com/office/powerpoint/2010/main" val="42420208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6796D-0931-F1D9-0AA6-1AEF326FA761}"/>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CFC39B33-F2DE-81B3-D8B6-19C02224963D}"/>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sz="3600" b="1" dirty="0" err="1">
                <a:solidFill>
                  <a:schemeClr val="accent5">
                    <a:lumMod val="50000"/>
                  </a:schemeClr>
                </a:solidFill>
                <a:latin typeface="+mn-lt"/>
              </a:rPr>
              <a:t>Utility</a:t>
            </a:r>
            <a:r>
              <a:rPr lang="pl-PL" sz="3600" b="1" dirty="0">
                <a:solidFill>
                  <a:schemeClr val="accent5">
                    <a:lumMod val="50000"/>
                  </a:schemeClr>
                </a:solidFill>
                <a:latin typeface="+mn-lt"/>
              </a:rPr>
              <a:t> - the </a:t>
            </a:r>
            <a:r>
              <a:rPr lang="en-GB" altLang="pl-PL" sz="3600" b="1" dirty="0">
                <a:solidFill>
                  <a:schemeClr val="accent5">
                    <a:lumMod val="50000"/>
                  </a:schemeClr>
                </a:solidFill>
                <a:latin typeface="+mn-lt"/>
              </a:rPr>
              <a:t>equilibrium</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5C0A5935-21BA-C1C1-55B6-21C0C5C356F7}"/>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6" name="pole tekstowe 5">
                <a:extLst>
                  <a:ext uri="{FF2B5EF4-FFF2-40B4-BE49-F238E27FC236}">
                    <a16:creationId xmlns:a16="http://schemas.microsoft.com/office/drawing/2014/main" id="{05F40BD3-FA0B-96DB-04DC-9A9EF6D289E1}"/>
                  </a:ext>
                </a:extLst>
              </p:cNvPr>
              <p:cNvSpPr txBox="1"/>
              <p:nvPr/>
            </p:nvSpPr>
            <p:spPr>
              <a:xfrm>
                <a:off x="1649095" y="1670246"/>
                <a:ext cx="7374561" cy="73096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pl-PL" sz="1600" i="1" smtClean="0">
                              <a:latin typeface="Cambria Math" panose="02040503050406030204" pitchFamily="18" charset="0"/>
                            </a:rPr>
                          </m:ctrlPr>
                        </m:dPr>
                        <m:e>
                          <m:d>
                            <m:dPr>
                              <m:begChr m:val="["/>
                              <m:endChr m:val="]"/>
                              <m:ctrlPr>
                                <a:rPr lang="pl-PL" sz="1600" i="1">
                                  <a:latin typeface="Cambria Math" panose="02040503050406030204" pitchFamily="18" charset="0"/>
                                </a:rPr>
                              </m:ctrlPr>
                            </m:dPr>
                            <m:e>
                              <m:r>
                                <m:rPr>
                                  <m:sty m:val="p"/>
                                </m:rPr>
                                <a:rPr lang="pl-PL" sz="1600">
                                  <a:latin typeface="Cambria Math" panose="02040503050406030204" pitchFamily="18" charset="0"/>
                                </a:rPr>
                                <m:t>x</m:t>
                              </m:r>
                              <m:r>
                                <a:rPr lang="pl-PL" sz="1600">
                                  <a:latin typeface="Cambria Math" panose="02040503050406030204" pitchFamily="18" charset="0"/>
                                </a:rPr>
                                <m:t>1=</m:t>
                              </m:r>
                              <m:f>
                                <m:fPr>
                                  <m:ctrlPr>
                                    <a:rPr lang="pl-PL" sz="1600" i="1">
                                      <a:solidFill>
                                        <a:srgbClr val="836967"/>
                                      </a:solidFill>
                                      <a:latin typeface="Cambria Math" panose="02040503050406030204" pitchFamily="18" charset="0"/>
                                    </a:rPr>
                                  </m:ctrlPr>
                                </m:fPr>
                                <m:num>
                                  <m:r>
                                    <m:rPr>
                                      <m:sty m:val="p"/>
                                    </m:rPr>
                                    <a:rPr lang="pl-PL" sz="1600" i="0">
                                      <a:latin typeface="Cambria Math" panose="02040503050406030204" pitchFamily="18" charset="0"/>
                                    </a:rPr>
                                    <m:t>M</m:t>
                                  </m:r>
                                  <m:r>
                                    <a:rPr lang="pl-PL" sz="1600" i="0">
                                      <a:latin typeface="Cambria Math" panose="02040503050406030204" pitchFamily="18" charset="0"/>
                                    </a:rPr>
                                    <m:t>⁢</m:t>
                                  </m:r>
                                  <m:r>
                                    <m:rPr>
                                      <m:sty m:val="p"/>
                                    </m:rPr>
                                    <a:rPr lang="pl-PL" sz="1600" i="0">
                                      <a:latin typeface="Cambria Math" panose="02040503050406030204" pitchFamily="18" charset="0"/>
                                    </a:rPr>
                                    <m:t>a</m:t>
                                  </m:r>
                                </m:num>
                                <m:den>
                                  <m:d>
                                    <m:dPr>
                                      <m:ctrlPr>
                                        <a:rPr lang="pl-PL" sz="1600" i="1">
                                          <a:latin typeface="Cambria Math" panose="02040503050406030204" pitchFamily="18" charset="0"/>
                                        </a:rPr>
                                      </m:ctrlPr>
                                    </m:dPr>
                                    <m:e>
                                      <m:r>
                                        <m:rPr>
                                          <m:sty m:val="p"/>
                                        </m:rPr>
                                        <a:rPr lang="pl-PL" sz="1600" i="0">
                                          <a:latin typeface="Cambria Math" panose="02040503050406030204" pitchFamily="18" charset="0"/>
                                        </a:rPr>
                                        <m:t>b</m:t>
                                      </m:r>
                                      <m:r>
                                        <a:rPr lang="pl-PL" sz="1600" i="0">
                                          <a:latin typeface="Cambria Math" panose="02040503050406030204" pitchFamily="18" charset="0"/>
                                        </a:rPr>
                                        <m:t>+</m:t>
                                      </m:r>
                                      <m:r>
                                        <m:rPr>
                                          <m:sty m:val="p"/>
                                        </m:rPr>
                                        <a:rPr lang="pl-PL" sz="1600" i="0">
                                          <a:latin typeface="Cambria Math" panose="02040503050406030204" pitchFamily="18" charset="0"/>
                                        </a:rPr>
                                        <m:t>a</m:t>
                                      </m:r>
                                    </m:e>
                                  </m:d>
                                  <m:r>
                                    <a:rPr lang="pl-PL" sz="1600" i="0">
                                      <a:latin typeface="Cambria Math" panose="02040503050406030204" pitchFamily="18" charset="0"/>
                                    </a:rPr>
                                    <m:t>⁢</m:t>
                                  </m:r>
                                  <m:r>
                                    <m:rPr>
                                      <m:sty m:val="p"/>
                                    </m:rPr>
                                    <a:rPr lang="pl-PL" sz="1600" i="0">
                                      <a:latin typeface="Cambria Math" panose="02040503050406030204" pitchFamily="18" charset="0"/>
                                    </a:rPr>
                                    <m:t>p</m:t>
                                  </m:r>
                                  <m:r>
                                    <a:rPr lang="pl-PL" sz="1600" i="0">
                                      <a:latin typeface="Cambria Math" panose="02040503050406030204" pitchFamily="18" charset="0"/>
                                    </a:rPr>
                                    <m:t>1</m:t>
                                  </m:r>
                                </m:den>
                              </m:f>
                              <m:r>
                                <a:rPr lang="pl-PL" sz="1600" i="0">
                                  <a:latin typeface="Cambria Math" panose="02040503050406030204" pitchFamily="18" charset="0"/>
                                </a:rPr>
                                <m:t>,</m:t>
                              </m:r>
                              <m:r>
                                <m:rPr>
                                  <m:sty m:val="p"/>
                                </m:rPr>
                                <a:rPr lang="pl-PL" sz="1600" i="0">
                                  <a:latin typeface="Cambria Math" panose="02040503050406030204" pitchFamily="18" charset="0"/>
                                </a:rPr>
                                <m:t>x</m:t>
                              </m:r>
                              <m:r>
                                <a:rPr lang="pl-PL" sz="1600" i="0">
                                  <a:latin typeface="Cambria Math" panose="02040503050406030204" pitchFamily="18" charset="0"/>
                                </a:rPr>
                                <m:t>2=</m:t>
                              </m:r>
                              <m:f>
                                <m:fPr>
                                  <m:ctrlPr>
                                    <a:rPr lang="pl-PL" sz="1600" i="1">
                                      <a:solidFill>
                                        <a:srgbClr val="836967"/>
                                      </a:solidFill>
                                      <a:latin typeface="Cambria Math" panose="02040503050406030204" pitchFamily="18" charset="0"/>
                                    </a:rPr>
                                  </m:ctrlPr>
                                </m:fPr>
                                <m:num>
                                  <m:r>
                                    <m:rPr>
                                      <m:sty m:val="p"/>
                                    </m:rPr>
                                    <a:rPr lang="pl-PL" sz="1600" i="0">
                                      <a:latin typeface="Cambria Math" panose="02040503050406030204" pitchFamily="18" charset="0"/>
                                    </a:rPr>
                                    <m:t>M</m:t>
                                  </m:r>
                                  <m:r>
                                    <a:rPr lang="pl-PL" sz="1600" i="0">
                                      <a:latin typeface="Cambria Math" panose="02040503050406030204" pitchFamily="18" charset="0"/>
                                    </a:rPr>
                                    <m:t>⁢</m:t>
                                  </m:r>
                                  <m:r>
                                    <m:rPr>
                                      <m:sty m:val="p"/>
                                    </m:rPr>
                                    <a:rPr lang="pl-PL" sz="1600" i="0">
                                      <a:latin typeface="Cambria Math" panose="02040503050406030204" pitchFamily="18" charset="0"/>
                                    </a:rPr>
                                    <m:t>b</m:t>
                                  </m:r>
                                </m:num>
                                <m:den>
                                  <m:d>
                                    <m:dPr>
                                      <m:ctrlPr>
                                        <a:rPr lang="pl-PL" sz="1600" i="1">
                                          <a:latin typeface="Cambria Math" panose="02040503050406030204" pitchFamily="18" charset="0"/>
                                        </a:rPr>
                                      </m:ctrlPr>
                                    </m:dPr>
                                    <m:e>
                                      <m:r>
                                        <m:rPr>
                                          <m:sty m:val="p"/>
                                        </m:rPr>
                                        <a:rPr lang="pl-PL" sz="1600" i="0">
                                          <a:latin typeface="Cambria Math" panose="02040503050406030204" pitchFamily="18" charset="0"/>
                                        </a:rPr>
                                        <m:t>b</m:t>
                                      </m:r>
                                      <m:r>
                                        <a:rPr lang="pl-PL" sz="1600" i="0">
                                          <a:latin typeface="Cambria Math" panose="02040503050406030204" pitchFamily="18" charset="0"/>
                                        </a:rPr>
                                        <m:t>+</m:t>
                                      </m:r>
                                      <m:r>
                                        <m:rPr>
                                          <m:sty m:val="p"/>
                                        </m:rPr>
                                        <a:rPr lang="pl-PL" sz="1600" i="0">
                                          <a:latin typeface="Cambria Math" panose="02040503050406030204" pitchFamily="18" charset="0"/>
                                        </a:rPr>
                                        <m:t>a</m:t>
                                      </m:r>
                                    </m:e>
                                  </m:d>
                                  <m:r>
                                    <a:rPr lang="pl-PL" sz="1600" i="0">
                                      <a:latin typeface="Cambria Math" panose="02040503050406030204" pitchFamily="18" charset="0"/>
                                    </a:rPr>
                                    <m:t>⁢</m:t>
                                  </m:r>
                                  <m:r>
                                    <m:rPr>
                                      <m:sty m:val="p"/>
                                    </m:rPr>
                                    <a:rPr lang="pl-PL" sz="1600" i="0">
                                      <a:latin typeface="Cambria Math" panose="02040503050406030204" pitchFamily="18" charset="0"/>
                                    </a:rPr>
                                    <m:t>p</m:t>
                                  </m:r>
                                  <m:r>
                                    <a:rPr lang="pl-PL" sz="1600" i="0">
                                      <a:latin typeface="Cambria Math" panose="02040503050406030204" pitchFamily="18" charset="0"/>
                                    </a:rPr>
                                    <m:t>2</m:t>
                                  </m:r>
                                </m:den>
                              </m:f>
                              <m:r>
                                <a:rPr lang="pl-PL" sz="1600" i="0">
                                  <a:latin typeface="Cambria Math" panose="02040503050406030204" pitchFamily="18" charset="0"/>
                                </a:rPr>
                                <m:t>,</m:t>
                              </m:r>
                              <m:r>
                                <m:rPr>
                                  <m:sty m:val="p"/>
                                </m:rPr>
                                <a:rPr lang="pl-PL" sz="1600" i="0">
                                  <a:latin typeface="Cambria Math" panose="02040503050406030204" pitchFamily="18" charset="0"/>
                                </a:rPr>
                                <m:t>λ</m:t>
                              </m:r>
                              <m:r>
                                <a:rPr lang="pl-PL" sz="1600" i="0">
                                  <a:latin typeface="Cambria Math" panose="02040503050406030204" pitchFamily="18" charset="0"/>
                                </a:rPr>
                                <m:t>=−</m:t>
                              </m:r>
                              <m:d>
                                <m:dPr>
                                  <m:ctrlPr>
                                    <a:rPr lang="pl-PL" sz="1600" i="1">
                                      <a:latin typeface="Cambria Math" panose="02040503050406030204" pitchFamily="18" charset="0"/>
                                    </a:rPr>
                                  </m:ctrlPr>
                                </m:dPr>
                                <m:e>
                                  <m:f>
                                    <m:fPr>
                                      <m:ctrlPr>
                                        <a:rPr lang="pl-PL" sz="1600" i="1">
                                          <a:solidFill>
                                            <a:srgbClr val="836967"/>
                                          </a:solidFill>
                                          <a:latin typeface="Cambria Math" panose="02040503050406030204" pitchFamily="18" charset="0"/>
                                        </a:rPr>
                                      </m:ctrlPr>
                                    </m:fPr>
                                    <m:num>
                                      <m:sSup>
                                        <m:sSupPr>
                                          <m:ctrlPr>
                                            <a:rPr lang="pl-PL" sz="1600" i="1">
                                              <a:solidFill>
                                                <a:srgbClr val="836967"/>
                                              </a:solidFill>
                                              <a:latin typeface="Cambria Math" panose="02040503050406030204" pitchFamily="18" charset="0"/>
                                            </a:rPr>
                                          </m:ctrlPr>
                                        </m:sSupPr>
                                        <m:e>
                                          <m:r>
                                            <m:rPr>
                                              <m:sty m:val="p"/>
                                            </m:rPr>
                                            <a:rPr lang="pl-PL" sz="1600" i="0">
                                              <a:latin typeface="Cambria Math" panose="02040503050406030204" pitchFamily="18" charset="0"/>
                                            </a:rPr>
                                            <m:t>M</m:t>
                                          </m:r>
                                        </m:e>
                                        <m:sup>
                                          <m:r>
                                            <m:rPr>
                                              <m:sty m:val="p"/>
                                            </m:rPr>
                                            <a:rPr lang="pl-PL" sz="1600" i="0">
                                              <a:latin typeface="Cambria Math" panose="02040503050406030204" pitchFamily="18" charset="0"/>
                                            </a:rPr>
                                            <m:t>b</m:t>
                                          </m:r>
                                          <m:r>
                                            <a:rPr lang="pl-PL" sz="1600" i="0">
                                              <a:latin typeface="Cambria Math" panose="02040503050406030204" pitchFamily="18" charset="0"/>
                                            </a:rPr>
                                            <m:t>+</m:t>
                                          </m:r>
                                          <m:r>
                                            <m:rPr>
                                              <m:sty m:val="p"/>
                                            </m:rPr>
                                            <a:rPr lang="pl-PL" sz="1600" i="0">
                                              <a:latin typeface="Cambria Math" panose="02040503050406030204" pitchFamily="18" charset="0"/>
                                            </a:rPr>
                                            <m:t>a</m:t>
                                          </m:r>
                                          <m:r>
                                            <a:rPr lang="pl-PL" sz="1600" i="0">
                                              <a:latin typeface="Cambria Math" panose="02040503050406030204" pitchFamily="18" charset="0"/>
                                            </a:rPr>
                                            <m:t>−1</m:t>
                                          </m:r>
                                        </m:sup>
                                      </m:sSup>
                                      <m:r>
                                        <a:rPr lang="pl-PL" sz="1600" i="0">
                                          <a:latin typeface="Cambria Math" panose="02040503050406030204" pitchFamily="18" charset="0"/>
                                        </a:rPr>
                                        <m:t>⁢</m:t>
                                      </m:r>
                                      <m:sSup>
                                        <m:sSupPr>
                                          <m:ctrlPr>
                                            <a:rPr lang="pl-PL" sz="1600" i="1">
                                              <a:solidFill>
                                                <a:srgbClr val="836967"/>
                                              </a:solidFill>
                                              <a:latin typeface="Cambria Math" panose="02040503050406030204" pitchFamily="18" charset="0"/>
                                            </a:rPr>
                                          </m:ctrlPr>
                                        </m:sSupPr>
                                        <m:e>
                                          <m:r>
                                            <m:rPr>
                                              <m:sty m:val="p"/>
                                            </m:rPr>
                                            <a:rPr lang="pl-PL" sz="1600" i="0">
                                              <a:latin typeface="Cambria Math" panose="02040503050406030204" pitchFamily="18" charset="0"/>
                                            </a:rPr>
                                            <m:t>a</m:t>
                                          </m:r>
                                        </m:e>
                                        <m:sup>
                                          <m:r>
                                            <m:rPr>
                                              <m:sty m:val="p"/>
                                            </m:rPr>
                                            <a:rPr lang="pl-PL" sz="1600" i="0">
                                              <a:latin typeface="Cambria Math" panose="02040503050406030204" pitchFamily="18" charset="0"/>
                                            </a:rPr>
                                            <m:t>a</m:t>
                                          </m:r>
                                        </m:sup>
                                      </m:sSup>
                                      <m:r>
                                        <a:rPr lang="pl-PL" sz="1600" i="0">
                                          <a:latin typeface="Cambria Math" panose="02040503050406030204" pitchFamily="18" charset="0"/>
                                        </a:rPr>
                                        <m:t>⁢</m:t>
                                      </m:r>
                                      <m:sSup>
                                        <m:sSupPr>
                                          <m:ctrlPr>
                                            <a:rPr lang="pl-PL" sz="1600" i="1">
                                              <a:solidFill>
                                                <a:srgbClr val="836967"/>
                                              </a:solidFill>
                                              <a:latin typeface="Cambria Math" panose="02040503050406030204" pitchFamily="18" charset="0"/>
                                            </a:rPr>
                                          </m:ctrlPr>
                                        </m:sSupPr>
                                        <m:e>
                                          <m:r>
                                            <m:rPr>
                                              <m:sty m:val="p"/>
                                            </m:rPr>
                                            <a:rPr lang="pl-PL" sz="1600" i="0">
                                              <a:latin typeface="Cambria Math" panose="02040503050406030204" pitchFamily="18" charset="0"/>
                                            </a:rPr>
                                            <m:t>b</m:t>
                                          </m:r>
                                        </m:e>
                                        <m:sup>
                                          <m:r>
                                            <m:rPr>
                                              <m:sty m:val="p"/>
                                            </m:rPr>
                                            <a:rPr lang="pl-PL" sz="1600" i="0">
                                              <a:latin typeface="Cambria Math" panose="02040503050406030204" pitchFamily="18" charset="0"/>
                                            </a:rPr>
                                            <m:t>b</m:t>
                                          </m:r>
                                        </m:sup>
                                      </m:sSup>
                                      <m:r>
                                        <a:rPr lang="pl-PL" sz="1600" i="0">
                                          <a:latin typeface="Cambria Math" panose="02040503050406030204" pitchFamily="18" charset="0"/>
                                        </a:rPr>
                                        <m:t>⁢</m:t>
                                      </m:r>
                                      <m:sSup>
                                        <m:sSupPr>
                                          <m:ctrlPr>
                                            <a:rPr lang="pl-PL" sz="1600" i="1">
                                              <a:solidFill>
                                                <a:srgbClr val="836967"/>
                                              </a:solidFill>
                                              <a:latin typeface="Cambria Math" panose="02040503050406030204" pitchFamily="18" charset="0"/>
                                            </a:rPr>
                                          </m:ctrlPr>
                                        </m:sSupPr>
                                        <m:e>
                                          <m:d>
                                            <m:dPr>
                                              <m:ctrlPr>
                                                <a:rPr lang="pl-PL" sz="1600" i="1">
                                                  <a:latin typeface="Cambria Math" panose="02040503050406030204" pitchFamily="18" charset="0"/>
                                                </a:rPr>
                                              </m:ctrlPr>
                                            </m:dPr>
                                            <m:e>
                                              <m:r>
                                                <m:rPr>
                                                  <m:sty m:val="p"/>
                                                </m:rPr>
                                                <a:rPr lang="pl-PL" sz="1600" i="0">
                                                  <a:latin typeface="Cambria Math" panose="02040503050406030204" pitchFamily="18" charset="0"/>
                                                </a:rPr>
                                                <m:t>b</m:t>
                                              </m:r>
                                              <m:r>
                                                <a:rPr lang="pl-PL" sz="1600" i="0">
                                                  <a:latin typeface="Cambria Math" panose="02040503050406030204" pitchFamily="18" charset="0"/>
                                                </a:rPr>
                                                <m:t>+</m:t>
                                              </m:r>
                                              <m:r>
                                                <m:rPr>
                                                  <m:sty m:val="p"/>
                                                </m:rPr>
                                                <a:rPr lang="pl-PL" sz="1600" i="0">
                                                  <a:latin typeface="Cambria Math" panose="02040503050406030204" pitchFamily="18" charset="0"/>
                                                </a:rPr>
                                                <m:t>a</m:t>
                                              </m:r>
                                            </m:e>
                                          </m:d>
                                        </m:e>
                                        <m:sup>
                                          <m:r>
                                            <a:rPr lang="pl-PL" sz="1600" i="0">
                                              <a:latin typeface="Cambria Math" panose="02040503050406030204" pitchFamily="18" charset="0"/>
                                            </a:rPr>
                                            <m:t>−</m:t>
                                          </m:r>
                                          <m:r>
                                            <m:rPr>
                                              <m:sty m:val="p"/>
                                            </m:rPr>
                                            <a:rPr lang="pl-PL" sz="1600" i="0">
                                              <a:latin typeface="Cambria Math" panose="02040503050406030204" pitchFamily="18" charset="0"/>
                                            </a:rPr>
                                            <m:t>b</m:t>
                                          </m:r>
                                          <m:r>
                                            <a:rPr lang="pl-PL" sz="1600" i="0">
                                              <a:latin typeface="Cambria Math" panose="02040503050406030204" pitchFamily="18" charset="0"/>
                                            </a:rPr>
                                            <m:t>−</m:t>
                                          </m:r>
                                          <m:r>
                                            <m:rPr>
                                              <m:sty m:val="p"/>
                                            </m:rPr>
                                            <a:rPr lang="pl-PL" sz="1600" i="0">
                                              <a:latin typeface="Cambria Math" panose="02040503050406030204" pitchFamily="18" charset="0"/>
                                            </a:rPr>
                                            <m:t>a</m:t>
                                          </m:r>
                                          <m:r>
                                            <a:rPr lang="pl-PL" sz="1600" i="0">
                                              <a:latin typeface="Cambria Math" panose="02040503050406030204" pitchFamily="18" charset="0"/>
                                            </a:rPr>
                                            <m:t>+1</m:t>
                                          </m:r>
                                        </m:sup>
                                      </m:sSup>
                                    </m:num>
                                    <m:den>
                                      <m:sSup>
                                        <m:sSupPr>
                                          <m:ctrlPr>
                                            <a:rPr lang="pl-PL" sz="1600" i="1">
                                              <a:solidFill>
                                                <a:srgbClr val="836967"/>
                                              </a:solidFill>
                                              <a:latin typeface="Cambria Math" panose="02040503050406030204" pitchFamily="18" charset="0"/>
                                            </a:rPr>
                                          </m:ctrlPr>
                                        </m:sSupPr>
                                        <m:e>
                                          <m:r>
                                            <m:rPr>
                                              <m:sty m:val="p"/>
                                            </m:rPr>
                                            <a:rPr lang="pl-PL" sz="1600" i="0">
                                              <a:latin typeface="Cambria Math" panose="02040503050406030204" pitchFamily="18" charset="0"/>
                                            </a:rPr>
                                            <m:t>p</m:t>
                                          </m:r>
                                          <m:r>
                                            <a:rPr lang="pl-PL" sz="1600" i="0">
                                              <a:latin typeface="Cambria Math" panose="02040503050406030204" pitchFamily="18" charset="0"/>
                                            </a:rPr>
                                            <m:t>1</m:t>
                                          </m:r>
                                        </m:e>
                                        <m:sup>
                                          <m:r>
                                            <m:rPr>
                                              <m:sty m:val="p"/>
                                            </m:rPr>
                                            <a:rPr lang="pl-PL" sz="1600" i="0">
                                              <a:latin typeface="Cambria Math" panose="02040503050406030204" pitchFamily="18" charset="0"/>
                                            </a:rPr>
                                            <m:t>a</m:t>
                                          </m:r>
                                        </m:sup>
                                      </m:sSup>
                                      <m:r>
                                        <a:rPr lang="pl-PL" sz="1600" i="0">
                                          <a:latin typeface="Cambria Math" panose="02040503050406030204" pitchFamily="18" charset="0"/>
                                        </a:rPr>
                                        <m:t>⁢</m:t>
                                      </m:r>
                                      <m:sSup>
                                        <m:sSupPr>
                                          <m:ctrlPr>
                                            <a:rPr lang="pl-PL" sz="1600" i="1">
                                              <a:solidFill>
                                                <a:srgbClr val="836967"/>
                                              </a:solidFill>
                                              <a:latin typeface="Cambria Math" panose="02040503050406030204" pitchFamily="18" charset="0"/>
                                            </a:rPr>
                                          </m:ctrlPr>
                                        </m:sSupPr>
                                        <m:e>
                                          <m:r>
                                            <m:rPr>
                                              <m:sty m:val="p"/>
                                            </m:rPr>
                                            <a:rPr lang="pl-PL" sz="1600" i="0">
                                              <a:latin typeface="Cambria Math" panose="02040503050406030204" pitchFamily="18" charset="0"/>
                                            </a:rPr>
                                            <m:t>p</m:t>
                                          </m:r>
                                          <m:r>
                                            <a:rPr lang="pl-PL" sz="1600" i="0">
                                              <a:latin typeface="Cambria Math" panose="02040503050406030204" pitchFamily="18" charset="0"/>
                                            </a:rPr>
                                            <m:t>2</m:t>
                                          </m:r>
                                        </m:e>
                                        <m:sup>
                                          <m:r>
                                            <m:rPr>
                                              <m:sty m:val="p"/>
                                            </m:rPr>
                                            <a:rPr lang="pl-PL" sz="1600" i="0">
                                              <a:latin typeface="Cambria Math" panose="02040503050406030204" pitchFamily="18" charset="0"/>
                                            </a:rPr>
                                            <m:t>b</m:t>
                                          </m:r>
                                        </m:sup>
                                      </m:sSup>
                                    </m:den>
                                  </m:f>
                                </m:e>
                              </m:d>
                            </m:e>
                          </m:d>
                        </m:e>
                      </m:d>
                    </m:oMath>
                  </m:oMathPara>
                </a14:m>
                <a:endParaRPr lang="pl-PL" sz="1600" dirty="0"/>
              </a:p>
            </p:txBody>
          </p:sp>
        </mc:Choice>
        <mc:Fallback xmlns="">
          <p:sp>
            <p:nvSpPr>
              <p:cNvPr id="6" name="pole tekstowe 5">
                <a:extLst>
                  <a:ext uri="{FF2B5EF4-FFF2-40B4-BE49-F238E27FC236}">
                    <a16:creationId xmlns:a16="http://schemas.microsoft.com/office/drawing/2014/main" id="{05F40BD3-FA0B-96DB-04DC-9A9EF6D289E1}"/>
                  </a:ext>
                </a:extLst>
              </p:cNvPr>
              <p:cNvSpPr txBox="1">
                <a:spLocks noRot="1" noChangeAspect="1" noMove="1" noResize="1" noEditPoints="1" noAdjustHandles="1" noChangeArrowheads="1" noChangeShapeType="1" noTextEdit="1"/>
              </p:cNvSpPr>
              <p:nvPr/>
            </p:nvSpPr>
            <p:spPr>
              <a:xfrm>
                <a:off x="1649095" y="1670246"/>
                <a:ext cx="7374561" cy="730969"/>
              </a:xfrm>
              <a:prstGeom prst="rect">
                <a:avLst/>
              </a:prstGeom>
              <a:blipFill>
                <a:blip r:embed="rId2"/>
                <a:stretch>
                  <a:fillRect/>
                </a:stretch>
              </a:blipFill>
            </p:spPr>
            <p:txBody>
              <a:bodyPr/>
              <a:lstStyle/>
              <a:p>
                <a:r>
                  <a:rPr lang="pl-PL">
                    <a:noFill/>
                  </a:rPr>
                  <a:t> </a:t>
                </a:r>
              </a:p>
            </p:txBody>
          </p:sp>
        </mc:Fallback>
      </mc:AlternateContent>
      <p:sp>
        <p:nvSpPr>
          <p:cNvPr id="7" name="Elipsa 8">
            <a:extLst>
              <a:ext uri="{FF2B5EF4-FFF2-40B4-BE49-F238E27FC236}">
                <a16:creationId xmlns:a16="http://schemas.microsoft.com/office/drawing/2014/main" id="{A936A2C6-DDD6-0BF5-1E12-62BF71CA4196}"/>
              </a:ext>
            </a:extLst>
          </p:cNvPr>
          <p:cNvSpPr/>
          <p:nvPr/>
        </p:nvSpPr>
        <p:spPr>
          <a:xfrm>
            <a:off x="2248282" y="1547556"/>
            <a:ext cx="1467380" cy="1187024"/>
          </a:xfrm>
          <a:prstGeom prst="ellipse">
            <a:avLst/>
          </a:prstGeom>
          <a:noFill/>
          <a:ln w="50800">
            <a:prstDash val="dash"/>
          </a:ln>
        </p:spPr>
        <p:style>
          <a:lnRef idx="2">
            <a:schemeClr val="accent2"/>
          </a:lnRef>
          <a:fillRef idx="1">
            <a:schemeClr val="lt1"/>
          </a:fillRef>
          <a:effectRef idx="0">
            <a:schemeClr val="accent2"/>
          </a:effectRef>
          <a:fontRef idx="minor">
            <a:schemeClr val="dk1"/>
          </a:fontRef>
        </p:style>
        <p:txBody>
          <a:bodyPr anchor="ctr"/>
          <a:lstStyle/>
          <a:p>
            <a:pPr>
              <a:defRPr/>
            </a:pPr>
            <a:endParaRPr lang="pl-PL">
              <a:solidFill>
                <a:schemeClr val="accent5">
                  <a:lumMod val="50000"/>
                </a:schemeClr>
              </a:solidFill>
            </a:endParaRPr>
          </a:p>
        </p:txBody>
      </p:sp>
      <p:sp>
        <p:nvSpPr>
          <p:cNvPr id="8" name="Elipsa 8">
            <a:extLst>
              <a:ext uri="{FF2B5EF4-FFF2-40B4-BE49-F238E27FC236}">
                <a16:creationId xmlns:a16="http://schemas.microsoft.com/office/drawing/2014/main" id="{2B7366CE-2748-50F0-ACA3-76EE5203C5D3}"/>
              </a:ext>
            </a:extLst>
          </p:cNvPr>
          <p:cNvSpPr/>
          <p:nvPr/>
        </p:nvSpPr>
        <p:spPr>
          <a:xfrm>
            <a:off x="3767609" y="1329140"/>
            <a:ext cx="1366211" cy="1441329"/>
          </a:xfrm>
          <a:prstGeom prst="ellipse">
            <a:avLst/>
          </a:prstGeom>
          <a:noFill/>
          <a:ln w="50800">
            <a:prstDash val="dash"/>
          </a:ln>
        </p:spPr>
        <p:style>
          <a:lnRef idx="2">
            <a:schemeClr val="accent2"/>
          </a:lnRef>
          <a:fillRef idx="1">
            <a:schemeClr val="lt1"/>
          </a:fillRef>
          <a:effectRef idx="0">
            <a:schemeClr val="accent2"/>
          </a:effectRef>
          <a:fontRef idx="minor">
            <a:schemeClr val="dk1"/>
          </a:fontRef>
        </p:style>
        <p:txBody>
          <a:bodyPr anchor="ctr"/>
          <a:lstStyle/>
          <a:p>
            <a:pPr>
              <a:defRPr/>
            </a:pPr>
            <a:endParaRPr lang="pl-PL">
              <a:solidFill>
                <a:schemeClr val="accent5">
                  <a:lumMod val="50000"/>
                </a:schemeClr>
              </a:solidFill>
            </a:endParaRPr>
          </a:p>
        </p:txBody>
      </p:sp>
      <p:sp>
        <p:nvSpPr>
          <p:cNvPr id="9" name="Elipsa 8">
            <a:extLst>
              <a:ext uri="{FF2B5EF4-FFF2-40B4-BE49-F238E27FC236}">
                <a16:creationId xmlns:a16="http://schemas.microsoft.com/office/drawing/2014/main" id="{93DF4A99-27C2-9E76-36C6-968236C0331C}"/>
              </a:ext>
            </a:extLst>
          </p:cNvPr>
          <p:cNvSpPr/>
          <p:nvPr/>
        </p:nvSpPr>
        <p:spPr>
          <a:xfrm>
            <a:off x="5185768" y="1358214"/>
            <a:ext cx="3481376" cy="1276274"/>
          </a:xfrm>
          <a:prstGeom prst="ellipse">
            <a:avLst/>
          </a:prstGeom>
          <a:noFill/>
          <a:ln w="50800">
            <a:prstDash val="dash"/>
          </a:ln>
        </p:spPr>
        <p:style>
          <a:lnRef idx="2">
            <a:schemeClr val="accent2"/>
          </a:lnRef>
          <a:fillRef idx="1">
            <a:schemeClr val="lt1"/>
          </a:fillRef>
          <a:effectRef idx="0">
            <a:schemeClr val="accent2"/>
          </a:effectRef>
          <a:fontRef idx="minor">
            <a:schemeClr val="dk1"/>
          </a:fontRef>
        </p:style>
        <p:txBody>
          <a:bodyPr anchor="ctr"/>
          <a:lstStyle/>
          <a:p>
            <a:pPr>
              <a:defRPr/>
            </a:pPr>
            <a:endParaRPr lang="pl-PL">
              <a:solidFill>
                <a:schemeClr val="accent5">
                  <a:lumMod val="50000"/>
                </a:schemeClr>
              </a:solidFill>
            </a:endParaRPr>
          </a:p>
        </p:txBody>
      </p:sp>
      <p:cxnSp>
        <p:nvCxnSpPr>
          <p:cNvPr id="13" name="Łącznik prosty ze strzałką 12">
            <a:extLst>
              <a:ext uri="{FF2B5EF4-FFF2-40B4-BE49-F238E27FC236}">
                <a16:creationId xmlns:a16="http://schemas.microsoft.com/office/drawing/2014/main" id="{8A1E1F3D-E24F-808A-446B-92022991334F}"/>
              </a:ext>
            </a:extLst>
          </p:cNvPr>
          <p:cNvCxnSpPr>
            <a:cxnSpLocks/>
          </p:cNvCxnSpPr>
          <p:nvPr/>
        </p:nvCxnSpPr>
        <p:spPr>
          <a:xfrm>
            <a:off x="8667144" y="1835297"/>
            <a:ext cx="568296" cy="1510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pole tekstowe 13">
            <a:extLst>
              <a:ext uri="{FF2B5EF4-FFF2-40B4-BE49-F238E27FC236}">
                <a16:creationId xmlns:a16="http://schemas.microsoft.com/office/drawing/2014/main" id="{5E5C1C31-949E-9501-FD76-21073D701835}"/>
              </a:ext>
            </a:extLst>
          </p:cNvPr>
          <p:cNvSpPr txBox="1"/>
          <p:nvPr/>
        </p:nvSpPr>
        <p:spPr>
          <a:xfrm>
            <a:off x="9235440" y="1547472"/>
            <a:ext cx="2792461" cy="923330"/>
          </a:xfrm>
          <a:prstGeom prst="rect">
            <a:avLst/>
          </a:prstGeom>
          <a:noFill/>
        </p:spPr>
        <p:txBody>
          <a:bodyPr wrap="square">
            <a:spAutoFit/>
          </a:bodyPr>
          <a:lstStyle/>
          <a:p>
            <a:pPr algn="l">
              <a:defRPr/>
            </a:pPr>
            <a:r>
              <a:rPr lang="en-US" sz="1800" dirty="0">
                <a:solidFill>
                  <a:schemeClr val="accent5">
                    <a:lumMod val="50000"/>
                  </a:schemeClr>
                </a:solidFill>
                <a:latin typeface="Arial" pitchFamily="34" charset="0"/>
                <a:cs typeface="Arial" pitchFamily="34" charset="0"/>
                <a:sym typeface="Mathematica3"/>
              </a:rPr>
              <a:t>Lambda Interpretation</a:t>
            </a:r>
            <a:r>
              <a:rPr lang="pl-PL" sz="1800" dirty="0">
                <a:solidFill>
                  <a:schemeClr val="accent5">
                    <a:lumMod val="50000"/>
                  </a:schemeClr>
                </a:solidFill>
                <a:latin typeface="Arial" pitchFamily="34" charset="0"/>
                <a:cs typeface="Arial" pitchFamily="34" charset="0"/>
                <a:sym typeface="Mathematica3"/>
              </a:rPr>
              <a:t>: </a:t>
            </a:r>
            <a:endParaRPr lang="en-US" sz="1800" dirty="0">
              <a:solidFill>
                <a:schemeClr val="accent5">
                  <a:lumMod val="50000"/>
                </a:schemeClr>
              </a:solidFill>
              <a:latin typeface="Arial" pitchFamily="34" charset="0"/>
              <a:cs typeface="Arial" pitchFamily="34" charset="0"/>
              <a:sym typeface="Mathematica3"/>
            </a:endParaRPr>
          </a:p>
          <a:p>
            <a:pPr algn="l">
              <a:defRPr/>
            </a:pPr>
            <a:r>
              <a:rPr lang="en-US" sz="1800" dirty="0">
                <a:solidFill>
                  <a:schemeClr val="accent5">
                    <a:lumMod val="50000"/>
                  </a:schemeClr>
                </a:solidFill>
                <a:latin typeface="Arial" pitchFamily="34" charset="0"/>
                <a:cs typeface="Arial" pitchFamily="34" charset="0"/>
                <a:sym typeface="Mathematica3"/>
              </a:rPr>
              <a:t>Increase in utility due to budget increase by 1</a:t>
            </a:r>
            <a:endParaRPr lang="pl-PL" sz="1800" dirty="0">
              <a:solidFill>
                <a:schemeClr val="accent5">
                  <a:lumMod val="50000"/>
                </a:schemeClr>
              </a:solidFill>
            </a:endParaRPr>
          </a:p>
        </p:txBody>
      </p:sp>
      <p:cxnSp>
        <p:nvCxnSpPr>
          <p:cNvPr id="12" name="Łącznik prosty ze strzałką 11">
            <a:extLst>
              <a:ext uri="{FF2B5EF4-FFF2-40B4-BE49-F238E27FC236}">
                <a16:creationId xmlns:a16="http://schemas.microsoft.com/office/drawing/2014/main" id="{EBA42A50-32B6-C2EC-815D-D1F1A3BB9F97}"/>
              </a:ext>
            </a:extLst>
          </p:cNvPr>
          <p:cNvCxnSpPr>
            <a:cxnSpLocks/>
            <a:stCxn id="8" idx="5"/>
            <a:endCxn id="18" idx="0"/>
          </p:cNvCxnSpPr>
          <p:nvPr/>
        </p:nvCxnSpPr>
        <p:spPr>
          <a:xfrm>
            <a:off x="4933743" y="2559391"/>
            <a:ext cx="1070048" cy="51642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pole tekstowe 17">
            <a:extLst>
              <a:ext uri="{FF2B5EF4-FFF2-40B4-BE49-F238E27FC236}">
                <a16:creationId xmlns:a16="http://schemas.microsoft.com/office/drawing/2014/main" id="{96571760-E54F-B61E-411F-03DCEABD8794}"/>
              </a:ext>
            </a:extLst>
          </p:cNvPr>
          <p:cNvSpPr txBox="1"/>
          <p:nvPr/>
        </p:nvSpPr>
        <p:spPr>
          <a:xfrm>
            <a:off x="182881" y="3075820"/>
            <a:ext cx="11641820" cy="3785652"/>
          </a:xfrm>
          <a:prstGeom prst="rect">
            <a:avLst/>
          </a:prstGeom>
          <a:noFill/>
        </p:spPr>
        <p:txBody>
          <a:bodyPr wrap="square">
            <a:spAutoFit/>
          </a:bodyPr>
          <a:lstStyle/>
          <a:p>
            <a:pPr algn="l">
              <a:defRPr/>
            </a:pPr>
            <a:r>
              <a:rPr lang="en-US" sz="2000" dirty="0">
                <a:solidFill>
                  <a:schemeClr val="accent5">
                    <a:lumMod val="50000"/>
                  </a:schemeClr>
                </a:solidFill>
                <a:latin typeface="+mj-lt"/>
                <a:cs typeface="Arial" pitchFamily="34" charset="0"/>
                <a:sym typeface="Mathematica3"/>
              </a:rPr>
              <a:t>Consumption x1, 2 for prices p1 p2 and income M maximizing utility. </a:t>
            </a:r>
            <a:r>
              <a:rPr lang="pl-PL" sz="2000" dirty="0">
                <a:solidFill>
                  <a:schemeClr val="accent5">
                    <a:lumMod val="50000"/>
                  </a:schemeClr>
                </a:solidFill>
                <a:latin typeface="+mj-lt"/>
                <a:cs typeface="Arial" pitchFamily="34" charset="0"/>
                <a:sym typeface="Mathematica3"/>
              </a:rPr>
              <a:t> </a:t>
            </a:r>
            <a:r>
              <a:rPr lang="en-US" sz="2000" dirty="0">
                <a:solidFill>
                  <a:schemeClr val="accent5">
                    <a:lumMod val="50000"/>
                  </a:schemeClr>
                </a:solidFill>
                <a:latin typeface="+mj-lt"/>
                <a:cs typeface="Arial" pitchFamily="34" charset="0"/>
                <a:sym typeface="Mathematica3"/>
              </a:rPr>
              <a:t>For the general form --&gt; demand functions x1 = f(p1,p,M), x1 = f(p1,p,M). It is worth noting: </a:t>
            </a:r>
            <a:endParaRPr lang="pl-PL" sz="2000" dirty="0">
              <a:solidFill>
                <a:schemeClr val="accent5">
                  <a:lumMod val="50000"/>
                </a:schemeClr>
              </a:solidFill>
              <a:latin typeface="+mj-lt"/>
              <a:cs typeface="Arial" pitchFamily="34" charset="0"/>
              <a:sym typeface="Mathematica3"/>
            </a:endParaRPr>
          </a:p>
          <a:p>
            <a:pPr algn="l">
              <a:defRPr/>
            </a:pPr>
            <a:endParaRPr lang="en-US" sz="2000" dirty="0">
              <a:solidFill>
                <a:schemeClr val="accent5">
                  <a:lumMod val="50000"/>
                </a:schemeClr>
              </a:solidFill>
              <a:latin typeface="+mj-lt"/>
              <a:cs typeface="Arial" pitchFamily="34" charset="0"/>
              <a:sym typeface="Mathematica3"/>
            </a:endParaRPr>
          </a:p>
          <a:p>
            <a:pPr marL="742950" lvl="1" indent="-285750">
              <a:buFont typeface="Arial" panose="020B0604020202020204" pitchFamily="34" charset="0"/>
              <a:buChar char="•"/>
              <a:defRPr/>
            </a:pPr>
            <a:r>
              <a:rPr lang="en-US" sz="2000" dirty="0">
                <a:solidFill>
                  <a:schemeClr val="accent5">
                    <a:lumMod val="50000"/>
                  </a:schemeClr>
                </a:solidFill>
                <a:latin typeface="+mj-lt"/>
                <a:cs typeface="Arial" pitchFamily="34" charset="0"/>
                <a:sym typeface="Mathematica3"/>
              </a:rPr>
              <a:t>Income Effect: Demand for both goods positively depends on income M (linear relationship).</a:t>
            </a:r>
          </a:p>
          <a:p>
            <a:pPr marL="742950" lvl="1" indent="-285750">
              <a:buFont typeface="Arial" panose="020B0604020202020204" pitchFamily="34" charset="0"/>
              <a:buChar char="•"/>
              <a:defRPr/>
            </a:pPr>
            <a:r>
              <a:rPr lang="en-US" sz="2000" dirty="0">
                <a:solidFill>
                  <a:schemeClr val="accent5">
                    <a:lumMod val="50000"/>
                  </a:schemeClr>
                </a:solidFill>
                <a:latin typeface="+mj-lt"/>
                <a:cs typeface="Arial" pitchFamily="34" charset="0"/>
                <a:sym typeface="Mathematica3"/>
              </a:rPr>
              <a:t>Price Elasticity: Demand functions are nonlinear to the price of the good itself.</a:t>
            </a:r>
          </a:p>
          <a:p>
            <a:pPr marL="742950" lvl="1" indent="-285750">
              <a:buFont typeface="Arial" panose="020B0604020202020204" pitchFamily="34" charset="0"/>
              <a:buChar char="•"/>
              <a:defRPr/>
            </a:pPr>
            <a:r>
              <a:rPr lang="en-US" sz="2000" dirty="0">
                <a:solidFill>
                  <a:schemeClr val="accent5">
                    <a:lumMod val="50000"/>
                  </a:schemeClr>
                </a:solidFill>
                <a:latin typeface="+mj-lt"/>
                <a:cs typeface="Arial" pitchFamily="34" charset="0"/>
                <a:sym typeface="Mathematica3"/>
              </a:rPr>
              <a:t>Cross-Price Independence: Demand for x1 does not depend on p2​, and demand for x2​ does not depend on p1​ in this setup.</a:t>
            </a:r>
          </a:p>
          <a:p>
            <a:pPr algn="l">
              <a:defRPr/>
            </a:pPr>
            <a:r>
              <a:rPr lang="en-US" sz="2000" dirty="0">
                <a:solidFill>
                  <a:schemeClr val="accent5">
                    <a:lumMod val="50000"/>
                  </a:schemeClr>
                </a:solidFill>
                <a:latin typeface="+mj-lt"/>
                <a:cs typeface="Arial" pitchFamily="34" charset="0"/>
                <a:sym typeface="Mathematica3"/>
              </a:rPr>
              <a:t>Question:</a:t>
            </a:r>
          </a:p>
          <a:p>
            <a:pPr lvl="1">
              <a:defRPr/>
            </a:pPr>
            <a:r>
              <a:rPr lang="en-US" sz="2000" dirty="0">
                <a:solidFill>
                  <a:schemeClr val="accent5">
                    <a:lumMod val="50000"/>
                  </a:schemeClr>
                </a:solidFill>
                <a:latin typeface="+mj-lt"/>
                <a:cs typeface="Arial" pitchFamily="34" charset="0"/>
                <a:sym typeface="Mathematica3"/>
              </a:rPr>
              <a:t>How the expenses for the two goods are related? (Consider the total spending on each good and the impact of price and income changes.) </a:t>
            </a:r>
          </a:p>
          <a:p>
            <a:pPr algn="l">
              <a:defRPr/>
            </a:pPr>
            <a:endParaRPr lang="en-US" sz="2000" dirty="0">
              <a:solidFill>
                <a:schemeClr val="accent5">
                  <a:lumMod val="50000"/>
                </a:schemeClr>
              </a:solidFill>
              <a:latin typeface="+mj-lt"/>
              <a:cs typeface="Arial" pitchFamily="34" charset="0"/>
              <a:sym typeface="Mathematica3"/>
            </a:endParaRPr>
          </a:p>
          <a:p>
            <a:pPr algn="l">
              <a:defRPr/>
            </a:pPr>
            <a:r>
              <a:rPr lang="en-US" sz="2000" dirty="0">
                <a:solidFill>
                  <a:schemeClr val="accent5">
                    <a:lumMod val="50000"/>
                  </a:schemeClr>
                </a:solidFill>
                <a:latin typeface="+mj-lt"/>
                <a:cs typeface="Arial" pitchFamily="34" charset="0"/>
                <a:sym typeface="Mathematica3"/>
              </a:rPr>
              <a:t>The next lecture will discuss the issues and whether they are realistic. </a:t>
            </a:r>
            <a:endParaRPr lang="pl-PL" sz="2000" dirty="0">
              <a:solidFill>
                <a:schemeClr val="accent5">
                  <a:lumMod val="50000"/>
                </a:schemeClr>
              </a:solidFill>
              <a:latin typeface="+mj-lt"/>
            </a:endParaRPr>
          </a:p>
        </p:txBody>
      </p:sp>
      <p:cxnSp>
        <p:nvCxnSpPr>
          <p:cNvPr id="25" name="Łącznik prosty ze strzałką 24">
            <a:extLst>
              <a:ext uri="{FF2B5EF4-FFF2-40B4-BE49-F238E27FC236}">
                <a16:creationId xmlns:a16="http://schemas.microsoft.com/office/drawing/2014/main" id="{F8595CDA-5B7C-FC07-1289-27A6BFD3BEB3}"/>
              </a:ext>
            </a:extLst>
          </p:cNvPr>
          <p:cNvCxnSpPr>
            <a:cxnSpLocks/>
            <a:stCxn id="7" idx="4"/>
            <a:endCxn id="18" idx="0"/>
          </p:cNvCxnSpPr>
          <p:nvPr/>
        </p:nvCxnSpPr>
        <p:spPr>
          <a:xfrm>
            <a:off x="2981972" y="2734580"/>
            <a:ext cx="3021819" cy="3412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4027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8100F-B7E1-62AB-AF88-1E100C3640F3}"/>
            </a:ext>
          </a:extLst>
        </p:cNvPr>
        <p:cNvGrpSpPr/>
        <p:nvPr/>
      </p:nvGrpSpPr>
      <p:grpSpPr>
        <a:xfrm>
          <a:off x="0" y="0"/>
          <a:ext cx="0" cy="0"/>
          <a:chOff x="0" y="0"/>
          <a:chExt cx="0" cy="0"/>
        </a:xfrm>
      </p:grpSpPr>
      <p:sp>
        <p:nvSpPr>
          <p:cNvPr id="11" name="Tytuł 1">
            <a:extLst>
              <a:ext uri="{FF2B5EF4-FFF2-40B4-BE49-F238E27FC236}">
                <a16:creationId xmlns:a16="http://schemas.microsoft.com/office/drawing/2014/main" id="{C337365C-EFA7-ACBA-96D8-A3B73781674C}"/>
              </a:ext>
            </a:extLst>
          </p:cNvPr>
          <p:cNvSpPr>
            <a:spLocks noGrp="1"/>
          </p:cNvSpPr>
          <p:nvPr>
            <p:ph type="title"/>
          </p:nvPr>
        </p:nvSpPr>
        <p:spPr>
          <a:xfrm>
            <a:off x="-1" y="-13886"/>
            <a:ext cx="12192001" cy="1187024"/>
          </a:xfrm>
          <a:solidFill>
            <a:schemeClr val="accent5">
              <a:lumMod val="20000"/>
              <a:lumOff val="80000"/>
            </a:schemeClr>
          </a:solidFill>
        </p:spPr>
        <p:txBody>
          <a:bodyPr>
            <a:noAutofit/>
          </a:bodyPr>
          <a:lstStyle/>
          <a:p>
            <a:r>
              <a:rPr lang="pl-PL" sz="3600" b="1" dirty="0" err="1">
                <a:solidFill>
                  <a:schemeClr val="accent5">
                    <a:lumMod val="50000"/>
                  </a:schemeClr>
                </a:solidFill>
                <a:latin typeface="+mn-lt"/>
              </a:rPr>
              <a:t>Utility</a:t>
            </a:r>
            <a:r>
              <a:rPr lang="pl-PL" sz="3600" b="1" dirty="0">
                <a:solidFill>
                  <a:schemeClr val="accent5">
                    <a:lumMod val="50000"/>
                  </a:schemeClr>
                </a:solidFill>
                <a:latin typeface="+mn-lt"/>
              </a:rPr>
              <a:t> - the </a:t>
            </a:r>
            <a:r>
              <a:rPr lang="en-GB" altLang="pl-PL" sz="3600" b="1" dirty="0">
                <a:solidFill>
                  <a:schemeClr val="accent5">
                    <a:lumMod val="50000"/>
                  </a:schemeClr>
                </a:solidFill>
                <a:latin typeface="+mn-lt"/>
              </a:rPr>
              <a:t>equilibrium</a:t>
            </a:r>
            <a:endParaRPr lang="en-GB" sz="3600" b="1" i="1" dirty="0">
              <a:solidFill>
                <a:schemeClr val="accent5">
                  <a:lumMod val="50000"/>
                </a:schemeClr>
              </a:solidFill>
            </a:endParaRPr>
          </a:p>
        </p:txBody>
      </p:sp>
      <p:sp>
        <p:nvSpPr>
          <p:cNvPr id="4" name="AutoShape 2" descr="https://mikroekonomia.wne.uw.edu.pl/moodle/pluginfile.php/21105/course/section/1679/BBB%20settings%202.png">
            <a:extLst>
              <a:ext uri="{FF2B5EF4-FFF2-40B4-BE49-F238E27FC236}">
                <a16:creationId xmlns:a16="http://schemas.microsoft.com/office/drawing/2014/main" id="{EE089EAD-F448-DB69-FEF5-C375A8FB5BA8}"/>
              </a:ext>
            </a:extLst>
          </p:cNvPr>
          <p:cNvSpPr>
            <a:spLocks noChangeAspect="1" noChangeArrowheads="1"/>
          </p:cNvSpPr>
          <p:nvPr/>
        </p:nvSpPr>
        <p:spPr bwMode="auto">
          <a:xfrm>
            <a:off x="1679575" y="-639763"/>
            <a:ext cx="1905000" cy="13430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Prostokąt 14">
            <a:extLst>
              <a:ext uri="{FF2B5EF4-FFF2-40B4-BE49-F238E27FC236}">
                <a16:creationId xmlns:a16="http://schemas.microsoft.com/office/drawing/2014/main" id="{E5243F27-1B35-7872-E880-E0AC282ECF04}"/>
              </a:ext>
            </a:extLst>
          </p:cNvPr>
          <p:cNvSpPr/>
          <p:nvPr/>
        </p:nvSpPr>
        <p:spPr>
          <a:xfrm>
            <a:off x="936790" y="1684091"/>
            <a:ext cx="10310330" cy="4154984"/>
          </a:xfrm>
          <a:prstGeom prst="rect">
            <a:avLst/>
          </a:prstGeom>
        </p:spPr>
        <p:txBody>
          <a:bodyPr wrap="square">
            <a:spAutoFit/>
          </a:bodyPr>
          <a:lstStyle/>
          <a:p>
            <a:pPr algn="just">
              <a:defRPr/>
            </a:pPr>
            <a:r>
              <a:rPr kumimoji="0" lang="en-US" sz="2400" b="0" i="0" u="none" strike="noStrike" kern="1200" cap="none" spc="0" normalizeH="0" baseline="0" noProof="0" dirty="0">
                <a:ln>
                  <a:noFill/>
                </a:ln>
                <a:solidFill>
                  <a:srgbClr val="4BACC6">
                    <a:lumMod val="50000"/>
                  </a:srgbClr>
                </a:solidFill>
                <a:effectLst/>
                <a:uLnTx/>
                <a:uFillTx/>
                <a:latin typeface="Calibri"/>
                <a:ea typeface="+mn-ea"/>
                <a:cs typeface="+mn-cs"/>
              </a:rPr>
              <a:t>ACS programs </a:t>
            </a:r>
            <a:r>
              <a:rPr kumimoji="0" lang="pl-PL" sz="2400" b="0" i="0" u="none" strike="noStrike" kern="1200" cap="none" spc="0" normalizeH="0" baseline="0" noProof="0" dirty="0" err="1">
                <a:ln>
                  <a:noFill/>
                </a:ln>
                <a:solidFill>
                  <a:srgbClr val="4BACC6">
                    <a:lumMod val="50000"/>
                  </a:srgbClr>
                </a:solidFill>
                <a:effectLst/>
                <a:uLnTx/>
                <a:uFillTx/>
                <a:latin typeface="Calibri"/>
                <a:ea typeface="+mn-ea"/>
                <a:cs typeface="+mn-cs"/>
              </a:rPr>
              <a:t>sometime</a:t>
            </a:r>
            <a:r>
              <a:rPr kumimoji="0" lang="pl-PL" sz="2400" b="0" i="0" u="none" strike="noStrike" kern="1200" cap="none" spc="0" normalizeH="0" baseline="0" noProof="0" dirty="0">
                <a:ln>
                  <a:noFill/>
                </a:ln>
                <a:solidFill>
                  <a:srgbClr val="4BACC6">
                    <a:lumMod val="50000"/>
                  </a:srgbClr>
                </a:solidFill>
                <a:effectLst/>
                <a:uLnTx/>
                <a:uFillTx/>
                <a:latin typeface="Calibri"/>
                <a:ea typeface="+mn-ea"/>
                <a:cs typeface="+mn-cs"/>
              </a:rPr>
              <a:t> </a:t>
            </a:r>
            <a:r>
              <a:rPr kumimoji="0" lang="en-US" sz="2400" b="0" i="0" u="none" strike="noStrike" kern="1200" cap="none" spc="0" normalizeH="0" baseline="0" noProof="0" dirty="0">
                <a:ln>
                  <a:noFill/>
                </a:ln>
                <a:solidFill>
                  <a:srgbClr val="4BACC6">
                    <a:lumMod val="50000"/>
                  </a:srgbClr>
                </a:solidFill>
                <a:effectLst/>
                <a:uLnTx/>
                <a:uFillTx/>
                <a:latin typeface="Calibri"/>
                <a:ea typeface="+mn-ea"/>
                <a:cs typeface="+mn-cs"/>
              </a:rPr>
              <a:t>have trouble solving a system of equations like the one above. In “difficult” cases, you can solve it </a:t>
            </a:r>
            <a:r>
              <a:rPr lang="en-US" sz="2400" dirty="0">
                <a:solidFill>
                  <a:srgbClr val="4BACC6">
                    <a:lumMod val="50000"/>
                  </a:srgbClr>
                </a:solidFill>
              </a:rPr>
              <a:t>by:</a:t>
            </a:r>
            <a:endParaRPr lang="pl-PL" sz="2400" dirty="0">
              <a:solidFill>
                <a:srgbClr val="4BACC6">
                  <a:lumMod val="50000"/>
                </a:srgbClr>
              </a:solidFill>
            </a:endParaRPr>
          </a:p>
          <a:p>
            <a:pPr algn="just">
              <a:defRPr/>
            </a:pPr>
            <a:endParaRPr lang="pl-PL" sz="2400" dirty="0">
              <a:solidFill>
                <a:srgbClr val="4BACC6">
                  <a:lumMod val="50000"/>
                </a:srgbClr>
              </a:solidFill>
            </a:endParaRPr>
          </a:p>
          <a:p>
            <a:pPr algn="just">
              <a:defRPr/>
            </a:pPr>
            <a:r>
              <a:rPr lang="pl-PL" sz="2400" dirty="0">
                <a:solidFill>
                  <a:srgbClr val="4BACC6">
                    <a:lumMod val="50000"/>
                  </a:srgbClr>
                </a:solidFill>
              </a:rPr>
              <a:t>1) </a:t>
            </a:r>
            <a:r>
              <a:rPr lang="en-US" sz="2400" dirty="0">
                <a:solidFill>
                  <a:srgbClr val="4BACC6">
                    <a:lumMod val="50000"/>
                  </a:srgbClr>
                </a:solidFill>
              </a:rPr>
              <a:t>By using the MRS = p1/p2 equilibrium and solve the system of equations: MRS=p1/p2 and p1*X1+p2*X2 = M</a:t>
            </a:r>
          </a:p>
          <a:p>
            <a:pPr algn="just">
              <a:defRPr/>
            </a:pPr>
            <a:endParaRPr lang="en-US" sz="2400" dirty="0">
              <a:solidFill>
                <a:srgbClr val="4BACC6">
                  <a:lumMod val="50000"/>
                </a:srgbClr>
              </a:solidFill>
            </a:endParaRPr>
          </a:p>
          <a:p>
            <a:pPr algn="just">
              <a:defRPr/>
            </a:pPr>
            <a:r>
              <a:rPr lang="en-US" sz="2400" dirty="0">
                <a:solidFill>
                  <a:srgbClr val="4BACC6">
                    <a:lumMod val="50000"/>
                  </a:srgbClr>
                </a:solidFill>
              </a:rPr>
              <a:t>and </a:t>
            </a:r>
            <a:r>
              <a:rPr lang="pl-PL" sz="2400" dirty="0">
                <a:solidFill>
                  <a:srgbClr val="4BACC6">
                    <a:lumMod val="50000"/>
                  </a:srgbClr>
                </a:solidFill>
              </a:rPr>
              <a:t>/ </a:t>
            </a:r>
            <a:r>
              <a:rPr lang="pl-PL" sz="2400" dirty="0" err="1">
                <a:solidFill>
                  <a:srgbClr val="4BACC6">
                    <a:lumMod val="50000"/>
                  </a:srgbClr>
                </a:solidFill>
              </a:rPr>
              <a:t>or</a:t>
            </a:r>
            <a:endParaRPr lang="en-US" sz="2400" dirty="0">
              <a:solidFill>
                <a:srgbClr val="4BACC6">
                  <a:lumMod val="50000"/>
                </a:srgbClr>
              </a:solidFill>
            </a:endParaRPr>
          </a:p>
          <a:p>
            <a:pPr algn="just">
              <a:defRPr/>
            </a:pPr>
            <a:endParaRPr lang="en-US" sz="2400" dirty="0">
              <a:solidFill>
                <a:srgbClr val="4BACC6">
                  <a:lumMod val="50000"/>
                </a:srgbClr>
              </a:solidFill>
            </a:endParaRPr>
          </a:p>
          <a:p>
            <a:pPr algn="just">
              <a:defRPr/>
            </a:pPr>
            <a:r>
              <a:rPr lang="pl-PL" sz="2400" dirty="0">
                <a:solidFill>
                  <a:srgbClr val="4BACC6">
                    <a:lumMod val="50000"/>
                  </a:srgbClr>
                </a:solidFill>
              </a:rPr>
              <a:t>2) </a:t>
            </a:r>
            <a:r>
              <a:rPr lang="en-US" sz="2400" dirty="0">
                <a:solidFill>
                  <a:srgbClr val="4BACC6">
                    <a:lumMod val="50000"/>
                  </a:srgbClr>
                </a:solidFill>
              </a:rPr>
              <a:t>By substitution -&gt;</a:t>
            </a:r>
            <a:r>
              <a:rPr lang="pl-PL" sz="2400" dirty="0">
                <a:solidFill>
                  <a:srgbClr val="4BACC6">
                    <a:lumMod val="50000"/>
                  </a:srgbClr>
                </a:solidFill>
              </a:rPr>
              <a:t> </a:t>
            </a:r>
            <a:r>
              <a:rPr lang="en-US" sz="2400" dirty="0">
                <a:solidFill>
                  <a:srgbClr val="4BACC6">
                    <a:lumMod val="50000"/>
                  </a:srgbClr>
                </a:solidFill>
              </a:rPr>
              <a:t>from the budget constraint, </a:t>
            </a:r>
            <a:r>
              <a:rPr lang="pl-PL" sz="2400" dirty="0">
                <a:solidFill>
                  <a:srgbClr val="4BACC6">
                    <a:lumMod val="50000"/>
                  </a:srgbClr>
                </a:solidFill>
              </a:rPr>
              <a:t>we </a:t>
            </a:r>
            <a:r>
              <a:rPr lang="pl-PL" sz="2400" dirty="0" err="1">
                <a:solidFill>
                  <a:srgbClr val="4BACC6">
                    <a:lumMod val="50000"/>
                  </a:srgbClr>
                </a:solidFill>
              </a:rPr>
              <a:t>can</a:t>
            </a:r>
            <a:r>
              <a:rPr lang="en-US" sz="2400" dirty="0">
                <a:solidFill>
                  <a:srgbClr val="4BACC6">
                    <a:lumMod val="50000"/>
                  </a:srgbClr>
                </a:solidFill>
              </a:rPr>
              <a:t> obtained one variable as a function of the other and inserted into the objective function to solve a simple one-variable optimization problem. </a:t>
            </a:r>
            <a:endParaRPr kumimoji="0" lang="en-US" sz="2400" b="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16139429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ytuł 1">
            <a:extLst>
              <a:ext uri="{FF2B5EF4-FFF2-40B4-BE49-F238E27FC236}">
                <a16:creationId xmlns:a16="http://schemas.microsoft.com/office/drawing/2014/main" id="{3242D28B-716F-18ED-FEED-1249D892E436}"/>
              </a:ext>
            </a:extLst>
          </p:cNvPr>
          <p:cNvSpPr txBox="1">
            <a:spLocks/>
          </p:cNvSpPr>
          <p:nvPr/>
        </p:nvSpPr>
        <p:spPr>
          <a:xfrm>
            <a:off x="-1" y="-13886"/>
            <a:ext cx="12192001" cy="1187024"/>
          </a:xfrm>
          <a:prstGeom prst="rect">
            <a:avLst/>
          </a:prstGeom>
          <a:solidFill>
            <a:schemeClr val="accent5">
              <a:lumMod val="20000"/>
              <a:lumOff val="80000"/>
            </a:schemeClr>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l-PL" sz="3600" b="1" dirty="0" err="1">
                <a:solidFill>
                  <a:schemeClr val="accent5">
                    <a:lumMod val="50000"/>
                  </a:schemeClr>
                </a:solidFill>
                <a:latin typeface="+mn-lt"/>
              </a:rPr>
              <a:t>Utility</a:t>
            </a:r>
            <a:r>
              <a:rPr lang="pl-PL" sz="3600" b="1" dirty="0">
                <a:solidFill>
                  <a:schemeClr val="accent5">
                    <a:lumMod val="50000"/>
                  </a:schemeClr>
                </a:solidFill>
                <a:latin typeface="+mn-lt"/>
              </a:rPr>
              <a:t> - the </a:t>
            </a:r>
            <a:r>
              <a:rPr lang="en-GB" altLang="pl-PL" sz="3600" b="1" dirty="0">
                <a:solidFill>
                  <a:schemeClr val="accent5">
                    <a:lumMod val="50000"/>
                  </a:schemeClr>
                </a:solidFill>
                <a:latin typeface="+mn-lt"/>
              </a:rPr>
              <a:t>equilibrium</a:t>
            </a:r>
            <a:endParaRPr lang="en-GB" sz="3600" b="1" i="1" dirty="0">
              <a:solidFill>
                <a:schemeClr val="accent5">
                  <a:lumMod val="50000"/>
                </a:schemeClr>
              </a:solidFill>
            </a:endParaRPr>
          </a:p>
        </p:txBody>
      </p:sp>
      <p:sp>
        <p:nvSpPr>
          <p:cNvPr id="3" name="Prostokąt 3"/>
          <p:cNvSpPr>
            <a:spLocks noGrp="1" noChangeArrowheads="1"/>
          </p:cNvSpPr>
          <p:nvPr>
            <p:ph type="title"/>
          </p:nvPr>
        </p:nvSpPr>
        <p:spPr>
          <a:xfrm>
            <a:off x="157455" y="1228007"/>
            <a:ext cx="3971925" cy="1088439"/>
          </a:xfrm>
        </p:spPr>
        <p:txBody>
          <a:bodyPr wrap="square">
            <a:spAutoFit/>
          </a:bodyPr>
          <a:lstStyle/>
          <a:p>
            <a:pPr algn="l">
              <a:lnSpc>
                <a:spcPct val="110000"/>
              </a:lnSpc>
              <a:defRPr/>
            </a:pPr>
            <a:r>
              <a:rPr lang="en-US" sz="2000" b="1" i="1" dirty="0">
                <a:solidFill>
                  <a:schemeClr val="accent5">
                    <a:lumMod val="50000"/>
                  </a:schemeClr>
                </a:solidFill>
                <a:sym typeface="Symbol" pitchFamily="18" charset="2"/>
              </a:rPr>
              <a:t>L/x</a:t>
            </a:r>
            <a:r>
              <a:rPr lang="pl-PL" sz="2000" b="1" i="1" dirty="0">
                <a:solidFill>
                  <a:schemeClr val="accent5">
                    <a:lumMod val="50000"/>
                  </a:schemeClr>
                </a:solidFill>
                <a:sym typeface="Symbol" pitchFamily="18" charset="2"/>
              </a:rPr>
              <a:t>1</a:t>
            </a:r>
            <a:r>
              <a:rPr lang="en-US" sz="2000" b="1" i="1" dirty="0">
                <a:solidFill>
                  <a:schemeClr val="accent5">
                    <a:lumMod val="50000"/>
                  </a:schemeClr>
                </a:solidFill>
                <a:sym typeface="Symbol" pitchFamily="18" charset="2"/>
              </a:rPr>
              <a:t> = </a:t>
            </a:r>
            <a:r>
              <a:rPr lang="pl-PL" sz="2000" b="1" i="1" dirty="0">
                <a:solidFill>
                  <a:schemeClr val="accent5">
                    <a:lumMod val="50000"/>
                  </a:schemeClr>
                </a:solidFill>
                <a:sym typeface="Symbol" pitchFamily="18" charset="2"/>
              </a:rPr>
              <a:t>ax1</a:t>
            </a:r>
            <a:r>
              <a:rPr lang="pl-PL" sz="2000" b="1" i="1" baseline="30000" dirty="0">
                <a:solidFill>
                  <a:schemeClr val="accent5">
                    <a:lumMod val="50000"/>
                  </a:schemeClr>
                </a:solidFill>
                <a:sym typeface="Symbol" pitchFamily="18" charset="2"/>
              </a:rPr>
              <a:t>a</a:t>
            </a:r>
            <a:r>
              <a:rPr lang="en-US" sz="2000" b="1" i="1" baseline="30000" dirty="0">
                <a:solidFill>
                  <a:schemeClr val="accent5">
                    <a:lumMod val="50000"/>
                  </a:schemeClr>
                </a:solidFill>
                <a:sym typeface="Symbol" pitchFamily="18" charset="2"/>
              </a:rPr>
              <a:t>-1</a:t>
            </a:r>
            <a:r>
              <a:rPr lang="pl-PL" sz="2000" b="1" i="1" dirty="0">
                <a:solidFill>
                  <a:schemeClr val="accent5">
                    <a:lumMod val="50000"/>
                  </a:schemeClr>
                </a:solidFill>
                <a:sym typeface="Symbol" pitchFamily="18" charset="2"/>
              </a:rPr>
              <a:t>x2</a:t>
            </a:r>
            <a:r>
              <a:rPr lang="pl-PL" sz="2000" b="1" i="1" baseline="30000" dirty="0">
                <a:solidFill>
                  <a:schemeClr val="accent5">
                    <a:lumMod val="50000"/>
                  </a:schemeClr>
                </a:solidFill>
                <a:sym typeface="Symbol" pitchFamily="18" charset="2"/>
              </a:rPr>
              <a:t>b</a:t>
            </a:r>
            <a:r>
              <a:rPr lang="en-US" sz="2000" b="1" i="1" dirty="0">
                <a:solidFill>
                  <a:schemeClr val="accent5">
                    <a:lumMod val="50000"/>
                  </a:schemeClr>
                </a:solidFill>
                <a:sym typeface="Symbol" pitchFamily="18" charset="2"/>
              </a:rPr>
              <a:t> </a:t>
            </a:r>
            <a:r>
              <a:rPr lang="pl-PL" sz="2000" b="1" i="1" dirty="0">
                <a:solidFill>
                  <a:schemeClr val="accent5">
                    <a:lumMod val="50000"/>
                  </a:schemeClr>
                </a:solidFill>
                <a:sym typeface="Symbol" pitchFamily="18" charset="2"/>
              </a:rPr>
              <a:t>+</a:t>
            </a:r>
            <a:r>
              <a:rPr lang="en-US" sz="2000" b="1" i="1" dirty="0">
                <a:solidFill>
                  <a:schemeClr val="accent5">
                    <a:lumMod val="50000"/>
                  </a:schemeClr>
                </a:solidFill>
                <a:sym typeface="Symbol" pitchFamily="18" charset="2"/>
              </a:rPr>
              <a:t> p</a:t>
            </a:r>
            <a:r>
              <a:rPr lang="pl-PL" sz="2000" b="1" i="1" dirty="0">
                <a:solidFill>
                  <a:schemeClr val="accent5">
                    <a:lumMod val="50000"/>
                  </a:schemeClr>
                </a:solidFill>
                <a:sym typeface="Symbol" pitchFamily="18" charset="2"/>
              </a:rPr>
              <a:t>1</a:t>
            </a:r>
            <a:r>
              <a:rPr lang="en-US" sz="2000" b="1" i="1" dirty="0">
                <a:solidFill>
                  <a:schemeClr val="accent5">
                    <a:lumMod val="50000"/>
                  </a:schemeClr>
                </a:solidFill>
                <a:sym typeface="Symbol" pitchFamily="18" charset="2"/>
              </a:rPr>
              <a:t> </a:t>
            </a:r>
            <a:r>
              <a:rPr lang="pl-PL" sz="2000" b="1" i="1" dirty="0">
                <a:solidFill>
                  <a:schemeClr val="accent5">
                    <a:lumMod val="50000"/>
                  </a:schemeClr>
                </a:solidFill>
                <a:sym typeface="Symbol" pitchFamily="18" charset="2"/>
              </a:rPr>
              <a:t>   </a:t>
            </a:r>
            <a:r>
              <a:rPr lang="en-US" sz="2000" b="1" i="1" dirty="0">
                <a:solidFill>
                  <a:schemeClr val="accent5">
                    <a:lumMod val="50000"/>
                  </a:schemeClr>
                </a:solidFill>
                <a:sym typeface="Symbol" pitchFamily="18" charset="2"/>
              </a:rPr>
              <a:t>= 0</a:t>
            </a:r>
            <a:br>
              <a:rPr lang="en-US" sz="2000" b="1" i="1" dirty="0">
                <a:solidFill>
                  <a:schemeClr val="accent5">
                    <a:lumMod val="50000"/>
                  </a:schemeClr>
                </a:solidFill>
                <a:sym typeface="Symbol" pitchFamily="18" charset="2"/>
              </a:rPr>
            </a:br>
            <a:r>
              <a:rPr lang="en-US" sz="2000" b="1" i="1" dirty="0">
                <a:solidFill>
                  <a:schemeClr val="accent5">
                    <a:lumMod val="50000"/>
                  </a:schemeClr>
                </a:solidFill>
                <a:sym typeface="Symbol" pitchFamily="18" charset="2"/>
              </a:rPr>
              <a:t>L/</a:t>
            </a:r>
            <a:r>
              <a:rPr lang="pl-PL" sz="2000" b="1" i="1" dirty="0">
                <a:solidFill>
                  <a:schemeClr val="accent5">
                    <a:lumMod val="50000"/>
                  </a:schemeClr>
                </a:solidFill>
                <a:sym typeface="Symbol" pitchFamily="18" charset="2"/>
              </a:rPr>
              <a:t>x2</a:t>
            </a:r>
            <a:r>
              <a:rPr lang="en-US" sz="2000" b="1" i="1" dirty="0">
                <a:solidFill>
                  <a:schemeClr val="accent5">
                    <a:lumMod val="50000"/>
                  </a:schemeClr>
                </a:solidFill>
                <a:sym typeface="Symbol" pitchFamily="18" charset="2"/>
              </a:rPr>
              <a:t> = </a:t>
            </a:r>
            <a:r>
              <a:rPr lang="pl-PL" sz="2000" b="1" i="1" dirty="0">
                <a:solidFill>
                  <a:schemeClr val="accent5">
                    <a:lumMod val="50000"/>
                  </a:schemeClr>
                </a:solidFill>
                <a:sym typeface="Symbol" pitchFamily="18" charset="2"/>
              </a:rPr>
              <a:t>b</a:t>
            </a:r>
            <a:r>
              <a:rPr lang="en-US" sz="2000" b="1" i="1" dirty="0">
                <a:solidFill>
                  <a:schemeClr val="accent5">
                    <a:lumMod val="50000"/>
                  </a:schemeClr>
                </a:solidFill>
                <a:sym typeface="Symbol" pitchFamily="18" charset="2"/>
              </a:rPr>
              <a:t>x</a:t>
            </a:r>
            <a:r>
              <a:rPr lang="pl-PL" sz="2000" b="1" i="1" dirty="0">
                <a:solidFill>
                  <a:schemeClr val="accent5">
                    <a:lumMod val="50000"/>
                  </a:schemeClr>
                </a:solidFill>
                <a:sym typeface="Symbol" pitchFamily="18" charset="2"/>
              </a:rPr>
              <a:t>1</a:t>
            </a:r>
            <a:r>
              <a:rPr lang="pl-PL" sz="2000" b="1" i="1" baseline="30000" dirty="0">
                <a:solidFill>
                  <a:schemeClr val="accent5">
                    <a:lumMod val="50000"/>
                  </a:schemeClr>
                </a:solidFill>
                <a:sym typeface="Symbol" pitchFamily="18" charset="2"/>
              </a:rPr>
              <a:t>a</a:t>
            </a:r>
            <a:r>
              <a:rPr lang="pl-PL" sz="2000" b="1" i="1" dirty="0">
                <a:solidFill>
                  <a:schemeClr val="accent5">
                    <a:lumMod val="50000"/>
                  </a:schemeClr>
                </a:solidFill>
                <a:sym typeface="Symbol" pitchFamily="18" charset="2"/>
              </a:rPr>
              <a:t>x2</a:t>
            </a:r>
            <a:r>
              <a:rPr lang="pl-PL" sz="2000" b="1" i="1" baseline="30000" dirty="0">
                <a:solidFill>
                  <a:schemeClr val="accent5">
                    <a:lumMod val="50000"/>
                  </a:schemeClr>
                </a:solidFill>
                <a:sym typeface="Symbol" pitchFamily="18" charset="2"/>
              </a:rPr>
              <a:t>b</a:t>
            </a:r>
            <a:r>
              <a:rPr lang="en-US" sz="2000" b="1" i="1" baseline="30000" dirty="0">
                <a:solidFill>
                  <a:schemeClr val="accent5">
                    <a:lumMod val="50000"/>
                  </a:schemeClr>
                </a:solidFill>
                <a:sym typeface="Symbol" pitchFamily="18" charset="2"/>
              </a:rPr>
              <a:t>-1</a:t>
            </a:r>
            <a:r>
              <a:rPr lang="en-US" sz="2000" b="1" i="1" dirty="0">
                <a:solidFill>
                  <a:schemeClr val="accent5">
                    <a:lumMod val="50000"/>
                  </a:schemeClr>
                </a:solidFill>
                <a:sym typeface="Symbol" pitchFamily="18" charset="2"/>
              </a:rPr>
              <a:t> </a:t>
            </a:r>
            <a:r>
              <a:rPr lang="pl-PL" sz="2000" b="1" i="1" dirty="0">
                <a:solidFill>
                  <a:schemeClr val="accent5">
                    <a:lumMod val="50000"/>
                  </a:schemeClr>
                </a:solidFill>
                <a:sym typeface="Symbol" pitchFamily="18" charset="2"/>
              </a:rPr>
              <a:t>+</a:t>
            </a:r>
            <a:r>
              <a:rPr lang="en-US" sz="2000" b="1" i="1" dirty="0">
                <a:solidFill>
                  <a:schemeClr val="accent5">
                    <a:lumMod val="50000"/>
                  </a:schemeClr>
                </a:solidFill>
                <a:sym typeface="Symbol" pitchFamily="18" charset="2"/>
              </a:rPr>
              <a:t> p</a:t>
            </a:r>
            <a:r>
              <a:rPr lang="pl-PL" sz="2000" b="1" i="1" dirty="0">
                <a:solidFill>
                  <a:schemeClr val="accent5">
                    <a:lumMod val="50000"/>
                  </a:schemeClr>
                </a:solidFill>
                <a:sym typeface="Symbol" pitchFamily="18" charset="2"/>
              </a:rPr>
              <a:t>2    </a:t>
            </a:r>
            <a:r>
              <a:rPr lang="en-US" sz="2000" b="1" i="1" dirty="0">
                <a:solidFill>
                  <a:schemeClr val="accent5">
                    <a:lumMod val="50000"/>
                  </a:schemeClr>
                </a:solidFill>
                <a:sym typeface="Symbol" pitchFamily="18" charset="2"/>
              </a:rPr>
              <a:t>= 0</a:t>
            </a:r>
            <a:br>
              <a:rPr lang="en-US" sz="2000" b="1" i="1" dirty="0">
                <a:solidFill>
                  <a:schemeClr val="accent5">
                    <a:lumMod val="50000"/>
                  </a:schemeClr>
                </a:solidFill>
                <a:sym typeface="Symbol" pitchFamily="18" charset="2"/>
              </a:rPr>
            </a:br>
            <a:r>
              <a:rPr lang="en-US" sz="2000" b="1" i="1" dirty="0">
                <a:solidFill>
                  <a:schemeClr val="accent5">
                    <a:lumMod val="50000"/>
                  </a:schemeClr>
                </a:solidFill>
                <a:sym typeface="Symbol" pitchFamily="18" charset="2"/>
              </a:rPr>
              <a:t>L/ </a:t>
            </a:r>
            <a:r>
              <a:rPr lang="pl-PL" sz="2000" b="1" i="1" dirty="0">
                <a:solidFill>
                  <a:schemeClr val="accent5">
                    <a:lumMod val="50000"/>
                  </a:schemeClr>
                </a:solidFill>
                <a:sym typeface="Symbol" pitchFamily="18" charset="2"/>
              </a:rPr>
              <a:t>  </a:t>
            </a:r>
            <a:r>
              <a:rPr lang="en-US" sz="2000" b="1" i="1" dirty="0">
                <a:solidFill>
                  <a:schemeClr val="accent5">
                    <a:lumMod val="50000"/>
                  </a:schemeClr>
                </a:solidFill>
                <a:sym typeface="Symbol" pitchFamily="18" charset="2"/>
              </a:rPr>
              <a:t>= </a:t>
            </a:r>
            <a:r>
              <a:rPr lang="en-US" sz="2000" b="1" i="1" dirty="0">
                <a:solidFill>
                  <a:schemeClr val="accent5">
                    <a:lumMod val="50000"/>
                  </a:schemeClr>
                </a:solidFill>
              </a:rPr>
              <a:t>p</a:t>
            </a:r>
            <a:r>
              <a:rPr lang="pl-PL" sz="2000" b="1" i="1" dirty="0">
                <a:solidFill>
                  <a:schemeClr val="accent5">
                    <a:lumMod val="50000"/>
                  </a:schemeClr>
                </a:solidFill>
              </a:rPr>
              <a:t>1</a:t>
            </a:r>
            <a:r>
              <a:rPr lang="en-US" sz="2000" b="1" i="1" dirty="0">
                <a:solidFill>
                  <a:schemeClr val="accent5">
                    <a:lumMod val="50000"/>
                  </a:schemeClr>
                </a:solidFill>
              </a:rPr>
              <a:t>x</a:t>
            </a:r>
            <a:r>
              <a:rPr lang="pl-PL" sz="2000" b="1" i="1" dirty="0">
                <a:solidFill>
                  <a:schemeClr val="accent5">
                    <a:lumMod val="50000"/>
                  </a:schemeClr>
                </a:solidFill>
              </a:rPr>
              <a:t>1</a:t>
            </a:r>
            <a:r>
              <a:rPr lang="en-US" sz="2000" b="1" i="1" baseline="-25000" dirty="0">
                <a:solidFill>
                  <a:schemeClr val="accent5">
                    <a:lumMod val="50000"/>
                  </a:schemeClr>
                </a:solidFill>
              </a:rPr>
              <a:t> </a:t>
            </a:r>
            <a:r>
              <a:rPr lang="pl-PL" sz="2000" b="1" i="1" dirty="0">
                <a:solidFill>
                  <a:schemeClr val="accent5">
                    <a:lumMod val="50000"/>
                  </a:schemeClr>
                </a:solidFill>
              </a:rPr>
              <a:t>+</a:t>
            </a:r>
            <a:r>
              <a:rPr lang="en-US" sz="2000" b="1" i="1" dirty="0">
                <a:solidFill>
                  <a:schemeClr val="accent5">
                    <a:lumMod val="50000"/>
                  </a:schemeClr>
                </a:solidFill>
              </a:rPr>
              <a:t> p</a:t>
            </a:r>
            <a:r>
              <a:rPr lang="pl-PL" sz="2000" b="1" i="1" dirty="0">
                <a:solidFill>
                  <a:schemeClr val="accent5">
                    <a:lumMod val="50000"/>
                  </a:schemeClr>
                </a:solidFill>
              </a:rPr>
              <a:t>2x2</a:t>
            </a:r>
            <a:r>
              <a:rPr lang="en-US" sz="2000" b="1" i="1" baseline="-25000" dirty="0">
                <a:solidFill>
                  <a:schemeClr val="accent5">
                    <a:lumMod val="50000"/>
                  </a:schemeClr>
                </a:solidFill>
              </a:rPr>
              <a:t> </a:t>
            </a:r>
            <a:r>
              <a:rPr lang="pl-PL" sz="2000" b="1" i="1" dirty="0">
                <a:solidFill>
                  <a:schemeClr val="accent5">
                    <a:lumMod val="50000"/>
                  </a:schemeClr>
                </a:solidFill>
              </a:rPr>
              <a:t>- M</a:t>
            </a:r>
            <a:r>
              <a:rPr lang="pl-PL" sz="2000" b="1" i="1" baseline="-25000" dirty="0">
                <a:solidFill>
                  <a:schemeClr val="accent5">
                    <a:lumMod val="50000"/>
                  </a:schemeClr>
                </a:solidFill>
              </a:rPr>
              <a:t>     </a:t>
            </a:r>
            <a:r>
              <a:rPr lang="en-US" sz="2000" b="1" i="1" dirty="0">
                <a:solidFill>
                  <a:schemeClr val="accent5">
                    <a:lumMod val="50000"/>
                  </a:schemeClr>
                </a:solidFill>
                <a:sym typeface="Symbol" pitchFamily="18" charset="2"/>
              </a:rPr>
              <a:t>= 0</a:t>
            </a:r>
            <a:endParaRPr lang="pl-PL" sz="2000" b="1" i="1" dirty="0">
              <a:solidFill>
                <a:schemeClr val="accent5">
                  <a:lumMod val="50000"/>
                </a:schemeClr>
              </a:solidFill>
              <a:sym typeface="Symbol" pitchFamily="18" charset="2"/>
            </a:endParaRPr>
          </a:p>
        </p:txBody>
      </p:sp>
      <p:sp>
        <p:nvSpPr>
          <p:cNvPr id="4" name="Prostokąt 3"/>
          <p:cNvSpPr txBox="1">
            <a:spLocks noChangeArrowheads="1"/>
          </p:cNvSpPr>
          <p:nvPr/>
        </p:nvSpPr>
        <p:spPr bwMode="auto">
          <a:xfrm>
            <a:off x="4199449" y="1215384"/>
            <a:ext cx="2419350" cy="1091068"/>
          </a:xfrm>
          <a:prstGeom prst="rect">
            <a:avLst/>
          </a:prstGeom>
          <a:noFill/>
          <a:ln w="9525">
            <a:noFill/>
            <a:miter lim="800000"/>
            <a:headEnd/>
            <a:tailEnd/>
          </a:ln>
        </p:spPr>
        <p:txBody>
          <a:bodyPr anchor="ctr">
            <a:spAutoFit/>
          </a:bodyPr>
          <a:lstStyle/>
          <a:p>
            <a:pPr algn="l">
              <a:lnSpc>
                <a:spcPct val="110000"/>
              </a:lnSpc>
              <a:defRPr/>
            </a:pPr>
            <a:r>
              <a:rPr lang="pl-PL" sz="2000" b="1" i="1" dirty="0">
                <a:solidFill>
                  <a:schemeClr val="accent5">
                    <a:lumMod val="50000"/>
                  </a:schemeClr>
                </a:solidFill>
                <a:latin typeface="+mj-lt"/>
                <a:ea typeface="+mj-ea"/>
                <a:cs typeface="+mj-cs"/>
                <a:sym typeface="Symbol" pitchFamily="18" charset="2"/>
              </a:rPr>
              <a:t>ax1</a:t>
            </a:r>
            <a:r>
              <a:rPr lang="pl-PL" sz="2000" b="1" i="1" baseline="30000" dirty="0">
                <a:solidFill>
                  <a:schemeClr val="accent5">
                    <a:lumMod val="50000"/>
                  </a:schemeClr>
                </a:solidFill>
                <a:latin typeface="+mj-lt"/>
                <a:ea typeface="+mj-ea"/>
                <a:cs typeface="+mj-cs"/>
                <a:sym typeface="Symbol" pitchFamily="18" charset="2"/>
              </a:rPr>
              <a:t>a</a:t>
            </a:r>
            <a:r>
              <a:rPr lang="en-US" sz="2000" b="1" i="1" baseline="30000" dirty="0">
                <a:solidFill>
                  <a:schemeClr val="accent5">
                    <a:lumMod val="50000"/>
                  </a:schemeClr>
                </a:solidFill>
                <a:latin typeface="+mj-lt"/>
                <a:ea typeface="+mj-ea"/>
                <a:cs typeface="+mj-cs"/>
                <a:sym typeface="Symbol" pitchFamily="18" charset="2"/>
              </a:rPr>
              <a:t>-1</a:t>
            </a:r>
            <a:r>
              <a:rPr lang="pl-PL" sz="2000" b="1" i="1" dirty="0">
                <a:solidFill>
                  <a:schemeClr val="accent5">
                    <a:lumMod val="50000"/>
                  </a:schemeClr>
                </a:solidFill>
                <a:latin typeface="+mj-lt"/>
                <a:ea typeface="+mj-ea"/>
                <a:cs typeface="+mj-cs"/>
                <a:sym typeface="Symbol" pitchFamily="18" charset="2"/>
              </a:rPr>
              <a:t>x2</a:t>
            </a:r>
            <a:r>
              <a:rPr lang="pl-PL" sz="2000" b="1" i="1" baseline="30000" dirty="0">
                <a:solidFill>
                  <a:schemeClr val="accent5">
                    <a:lumMod val="50000"/>
                  </a:schemeClr>
                </a:solidFill>
                <a:latin typeface="+mj-lt"/>
                <a:ea typeface="+mj-ea"/>
                <a:cs typeface="+mj-cs"/>
                <a:sym typeface="Symbol" pitchFamily="18" charset="2"/>
              </a:rPr>
              <a:t>b</a:t>
            </a:r>
            <a:r>
              <a:rPr lang="en-US" sz="2000" b="1" i="1" dirty="0">
                <a:solidFill>
                  <a:schemeClr val="accent5">
                    <a:lumMod val="50000"/>
                  </a:schemeClr>
                </a:solidFill>
                <a:latin typeface="+mj-lt"/>
                <a:ea typeface="+mj-ea"/>
                <a:cs typeface="+mj-cs"/>
                <a:sym typeface="Symbol" pitchFamily="18" charset="2"/>
              </a:rPr>
              <a:t> </a:t>
            </a:r>
            <a:r>
              <a:rPr lang="pl-PL" sz="2000" b="1" i="1" dirty="0">
                <a:solidFill>
                  <a:schemeClr val="accent5">
                    <a:lumMod val="50000"/>
                  </a:schemeClr>
                </a:solidFill>
                <a:latin typeface="+mj-lt"/>
                <a:ea typeface="+mj-ea"/>
                <a:cs typeface="+mj-cs"/>
                <a:sym typeface="Symbol" pitchFamily="18" charset="2"/>
              </a:rPr>
              <a:t> </a:t>
            </a:r>
            <a:r>
              <a:rPr lang="en-US" sz="2000" b="1" i="1" dirty="0">
                <a:solidFill>
                  <a:schemeClr val="accent5">
                    <a:lumMod val="50000"/>
                  </a:schemeClr>
                </a:solidFill>
                <a:latin typeface="+mj-lt"/>
                <a:ea typeface="+mj-ea"/>
                <a:cs typeface="+mj-cs"/>
                <a:sym typeface="Symbol" pitchFamily="18" charset="2"/>
              </a:rPr>
              <a:t>= </a:t>
            </a:r>
            <a:r>
              <a:rPr lang="pl-PL" sz="2000" b="1" i="1" dirty="0">
                <a:solidFill>
                  <a:schemeClr val="accent5">
                    <a:lumMod val="50000"/>
                  </a:schemeClr>
                </a:solidFill>
                <a:latin typeface="+mj-lt"/>
                <a:ea typeface="+mj-ea"/>
                <a:cs typeface="+mj-cs"/>
                <a:sym typeface="Symbol" pitchFamily="18" charset="2"/>
              </a:rPr>
              <a:t>-</a:t>
            </a:r>
            <a:r>
              <a:rPr lang="en-US" sz="2000" b="1" i="1" dirty="0">
                <a:solidFill>
                  <a:schemeClr val="accent5">
                    <a:lumMod val="50000"/>
                  </a:schemeClr>
                </a:solidFill>
                <a:latin typeface="+mj-lt"/>
                <a:ea typeface="+mj-ea"/>
                <a:cs typeface="+mj-cs"/>
                <a:sym typeface="Symbol" pitchFamily="18" charset="2"/>
              </a:rPr>
              <a:t>p</a:t>
            </a:r>
            <a:r>
              <a:rPr lang="pl-PL" sz="2000" b="1" i="1" dirty="0">
                <a:solidFill>
                  <a:schemeClr val="accent5">
                    <a:lumMod val="50000"/>
                  </a:schemeClr>
                </a:solidFill>
                <a:latin typeface="+mj-lt"/>
                <a:ea typeface="+mj-ea"/>
                <a:cs typeface="+mj-cs"/>
                <a:sym typeface="Symbol" pitchFamily="18" charset="2"/>
              </a:rPr>
              <a:t>1</a:t>
            </a:r>
            <a:r>
              <a:rPr lang="en-US" sz="2000" b="1" i="1" dirty="0">
                <a:solidFill>
                  <a:schemeClr val="accent5">
                    <a:lumMod val="50000"/>
                  </a:schemeClr>
                </a:solidFill>
                <a:latin typeface="+mj-lt"/>
                <a:ea typeface="+mj-ea"/>
                <a:cs typeface="+mj-cs"/>
                <a:sym typeface="Symbol" pitchFamily="18" charset="2"/>
              </a:rPr>
              <a:t> 0</a:t>
            </a:r>
          </a:p>
          <a:p>
            <a:pPr algn="l">
              <a:lnSpc>
                <a:spcPct val="110000"/>
              </a:lnSpc>
              <a:defRPr/>
            </a:pPr>
            <a:r>
              <a:rPr lang="pl-PL" sz="2000" b="1" i="1" dirty="0">
                <a:solidFill>
                  <a:schemeClr val="accent5">
                    <a:lumMod val="50000"/>
                  </a:schemeClr>
                </a:solidFill>
                <a:latin typeface="+mj-lt"/>
                <a:ea typeface="+mj-ea"/>
                <a:cs typeface="+mj-cs"/>
                <a:sym typeface="Symbol" pitchFamily="18" charset="2"/>
              </a:rPr>
              <a:t>b</a:t>
            </a:r>
            <a:r>
              <a:rPr lang="en-US" sz="2000" b="1" i="1" dirty="0">
                <a:solidFill>
                  <a:schemeClr val="accent5">
                    <a:lumMod val="50000"/>
                  </a:schemeClr>
                </a:solidFill>
                <a:latin typeface="+mj-lt"/>
                <a:ea typeface="+mj-ea"/>
                <a:cs typeface="+mj-cs"/>
                <a:sym typeface="Symbol" pitchFamily="18" charset="2"/>
              </a:rPr>
              <a:t>x</a:t>
            </a:r>
            <a:r>
              <a:rPr lang="pl-PL" sz="2000" b="1" i="1" dirty="0">
                <a:solidFill>
                  <a:schemeClr val="accent5">
                    <a:lumMod val="50000"/>
                  </a:schemeClr>
                </a:solidFill>
                <a:latin typeface="+mj-lt"/>
                <a:ea typeface="+mj-ea"/>
                <a:cs typeface="+mj-cs"/>
                <a:sym typeface="Symbol" pitchFamily="18" charset="2"/>
              </a:rPr>
              <a:t>1</a:t>
            </a:r>
            <a:r>
              <a:rPr lang="pl-PL" sz="2000" b="1" i="1" baseline="30000" dirty="0">
                <a:solidFill>
                  <a:schemeClr val="accent5">
                    <a:lumMod val="50000"/>
                  </a:schemeClr>
                </a:solidFill>
                <a:latin typeface="+mj-lt"/>
                <a:ea typeface="+mj-ea"/>
                <a:cs typeface="+mj-cs"/>
                <a:sym typeface="Symbol" pitchFamily="18" charset="2"/>
              </a:rPr>
              <a:t>a</a:t>
            </a:r>
            <a:r>
              <a:rPr lang="pl-PL" sz="2000" b="1" i="1" dirty="0">
                <a:solidFill>
                  <a:schemeClr val="accent5">
                    <a:lumMod val="50000"/>
                  </a:schemeClr>
                </a:solidFill>
                <a:latin typeface="+mj-lt"/>
                <a:ea typeface="+mj-ea"/>
                <a:cs typeface="+mj-cs"/>
                <a:sym typeface="Symbol" pitchFamily="18" charset="2"/>
              </a:rPr>
              <a:t>x2</a:t>
            </a:r>
            <a:r>
              <a:rPr lang="pl-PL" sz="2000" b="1" i="1" baseline="30000" dirty="0">
                <a:solidFill>
                  <a:schemeClr val="accent5">
                    <a:lumMod val="50000"/>
                  </a:schemeClr>
                </a:solidFill>
                <a:latin typeface="+mj-lt"/>
                <a:ea typeface="+mj-ea"/>
                <a:cs typeface="+mj-cs"/>
                <a:sym typeface="Symbol" pitchFamily="18" charset="2"/>
              </a:rPr>
              <a:t>b</a:t>
            </a:r>
            <a:r>
              <a:rPr lang="en-US" sz="2000" b="1" i="1" baseline="30000" dirty="0">
                <a:solidFill>
                  <a:schemeClr val="accent5">
                    <a:lumMod val="50000"/>
                  </a:schemeClr>
                </a:solidFill>
                <a:latin typeface="+mj-lt"/>
                <a:ea typeface="+mj-ea"/>
                <a:cs typeface="+mj-cs"/>
                <a:sym typeface="Symbol" pitchFamily="18" charset="2"/>
              </a:rPr>
              <a:t>-1</a:t>
            </a:r>
            <a:r>
              <a:rPr lang="en-US" sz="2000" b="1" i="1" dirty="0">
                <a:solidFill>
                  <a:schemeClr val="accent5">
                    <a:lumMod val="50000"/>
                  </a:schemeClr>
                </a:solidFill>
                <a:latin typeface="+mj-lt"/>
                <a:ea typeface="+mj-ea"/>
                <a:cs typeface="+mj-cs"/>
                <a:sym typeface="Symbol" pitchFamily="18" charset="2"/>
              </a:rPr>
              <a:t> </a:t>
            </a:r>
            <a:r>
              <a:rPr lang="pl-PL" sz="2000" b="1" i="1" dirty="0">
                <a:solidFill>
                  <a:schemeClr val="accent5">
                    <a:lumMod val="50000"/>
                  </a:schemeClr>
                </a:solidFill>
                <a:latin typeface="+mj-lt"/>
                <a:ea typeface="+mj-ea"/>
                <a:cs typeface="+mj-cs"/>
                <a:sym typeface="Symbol" pitchFamily="18" charset="2"/>
              </a:rPr>
              <a:t> </a:t>
            </a:r>
            <a:r>
              <a:rPr lang="en-US" sz="2000" b="1" i="1" dirty="0">
                <a:solidFill>
                  <a:schemeClr val="accent5">
                    <a:lumMod val="50000"/>
                  </a:schemeClr>
                </a:solidFill>
                <a:latin typeface="+mj-lt"/>
                <a:ea typeface="+mj-ea"/>
                <a:cs typeface="+mj-cs"/>
                <a:sym typeface="Symbol" pitchFamily="18" charset="2"/>
              </a:rPr>
              <a:t>= </a:t>
            </a:r>
            <a:r>
              <a:rPr lang="pl-PL" sz="2000" b="1" i="1" dirty="0">
                <a:solidFill>
                  <a:schemeClr val="accent5">
                    <a:lumMod val="50000"/>
                  </a:schemeClr>
                </a:solidFill>
                <a:latin typeface="+mj-lt"/>
                <a:ea typeface="+mj-ea"/>
                <a:cs typeface="+mj-cs"/>
                <a:sym typeface="Symbol" pitchFamily="18" charset="2"/>
              </a:rPr>
              <a:t> -</a:t>
            </a:r>
            <a:r>
              <a:rPr lang="en-US" sz="2000" b="1" i="1" dirty="0">
                <a:solidFill>
                  <a:schemeClr val="accent5">
                    <a:lumMod val="50000"/>
                  </a:schemeClr>
                </a:solidFill>
                <a:latin typeface="+mj-lt"/>
                <a:ea typeface="+mj-ea"/>
                <a:cs typeface="+mj-cs"/>
                <a:sym typeface="Symbol" pitchFamily="18" charset="2"/>
              </a:rPr>
              <a:t>p</a:t>
            </a:r>
            <a:r>
              <a:rPr lang="pl-PL" sz="2000" b="1" i="1" dirty="0">
                <a:solidFill>
                  <a:schemeClr val="accent5">
                    <a:lumMod val="50000"/>
                  </a:schemeClr>
                </a:solidFill>
                <a:latin typeface="+mj-lt"/>
                <a:ea typeface="+mj-ea"/>
                <a:cs typeface="+mj-cs"/>
                <a:sym typeface="Symbol" pitchFamily="18" charset="2"/>
              </a:rPr>
              <a:t>2 </a:t>
            </a:r>
            <a:r>
              <a:rPr lang="en-US" sz="2000" b="1" i="1" dirty="0">
                <a:solidFill>
                  <a:schemeClr val="accent5">
                    <a:lumMod val="50000"/>
                  </a:schemeClr>
                </a:solidFill>
                <a:latin typeface="+mj-lt"/>
                <a:ea typeface="+mj-ea"/>
                <a:cs typeface="+mj-cs"/>
                <a:sym typeface="Symbol" pitchFamily="18" charset="2"/>
              </a:rPr>
              <a:t>0</a:t>
            </a:r>
          </a:p>
          <a:p>
            <a:pPr algn="l">
              <a:lnSpc>
                <a:spcPct val="110000"/>
              </a:lnSpc>
              <a:defRPr/>
            </a:pPr>
            <a:r>
              <a:rPr lang="en-US" sz="2000" b="1" i="1" dirty="0">
                <a:solidFill>
                  <a:schemeClr val="accent5">
                    <a:lumMod val="50000"/>
                  </a:schemeClr>
                </a:solidFill>
                <a:latin typeface="+mj-lt"/>
                <a:ea typeface="+mj-ea"/>
                <a:cs typeface="+mj-cs"/>
              </a:rPr>
              <a:t>p</a:t>
            </a:r>
            <a:r>
              <a:rPr lang="pl-PL" sz="2000" b="1" i="1" dirty="0">
                <a:solidFill>
                  <a:schemeClr val="accent5">
                    <a:lumMod val="50000"/>
                  </a:schemeClr>
                </a:solidFill>
                <a:latin typeface="+mj-lt"/>
                <a:ea typeface="+mj-ea"/>
                <a:cs typeface="+mj-cs"/>
              </a:rPr>
              <a:t>1</a:t>
            </a:r>
            <a:r>
              <a:rPr lang="en-US" sz="2000" b="1" i="1" dirty="0">
                <a:solidFill>
                  <a:schemeClr val="accent5">
                    <a:lumMod val="50000"/>
                  </a:schemeClr>
                </a:solidFill>
                <a:latin typeface="+mj-lt"/>
                <a:ea typeface="+mj-ea"/>
                <a:cs typeface="+mj-cs"/>
              </a:rPr>
              <a:t>x</a:t>
            </a:r>
            <a:r>
              <a:rPr lang="pl-PL" sz="2000" b="1" i="1" dirty="0">
                <a:solidFill>
                  <a:schemeClr val="accent5">
                    <a:lumMod val="50000"/>
                  </a:schemeClr>
                </a:solidFill>
                <a:latin typeface="+mj-lt"/>
                <a:ea typeface="+mj-ea"/>
                <a:cs typeface="+mj-cs"/>
              </a:rPr>
              <a:t>1</a:t>
            </a:r>
            <a:r>
              <a:rPr lang="en-US" sz="2000" b="1" i="1" baseline="-25000" dirty="0">
                <a:solidFill>
                  <a:schemeClr val="accent5">
                    <a:lumMod val="50000"/>
                  </a:schemeClr>
                </a:solidFill>
                <a:latin typeface="+mj-lt"/>
                <a:ea typeface="+mj-ea"/>
                <a:cs typeface="+mj-cs"/>
              </a:rPr>
              <a:t> </a:t>
            </a:r>
            <a:r>
              <a:rPr lang="pl-PL" sz="2000" b="1" i="1" dirty="0">
                <a:solidFill>
                  <a:schemeClr val="accent5">
                    <a:lumMod val="50000"/>
                  </a:schemeClr>
                </a:solidFill>
                <a:latin typeface="+mj-lt"/>
                <a:ea typeface="+mj-ea"/>
                <a:cs typeface="+mj-cs"/>
              </a:rPr>
              <a:t>+</a:t>
            </a:r>
            <a:r>
              <a:rPr lang="en-US" sz="2000" b="1" i="1" dirty="0">
                <a:solidFill>
                  <a:schemeClr val="accent5">
                    <a:lumMod val="50000"/>
                  </a:schemeClr>
                </a:solidFill>
                <a:latin typeface="+mj-lt"/>
                <a:ea typeface="+mj-ea"/>
                <a:cs typeface="+mj-cs"/>
              </a:rPr>
              <a:t> p</a:t>
            </a:r>
            <a:r>
              <a:rPr lang="pl-PL" sz="2000" b="1" i="1" dirty="0">
                <a:solidFill>
                  <a:schemeClr val="accent5">
                    <a:lumMod val="50000"/>
                  </a:schemeClr>
                </a:solidFill>
                <a:latin typeface="+mj-lt"/>
                <a:ea typeface="+mj-ea"/>
                <a:cs typeface="+mj-cs"/>
              </a:rPr>
              <a:t>2x2</a:t>
            </a:r>
            <a:r>
              <a:rPr lang="en-US" sz="2000" b="1" i="1" baseline="-25000" dirty="0">
                <a:solidFill>
                  <a:schemeClr val="accent5">
                    <a:lumMod val="50000"/>
                  </a:schemeClr>
                </a:solidFill>
                <a:latin typeface="+mj-lt"/>
                <a:ea typeface="+mj-ea"/>
                <a:cs typeface="+mj-cs"/>
              </a:rPr>
              <a:t> </a:t>
            </a:r>
            <a:r>
              <a:rPr lang="pl-PL" sz="2000" b="1" i="1" dirty="0">
                <a:solidFill>
                  <a:schemeClr val="accent5">
                    <a:lumMod val="50000"/>
                  </a:schemeClr>
                </a:solidFill>
                <a:latin typeface="+mj-lt"/>
                <a:ea typeface="+mj-ea"/>
                <a:cs typeface="+mj-cs"/>
              </a:rPr>
              <a:t>- M</a:t>
            </a:r>
            <a:r>
              <a:rPr lang="pl-PL" sz="2000" b="1" i="1" baseline="-25000" dirty="0">
                <a:solidFill>
                  <a:schemeClr val="accent5">
                    <a:lumMod val="50000"/>
                  </a:schemeClr>
                </a:solidFill>
                <a:latin typeface="+mj-lt"/>
                <a:ea typeface="+mj-ea"/>
                <a:cs typeface="+mj-cs"/>
              </a:rPr>
              <a:t>     </a:t>
            </a:r>
            <a:r>
              <a:rPr lang="en-US" sz="2000" b="1" i="1" dirty="0">
                <a:solidFill>
                  <a:schemeClr val="accent5">
                    <a:lumMod val="50000"/>
                  </a:schemeClr>
                </a:solidFill>
                <a:latin typeface="+mj-lt"/>
                <a:ea typeface="+mj-ea"/>
                <a:cs typeface="+mj-cs"/>
                <a:sym typeface="Symbol" pitchFamily="18" charset="2"/>
              </a:rPr>
              <a:t>= 0</a:t>
            </a:r>
            <a:endParaRPr lang="pl-PL" sz="2000" b="1" i="1" dirty="0">
              <a:solidFill>
                <a:schemeClr val="accent5">
                  <a:lumMod val="50000"/>
                </a:schemeClr>
              </a:solidFill>
              <a:latin typeface="+mj-lt"/>
              <a:ea typeface="+mj-ea"/>
              <a:cs typeface="+mj-cs"/>
              <a:sym typeface="Symbol" pitchFamily="18" charset="2"/>
            </a:endParaRPr>
          </a:p>
        </p:txBody>
      </p:sp>
      <p:sp>
        <p:nvSpPr>
          <p:cNvPr id="6" name="Prostokąt 3"/>
          <p:cNvSpPr txBox="1">
            <a:spLocks noChangeArrowheads="1"/>
          </p:cNvSpPr>
          <p:nvPr/>
        </p:nvSpPr>
        <p:spPr bwMode="auto">
          <a:xfrm>
            <a:off x="7352135" y="1102123"/>
            <a:ext cx="2505075" cy="1106487"/>
          </a:xfrm>
          <a:prstGeom prst="rect">
            <a:avLst/>
          </a:prstGeom>
          <a:noFill/>
          <a:ln w="9525">
            <a:noFill/>
            <a:miter lim="800000"/>
            <a:headEnd/>
            <a:tailEnd/>
          </a:ln>
        </p:spPr>
        <p:txBody>
          <a:bodyPr anchor="ctr">
            <a:spAutoFit/>
          </a:bodyPr>
          <a:lstStyle/>
          <a:p>
            <a:pPr algn="l">
              <a:lnSpc>
                <a:spcPct val="110000"/>
              </a:lnSpc>
              <a:defRPr/>
            </a:pPr>
            <a:r>
              <a:rPr lang="pl-PL" sz="2000" b="1" i="1" dirty="0">
                <a:solidFill>
                  <a:schemeClr val="accent5">
                    <a:lumMod val="50000"/>
                  </a:schemeClr>
                </a:solidFill>
                <a:latin typeface="+mj-lt"/>
                <a:ea typeface="+mj-ea"/>
                <a:cs typeface="+mj-cs"/>
                <a:sym typeface="Symbol" pitchFamily="18" charset="2"/>
              </a:rPr>
              <a:t>ax1</a:t>
            </a:r>
            <a:r>
              <a:rPr lang="pl-PL" sz="2000" b="1" i="1" baseline="30000" dirty="0">
                <a:solidFill>
                  <a:schemeClr val="accent5">
                    <a:lumMod val="50000"/>
                  </a:schemeClr>
                </a:solidFill>
                <a:latin typeface="+mj-lt"/>
                <a:ea typeface="+mj-ea"/>
                <a:cs typeface="+mj-cs"/>
                <a:sym typeface="Symbol" pitchFamily="18" charset="2"/>
              </a:rPr>
              <a:t>a</a:t>
            </a:r>
            <a:r>
              <a:rPr lang="en-US" sz="2000" b="1" i="1" baseline="30000" dirty="0">
                <a:solidFill>
                  <a:schemeClr val="accent5">
                    <a:lumMod val="50000"/>
                  </a:schemeClr>
                </a:solidFill>
                <a:latin typeface="+mj-lt"/>
                <a:ea typeface="+mj-ea"/>
                <a:cs typeface="+mj-cs"/>
                <a:sym typeface="Symbol" pitchFamily="18" charset="2"/>
              </a:rPr>
              <a:t>-1</a:t>
            </a:r>
            <a:r>
              <a:rPr lang="pl-PL" sz="2000" b="1" i="1" dirty="0">
                <a:solidFill>
                  <a:schemeClr val="accent5">
                    <a:lumMod val="50000"/>
                  </a:schemeClr>
                </a:solidFill>
                <a:latin typeface="+mj-lt"/>
                <a:ea typeface="+mj-ea"/>
                <a:cs typeface="+mj-cs"/>
                <a:sym typeface="Symbol" pitchFamily="18" charset="2"/>
              </a:rPr>
              <a:t>x2</a:t>
            </a:r>
            <a:r>
              <a:rPr lang="pl-PL" sz="2000" b="1" i="1" baseline="30000" dirty="0">
                <a:solidFill>
                  <a:schemeClr val="accent5">
                    <a:lumMod val="50000"/>
                  </a:schemeClr>
                </a:solidFill>
                <a:latin typeface="+mj-lt"/>
                <a:ea typeface="+mj-ea"/>
                <a:cs typeface="+mj-cs"/>
                <a:sym typeface="Symbol" pitchFamily="18" charset="2"/>
              </a:rPr>
              <a:t>b</a:t>
            </a:r>
            <a:r>
              <a:rPr lang="en-US" sz="2000" b="1" i="1" dirty="0">
                <a:solidFill>
                  <a:schemeClr val="accent5">
                    <a:lumMod val="50000"/>
                  </a:schemeClr>
                </a:solidFill>
                <a:latin typeface="+mj-lt"/>
                <a:ea typeface="+mj-ea"/>
                <a:cs typeface="+mj-cs"/>
                <a:sym typeface="Symbol" pitchFamily="18" charset="2"/>
              </a:rPr>
              <a:t> </a:t>
            </a:r>
            <a:r>
              <a:rPr lang="pl-PL" sz="2000" b="1" i="1" dirty="0">
                <a:solidFill>
                  <a:schemeClr val="accent5">
                    <a:lumMod val="50000"/>
                  </a:schemeClr>
                </a:solidFill>
                <a:latin typeface="+mj-lt"/>
                <a:ea typeface="+mj-ea"/>
                <a:cs typeface="+mj-cs"/>
                <a:sym typeface="Symbol" pitchFamily="18" charset="2"/>
              </a:rPr>
              <a:t>        -</a:t>
            </a:r>
            <a:r>
              <a:rPr lang="en-US" sz="2000" b="1" i="1" dirty="0">
                <a:solidFill>
                  <a:schemeClr val="accent5">
                    <a:lumMod val="50000"/>
                  </a:schemeClr>
                </a:solidFill>
                <a:latin typeface="+mj-lt"/>
                <a:ea typeface="+mj-ea"/>
                <a:cs typeface="+mj-cs"/>
                <a:sym typeface="Symbol" pitchFamily="18" charset="2"/>
              </a:rPr>
              <a:t>p</a:t>
            </a:r>
            <a:r>
              <a:rPr lang="pl-PL" sz="2000" b="1" i="1" dirty="0">
                <a:solidFill>
                  <a:schemeClr val="accent5">
                    <a:lumMod val="50000"/>
                  </a:schemeClr>
                </a:solidFill>
                <a:latin typeface="+mj-lt"/>
                <a:ea typeface="+mj-ea"/>
                <a:cs typeface="+mj-cs"/>
                <a:sym typeface="Symbol" pitchFamily="18" charset="2"/>
              </a:rPr>
              <a:t>1</a:t>
            </a:r>
            <a:r>
              <a:rPr lang="en-US" sz="2000" b="1" i="1" dirty="0">
                <a:solidFill>
                  <a:schemeClr val="accent5">
                    <a:lumMod val="50000"/>
                  </a:schemeClr>
                </a:solidFill>
                <a:latin typeface="+mj-lt"/>
                <a:ea typeface="+mj-ea"/>
                <a:cs typeface="+mj-cs"/>
                <a:sym typeface="Symbol" pitchFamily="18" charset="2"/>
              </a:rPr>
              <a:t> </a:t>
            </a:r>
            <a:endParaRPr lang="pl-PL" sz="2000" b="1" i="1" dirty="0">
              <a:solidFill>
                <a:schemeClr val="accent5">
                  <a:lumMod val="50000"/>
                </a:schemeClr>
              </a:solidFill>
              <a:latin typeface="+mj-lt"/>
              <a:ea typeface="+mj-ea"/>
              <a:cs typeface="+mj-cs"/>
              <a:sym typeface="Symbol" pitchFamily="18" charset="2"/>
            </a:endParaRPr>
          </a:p>
          <a:p>
            <a:pPr algn="l">
              <a:lnSpc>
                <a:spcPct val="110000"/>
              </a:lnSpc>
              <a:defRPr/>
            </a:pPr>
            <a:r>
              <a:rPr lang="pl-PL" sz="2000" b="1" i="1" dirty="0">
                <a:solidFill>
                  <a:schemeClr val="accent5">
                    <a:lumMod val="50000"/>
                  </a:schemeClr>
                </a:solidFill>
                <a:latin typeface="+mj-lt"/>
                <a:ea typeface="+mj-ea"/>
                <a:cs typeface="+mj-cs"/>
                <a:sym typeface="Symbol" pitchFamily="18" charset="2"/>
              </a:rPr>
              <a:t>--------------  =  ---------</a:t>
            </a:r>
          </a:p>
          <a:p>
            <a:pPr algn="l">
              <a:lnSpc>
                <a:spcPct val="110000"/>
              </a:lnSpc>
              <a:defRPr/>
            </a:pPr>
            <a:r>
              <a:rPr lang="pl-PL" sz="2000" b="1" i="1" dirty="0">
                <a:solidFill>
                  <a:schemeClr val="accent5">
                    <a:lumMod val="50000"/>
                  </a:schemeClr>
                </a:solidFill>
                <a:latin typeface="+mj-lt"/>
                <a:ea typeface="+mj-ea"/>
                <a:cs typeface="+mj-cs"/>
                <a:sym typeface="Symbol" pitchFamily="18" charset="2"/>
              </a:rPr>
              <a:t>b</a:t>
            </a:r>
            <a:r>
              <a:rPr lang="en-US" sz="2000" b="1" i="1" dirty="0">
                <a:solidFill>
                  <a:schemeClr val="accent5">
                    <a:lumMod val="50000"/>
                  </a:schemeClr>
                </a:solidFill>
                <a:latin typeface="+mj-lt"/>
                <a:ea typeface="+mj-ea"/>
                <a:cs typeface="+mj-cs"/>
                <a:sym typeface="Symbol" pitchFamily="18" charset="2"/>
              </a:rPr>
              <a:t>x</a:t>
            </a:r>
            <a:r>
              <a:rPr lang="pl-PL" sz="2000" b="1" i="1" dirty="0">
                <a:solidFill>
                  <a:schemeClr val="accent5">
                    <a:lumMod val="50000"/>
                  </a:schemeClr>
                </a:solidFill>
                <a:latin typeface="+mj-lt"/>
                <a:ea typeface="+mj-ea"/>
                <a:cs typeface="+mj-cs"/>
                <a:sym typeface="Symbol" pitchFamily="18" charset="2"/>
              </a:rPr>
              <a:t>1</a:t>
            </a:r>
            <a:r>
              <a:rPr lang="pl-PL" sz="2000" b="1" i="1" baseline="30000" dirty="0">
                <a:solidFill>
                  <a:schemeClr val="accent5">
                    <a:lumMod val="50000"/>
                  </a:schemeClr>
                </a:solidFill>
                <a:latin typeface="+mj-lt"/>
                <a:ea typeface="+mj-ea"/>
                <a:cs typeface="+mj-cs"/>
                <a:sym typeface="Symbol" pitchFamily="18" charset="2"/>
              </a:rPr>
              <a:t>a</a:t>
            </a:r>
            <a:r>
              <a:rPr lang="pl-PL" sz="2000" b="1" i="1" dirty="0">
                <a:solidFill>
                  <a:schemeClr val="accent5">
                    <a:lumMod val="50000"/>
                  </a:schemeClr>
                </a:solidFill>
                <a:latin typeface="+mj-lt"/>
                <a:ea typeface="+mj-ea"/>
                <a:cs typeface="+mj-cs"/>
                <a:sym typeface="Symbol" pitchFamily="18" charset="2"/>
              </a:rPr>
              <a:t>x2</a:t>
            </a:r>
            <a:r>
              <a:rPr lang="pl-PL" sz="2000" b="1" i="1" baseline="30000" dirty="0">
                <a:solidFill>
                  <a:schemeClr val="accent5">
                    <a:lumMod val="50000"/>
                  </a:schemeClr>
                </a:solidFill>
                <a:latin typeface="+mj-lt"/>
                <a:ea typeface="+mj-ea"/>
                <a:cs typeface="+mj-cs"/>
                <a:sym typeface="Symbol" pitchFamily="18" charset="2"/>
              </a:rPr>
              <a:t>b</a:t>
            </a:r>
            <a:r>
              <a:rPr lang="en-US" sz="2000" b="1" i="1" baseline="30000" dirty="0">
                <a:solidFill>
                  <a:schemeClr val="accent5">
                    <a:lumMod val="50000"/>
                  </a:schemeClr>
                </a:solidFill>
                <a:latin typeface="+mj-lt"/>
                <a:ea typeface="+mj-ea"/>
                <a:cs typeface="+mj-cs"/>
                <a:sym typeface="Symbol" pitchFamily="18" charset="2"/>
              </a:rPr>
              <a:t>-1</a:t>
            </a:r>
            <a:r>
              <a:rPr lang="en-US" sz="2000" b="1" i="1" dirty="0">
                <a:solidFill>
                  <a:schemeClr val="accent5">
                    <a:lumMod val="50000"/>
                  </a:schemeClr>
                </a:solidFill>
                <a:latin typeface="+mj-lt"/>
                <a:ea typeface="+mj-ea"/>
                <a:cs typeface="+mj-cs"/>
                <a:sym typeface="Symbol" pitchFamily="18" charset="2"/>
              </a:rPr>
              <a:t> </a:t>
            </a:r>
            <a:r>
              <a:rPr lang="pl-PL" sz="2000" b="1" i="1" dirty="0">
                <a:solidFill>
                  <a:schemeClr val="accent5">
                    <a:lumMod val="50000"/>
                  </a:schemeClr>
                </a:solidFill>
                <a:latin typeface="+mj-lt"/>
                <a:ea typeface="+mj-ea"/>
                <a:cs typeface="+mj-cs"/>
                <a:sym typeface="Symbol" pitchFamily="18" charset="2"/>
              </a:rPr>
              <a:t>        -</a:t>
            </a:r>
            <a:r>
              <a:rPr lang="en-US" sz="2000" b="1" i="1" dirty="0">
                <a:solidFill>
                  <a:schemeClr val="accent5">
                    <a:lumMod val="50000"/>
                  </a:schemeClr>
                </a:solidFill>
                <a:latin typeface="+mj-lt"/>
                <a:ea typeface="+mj-ea"/>
                <a:cs typeface="+mj-cs"/>
                <a:sym typeface="Symbol" pitchFamily="18" charset="2"/>
              </a:rPr>
              <a:t>p</a:t>
            </a:r>
            <a:r>
              <a:rPr lang="pl-PL" sz="2000" b="1" i="1" dirty="0">
                <a:solidFill>
                  <a:schemeClr val="accent5">
                    <a:lumMod val="50000"/>
                  </a:schemeClr>
                </a:solidFill>
                <a:latin typeface="+mj-lt"/>
                <a:ea typeface="+mj-ea"/>
                <a:cs typeface="+mj-cs"/>
                <a:sym typeface="Symbol" pitchFamily="18" charset="2"/>
              </a:rPr>
              <a:t>2</a:t>
            </a:r>
            <a:endParaRPr lang="en-US" sz="2000" b="1" i="1" dirty="0">
              <a:solidFill>
                <a:schemeClr val="accent5">
                  <a:lumMod val="50000"/>
                </a:schemeClr>
              </a:solidFill>
              <a:latin typeface="+mj-lt"/>
              <a:ea typeface="+mj-ea"/>
              <a:cs typeface="+mj-cs"/>
              <a:sym typeface="Symbol" pitchFamily="18" charset="2"/>
            </a:endParaRPr>
          </a:p>
        </p:txBody>
      </p:sp>
      <p:sp>
        <p:nvSpPr>
          <p:cNvPr id="7" name="Prostokąt 3"/>
          <p:cNvSpPr txBox="1">
            <a:spLocks noChangeArrowheads="1"/>
          </p:cNvSpPr>
          <p:nvPr/>
        </p:nvSpPr>
        <p:spPr bwMode="auto">
          <a:xfrm>
            <a:off x="157455" y="2453092"/>
            <a:ext cx="2619375" cy="2106731"/>
          </a:xfrm>
          <a:prstGeom prst="rect">
            <a:avLst/>
          </a:prstGeom>
          <a:noFill/>
          <a:ln w="9525">
            <a:noFill/>
            <a:miter lim="800000"/>
            <a:headEnd/>
            <a:tailEnd/>
          </a:ln>
        </p:spPr>
        <p:txBody>
          <a:bodyPr anchor="ctr">
            <a:spAutoFit/>
          </a:bodyPr>
          <a:lstStyle/>
          <a:p>
            <a:pPr algn="l">
              <a:lnSpc>
                <a:spcPct val="110000"/>
              </a:lnSpc>
              <a:defRPr/>
            </a:pPr>
            <a:r>
              <a:rPr lang="pl-PL" sz="2000" b="1" i="1" dirty="0">
                <a:solidFill>
                  <a:schemeClr val="accent5">
                    <a:lumMod val="50000"/>
                  </a:schemeClr>
                </a:solidFill>
                <a:latin typeface="+mj-lt"/>
                <a:ea typeface="+mj-ea"/>
                <a:cs typeface="+mj-cs"/>
                <a:sym typeface="Symbol" pitchFamily="18" charset="2"/>
              </a:rPr>
              <a:t>ax1</a:t>
            </a:r>
            <a:r>
              <a:rPr lang="pl-PL" sz="2000" b="1" i="1" baseline="30000" dirty="0">
                <a:solidFill>
                  <a:schemeClr val="accent5">
                    <a:lumMod val="50000"/>
                  </a:schemeClr>
                </a:solidFill>
                <a:latin typeface="+mj-lt"/>
                <a:ea typeface="+mj-ea"/>
                <a:cs typeface="+mj-cs"/>
                <a:sym typeface="Symbol" pitchFamily="18" charset="2"/>
              </a:rPr>
              <a:t>a</a:t>
            </a:r>
            <a:r>
              <a:rPr lang="en-US" sz="2000" b="1" i="1" baseline="30000" dirty="0">
                <a:solidFill>
                  <a:schemeClr val="accent5">
                    <a:lumMod val="50000"/>
                  </a:schemeClr>
                </a:solidFill>
                <a:latin typeface="+mj-lt"/>
                <a:ea typeface="+mj-ea"/>
                <a:cs typeface="+mj-cs"/>
                <a:sym typeface="Symbol" pitchFamily="18" charset="2"/>
              </a:rPr>
              <a:t>-1</a:t>
            </a:r>
            <a:r>
              <a:rPr lang="pl-PL" sz="2000" b="1" i="1" dirty="0">
                <a:solidFill>
                  <a:schemeClr val="accent5">
                    <a:lumMod val="50000"/>
                  </a:schemeClr>
                </a:solidFill>
                <a:latin typeface="+mj-lt"/>
                <a:ea typeface="+mj-ea"/>
                <a:cs typeface="+mj-cs"/>
                <a:sym typeface="Symbol" pitchFamily="18" charset="2"/>
              </a:rPr>
              <a:t>x2</a:t>
            </a:r>
            <a:r>
              <a:rPr lang="pl-PL" sz="2000" b="1" i="1" baseline="30000" dirty="0">
                <a:solidFill>
                  <a:schemeClr val="accent5">
                    <a:lumMod val="50000"/>
                  </a:schemeClr>
                </a:solidFill>
                <a:latin typeface="+mj-lt"/>
                <a:ea typeface="+mj-ea"/>
                <a:cs typeface="+mj-cs"/>
                <a:sym typeface="Symbol" pitchFamily="18" charset="2"/>
              </a:rPr>
              <a:t>b</a:t>
            </a:r>
            <a:r>
              <a:rPr lang="en-US" sz="2000" b="1" i="1" dirty="0">
                <a:solidFill>
                  <a:schemeClr val="accent5">
                    <a:lumMod val="50000"/>
                  </a:schemeClr>
                </a:solidFill>
                <a:latin typeface="+mj-lt"/>
                <a:ea typeface="+mj-ea"/>
                <a:cs typeface="+mj-cs"/>
                <a:sym typeface="Symbol" pitchFamily="18" charset="2"/>
              </a:rPr>
              <a:t> </a:t>
            </a:r>
            <a:r>
              <a:rPr lang="pl-PL" sz="2000" b="1" i="1" dirty="0">
                <a:solidFill>
                  <a:schemeClr val="accent5">
                    <a:lumMod val="50000"/>
                  </a:schemeClr>
                </a:solidFill>
                <a:latin typeface="+mj-lt"/>
                <a:ea typeface="+mj-ea"/>
                <a:cs typeface="+mj-cs"/>
                <a:sym typeface="Symbol" pitchFamily="18" charset="2"/>
              </a:rPr>
              <a:t>          </a:t>
            </a:r>
            <a:r>
              <a:rPr lang="en-US" sz="2000" b="1" i="1" dirty="0">
                <a:solidFill>
                  <a:schemeClr val="accent5">
                    <a:lumMod val="50000"/>
                  </a:schemeClr>
                </a:solidFill>
                <a:latin typeface="+mj-lt"/>
                <a:ea typeface="+mj-ea"/>
                <a:cs typeface="+mj-cs"/>
                <a:sym typeface="Symbol" pitchFamily="18" charset="2"/>
              </a:rPr>
              <a:t>p</a:t>
            </a:r>
            <a:r>
              <a:rPr lang="pl-PL" sz="2000" b="1" i="1" dirty="0">
                <a:solidFill>
                  <a:schemeClr val="accent5">
                    <a:lumMod val="50000"/>
                  </a:schemeClr>
                </a:solidFill>
                <a:latin typeface="+mj-lt"/>
                <a:ea typeface="+mj-ea"/>
                <a:cs typeface="+mj-cs"/>
                <a:sym typeface="Symbol" pitchFamily="18" charset="2"/>
              </a:rPr>
              <a:t>1</a:t>
            </a:r>
            <a:r>
              <a:rPr lang="en-US" sz="2000" b="1" i="1" dirty="0">
                <a:solidFill>
                  <a:schemeClr val="accent5">
                    <a:lumMod val="50000"/>
                  </a:schemeClr>
                </a:solidFill>
                <a:latin typeface="+mj-lt"/>
                <a:ea typeface="+mj-ea"/>
                <a:cs typeface="+mj-cs"/>
                <a:sym typeface="Symbol" pitchFamily="18" charset="2"/>
              </a:rPr>
              <a:t> </a:t>
            </a:r>
            <a:endParaRPr lang="pl-PL" sz="2000" b="1" i="1" dirty="0">
              <a:solidFill>
                <a:schemeClr val="accent5">
                  <a:lumMod val="50000"/>
                </a:schemeClr>
              </a:solidFill>
              <a:latin typeface="+mj-lt"/>
              <a:ea typeface="+mj-ea"/>
              <a:cs typeface="+mj-cs"/>
              <a:sym typeface="Symbol" pitchFamily="18" charset="2"/>
            </a:endParaRPr>
          </a:p>
          <a:p>
            <a:pPr algn="l">
              <a:lnSpc>
                <a:spcPct val="110000"/>
              </a:lnSpc>
              <a:defRPr/>
            </a:pPr>
            <a:r>
              <a:rPr lang="pl-PL" sz="2000" b="1" i="1" dirty="0">
                <a:solidFill>
                  <a:schemeClr val="accent5">
                    <a:lumMod val="50000"/>
                  </a:schemeClr>
                </a:solidFill>
                <a:latin typeface="+mj-lt"/>
                <a:ea typeface="+mj-ea"/>
                <a:cs typeface="+mj-cs"/>
                <a:sym typeface="Symbol" pitchFamily="18" charset="2"/>
              </a:rPr>
              <a:t>--------------  =  ---------</a:t>
            </a:r>
          </a:p>
          <a:p>
            <a:pPr algn="l">
              <a:lnSpc>
                <a:spcPct val="110000"/>
              </a:lnSpc>
              <a:defRPr/>
            </a:pPr>
            <a:r>
              <a:rPr lang="pl-PL" sz="2000" b="1" i="1" dirty="0">
                <a:solidFill>
                  <a:schemeClr val="accent5">
                    <a:lumMod val="50000"/>
                  </a:schemeClr>
                </a:solidFill>
                <a:latin typeface="+mj-lt"/>
                <a:ea typeface="+mj-ea"/>
                <a:cs typeface="+mj-cs"/>
                <a:sym typeface="Symbol" pitchFamily="18" charset="2"/>
              </a:rPr>
              <a:t>b</a:t>
            </a:r>
            <a:r>
              <a:rPr lang="en-US" sz="2000" b="1" i="1" dirty="0">
                <a:solidFill>
                  <a:schemeClr val="accent5">
                    <a:lumMod val="50000"/>
                  </a:schemeClr>
                </a:solidFill>
                <a:latin typeface="+mj-lt"/>
                <a:ea typeface="+mj-ea"/>
                <a:cs typeface="+mj-cs"/>
                <a:sym typeface="Symbol" pitchFamily="18" charset="2"/>
              </a:rPr>
              <a:t>x</a:t>
            </a:r>
            <a:r>
              <a:rPr lang="pl-PL" sz="2000" b="1" i="1" dirty="0">
                <a:solidFill>
                  <a:schemeClr val="accent5">
                    <a:lumMod val="50000"/>
                  </a:schemeClr>
                </a:solidFill>
                <a:latin typeface="+mj-lt"/>
                <a:ea typeface="+mj-ea"/>
                <a:cs typeface="+mj-cs"/>
                <a:sym typeface="Symbol" pitchFamily="18" charset="2"/>
              </a:rPr>
              <a:t>1</a:t>
            </a:r>
            <a:r>
              <a:rPr lang="pl-PL" sz="2000" b="1" i="1" baseline="30000" dirty="0">
                <a:solidFill>
                  <a:schemeClr val="accent5">
                    <a:lumMod val="50000"/>
                  </a:schemeClr>
                </a:solidFill>
                <a:latin typeface="+mj-lt"/>
                <a:ea typeface="+mj-ea"/>
                <a:cs typeface="+mj-cs"/>
                <a:sym typeface="Symbol" pitchFamily="18" charset="2"/>
              </a:rPr>
              <a:t>a</a:t>
            </a:r>
            <a:r>
              <a:rPr lang="pl-PL" sz="2000" b="1" i="1" dirty="0">
                <a:solidFill>
                  <a:schemeClr val="accent5">
                    <a:lumMod val="50000"/>
                  </a:schemeClr>
                </a:solidFill>
                <a:latin typeface="+mj-lt"/>
                <a:ea typeface="+mj-ea"/>
                <a:cs typeface="+mj-cs"/>
                <a:sym typeface="Symbol" pitchFamily="18" charset="2"/>
              </a:rPr>
              <a:t>x2</a:t>
            </a:r>
            <a:r>
              <a:rPr lang="pl-PL" sz="2000" b="1" i="1" baseline="30000" dirty="0">
                <a:solidFill>
                  <a:schemeClr val="accent5">
                    <a:lumMod val="50000"/>
                  </a:schemeClr>
                </a:solidFill>
                <a:latin typeface="+mj-lt"/>
                <a:ea typeface="+mj-ea"/>
                <a:cs typeface="+mj-cs"/>
                <a:sym typeface="Symbol" pitchFamily="18" charset="2"/>
              </a:rPr>
              <a:t>b</a:t>
            </a:r>
            <a:r>
              <a:rPr lang="en-US" sz="2000" b="1" i="1" baseline="30000" dirty="0">
                <a:solidFill>
                  <a:schemeClr val="accent5">
                    <a:lumMod val="50000"/>
                  </a:schemeClr>
                </a:solidFill>
                <a:latin typeface="+mj-lt"/>
                <a:ea typeface="+mj-ea"/>
                <a:cs typeface="+mj-cs"/>
                <a:sym typeface="Symbol" pitchFamily="18" charset="2"/>
              </a:rPr>
              <a:t>-1</a:t>
            </a:r>
            <a:r>
              <a:rPr lang="en-US" sz="2000" b="1" i="1" dirty="0">
                <a:solidFill>
                  <a:schemeClr val="accent5">
                    <a:lumMod val="50000"/>
                  </a:schemeClr>
                </a:solidFill>
                <a:latin typeface="+mj-lt"/>
                <a:ea typeface="+mj-ea"/>
                <a:cs typeface="+mj-cs"/>
                <a:sym typeface="Symbol" pitchFamily="18" charset="2"/>
              </a:rPr>
              <a:t> </a:t>
            </a:r>
            <a:r>
              <a:rPr lang="pl-PL" sz="2000" b="1" i="1" dirty="0">
                <a:solidFill>
                  <a:schemeClr val="accent5">
                    <a:lumMod val="50000"/>
                  </a:schemeClr>
                </a:solidFill>
                <a:latin typeface="+mj-lt"/>
                <a:ea typeface="+mj-ea"/>
                <a:cs typeface="+mj-cs"/>
                <a:sym typeface="Symbol" pitchFamily="18" charset="2"/>
              </a:rPr>
              <a:t>          </a:t>
            </a:r>
            <a:r>
              <a:rPr lang="en-US" sz="2000" b="1" i="1" dirty="0">
                <a:solidFill>
                  <a:schemeClr val="accent5">
                    <a:lumMod val="50000"/>
                  </a:schemeClr>
                </a:solidFill>
                <a:latin typeface="+mj-lt"/>
                <a:ea typeface="+mj-ea"/>
                <a:cs typeface="+mj-cs"/>
                <a:sym typeface="Symbol" pitchFamily="18" charset="2"/>
              </a:rPr>
              <a:t>p</a:t>
            </a:r>
            <a:r>
              <a:rPr lang="pl-PL" sz="2000" b="1" i="1" dirty="0">
                <a:solidFill>
                  <a:schemeClr val="accent5">
                    <a:lumMod val="50000"/>
                  </a:schemeClr>
                </a:solidFill>
                <a:latin typeface="+mj-lt"/>
                <a:ea typeface="+mj-ea"/>
                <a:cs typeface="+mj-cs"/>
                <a:sym typeface="Symbol" pitchFamily="18" charset="2"/>
              </a:rPr>
              <a:t>2</a:t>
            </a:r>
          </a:p>
          <a:p>
            <a:pPr algn="l">
              <a:lnSpc>
                <a:spcPct val="110000"/>
              </a:lnSpc>
              <a:defRPr/>
            </a:pPr>
            <a:endParaRPr lang="pl-PL" sz="2000" b="1" i="1" dirty="0">
              <a:solidFill>
                <a:schemeClr val="accent5">
                  <a:lumMod val="50000"/>
                </a:schemeClr>
              </a:solidFill>
              <a:latin typeface="+mj-lt"/>
              <a:ea typeface="+mj-ea"/>
              <a:cs typeface="+mj-cs"/>
              <a:sym typeface="Symbol" pitchFamily="18" charset="2"/>
            </a:endParaRPr>
          </a:p>
          <a:p>
            <a:pPr algn="l">
              <a:lnSpc>
                <a:spcPct val="110000"/>
              </a:lnSpc>
              <a:defRPr/>
            </a:pPr>
            <a:r>
              <a:rPr lang="pl-PL" sz="2000" b="1" i="1" dirty="0">
                <a:solidFill>
                  <a:schemeClr val="accent5">
                    <a:lumMod val="50000"/>
                  </a:schemeClr>
                </a:solidFill>
                <a:latin typeface="+mj-lt"/>
                <a:ea typeface="+mj-ea"/>
                <a:cs typeface="+mj-cs"/>
                <a:sym typeface="Symbol" pitchFamily="18" charset="2"/>
              </a:rPr>
              <a:t>p1x1 + p2x2 - M     = 0</a:t>
            </a:r>
          </a:p>
          <a:p>
            <a:pPr algn="l">
              <a:lnSpc>
                <a:spcPct val="110000"/>
              </a:lnSpc>
              <a:defRPr/>
            </a:pPr>
            <a:endParaRPr lang="en-US" sz="2000" b="1" i="1" dirty="0">
              <a:solidFill>
                <a:schemeClr val="accent5">
                  <a:lumMod val="50000"/>
                </a:schemeClr>
              </a:solidFill>
              <a:latin typeface="+mj-lt"/>
              <a:ea typeface="+mj-ea"/>
              <a:cs typeface="+mj-cs"/>
              <a:sym typeface="Symbol" pitchFamily="18" charset="2"/>
            </a:endParaRPr>
          </a:p>
        </p:txBody>
      </p:sp>
      <p:sp>
        <p:nvSpPr>
          <p:cNvPr id="8" name="Prostokąt 3"/>
          <p:cNvSpPr txBox="1">
            <a:spLocks noChangeArrowheads="1"/>
          </p:cNvSpPr>
          <p:nvPr/>
        </p:nvSpPr>
        <p:spPr bwMode="auto">
          <a:xfrm>
            <a:off x="7193529" y="2517016"/>
            <a:ext cx="3525520" cy="991169"/>
          </a:xfrm>
          <a:prstGeom prst="rect">
            <a:avLst/>
          </a:prstGeom>
          <a:noFill/>
          <a:ln w="9525">
            <a:noFill/>
            <a:miter lim="800000"/>
            <a:headEnd/>
            <a:tailEnd/>
          </a:ln>
        </p:spPr>
        <p:txBody>
          <a:bodyPr wrap="square" anchor="ctr">
            <a:spAutoFit/>
          </a:bodyPr>
          <a:lstStyle/>
          <a:p>
            <a:pPr algn="l">
              <a:lnSpc>
                <a:spcPct val="110000"/>
              </a:lnSpc>
              <a:defRPr/>
            </a:pPr>
            <a:r>
              <a:rPr lang="pl-PL" b="1" i="1" dirty="0">
                <a:solidFill>
                  <a:schemeClr val="accent5">
                    <a:lumMod val="50000"/>
                  </a:schemeClr>
                </a:solidFill>
                <a:latin typeface="+mj-lt"/>
                <a:ea typeface="+mj-ea"/>
                <a:cs typeface="+mj-cs"/>
                <a:sym typeface="Symbol" pitchFamily="18" charset="2"/>
              </a:rPr>
              <a:t>MU1</a:t>
            </a:r>
            <a:r>
              <a:rPr lang="en-US" b="1" i="1" dirty="0">
                <a:solidFill>
                  <a:schemeClr val="accent5">
                    <a:lumMod val="50000"/>
                  </a:schemeClr>
                </a:solidFill>
                <a:latin typeface="+mj-lt"/>
                <a:ea typeface="+mj-ea"/>
                <a:cs typeface="+mj-cs"/>
                <a:sym typeface="Symbol" pitchFamily="18" charset="2"/>
              </a:rPr>
              <a:t> </a:t>
            </a:r>
            <a:r>
              <a:rPr lang="pl-PL" b="1" i="1" dirty="0">
                <a:solidFill>
                  <a:schemeClr val="accent5">
                    <a:lumMod val="50000"/>
                  </a:schemeClr>
                </a:solidFill>
                <a:latin typeface="+mj-lt"/>
                <a:ea typeface="+mj-ea"/>
                <a:cs typeface="+mj-cs"/>
                <a:sym typeface="Symbol" pitchFamily="18" charset="2"/>
              </a:rPr>
              <a:t>          </a:t>
            </a:r>
            <a:r>
              <a:rPr lang="en-US" b="1" i="1" dirty="0">
                <a:solidFill>
                  <a:schemeClr val="accent5">
                    <a:lumMod val="50000"/>
                  </a:schemeClr>
                </a:solidFill>
                <a:latin typeface="+mj-lt"/>
                <a:ea typeface="+mj-ea"/>
                <a:cs typeface="+mj-cs"/>
                <a:sym typeface="Symbol" pitchFamily="18" charset="2"/>
              </a:rPr>
              <a:t>p</a:t>
            </a:r>
            <a:r>
              <a:rPr lang="pl-PL" b="1" i="1" dirty="0">
                <a:solidFill>
                  <a:schemeClr val="accent5">
                    <a:lumMod val="50000"/>
                  </a:schemeClr>
                </a:solidFill>
                <a:latin typeface="+mj-lt"/>
                <a:ea typeface="+mj-ea"/>
                <a:cs typeface="+mj-cs"/>
                <a:sym typeface="Symbol" pitchFamily="18" charset="2"/>
              </a:rPr>
              <a:t>1</a:t>
            </a:r>
            <a:r>
              <a:rPr lang="en-US" b="1" i="1" dirty="0">
                <a:solidFill>
                  <a:schemeClr val="accent5">
                    <a:lumMod val="50000"/>
                  </a:schemeClr>
                </a:solidFill>
                <a:latin typeface="+mj-lt"/>
                <a:ea typeface="+mj-ea"/>
                <a:cs typeface="+mj-cs"/>
                <a:sym typeface="Symbol" pitchFamily="18" charset="2"/>
              </a:rPr>
              <a:t> </a:t>
            </a:r>
            <a:endParaRPr lang="pl-PL" b="1" i="1" dirty="0">
              <a:solidFill>
                <a:schemeClr val="accent5">
                  <a:lumMod val="50000"/>
                </a:schemeClr>
              </a:solidFill>
              <a:latin typeface="+mj-lt"/>
              <a:ea typeface="+mj-ea"/>
              <a:cs typeface="+mj-cs"/>
              <a:sym typeface="Symbol" pitchFamily="18" charset="2"/>
            </a:endParaRPr>
          </a:p>
          <a:p>
            <a:pPr algn="l">
              <a:lnSpc>
                <a:spcPct val="110000"/>
              </a:lnSpc>
              <a:defRPr/>
            </a:pPr>
            <a:r>
              <a:rPr lang="pl-PL" b="1" i="1" dirty="0">
                <a:solidFill>
                  <a:schemeClr val="accent5">
                    <a:lumMod val="50000"/>
                  </a:schemeClr>
                </a:solidFill>
                <a:latin typeface="+mj-lt"/>
                <a:ea typeface="+mj-ea"/>
                <a:cs typeface="+mj-cs"/>
                <a:sym typeface="Symbol" pitchFamily="18" charset="2"/>
              </a:rPr>
              <a:t>--------   =   ------ = MRS</a:t>
            </a:r>
          </a:p>
          <a:p>
            <a:pPr algn="l">
              <a:lnSpc>
                <a:spcPct val="110000"/>
              </a:lnSpc>
              <a:defRPr/>
            </a:pPr>
            <a:r>
              <a:rPr lang="pl-PL" b="1" i="1" dirty="0">
                <a:solidFill>
                  <a:schemeClr val="accent5">
                    <a:lumMod val="50000"/>
                  </a:schemeClr>
                </a:solidFill>
                <a:latin typeface="+mj-lt"/>
                <a:ea typeface="+mj-ea"/>
                <a:cs typeface="+mj-cs"/>
                <a:sym typeface="Symbol" pitchFamily="18" charset="2"/>
              </a:rPr>
              <a:t>MU2</a:t>
            </a:r>
            <a:r>
              <a:rPr lang="en-US" b="1" i="1" dirty="0">
                <a:solidFill>
                  <a:schemeClr val="accent5">
                    <a:lumMod val="50000"/>
                  </a:schemeClr>
                </a:solidFill>
                <a:latin typeface="+mj-lt"/>
                <a:ea typeface="+mj-ea"/>
                <a:cs typeface="+mj-cs"/>
                <a:sym typeface="Symbol" pitchFamily="18" charset="2"/>
              </a:rPr>
              <a:t> </a:t>
            </a:r>
            <a:r>
              <a:rPr lang="pl-PL" b="1" i="1" dirty="0">
                <a:solidFill>
                  <a:schemeClr val="accent5">
                    <a:lumMod val="50000"/>
                  </a:schemeClr>
                </a:solidFill>
                <a:latin typeface="+mj-lt"/>
                <a:ea typeface="+mj-ea"/>
                <a:cs typeface="+mj-cs"/>
                <a:sym typeface="Symbol" pitchFamily="18" charset="2"/>
              </a:rPr>
              <a:t>          </a:t>
            </a:r>
            <a:r>
              <a:rPr lang="en-US" b="1" i="1" dirty="0">
                <a:solidFill>
                  <a:schemeClr val="accent5">
                    <a:lumMod val="50000"/>
                  </a:schemeClr>
                </a:solidFill>
                <a:latin typeface="+mj-lt"/>
                <a:ea typeface="+mj-ea"/>
                <a:cs typeface="+mj-cs"/>
                <a:sym typeface="Symbol" pitchFamily="18" charset="2"/>
              </a:rPr>
              <a:t>p</a:t>
            </a:r>
            <a:r>
              <a:rPr lang="pl-PL" b="1" i="1" dirty="0">
                <a:solidFill>
                  <a:schemeClr val="accent5">
                    <a:lumMod val="50000"/>
                  </a:schemeClr>
                </a:solidFill>
                <a:latin typeface="+mj-lt"/>
                <a:ea typeface="+mj-ea"/>
                <a:cs typeface="+mj-cs"/>
                <a:sym typeface="Symbol" pitchFamily="18" charset="2"/>
              </a:rPr>
              <a:t>2</a:t>
            </a:r>
            <a:endParaRPr lang="en-US" b="1" i="1" dirty="0">
              <a:solidFill>
                <a:schemeClr val="accent5">
                  <a:lumMod val="50000"/>
                </a:schemeClr>
              </a:solidFill>
              <a:latin typeface="+mj-lt"/>
              <a:ea typeface="+mj-ea"/>
              <a:cs typeface="+mj-cs"/>
              <a:sym typeface="Symbol" pitchFamily="18" charset="2"/>
            </a:endParaRPr>
          </a:p>
        </p:txBody>
      </p:sp>
      <p:sp>
        <p:nvSpPr>
          <p:cNvPr id="9" name="Strzałka w prawo 8"/>
          <p:cNvSpPr/>
          <p:nvPr/>
        </p:nvSpPr>
        <p:spPr>
          <a:xfrm>
            <a:off x="3711680" y="1333336"/>
            <a:ext cx="238125" cy="3714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pl-PL"/>
          </a:p>
        </p:txBody>
      </p:sp>
      <p:sp>
        <p:nvSpPr>
          <p:cNvPr id="12" name="Prostokąt 11"/>
          <p:cNvSpPr/>
          <p:nvPr/>
        </p:nvSpPr>
        <p:spPr>
          <a:xfrm>
            <a:off x="4199449" y="1251328"/>
            <a:ext cx="2333625" cy="685800"/>
          </a:xfrm>
          <a:prstGeom prst="rect">
            <a:avLst/>
          </a:prstGeom>
          <a:solidFill>
            <a:srgbClr val="C00000">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pl-PL"/>
          </a:p>
        </p:txBody>
      </p:sp>
      <p:sp>
        <p:nvSpPr>
          <p:cNvPr id="11" name="Strzałka w prawo 10"/>
          <p:cNvSpPr/>
          <p:nvPr/>
        </p:nvSpPr>
        <p:spPr>
          <a:xfrm>
            <a:off x="6955404" y="1380659"/>
            <a:ext cx="238125" cy="3714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pl-PL"/>
          </a:p>
        </p:txBody>
      </p:sp>
      <p:sp>
        <p:nvSpPr>
          <p:cNvPr id="5" name="pole tekstowe 4">
            <a:extLst>
              <a:ext uri="{FF2B5EF4-FFF2-40B4-BE49-F238E27FC236}">
                <a16:creationId xmlns:a16="http://schemas.microsoft.com/office/drawing/2014/main" id="{9041F21F-B357-9BB8-77BF-561B984B0691}"/>
              </a:ext>
            </a:extLst>
          </p:cNvPr>
          <p:cNvSpPr txBox="1"/>
          <p:nvPr/>
        </p:nvSpPr>
        <p:spPr>
          <a:xfrm>
            <a:off x="201243" y="4360556"/>
            <a:ext cx="3061114" cy="203132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600" b="1" dirty="0">
                <a:solidFill>
                  <a:schemeClr val="accent5">
                    <a:lumMod val="50000"/>
                  </a:schemeClr>
                </a:solidFill>
              </a:rPr>
              <a:t>ill(all); /* Clear all previous definitions and variables */</a:t>
            </a:r>
          </a:p>
          <a:p>
            <a:endParaRPr lang="en-US" sz="600" b="1" dirty="0">
              <a:solidFill>
                <a:schemeClr val="accent5">
                  <a:lumMod val="50000"/>
                </a:schemeClr>
              </a:solidFill>
            </a:endParaRPr>
          </a:p>
          <a:p>
            <a:r>
              <a:rPr lang="en-US" sz="600" b="1" dirty="0">
                <a:solidFill>
                  <a:schemeClr val="accent5">
                    <a:lumMod val="50000"/>
                  </a:schemeClr>
                </a:solidFill>
              </a:rPr>
              <a:t>assume(x1&gt;0, x2&gt;0, p1&gt;0, p2&gt;0, U&gt;0, a&gt;0, b&gt;0, a&lt;1, b&lt;1, lambda&gt;0); </a:t>
            </a:r>
          </a:p>
          <a:p>
            <a:r>
              <a:rPr lang="en-US" sz="600" b="1" dirty="0">
                <a:solidFill>
                  <a:schemeClr val="accent5">
                    <a:lumMod val="50000"/>
                  </a:schemeClr>
                </a:solidFill>
              </a:rPr>
              <a:t>/* Set assumptions for the variables: x1, x2, p1, p2, U, a, b, and lambda are all positive, </a:t>
            </a:r>
          </a:p>
          <a:p>
            <a:r>
              <a:rPr lang="en-US" sz="600" b="1" dirty="0">
                <a:solidFill>
                  <a:schemeClr val="accent5">
                    <a:lumMod val="50000"/>
                  </a:schemeClr>
                </a:solidFill>
              </a:rPr>
              <a:t>   and exponents a and b are between 0 and 1 */</a:t>
            </a:r>
          </a:p>
          <a:p>
            <a:endParaRPr lang="en-US" sz="600" b="1" dirty="0">
              <a:solidFill>
                <a:schemeClr val="accent5">
                  <a:lumMod val="50000"/>
                </a:schemeClr>
              </a:solidFill>
            </a:endParaRPr>
          </a:p>
          <a:p>
            <a:r>
              <a:rPr lang="en-US" sz="600" b="1" dirty="0">
                <a:solidFill>
                  <a:schemeClr val="accent5">
                    <a:lumMod val="50000"/>
                  </a:schemeClr>
                </a:solidFill>
              </a:rPr>
              <a:t>$declare(a, </a:t>
            </a:r>
            <a:r>
              <a:rPr lang="en-US" sz="600" b="1" dirty="0" err="1">
                <a:solidFill>
                  <a:schemeClr val="accent5">
                    <a:lumMod val="50000"/>
                  </a:schemeClr>
                </a:solidFill>
              </a:rPr>
              <a:t>noninteger</a:t>
            </a:r>
            <a:r>
              <a:rPr lang="en-US" sz="600" b="1" dirty="0">
                <a:solidFill>
                  <a:schemeClr val="accent5">
                    <a:lumMod val="50000"/>
                  </a:schemeClr>
                </a:solidFill>
              </a:rPr>
              <a:t>, b, </a:t>
            </a:r>
            <a:r>
              <a:rPr lang="en-US" sz="600" b="1" dirty="0" err="1">
                <a:solidFill>
                  <a:schemeClr val="accent5">
                    <a:lumMod val="50000"/>
                  </a:schemeClr>
                </a:solidFill>
              </a:rPr>
              <a:t>noninteger</a:t>
            </a:r>
            <a:r>
              <a:rPr lang="en-US" sz="600" b="1" dirty="0">
                <a:solidFill>
                  <a:schemeClr val="accent5">
                    <a:lumMod val="50000"/>
                  </a:schemeClr>
                </a:solidFill>
              </a:rPr>
              <a:t>); </a:t>
            </a:r>
          </a:p>
          <a:p>
            <a:r>
              <a:rPr lang="en-US" sz="600" b="1" dirty="0">
                <a:solidFill>
                  <a:schemeClr val="accent5">
                    <a:lumMod val="50000"/>
                  </a:schemeClr>
                </a:solidFill>
              </a:rPr>
              <a:t>/* Declare 'a' and 'b' as non-integer values for further symbolic manipulation */</a:t>
            </a:r>
          </a:p>
          <a:p>
            <a:endParaRPr lang="en-US" sz="600" b="1" dirty="0">
              <a:solidFill>
                <a:schemeClr val="accent5">
                  <a:lumMod val="50000"/>
                </a:schemeClr>
              </a:solidFill>
            </a:endParaRPr>
          </a:p>
          <a:p>
            <a:r>
              <a:rPr lang="en-US" sz="600" b="1" dirty="0">
                <a:solidFill>
                  <a:schemeClr val="accent5">
                    <a:lumMod val="50000"/>
                  </a:schemeClr>
                </a:solidFill>
              </a:rPr>
              <a:t>U: x1^a * x2^b; </a:t>
            </a:r>
          </a:p>
          <a:p>
            <a:r>
              <a:rPr lang="en-US" sz="600" b="1" dirty="0">
                <a:solidFill>
                  <a:schemeClr val="accent5">
                    <a:lumMod val="50000"/>
                  </a:schemeClr>
                </a:solidFill>
              </a:rPr>
              <a:t>/* Define the utility function U as a Cobb-Douglas function with exponents 'a' and 'b' */</a:t>
            </a:r>
          </a:p>
          <a:p>
            <a:endParaRPr lang="en-US" sz="600" b="1" dirty="0">
              <a:solidFill>
                <a:schemeClr val="accent5">
                  <a:lumMod val="50000"/>
                </a:schemeClr>
              </a:solidFill>
            </a:endParaRPr>
          </a:p>
          <a:p>
            <a:r>
              <a:rPr lang="en-US" sz="600" b="1" dirty="0">
                <a:solidFill>
                  <a:schemeClr val="accent5">
                    <a:lumMod val="50000"/>
                  </a:schemeClr>
                </a:solidFill>
              </a:rPr>
              <a:t>eq1: diff(U, x1, 1) / diff(U, x2, 1) = p1 / p2; </a:t>
            </a:r>
          </a:p>
          <a:p>
            <a:r>
              <a:rPr lang="en-US" sz="600" b="1" dirty="0">
                <a:solidFill>
                  <a:schemeClr val="accent5">
                    <a:lumMod val="50000"/>
                  </a:schemeClr>
                </a:solidFill>
              </a:rPr>
              <a:t>/* First equation: Set the ratio of marginal utilities equal to the price ratio (p1/p2) */</a:t>
            </a:r>
          </a:p>
          <a:p>
            <a:endParaRPr lang="en-US" sz="600" b="1" dirty="0">
              <a:solidFill>
                <a:schemeClr val="accent5">
                  <a:lumMod val="50000"/>
                </a:schemeClr>
              </a:solidFill>
            </a:endParaRPr>
          </a:p>
          <a:p>
            <a:r>
              <a:rPr lang="en-US" sz="600" b="1" dirty="0">
                <a:solidFill>
                  <a:schemeClr val="accent5">
                    <a:lumMod val="50000"/>
                  </a:schemeClr>
                </a:solidFill>
              </a:rPr>
              <a:t>eq2: p1 * x1 + p2 * x2 - M; </a:t>
            </a:r>
          </a:p>
          <a:p>
            <a:r>
              <a:rPr lang="en-US" sz="600" b="1" dirty="0">
                <a:solidFill>
                  <a:schemeClr val="accent5">
                    <a:lumMod val="50000"/>
                  </a:schemeClr>
                </a:solidFill>
              </a:rPr>
              <a:t>/* Second equation: Budget constraint where total spending (p1*x1 + p2*x2) equals income (M) */</a:t>
            </a:r>
          </a:p>
          <a:p>
            <a:endParaRPr lang="en-US" sz="600" b="1" dirty="0">
              <a:solidFill>
                <a:schemeClr val="accent5">
                  <a:lumMod val="50000"/>
                </a:schemeClr>
              </a:solidFill>
            </a:endParaRPr>
          </a:p>
          <a:p>
            <a:r>
              <a:rPr lang="en-US" sz="600" b="1" dirty="0">
                <a:solidFill>
                  <a:schemeClr val="accent5">
                    <a:lumMod val="50000"/>
                  </a:schemeClr>
                </a:solidFill>
              </a:rPr>
              <a:t>solve([eq1, eq2], [x1, x2]); </a:t>
            </a:r>
          </a:p>
          <a:p>
            <a:r>
              <a:rPr lang="en-US" sz="600" b="1" dirty="0">
                <a:solidFill>
                  <a:schemeClr val="accent5">
                    <a:lumMod val="50000"/>
                  </a:schemeClr>
                </a:solidFill>
              </a:rPr>
              <a:t>/* Solve the system of equations (eq1 and eq2) for the variables x1 and x2 */</a:t>
            </a:r>
            <a:endParaRPr lang="pl-PL" sz="600" b="1" dirty="0">
              <a:solidFill>
                <a:schemeClr val="accent5">
                  <a:lumMod val="50000"/>
                </a:schemeClr>
              </a:solidFill>
            </a:endParaRPr>
          </a:p>
        </p:txBody>
      </p:sp>
      <p:sp>
        <p:nvSpPr>
          <p:cNvPr id="10" name="Prostokąt 9">
            <a:extLst>
              <a:ext uri="{FF2B5EF4-FFF2-40B4-BE49-F238E27FC236}">
                <a16:creationId xmlns:a16="http://schemas.microsoft.com/office/drawing/2014/main" id="{CBBE1F05-8682-9E37-AE4A-7E939A47A197}"/>
              </a:ext>
            </a:extLst>
          </p:cNvPr>
          <p:cNvSpPr/>
          <p:nvPr/>
        </p:nvSpPr>
        <p:spPr>
          <a:xfrm>
            <a:off x="3218568" y="3981238"/>
            <a:ext cx="7949921" cy="2677656"/>
          </a:xfrm>
          <a:prstGeom prst="rect">
            <a:avLst/>
          </a:prstGeom>
        </p:spPr>
        <p:txBody>
          <a:bodyPr wrap="square">
            <a:spAutoFit/>
          </a:bodyPr>
          <a:lstStyle/>
          <a:p>
            <a:pPr algn="just">
              <a:defRPr/>
            </a:pPr>
            <a:r>
              <a:rPr lang="en-US" sz="2800" dirty="0">
                <a:solidFill>
                  <a:srgbClr val="4BACC6">
                    <a:lumMod val="50000"/>
                  </a:srgbClr>
                </a:solidFill>
              </a:rPr>
              <a:t>By using the MRS</a:t>
            </a:r>
            <a:r>
              <a:rPr lang="pl-PL" sz="2800" dirty="0">
                <a:solidFill>
                  <a:srgbClr val="4BACC6">
                    <a:lumMod val="50000"/>
                  </a:srgbClr>
                </a:solidFill>
              </a:rPr>
              <a:t> </a:t>
            </a:r>
            <a:r>
              <a:rPr lang="en-US" sz="2800" dirty="0">
                <a:solidFill>
                  <a:srgbClr val="4BACC6">
                    <a:lumMod val="50000"/>
                  </a:srgbClr>
                </a:solidFill>
              </a:rPr>
              <a:t>=</a:t>
            </a:r>
            <a:r>
              <a:rPr lang="pl-PL" sz="2800" dirty="0">
                <a:solidFill>
                  <a:srgbClr val="4BACC6">
                    <a:lumMod val="50000"/>
                  </a:srgbClr>
                </a:solidFill>
              </a:rPr>
              <a:t> </a:t>
            </a:r>
            <a:r>
              <a:rPr lang="en-US" sz="2800" dirty="0">
                <a:solidFill>
                  <a:srgbClr val="4BACC6">
                    <a:lumMod val="50000"/>
                  </a:srgbClr>
                </a:solidFill>
              </a:rPr>
              <a:t>p1/p2 equilibrium</a:t>
            </a:r>
            <a:r>
              <a:rPr lang="pl-PL" sz="2800" dirty="0">
                <a:solidFill>
                  <a:srgbClr val="4BACC6">
                    <a:lumMod val="50000"/>
                  </a:srgbClr>
                </a:solidFill>
              </a:rPr>
              <a:t> and </a:t>
            </a:r>
            <a:r>
              <a:rPr lang="en-US" sz="2800" dirty="0">
                <a:solidFill>
                  <a:srgbClr val="4BACC6">
                    <a:lumMod val="50000"/>
                  </a:srgbClr>
                </a:solidFill>
              </a:rPr>
              <a:t>solve the system of equations:</a:t>
            </a:r>
            <a:r>
              <a:rPr lang="pl-PL" sz="2800" dirty="0">
                <a:solidFill>
                  <a:srgbClr val="4BACC6">
                    <a:lumMod val="50000"/>
                  </a:srgbClr>
                </a:solidFill>
              </a:rPr>
              <a:t> </a:t>
            </a:r>
          </a:p>
          <a:p>
            <a:pPr lvl="1" algn="just">
              <a:defRPr/>
            </a:pPr>
            <a:endParaRPr lang="pl-PL" sz="2800" dirty="0">
              <a:solidFill>
                <a:srgbClr val="4BACC6">
                  <a:lumMod val="50000"/>
                </a:srgbClr>
              </a:solidFill>
            </a:endParaRPr>
          </a:p>
          <a:p>
            <a:pPr lvl="2" algn="just">
              <a:defRPr/>
            </a:pPr>
            <a:r>
              <a:rPr lang="en-US" sz="2800" dirty="0">
                <a:solidFill>
                  <a:srgbClr val="4BACC6">
                    <a:lumMod val="50000"/>
                  </a:srgbClr>
                </a:solidFill>
              </a:rPr>
              <a:t>MRS=p1/p2</a:t>
            </a:r>
            <a:r>
              <a:rPr lang="pl-PL" sz="2800" dirty="0">
                <a:solidFill>
                  <a:srgbClr val="4BACC6">
                    <a:lumMod val="50000"/>
                  </a:srgbClr>
                </a:solidFill>
              </a:rPr>
              <a:t> </a:t>
            </a:r>
          </a:p>
          <a:p>
            <a:pPr lvl="2" algn="just">
              <a:defRPr/>
            </a:pPr>
            <a:r>
              <a:rPr lang="en-US" sz="2800" dirty="0">
                <a:solidFill>
                  <a:srgbClr val="4BACC6">
                    <a:lumMod val="50000"/>
                  </a:srgbClr>
                </a:solidFill>
              </a:rPr>
              <a:t>and</a:t>
            </a:r>
            <a:r>
              <a:rPr lang="pl-PL" sz="2800" dirty="0">
                <a:solidFill>
                  <a:srgbClr val="4BACC6">
                    <a:lumMod val="50000"/>
                  </a:srgbClr>
                </a:solidFill>
              </a:rPr>
              <a:t> </a:t>
            </a:r>
          </a:p>
          <a:p>
            <a:pPr lvl="2" algn="just">
              <a:defRPr/>
            </a:pPr>
            <a:r>
              <a:rPr lang="en-US" sz="2800" dirty="0">
                <a:solidFill>
                  <a:srgbClr val="4BACC6">
                    <a:lumMod val="50000"/>
                  </a:srgbClr>
                </a:solidFill>
              </a:rPr>
              <a:t>p1*X1+p2*X2 = M</a:t>
            </a:r>
            <a:endParaRPr lang="en-US" altLang="en-US" sz="2800" dirty="0">
              <a:solidFill>
                <a:prstClr val="black"/>
              </a:solidFill>
            </a:endParaRPr>
          </a:p>
        </p:txBody>
      </p:sp>
      <p:sp>
        <p:nvSpPr>
          <p:cNvPr id="2" name="Strzałka w prawo 10">
            <a:extLst>
              <a:ext uri="{FF2B5EF4-FFF2-40B4-BE49-F238E27FC236}">
                <a16:creationId xmlns:a16="http://schemas.microsoft.com/office/drawing/2014/main" id="{696F5C15-DB29-0F10-53E6-2D8195DC3C90}"/>
              </a:ext>
            </a:extLst>
          </p:cNvPr>
          <p:cNvSpPr/>
          <p:nvPr/>
        </p:nvSpPr>
        <p:spPr>
          <a:xfrm rot="5400000">
            <a:off x="9552410" y="2218885"/>
            <a:ext cx="238125" cy="3714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pl-PL"/>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E5F49-0D6F-2BB5-B9D8-C53AABC0C905}"/>
            </a:ext>
          </a:extLst>
        </p:cNvPr>
        <p:cNvGrpSpPr/>
        <p:nvPr/>
      </p:nvGrpSpPr>
      <p:grpSpPr>
        <a:xfrm>
          <a:off x="0" y="0"/>
          <a:ext cx="0" cy="0"/>
          <a:chOff x="0" y="0"/>
          <a:chExt cx="0" cy="0"/>
        </a:xfrm>
      </p:grpSpPr>
      <p:sp>
        <p:nvSpPr>
          <p:cNvPr id="14" name="Tytuł 1">
            <a:extLst>
              <a:ext uri="{FF2B5EF4-FFF2-40B4-BE49-F238E27FC236}">
                <a16:creationId xmlns:a16="http://schemas.microsoft.com/office/drawing/2014/main" id="{EED6CDD9-1A52-51D5-8F47-0BCC9A9DD2B7}"/>
              </a:ext>
            </a:extLst>
          </p:cNvPr>
          <p:cNvSpPr txBox="1">
            <a:spLocks/>
          </p:cNvSpPr>
          <p:nvPr/>
        </p:nvSpPr>
        <p:spPr>
          <a:xfrm>
            <a:off x="-1" y="-13886"/>
            <a:ext cx="12192001" cy="1187024"/>
          </a:xfrm>
          <a:prstGeom prst="rect">
            <a:avLst/>
          </a:prstGeom>
          <a:solidFill>
            <a:schemeClr val="accent5">
              <a:lumMod val="20000"/>
              <a:lumOff val="80000"/>
            </a:schemeClr>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pl-PL" sz="3600" b="1" dirty="0" err="1">
                <a:solidFill>
                  <a:schemeClr val="accent5">
                    <a:lumMod val="50000"/>
                  </a:schemeClr>
                </a:solidFill>
                <a:latin typeface="+mn-lt"/>
              </a:rPr>
              <a:t>Utility</a:t>
            </a:r>
            <a:r>
              <a:rPr lang="pl-PL" sz="3600" b="1" dirty="0">
                <a:solidFill>
                  <a:schemeClr val="accent5">
                    <a:lumMod val="50000"/>
                  </a:schemeClr>
                </a:solidFill>
                <a:latin typeface="+mn-lt"/>
              </a:rPr>
              <a:t> - the </a:t>
            </a:r>
            <a:r>
              <a:rPr lang="en-GB" altLang="pl-PL" sz="3600" b="1" dirty="0">
                <a:solidFill>
                  <a:schemeClr val="accent5">
                    <a:lumMod val="50000"/>
                  </a:schemeClr>
                </a:solidFill>
                <a:latin typeface="+mn-lt"/>
              </a:rPr>
              <a:t>equilibrium</a:t>
            </a:r>
            <a:endParaRPr lang="en-GB" sz="3600" b="1" i="1" dirty="0">
              <a:solidFill>
                <a:schemeClr val="accent5">
                  <a:lumMod val="50000"/>
                </a:schemeClr>
              </a:solidFill>
            </a:endParaRPr>
          </a:p>
        </p:txBody>
      </p:sp>
      <p:sp>
        <p:nvSpPr>
          <p:cNvPr id="5" name="pole tekstowe 4">
            <a:extLst>
              <a:ext uri="{FF2B5EF4-FFF2-40B4-BE49-F238E27FC236}">
                <a16:creationId xmlns:a16="http://schemas.microsoft.com/office/drawing/2014/main" id="{4CFFEF71-50FE-EC7A-318C-D157E9191DD4}"/>
              </a:ext>
            </a:extLst>
          </p:cNvPr>
          <p:cNvSpPr txBox="1"/>
          <p:nvPr/>
        </p:nvSpPr>
        <p:spPr>
          <a:xfrm>
            <a:off x="187935" y="990258"/>
            <a:ext cx="3726194" cy="569386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700" b="1" dirty="0">
                <a:solidFill>
                  <a:schemeClr val="accent5">
                    <a:lumMod val="50000"/>
                  </a:schemeClr>
                </a:solidFill>
              </a:rPr>
              <a:t>kill(all)$</a:t>
            </a:r>
          </a:p>
          <a:p>
            <a:r>
              <a:rPr lang="en-US" sz="700" b="1" dirty="0">
                <a:solidFill>
                  <a:schemeClr val="accent5">
                    <a:lumMod val="50000"/>
                  </a:schemeClr>
                </a:solidFill>
              </a:rPr>
              <a:t>/* Step 1: Define variables and parameters */</a:t>
            </a:r>
          </a:p>
          <a:p>
            <a:r>
              <a:rPr lang="en-US" sz="700" b="1" dirty="0">
                <a:solidFill>
                  <a:schemeClr val="accent5">
                    <a:lumMod val="50000"/>
                  </a:schemeClr>
                </a:solidFill>
              </a:rPr>
              <a:t>assume(x1 &gt; 0, x2 &gt; 0, p1 &gt; 0, p2 &gt; 0, M &gt; 0, a &gt; 0, a &lt; 1, A &gt; 0, M &gt; 0)$</a:t>
            </a:r>
          </a:p>
          <a:p>
            <a:r>
              <a:rPr lang="en-US" sz="700" b="1" dirty="0">
                <a:solidFill>
                  <a:schemeClr val="accent5">
                    <a:lumMod val="50000"/>
                  </a:schemeClr>
                </a:solidFill>
              </a:rPr>
              <a:t>declare(a, constant)$</a:t>
            </a:r>
          </a:p>
          <a:p>
            <a:r>
              <a:rPr lang="en-US" sz="700" b="1" dirty="0">
                <a:solidFill>
                  <a:schemeClr val="accent5">
                    <a:lumMod val="50000"/>
                  </a:schemeClr>
                </a:solidFill>
              </a:rPr>
              <a:t>declare(</a:t>
            </a:r>
            <a:r>
              <a:rPr lang="en-US" sz="700" b="1" dirty="0" err="1">
                <a:solidFill>
                  <a:schemeClr val="accent5">
                    <a:lumMod val="50000"/>
                  </a:schemeClr>
                </a:solidFill>
              </a:rPr>
              <a:t>ro</a:t>
            </a:r>
            <a:r>
              <a:rPr lang="en-US" sz="700" b="1" dirty="0">
                <a:solidFill>
                  <a:schemeClr val="accent5">
                    <a:lumMod val="50000"/>
                  </a:schemeClr>
                </a:solidFill>
              </a:rPr>
              <a:t>, constant)$</a:t>
            </a:r>
          </a:p>
          <a:p>
            <a:r>
              <a:rPr lang="en-US" sz="700" b="1" dirty="0">
                <a:solidFill>
                  <a:schemeClr val="accent5">
                    <a:lumMod val="50000"/>
                  </a:schemeClr>
                </a:solidFill>
              </a:rPr>
              <a:t>declare(M, constant)$</a:t>
            </a:r>
          </a:p>
          <a:p>
            <a:r>
              <a:rPr lang="en-US" sz="700" b="1" dirty="0">
                <a:solidFill>
                  <a:schemeClr val="accent5">
                    <a:lumMod val="50000"/>
                  </a:schemeClr>
                </a:solidFill>
              </a:rPr>
              <a:t>declare(A, constant)$</a:t>
            </a:r>
          </a:p>
          <a:p>
            <a:endParaRPr lang="en-US" sz="700" b="1" dirty="0">
              <a:solidFill>
                <a:schemeClr val="accent5">
                  <a:lumMod val="50000"/>
                </a:schemeClr>
              </a:solidFill>
            </a:endParaRPr>
          </a:p>
          <a:p>
            <a:r>
              <a:rPr lang="en-US" sz="700" b="1" dirty="0">
                <a:solidFill>
                  <a:schemeClr val="accent5">
                    <a:lumMod val="50000"/>
                  </a:schemeClr>
                </a:solidFill>
              </a:rPr>
              <a:t>/* Step 2: Define the CES utility function U */</a:t>
            </a:r>
          </a:p>
          <a:p>
            <a:r>
              <a:rPr lang="en-US" sz="700" b="1" dirty="0">
                <a:solidFill>
                  <a:schemeClr val="accent5">
                    <a:lumMod val="50000"/>
                  </a:schemeClr>
                </a:solidFill>
              </a:rPr>
              <a:t>U: A*( a * x1^(-</a:t>
            </a:r>
            <a:r>
              <a:rPr lang="en-US" sz="700" b="1" dirty="0" err="1">
                <a:solidFill>
                  <a:schemeClr val="accent5">
                    <a:lumMod val="50000"/>
                  </a:schemeClr>
                </a:solidFill>
              </a:rPr>
              <a:t>ro</a:t>
            </a:r>
            <a:r>
              <a:rPr lang="en-US" sz="700" b="1" dirty="0">
                <a:solidFill>
                  <a:schemeClr val="accent5">
                    <a:lumMod val="50000"/>
                  </a:schemeClr>
                </a:solidFill>
              </a:rPr>
              <a:t>) + (1 - a) * x2^(-</a:t>
            </a:r>
            <a:r>
              <a:rPr lang="en-US" sz="700" b="1" dirty="0" err="1">
                <a:solidFill>
                  <a:schemeClr val="accent5">
                    <a:lumMod val="50000"/>
                  </a:schemeClr>
                </a:solidFill>
              </a:rPr>
              <a:t>ro</a:t>
            </a:r>
            <a:r>
              <a:rPr lang="en-US" sz="700" b="1" dirty="0">
                <a:solidFill>
                  <a:schemeClr val="accent5">
                    <a:lumMod val="50000"/>
                  </a:schemeClr>
                </a:solidFill>
              </a:rPr>
              <a:t>) )^(-1 / </a:t>
            </a:r>
            <a:r>
              <a:rPr lang="en-US" sz="700" b="1" dirty="0" err="1">
                <a:solidFill>
                  <a:schemeClr val="accent5">
                    <a:lumMod val="50000"/>
                  </a:schemeClr>
                </a:solidFill>
              </a:rPr>
              <a:t>ro</a:t>
            </a:r>
            <a:r>
              <a:rPr lang="en-US" sz="700" b="1" dirty="0">
                <a:solidFill>
                  <a:schemeClr val="accent5">
                    <a:lumMod val="50000"/>
                  </a:schemeClr>
                </a:solidFill>
              </a:rPr>
              <a:t> )$</a:t>
            </a:r>
          </a:p>
          <a:p>
            <a:endParaRPr lang="en-US" sz="700" b="1" dirty="0">
              <a:solidFill>
                <a:schemeClr val="accent5">
                  <a:lumMod val="50000"/>
                </a:schemeClr>
              </a:solidFill>
            </a:endParaRPr>
          </a:p>
          <a:p>
            <a:r>
              <a:rPr lang="en-US" sz="700" b="1" dirty="0">
                <a:solidFill>
                  <a:schemeClr val="accent5">
                    <a:lumMod val="50000"/>
                  </a:schemeClr>
                </a:solidFill>
              </a:rPr>
              <a:t>/* Step 3: Compute the marginal utilities MU1 and MU2 */</a:t>
            </a:r>
          </a:p>
          <a:p>
            <a:r>
              <a:rPr lang="en-US" sz="700" b="1" dirty="0">
                <a:solidFill>
                  <a:schemeClr val="accent5">
                    <a:lumMod val="50000"/>
                  </a:schemeClr>
                </a:solidFill>
              </a:rPr>
              <a:t>MU1: diff(U, x1)$</a:t>
            </a:r>
          </a:p>
          <a:p>
            <a:r>
              <a:rPr lang="en-US" sz="700" b="1" dirty="0">
                <a:solidFill>
                  <a:schemeClr val="accent5">
                    <a:lumMod val="50000"/>
                  </a:schemeClr>
                </a:solidFill>
              </a:rPr>
              <a:t>MU2: diff(U, x2)$</a:t>
            </a:r>
          </a:p>
          <a:p>
            <a:endParaRPr lang="en-US" sz="700" b="1" dirty="0">
              <a:solidFill>
                <a:schemeClr val="accent5">
                  <a:lumMod val="50000"/>
                </a:schemeClr>
              </a:solidFill>
            </a:endParaRPr>
          </a:p>
          <a:p>
            <a:r>
              <a:rPr lang="en-US" sz="700" b="1" dirty="0">
                <a:solidFill>
                  <a:schemeClr val="accent5">
                    <a:lumMod val="50000"/>
                  </a:schemeClr>
                </a:solidFill>
              </a:rPr>
              <a:t>/* Step 4: Simplify marginal utilities */</a:t>
            </a:r>
          </a:p>
          <a:p>
            <a:r>
              <a:rPr lang="en-US" sz="700" b="1" dirty="0">
                <a:solidFill>
                  <a:schemeClr val="accent5">
                    <a:lumMod val="50000"/>
                  </a:schemeClr>
                </a:solidFill>
              </a:rPr>
              <a:t>MU1_simplified: </a:t>
            </a:r>
            <a:r>
              <a:rPr lang="en-US" sz="700" b="1" dirty="0" err="1">
                <a:solidFill>
                  <a:schemeClr val="accent5">
                    <a:lumMod val="50000"/>
                  </a:schemeClr>
                </a:solidFill>
              </a:rPr>
              <a:t>ratsimp</a:t>
            </a:r>
            <a:r>
              <a:rPr lang="en-US" sz="700" b="1" dirty="0">
                <a:solidFill>
                  <a:schemeClr val="accent5">
                    <a:lumMod val="50000"/>
                  </a:schemeClr>
                </a:solidFill>
              </a:rPr>
              <a:t>(MU1)$</a:t>
            </a:r>
          </a:p>
          <a:p>
            <a:r>
              <a:rPr lang="en-US" sz="700" b="1" dirty="0">
                <a:solidFill>
                  <a:schemeClr val="accent5">
                    <a:lumMod val="50000"/>
                  </a:schemeClr>
                </a:solidFill>
              </a:rPr>
              <a:t>MU2_simplified: </a:t>
            </a:r>
            <a:r>
              <a:rPr lang="en-US" sz="700" b="1" dirty="0" err="1">
                <a:solidFill>
                  <a:schemeClr val="accent5">
                    <a:lumMod val="50000"/>
                  </a:schemeClr>
                </a:solidFill>
              </a:rPr>
              <a:t>ratsimp</a:t>
            </a:r>
            <a:r>
              <a:rPr lang="en-US" sz="700" b="1" dirty="0">
                <a:solidFill>
                  <a:schemeClr val="accent5">
                    <a:lumMod val="50000"/>
                  </a:schemeClr>
                </a:solidFill>
              </a:rPr>
              <a:t>(MU2)$</a:t>
            </a:r>
          </a:p>
          <a:p>
            <a:endParaRPr lang="en-US" sz="700" b="1" dirty="0">
              <a:solidFill>
                <a:schemeClr val="accent5">
                  <a:lumMod val="50000"/>
                </a:schemeClr>
              </a:solidFill>
            </a:endParaRPr>
          </a:p>
          <a:p>
            <a:r>
              <a:rPr lang="en-US" sz="700" b="1" dirty="0">
                <a:solidFill>
                  <a:schemeClr val="accent5">
                    <a:lumMod val="50000"/>
                  </a:schemeClr>
                </a:solidFill>
              </a:rPr>
              <a:t>/* Step 5: Compute the Marginal Rate of Substitution */</a:t>
            </a:r>
          </a:p>
          <a:p>
            <a:r>
              <a:rPr lang="en-US" sz="700" b="1" dirty="0">
                <a:solidFill>
                  <a:schemeClr val="accent5">
                    <a:lumMod val="50000"/>
                  </a:schemeClr>
                </a:solidFill>
              </a:rPr>
              <a:t>MRS: MU1_simplified / MU2_simplified$</a:t>
            </a:r>
          </a:p>
          <a:p>
            <a:r>
              <a:rPr lang="en-US" sz="700" b="1" dirty="0" err="1">
                <a:solidFill>
                  <a:schemeClr val="accent5">
                    <a:lumMod val="50000"/>
                  </a:schemeClr>
                </a:solidFill>
              </a:rPr>
              <a:t>MRS_simplified</a:t>
            </a:r>
            <a:r>
              <a:rPr lang="en-US" sz="700" b="1" dirty="0">
                <a:solidFill>
                  <a:schemeClr val="accent5">
                    <a:lumMod val="50000"/>
                  </a:schemeClr>
                </a:solidFill>
              </a:rPr>
              <a:t>: (a / (1 - a)) * (x2 / x1)^(</a:t>
            </a:r>
            <a:r>
              <a:rPr lang="en-US" sz="700" b="1" dirty="0" err="1">
                <a:solidFill>
                  <a:schemeClr val="accent5">
                    <a:lumMod val="50000"/>
                  </a:schemeClr>
                </a:solidFill>
              </a:rPr>
              <a:t>ro</a:t>
            </a:r>
            <a:r>
              <a:rPr lang="en-US" sz="700" b="1" dirty="0">
                <a:solidFill>
                  <a:schemeClr val="accent5">
                    <a:lumMod val="50000"/>
                  </a:schemeClr>
                </a:solidFill>
              </a:rPr>
              <a:t> + 1)$</a:t>
            </a:r>
          </a:p>
          <a:p>
            <a:endParaRPr lang="en-US" sz="700" b="1" dirty="0">
              <a:solidFill>
                <a:schemeClr val="accent5">
                  <a:lumMod val="50000"/>
                </a:schemeClr>
              </a:solidFill>
            </a:endParaRPr>
          </a:p>
          <a:p>
            <a:r>
              <a:rPr lang="en-US" sz="700" b="1" dirty="0">
                <a:solidFill>
                  <a:schemeClr val="accent5">
                    <a:lumMod val="50000"/>
                  </a:schemeClr>
                </a:solidFill>
              </a:rPr>
              <a:t>/* Step 6: Set MRS equal to the price ratio */</a:t>
            </a:r>
          </a:p>
          <a:p>
            <a:r>
              <a:rPr lang="en-US" sz="700" b="1" dirty="0" err="1">
                <a:solidFill>
                  <a:schemeClr val="accent5">
                    <a:lumMod val="50000"/>
                  </a:schemeClr>
                </a:solidFill>
              </a:rPr>
              <a:t>eq_mrs</a:t>
            </a:r>
            <a:r>
              <a:rPr lang="en-US" sz="700" b="1" dirty="0">
                <a:solidFill>
                  <a:schemeClr val="accent5">
                    <a:lumMod val="50000"/>
                  </a:schemeClr>
                </a:solidFill>
              </a:rPr>
              <a:t>: </a:t>
            </a:r>
            <a:r>
              <a:rPr lang="en-US" sz="700" b="1" dirty="0" err="1">
                <a:solidFill>
                  <a:schemeClr val="accent5">
                    <a:lumMod val="50000"/>
                  </a:schemeClr>
                </a:solidFill>
              </a:rPr>
              <a:t>MRS_simplified</a:t>
            </a:r>
            <a:r>
              <a:rPr lang="en-US" sz="700" b="1" dirty="0">
                <a:solidFill>
                  <a:schemeClr val="accent5">
                    <a:lumMod val="50000"/>
                  </a:schemeClr>
                </a:solidFill>
              </a:rPr>
              <a:t> = p1 / p2$</a:t>
            </a:r>
          </a:p>
          <a:p>
            <a:endParaRPr lang="en-US" sz="700" b="1" dirty="0">
              <a:solidFill>
                <a:schemeClr val="accent5">
                  <a:lumMod val="50000"/>
                </a:schemeClr>
              </a:solidFill>
            </a:endParaRPr>
          </a:p>
          <a:p>
            <a:r>
              <a:rPr lang="en-US" sz="700" b="1" dirty="0">
                <a:solidFill>
                  <a:schemeClr val="accent5">
                    <a:lumMod val="50000"/>
                  </a:schemeClr>
                </a:solidFill>
              </a:rPr>
              <a:t>/* Step 7: Solve for x1/x2 */</a:t>
            </a:r>
          </a:p>
          <a:p>
            <a:r>
              <a:rPr lang="en-US" sz="700" b="1" dirty="0">
                <a:solidFill>
                  <a:schemeClr val="accent5">
                    <a:lumMod val="50000"/>
                  </a:schemeClr>
                </a:solidFill>
              </a:rPr>
              <a:t>x1_over_x2_expr: (a / (1 - a)) * (p2 / p1)$</a:t>
            </a:r>
          </a:p>
          <a:p>
            <a:r>
              <a:rPr lang="en-US" sz="700" b="1" dirty="0">
                <a:solidFill>
                  <a:schemeClr val="accent5">
                    <a:lumMod val="50000"/>
                  </a:schemeClr>
                </a:solidFill>
              </a:rPr>
              <a:t>x1_over_x2: x1_over_x2_expr^(1 / (</a:t>
            </a:r>
            <a:r>
              <a:rPr lang="en-US" sz="700" b="1" dirty="0" err="1">
                <a:solidFill>
                  <a:schemeClr val="accent5">
                    <a:lumMod val="50000"/>
                  </a:schemeClr>
                </a:solidFill>
              </a:rPr>
              <a:t>ro</a:t>
            </a:r>
            <a:r>
              <a:rPr lang="en-US" sz="700" b="1" dirty="0">
                <a:solidFill>
                  <a:schemeClr val="accent5">
                    <a:lumMod val="50000"/>
                  </a:schemeClr>
                </a:solidFill>
              </a:rPr>
              <a:t> + 1))$</a:t>
            </a:r>
          </a:p>
          <a:p>
            <a:endParaRPr lang="en-US" sz="700" b="1" dirty="0">
              <a:solidFill>
                <a:schemeClr val="accent5">
                  <a:lumMod val="50000"/>
                </a:schemeClr>
              </a:solidFill>
            </a:endParaRPr>
          </a:p>
          <a:p>
            <a:r>
              <a:rPr lang="en-US" sz="700" b="1" dirty="0">
                <a:solidFill>
                  <a:schemeClr val="accent5">
                    <a:lumMod val="50000"/>
                  </a:schemeClr>
                </a:solidFill>
              </a:rPr>
              <a:t>/* Step 8: Display the ratio x1/x2 */</a:t>
            </a:r>
          </a:p>
          <a:p>
            <a:r>
              <a:rPr lang="en-US" sz="700" b="1" dirty="0">
                <a:solidFill>
                  <a:schemeClr val="accent5">
                    <a:lumMod val="50000"/>
                  </a:schemeClr>
                </a:solidFill>
              </a:rPr>
              <a:t>x1_over_x2_simplified: </a:t>
            </a:r>
            <a:r>
              <a:rPr lang="en-US" sz="700" b="1" dirty="0" err="1">
                <a:solidFill>
                  <a:schemeClr val="accent5">
                    <a:lumMod val="50000"/>
                  </a:schemeClr>
                </a:solidFill>
              </a:rPr>
              <a:t>ratsimp</a:t>
            </a:r>
            <a:r>
              <a:rPr lang="en-US" sz="700" b="1" dirty="0">
                <a:solidFill>
                  <a:schemeClr val="accent5">
                    <a:lumMod val="50000"/>
                  </a:schemeClr>
                </a:solidFill>
              </a:rPr>
              <a:t>(x1_over_x2)$</a:t>
            </a:r>
          </a:p>
          <a:p>
            <a:r>
              <a:rPr lang="en-US" sz="700" b="1" dirty="0">
                <a:solidFill>
                  <a:schemeClr val="accent5">
                    <a:lumMod val="50000"/>
                  </a:schemeClr>
                </a:solidFill>
              </a:rPr>
              <a:t>print("The ratio x1/x2 is:", x1_over_x2_simplified)$</a:t>
            </a:r>
          </a:p>
          <a:p>
            <a:endParaRPr lang="en-US" sz="700" b="1" dirty="0">
              <a:solidFill>
                <a:schemeClr val="accent5">
                  <a:lumMod val="50000"/>
                </a:schemeClr>
              </a:solidFill>
            </a:endParaRPr>
          </a:p>
          <a:p>
            <a:r>
              <a:rPr lang="en-US" sz="700" b="1" dirty="0">
                <a:solidFill>
                  <a:schemeClr val="accent5">
                    <a:lumMod val="50000"/>
                  </a:schemeClr>
                </a:solidFill>
              </a:rPr>
              <a:t>/* Step 9: Substitute x1 in the budget constraint */</a:t>
            </a:r>
          </a:p>
          <a:p>
            <a:r>
              <a:rPr lang="en-US" sz="700" b="1" dirty="0">
                <a:solidFill>
                  <a:schemeClr val="accent5">
                    <a:lumMod val="50000"/>
                  </a:schemeClr>
                </a:solidFill>
              </a:rPr>
              <a:t>x1_expr: x1_over_x2_simplified * x2$</a:t>
            </a:r>
          </a:p>
          <a:p>
            <a:r>
              <a:rPr lang="en-US" sz="700" b="1" dirty="0" err="1">
                <a:solidFill>
                  <a:schemeClr val="accent5">
                    <a:lumMod val="50000"/>
                  </a:schemeClr>
                </a:solidFill>
              </a:rPr>
              <a:t>budget_constraint</a:t>
            </a:r>
            <a:r>
              <a:rPr lang="en-US" sz="700" b="1" dirty="0">
                <a:solidFill>
                  <a:schemeClr val="accent5">
                    <a:lumMod val="50000"/>
                  </a:schemeClr>
                </a:solidFill>
              </a:rPr>
              <a:t>: p1 * x1_expr + p2 * x2 = M$</a:t>
            </a:r>
          </a:p>
          <a:p>
            <a:endParaRPr lang="en-US" sz="700" b="1" dirty="0">
              <a:solidFill>
                <a:schemeClr val="accent5">
                  <a:lumMod val="50000"/>
                </a:schemeClr>
              </a:solidFill>
            </a:endParaRPr>
          </a:p>
          <a:p>
            <a:r>
              <a:rPr lang="en-US" sz="700" b="1" dirty="0">
                <a:solidFill>
                  <a:schemeClr val="accent5">
                    <a:lumMod val="50000"/>
                  </a:schemeClr>
                </a:solidFill>
              </a:rPr>
              <a:t>/* Step 10: Solve for x2 */</a:t>
            </a:r>
          </a:p>
          <a:p>
            <a:r>
              <a:rPr lang="en-US" sz="700" b="1" dirty="0">
                <a:solidFill>
                  <a:schemeClr val="accent5">
                    <a:lumMod val="50000"/>
                  </a:schemeClr>
                </a:solidFill>
              </a:rPr>
              <a:t>denominator: p1 * x1_over_x2_simplified + p2$</a:t>
            </a:r>
          </a:p>
          <a:p>
            <a:r>
              <a:rPr lang="en-US" sz="700" b="1" dirty="0">
                <a:solidFill>
                  <a:schemeClr val="accent5">
                    <a:lumMod val="50000"/>
                  </a:schemeClr>
                </a:solidFill>
              </a:rPr>
              <a:t>x2_sol: x2 = M / denominator$</a:t>
            </a:r>
          </a:p>
          <a:p>
            <a:endParaRPr lang="en-US" sz="700" b="1" dirty="0">
              <a:solidFill>
                <a:schemeClr val="accent5">
                  <a:lumMod val="50000"/>
                </a:schemeClr>
              </a:solidFill>
            </a:endParaRPr>
          </a:p>
          <a:p>
            <a:r>
              <a:rPr lang="en-US" sz="700" b="1" dirty="0">
                <a:solidFill>
                  <a:schemeClr val="accent5">
                    <a:lumMod val="50000"/>
                  </a:schemeClr>
                </a:solidFill>
              </a:rPr>
              <a:t>/* Step 11: Compute x1 using x1 = (x1/x2) * x2 */</a:t>
            </a:r>
          </a:p>
          <a:p>
            <a:r>
              <a:rPr lang="en-US" sz="700" b="1" dirty="0">
                <a:solidFill>
                  <a:schemeClr val="accent5">
                    <a:lumMod val="50000"/>
                  </a:schemeClr>
                </a:solidFill>
              </a:rPr>
              <a:t>x1_sol: x1 = x1_over_x2_simplified * x2_sol$</a:t>
            </a:r>
          </a:p>
          <a:p>
            <a:endParaRPr lang="en-US" sz="700" b="1" dirty="0">
              <a:solidFill>
                <a:schemeClr val="accent5">
                  <a:lumMod val="50000"/>
                </a:schemeClr>
              </a:solidFill>
            </a:endParaRPr>
          </a:p>
          <a:p>
            <a:r>
              <a:rPr lang="en-US" sz="700" b="1" dirty="0">
                <a:solidFill>
                  <a:schemeClr val="accent5">
                    <a:lumMod val="50000"/>
                  </a:schemeClr>
                </a:solidFill>
              </a:rPr>
              <a:t>/* Step 12: Simplify the demand functions */</a:t>
            </a:r>
          </a:p>
          <a:p>
            <a:r>
              <a:rPr lang="en-US" sz="700" b="1" dirty="0">
                <a:solidFill>
                  <a:schemeClr val="accent5">
                    <a:lumMod val="50000"/>
                  </a:schemeClr>
                </a:solidFill>
              </a:rPr>
              <a:t>x1_demand: </a:t>
            </a:r>
            <a:r>
              <a:rPr lang="en-US" sz="700" b="1" dirty="0" err="1">
                <a:solidFill>
                  <a:schemeClr val="accent5">
                    <a:lumMod val="50000"/>
                  </a:schemeClr>
                </a:solidFill>
              </a:rPr>
              <a:t>ratsimp</a:t>
            </a:r>
            <a:r>
              <a:rPr lang="en-US" sz="700" b="1" dirty="0">
                <a:solidFill>
                  <a:schemeClr val="accent5">
                    <a:lumMod val="50000"/>
                  </a:schemeClr>
                </a:solidFill>
              </a:rPr>
              <a:t>(x1_sol)$</a:t>
            </a:r>
          </a:p>
          <a:p>
            <a:r>
              <a:rPr lang="en-US" sz="700" b="1" dirty="0">
                <a:solidFill>
                  <a:schemeClr val="accent5">
                    <a:lumMod val="50000"/>
                  </a:schemeClr>
                </a:solidFill>
              </a:rPr>
              <a:t>x2_demand: </a:t>
            </a:r>
            <a:r>
              <a:rPr lang="en-US" sz="700" b="1" dirty="0" err="1">
                <a:solidFill>
                  <a:schemeClr val="accent5">
                    <a:lumMod val="50000"/>
                  </a:schemeClr>
                </a:solidFill>
              </a:rPr>
              <a:t>ratsimp</a:t>
            </a:r>
            <a:r>
              <a:rPr lang="en-US" sz="700" b="1" dirty="0">
                <a:solidFill>
                  <a:schemeClr val="accent5">
                    <a:lumMod val="50000"/>
                  </a:schemeClr>
                </a:solidFill>
              </a:rPr>
              <a:t>(x2_sol)$</a:t>
            </a:r>
          </a:p>
          <a:p>
            <a:endParaRPr lang="en-US" sz="700" b="1" dirty="0">
              <a:solidFill>
                <a:schemeClr val="accent5">
                  <a:lumMod val="50000"/>
                </a:schemeClr>
              </a:solidFill>
            </a:endParaRPr>
          </a:p>
          <a:p>
            <a:r>
              <a:rPr lang="en-US" sz="700" b="1" dirty="0">
                <a:solidFill>
                  <a:schemeClr val="accent5">
                    <a:lumMod val="50000"/>
                  </a:schemeClr>
                </a:solidFill>
              </a:rPr>
              <a:t>/* Step 13: Display the demand functions */</a:t>
            </a:r>
          </a:p>
          <a:p>
            <a:r>
              <a:rPr lang="en-US" sz="700" b="1" dirty="0">
                <a:solidFill>
                  <a:schemeClr val="accent5">
                    <a:lumMod val="50000"/>
                  </a:schemeClr>
                </a:solidFill>
              </a:rPr>
              <a:t>print("Demand function for x1:", x1_demand)$</a:t>
            </a:r>
          </a:p>
          <a:p>
            <a:r>
              <a:rPr lang="en-US" sz="700" b="1" dirty="0">
                <a:solidFill>
                  <a:schemeClr val="accent5">
                    <a:lumMod val="50000"/>
                  </a:schemeClr>
                </a:solidFill>
              </a:rPr>
              <a:t>print("Demand function for x2:", x2_demand)$</a:t>
            </a:r>
            <a:endParaRPr lang="pl-PL" sz="700" b="1" dirty="0">
              <a:solidFill>
                <a:schemeClr val="accent5">
                  <a:lumMod val="50000"/>
                </a:schemeClr>
              </a:solidFill>
            </a:endParaRPr>
          </a:p>
        </p:txBody>
      </p:sp>
      <p:sp>
        <p:nvSpPr>
          <p:cNvPr id="10" name="Prostokąt 9">
            <a:extLst>
              <a:ext uri="{FF2B5EF4-FFF2-40B4-BE49-F238E27FC236}">
                <a16:creationId xmlns:a16="http://schemas.microsoft.com/office/drawing/2014/main" id="{5C769F5D-192F-A640-A02F-E3D5C1309933}"/>
              </a:ext>
            </a:extLst>
          </p:cNvPr>
          <p:cNvSpPr/>
          <p:nvPr/>
        </p:nvSpPr>
        <p:spPr>
          <a:xfrm>
            <a:off x="3914129" y="1365240"/>
            <a:ext cx="6822463" cy="3785652"/>
          </a:xfrm>
          <a:prstGeom prst="rect">
            <a:avLst/>
          </a:prstGeom>
        </p:spPr>
        <p:txBody>
          <a:bodyPr wrap="square">
            <a:spAutoFit/>
          </a:bodyPr>
          <a:lstStyle/>
          <a:p>
            <a:pPr algn="just">
              <a:defRPr/>
            </a:pPr>
            <a:r>
              <a:rPr lang="en-US" sz="2400" dirty="0">
                <a:solidFill>
                  <a:srgbClr val="4BACC6">
                    <a:lumMod val="50000"/>
                  </a:srgbClr>
                </a:solidFill>
              </a:rPr>
              <a:t>By using the MRS = p1/p2 equilibrium and solve the system of equations: MRS=p1/p2 and p1*X1+p2*X2 = M</a:t>
            </a:r>
          </a:p>
          <a:p>
            <a:pPr algn="just">
              <a:defRPr/>
            </a:pPr>
            <a:endParaRPr lang="en-US" sz="2400" dirty="0">
              <a:solidFill>
                <a:srgbClr val="4BACC6">
                  <a:lumMod val="50000"/>
                </a:srgbClr>
              </a:solidFill>
            </a:endParaRPr>
          </a:p>
          <a:p>
            <a:pPr algn="just">
              <a:defRPr/>
            </a:pPr>
            <a:r>
              <a:rPr lang="en-US" sz="2400" dirty="0">
                <a:solidFill>
                  <a:srgbClr val="4BACC6">
                    <a:lumMod val="50000"/>
                  </a:srgbClr>
                </a:solidFill>
              </a:rPr>
              <a:t>and </a:t>
            </a:r>
          </a:p>
          <a:p>
            <a:pPr algn="just">
              <a:defRPr/>
            </a:pPr>
            <a:endParaRPr lang="en-US" sz="2400" dirty="0">
              <a:solidFill>
                <a:srgbClr val="4BACC6">
                  <a:lumMod val="50000"/>
                </a:srgbClr>
              </a:solidFill>
            </a:endParaRPr>
          </a:p>
          <a:p>
            <a:pPr algn="just">
              <a:defRPr/>
            </a:pPr>
            <a:r>
              <a:rPr lang="en-US" sz="2400" dirty="0">
                <a:solidFill>
                  <a:srgbClr val="4BACC6">
                    <a:lumMod val="50000"/>
                  </a:srgbClr>
                </a:solidFill>
              </a:rPr>
              <a:t>By substitution -&gt;from the budget constraint, one variable is obtained as a function of the other and inserted into the objective function to solve a simple one-variable optimization problem. </a:t>
            </a:r>
            <a:endParaRPr kumimoji="0" lang="en-US" sz="2400" b="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
        <p:nvSpPr>
          <p:cNvPr id="3" name="TextBox 2">
            <a:extLst>
              <a:ext uri="{FF2B5EF4-FFF2-40B4-BE49-F238E27FC236}">
                <a16:creationId xmlns:a16="http://schemas.microsoft.com/office/drawing/2014/main" id="{BE4BE941-C9B5-BC07-D380-625DCF5F7B31}"/>
              </a:ext>
            </a:extLst>
          </p:cNvPr>
          <p:cNvSpPr txBox="1"/>
          <p:nvPr/>
        </p:nvSpPr>
        <p:spPr>
          <a:xfrm>
            <a:off x="3914129" y="5492760"/>
            <a:ext cx="7485392" cy="1077218"/>
          </a:xfrm>
          <a:prstGeom prst="rect">
            <a:avLst/>
          </a:prstGeom>
          <a:noFill/>
        </p:spPr>
        <p:txBody>
          <a:bodyPr wrap="square">
            <a:spAutoFit/>
          </a:bodyPr>
          <a:lstStyle/>
          <a:p>
            <a:r>
              <a:rPr lang="pl-PL" sz="1600" b="1" dirty="0">
                <a:solidFill>
                  <a:schemeClr val="accent5">
                    <a:lumMod val="50000"/>
                  </a:schemeClr>
                </a:solidFill>
              </a:rPr>
              <a:t>The CES </a:t>
            </a:r>
            <a:r>
              <a:rPr lang="pl-PL" sz="1600" b="1" dirty="0" err="1">
                <a:solidFill>
                  <a:schemeClr val="accent5">
                    <a:lumMod val="50000"/>
                  </a:schemeClr>
                </a:solidFill>
              </a:rPr>
              <a:t>utility</a:t>
            </a:r>
            <a:r>
              <a:rPr lang="pl-PL" sz="1600" b="1" dirty="0">
                <a:solidFill>
                  <a:schemeClr val="accent5">
                    <a:lumMod val="50000"/>
                  </a:schemeClr>
                </a:solidFill>
              </a:rPr>
              <a:t> </a:t>
            </a:r>
            <a:r>
              <a:rPr lang="pl-PL" sz="1600" b="1" dirty="0" err="1">
                <a:solidFill>
                  <a:schemeClr val="accent5">
                    <a:lumMod val="50000"/>
                  </a:schemeClr>
                </a:solidFill>
              </a:rPr>
              <a:t>finction</a:t>
            </a:r>
            <a:r>
              <a:rPr lang="pl-PL" sz="1600" b="1" dirty="0">
                <a:solidFill>
                  <a:schemeClr val="accent5">
                    <a:lumMod val="50000"/>
                  </a:schemeClr>
                </a:solidFill>
              </a:rPr>
              <a:t>. </a:t>
            </a:r>
          </a:p>
          <a:p>
            <a:r>
              <a:rPr lang="en-US" sz="1600" dirty="0">
                <a:solidFill>
                  <a:schemeClr val="accent5">
                    <a:lumMod val="50000"/>
                  </a:schemeClr>
                </a:solidFill>
              </a:rPr>
              <a:t>This is not my code; it's just based on my codes created by Chat GPT.   Chat (version o1 4o) works quite well with Maxima. This code didn't work the first time, but I just pasted the results and information about the error and obtained the corrected code. </a:t>
            </a:r>
            <a:endParaRPr lang="pl-PL" sz="1600" dirty="0">
              <a:solidFill>
                <a:schemeClr val="accent5">
                  <a:lumMod val="50000"/>
                </a:schemeClr>
              </a:solidFill>
            </a:endParaRPr>
          </a:p>
        </p:txBody>
      </p:sp>
    </p:spTree>
    <p:extLst>
      <p:ext uri="{BB962C8B-B14F-4D97-AF65-F5344CB8AC3E}">
        <p14:creationId xmlns:p14="http://schemas.microsoft.com/office/powerpoint/2010/main" val="28292117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A87B8-E24F-1229-093D-C09A7E263303}"/>
            </a:ext>
          </a:extLst>
        </p:cNvPr>
        <p:cNvGrpSpPr/>
        <p:nvPr/>
      </p:nvGrpSpPr>
      <p:grpSpPr>
        <a:xfrm>
          <a:off x="0" y="0"/>
          <a:ext cx="0" cy="0"/>
          <a:chOff x="0" y="0"/>
          <a:chExt cx="0" cy="0"/>
        </a:xfrm>
      </p:grpSpPr>
      <p:sp>
        <p:nvSpPr>
          <p:cNvPr id="14" name="Tytuł 1">
            <a:extLst>
              <a:ext uri="{FF2B5EF4-FFF2-40B4-BE49-F238E27FC236}">
                <a16:creationId xmlns:a16="http://schemas.microsoft.com/office/drawing/2014/main" id="{CF07BDAD-E20F-3448-DC5E-0BD3FBB73E50}"/>
              </a:ext>
            </a:extLst>
          </p:cNvPr>
          <p:cNvSpPr txBox="1">
            <a:spLocks/>
          </p:cNvSpPr>
          <p:nvPr/>
        </p:nvSpPr>
        <p:spPr>
          <a:xfrm>
            <a:off x="-1" y="0"/>
            <a:ext cx="12192001" cy="1187024"/>
          </a:xfrm>
          <a:prstGeom prst="rect">
            <a:avLst/>
          </a:prstGeom>
          <a:solidFill>
            <a:schemeClr val="accent5">
              <a:lumMod val="20000"/>
              <a:lumOff val="80000"/>
            </a:schemeClr>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i="1" dirty="0">
                <a:solidFill>
                  <a:schemeClr val="accent5">
                    <a:lumMod val="50000"/>
                  </a:schemeClr>
                </a:solidFill>
              </a:rPr>
              <a:t>The cost (expenditure) minimization problem   - by analogy</a:t>
            </a:r>
            <a:endParaRPr lang="en-GB" sz="3600" b="1" i="1" dirty="0">
              <a:solidFill>
                <a:schemeClr val="accent5">
                  <a:lumMod val="50000"/>
                </a:schemeClr>
              </a:solidFill>
            </a:endParaRPr>
          </a:p>
        </p:txBody>
      </p:sp>
      <p:sp>
        <p:nvSpPr>
          <p:cNvPr id="10" name="Prostokąt 9">
            <a:extLst>
              <a:ext uri="{FF2B5EF4-FFF2-40B4-BE49-F238E27FC236}">
                <a16:creationId xmlns:a16="http://schemas.microsoft.com/office/drawing/2014/main" id="{BFF43A56-1A05-7BE4-70D7-2E606BD67068}"/>
              </a:ext>
            </a:extLst>
          </p:cNvPr>
          <p:cNvSpPr/>
          <p:nvPr/>
        </p:nvSpPr>
        <p:spPr>
          <a:xfrm>
            <a:off x="162560" y="1348800"/>
            <a:ext cx="11379199" cy="5016758"/>
          </a:xfrm>
          <a:prstGeom prst="rect">
            <a:avLst/>
          </a:prstGeom>
        </p:spPr>
        <p:txBody>
          <a:bodyPr wrap="square">
            <a:spAutoFit/>
          </a:bodyPr>
          <a:lstStyle/>
          <a:p>
            <a:pPr algn="just">
              <a:defRPr/>
            </a:pPr>
            <a:r>
              <a:rPr lang="en-US" sz="3200" dirty="0">
                <a:solidFill>
                  <a:srgbClr val="4BACC6">
                    <a:lumMod val="50000"/>
                  </a:srgbClr>
                </a:solidFill>
              </a:rPr>
              <a:t>We assume that firms (</a:t>
            </a:r>
            <a:r>
              <a:rPr lang="pl-PL" sz="3200" dirty="0" err="1">
                <a:solidFill>
                  <a:srgbClr val="4BACC6">
                    <a:lumMod val="50000"/>
                  </a:srgbClr>
                </a:solidFill>
              </a:rPr>
              <a:t>owners</a:t>
            </a:r>
            <a:r>
              <a:rPr lang="pl-PL" sz="3200" dirty="0">
                <a:solidFill>
                  <a:srgbClr val="4BACC6">
                    <a:lumMod val="50000"/>
                  </a:srgbClr>
                </a:solidFill>
              </a:rPr>
              <a:t>??</a:t>
            </a:r>
            <a:r>
              <a:rPr lang="en-US" sz="3200" dirty="0">
                <a:solidFill>
                  <a:srgbClr val="4BACC6">
                    <a:lumMod val="50000"/>
                  </a:srgbClr>
                </a:solidFill>
              </a:rPr>
              <a:t>) are cost-effective</a:t>
            </a:r>
            <a:r>
              <a:rPr lang="pl-PL" sz="3200" dirty="0">
                <a:solidFill>
                  <a:srgbClr val="4BACC6">
                    <a:lumMod val="50000"/>
                  </a:srgbClr>
                </a:solidFill>
              </a:rPr>
              <a:t>.</a:t>
            </a:r>
            <a:r>
              <a:rPr lang="en-US" sz="3200" dirty="0">
                <a:solidFill>
                  <a:srgbClr val="4BACC6">
                    <a:lumMod val="50000"/>
                  </a:srgbClr>
                </a:solidFill>
              </a:rPr>
              <a:t> </a:t>
            </a:r>
            <a:r>
              <a:rPr lang="pl-PL" sz="3200" dirty="0">
                <a:solidFill>
                  <a:srgbClr val="4BACC6">
                    <a:lumMod val="50000"/>
                  </a:srgbClr>
                </a:solidFill>
              </a:rPr>
              <a:t>For </a:t>
            </a:r>
            <a:r>
              <a:rPr lang="en-US" sz="3200" dirty="0">
                <a:solidFill>
                  <a:srgbClr val="4BACC6">
                    <a:lumMod val="50000"/>
                  </a:srgbClr>
                </a:solidFill>
              </a:rPr>
              <a:t>given</a:t>
            </a:r>
            <a:r>
              <a:rPr lang="pl-PL" sz="3200" dirty="0">
                <a:solidFill>
                  <a:srgbClr val="4BACC6">
                    <a:lumMod val="50000"/>
                  </a:srgbClr>
                </a:solidFill>
              </a:rPr>
              <a:t> </a:t>
            </a:r>
            <a:r>
              <a:rPr lang="en-US" sz="3200" dirty="0">
                <a:solidFill>
                  <a:srgbClr val="4BACC6">
                    <a:lumMod val="50000"/>
                  </a:srgbClr>
                </a:solidFill>
              </a:rPr>
              <a:t>prices of factors of production</a:t>
            </a:r>
            <a:r>
              <a:rPr lang="pl-PL" sz="3200" dirty="0">
                <a:solidFill>
                  <a:srgbClr val="4BACC6">
                    <a:lumMod val="50000"/>
                  </a:srgbClr>
                </a:solidFill>
              </a:rPr>
              <a:t> and </a:t>
            </a:r>
            <a:r>
              <a:rPr lang="en-US" sz="3200" dirty="0">
                <a:solidFill>
                  <a:srgbClr val="4BACC6">
                    <a:lumMod val="50000"/>
                  </a:srgbClr>
                </a:solidFill>
              </a:rPr>
              <a:t> a given technology Y()</a:t>
            </a:r>
            <a:r>
              <a:rPr lang="pl-PL" sz="3200" dirty="0">
                <a:solidFill>
                  <a:srgbClr val="4BACC6">
                    <a:lumMod val="50000"/>
                  </a:srgbClr>
                </a:solidFill>
              </a:rPr>
              <a:t>, t</a:t>
            </a:r>
            <a:r>
              <a:rPr lang="en-US" sz="3200" dirty="0">
                <a:solidFill>
                  <a:srgbClr val="4BACC6">
                    <a:lumMod val="50000"/>
                  </a:srgbClr>
                </a:solidFill>
              </a:rPr>
              <a:t>hey will employ such a combination production factors</a:t>
            </a:r>
            <a:r>
              <a:rPr lang="pl-PL" sz="3200" dirty="0">
                <a:solidFill>
                  <a:srgbClr val="4BACC6">
                    <a:lumMod val="50000"/>
                  </a:srgbClr>
                </a:solidFill>
              </a:rPr>
              <a:t> </a:t>
            </a:r>
            <a:r>
              <a:rPr lang="en-US" sz="3200" dirty="0">
                <a:solidFill>
                  <a:srgbClr val="4BACC6">
                    <a:lumMod val="50000"/>
                  </a:srgbClr>
                </a:solidFill>
              </a:rPr>
              <a:t>to minimize the cost of producing a given volume of output </a:t>
            </a:r>
            <a:r>
              <a:rPr lang="en-US" sz="3200" b="1" dirty="0">
                <a:solidFill>
                  <a:srgbClr val="4BACC6">
                    <a:lumMod val="50000"/>
                  </a:srgbClr>
                </a:solidFill>
              </a:rPr>
              <a:t>Y</a:t>
            </a:r>
            <a:r>
              <a:rPr lang="en-US" sz="3200" dirty="0">
                <a:solidFill>
                  <a:srgbClr val="4BACC6">
                    <a:lumMod val="50000"/>
                  </a:srgbClr>
                </a:solidFill>
              </a:rPr>
              <a:t>.</a:t>
            </a:r>
            <a:r>
              <a:rPr lang="pl-PL" sz="3200" dirty="0">
                <a:solidFill>
                  <a:srgbClr val="4BACC6">
                    <a:lumMod val="50000"/>
                  </a:srgbClr>
                </a:solidFill>
              </a:rPr>
              <a:t> H</a:t>
            </a:r>
            <a:r>
              <a:rPr lang="en-US" sz="3200" dirty="0">
                <a:solidFill>
                  <a:srgbClr val="4BACC6">
                    <a:lumMod val="50000"/>
                  </a:srgbClr>
                </a:solidFill>
              </a:rPr>
              <a:t>ow much money do I need to reach a certain level of </a:t>
            </a:r>
            <a:r>
              <a:rPr lang="pl-PL" sz="3200" dirty="0" err="1">
                <a:solidFill>
                  <a:srgbClr val="4BACC6">
                    <a:lumMod val="50000"/>
                  </a:srgbClr>
                </a:solidFill>
              </a:rPr>
              <a:t>production</a:t>
            </a:r>
            <a:r>
              <a:rPr lang="en-US" sz="3200" dirty="0">
                <a:solidFill>
                  <a:srgbClr val="4BACC6">
                    <a:lumMod val="50000"/>
                  </a:srgbClr>
                </a:solidFill>
              </a:rPr>
              <a:t>?</a:t>
            </a:r>
            <a:endParaRPr lang="pl-PL" sz="3200" dirty="0">
              <a:solidFill>
                <a:srgbClr val="4BACC6">
                  <a:lumMod val="50000"/>
                </a:srgbClr>
              </a:solidFill>
            </a:endParaRPr>
          </a:p>
          <a:p>
            <a:pPr algn="just">
              <a:defRPr/>
            </a:pPr>
            <a:endParaRPr kumimoji="0" lang="pl-PL" sz="3200" b="0" i="0" u="none" strike="noStrike" kern="1200" cap="none" spc="0" normalizeH="0" baseline="0" noProof="0" dirty="0">
              <a:ln>
                <a:noFill/>
              </a:ln>
              <a:solidFill>
                <a:srgbClr val="4BACC6">
                  <a:lumMod val="50000"/>
                </a:srgbClr>
              </a:solidFill>
              <a:effectLst/>
              <a:uLnTx/>
              <a:uFillTx/>
              <a:latin typeface="Calibri"/>
              <a:ea typeface="+mn-ea"/>
              <a:cs typeface="+mn-cs"/>
            </a:endParaRPr>
          </a:p>
          <a:p>
            <a:pPr algn="just">
              <a:defRPr/>
            </a:pPr>
            <a:r>
              <a:rPr lang="en-US" sz="3200" dirty="0">
                <a:solidFill>
                  <a:srgbClr val="4BACC6">
                    <a:lumMod val="50000"/>
                  </a:srgbClr>
                </a:solidFill>
                <a:latin typeface="Calibri"/>
              </a:rPr>
              <a:t>We can treat entrepreneurs as consumers; they "consume" factors of production to obtain the desired production volume. So, we have a dual problem to the previously analyzed one, but ...</a:t>
            </a:r>
            <a:endParaRPr lang="pl-PL" sz="3200" dirty="0">
              <a:solidFill>
                <a:srgbClr val="4BACC6">
                  <a:lumMod val="50000"/>
                </a:srgbClr>
              </a:solidFill>
              <a:latin typeface="Calibri"/>
            </a:endParaRPr>
          </a:p>
          <a:p>
            <a:pPr algn="just">
              <a:defRPr/>
            </a:pPr>
            <a:endParaRPr kumimoji="0" lang="en-US" sz="3200" b="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13859982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9C2E0-570D-87EB-B3BB-D86C71EBC1C4}"/>
            </a:ext>
          </a:extLst>
        </p:cNvPr>
        <p:cNvGrpSpPr/>
        <p:nvPr/>
      </p:nvGrpSpPr>
      <p:grpSpPr>
        <a:xfrm>
          <a:off x="0" y="0"/>
          <a:ext cx="0" cy="0"/>
          <a:chOff x="0" y="0"/>
          <a:chExt cx="0" cy="0"/>
        </a:xfrm>
      </p:grpSpPr>
      <p:sp>
        <p:nvSpPr>
          <p:cNvPr id="14" name="Tytuł 1">
            <a:extLst>
              <a:ext uri="{FF2B5EF4-FFF2-40B4-BE49-F238E27FC236}">
                <a16:creationId xmlns:a16="http://schemas.microsoft.com/office/drawing/2014/main" id="{B0CBF915-493E-D89B-5BCC-1B591AF142A5}"/>
              </a:ext>
            </a:extLst>
          </p:cNvPr>
          <p:cNvSpPr txBox="1">
            <a:spLocks/>
          </p:cNvSpPr>
          <p:nvPr/>
        </p:nvSpPr>
        <p:spPr>
          <a:xfrm>
            <a:off x="-1" y="0"/>
            <a:ext cx="12192001" cy="1187024"/>
          </a:xfrm>
          <a:prstGeom prst="rect">
            <a:avLst/>
          </a:prstGeom>
          <a:solidFill>
            <a:schemeClr val="accent5">
              <a:lumMod val="20000"/>
              <a:lumOff val="80000"/>
            </a:schemeClr>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i="1" dirty="0">
                <a:solidFill>
                  <a:schemeClr val="accent5">
                    <a:lumMod val="50000"/>
                  </a:schemeClr>
                </a:solidFill>
              </a:rPr>
              <a:t>The cost (expenditure) minimization problem   - by analogy</a:t>
            </a:r>
            <a:endParaRPr lang="en-GB" sz="3600" b="1" i="1" dirty="0">
              <a:solidFill>
                <a:schemeClr val="accent5">
                  <a:lumMod val="50000"/>
                </a:schemeClr>
              </a:solidFill>
            </a:endParaRPr>
          </a:p>
        </p:txBody>
      </p:sp>
      <p:sp>
        <p:nvSpPr>
          <p:cNvPr id="10" name="Prostokąt 9">
            <a:extLst>
              <a:ext uri="{FF2B5EF4-FFF2-40B4-BE49-F238E27FC236}">
                <a16:creationId xmlns:a16="http://schemas.microsoft.com/office/drawing/2014/main" id="{5ECCA14C-0BF8-EDD8-5B15-A766914ADE57}"/>
              </a:ext>
            </a:extLst>
          </p:cNvPr>
          <p:cNvSpPr/>
          <p:nvPr/>
        </p:nvSpPr>
        <p:spPr>
          <a:xfrm>
            <a:off x="266809" y="1187024"/>
            <a:ext cx="11713156" cy="5262979"/>
          </a:xfrm>
          <a:prstGeom prst="rect">
            <a:avLst/>
          </a:prstGeom>
        </p:spPr>
        <p:txBody>
          <a:bodyPr wrap="square">
            <a:spAutoFit/>
          </a:bodyPr>
          <a:lstStyle/>
          <a:p>
            <a:pPr algn="just">
              <a:defRPr/>
            </a:pPr>
            <a:r>
              <a:rPr lang="en-US" sz="2800" dirty="0">
                <a:solidFill>
                  <a:srgbClr val="4BACC6">
                    <a:lumMod val="50000"/>
                  </a:srgbClr>
                </a:solidFill>
              </a:rPr>
              <a:t>Problem: Creating a Universal Production Model</a:t>
            </a:r>
          </a:p>
          <a:p>
            <a:pPr algn="just">
              <a:defRPr/>
            </a:pPr>
            <a:endParaRPr lang="pl-PL" sz="2800" dirty="0">
              <a:solidFill>
                <a:srgbClr val="4BACC6">
                  <a:lumMod val="50000"/>
                </a:srgbClr>
              </a:solidFill>
            </a:endParaRPr>
          </a:p>
          <a:p>
            <a:pPr algn="just">
              <a:defRPr/>
            </a:pPr>
            <a:r>
              <a:rPr lang="en-US" sz="2800" dirty="0">
                <a:solidFill>
                  <a:srgbClr val="4BACC6">
                    <a:lumMod val="50000"/>
                  </a:srgbClr>
                </a:solidFill>
              </a:rPr>
              <a:t>To approximate technology, we use a production function with several simplifying assumptions</a:t>
            </a:r>
            <a:r>
              <a:rPr lang="pl-PL" sz="2800" dirty="0">
                <a:solidFill>
                  <a:srgbClr val="4BACC6">
                    <a:lumMod val="50000"/>
                  </a:srgbClr>
                </a:solidFill>
              </a:rPr>
              <a:t>. </a:t>
            </a:r>
            <a:endParaRPr lang="en-US" sz="2800" dirty="0">
              <a:solidFill>
                <a:srgbClr val="4BACC6">
                  <a:lumMod val="50000"/>
                </a:srgbClr>
              </a:solidFill>
            </a:endParaRPr>
          </a:p>
          <a:p>
            <a:pPr algn="just">
              <a:defRPr/>
            </a:pPr>
            <a:endParaRPr lang="en-US" sz="2800" dirty="0">
              <a:solidFill>
                <a:srgbClr val="4BACC6">
                  <a:lumMod val="50000"/>
                </a:srgbClr>
              </a:solidFill>
            </a:endParaRPr>
          </a:p>
          <a:p>
            <a:pPr algn="just">
              <a:defRPr/>
            </a:pPr>
            <a:r>
              <a:rPr lang="en-US" sz="2800" dirty="0">
                <a:solidFill>
                  <a:srgbClr val="4BACC6">
                    <a:lumMod val="50000"/>
                  </a:srgbClr>
                </a:solidFill>
              </a:rPr>
              <a:t>Single Product</a:t>
            </a:r>
            <a:r>
              <a:rPr lang="pl-PL" sz="2800" dirty="0">
                <a:solidFill>
                  <a:srgbClr val="4BACC6">
                    <a:lumMod val="50000"/>
                  </a:srgbClr>
                </a:solidFill>
              </a:rPr>
              <a:t>(</a:t>
            </a:r>
            <a:r>
              <a:rPr lang="en-US" sz="2800" dirty="0">
                <a:solidFill>
                  <a:srgbClr val="4BACC6">
                    <a:lumMod val="50000"/>
                  </a:srgbClr>
                </a:solidFill>
              </a:rPr>
              <a:t>Key Requirement: Use a Function, Not a Functional</a:t>
            </a:r>
            <a:r>
              <a:rPr lang="pl-PL" sz="2800" dirty="0">
                <a:solidFill>
                  <a:srgbClr val="4BACC6">
                    <a:lumMod val="50000"/>
                  </a:srgbClr>
                </a:solidFill>
              </a:rPr>
              <a:t>)</a:t>
            </a:r>
            <a:r>
              <a:rPr lang="en-US" sz="2800" dirty="0">
                <a:solidFill>
                  <a:srgbClr val="4BACC6">
                    <a:lumMod val="50000"/>
                  </a:srgbClr>
                </a:solidFill>
              </a:rPr>
              <a:t> In macro models, GDP represents the economy's total output. In </a:t>
            </a:r>
            <a:r>
              <a:rPr lang="en-US" sz="2800" dirty="0" err="1">
                <a:solidFill>
                  <a:srgbClr val="4BACC6">
                    <a:lumMod val="50000"/>
                  </a:srgbClr>
                </a:solidFill>
              </a:rPr>
              <a:t>microeconometrics</a:t>
            </a:r>
            <a:r>
              <a:rPr lang="en-US" sz="2800" dirty="0">
                <a:solidFill>
                  <a:srgbClr val="4BACC6">
                    <a:lumMod val="50000"/>
                  </a:srgbClr>
                </a:solidFill>
              </a:rPr>
              <a:t>, however, we </a:t>
            </a:r>
            <a:r>
              <a:rPr lang="pl-PL" sz="2800" dirty="0" err="1">
                <a:solidFill>
                  <a:srgbClr val="4BACC6">
                    <a:lumMod val="50000"/>
                  </a:srgbClr>
                </a:solidFill>
              </a:rPr>
              <a:t>have</a:t>
            </a:r>
            <a:r>
              <a:rPr lang="pl-PL" sz="2800" dirty="0">
                <a:solidFill>
                  <a:srgbClr val="4BACC6">
                    <a:lumMod val="50000"/>
                  </a:srgbClr>
                </a:solidFill>
              </a:rPr>
              <a:t> to </a:t>
            </a:r>
            <a:r>
              <a:rPr lang="en-US" sz="2800" dirty="0">
                <a:solidFill>
                  <a:srgbClr val="4BACC6">
                    <a:lumMod val="50000"/>
                  </a:srgbClr>
                </a:solidFill>
              </a:rPr>
              <a:t>aggregate multiple products into a single variable</a:t>
            </a:r>
            <a:r>
              <a:rPr lang="pl-PL" sz="2800" dirty="0">
                <a:solidFill>
                  <a:srgbClr val="4BACC6">
                    <a:lumMod val="50000"/>
                  </a:srgbClr>
                </a:solidFill>
              </a:rPr>
              <a:t> (Samsung </a:t>
            </a:r>
            <a:r>
              <a:rPr lang="pl-PL" sz="2800" dirty="0" err="1">
                <a:solidFill>
                  <a:srgbClr val="4BACC6">
                    <a:lumMod val="50000"/>
                  </a:srgbClr>
                </a:solidFill>
              </a:rPr>
              <a:t>production</a:t>
            </a:r>
            <a:r>
              <a:rPr lang="pl-PL" sz="2800" dirty="0">
                <a:solidFill>
                  <a:srgbClr val="4BACC6">
                    <a:lumMod val="50000"/>
                  </a:srgbClr>
                </a:solidFill>
              </a:rPr>
              <a:t> = </a:t>
            </a:r>
            <a:r>
              <a:rPr lang="pl-PL" sz="2800" dirty="0" err="1">
                <a:solidFill>
                  <a:srgbClr val="4BACC6">
                    <a:lumMod val="50000"/>
                  </a:srgbClr>
                </a:solidFill>
              </a:rPr>
              <a:t>smrtphones</a:t>
            </a:r>
            <a:r>
              <a:rPr lang="pl-PL" sz="2800" dirty="0">
                <a:solidFill>
                  <a:srgbClr val="4BACC6">
                    <a:lumMod val="50000"/>
                  </a:srgbClr>
                </a:solidFill>
              </a:rPr>
              <a:t> + </a:t>
            </a:r>
            <a:r>
              <a:rPr lang="pl-PL" sz="2800" dirty="0" err="1">
                <a:solidFill>
                  <a:srgbClr val="4BACC6">
                    <a:lumMod val="50000"/>
                  </a:srgbClr>
                </a:solidFill>
              </a:rPr>
              <a:t>tanks</a:t>
            </a:r>
            <a:r>
              <a:rPr lang="pl-PL" sz="2800" dirty="0">
                <a:solidFill>
                  <a:srgbClr val="4BACC6">
                    <a:lumMod val="50000"/>
                  </a:srgbClr>
                </a:solidFill>
              </a:rPr>
              <a:t> + ……+ </a:t>
            </a:r>
            <a:r>
              <a:rPr lang="pl-PL" sz="2800" dirty="0" err="1">
                <a:solidFill>
                  <a:srgbClr val="4BACC6">
                    <a:lumMod val="50000"/>
                  </a:srgbClr>
                </a:solidFill>
              </a:rPr>
              <a:t>insurace</a:t>
            </a:r>
            <a:r>
              <a:rPr lang="pl-PL" sz="2800" dirty="0">
                <a:solidFill>
                  <a:srgbClr val="4BACC6">
                    <a:lumMod val="50000"/>
                  </a:srgbClr>
                </a:solidFill>
              </a:rPr>
              <a:t>)</a:t>
            </a:r>
            <a:r>
              <a:rPr lang="en-US" sz="2800" dirty="0">
                <a:solidFill>
                  <a:srgbClr val="4BACC6">
                    <a:lumMod val="50000"/>
                  </a:srgbClr>
                </a:solidFill>
              </a:rPr>
              <a:t>.</a:t>
            </a:r>
          </a:p>
          <a:p>
            <a:pPr algn="just">
              <a:defRPr/>
            </a:pPr>
            <a:endParaRPr lang="en-US" sz="2800" dirty="0">
              <a:solidFill>
                <a:srgbClr val="4BACC6">
                  <a:lumMod val="50000"/>
                </a:srgbClr>
              </a:solidFill>
            </a:endParaRPr>
          </a:p>
          <a:p>
            <a:pPr algn="just">
              <a:defRPr/>
            </a:pPr>
            <a:r>
              <a:rPr lang="en-US" sz="2800" dirty="0">
                <a:solidFill>
                  <a:srgbClr val="4BACC6">
                    <a:lumMod val="50000"/>
                  </a:srgbClr>
                </a:solidFill>
              </a:rPr>
              <a:t>Multiple Production Factors: Traditional factors are land, capital, and labor, with additional "new" factors like intellectual and social capital.</a:t>
            </a:r>
            <a:endParaRPr kumimoji="0" lang="en-US" sz="2800" b="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12257585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823B1-6D64-2B4C-B802-B44963AF77B4}"/>
            </a:ext>
          </a:extLst>
        </p:cNvPr>
        <p:cNvGrpSpPr/>
        <p:nvPr/>
      </p:nvGrpSpPr>
      <p:grpSpPr>
        <a:xfrm>
          <a:off x="0" y="0"/>
          <a:ext cx="0" cy="0"/>
          <a:chOff x="0" y="0"/>
          <a:chExt cx="0" cy="0"/>
        </a:xfrm>
      </p:grpSpPr>
      <p:sp>
        <p:nvSpPr>
          <p:cNvPr id="14" name="Tytuł 1">
            <a:extLst>
              <a:ext uri="{FF2B5EF4-FFF2-40B4-BE49-F238E27FC236}">
                <a16:creationId xmlns:a16="http://schemas.microsoft.com/office/drawing/2014/main" id="{43F51876-03EF-4ADE-185C-6D01A2554AAF}"/>
              </a:ext>
            </a:extLst>
          </p:cNvPr>
          <p:cNvSpPr txBox="1">
            <a:spLocks/>
          </p:cNvSpPr>
          <p:nvPr/>
        </p:nvSpPr>
        <p:spPr>
          <a:xfrm>
            <a:off x="-1" y="0"/>
            <a:ext cx="12192001" cy="1187024"/>
          </a:xfrm>
          <a:prstGeom prst="rect">
            <a:avLst/>
          </a:prstGeom>
          <a:solidFill>
            <a:schemeClr val="accent5">
              <a:lumMod val="20000"/>
              <a:lumOff val="80000"/>
            </a:schemeClr>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i="1" dirty="0">
                <a:solidFill>
                  <a:schemeClr val="accent5">
                    <a:lumMod val="50000"/>
                  </a:schemeClr>
                </a:solidFill>
              </a:rPr>
              <a:t>The cost (expenditure) minimization problem   - by analogy</a:t>
            </a:r>
            <a:endParaRPr lang="en-GB" sz="3600" b="1" i="1" dirty="0">
              <a:solidFill>
                <a:schemeClr val="accent5">
                  <a:lumMod val="50000"/>
                </a:schemeClr>
              </a:solidFill>
            </a:endParaRPr>
          </a:p>
        </p:txBody>
      </p:sp>
      <p:sp>
        <p:nvSpPr>
          <p:cNvPr id="10" name="Prostokąt 9">
            <a:extLst>
              <a:ext uri="{FF2B5EF4-FFF2-40B4-BE49-F238E27FC236}">
                <a16:creationId xmlns:a16="http://schemas.microsoft.com/office/drawing/2014/main" id="{1C61093F-3FEB-3812-9A17-3C8D68DDDC73}"/>
              </a:ext>
            </a:extLst>
          </p:cNvPr>
          <p:cNvSpPr/>
          <p:nvPr/>
        </p:nvSpPr>
        <p:spPr>
          <a:xfrm>
            <a:off x="266809" y="1329264"/>
            <a:ext cx="11658379" cy="4955203"/>
          </a:xfrm>
          <a:prstGeom prst="rect">
            <a:avLst/>
          </a:prstGeom>
        </p:spPr>
        <p:txBody>
          <a:bodyPr wrap="square">
            <a:spAutoFit/>
          </a:bodyPr>
          <a:lstStyle/>
          <a:p>
            <a:pPr algn="just">
              <a:defRPr/>
            </a:pPr>
            <a:r>
              <a:rPr lang="en-US" sz="3200" dirty="0">
                <a:solidFill>
                  <a:srgbClr val="4BACC6">
                    <a:lumMod val="50000"/>
                  </a:srgbClr>
                </a:solidFill>
              </a:rPr>
              <a:t>What is and is not a Production Factor? Ideologies influence this concept, and it is not clearly defined in textbooks.</a:t>
            </a:r>
            <a:endParaRPr lang="pl-PL" sz="3200" dirty="0">
              <a:solidFill>
                <a:srgbClr val="4BACC6">
                  <a:lumMod val="50000"/>
                </a:srgbClr>
              </a:solidFill>
            </a:endParaRPr>
          </a:p>
          <a:p>
            <a:pPr marL="457200" indent="-457200" algn="just">
              <a:buFont typeface="Arial" panose="020B0604020202020204" pitchFamily="34" charset="0"/>
              <a:buChar char="•"/>
              <a:defRPr/>
            </a:pPr>
            <a:r>
              <a:rPr lang="en-US" sz="2800" dirty="0">
                <a:solidFill>
                  <a:srgbClr val="4BACC6">
                    <a:lumMod val="50000"/>
                  </a:srgbClr>
                </a:solidFill>
              </a:rPr>
              <a:t>Marxist View: Labor is the primary production factor, while other factors are </a:t>
            </a:r>
            <a:r>
              <a:rPr lang="en-US" sz="2800" dirty="0" err="1">
                <a:solidFill>
                  <a:srgbClr val="4BACC6">
                    <a:lumMod val="50000"/>
                  </a:srgbClr>
                </a:solidFill>
              </a:rPr>
              <a:t>labour</a:t>
            </a:r>
            <a:r>
              <a:rPr lang="en-US" sz="2800" dirty="0">
                <a:solidFill>
                  <a:srgbClr val="4BACC6">
                    <a:lumMod val="50000"/>
                  </a:srgbClr>
                </a:solidFill>
              </a:rPr>
              <a:t> outcomes. Capital is viewed as a surplus taken over by capitalists from workers.</a:t>
            </a:r>
          </a:p>
          <a:p>
            <a:pPr marL="457200" indent="-457200" algn="just">
              <a:buFont typeface="Arial" panose="020B0604020202020204" pitchFamily="34" charset="0"/>
              <a:buChar char="•"/>
              <a:defRPr/>
            </a:pPr>
            <a:r>
              <a:rPr lang="en-US" sz="2800" dirty="0">
                <a:solidFill>
                  <a:srgbClr val="4BACC6">
                    <a:lumMod val="50000"/>
                  </a:srgbClr>
                </a:solidFill>
              </a:rPr>
              <a:t>Modern View: New </a:t>
            </a:r>
            <a:r>
              <a:rPr lang="pl-PL" sz="2800" dirty="0">
                <a:solidFill>
                  <a:srgbClr val="4BACC6">
                    <a:lumMod val="50000"/>
                  </a:srgbClr>
                </a:solidFill>
              </a:rPr>
              <a:t>F</a:t>
            </a:r>
            <a:r>
              <a:rPr lang="en-US" sz="2800" dirty="0">
                <a:solidFill>
                  <a:srgbClr val="4BACC6">
                    <a:lumMod val="50000"/>
                  </a:srgbClr>
                </a:solidFill>
              </a:rPr>
              <a:t>actors, even culture capital, are frequently added, which raises measurement challenges</a:t>
            </a:r>
            <a:r>
              <a:rPr lang="pl-PL" sz="2800" dirty="0">
                <a:solidFill>
                  <a:srgbClr val="4BACC6">
                    <a:lumMod val="50000"/>
                  </a:srgbClr>
                </a:solidFill>
              </a:rPr>
              <a:t> </a:t>
            </a:r>
            <a:r>
              <a:rPr lang="en-US" sz="2800" dirty="0">
                <a:solidFill>
                  <a:srgbClr val="4BACC6">
                    <a:lumMod val="50000"/>
                  </a:srgbClr>
                </a:solidFill>
              </a:rPr>
              <a:t>(</a:t>
            </a:r>
            <a:r>
              <a:rPr lang="pl-PL" sz="2800" dirty="0">
                <a:solidFill>
                  <a:srgbClr val="4BACC6">
                    <a:lumMod val="50000"/>
                  </a:srgbClr>
                </a:solidFill>
              </a:rPr>
              <a:t>Capital </a:t>
            </a:r>
            <a:r>
              <a:rPr lang="pl-PL" sz="2800" dirty="0" err="1">
                <a:solidFill>
                  <a:srgbClr val="4BACC6">
                    <a:lumMod val="50000"/>
                  </a:srgbClr>
                </a:solidFill>
              </a:rPr>
              <a:t>measured</a:t>
            </a:r>
            <a:r>
              <a:rPr lang="pl-PL" sz="2800" dirty="0">
                <a:solidFill>
                  <a:srgbClr val="4BACC6">
                    <a:lumMod val="50000"/>
                  </a:srgbClr>
                </a:solidFill>
              </a:rPr>
              <a:t> by </a:t>
            </a:r>
            <a:r>
              <a:rPr lang="en-US" sz="2800" dirty="0">
                <a:solidFill>
                  <a:srgbClr val="4BACC6">
                    <a:lumMod val="50000"/>
                  </a:srgbClr>
                </a:solidFill>
              </a:rPr>
              <a:t>parent's knowledge of a foreign language)</a:t>
            </a:r>
          </a:p>
          <a:p>
            <a:pPr marL="457200" indent="-457200" algn="just">
              <a:buFont typeface="Arial" panose="020B0604020202020204" pitchFamily="34" charset="0"/>
              <a:buChar char="•"/>
              <a:defRPr/>
            </a:pPr>
            <a:r>
              <a:rPr lang="en-US" sz="2800" dirty="0">
                <a:solidFill>
                  <a:srgbClr val="4BACC6">
                    <a:lumMod val="50000"/>
                  </a:srgbClr>
                </a:solidFill>
              </a:rPr>
              <a:t>In research, factors are treated technically based on production type and available data (e.g., education production function: output = exam scores, capital = school equipment, </a:t>
            </a:r>
            <a:r>
              <a:rPr lang="en-US" sz="2800" dirty="0" err="1">
                <a:solidFill>
                  <a:srgbClr val="4BACC6">
                    <a:lumMod val="50000"/>
                  </a:srgbClr>
                </a:solidFill>
              </a:rPr>
              <a:t>labour</a:t>
            </a:r>
            <a:r>
              <a:rPr lang="en-US" sz="2800" dirty="0">
                <a:solidFill>
                  <a:srgbClr val="4BACC6">
                    <a:lumMod val="50000"/>
                  </a:srgbClr>
                </a:solidFill>
              </a:rPr>
              <a:t> = a number of teachers).</a:t>
            </a:r>
            <a:endParaRPr kumimoji="0" lang="en-US" sz="2400" b="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19606408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32ACC-1CB4-D5CD-F64D-FDD565C5EBE5}"/>
            </a:ext>
          </a:extLst>
        </p:cNvPr>
        <p:cNvGrpSpPr/>
        <p:nvPr/>
      </p:nvGrpSpPr>
      <p:grpSpPr>
        <a:xfrm>
          <a:off x="0" y="0"/>
          <a:ext cx="0" cy="0"/>
          <a:chOff x="0" y="0"/>
          <a:chExt cx="0" cy="0"/>
        </a:xfrm>
      </p:grpSpPr>
      <p:sp>
        <p:nvSpPr>
          <p:cNvPr id="14" name="Tytuł 1">
            <a:extLst>
              <a:ext uri="{FF2B5EF4-FFF2-40B4-BE49-F238E27FC236}">
                <a16:creationId xmlns:a16="http://schemas.microsoft.com/office/drawing/2014/main" id="{60BA6FF1-AE23-5849-0804-27EE03266800}"/>
              </a:ext>
            </a:extLst>
          </p:cNvPr>
          <p:cNvSpPr txBox="1">
            <a:spLocks/>
          </p:cNvSpPr>
          <p:nvPr/>
        </p:nvSpPr>
        <p:spPr>
          <a:xfrm>
            <a:off x="-1" y="0"/>
            <a:ext cx="12192001" cy="1187024"/>
          </a:xfrm>
          <a:prstGeom prst="rect">
            <a:avLst/>
          </a:prstGeom>
          <a:solidFill>
            <a:schemeClr val="accent5">
              <a:lumMod val="20000"/>
              <a:lumOff val="80000"/>
            </a:schemeClr>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i="1" dirty="0">
                <a:solidFill>
                  <a:schemeClr val="accent5">
                    <a:lumMod val="50000"/>
                  </a:schemeClr>
                </a:solidFill>
              </a:rPr>
              <a:t>The cost (expenditure) minimization problem   - by analogy</a:t>
            </a:r>
            <a:endParaRPr lang="en-GB" sz="3600" b="1" i="1" dirty="0">
              <a:solidFill>
                <a:schemeClr val="accent5">
                  <a:lumMod val="50000"/>
                </a:schemeClr>
              </a:solidFill>
            </a:endParaRPr>
          </a:p>
        </p:txBody>
      </p:sp>
      <p:sp>
        <p:nvSpPr>
          <p:cNvPr id="10" name="Prostokąt 9">
            <a:extLst>
              <a:ext uri="{FF2B5EF4-FFF2-40B4-BE49-F238E27FC236}">
                <a16:creationId xmlns:a16="http://schemas.microsoft.com/office/drawing/2014/main" id="{99EB96C6-EF7B-26F9-6412-DDFC6FB4DDAE}"/>
              </a:ext>
            </a:extLst>
          </p:cNvPr>
          <p:cNvSpPr/>
          <p:nvPr/>
        </p:nvSpPr>
        <p:spPr>
          <a:xfrm>
            <a:off x="266809" y="1187024"/>
            <a:ext cx="11658379" cy="5016758"/>
          </a:xfrm>
          <a:prstGeom prst="rect">
            <a:avLst/>
          </a:prstGeom>
        </p:spPr>
        <p:txBody>
          <a:bodyPr wrap="square">
            <a:spAutoFit/>
          </a:bodyPr>
          <a:lstStyle/>
          <a:p>
            <a:pPr algn="just">
              <a:defRPr/>
            </a:pPr>
            <a:r>
              <a:rPr lang="en-US" sz="3200" dirty="0">
                <a:solidFill>
                  <a:srgbClr val="4BACC6">
                    <a:lumMod val="50000"/>
                  </a:srgbClr>
                </a:solidFill>
              </a:rPr>
              <a:t>Measurement and data</a:t>
            </a:r>
          </a:p>
          <a:p>
            <a:pPr algn="just">
              <a:defRPr/>
            </a:pPr>
            <a:endParaRPr lang="en-US" sz="3200" dirty="0">
              <a:solidFill>
                <a:srgbClr val="4BACC6">
                  <a:lumMod val="50000"/>
                </a:srgbClr>
              </a:solidFill>
            </a:endParaRPr>
          </a:p>
          <a:p>
            <a:pPr algn="just">
              <a:defRPr/>
            </a:pPr>
            <a:r>
              <a:rPr lang="en-US" sz="3200" dirty="0">
                <a:solidFill>
                  <a:srgbClr val="4BACC6">
                    <a:lumMod val="50000"/>
                  </a:srgbClr>
                </a:solidFill>
              </a:rPr>
              <a:t>While we can roughly assign a measure to capital or labor, how do we measure intellectual capital or, even more so, social </a:t>
            </a:r>
            <a:r>
              <a:rPr lang="pl-PL" sz="3200" dirty="0" err="1">
                <a:solidFill>
                  <a:srgbClr val="4BACC6">
                    <a:lumMod val="50000"/>
                  </a:srgbClr>
                </a:solidFill>
              </a:rPr>
              <a:t>or</a:t>
            </a:r>
            <a:r>
              <a:rPr lang="pl-PL" sz="3200" dirty="0">
                <a:solidFill>
                  <a:srgbClr val="4BACC6">
                    <a:lumMod val="50000"/>
                  </a:srgbClr>
                </a:solidFill>
              </a:rPr>
              <a:t> </a:t>
            </a:r>
            <a:r>
              <a:rPr lang="pl-PL" sz="3200" dirty="0" err="1">
                <a:solidFill>
                  <a:srgbClr val="4BACC6">
                    <a:lumMod val="50000"/>
                  </a:srgbClr>
                </a:solidFill>
              </a:rPr>
              <a:t>culture</a:t>
            </a:r>
            <a:r>
              <a:rPr lang="pl-PL" sz="3200" dirty="0">
                <a:solidFill>
                  <a:srgbClr val="4BACC6">
                    <a:lumMod val="50000"/>
                  </a:srgbClr>
                </a:solidFill>
              </a:rPr>
              <a:t> </a:t>
            </a:r>
            <a:r>
              <a:rPr lang="en-US" sz="3200" dirty="0">
                <a:solidFill>
                  <a:srgbClr val="4BACC6">
                    <a:lumMod val="50000"/>
                  </a:srgbClr>
                </a:solidFill>
              </a:rPr>
              <a:t>capital? In research, certain approximations of these quantities are used.</a:t>
            </a:r>
          </a:p>
          <a:p>
            <a:pPr algn="just">
              <a:defRPr/>
            </a:pPr>
            <a:endParaRPr lang="en-US" sz="3200" dirty="0">
              <a:solidFill>
                <a:srgbClr val="4BACC6">
                  <a:lumMod val="50000"/>
                </a:srgbClr>
              </a:solidFill>
            </a:endParaRPr>
          </a:p>
          <a:p>
            <a:pPr algn="just">
              <a:defRPr/>
            </a:pPr>
            <a:r>
              <a:rPr lang="en-US" sz="3200" dirty="0">
                <a:solidFill>
                  <a:srgbClr val="4BACC6">
                    <a:lumMod val="50000"/>
                  </a:srgbClr>
                </a:solidFill>
              </a:rPr>
              <a:t>The textbook approach does not consider these nuances. In research, the factors of production must be redefined depending on the purpose, subject matter, and availability of data.</a:t>
            </a:r>
            <a:endParaRPr kumimoji="0" lang="en-US" sz="2400" b="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27170159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33FD5-FB32-B681-997C-88C694BA0E21}"/>
            </a:ext>
          </a:extLst>
        </p:cNvPr>
        <p:cNvGrpSpPr/>
        <p:nvPr/>
      </p:nvGrpSpPr>
      <p:grpSpPr>
        <a:xfrm>
          <a:off x="0" y="0"/>
          <a:ext cx="0" cy="0"/>
          <a:chOff x="0" y="0"/>
          <a:chExt cx="0" cy="0"/>
        </a:xfrm>
      </p:grpSpPr>
      <p:sp>
        <p:nvSpPr>
          <p:cNvPr id="14" name="Tytuł 1">
            <a:extLst>
              <a:ext uri="{FF2B5EF4-FFF2-40B4-BE49-F238E27FC236}">
                <a16:creationId xmlns:a16="http://schemas.microsoft.com/office/drawing/2014/main" id="{BD836F7F-03ED-877A-09CF-CD0B5706B3D6}"/>
              </a:ext>
            </a:extLst>
          </p:cNvPr>
          <p:cNvSpPr txBox="1">
            <a:spLocks/>
          </p:cNvSpPr>
          <p:nvPr/>
        </p:nvSpPr>
        <p:spPr>
          <a:xfrm>
            <a:off x="-1" y="0"/>
            <a:ext cx="12192001" cy="1187024"/>
          </a:xfrm>
          <a:prstGeom prst="rect">
            <a:avLst/>
          </a:prstGeom>
          <a:solidFill>
            <a:schemeClr val="accent5">
              <a:lumMod val="20000"/>
              <a:lumOff val="80000"/>
            </a:schemeClr>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i="1" dirty="0">
                <a:solidFill>
                  <a:schemeClr val="accent5">
                    <a:lumMod val="50000"/>
                  </a:schemeClr>
                </a:solidFill>
              </a:rPr>
              <a:t>The cost (expenditure) minimization problem   - by analogy</a:t>
            </a:r>
            <a:endParaRPr lang="en-GB" sz="3600" b="1" i="1" dirty="0">
              <a:solidFill>
                <a:schemeClr val="accent5">
                  <a:lumMod val="50000"/>
                </a:schemeClr>
              </a:solidFill>
            </a:endParaRPr>
          </a:p>
        </p:txBody>
      </p:sp>
      <p:sp>
        <p:nvSpPr>
          <p:cNvPr id="10" name="Prostokąt 9">
            <a:extLst>
              <a:ext uri="{FF2B5EF4-FFF2-40B4-BE49-F238E27FC236}">
                <a16:creationId xmlns:a16="http://schemas.microsoft.com/office/drawing/2014/main" id="{1C7B59EC-0D03-D670-DAEF-8644983C52D9}"/>
              </a:ext>
            </a:extLst>
          </p:cNvPr>
          <p:cNvSpPr/>
          <p:nvPr/>
        </p:nvSpPr>
        <p:spPr>
          <a:xfrm>
            <a:off x="266809" y="1187024"/>
            <a:ext cx="11658379" cy="5016758"/>
          </a:xfrm>
          <a:prstGeom prst="rect">
            <a:avLst/>
          </a:prstGeom>
        </p:spPr>
        <p:txBody>
          <a:bodyPr wrap="square">
            <a:spAutoFit/>
          </a:bodyPr>
          <a:lstStyle/>
          <a:p>
            <a:pPr algn="just">
              <a:defRPr/>
            </a:pPr>
            <a:r>
              <a:rPr lang="en-US" sz="3200" dirty="0">
                <a:solidFill>
                  <a:srgbClr val="4BACC6">
                    <a:lumMod val="50000"/>
                  </a:srgbClr>
                </a:solidFill>
              </a:rPr>
              <a:t>Dynamics of Change in Factors of Production</a:t>
            </a:r>
          </a:p>
          <a:p>
            <a:pPr algn="just">
              <a:defRPr/>
            </a:pPr>
            <a:endParaRPr lang="en-US" sz="3200" dirty="0">
              <a:solidFill>
                <a:srgbClr val="4BACC6">
                  <a:lumMod val="50000"/>
                </a:srgbClr>
              </a:solidFill>
            </a:endParaRPr>
          </a:p>
          <a:p>
            <a:pPr algn="just">
              <a:defRPr/>
            </a:pPr>
            <a:r>
              <a:rPr lang="en-US" sz="3200" dirty="0">
                <a:solidFill>
                  <a:srgbClr val="4BACC6">
                    <a:lumMod val="50000"/>
                  </a:srgbClr>
                </a:solidFill>
              </a:rPr>
              <a:t>Consumption vs. Accumulation: Some production factors are consumed, while others accumulate</a:t>
            </a:r>
            <a:r>
              <a:rPr lang="pl-PL" sz="3200" dirty="0">
                <a:solidFill>
                  <a:srgbClr val="4BACC6">
                    <a:lumMod val="50000"/>
                  </a:srgbClr>
                </a:solidFill>
              </a:rPr>
              <a:t> in the </a:t>
            </a:r>
            <a:r>
              <a:rPr lang="pl-PL" sz="3200" dirty="0" err="1">
                <a:solidFill>
                  <a:srgbClr val="4BACC6">
                    <a:lumMod val="50000"/>
                  </a:srgbClr>
                </a:solidFill>
              </a:rPr>
              <a:t>production</a:t>
            </a:r>
            <a:r>
              <a:rPr lang="pl-PL" sz="3200" dirty="0">
                <a:solidFill>
                  <a:srgbClr val="4BACC6">
                    <a:lumMod val="50000"/>
                  </a:srgbClr>
                </a:solidFill>
              </a:rPr>
              <a:t> proces.</a:t>
            </a:r>
            <a:endParaRPr lang="en-US" sz="3200" dirty="0">
              <a:solidFill>
                <a:srgbClr val="4BACC6">
                  <a:lumMod val="50000"/>
                </a:srgbClr>
              </a:solidFill>
            </a:endParaRPr>
          </a:p>
          <a:p>
            <a:pPr algn="just">
              <a:defRPr/>
            </a:pPr>
            <a:r>
              <a:rPr lang="en-US" sz="3200" dirty="0">
                <a:solidFill>
                  <a:srgbClr val="4BACC6">
                    <a:lumMod val="50000"/>
                  </a:srgbClr>
                </a:solidFill>
              </a:rPr>
              <a:t>    </a:t>
            </a:r>
            <a:endParaRPr lang="pl-PL" sz="3200" dirty="0">
              <a:solidFill>
                <a:srgbClr val="4BACC6">
                  <a:lumMod val="50000"/>
                </a:srgbClr>
              </a:solidFill>
            </a:endParaRPr>
          </a:p>
          <a:p>
            <a:pPr lvl="1" algn="just">
              <a:defRPr/>
            </a:pPr>
            <a:r>
              <a:rPr lang="en-US" sz="3200" dirty="0">
                <a:solidFill>
                  <a:srgbClr val="4BACC6">
                    <a:lumMod val="50000"/>
                  </a:srgbClr>
                </a:solidFill>
              </a:rPr>
              <a:t>Accumulating Factors: Financial, intellectual, and social capital grow through use – the more you </a:t>
            </a:r>
            <a:r>
              <a:rPr lang="pl-PL" sz="3200" dirty="0">
                <a:solidFill>
                  <a:srgbClr val="4BACC6">
                    <a:lumMod val="50000"/>
                  </a:srgbClr>
                </a:solidFill>
              </a:rPr>
              <a:t>„</a:t>
            </a:r>
            <a:r>
              <a:rPr lang="pl-PL" sz="3200" dirty="0" err="1">
                <a:solidFill>
                  <a:srgbClr val="4BACC6">
                    <a:lumMod val="50000"/>
                  </a:srgbClr>
                </a:solidFill>
              </a:rPr>
              <a:t>use</a:t>
            </a:r>
            <a:r>
              <a:rPr lang="pl-PL" sz="3200" dirty="0">
                <a:solidFill>
                  <a:srgbClr val="4BACC6">
                    <a:lumMod val="50000"/>
                  </a:srgbClr>
                </a:solidFill>
              </a:rPr>
              <a:t>”</a:t>
            </a:r>
            <a:r>
              <a:rPr lang="en-US" sz="3200" dirty="0">
                <a:solidFill>
                  <a:srgbClr val="4BACC6">
                    <a:lumMod val="50000"/>
                  </a:srgbClr>
                </a:solidFill>
              </a:rPr>
              <a:t>, the more they increase.</a:t>
            </a:r>
          </a:p>
          <a:p>
            <a:pPr lvl="1" algn="just">
              <a:defRPr/>
            </a:pPr>
            <a:r>
              <a:rPr lang="en-US" sz="3200" dirty="0">
                <a:solidFill>
                  <a:srgbClr val="4BACC6">
                    <a:lumMod val="50000"/>
                  </a:srgbClr>
                </a:solidFill>
              </a:rPr>
              <a:t>    </a:t>
            </a:r>
            <a:endParaRPr lang="pl-PL" sz="3200" dirty="0">
              <a:solidFill>
                <a:srgbClr val="4BACC6">
                  <a:lumMod val="50000"/>
                </a:srgbClr>
              </a:solidFill>
            </a:endParaRPr>
          </a:p>
          <a:p>
            <a:pPr lvl="1" algn="just">
              <a:defRPr/>
            </a:pPr>
            <a:r>
              <a:rPr lang="en-US" sz="3200" dirty="0">
                <a:solidFill>
                  <a:srgbClr val="4BACC6">
                    <a:lumMod val="50000"/>
                  </a:srgbClr>
                </a:solidFill>
              </a:rPr>
              <a:t>Non-accumulating Factors: Land, raw materials, and labor wear out in the production process without </a:t>
            </a:r>
            <a:r>
              <a:rPr lang="pl-PL" sz="3200" dirty="0">
                <a:solidFill>
                  <a:srgbClr val="4BACC6">
                    <a:lumMod val="50000"/>
                  </a:srgbClr>
                </a:solidFill>
              </a:rPr>
              <a:t>a</a:t>
            </a:r>
            <a:r>
              <a:rPr lang="en-US" sz="3200" dirty="0" err="1">
                <a:solidFill>
                  <a:srgbClr val="4BACC6">
                    <a:lumMod val="50000"/>
                  </a:srgbClr>
                </a:solidFill>
              </a:rPr>
              <a:t>ccumulation</a:t>
            </a:r>
            <a:r>
              <a:rPr lang="en-US" sz="3200" dirty="0">
                <a:solidFill>
                  <a:srgbClr val="4BACC6">
                    <a:lumMod val="50000"/>
                  </a:srgbClr>
                </a:solidFill>
              </a:rPr>
              <a:t>.</a:t>
            </a:r>
            <a:endParaRPr kumimoji="0" lang="en-US" sz="2400" b="0" i="0" u="none" strike="noStrike" kern="1200" cap="none" spc="0" normalizeH="0" baseline="0" noProof="0" dirty="0">
              <a:ln>
                <a:noFill/>
              </a:ln>
              <a:solidFill>
                <a:srgbClr val="4BACC6">
                  <a:lumMod val="50000"/>
                </a:srgbClr>
              </a:solidFill>
              <a:effectLst/>
              <a:uLnTx/>
              <a:uFillTx/>
              <a:latin typeface="Calibri"/>
              <a:ea typeface="+mn-ea"/>
              <a:cs typeface="+mn-cs"/>
            </a:endParaRPr>
          </a:p>
        </p:txBody>
      </p:sp>
    </p:spTree>
    <p:extLst>
      <p:ext uri="{BB962C8B-B14F-4D97-AF65-F5344CB8AC3E}">
        <p14:creationId xmlns:p14="http://schemas.microsoft.com/office/powerpoint/2010/main" val="26072792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1DA72-4377-9173-5EC5-1583FB1EE394}"/>
            </a:ext>
          </a:extLst>
        </p:cNvPr>
        <p:cNvGrpSpPr/>
        <p:nvPr/>
      </p:nvGrpSpPr>
      <p:grpSpPr>
        <a:xfrm>
          <a:off x="0" y="0"/>
          <a:ext cx="0" cy="0"/>
          <a:chOff x="0" y="0"/>
          <a:chExt cx="0" cy="0"/>
        </a:xfrm>
      </p:grpSpPr>
      <p:sp>
        <p:nvSpPr>
          <p:cNvPr id="80" name="CustomShape 1">
            <a:extLst>
              <a:ext uri="{FF2B5EF4-FFF2-40B4-BE49-F238E27FC236}">
                <a16:creationId xmlns:a16="http://schemas.microsoft.com/office/drawing/2014/main" id="{03B0399C-88AE-3725-F8C9-461C6EA00FD6}"/>
              </a:ext>
            </a:extLst>
          </p:cNvPr>
          <p:cNvSpPr/>
          <p:nvPr/>
        </p:nvSpPr>
        <p:spPr>
          <a:xfrm>
            <a:off x="0" y="-1404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lvl="1" algn="ctr">
              <a:lnSpc>
                <a:spcPct val="107000"/>
              </a:lnSpc>
              <a:spcAft>
                <a:spcPts val="800"/>
              </a:spcAft>
            </a:pPr>
            <a:r>
              <a:rPr lang="en-US" sz="36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The cost (expenditure) minimization problem   - by analogy</a:t>
            </a:r>
          </a:p>
        </p:txBody>
      </p:sp>
      <mc:AlternateContent xmlns:mc="http://schemas.openxmlformats.org/markup-compatibility/2006">
        <mc:Choice xmlns:a14="http://schemas.microsoft.com/office/drawing/2010/main" Requires="a14">
          <p:sp>
            <p:nvSpPr>
              <p:cNvPr id="81" name="CustomShape 2">
                <a:extLst>
                  <a:ext uri="{FF2B5EF4-FFF2-40B4-BE49-F238E27FC236}">
                    <a16:creationId xmlns:a16="http://schemas.microsoft.com/office/drawing/2014/main" id="{C2B231C0-1417-F832-8887-A1C7937C40D7}"/>
                  </a:ext>
                </a:extLst>
              </p:cNvPr>
              <p:cNvSpPr/>
              <p:nvPr/>
            </p:nvSpPr>
            <p:spPr>
              <a:xfrm>
                <a:off x="233680" y="1158396"/>
                <a:ext cx="11462514" cy="5292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The choice </a:t>
                </a:r>
                <a:r>
                  <a:rPr lang="pl-PL"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of firm </a:t>
                </a:r>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space is reduced to </a:t>
                </a:r>
                <a:r>
                  <a:rPr lang="en-GB" sz="2800" b="1"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two dimensions</a:t>
                </a:r>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The </a:t>
                </a:r>
                <a:r>
                  <a:rPr lang="pl-PL"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firm</a:t>
                </a:r>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chooses between </a:t>
                </a:r>
                <a:r>
                  <a:rPr lang="pl-PL" sz="2800" dirty="0" err="1">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factors</a:t>
                </a:r>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t>
                </a:r>
                <a:r>
                  <a:rPr lang="pl-PL"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K(capital)</a:t>
                </a:r>
                <a:r>
                  <a:rPr lang="en-GB" sz="2800" dirty="0">
                    <a:solidFill>
                      <a:schemeClr val="accent5">
                        <a:lumMod val="50000"/>
                      </a:schemeClr>
                    </a:solidFill>
                    <a:ea typeface="Times New Roman" panose="02020603050405020304" pitchFamily="18" charset="0"/>
                  </a:rPr>
                  <a:t> </a:t>
                </a:r>
                <a:r>
                  <a:rPr lang="pl-PL" sz="2800" dirty="0">
                    <a:solidFill>
                      <a:schemeClr val="accent5">
                        <a:lumMod val="50000"/>
                      </a:schemeClr>
                    </a:solidFill>
                    <a:ea typeface="Times New Roman" panose="02020603050405020304" pitchFamily="18" charset="0"/>
                  </a:rPr>
                  <a:t>and L (</a:t>
                </a:r>
                <a:r>
                  <a:rPr lang="pl-PL" sz="2800" dirty="0" err="1">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Labour</a:t>
                </a:r>
                <a:r>
                  <a:rPr lang="pl-PL" sz="28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The </a:t>
                </a:r>
                <a:r>
                  <a:rPr lang="pl-PL" sz="2800" dirty="0" err="1">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technology</a:t>
                </a:r>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are represented by the </a:t>
                </a:r>
                <a:r>
                  <a:rPr lang="pl-PL" sz="2800" dirty="0" err="1">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production</a:t>
                </a:r>
                <a:r>
                  <a:rPr lang="en-GB" sz="28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function </a:t>
                </a:r>
                <a14:m>
                  <m:oMath xmlns:m="http://schemas.openxmlformats.org/officeDocument/2006/math">
                    <m:r>
                      <a:rPr lang="pl-PL" sz="2800" b="0" i="1" smtClean="0">
                        <a:solidFill>
                          <a:schemeClr val="accent5">
                            <a:lumMod val="50000"/>
                          </a:schemeClr>
                        </a:solidFill>
                        <a:effectLst/>
                        <a:latin typeface="Cambria Math" panose="02040503050406030204" pitchFamily="18" charset="0"/>
                        <a:ea typeface="Times New Roman" panose="02020603050405020304" pitchFamily="18" charset="0"/>
                      </a:rPr>
                      <m:t>𝑌</m:t>
                    </m:r>
                    <m:r>
                      <a:rPr lang="en-GB" sz="2800" i="1">
                        <a:solidFill>
                          <a:schemeClr val="accent5">
                            <a:lumMod val="50000"/>
                          </a:schemeClr>
                        </a:solidFill>
                        <a:effectLst/>
                        <a:latin typeface="Cambria Math" panose="02040503050406030204" pitchFamily="18" charset="0"/>
                        <a:ea typeface="Times New Roman" panose="02020603050405020304" pitchFamily="18" charset="0"/>
                      </a:rPr>
                      <m:t> =</m:t>
                    </m:r>
                    <m:r>
                      <a:rPr lang="en-GB" sz="2800" i="1">
                        <a:solidFill>
                          <a:schemeClr val="accent5">
                            <a:lumMod val="50000"/>
                          </a:schemeClr>
                        </a:solidFill>
                        <a:effectLst/>
                        <a:latin typeface="Cambria Math" panose="02040503050406030204" pitchFamily="18" charset="0"/>
                        <a:ea typeface="Times New Roman" panose="02020603050405020304" pitchFamily="18" charset="0"/>
                      </a:rPr>
                      <m:t>𝑓</m:t>
                    </m:r>
                    <m:d>
                      <m:dPr>
                        <m:ctrlPr>
                          <a:rPr lang="pl-PL" sz="2800" i="1">
                            <a:solidFill>
                              <a:schemeClr val="accent5">
                                <a:lumMod val="50000"/>
                              </a:schemeClr>
                            </a:solidFill>
                            <a:effectLst/>
                            <a:latin typeface="Cambria Math" panose="02040503050406030204" pitchFamily="18" charset="0"/>
                            <a:ea typeface="Times New Roman" panose="02020603050405020304" pitchFamily="18" charset="0"/>
                          </a:rPr>
                        </m:ctrlPr>
                      </m:dPr>
                      <m:e>
                        <m:r>
                          <a:rPr lang="pl-PL" sz="2800" b="0" i="1" smtClean="0">
                            <a:solidFill>
                              <a:schemeClr val="accent5">
                                <a:lumMod val="50000"/>
                              </a:schemeClr>
                            </a:solidFill>
                            <a:effectLst/>
                            <a:latin typeface="Cambria Math" panose="02040503050406030204" pitchFamily="18" charset="0"/>
                            <a:ea typeface="Times New Roman" panose="02020603050405020304" pitchFamily="18" charset="0"/>
                          </a:rPr>
                          <m:t>𝐾</m:t>
                        </m:r>
                        <m:r>
                          <a:rPr lang="en-GB" sz="2800" i="1">
                            <a:solidFill>
                              <a:schemeClr val="accent5">
                                <a:lumMod val="50000"/>
                              </a:schemeClr>
                            </a:solidFill>
                            <a:effectLst/>
                            <a:latin typeface="Cambria Math" panose="02040503050406030204" pitchFamily="18" charset="0"/>
                            <a:ea typeface="Times New Roman" panose="02020603050405020304" pitchFamily="18" charset="0"/>
                          </a:rPr>
                          <m:t>,</m:t>
                        </m:r>
                        <m:r>
                          <a:rPr lang="pl-PL" sz="2800" b="0" i="1" smtClean="0">
                            <a:solidFill>
                              <a:schemeClr val="accent5">
                                <a:lumMod val="50000"/>
                              </a:schemeClr>
                            </a:solidFill>
                            <a:effectLst/>
                            <a:latin typeface="Cambria Math" panose="02040503050406030204" pitchFamily="18" charset="0"/>
                            <a:ea typeface="Times New Roman" panose="02020603050405020304" pitchFamily="18" charset="0"/>
                          </a:rPr>
                          <m:t>𝐿</m:t>
                        </m:r>
                        <m:r>
                          <a:rPr lang="pl-PL" sz="2800" i="1" smtClean="0">
                            <a:solidFill>
                              <a:schemeClr val="accent5">
                                <a:lumMod val="50000"/>
                              </a:schemeClr>
                            </a:solidFill>
                            <a:effectLst/>
                            <a:latin typeface="Cambria Math" panose="02040503050406030204" pitchFamily="18" charset="0"/>
                            <a:ea typeface="Times New Roman" panose="02020603050405020304" pitchFamily="18" charset="0"/>
                          </a:rPr>
                          <m:t> </m:t>
                        </m:r>
                      </m:e>
                    </m:d>
                  </m:oMath>
                </a14:m>
                <a:r>
                  <a:rPr lang="en-US" sz="24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Mapping the production function onto choice space creates an isoquant map: each point (a combination of capital, K, and </a:t>
                </a:r>
                <a:r>
                  <a:rPr lang="en-US" sz="2400" dirty="0" err="1">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labour</a:t>
                </a:r>
                <a:r>
                  <a:rPr lang="en-US" sz="24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L) </a:t>
                </a:r>
                <a:r>
                  <a:rPr lang="pl-PL" sz="2400" dirty="0" err="1">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gives</a:t>
                </a:r>
                <a:r>
                  <a:rPr lang="en-US" sz="24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the same production level.</a:t>
                </a:r>
                <a:r>
                  <a:rPr lang="pl-PL" sz="240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 </a:t>
                </a:r>
                <a:r>
                  <a:rPr lang="en-US" sz="2800" b="1" dirty="0">
                    <a:solidFill>
                      <a:srgbClr val="C00000"/>
                    </a:solidFill>
                    <a:latin typeface="Calibri" panose="020F0502020204030204" pitchFamily="34" charset="0"/>
                    <a:ea typeface="Calibri" panose="020F0502020204030204" pitchFamily="34" charset="0"/>
                    <a:cs typeface="Calibri" panose="020F0502020204030204" pitchFamily="34" charset="0"/>
                  </a:rPr>
                  <a:t>Now we care about how much these isoquants differ in value --&gt; production is measurable. </a:t>
                </a:r>
                <a:r>
                  <a:rPr lang="pl-PL" sz="2800" b="1" dirty="0">
                    <a:solidFill>
                      <a:srgbClr val="C00000"/>
                    </a:solidFill>
                    <a:latin typeface="Calibri" panose="020F0502020204030204" pitchFamily="34" charset="0"/>
                    <a:ea typeface="Calibri" panose="020F0502020204030204" pitchFamily="34" charset="0"/>
                    <a:cs typeface="Calibri" panose="020F0502020204030204" pitchFamily="34" charset="0"/>
                  </a:rPr>
                  <a:t>T</a:t>
                </a:r>
                <a:r>
                  <a:rPr lang="en-US" sz="2800" b="1" dirty="0">
                    <a:solidFill>
                      <a:srgbClr val="C00000"/>
                    </a:solidFill>
                    <a:latin typeface="Calibri" panose="020F0502020204030204" pitchFamily="34" charset="0"/>
                    <a:ea typeface="Calibri" panose="020F0502020204030204" pitchFamily="34" charset="0"/>
                    <a:cs typeface="Calibri" panose="020F0502020204030204" pitchFamily="34" charset="0"/>
                  </a:rPr>
                  <a:t>he economy of scale</a:t>
                </a:r>
                <a:r>
                  <a:rPr lang="pl-PL" sz="2800" b="1" dirty="0">
                    <a:solidFill>
                      <a:srgbClr val="C00000"/>
                    </a:solidFill>
                    <a:latin typeface="Calibri" panose="020F0502020204030204" pitchFamily="34" charset="0"/>
                    <a:ea typeface="Calibri" panose="020F0502020204030204" pitchFamily="34" charset="0"/>
                    <a:cs typeface="Calibri" panose="020F0502020204030204" pitchFamily="34" charset="0"/>
                  </a:rPr>
                  <a:t> </a:t>
                </a:r>
                <a:r>
                  <a:rPr lang="en-US" sz="2800" b="1" dirty="0">
                    <a:solidFill>
                      <a:srgbClr val="C00000"/>
                    </a:solidFill>
                    <a:latin typeface="Calibri" panose="020F0502020204030204" pitchFamily="34" charset="0"/>
                    <a:ea typeface="Calibri" panose="020F0502020204030204" pitchFamily="34" charset="0"/>
                    <a:cs typeface="Calibri" panose="020F0502020204030204" pitchFamily="34" charset="0"/>
                  </a:rPr>
                  <a:t>matters.</a:t>
                </a:r>
                <a:endParaRPr lang="pl-PL" sz="2400" b="1" dirty="0">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81" name="CustomShape 2">
                <a:extLst>
                  <a:ext uri="{FF2B5EF4-FFF2-40B4-BE49-F238E27FC236}">
                    <a16:creationId xmlns:a16="http://schemas.microsoft.com/office/drawing/2014/main" id="{C2B231C0-1417-F832-8887-A1C7937C40D7}"/>
                  </a:ext>
                </a:extLst>
              </p:cNvPr>
              <p:cNvSpPr>
                <a:spLocks noRot="1" noChangeAspect="1" noMove="1" noResize="1" noEditPoints="1" noAdjustHandles="1" noChangeArrowheads="1" noChangeShapeType="1" noTextEdit="1"/>
              </p:cNvSpPr>
              <p:nvPr/>
            </p:nvSpPr>
            <p:spPr>
              <a:xfrm>
                <a:off x="233680" y="1158396"/>
                <a:ext cx="11462514" cy="5292880"/>
              </a:xfrm>
              <a:prstGeom prst="rect">
                <a:avLst/>
              </a:prstGeom>
              <a:blipFill>
                <a:blip r:embed="rId2"/>
                <a:stretch>
                  <a:fillRect l="-1063" t="-1152" r="-1116"/>
                </a:stretch>
              </a:blipFill>
              <a:ln>
                <a:noFill/>
              </a:ln>
            </p:spPr>
            <p:txBody>
              <a:bodyPr/>
              <a:lstStyle/>
              <a:p>
                <a:r>
                  <a:rPr lang="pl-PL">
                    <a:noFill/>
                  </a:rPr>
                  <a:t> </a:t>
                </a:r>
              </a:p>
            </p:txBody>
          </p:sp>
        </mc:Fallback>
      </mc:AlternateContent>
      <p:pic>
        <p:nvPicPr>
          <p:cNvPr id="2" name="Picture 4">
            <a:extLst>
              <a:ext uri="{FF2B5EF4-FFF2-40B4-BE49-F238E27FC236}">
                <a16:creationId xmlns:a16="http://schemas.microsoft.com/office/drawing/2014/main" id="{597A0406-9612-4866-CFD1-CCBE12B26F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6080" y="3805862"/>
            <a:ext cx="3431540" cy="2597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6">
            <a:extLst>
              <a:ext uri="{FF2B5EF4-FFF2-40B4-BE49-F238E27FC236}">
                <a16:creationId xmlns:a16="http://schemas.microsoft.com/office/drawing/2014/main" id="{2648BC4D-26E7-F9F8-109C-1F863A8855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6240" y="3705614"/>
            <a:ext cx="3789680" cy="2905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6532094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6C0A5-A79F-825B-6650-CBB83B19AD4A}"/>
            </a:ext>
          </a:extLst>
        </p:cNvPr>
        <p:cNvGrpSpPr/>
        <p:nvPr/>
      </p:nvGrpSpPr>
      <p:grpSpPr>
        <a:xfrm>
          <a:off x="0" y="0"/>
          <a:ext cx="0" cy="0"/>
          <a:chOff x="0" y="0"/>
          <a:chExt cx="0" cy="0"/>
        </a:xfrm>
      </p:grpSpPr>
      <p:sp>
        <p:nvSpPr>
          <p:cNvPr id="2" name="CustomShape 1">
            <a:extLst>
              <a:ext uri="{FF2B5EF4-FFF2-40B4-BE49-F238E27FC236}">
                <a16:creationId xmlns:a16="http://schemas.microsoft.com/office/drawing/2014/main" id="{84338B9F-97A1-72D2-5ACA-92BE9A318710}"/>
              </a:ext>
            </a:extLst>
          </p:cNvPr>
          <p:cNvSpPr/>
          <p:nvPr/>
        </p:nvSpPr>
        <p:spPr>
          <a:xfrm>
            <a:off x="0" y="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lvl="1" algn="ctr">
              <a:lnSpc>
                <a:spcPct val="107000"/>
              </a:lnSpc>
              <a:spcAft>
                <a:spcPts val="800"/>
              </a:spcAft>
            </a:pPr>
            <a:r>
              <a:rPr lang="en-US" sz="40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The cost (expenditure) minimization problem   - by analogy</a:t>
            </a:r>
          </a:p>
        </p:txBody>
      </p:sp>
      <p:sp>
        <p:nvSpPr>
          <p:cNvPr id="81" name="CustomShape 2">
            <a:extLst>
              <a:ext uri="{FF2B5EF4-FFF2-40B4-BE49-F238E27FC236}">
                <a16:creationId xmlns:a16="http://schemas.microsoft.com/office/drawing/2014/main" id="{DF840B42-0617-B03B-A31F-58AE6FE228DD}"/>
              </a:ext>
            </a:extLst>
          </p:cNvPr>
          <p:cNvSpPr/>
          <p:nvPr/>
        </p:nvSpPr>
        <p:spPr>
          <a:xfrm>
            <a:off x="5151708" y="1198322"/>
            <a:ext cx="6650583" cy="522279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r>
              <a:rPr lang="en-US" sz="2800" b="1"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Marginal Rate of Technical Substitution (MRTS)</a:t>
            </a:r>
          </a:p>
          <a:p>
            <a:pPr algn="just"/>
            <a:endParaRPr lang="pl-PL" sz="28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sz="28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MRTS measures how one factor can be substituted for another while keeping production constant.</a:t>
            </a:r>
            <a:endParaRPr lang="pl-PL" sz="28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pPr algn="just"/>
            <a:endParaRPr lang="en-US" sz="28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pPr lvl="1" algn="just"/>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The isoquant shows combinations of K and L that yield the same production level.</a:t>
            </a:r>
          </a:p>
          <a:p>
            <a:pPr lvl="1" algn="just"/>
            <a:endPar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a:p>
            <a:pPr lvl="1" algn="just"/>
            <a:r>
              <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The </a:t>
            </a:r>
            <a:r>
              <a:rPr lang="en-US"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rPr>
              <a:t>slope of the isoquant indicates the amount of L that can be reduced for each additional unit of K to maintain the same production level.</a:t>
            </a:r>
            <a:endParaRPr lang="pl-PL" sz="2400" dirty="0">
              <a:solidFill>
                <a:schemeClr val="accent5">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14" name="Picture 3">
            <a:extLst>
              <a:ext uri="{FF2B5EF4-FFF2-40B4-BE49-F238E27FC236}">
                <a16:creationId xmlns:a16="http://schemas.microsoft.com/office/drawing/2014/main" id="{7F738DFE-D2EB-A748-9209-33552BC503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709" y="1329742"/>
            <a:ext cx="4811259" cy="1958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rójkąt prostokątny 9">
            <a:extLst>
              <a:ext uri="{FF2B5EF4-FFF2-40B4-BE49-F238E27FC236}">
                <a16:creationId xmlns:a16="http://schemas.microsoft.com/office/drawing/2014/main" id="{C368FC2D-D37A-BD5B-F87C-9240C4BD7492}"/>
              </a:ext>
            </a:extLst>
          </p:cNvPr>
          <p:cNvSpPr/>
          <p:nvPr/>
        </p:nvSpPr>
        <p:spPr>
          <a:xfrm>
            <a:off x="1741395" y="2896453"/>
            <a:ext cx="1395731" cy="119063"/>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pl-PL"/>
          </a:p>
        </p:txBody>
      </p:sp>
      <p:graphicFrame>
        <p:nvGraphicFramePr>
          <p:cNvPr id="16" name="Object 3">
            <a:extLst>
              <a:ext uri="{FF2B5EF4-FFF2-40B4-BE49-F238E27FC236}">
                <a16:creationId xmlns:a16="http://schemas.microsoft.com/office/drawing/2014/main" id="{A461E5B0-618D-A79C-0C55-666E6C6999B4}"/>
              </a:ext>
            </a:extLst>
          </p:cNvPr>
          <p:cNvGraphicFramePr>
            <a:graphicFrameLocks noChangeAspect="1"/>
          </p:cNvGraphicFramePr>
          <p:nvPr>
            <p:extLst>
              <p:ext uri="{D42A27DB-BD31-4B8C-83A1-F6EECF244321}">
                <p14:modId xmlns:p14="http://schemas.microsoft.com/office/powerpoint/2010/main" val="469315999"/>
              </p:ext>
            </p:extLst>
          </p:nvPr>
        </p:nvGraphicFramePr>
        <p:xfrm>
          <a:off x="1121501" y="2798629"/>
          <a:ext cx="458062" cy="333326"/>
        </p:xfrm>
        <a:graphic>
          <a:graphicData uri="http://schemas.openxmlformats.org/presentationml/2006/ole">
            <mc:AlternateContent xmlns:mc="http://schemas.openxmlformats.org/markup-compatibility/2006">
              <mc:Choice xmlns:v="urn:schemas-microsoft-com:vml" Requires="v">
                <p:oleObj name="Równanie" r:id="rId3" imgW="215619" imgH="177569" progId="Equation.3">
                  <p:embed/>
                </p:oleObj>
              </mc:Choice>
              <mc:Fallback>
                <p:oleObj name="Równanie" r:id="rId3" imgW="215619" imgH="177569" progId="Equation.3">
                  <p:embed/>
                  <p:pic>
                    <p:nvPicPr>
                      <p:cNvPr id="3072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1501" y="2798629"/>
                        <a:ext cx="458062" cy="333326"/>
                      </a:xfrm>
                      <a:prstGeom prst="rect">
                        <a:avLst/>
                      </a:prstGeom>
                      <a:noFill/>
                      <a:ln>
                        <a:noFill/>
                      </a:ln>
                      <a:effectLst/>
                    </p:spPr>
                  </p:pic>
                </p:oleObj>
              </mc:Fallback>
            </mc:AlternateContent>
          </a:graphicData>
        </a:graphic>
      </p:graphicFrame>
      <p:graphicFrame>
        <p:nvGraphicFramePr>
          <p:cNvPr id="17" name="Object 4">
            <a:extLst>
              <a:ext uri="{FF2B5EF4-FFF2-40B4-BE49-F238E27FC236}">
                <a16:creationId xmlns:a16="http://schemas.microsoft.com/office/drawing/2014/main" id="{49786C90-51EC-F468-9C3E-8CE7DF20800B}"/>
              </a:ext>
            </a:extLst>
          </p:cNvPr>
          <p:cNvGraphicFramePr>
            <a:graphicFrameLocks noChangeAspect="1"/>
          </p:cNvGraphicFramePr>
          <p:nvPr>
            <p:extLst>
              <p:ext uri="{D42A27DB-BD31-4B8C-83A1-F6EECF244321}">
                <p14:modId xmlns:p14="http://schemas.microsoft.com/office/powerpoint/2010/main" val="2195137120"/>
              </p:ext>
            </p:extLst>
          </p:nvPr>
        </p:nvGraphicFramePr>
        <p:xfrm>
          <a:off x="1999591" y="3125270"/>
          <a:ext cx="439670" cy="335443"/>
        </p:xfrm>
        <a:graphic>
          <a:graphicData uri="http://schemas.openxmlformats.org/presentationml/2006/ole">
            <mc:AlternateContent xmlns:mc="http://schemas.openxmlformats.org/markup-compatibility/2006">
              <mc:Choice xmlns:v="urn:schemas-microsoft-com:vml" Requires="v">
                <p:oleObj name="Równanie" r:id="rId5" imgW="241091" imgH="177646" progId="Equation.3">
                  <p:embed/>
                </p:oleObj>
              </mc:Choice>
              <mc:Fallback>
                <p:oleObj name="Równanie" r:id="rId5" imgW="241091" imgH="177646" progId="Equation.3">
                  <p:embed/>
                  <p:pic>
                    <p:nvPicPr>
                      <p:cNvPr id="3073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9591" y="3125270"/>
                        <a:ext cx="439670" cy="335443"/>
                      </a:xfrm>
                      <a:prstGeom prst="rect">
                        <a:avLst/>
                      </a:prstGeom>
                      <a:noFill/>
                      <a:ln>
                        <a:noFill/>
                      </a:ln>
                      <a:effectLst/>
                    </p:spPr>
                  </p:pic>
                </p:oleObj>
              </mc:Fallback>
            </mc:AlternateContent>
          </a:graphicData>
        </a:graphic>
      </p:graphicFrame>
      <p:graphicFrame>
        <p:nvGraphicFramePr>
          <p:cNvPr id="18" name="Object 5">
            <a:extLst>
              <a:ext uri="{FF2B5EF4-FFF2-40B4-BE49-F238E27FC236}">
                <a16:creationId xmlns:a16="http://schemas.microsoft.com/office/drawing/2014/main" id="{FE313960-4FFC-9BCD-6669-704BA36CA854}"/>
              </a:ext>
            </a:extLst>
          </p:cNvPr>
          <p:cNvGraphicFramePr>
            <a:graphicFrameLocks noChangeAspect="1"/>
          </p:cNvGraphicFramePr>
          <p:nvPr>
            <p:extLst>
              <p:ext uri="{D42A27DB-BD31-4B8C-83A1-F6EECF244321}">
                <p14:modId xmlns:p14="http://schemas.microsoft.com/office/powerpoint/2010/main" val="2188430494"/>
              </p:ext>
            </p:extLst>
          </p:nvPr>
        </p:nvGraphicFramePr>
        <p:xfrm>
          <a:off x="1350532" y="3561159"/>
          <a:ext cx="3587047" cy="3026571"/>
        </p:xfrm>
        <a:graphic>
          <a:graphicData uri="http://schemas.openxmlformats.org/presentationml/2006/ole">
            <mc:AlternateContent xmlns:mc="http://schemas.openxmlformats.org/markup-compatibility/2006">
              <mc:Choice xmlns:v="urn:schemas-microsoft-com:vml" Requires="v">
                <p:oleObj name="Równanie" r:id="rId7" imgW="1688760" imgH="1803240" progId="Equation.3">
                  <p:embed/>
                </p:oleObj>
              </mc:Choice>
              <mc:Fallback>
                <p:oleObj name="Równanie" r:id="rId7" imgW="1688760" imgH="1803240" progId="Equation.3">
                  <p:embed/>
                  <p:pic>
                    <p:nvPicPr>
                      <p:cNvPr id="30727" name="Object 5"/>
                      <p:cNvPicPr>
                        <a:picLocks noChangeAspect="1" noChangeArrowheads="1"/>
                      </p:cNvPicPr>
                      <p:nvPr/>
                    </p:nvPicPr>
                    <p:blipFill>
                      <a:blip r:embed="rId8"/>
                      <a:srcRect/>
                      <a:stretch>
                        <a:fillRect/>
                      </a:stretch>
                    </p:blipFill>
                    <p:spPr bwMode="auto">
                      <a:xfrm>
                        <a:off x="1350532" y="3561159"/>
                        <a:ext cx="3587047" cy="302657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6702727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3058D-5292-A2DE-DA49-A15F5FE36E17}"/>
            </a:ext>
          </a:extLst>
        </p:cNvPr>
        <p:cNvGrpSpPr/>
        <p:nvPr/>
      </p:nvGrpSpPr>
      <p:grpSpPr>
        <a:xfrm>
          <a:off x="0" y="0"/>
          <a:ext cx="0" cy="0"/>
          <a:chOff x="0" y="0"/>
          <a:chExt cx="0" cy="0"/>
        </a:xfrm>
      </p:grpSpPr>
      <p:sp>
        <p:nvSpPr>
          <p:cNvPr id="2" name="CustomShape 1">
            <a:extLst>
              <a:ext uri="{FF2B5EF4-FFF2-40B4-BE49-F238E27FC236}">
                <a16:creationId xmlns:a16="http://schemas.microsoft.com/office/drawing/2014/main" id="{1D5BE5BA-30DB-9F2B-F074-14A4A813E39E}"/>
              </a:ext>
            </a:extLst>
          </p:cNvPr>
          <p:cNvSpPr/>
          <p:nvPr/>
        </p:nvSpPr>
        <p:spPr>
          <a:xfrm>
            <a:off x="0" y="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lvl="1" algn="ctr">
              <a:lnSpc>
                <a:spcPct val="107000"/>
              </a:lnSpc>
              <a:spcAft>
                <a:spcPts val="800"/>
              </a:spcAft>
            </a:pPr>
            <a:r>
              <a:rPr lang="en-US" sz="40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The cost (expenditure) minimization problem   - by analogy</a:t>
            </a:r>
          </a:p>
        </p:txBody>
      </p:sp>
      <p:sp>
        <p:nvSpPr>
          <p:cNvPr id="4" name="Prostokąt 3">
            <a:extLst>
              <a:ext uri="{FF2B5EF4-FFF2-40B4-BE49-F238E27FC236}">
                <a16:creationId xmlns:a16="http://schemas.microsoft.com/office/drawing/2014/main" id="{D459E20B-F429-ED29-22A7-A9ED044C89C3}"/>
              </a:ext>
            </a:extLst>
          </p:cNvPr>
          <p:cNvSpPr/>
          <p:nvPr/>
        </p:nvSpPr>
        <p:spPr>
          <a:xfrm>
            <a:off x="1072198" y="2891149"/>
            <a:ext cx="8297863" cy="461963"/>
          </a:xfrm>
          <a:prstGeom prst="rect">
            <a:avLst/>
          </a:prstGeom>
        </p:spPr>
        <p:txBody>
          <a:bodyPr>
            <a:spAutoFit/>
          </a:bodyPr>
          <a:lstStyle/>
          <a:p>
            <a:pPr algn="just" eaLnBrk="0" hangingPunct="0">
              <a:defRPr/>
            </a:pPr>
            <a:endParaRPr lang="pl-PL" sz="2400" dirty="0">
              <a:solidFill>
                <a:schemeClr val="accent5">
                  <a:lumMod val="50000"/>
                </a:schemeClr>
              </a:solidFill>
              <a:latin typeface="Arial" pitchFamily="34" charset="0"/>
              <a:sym typeface="Wingdings" pitchFamily="2" charset="2"/>
            </a:endParaRPr>
          </a:p>
        </p:txBody>
      </p:sp>
      <p:sp>
        <p:nvSpPr>
          <p:cNvPr id="5" name="Prostokąt 13">
            <a:extLst>
              <a:ext uri="{FF2B5EF4-FFF2-40B4-BE49-F238E27FC236}">
                <a16:creationId xmlns:a16="http://schemas.microsoft.com/office/drawing/2014/main" id="{6797A5B3-37B9-0E3C-FDF5-97310B243AFC}"/>
              </a:ext>
            </a:extLst>
          </p:cNvPr>
          <p:cNvSpPr/>
          <p:nvPr/>
        </p:nvSpPr>
        <p:spPr>
          <a:xfrm>
            <a:off x="202644" y="1142280"/>
            <a:ext cx="11166396" cy="3046988"/>
          </a:xfrm>
          <a:prstGeom prst="rect">
            <a:avLst/>
          </a:prstGeom>
        </p:spPr>
        <p:txBody>
          <a:bodyPr wrap="square">
            <a:spAutoFit/>
          </a:bodyPr>
          <a:lstStyle/>
          <a:p>
            <a:pPr algn="just" eaLnBrk="0" hangingPunct="0">
              <a:defRPr/>
            </a:pPr>
            <a:r>
              <a:rPr lang="en-US" sz="2400" dirty="0">
                <a:solidFill>
                  <a:schemeClr val="accent5">
                    <a:lumMod val="50000"/>
                  </a:schemeClr>
                </a:solidFill>
                <a:latin typeface="+mj-lt"/>
              </a:rPr>
              <a:t>Cobb-Douglas vs. CES Production Function</a:t>
            </a:r>
          </a:p>
          <a:p>
            <a:pPr algn="just" eaLnBrk="0" hangingPunct="0">
              <a:defRPr/>
            </a:pPr>
            <a:endParaRPr lang="pl-PL" sz="2400" dirty="0">
              <a:solidFill>
                <a:schemeClr val="accent5">
                  <a:lumMod val="50000"/>
                </a:schemeClr>
              </a:solidFill>
              <a:latin typeface="+mj-lt"/>
            </a:endParaRPr>
          </a:p>
          <a:p>
            <a:pPr marL="342900" indent="-342900" algn="just" eaLnBrk="0" hangingPunct="0">
              <a:buFont typeface="Arial" panose="020B0604020202020204" pitchFamily="34" charset="0"/>
              <a:buChar char="•"/>
              <a:defRPr/>
            </a:pPr>
            <a:r>
              <a:rPr lang="en-US" sz="2400" dirty="0">
                <a:solidFill>
                  <a:schemeClr val="accent5">
                    <a:lumMod val="50000"/>
                  </a:schemeClr>
                </a:solidFill>
                <a:latin typeface="+mj-lt"/>
              </a:rPr>
              <a:t>Cobb-Douglas: Widely used due to simplicity and fixed factor shares.</a:t>
            </a:r>
          </a:p>
          <a:p>
            <a:pPr marL="342900" indent="-342900" algn="just" eaLnBrk="0" hangingPunct="0">
              <a:buFont typeface="Arial" panose="020B0604020202020204" pitchFamily="34" charset="0"/>
              <a:buChar char="•"/>
              <a:defRPr/>
            </a:pPr>
            <a:r>
              <a:rPr lang="en-US" sz="2400" dirty="0">
                <a:solidFill>
                  <a:schemeClr val="accent5">
                    <a:lumMod val="50000"/>
                  </a:schemeClr>
                </a:solidFill>
                <a:latin typeface="+mj-lt"/>
              </a:rPr>
              <a:t>The CES function is more universal but not easy to use in models [but you can find all </a:t>
            </a:r>
            <a:r>
              <a:rPr lang="pl-PL" sz="2400" dirty="0" err="1">
                <a:solidFill>
                  <a:schemeClr val="accent5">
                    <a:lumMod val="50000"/>
                  </a:schemeClr>
                </a:solidFill>
                <a:latin typeface="+mj-lt"/>
              </a:rPr>
              <a:t>results</a:t>
            </a:r>
            <a:r>
              <a:rPr lang="pl-PL" sz="2400" dirty="0">
                <a:solidFill>
                  <a:schemeClr val="accent5">
                    <a:lumMod val="50000"/>
                  </a:schemeClr>
                </a:solidFill>
                <a:latin typeface="+mj-lt"/>
              </a:rPr>
              <a:t> of </a:t>
            </a:r>
            <a:r>
              <a:rPr lang="en-US" sz="2400" dirty="0">
                <a:solidFill>
                  <a:schemeClr val="accent5">
                    <a:lumMod val="50000"/>
                  </a:schemeClr>
                </a:solidFill>
                <a:latin typeface="+mj-lt"/>
              </a:rPr>
              <a:t>calculations in textbooks].CES (Constant Elasticity of Substitution) </a:t>
            </a:r>
            <a:r>
              <a:rPr lang="pl-PL" sz="2400" dirty="0">
                <a:solidFill>
                  <a:schemeClr val="accent5">
                    <a:lumMod val="50000"/>
                  </a:schemeClr>
                </a:solidFill>
                <a:latin typeface="+mj-lt"/>
              </a:rPr>
              <a:t>o</a:t>
            </a:r>
            <a:r>
              <a:rPr lang="en-US" sz="2400" dirty="0" err="1">
                <a:solidFill>
                  <a:schemeClr val="accent5">
                    <a:lumMod val="50000"/>
                  </a:schemeClr>
                </a:solidFill>
                <a:latin typeface="+mj-lt"/>
              </a:rPr>
              <a:t>ffers</a:t>
            </a:r>
            <a:r>
              <a:rPr lang="pl-PL" sz="2400" dirty="0">
                <a:solidFill>
                  <a:schemeClr val="accent5">
                    <a:lumMod val="50000"/>
                  </a:schemeClr>
                </a:solidFill>
                <a:latin typeface="+mj-lt"/>
              </a:rPr>
              <a:t>:</a:t>
            </a:r>
          </a:p>
          <a:p>
            <a:pPr algn="just" eaLnBrk="0" hangingPunct="0">
              <a:defRPr/>
            </a:pPr>
            <a:r>
              <a:rPr lang="en-US" sz="2400" dirty="0">
                <a:solidFill>
                  <a:schemeClr val="accent5">
                    <a:lumMod val="50000"/>
                  </a:schemeClr>
                </a:solidFill>
                <a:latin typeface="+mj-lt"/>
              </a:rPr>
              <a:t> </a:t>
            </a:r>
            <a:endParaRPr lang="pl-PL" sz="2400" dirty="0">
              <a:solidFill>
                <a:schemeClr val="accent5">
                  <a:lumMod val="50000"/>
                </a:schemeClr>
              </a:solidFill>
              <a:latin typeface="+mj-lt"/>
            </a:endParaRPr>
          </a:p>
          <a:p>
            <a:pPr lvl="1" algn="just" eaLnBrk="0" hangingPunct="0">
              <a:defRPr/>
            </a:pPr>
            <a:r>
              <a:rPr lang="en-US" sz="2400" dirty="0">
                <a:solidFill>
                  <a:schemeClr val="accent5">
                    <a:lumMod val="50000"/>
                  </a:schemeClr>
                </a:solidFill>
                <a:latin typeface="+mj-lt"/>
              </a:rPr>
              <a:t>adjustable factor shares </a:t>
            </a:r>
            <a:endParaRPr lang="pl-PL" sz="2400" dirty="0">
              <a:solidFill>
                <a:schemeClr val="accent5">
                  <a:lumMod val="50000"/>
                </a:schemeClr>
              </a:solidFill>
              <a:latin typeface="+mj-lt"/>
            </a:endParaRPr>
          </a:p>
          <a:p>
            <a:pPr lvl="1" algn="just" eaLnBrk="0" hangingPunct="0">
              <a:defRPr/>
            </a:pPr>
            <a:r>
              <a:rPr lang="en-US" sz="2400" dirty="0">
                <a:solidFill>
                  <a:schemeClr val="accent5">
                    <a:lumMod val="50000"/>
                  </a:schemeClr>
                </a:solidFill>
                <a:latin typeface="+mj-lt"/>
              </a:rPr>
              <a:t>flexibility in modelling substitution of production factors. </a:t>
            </a:r>
            <a:endParaRPr lang="pl-PL" sz="2400" dirty="0">
              <a:solidFill>
                <a:schemeClr val="accent5">
                  <a:lumMod val="50000"/>
                </a:schemeClr>
              </a:solidFill>
              <a:latin typeface="+mj-lt"/>
            </a:endParaRPr>
          </a:p>
        </p:txBody>
      </p:sp>
      <p:graphicFrame>
        <p:nvGraphicFramePr>
          <p:cNvPr id="6" name="Object 5">
            <a:extLst>
              <a:ext uri="{FF2B5EF4-FFF2-40B4-BE49-F238E27FC236}">
                <a16:creationId xmlns:a16="http://schemas.microsoft.com/office/drawing/2014/main" id="{2E134625-0DD3-78E8-0E5B-ADAF6F9B8C1C}"/>
              </a:ext>
            </a:extLst>
          </p:cNvPr>
          <p:cNvGraphicFramePr>
            <a:graphicFrameLocks noChangeAspect="1"/>
          </p:cNvGraphicFramePr>
          <p:nvPr>
            <p:extLst>
              <p:ext uri="{D42A27DB-BD31-4B8C-83A1-F6EECF244321}">
                <p14:modId xmlns:p14="http://schemas.microsoft.com/office/powerpoint/2010/main" val="1252605336"/>
              </p:ext>
            </p:extLst>
          </p:nvPr>
        </p:nvGraphicFramePr>
        <p:xfrm>
          <a:off x="2429867" y="3966322"/>
          <a:ext cx="6711950" cy="1146175"/>
        </p:xfrm>
        <a:graphic>
          <a:graphicData uri="http://schemas.openxmlformats.org/presentationml/2006/ole">
            <mc:AlternateContent xmlns:mc="http://schemas.openxmlformats.org/markup-compatibility/2006">
              <mc:Choice xmlns:v="urn:schemas-microsoft-com:vml" Requires="v">
                <p:oleObj name="Równanie" r:id="rId2" imgW="1637589" imgH="317362" progId="Equation.3">
                  <p:embed/>
                </p:oleObj>
              </mc:Choice>
              <mc:Fallback>
                <p:oleObj name="Równanie" r:id="rId2" imgW="1637589" imgH="317362" progId="Equation.3">
                  <p:embed/>
                  <p:pic>
                    <p:nvPicPr>
                      <p:cNvPr id="3891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9867" y="3966322"/>
                        <a:ext cx="6711950" cy="1146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Prostokąt 6">
            <a:extLst>
              <a:ext uri="{FF2B5EF4-FFF2-40B4-BE49-F238E27FC236}">
                <a16:creationId xmlns:a16="http://schemas.microsoft.com/office/drawing/2014/main" id="{31412DF5-6CB9-4849-8D82-08D84D52BEE8}"/>
              </a:ext>
            </a:extLst>
          </p:cNvPr>
          <p:cNvSpPr/>
          <p:nvPr/>
        </p:nvSpPr>
        <p:spPr>
          <a:xfrm>
            <a:off x="837922" y="5276417"/>
            <a:ext cx="9895840" cy="1323439"/>
          </a:xfrm>
          <a:prstGeom prst="rect">
            <a:avLst/>
          </a:prstGeom>
        </p:spPr>
        <p:txBody>
          <a:bodyPr wrap="square">
            <a:spAutoFit/>
          </a:bodyPr>
          <a:lstStyle/>
          <a:p>
            <a:pPr eaLnBrk="0" hangingPunct="0">
              <a:defRPr/>
            </a:pPr>
            <a:r>
              <a:rPr lang="en-US" sz="2000" dirty="0">
                <a:solidFill>
                  <a:schemeClr val="accent5">
                    <a:lumMod val="50000"/>
                  </a:schemeClr>
                </a:solidFill>
                <a:latin typeface="+mj-lt"/>
              </a:rPr>
              <a:t>A - efficiency parameter; represents the state of technology A&gt;0</a:t>
            </a:r>
          </a:p>
          <a:p>
            <a:pPr eaLnBrk="0" hangingPunct="0">
              <a:defRPr/>
            </a:pPr>
            <a:r>
              <a:rPr lang="en-US" sz="2000" dirty="0">
                <a:solidFill>
                  <a:schemeClr val="accent5">
                    <a:lumMod val="50000"/>
                  </a:schemeClr>
                </a:solidFill>
                <a:latin typeface="+mj-lt"/>
              </a:rPr>
              <a:t>δ - parameter of relative share of individual factors</a:t>
            </a:r>
            <a:r>
              <a:rPr lang="pl-PL" sz="2000" dirty="0">
                <a:solidFill>
                  <a:schemeClr val="accent5">
                    <a:lumMod val="50000"/>
                  </a:schemeClr>
                </a:solidFill>
                <a:latin typeface="+mj-lt"/>
              </a:rPr>
              <a:t> </a:t>
            </a:r>
            <a:r>
              <a:rPr lang="en-US" sz="2000" dirty="0">
                <a:solidFill>
                  <a:schemeClr val="accent5">
                    <a:lumMod val="50000"/>
                  </a:schemeClr>
                </a:solidFill>
                <a:latin typeface="+mj-lt"/>
              </a:rPr>
              <a:t>in production 0&lt;δ&lt;1 (similarly as in the C-D alpha (1-alpha) function)</a:t>
            </a:r>
          </a:p>
          <a:p>
            <a:pPr eaLnBrk="0" hangingPunct="0">
              <a:defRPr/>
            </a:pPr>
            <a:r>
              <a:rPr lang="en-US" sz="2000" dirty="0">
                <a:solidFill>
                  <a:schemeClr val="accent5">
                    <a:lumMod val="50000"/>
                  </a:schemeClr>
                </a:solidFill>
                <a:latin typeface="+mj-lt"/>
              </a:rPr>
              <a:t>ρ - is the parameter of substitution of one factor for another -1 &lt; ρ </a:t>
            </a:r>
            <a:endParaRPr lang="pl-PL" sz="2000" dirty="0">
              <a:solidFill>
                <a:schemeClr val="accent5">
                  <a:lumMod val="50000"/>
                </a:schemeClr>
              </a:solidFill>
              <a:latin typeface="+mj-lt"/>
            </a:endParaRPr>
          </a:p>
        </p:txBody>
      </p:sp>
    </p:spTree>
    <p:extLst>
      <p:ext uri="{BB962C8B-B14F-4D97-AF65-F5344CB8AC3E}">
        <p14:creationId xmlns:p14="http://schemas.microsoft.com/office/powerpoint/2010/main" val="263828024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0015F-A545-E537-DF72-3B26D966325D}"/>
            </a:ext>
          </a:extLst>
        </p:cNvPr>
        <p:cNvGrpSpPr/>
        <p:nvPr/>
      </p:nvGrpSpPr>
      <p:grpSpPr>
        <a:xfrm>
          <a:off x="0" y="0"/>
          <a:ext cx="0" cy="0"/>
          <a:chOff x="0" y="0"/>
          <a:chExt cx="0" cy="0"/>
        </a:xfrm>
      </p:grpSpPr>
      <p:sp>
        <p:nvSpPr>
          <p:cNvPr id="2" name="CustomShape 1">
            <a:extLst>
              <a:ext uri="{FF2B5EF4-FFF2-40B4-BE49-F238E27FC236}">
                <a16:creationId xmlns:a16="http://schemas.microsoft.com/office/drawing/2014/main" id="{ABC5D306-ADC6-47F6-9D4C-E608D702B3C5}"/>
              </a:ext>
            </a:extLst>
          </p:cNvPr>
          <p:cNvSpPr/>
          <p:nvPr/>
        </p:nvSpPr>
        <p:spPr>
          <a:xfrm>
            <a:off x="0" y="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lvl="1" algn="ctr">
              <a:lnSpc>
                <a:spcPct val="107000"/>
              </a:lnSpc>
              <a:spcAft>
                <a:spcPts val="800"/>
              </a:spcAft>
            </a:pPr>
            <a:r>
              <a:rPr lang="en-US" sz="40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The cost (expenditure) minimization problem   - by analogy</a:t>
            </a:r>
          </a:p>
        </p:txBody>
      </p:sp>
      <p:pic>
        <p:nvPicPr>
          <p:cNvPr id="8" name="Picture 7">
            <a:extLst>
              <a:ext uri="{FF2B5EF4-FFF2-40B4-BE49-F238E27FC236}">
                <a16:creationId xmlns:a16="http://schemas.microsoft.com/office/drawing/2014/main" id="{07426A41-9F14-A681-CF54-702FB62AC442}"/>
              </a:ext>
            </a:extLst>
          </p:cNvPr>
          <p:cNvPicPr>
            <a:picLocks noChangeAspect="1"/>
          </p:cNvPicPr>
          <p:nvPr/>
        </p:nvPicPr>
        <p:blipFill>
          <a:blip r:embed="rId2"/>
          <a:stretch>
            <a:fillRect/>
          </a:stretch>
        </p:blipFill>
        <p:spPr>
          <a:xfrm>
            <a:off x="5409037" y="1876711"/>
            <a:ext cx="3199387" cy="2666156"/>
          </a:xfrm>
          <a:prstGeom prst="rect">
            <a:avLst/>
          </a:prstGeom>
        </p:spPr>
      </p:pic>
      <p:sp>
        <p:nvSpPr>
          <p:cNvPr id="10" name="TextBox 9">
            <a:extLst>
              <a:ext uri="{FF2B5EF4-FFF2-40B4-BE49-F238E27FC236}">
                <a16:creationId xmlns:a16="http://schemas.microsoft.com/office/drawing/2014/main" id="{CF612B08-63E5-E52F-2364-EFA1CAFF0810}"/>
              </a:ext>
            </a:extLst>
          </p:cNvPr>
          <p:cNvSpPr txBox="1"/>
          <p:nvPr/>
        </p:nvSpPr>
        <p:spPr>
          <a:xfrm>
            <a:off x="5414603" y="4926927"/>
            <a:ext cx="3200203"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600" dirty="0">
                <a:solidFill>
                  <a:schemeClr val="accent5">
                    <a:lumMod val="50000"/>
                  </a:schemeClr>
                </a:solidFill>
              </a:rPr>
              <a:t>/* Case of partial substitution (</a:t>
            </a:r>
            <a:r>
              <a:rPr lang="en-US" sz="600" dirty="0" err="1">
                <a:solidFill>
                  <a:schemeClr val="accent5">
                    <a:lumMod val="50000"/>
                  </a:schemeClr>
                </a:solidFill>
              </a:rPr>
              <a:t>ro</a:t>
            </a:r>
            <a:r>
              <a:rPr lang="en-US" sz="600" dirty="0">
                <a:solidFill>
                  <a:schemeClr val="accent5">
                    <a:lumMod val="50000"/>
                  </a:schemeClr>
                </a:solidFill>
              </a:rPr>
              <a:t> -&gt; 0): The CES function converges to the Cobb-Douglas (C-D) form */</a:t>
            </a:r>
          </a:p>
          <a:p>
            <a:r>
              <a:rPr lang="en-US" sz="600" dirty="0">
                <a:solidFill>
                  <a:schemeClr val="accent5">
                    <a:lumMod val="50000"/>
                  </a:schemeClr>
                </a:solidFill>
              </a:rPr>
              <a:t>kill(all); /* Clear all previous definitions and variables */</a:t>
            </a:r>
          </a:p>
          <a:p>
            <a:r>
              <a:rPr lang="en-US" sz="600" dirty="0">
                <a:solidFill>
                  <a:schemeClr val="accent5">
                    <a:lumMod val="50000"/>
                  </a:schemeClr>
                </a:solidFill>
              </a:rPr>
              <a:t>Y: A * (delta * (K^(-</a:t>
            </a:r>
            <a:r>
              <a:rPr lang="en-US" sz="600" dirty="0" err="1">
                <a:solidFill>
                  <a:schemeClr val="accent5">
                    <a:lumMod val="50000"/>
                  </a:schemeClr>
                </a:solidFill>
              </a:rPr>
              <a:t>ro</a:t>
            </a:r>
            <a:r>
              <a:rPr lang="en-US" sz="600" dirty="0">
                <a:solidFill>
                  <a:schemeClr val="accent5">
                    <a:lumMod val="50000"/>
                  </a:schemeClr>
                </a:solidFill>
              </a:rPr>
              <a:t>)) + (1 - delta) * (L^(-</a:t>
            </a:r>
            <a:r>
              <a:rPr lang="en-US" sz="600" dirty="0" err="1">
                <a:solidFill>
                  <a:schemeClr val="accent5">
                    <a:lumMod val="50000"/>
                  </a:schemeClr>
                </a:solidFill>
              </a:rPr>
              <a:t>ro</a:t>
            </a:r>
            <a:r>
              <a:rPr lang="en-US" sz="600" dirty="0">
                <a:solidFill>
                  <a:schemeClr val="accent5">
                    <a:lumMod val="50000"/>
                  </a:schemeClr>
                </a:solidFill>
              </a:rPr>
              <a:t>)))^(-1/</a:t>
            </a:r>
            <a:r>
              <a:rPr lang="en-US" sz="600" dirty="0" err="1">
                <a:solidFill>
                  <a:schemeClr val="accent5">
                    <a:lumMod val="50000"/>
                  </a:schemeClr>
                </a:solidFill>
              </a:rPr>
              <a:t>ro</a:t>
            </a:r>
            <a:r>
              <a:rPr lang="en-US" sz="600" dirty="0">
                <a:solidFill>
                  <a:schemeClr val="accent5">
                    <a:lumMod val="50000"/>
                  </a:schemeClr>
                </a:solidFill>
              </a:rPr>
              <a:t>); </a:t>
            </a:r>
          </a:p>
          <a:p>
            <a:r>
              <a:rPr lang="en-US" sz="600" dirty="0">
                <a:solidFill>
                  <a:schemeClr val="accent5">
                    <a:lumMod val="50000"/>
                  </a:schemeClr>
                </a:solidFill>
              </a:rPr>
              <a:t>/* Define the CES production function Y with elasticity parameter '</a:t>
            </a:r>
            <a:r>
              <a:rPr lang="en-US" sz="600" dirty="0" err="1">
                <a:solidFill>
                  <a:schemeClr val="accent5">
                    <a:lumMod val="50000"/>
                  </a:schemeClr>
                </a:solidFill>
              </a:rPr>
              <a:t>ro</a:t>
            </a:r>
            <a:r>
              <a:rPr lang="en-US" sz="600" dirty="0">
                <a:solidFill>
                  <a:schemeClr val="accent5">
                    <a:lumMod val="50000"/>
                  </a:schemeClr>
                </a:solidFill>
              </a:rPr>
              <a:t>' and </a:t>
            </a:r>
          </a:p>
          <a:p>
            <a:r>
              <a:rPr lang="en-US" sz="600" dirty="0">
                <a:solidFill>
                  <a:schemeClr val="accent5">
                    <a:lumMod val="50000"/>
                  </a:schemeClr>
                </a:solidFill>
              </a:rPr>
              <a:t>   distribution parameter 'delta' for factors K and L */</a:t>
            </a:r>
          </a:p>
          <a:p>
            <a:r>
              <a:rPr lang="en-US" sz="600" dirty="0">
                <a:solidFill>
                  <a:schemeClr val="accent5">
                    <a:lumMod val="50000"/>
                  </a:schemeClr>
                </a:solidFill>
              </a:rPr>
              <a:t>delta: 0.5; /* Set the share parameter 'delta' for factor K */</a:t>
            </a:r>
          </a:p>
          <a:p>
            <a:r>
              <a:rPr lang="en-US" sz="600" dirty="0">
                <a:solidFill>
                  <a:schemeClr val="accent5">
                    <a:lumMod val="50000"/>
                  </a:schemeClr>
                </a:solidFill>
              </a:rPr>
              <a:t>A: 10$ /* Set the scaling factor 'A' for the production function */</a:t>
            </a:r>
          </a:p>
          <a:p>
            <a:r>
              <a:rPr lang="en-US" sz="600" dirty="0" err="1">
                <a:solidFill>
                  <a:schemeClr val="accent5">
                    <a:lumMod val="50000"/>
                  </a:schemeClr>
                </a:solidFill>
              </a:rPr>
              <a:t>radcan</a:t>
            </a:r>
            <a:r>
              <a:rPr lang="en-US" sz="600" dirty="0">
                <a:solidFill>
                  <a:schemeClr val="accent5">
                    <a:lumMod val="50000"/>
                  </a:schemeClr>
                </a:solidFill>
              </a:rPr>
              <a:t>(limit(</a:t>
            </a:r>
            <a:r>
              <a:rPr lang="en-US" sz="600" dirty="0" err="1">
                <a:solidFill>
                  <a:schemeClr val="accent5">
                    <a:lumMod val="50000"/>
                  </a:schemeClr>
                </a:solidFill>
              </a:rPr>
              <a:t>radcan</a:t>
            </a:r>
            <a:r>
              <a:rPr lang="en-US" sz="600" dirty="0">
                <a:solidFill>
                  <a:schemeClr val="accent5">
                    <a:lumMod val="50000"/>
                  </a:schemeClr>
                </a:solidFill>
              </a:rPr>
              <a:t>(''Y), </a:t>
            </a:r>
            <a:r>
              <a:rPr lang="en-US" sz="600" dirty="0" err="1">
                <a:solidFill>
                  <a:schemeClr val="accent5">
                    <a:lumMod val="50000"/>
                  </a:schemeClr>
                </a:solidFill>
              </a:rPr>
              <a:t>ro</a:t>
            </a:r>
            <a:r>
              <a:rPr lang="en-US" sz="600" dirty="0">
                <a:solidFill>
                  <a:schemeClr val="accent5">
                    <a:lumMod val="50000"/>
                  </a:schemeClr>
                </a:solidFill>
              </a:rPr>
              <a:t>, 0, plus)); </a:t>
            </a:r>
          </a:p>
          <a:p>
            <a:r>
              <a:rPr lang="en-US" sz="600" dirty="0">
                <a:solidFill>
                  <a:schemeClr val="accent5">
                    <a:lumMod val="50000"/>
                  </a:schemeClr>
                </a:solidFill>
              </a:rPr>
              <a:t>/* Calculate the limit of Y as </a:t>
            </a:r>
            <a:r>
              <a:rPr lang="en-US" sz="600" dirty="0" err="1">
                <a:solidFill>
                  <a:schemeClr val="accent5">
                    <a:lumMod val="50000"/>
                  </a:schemeClr>
                </a:solidFill>
              </a:rPr>
              <a:t>ro</a:t>
            </a:r>
            <a:r>
              <a:rPr lang="en-US" sz="600" dirty="0">
                <a:solidFill>
                  <a:schemeClr val="accent5">
                    <a:lumMod val="50000"/>
                  </a:schemeClr>
                </a:solidFill>
              </a:rPr>
              <a:t> approaches 0 (partial substitution), </a:t>
            </a:r>
          </a:p>
          <a:p>
            <a:r>
              <a:rPr lang="en-US" sz="600" dirty="0">
                <a:solidFill>
                  <a:schemeClr val="accent5">
                    <a:lumMod val="50000"/>
                  </a:schemeClr>
                </a:solidFill>
              </a:rPr>
              <a:t>   simplifying the CES function to the Cobb-Douglas form */</a:t>
            </a:r>
          </a:p>
          <a:p>
            <a:r>
              <a:rPr lang="en-US" sz="600" dirty="0">
                <a:solidFill>
                  <a:schemeClr val="accent5">
                    <a:lumMod val="50000"/>
                  </a:schemeClr>
                </a:solidFill>
              </a:rPr>
              <a:t>(%o4) /* Expected output: 10 * sqrt(K) * sqrt(L) */;</a:t>
            </a:r>
            <a:endParaRPr lang="pl-PL" sz="600" dirty="0">
              <a:solidFill>
                <a:schemeClr val="accent5">
                  <a:lumMod val="50000"/>
                </a:schemeClr>
              </a:solidFill>
            </a:endParaRPr>
          </a:p>
        </p:txBody>
      </p:sp>
      <p:sp>
        <p:nvSpPr>
          <p:cNvPr id="13" name="TextBox 12">
            <a:extLst>
              <a:ext uri="{FF2B5EF4-FFF2-40B4-BE49-F238E27FC236}">
                <a16:creationId xmlns:a16="http://schemas.microsoft.com/office/drawing/2014/main" id="{FB81EB39-2998-E90D-714A-B85157D6849A}"/>
              </a:ext>
            </a:extLst>
          </p:cNvPr>
          <p:cNvSpPr txBox="1"/>
          <p:nvPr/>
        </p:nvSpPr>
        <p:spPr>
          <a:xfrm>
            <a:off x="117454" y="1997592"/>
            <a:ext cx="1904443" cy="360098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600" dirty="0">
                <a:solidFill>
                  <a:schemeClr val="accent5">
                    <a:lumMod val="50000"/>
                  </a:schemeClr>
                </a:solidFill>
              </a:rPr>
              <a:t>kill(all); /* Clear all previous definitions and variables */</a:t>
            </a:r>
          </a:p>
          <a:p>
            <a:endParaRPr lang="en-US" sz="600" dirty="0">
              <a:solidFill>
                <a:schemeClr val="accent5">
                  <a:lumMod val="50000"/>
                </a:schemeClr>
              </a:solidFill>
            </a:endParaRPr>
          </a:p>
          <a:p>
            <a:r>
              <a:rPr lang="en-US" sz="600" dirty="0">
                <a:solidFill>
                  <a:schemeClr val="accent5">
                    <a:lumMod val="50000"/>
                  </a:schemeClr>
                </a:solidFill>
              </a:rPr>
              <a:t>load(draw); /* Load the drawing package for 3D plotting */</a:t>
            </a:r>
          </a:p>
          <a:p>
            <a:endParaRPr lang="en-US" sz="600" dirty="0">
              <a:solidFill>
                <a:schemeClr val="accent5">
                  <a:lumMod val="50000"/>
                </a:schemeClr>
              </a:solidFill>
            </a:endParaRPr>
          </a:p>
          <a:p>
            <a:r>
              <a:rPr lang="en-US" sz="600" dirty="0">
                <a:solidFill>
                  <a:schemeClr val="accent5">
                    <a:lumMod val="50000"/>
                  </a:schemeClr>
                </a:solidFill>
              </a:rPr>
              <a:t>Y: 10 * (a * (K^(-</a:t>
            </a:r>
            <a:r>
              <a:rPr lang="en-US" sz="600" dirty="0" err="1">
                <a:solidFill>
                  <a:schemeClr val="accent5">
                    <a:lumMod val="50000"/>
                  </a:schemeClr>
                </a:solidFill>
              </a:rPr>
              <a:t>ro</a:t>
            </a:r>
            <a:r>
              <a:rPr lang="en-US" sz="600" dirty="0">
                <a:solidFill>
                  <a:schemeClr val="accent5">
                    <a:lumMod val="50000"/>
                  </a:schemeClr>
                </a:solidFill>
              </a:rPr>
              <a:t>)) + (1 - a) * (L^(-</a:t>
            </a:r>
            <a:r>
              <a:rPr lang="en-US" sz="600" dirty="0" err="1">
                <a:solidFill>
                  <a:schemeClr val="accent5">
                    <a:lumMod val="50000"/>
                  </a:schemeClr>
                </a:solidFill>
              </a:rPr>
              <a:t>ro</a:t>
            </a:r>
            <a:r>
              <a:rPr lang="en-US" sz="600" dirty="0">
                <a:solidFill>
                  <a:schemeClr val="accent5">
                    <a:lumMod val="50000"/>
                  </a:schemeClr>
                </a:solidFill>
              </a:rPr>
              <a:t>)))^(-1/</a:t>
            </a:r>
            <a:r>
              <a:rPr lang="en-US" sz="600" dirty="0" err="1">
                <a:solidFill>
                  <a:schemeClr val="accent5">
                    <a:lumMod val="50000"/>
                  </a:schemeClr>
                </a:solidFill>
              </a:rPr>
              <a:t>ro</a:t>
            </a:r>
            <a:r>
              <a:rPr lang="en-US" sz="600" dirty="0">
                <a:solidFill>
                  <a:schemeClr val="accent5">
                    <a:lumMod val="50000"/>
                  </a:schemeClr>
                </a:solidFill>
              </a:rPr>
              <a:t>); </a:t>
            </a:r>
          </a:p>
          <a:p>
            <a:r>
              <a:rPr lang="en-US" sz="600" dirty="0">
                <a:solidFill>
                  <a:schemeClr val="accent5">
                    <a:lumMod val="50000"/>
                  </a:schemeClr>
                </a:solidFill>
              </a:rPr>
              <a:t>/* Define the CES production function Y with elasticity parameter '</a:t>
            </a:r>
            <a:r>
              <a:rPr lang="en-US" sz="600" dirty="0" err="1">
                <a:solidFill>
                  <a:schemeClr val="accent5">
                    <a:lumMod val="50000"/>
                  </a:schemeClr>
                </a:solidFill>
              </a:rPr>
              <a:t>ro</a:t>
            </a:r>
            <a:r>
              <a:rPr lang="en-US" sz="600" dirty="0">
                <a:solidFill>
                  <a:schemeClr val="accent5">
                    <a:lumMod val="50000"/>
                  </a:schemeClr>
                </a:solidFill>
              </a:rPr>
              <a:t>' </a:t>
            </a:r>
          </a:p>
          <a:p>
            <a:r>
              <a:rPr lang="en-US" sz="600" dirty="0">
                <a:solidFill>
                  <a:schemeClr val="accent5">
                    <a:lumMod val="50000"/>
                  </a:schemeClr>
                </a:solidFill>
              </a:rPr>
              <a:t>   and distribution parameter 'a' (controls the share of K and L in production) */</a:t>
            </a:r>
          </a:p>
          <a:p>
            <a:endParaRPr lang="en-US" sz="600" dirty="0">
              <a:solidFill>
                <a:schemeClr val="accent5">
                  <a:lumMod val="50000"/>
                </a:schemeClr>
              </a:solidFill>
            </a:endParaRPr>
          </a:p>
          <a:p>
            <a:r>
              <a:rPr lang="en-US" sz="600" dirty="0">
                <a:solidFill>
                  <a:schemeClr val="accent5">
                    <a:lumMod val="50000"/>
                  </a:schemeClr>
                </a:solidFill>
              </a:rPr>
              <a:t>a: 0.5; /* Set the distribution parameter 'a' (share of capital K in production) */</a:t>
            </a:r>
          </a:p>
          <a:p>
            <a:r>
              <a:rPr lang="en-US" sz="600" dirty="0" err="1">
                <a:solidFill>
                  <a:schemeClr val="accent5">
                    <a:lumMod val="50000"/>
                  </a:schemeClr>
                </a:solidFill>
              </a:rPr>
              <a:t>ro</a:t>
            </a:r>
            <a:r>
              <a:rPr lang="en-US" sz="600" dirty="0">
                <a:solidFill>
                  <a:schemeClr val="accent5">
                    <a:lumMod val="50000"/>
                  </a:schemeClr>
                </a:solidFill>
              </a:rPr>
              <a:t>: 23; /* Set the elasticity of substitution parameter '</a:t>
            </a:r>
            <a:r>
              <a:rPr lang="en-US" sz="600" dirty="0" err="1">
                <a:solidFill>
                  <a:schemeClr val="accent5">
                    <a:lumMod val="50000"/>
                  </a:schemeClr>
                </a:solidFill>
              </a:rPr>
              <a:t>ro</a:t>
            </a:r>
            <a:r>
              <a:rPr lang="en-US" sz="600" dirty="0">
                <a:solidFill>
                  <a:schemeClr val="accent5">
                    <a:lumMod val="50000"/>
                  </a:schemeClr>
                </a:solidFill>
              </a:rPr>
              <a:t>' range (-1, 0) and (0,inf) */</a:t>
            </a:r>
          </a:p>
          <a:p>
            <a:endParaRPr lang="en-US" sz="600" dirty="0">
              <a:solidFill>
                <a:schemeClr val="accent5">
                  <a:lumMod val="50000"/>
                </a:schemeClr>
              </a:solidFill>
            </a:endParaRPr>
          </a:p>
          <a:p>
            <a:r>
              <a:rPr lang="en-US" sz="600" dirty="0">
                <a:solidFill>
                  <a:schemeClr val="accent5">
                    <a:lumMod val="50000"/>
                  </a:schemeClr>
                </a:solidFill>
              </a:rPr>
              <a:t>draw3d(</a:t>
            </a:r>
          </a:p>
          <a:p>
            <a:r>
              <a:rPr lang="en-US" sz="600" dirty="0">
                <a:solidFill>
                  <a:schemeClr val="accent5">
                    <a:lumMod val="50000"/>
                  </a:schemeClr>
                </a:solidFill>
              </a:rPr>
              <a:t>    </a:t>
            </a:r>
            <a:r>
              <a:rPr lang="en-US" sz="600" dirty="0" err="1">
                <a:solidFill>
                  <a:schemeClr val="accent5">
                    <a:lumMod val="50000"/>
                  </a:schemeClr>
                </a:solidFill>
              </a:rPr>
              <a:t>yrange</a:t>
            </a:r>
            <a:r>
              <a:rPr lang="en-US" sz="600" dirty="0">
                <a:solidFill>
                  <a:schemeClr val="accent5">
                    <a:lumMod val="50000"/>
                  </a:schemeClr>
                </a:solidFill>
              </a:rPr>
              <a:t> = [0, 15], /* Define range for the y-axis (output Y) */</a:t>
            </a:r>
          </a:p>
          <a:p>
            <a:r>
              <a:rPr lang="en-US" sz="600" dirty="0">
                <a:solidFill>
                  <a:schemeClr val="accent5">
                    <a:lumMod val="50000"/>
                  </a:schemeClr>
                </a:solidFill>
              </a:rPr>
              <a:t>    </a:t>
            </a:r>
            <a:r>
              <a:rPr lang="en-US" sz="600" dirty="0" err="1">
                <a:solidFill>
                  <a:schemeClr val="accent5">
                    <a:lumMod val="50000"/>
                  </a:schemeClr>
                </a:solidFill>
              </a:rPr>
              <a:t>xrange</a:t>
            </a:r>
            <a:r>
              <a:rPr lang="en-US" sz="600" dirty="0">
                <a:solidFill>
                  <a:schemeClr val="accent5">
                    <a:lumMod val="50000"/>
                  </a:schemeClr>
                </a:solidFill>
              </a:rPr>
              <a:t> = [0, 15], /* Define range for the x-axis (capital K) */</a:t>
            </a:r>
          </a:p>
          <a:p>
            <a:r>
              <a:rPr lang="en-US" sz="600" dirty="0">
                <a:solidFill>
                  <a:schemeClr val="accent5">
                    <a:lumMod val="50000"/>
                  </a:schemeClr>
                </a:solidFill>
              </a:rPr>
              <a:t>    </a:t>
            </a:r>
            <a:r>
              <a:rPr lang="en-US" sz="600" dirty="0" err="1">
                <a:solidFill>
                  <a:schemeClr val="accent5">
                    <a:lumMod val="50000"/>
                  </a:schemeClr>
                </a:solidFill>
              </a:rPr>
              <a:t>zrange</a:t>
            </a:r>
            <a:r>
              <a:rPr lang="en-US" sz="600" dirty="0">
                <a:solidFill>
                  <a:schemeClr val="accent5">
                    <a:lumMod val="50000"/>
                  </a:schemeClr>
                </a:solidFill>
              </a:rPr>
              <a:t> = [0, 150], /* Define range for the z-axis (output Y) */</a:t>
            </a:r>
          </a:p>
          <a:p>
            <a:r>
              <a:rPr lang="en-US" sz="600" dirty="0">
                <a:solidFill>
                  <a:schemeClr val="accent5">
                    <a:lumMod val="50000"/>
                  </a:schemeClr>
                </a:solidFill>
              </a:rPr>
              <a:t>    </a:t>
            </a:r>
            <a:r>
              <a:rPr lang="en-US" sz="600" dirty="0" err="1">
                <a:solidFill>
                  <a:schemeClr val="accent5">
                    <a:lumMod val="50000"/>
                  </a:schemeClr>
                </a:solidFill>
              </a:rPr>
              <a:t>xlabel</a:t>
            </a:r>
            <a:r>
              <a:rPr lang="en-US" sz="600" dirty="0">
                <a:solidFill>
                  <a:schemeClr val="accent5">
                    <a:lumMod val="50000"/>
                  </a:schemeClr>
                </a:solidFill>
              </a:rPr>
              <a:t> = "K", /* Label for x-axis (Capital K) */</a:t>
            </a:r>
          </a:p>
          <a:p>
            <a:r>
              <a:rPr lang="en-US" sz="600" dirty="0">
                <a:solidFill>
                  <a:schemeClr val="accent5">
                    <a:lumMod val="50000"/>
                  </a:schemeClr>
                </a:solidFill>
              </a:rPr>
              <a:t>    </a:t>
            </a:r>
            <a:r>
              <a:rPr lang="en-US" sz="600" dirty="0" err="1">
                <a:solidFill>
                  <a:schemeClr val="accent5">
                    <a:lumMod val="50000"/>
                  </a:schemeClr>
                </a:solidFill>
              </a:rPr>
              <a:t>ylabel</a:t>
            </a:r>
            <a:r>
              <a:rPr lang="en-US" sz="600" dirty="0">
                <a:solidFill>
                  <a:schemeClr val="accent5">
                    <a:lumMod val="50000"/>
                  </a:schemeClr>
                </a:solidFill>
              </a:rPr>
              <a:t> = "L", /* Label for y-axis (Labor L) */</a:t>
            </a:r>
          </a:p>
          <a:p>
            <a:r>
              <a:rPr lang="en-US" sz="600" dirty="0">
                <a:solidFill>
                  <a:schemeClr val="accent5">
                    <a:lumMod val="50000"/>
                  </a:schemeClr>
                </a:solidFill>
              </a:rPr>
              <a:t>    </a:t>
            </a:r>
            <a:r>
              <a:rPr lang="en-US" sz="600" dirty="0" err="1">
                <a:solidFill>
                  <a:schemeClr val="accent5">
                    <a:lumMod val="50000"/>
                  </a:schemeClr>
                </a:solidFill>
              </a:rPr>
              <a:t>zlabel</a:t>
            </a:r>
            <a:r>
              <a:rPr lang="en-US" sz="600" dirty="0">
                <a:solidFill>
                  <a:schemeClr val="accent5">
                    <a:lumMod val="50000"/>
                  </a:schemeClr>
                </a:solidFill>
              </a:rPr>
              <a:t> = "Y(K,L)", /* Label for z-axis (Output Y as a function of K and L) */</a:t>
            </a:r>
          </a:p>
          <a:p>
            <a:r>
              <a:rPr lang="en-US" sz="600" dirty="0">
                <a:solidFill>
                  <a:schemeClr val="accent5">
                    <a:lumMod val="50000"/>
                  </a:schemeClr>
                </a:solidFill>
              </a:rPr>
              <a:t>    </a:t>
            </a:r>
            <a:r>
              <a:rPr lang="en-US" sz="600" dirty="0" err="1">
                <a:solidFill>
                  <a:schemeClr val="accent5">
                    <a:lumMod val="50000"/>
                  </a:schemeClr>
                </a:solidFill>
              </a:rPr>
              <a:t>contour_levels</a:t>
            </a:r>
            <a:r>
              <a:rPr lang="en-US" sz="600" dirty="0">
                <a:solidFill>
                  <a:schemeClr val="accent5">
                    <a:lumMod val="50000"/>
                  </a:schemeClr>
                </a:solidFill>
              </a:rPr>
              <a:t> = 5, /* Set the number of contour levels for the plot */</a:t>
            </a:r>
          </a:p>
          <a:p>
            <a:r>
              <a:rPr lang="en-US" sz="600" dirty="0">
                <a:solidFill>
                  <a:schemeClr val="accent5">
                    <a:lumMod val="50000"/>
                  </a:schemeClr>
                </a:solidFill>
              </a:rPr>
              <a:t>    contour = both, /* Enable contour lines on both the base and surface */</a:t>
            </a:r>
          </a:p>
          <a:p>
            <a:r>
              <a:rPr lang="en-US" sz="600" dirty="0">
                <a:solidFill>
                  <a:schemeClr val="accent5">
                    <a:lumMod val="50000"/>
                  </a:schemeClr>
                </a:solidFill>
              </a:rPr>
              <a:t>    explicit(''Y, K, 0.001, 19, L, 0.001, 19), /* Plot the CES function over specified ranges of K and L */</a:t>
            </a:r>
          </a:p>
          <a:p>
            <a:r>
              <a:rPr lang="en-US" sz="600" dirty="0">
                <a:solidFill>
                  <a:schemeClr val="accent5">
                    <a:lumMod val="50000"/>
                  </a:schemeClr>
                </a:solidFill>
              </a:rPr>
              <a:t>    color = red, /* Set the plot color to red */</a:t>
            </a:r>
          </a:p>
          <a:p>
            <a:r>
              <a:rPr lang="en-US" sz="600" dirty="0">
                <a:solidFill>
                  <a:schemeClr val="accent5">
                    <a:lumMod val="50000"/>
                  </a:schemeClr>
                </a:solidFill>
              </a:rPr>
              <a:t>    label(["</a:t>
            </a:r>
            <a:r>
              <a:rPr lang="en-US" sz="600" dirty="0" err="1">
                <a:solidFill>
                  <a:schemeClr val="accent5">
                    <a:lumMod val="50000"/>
                  </a:schemeClr>
                </a:solidFill>
              </a:rPr>
              <a:t>ro</a:t>
            </a:r>
            <a:r>
              <a:rPr lang="en-US" sz="600" dirty="0">
                <a:solidFill>
                  <a:schemeClr val="accent5">
                    <a:lumMod val="50000"/>
                  </a:schemeClr>
                </a:solidFill>
              </a:rPr>
              <a:t> =", 5, 5,20]),label([string(</a:t>
            </a:r>
            <a:r>
              <a:rPr lang="en-US" sz="600" dirty="0" err="1">
                <a:solidFill>
                  <a:schemeClr val="accent5">
                    <a:lumMod val="50000"/>
                  </a:schemeClr>
                </a:solidFill>
              </a:rPr>
              <a:t>ro</a:t>
            </a:r>
            <a:r>
              <a:rPr lang="en-US" sz="600" dirty="0">
                <a:solidFill>
                  <a:schemeClr val="accent5">
                    <a:lumMod val="50000"/>
                  </a:schemeClr>
                </a:solidFill>
              </a:rPr>
              <a:t>),5,5,22.5]) /* Add a label to indicate the value of '</a:t>
            </a:r>
            <a:r>
              <a:rPr lang="en-US" sz="600" dirty="0" err="1">
                <a:solidFill>
                  <a:schemeClr val="accent5">
                    <a:lumMod val="50000"/>
                  </a:schemeClr>
                </a:solidFill>
              </a:rPr>
              <a:t>ro</a:t>
            </a:r>
            <a:r>
              <a:rPr lang="en-US" sz="600" dirty="0">
                <a:solidFill>
                  <a:schemeClr val="accent5">
                    <a:lumMod val="50000"/>
                  </a:schemeClr>
                </a:solidFill>
              </a:rPr>
              <a:t>' on the plot */</a:t>
            </a:r>
          </a:p>
          <a:p>
            <a:r>
              <a:rPr lang="en-US" sz="600" dirty="0">
                <a:solidFill>
                  <a:schemeClr val="accent5">
                    <a:lumMod val="50000"/>
                  </a:schemeClr>
                </a:solidFill>
              </a:rPr>
              <a:t>) $</a:t>
            </a:r>
            <a:endParaRPr lang="pl-PL" sz="600" dirty="0">
              <a:solidFill>
                <a:schemeClr val="accent5">
                  <a:lumMod val="50000"/>
                </a:schemeClr>
              </a:solidFill>
            </a:endParaRPr>
          </a:p>
        </p:txBody>
      </p:sp>
      <p:pic>
        <p:nvPicPr>
          <p:cNvPr id="15" name="Picture 14">
            <a:extLst>
              <a:ext uri="{FF2B5EF4-FFF2-40B4-BE49-F238E27FC236}">
                <a16:creationId xmlns:a16="http://schemas.microsoft.com/office/drawing/2014/main" id="{1BD2CCF2-FDFC-65A9-565F-2F4D1315EA78}"/>
              </a:ext>
            </a:extLst>
          </p:cNvPr>
          <p:cNvPicPr>
            <a:picLocks noChangeAspect="1"/>
          </p:cNvPicPr>
          <p:nvPr/>
        </p:nvPicPr>
        <p:blipFill>
          <a:blip r:embed="rId3"/>
          <a:stretch>
            <a:fillRect/>
          </a:stretch>
        </p:blipFill>
        <p:spPr>
          <a:xfrm>
            <a:off x="8733048" y="1860598"/>
            <a:ext cx="3151826" cy="2626522"/>
          </a:xfrm>
          <a:prstGeom prst="rect">
            <a:avLst/>
          </a:prstGeom>
        </p:spPr>
      </p:pic>
      <p:pic>
        <p:nvPicPr>
          <p:cNvPr id="17" name="Picture 16">
            <a:extLst>
              <a:ext uri="{FF2B5EF4-FFF2-40B4-BE49-F238E27FC236}">
                <a16:creationId xmlns:a16="http://schemas.microsoft.com/office/drawing/2014/main" id="{D5FA2D06-B5A8-0FF8-EC7F-1CD8C49C706E}"/>
              </a:ext>
            </a:extLst>
          </p:cNvPr>
          <p:cNvPicPr>
            <a:picLocks noChangeAspect="1"/>
          </p:cNvPicPr>
          <p:nvPr/>
        </p:nvPicPr>
        <p:blipFill>
          <a:blip r:embed="rId4"/>
          <a:stretch>
            <a:fillRect/>
          </a:stretch>
        </p:blipFill>
        <p:spPr>
          <a:xfrm>
            <a:off x="2084209" y="1860598"/>
            <a:ext cx="3200204" cy="2666837"/>
          </a:xfrm>
          <a:prstGeom prst="rect">
            <a:avLst/>
          </a:prstGeom>
        </p:spPr>
      </p:pic>
      <p:sp>
        <p:nvSpPr>
          <p:cNvPr id="20" name="TextBox 19">
            <a:extLst>
              <a:ext uri="{FF2B5EF4-FFF2-40B4-BE49-F238E27FC236}">
                <a16:creationId xmlns:a16="http://schemas.microsoft.com/office/drawing/2014/main" id="{19AE08EF-04F1-80D1-9AE1-50BDA2543393}"/>
              </a:ext>
            </a:extLst>
          </p:cNvPr>
          <p:cNvSpPr txBox="1"/>
          <p:nvPr/>
        </p:nvSpPr>
        <p:spPr>
          <a:xfrm>
            <a:off x="2071723" y="4926927"/>
            <a:ext cx="3200204" cy="110799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600" dirty="0">
                <a:solidFill>
                  <a:schemeClr val="accent5">
                    <a:lumMod val="50000"/>
                  </a:schemeClr>
                </a:solidFill>
              </a:rPr>
              <a:t>/* Case of perfect substitution (</a:t>
            </a:r>
            <a:r>
              <a:rPr lang="en-US" sz="600" dirty="0" err="1">
                <a:solidFill>
                  <a:schemeClr val="accent5">
                    <a:lumMod val="50000"/>
                  </a:schemeClr>
                </a:solidFill>
              </a:rPr>
              <a:t>ro</a:t>
            </a:r>
            <a:r>
              <a:rPr lang="en-US" sz="600" dirty="0">
                <a:solidFill>
                  <a:schemeClr val="accent5">
                    <a:lumMod val="50000"/>
                  </a:schemeClr>
                </a:solidFill>
              </a:rPr>
              <a:t> = -1): The CES function becomes linear */</a:t>
            </a:r>
          </a:p>
          <a:p>
            <a:r>
              <a:rPr lang="en-US" sz="600" dirty="0">
                <a:solidFill>
                  <a:schemeClr val="accent5">
                    <a:lumMod val="50000"/>
                  </a:schemeClr>
                </a:solidFill>
              </a:rPr>
              <a:t>kill(all); /* Clear all previous definitions and variables */</a:t>
            </a:r>
          </a:p>
          <a:p>
            <a:r>
              <a:rPr lang="en-US" sz="600" dirty="0">
                <a:solidFill>
                  <a:schemeClr val="accent5">
                    <a:lumMod val="50000"/>
                  </a:schemeClr>
                </a:solidFill>
              </a:rPr>
              <a:t>Y: A * (delta * (K^(-</a:t>
            </a:r>
            <a:r>
              <a:rPr lang="en-US" sz="600" dirty="0" err="1">
                <a:solidFill>
                  <a:schemeClr val="accent5">
                    <a:lumMod val="50000"/>
                  </a:schemeClr>
                </a:solidFill>
              </a:rPr>
              <a:t>ro</a:t>
            </a:r>
            <a:r>
              <a:rPr lang="en-US" sz="600" dirty="0">
                <a:solidFill>
                  <a:schemeClr val="accent5">
                    <a:lumMod val="50000"/>
                  </a:schemeClr>
                </a:solidFill>
              </a:rPr>
              <a:t>)) + (1 - delta) * (L^(-</a:t>
            </a:r>
            <a:r>
              <a:rPr lang="en-US" sz="600" dirty="0" err="1">
                <a:solidFill>
                  <a:schemeClr val="accent5">
                    <a:lumMod val="50000"/>
                  </a:schemeClr>
                </a:solidFill>
              </a:rPr>
              <a:t>ro</a:t>
            </a:r>
            <a:r>
              <a:rPr lang="en-US" sz="600" dirty="0">
                <a:solidFill>
                  <a:schemeClr val="accent5">
                    <a:lumMod val="50000"/>
                  </a:schemeClr>
                </a:solidFill>
              </a:rPr>
              <a:t>)))^(-1/</a:t>
            </a:r>
            <a:r>
              <a:rPr lang="en-US" sz="600" dirty="0" err="1">
                <a:solidFill>
                  <a:schemeClr val="accent5">
                    <a:lumMod val="50000"/>
                  </a:schemeClr>
                </a:solidFill>
              </a:rPr>
              <a:t>ro</a:t>
            </a:r>
            <a:r>
              <a:rPr lang="en-US" sz="600" dirty="0">
                <a:solidFill>
                  <a:schemeClr val="accent5">
                    <a:lumMod val="50000"/>
                  </a:schemeClr>
                </a:solidFill>
              </a:rPr>
              <a:t>); </a:t>
            </a:r>
          </a:p>
          <a:p>
            <a:r>
              <a:rPr lang="en-US" sz="600" dirty="0">
                <a:solidFill>
                  <a:schemeClr val="accent5">
                    <a:lumMod val="50000"/>
                  </a:schemeClr>
                </a:solidFill>
              </a:rPr>
              <a:t>/* Define the CES production function Y with elasticity parameter '</a:t>
            </a:r>
            <a:r>
              <a:rPr lang="en-US" sz="600" dirty="0" err="1">
                <a:solidFill>
                  <a:schemeClr val="accent5">
                    <a:lumMod val="50000"/>
                  </a:schemeClr>
                </a:solidFill>
              </a:rPr>
              <a:t>ro</a:t>
            </a:r>
            <a:r>
              <a:rPr lang="en-US" sz="600" dirty="0">
                <a:solidFill>
                  <a:schemeClr val="accent5">
                    <a:lumMod val="50000"/>
                  </a:schemeClr>
                </a:solidFill>
              </a:rPr>
              <a:t>' </a:t>
            </a:r>
          </a:p>
          <a:p>
            <a:r>
              <a:rPr lang="en-US" sz="600" dirty="0">
                <a:solidFill>
                  <a:schemeClr val="accent5">
                    <a:lumMod val="50000"/>
                  </a:schemeClr>
                </a:solidFill>
              </a:rPr>
              <a:t>   and distribution parameter 'delta' for perfect substitution */</a:t>
            </a:r>
          </a:p>
          <a:p>
            <a:r>
              <a:rPr lang="en-US" sz="600" dirty="0">
                <a:solidFill>
                  <a:schemeClr val="accent5">
                    <a:lumMod val="50000"/>
                  </a:schemeClr>
                </a:solidFill>
              </a:rPr>
              <a:t>delta: 0.5; /* Set the share parameter 'delta' for factor K */</a:t>
            </a:r>
          </a:p>
          <a:p>
            <a:r>
              <a:rPr lang="en-US" sz="600" dirty="0">
                <a:solidFill>
                  <a:schemeClr val="accent5">
                    <a:lumMod val="50000"/>
                  </a:schemeClr>
                </a:solidFill>
              </a:rPr>
              <a:t>A: 10$ /* Set the scaling factor 'A' for the production function */</a:t>
            </a:r>
          </a:p>
          <a:p>
            <a:r>
              <a:rPr lang="en-US" sz="600" dirty="0" err="1">
                <a:solidFill>
                  <a:schemeClr val="accent5">
                    <a:lumMod val="50000"/>
                  </a:schemeClr>
                </a:solidFill>
              </a:rPr>
              <a:t>radcan</a:t>
            </a:r>
            <a:r>
              <a:rPr lang="en-US" sz="600" dirty="0">
                <a:solidFill>
                  <a:schemeClr val="accent5">
                    <a:lumMod val="50000"/>
                  </a:schemeClr>
                </a:solidFill>
              </a:rPr>
              <a:t>(limit(''Y, </a:t>
            </a:r>
            <a:r>
              <a:rPr lang="en-US" sz="600" dirty="0" err="1">
                <a:solidFill>
                  <a:schemeClr val="accent5">
                    <a:lumMod val="50000"/>
                  </a:schemeClr>
                </a:solidFill>
              </a:rPr>
              <a:t>ro</a:t>
            </a:r>
            <a:r>
              <a:rPr lang="en-US" sz="600" dirty="0">
                <a:solidFill>
                  <a:schemeClr val="accent5">
                    <a:lumMod val="50000"/>
                  </a:schemeClr>
                </a:solidFill>
              </a:rPr>
              <a:t>, -1, plus)); </a:t>
            </a:r>
          </a:p>
          <a:p>
            <a:r>
              <a:rPr lang="en-US" sz="600" dirty="0">
                <a:solidFill>
                  <a:schemeClr val="accent5">
                    <a:lumMod val="50000"/>
                  </a:schemeClr>
                </a:solidFill>
              </a:rPr>
              <a:t>/* Calculate the limit of Y as </a:t>
            </a:r>
            <a:r>
              <a:rPr lang="en-US" sz="600" dirty="0" err="1">
                <a:solidFill>
                  <a:schemeClr val="accent5">
                    <a:lumMod val="50000"/>
                  </a:schemeClr>
                </a:solidFill>
              </a:rPr>
              <a:t>ro</a:t>
            </a:r>
            <a:r>
              <a:rPr lang="en-US" sz="600" dirty="0">
                <a:solidFill>
                  <a:schemeClr val="accent5">
                    <a:lumMod val="50000"/>
                  </a:schemeClr>
                </a:solidFill>
              </a:rPr>
              <a:t> approaches -1 (perfect substitution), </a:t>
            </a:r>
          </a:p>
          <a:p>
            <a:r>
              <a:rPr lang="en-US" sz="600" dirty="0">
                <a:solidFill>
                  <a:schemeClr val="accent5">
                    <a:lumMod val="50000"/>
                  </a:schemeClr>
                </a:solidFill>
              </a:rPr>
              <a:t>   simplifying the CES function to a linear form */</a:t>
            </a:r>
          </a:p>
          <a:p>
            <a:r>
              <a:rPr lang="en-US" sz="600" dirty="0">
                <a:solidFill>
                  <a:schemeClr val="accent5">
                    <a:lumMod val="50000"/>
                  </a:schemeClr>
                </a:solidFill>
              </a:rPr>
              <a:t>(%o4) /* Expected output: 5 * L + 5 * K */;</a:t>
            </a:r>
            <a:endParaRPr lang="pl-PL" sz="600" dirty="0">
              <a:solidFill>
                <a:schemeClr val="accent5">
                  <a:lumMod val="50000"/>
                </a:schemeClr>
              </a:solidFill>
            </a:endParaRPr>
          </a:p>
        </p:txBody>
      </p:sp>
      <p:sp>
        <p:nvSpPr>
          <p:cNvPr id="4" name="TextBox 3">
            <a:extLst>
              <a:ext uri="{FF2B5EF4-FFF2-40B4-BE49-F238E27FC236}">
                <a16:creationId xmlns:a16="http://schemas.microsoft.com/office/drawing/2014/main" id="{0574FD49-2986-7681-F7BA-5ACF1DDC1151}"/>
              </a:ext>
            </a:extLst>
          </p:cNvPr>
          <p:cNvSpPr txBox="1"/>
          <p:nvPr/>
        </p:nvSpPr>
        <p:spPr>
          <a:xfrm>
            <a:off x="1929188" y="1171997"/>
            <a:ext cx="3342739" cy="584775"/>
          </a:xfrm>
          <a:prstGeom prst="rect">
            <a:avLst/>
          </a:prstGeom>
          <a:noFill/>
        </p:spPr>
        <p:txBody>
          <a:bodyPr wrap="square">
            <a:spAutoFit/>
          </a:bodyPr>
          <a:lstStyle/>
          <a:p>
            <a:r>
              <a:rPr lang="en-US" sz="1600" dirty="0">
                <a:solidFill>
                  <a:schemeClr val="accent5">
                    <a:lumMod val="50000"/>
                  </a:schemeClr>
                </a:solidFill>
              </a:rPr>
              <a:t>Case of perfect substitution (</a:t>
            </a:r>
            <a:r>
              <a:rPr lang="en-US" sz="1600" dirty="0" err="1">
                <a:solidFill>
                  <a:schemeClr val="accent5">
                    <a:lumMod val="50000"/>
                  </a:schemeClr>
                </a:solidFill>
              </a:rPr>
              <a:t>ro</a:t>
            </a:r>
            <a:r>
              <a:rPr lang="en-US" sz="1600" dirty="0">
                <a:solidFill>
                  <a:schemeClr val="accent5">
                    <a:lumMod val="50000"/>
                  </a:schemeClr>
                </a:solidFill>
              </a:rPr>
              <a:t> = -1): </a:t>
            </a:r>
            <a:endParaRPr lang="pl-PL" sz="1600" dirty="0">
              <a:solidFill>
                <a:schemeClr val="accent5">
                  <a:lumMod val="50000"/>
                </a:schemeClr>
              </a:solidFill>
            </a:endParaRPr>
          </a:p>
          <a:p>
            <a:r>
              <a:rPr lang="en-US" sz="1600" dirty="0">
                <a:solidFill>
                  <a:schemeClr val="accent5">
                    <a:lumMod val="50000"/>
                  </a:schemeClr>
                </a:solidFill>
              </a:rPr>
              <a:t>The CES function becomes linear</a:t>
            </a:r>
          </a:p>
        </p:txBody>
      </p:sp>
      <p:sp>
        <p:nvSpPr>
          <p:cNvPr id="6" name="TextBox 5">
            <a:extLst>
              <a:ext uri="{FF2B5EF4-FFF2-40B4-BE49-F238E27FC236}">
                <a16:creationId xmlns:a16="http://schemas.microsoft.com/office/drawing/2014/main" id="{4FFEBFAA-51EA-C81D-CD06-F7FDEB78FA6E}"/>
              </a:ext>
            </a:extLst>
          </p:cNvPr>
          <p:cNvSpPr txBox="1"/>
          <p:nvPr/>
        </p:nvSpPr>
        <p:spPr>
          <a:xfrm>
            <a:off x="5327957" y="1141218"/>
            <a:ext cx="3342738" cy="830997"/>
          </a:xfrm>
          <a:prstGeom prst="rect">
            <a:avLst/>
          </a:prstGeom>
          <a:noFill/>
        </p:spPr>
        <p:txBody>
          <a:bodyPr wrap="square">
            <a:spAutoFit/>
          </a:bodyPr>
          <a:lstStyle/>
          <a:p>
            <a:pPr algn="just"/>
            <a:r>
              <a:rPr lang="en-US" sz="1600" dirty="0">
                <a:solidFill>
                  <a:schemeClr val="accent5">
                    <a:lumMod val="50000"/>
                  </a:schemeClr>
                </a:solidFill>
              </a:rPr>
              <a:t>Case of partial substitution (</a:t>
            </a:r>
            <a:r>
              <a:rPr lang="en-US" sz="1600" dirty="0" err="1">
                <a:solidFill>
                  <a:schemeClr val="accent5">
                    <a:lumMod val="50000"/>
                  </a:schemeClr>
                </a:solidFill>
              </a:rPr>
              <a:t>ro</a:t>
            </a:r>
            <a:r>
              <a:rPr lang="en-US" sz="1600" dirty="0">
                <a:solidFill>
                  <a:schemeClr val="accent5">
                    <a:lumMod val="50000"/>
                  </a:schemeClr>
                </a:solidFill>
              </a:rPr>
              <a:t> -&gt; 0): The CES function converges to the Cobb-Douglas (C-D) form</a:t>
            </a:r>
          </a:p>
        </p:txBody>
      </p:sp>
      <p:sp>
        <p:nvSpPr>
          <p:cNvPr id="9" name="TextBox 8">
            <a:extLst>
              <a:ext uri="{FF2B5EF4-FFF2-40B4-BE49-F238E27FC236}">
                <a16:creationId xmlns:a16="http://schemas.microsoft.com/office/drawing/2014/main" id="{3AC99660-1562-4253-B916-F9224A569985}"/>
              </a:ext>
            </a:extLst>
          </p:cNvPr>
          <p:cNvSpPr txBox="1"/>
          <p:nvPr/>
        </p:nvSpPr>
        <p:spPr>
          <a:xfrm>
            <a:off x="8836874" y="1141218"/>
            <a:ext cx="3048000" cy="738664"/>
          </a:xfrm>
          <a:prstGeom prst="rect">
            <a:avLst/>
          </a:prstGeom>
          <a:noFill/>
        </p:spPr>
        <p:txBody>
          <a:bodyPr wrap="square">
            <a:spAutoFit/>
          </a:bodyPr>
          <a:lstStyle/>
          <a:p>
            <a:pPr algn="just"/>
            <a:r>
              <a:rPr lang="en-US" sz="1400" dirty="0">
                <a:solidFill>
                  <a:schemeClr val="accent5">
                    <a:lumMod val="50000"/>
                  </a:schemeClr>
                </a:solidFill>
              </a:rPr>
              <a:t>As </a:t>
            </a:r>
            <a:r>
              <a:rPr lang="en-US" sz="1400" dirty="0" err="1">
                <a:solidFill>
                  <a:schemeClr val="accent5">
                    <a:lumMod val="50000"/>
                  </a:schemeClr>
                </a:solidFill>
              </a:rPr>
              <a:t>ρρ</a:t>
            </a:r>
            <a:r>
              <a:rPr lang="en-US" sz="1400" dirty="0">
                <a:solidFill>
                  <a:schemeClr val="accent5">
                    <a:lumMod val="50000"/>
                  </a:schemeClr>
                </a:solidFill>
              </a:rPr>
              <a:t> approaches infinity, the CES function converges to the Leontief form:</a:t>
            </a:r>
            <a:r>
              <a:rPr lang="pl-PL" sz="1400" dirty="0">
                <a:solidFill>
                  <a:schemeClr val="accent5">
                    <a:lumMod val="50000"/>
                  </a:schemeClr>
                </a:solidFill>
              </a:rPr>
              <a:t> Y = max(</a:t>
            </a:r>
            <a:r>
              <a:rPr lang="pl-PL" sz="1400" dirty="0" err="1">
                <a:solidFill>
                  <a:schemeClr val="accent5">
                    <a:lumMod val="50000"/>
                  </a:schemeClr>
                </a:solidFill>
              </a:rPr>
              <a:t>aK</a:t>
            </a:r>
            <a:r>
              <a:rPr lang="pl-PL" sz="1400" dirty="0">
                <a:solidFill>
                  <a:schemeClr val="accent5">
                    <a:lumMod val="50000"/>
                  </a:schemeClr>
                </a:solidFill>
              </a:rPr>
              <a:t>,(1-a)L)</a:t>
            </a:r>
            <a:endParaRPr lang="en-US" sz="1400" dirty="0">
              <a:solidFill>
                <a:schemeClr val="accent5">
                  <a:lumMod val="50000"/>
                </a:schemeClr>
              </a:solidFill>
            </a:endParaRPr>
          </a:p>
        </p:txBody>
      </p:sp>
    </p:spTree>
    <p:extLst>
      <p:ext uri="{BB962C8B-B14F-4D97-AF65-F5344CB8AC3E}">
        <p14:creationId xmlns:p14="http://schemas.microsoft.com/office/powerpoint/2010/main" val="215631112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rostokąt 3"/>
          <p:cNvSpPr/>
          <p:nvPr/>
        </p:nvSpPr>
        <p:spPr>
          <a:xfrm>
            <a:off x="1265238" y="1235076"/>
            <a:ext cx="8297863" cy="461963"/>
          </a:xfrm>
          <a:prstGeom prst="rect">
            <a:avLst/>
          </a:prstGeom>
        </p:spPr>
        <p:txBody>
          <a:bodyPr>
            <a:spAutoFit/>
          </a:bodyPr>
          <a:lstStyle/>
          <a:p>
            <a:pPr algn="just" eaLnBrk="0" hangingPunct="0">
              <a:defRPr/>
            </a:pPr>
            <a:endParaRPr lang="pl-PL" sz="2400" dirty="0">
              <a:solidFill>
                <a:schemeClr val="accent5">
                  <a:lumMod val="50000"/>
                </a:schemeClr>
              </a:solidFill>
              <a:latin typeface="Arial" pitchFamily="34" charset="0"/>
              <a:sym typeface="Wingdings" pitchFamily="2" charset="2"/>
            </a:endParaRPr>
          </a:p>
        </p:txBody>
      </p:sp>
      <p:sp>
        <p:nvSpPr>
          <p:cNvPr id="7" name="Prostokąt 6"/>
          <p:cNvSpPr/>
          <p:nvPr/>
        </p:nvSpPr>
        <p:spPr>
          <a:xfrm>
            <a:off x="386080" y="1688554"/>
            <a:ext cx="5791200" cy="4401205"/>
          </a:xfrm>
          <a:prstGeom prst="rect">
            <a:avLst/>
          </a:prstGeom>
        </p:spPr>
        <p:txBody>
          <a:bodyPr wrap="square">
            <a:spAutoFit/>
          </a:bodyPr>
          <a:lstStyle/>
          <a:p>
            <a:pPr algn="just" eaLnBrk="0" hangingPunct="0">
              <a:defRPr/>
            </a:pPr>
            <a:r>
              <a:rPr lang="en-US" sz="2800" dirty="0">
                <a:solidFill>
                  <a:schemeClr val="accent5">
                    <a:lumMod val="50000"/>
                  </a:schemeClr>
                </a:solidFill>
                <a:latin typeface="+mj-lt"/>
              </a:rPr>
              <a:t>The name of this function is also its characteristic: It is a function with constant elasticity of substitution. Elasticity of substitution is a measure of the percentage change in the proportion of production factors in relation to the percentage change in MRTS. It is a measure of the curvature of the isoquant - it is constant and defined by the parameter ρ</a:t>
            </a:r>
            <a:endParaRPr lang="pl-PL" sz="2800" dirty="0">
              <a:solidFill>
                <a:schemeClr val="accent5">
                  <a:lumMod val="50000"/>
                </a:schemeClr>
              </a:solidFill>
              <a:latin typeface="+mj-lt"/>
            </a:endParaRPr>
          </a:p>
        </p:txBody>
      </p:sp>
      <p:graphicFrame>
        <p:nvGraphicFramePr>
          <p:cNvPr id="39941" name="Object 5"/>
          <p:cNvGraphicFramePr>
            <a:graphicFrameLocks noChangeAspect="1"/>
          </p:cNvGraphicFramePr>
          <p:nvPr>
            <p:extLst>
              <p:ext uri="{D42A27DB-BD31-4B8C-83A1-F6EECF244321}">
                <p14:modId xmlns:p14="http://schemas.microsoft.com/office/powerpoint/2010/main" val="459094614"/>
              </p:ext>
            </p:extLst>
          </p:nvPr>
        </p:nvGraphicFramePr>
        <p:xfrm>
          <a:off x="6847840" y="2559684"/>
          <a:ext cx="4033838" cy="1955800"/>
        </p:xfrm>
        <a:graphic>
          <a:graphicData uri="http://schemas.openxmlformats.org/presentationml/2006/ole">
            <mc:AlternateContent xmlns:mc="http://schemas.openxmlformats.org/markup-compatibility/2006">
              <mc:Choice xmlns:v="urn:schemas-microsoft-com:vml" Requires="v">
                <p:oleObj name="Równanie" r:id="rId3" imgW="1384300" imgH="762000" progId="Equation.3">
                  <p:embed/>
                </p:oleObj>
              </mc:Choice>
              <mc:Fallback>
                <p:oleObj name="Równanie" r:id="rId3" imgW="1384300" imgH="762000" progId="Equation.3">
                  <p:embed/>
                  <p:pic>
                    <p:nvPicPr>
                      <p:cNvPr id="3994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7840" y="2559684"/>
                        <a:ext cx="4033838" cy="195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CustomShape 1">
            <a:extLst>
              <a:ext uri="{FF2B5EF4-FFF2-40B4-BE49-F238E27FC236}">
                <a16:creationId xmlns:a16="http://schemas.microsoft.com/office/drawing/2014/main" id="{150D4E40-E8CA-B7DB-84B2-49226628BA3E}"/>
              </a:ext>
            </a:extLst>
          </p:cNvPr>
          <p:cNvSpPr/>
          <p:nvPr/>
        </p:nvSpPr>
        <p:spPr>
          <a:xfrm>
            <a:off x="0" y="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lvl="1" algn="ctr">
              <a:lnSpc>
                <a:spcPct val="107000"/>
              </a:lnSpc>
              <a:spcAft>
                <a:spcPts val="800"/>
              </a:spcAft>
            </a:pPr>
            <a:r>
              <a:rPr lang="en-US" sz="40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The cost (expenditure) minimization problem   - by analogy</a:t>
            </a:r>
          </a:p>
        </p:txBody>
      </p:sp>
    </p:spTree>
    <p:extLst>
      <p:ext uri="{BB962C8B-B14F-4D97-AF65-F5344CB8AC3E}">
        <p14:creationId xmlns:p14="http://schemas.microsoft.com/office/powerpoint/2010/main" val="34100546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3"/>
          <p:cNvSpPr>
            <a:spLocks noChangeArrowheads="1"/>
          </p:cNvSpPr>
          <p:nvPr/>
        </p:nvSpPr>
        <p:spPr bwMode="auto">
          <a:xfrm>
            <a:off x="1524000" y="283647"/>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endParaRPr lang="pl-PL"/>
          </a:p>
        </p:txBody>
      </p:sp>
      <p:sp>
        <p:nvSpPr>
          <p:cNvPr id="41989" name="Rectangle 4"/>
          <p:cNvSpPr>
            <a:spLocks noChangeArrowheads="1"/>
          </p:cNvSpPr>
          <p:nvPr/>
        </p:nvSpPr>
        <p:spPr bwMode="auto">
          <a:xfrm>
            <a:off x="1524001" y="80910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pl-PL"/>
          </a:p>
        </p:txBody>
      </p:sp>
      <p:sp>
        <p:nvSpPr>
          <p:cNvPr id="41991" name="Rectangle 7"/>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pl-PL"/>
          </a:p>
        </p:txBody>
      </p:sp>
      <p:sp>
        <p:nvSpPr>
          <p:cNvPr id="41992" name="Rectangle 9"/>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pl-PL"/>
          </a:p>
        </p:txBody>
      </p:sp>
      <p:grpSp>
        <p:nvGrpSpPr>
          <p:cNvPr id="4" name="Group 3">
            <a:extLst>
              <a:ext uri="{FF2B5EF4-FFF2-40B4-BE49-F238E27FC236}">
                <a16:creationId xmlns:a16="http://schemas.microsoft.com/office/drawing/2014/main" id="{740AEEB8-7516-19F0-901A-50E35C900BD5}"/>
              </a:ext>
            </a:extLst>
          </p:cNvPr>
          <p:cNvGrpSpPr/>
          <p:nvPr/>
        </p:nvGrpSpPr>
        <p:grpSpPr>
          <a:xfrm>
            <a:off x="2095819" y="1567378"/>
            <a:ext cx="7481211" cy="5006975"/>
            <a:chOff x="2471739" y="1131889"/>
            <a:chExt cx="7481211" cy="5006975"/>
          </a:xfrm>
        </p:grpSpPr>
        <p:grpSp>
          <p:nvGrpSpPr>
            <p:cNvPr id="41993" name="Grupa 72"/>
            <p:cNvGrpSpPr>
              <a:grpSpLocks/>
            </p:cNvGrpSpPr>
            <p:nvPr/>
          </p:nvGrpSpPr>
          <p:grpSpPr bwMode="auto">
            <a:xfrm>
              <a:off x="2471739" y="1131889"/>
              <a:ext cx="7037387" cy="5006975"/>
              <a:chOff x="4139952" y="476672"/>
              <a:chExt cx="4530503" cy="3384376"/>
            </a:xfrm>
          </p:grpSpPr>
          <p:grpSp>
            <p:nvGrpSpPr>
              <p:cNvPr id="41999" name="Grupa 34"/>
              <p:cNvGrpSpPr>
                <a:grpSpLocks/>
              </p:cNvGrpSpPr>
              <p:nvPr/>
            </p:nvGrpSpPr>
            <p:grpSpPr bwMode="auto">
              <a:xfrm>
                <a:off x="4139952" y="476672"/>
                <a:ext cx="4530503" cy="3384376"/>
                <a:chOff x="1270911" y="261442"/>
                <a:chExt cx="6739254" cy="5558303"/>
              </a:xfrm>
            </p:grpSpPr>
            <p:grpSp>
              <p:nvGrpSpPr>
                <p:cNvPr id="42002" name="Grupa 45"/>
                <p:cNvGrpSpPr>
                  <a:grpSpLocks/>
                </p:cNvGrpSpPr>
                <p:nvPr/>
              </p:nvGrpSpPr>
              <p:grpSpPr bwMode="auto">
                <a:xfrm>
                  <a:off x="1270911" y="261442"/>
                  <a:ext cx="6739254" cy="5558303"/>
                  <a:chOff x="1270911" y="261442"/>
                  <a:chExt cx="6739254" cy="5558303"/>
                </a:xfrm>
              </p:grpSpPr>
              <p:cxnSp>
                <p:nvCxnSpPr>
                  <p:cNvPr id="41" name="Łącznik prosty ze strzałką 40"/>
                  <p:cNvCxnSpPr/>
                  <p:nvPr/>
                </p:nvCxnSpPr>
                <p:spPr>
                  <a:xfrm rot="5400000" flipH="1" flipV="1">
                    <a:off x="-612199" y="2781535"/>
                    <a:ext cx="5040186"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2" name="Łącznik prosty ze strzałką 41"/>
                  <p:cNvCxnSpPr/>
                  <p:nvPr/>
                </p:nvCxnSpPr>
                <p:spPr>
                  <a:xfrm>
                    <a:off x="1403172" y="5084864"/>
                    <a:ext cx="6409361" cy="176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42009" name="Text Box 2"/>
                  <p:cNvSpPr txBox="1">
                    <a:spLocks noChangeArrowheads="1"/>
                  </p:cNvSpPr>
                  <p:nvPr/>
                </p:nvSpPr>
                <p:spPr bwMode="auto">
                  <a:xfrm>
                    <a:off x="1270911" y="448636"/>
                    <a:ext cx="576064" cy="5040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b="1">
                        <a:solidFill>
                          <a:schemeClr val="tx1"/>
                        </a:solidFill>
                        <a:latin typeface="Arial" charset="0"/>
                      </a:defRPr>
                    </a:lvl1pPr>
                    <a:lvl2pPr marL="742950" indent="-285750" eaLnBrk="0" hangingPunct="0">
                      <a:defRPr sz="3200" b="1">
                        <a:solidFill>
                          <a:schemeClr val="tx1"/>
                        </a:solidFill>
                        <a:latin typeface="Arial" charset="0"/>
                      </a:defRPr>
                    </a:lvl2pPr>
                    <a:lvl3pPr marL="1143000" indent="-228600" eaLnBrk="0" hangingPunct="0">
                      <a:defRPr sz="3200" b="1">
                        <a:solidFill>
                          <a:schemeClr val="tx1"/>
                        </a:solidFill>
                        <a:latin typeface="Arial" charset="0"/>
                      </a:defRPr>
                    </a:lvl3pPr>
                    <a:lvl4pPr marL="1600200" indent="-228600" eaLnBrk="0" hangingPunct="0">
                      <a:defRPr sz="3200" b="1">
                        <a:solidFill>
                          <a:schemeClr val="tx1"/>
                        </a:solidFill>
                        <a:latin typeface="Arial" charset="0"/>
                      </a:defRPr>
                    </a:lvl4pPr>
                    <a:lvl5pPr marL="2057400" indent="-228600" eaLnBrk="0" hangingPunct="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eaLnBrk="1" hangingPunct="1"/>
                    <a:r>
                      <a:rPr lang="pl-PL" sz="2400" b="0" dirty="0">
                        <a:cs typeface="Times New Roman" charset="0"/>
                      </a:rPr>
                      <a:t>L</a:t>
                    </a:r>
                    <a:endParaRPr lang="pl-PL" sz="2000" b="0" dirty="0"/>
                  </a:p>
                </p:txBody>
              </p:sp>
              <p:sp>
                <p:nvSpPr>
                  <p:cNvPr id="42010" name="Text Box 2"/>
                  <p:cNvSpPr txBox="1">
                    <a:spLocks noChangeArrowheads="1"/>
                  </p:cNvSpPr>
                  <p:nvPr/>
                </p:nvSpPr>
                <p:spPr bwMode="auto">
                  <a:xfrm>
                    <a:off x="7434101" y="5315689"/>
                    <a:ext cx="576064" cy="5040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b="1">
                        <a:solidFill>
                          <a:schemeClr val="tx1"/>
                        </a:solidFill>
                        <a:latin typeface="Arial" charset="0"/>
                      </a:defRPr>
                    </a:lvl1pPr>
                    <a:lvl2pPr marL="742950" indent="-285750" eaLnBrk="0" hangingPunct="0">
                      <a:defRPr sz="3200" b="1">
                        <a:solidFill>
                          <a:schemeClr val="tx1"/>
                        </a:solidFill>
                        <a:latin typeface="Arial" charset="0"/>
                      </a:defRPr>
                    </a:lvl2pPr>
                    <a:lvl3pPr marL="1143000" indent="-228600" eaLnBrk="0" hangingPunct="0">
                      <a:defRPr sz="3200" b="1">
                        <a:solidFill>
                          <a:schemeClr val="tx1"/>
                        </a:solidFill>
                        <a:latin typeface="Arial" charset="0"/>
                      </a:defRPr>
                    </a:lvl3pPr>
                    <a:lvl4pPr marL="1600200" indent="-228600" eaLnBrk="0" hangingPunct="0">
                      <a:defRPr sz="3200" b="1">
                        <a:solidFill>
                          <a:schemeClr val="tx1"/>
                        </a:solidFill>
                        <a:latin typeface="Arial" charset="0"/>
                      </a:defRPr>
                    </a:lvl4pPr>
                    <a:lvl5pPr marL="2057400" indent="-228600" eaLnBrk="0" hangingPunct="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eaLnBrk="1" hangingPunct="1"/>
                    <a:r>
                      <a:rPr lang="pl-PL" sz="2400" dirty="0">
                        <a:cs typeface="Times New Roman" charset="0"/>
                      </a:rPr>
                      <a:t>K</a:t>
                    </a:r>
                    <a:endParaRPr lang="pl-PL" sz="2000" b="0" dirty="0"/>
                  </a:p>
                </p:txBody>
              </p:sp>
              <p:sp>
                <p:nvSpPr>
                  <p:cNvPr id="45" name="Dowolny kształt 44"/>
                  <p:cNvSpPr/>
                  <p:nvPr/>
                </p:nvSpPr>
                <p:spPr>
                  <a:xfrm rot="9838989">
                    <a:off x="2899095" y="314311"/>
                    <a:ext cx="4209564" cy="4648955"/>
                  </a:xfrm>
                  <a:custGeom>
                    <a:avLst/>
                    <a:gdLst>
                      <a:gd name="connsiteX0" fmla="*/ 0 w 1843088"/>
                      <a:gd name="connsiteY0" fmla="*/ 0 h 3333750"/>
                      <a:gd name="connsiteX1" fmla="*/ 1543050 w 1843088"/>
                      <a:gd name="connsiteY1" fmla="*/ 1066800 h 3333750"/>
                      <a:gd name="connsiteX2" fmla="*/ 1800225 w 1843088"/>
                      <a:gd name="connsiteY2" fmla="*/ 3333750 h 3333750"/>
                    </a:gdLst>
                    <a:ahLst/>
                    <a:cxnLst>
                      <a:cxn ang="0">
                        <a:pos x="connsiteX0" y="connsiteY0"/>
                      </a:cxn>
                      <a:cxn ang="0">
                        <a:pos x="connsiteX1" y="connsiteY1"/>
                      </a:cxn>
                      <a:cxn ang="0">
                        <a:pos x="connsiteX2" y="connsiteY2"/>
                      </a:cxn>
                    </a:cxnLst>
                    <a:rect l="l" t="t" r="r" b="b"/>
                    <a:pathLst>
                      <a:path w="1843088" h="3333750">
                        <a:moveTo>
                          <a:pt x="0" y="0"/>
                        </a:moveTo>
                        <a:cubicBezTo>
                          <a:pt x="621506" y="255587"/>
                          <a:pt x="1243013" y="511175"/>
                          <a:pt x="1543050" y="1066800"/>
                        </a:cubicBezTo>
                        <a:cubicBezTo>
                          <a:pt x="1843088" y="1622425"/>
                          <a:pt x="1755775" y="2851150"/>
                          <a:pt x="1800225" y="3333750"/>
                        </a:cubicBezTo>
                      </a:path>
                    </a:pathLst>
                  </a:custGeom>
                </p:spPr>
                <p:style>
                  <a:lnRef idx="3">
                    <a:schemeClr val="accent1"/>
                  </a:lnRef>
                  <a:fillRef idx="0">
                    <a:schemeClr val="accent1"/>
                  </a:fillRef>
                  <a:effectRef idx="2">
                    <a:schemeClr val="accent1"/>
                  </a:effectRef>
                  <a:fontRef idx="minor">
                    <a:schemeClr val="tx1"/>
                  </a:fontRef>
                </p:style>
                <p:txBody>
                  <a:bodyPr anchor="ctr"/>
                  <a:lstStyle/>
                  <a:p>
                    <a:pPr algn="ctr" eaLnBrk="0" hangingPunct="0">
                      <a:defRPr/>
                    </a:pPr>
                    <a:endParaRPr lang="pl-PL" sz="2400"/>
                  </a:p>
                </p:txBody>
              </p:sp>
            </p:grpSp>
            <p:cxnSp>
              <p:nvCxnSpPr>
                <p:cNvPr id="37" name="Łącznik prosty 36"/>
                <p:cNvCxnSpPr/>
                <p:nvPr/>
              </p:nvCxnSpPr>
              <p:spPr>
                <a:xfrm rot="5400000" flipH="1" flipV="1">
                  <a:off x="1506019" y="3442468"/>
                  <a:ext cx="2044271" cy="1240521"/>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38" name="Łącznik prosty 37"/>
                <p:cNvCxnSpPr/>
                <p:nvPr/>
              </p:nvCxnSpPr>
              <p:spPr>
                <a:xfrm rot="16200000" flipH="1">
                  <a:off x="1277731" y="2343341"/>
                  <a:ext cx="3741368" cy="1502004"/>
                </a:xfrm>
                <a:prstGeom prst="line">
                  <a:avLst/>
                </a:prstGeom>
              </p:spPr>
              <p:style>
                <a:lnRef idx="2">
                  <a:schemeClr val="accent2"/>
                </a:lnRef>
                <a:fillRef idx="0">
                  <a:schemeClr val="accent2"/>
                </a:fillRef>
                <a:effectRef idx="1">
                  <a:schemeClr val="accent2"/>
                </a:effectRef>
                <a:fontRef idx="minor">
                  <a:schemeClr val="tx1"/>
                </a:fontRef>
              </p:style>
            </p:cxnSp>
            <p:sp>
              <p:nvSpPr>
                <p:cNvPr id="42006" name="pole tekstowe 39"/>
                <p:cNvSpPr txBox="1">
                  <a:spLocks noChangeArrowheads="1"/>
                </p:cNvSpPr>
                <p:nvPr/>
              </p:nvSpPr>
              <p:spPr bwMode="auto">
                <a:xfrm>
                  <a:off x="2036655" y="3517620"/>
                  <a:ext cx="1008112" cy="44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chemeClr val="tx1"/>
                      </a:solidFill>
                      <a:latin typeface="Arial" charset="0"/>
                    </a:defRPr>
                  </a:lvl1pPr>
                  <a:lvl2pPr marL="742950" indent="-285750" eaLnBrk="0" hangingPunct="0">
                    <a:defRPr sz="3200" b="1">
                      <a:solidFill>
                        <a:schemeClr val="tx1"/>
                      </a:solidFill>
                      <a:latin typeface="Arial" charset="0"/>
                    </a:defRPr>
                  </a:lvl2pPr>
                  <a:lvl3pPr marL="1143000" indent="-228600" eaLnBrk="0" hangingPunct="0">
                    <a:defRPr sz="3200" b="1">
                      <a:solidFill>
                        <a:schemeClr val="tx1"/>
                      </a:solidFill>
                      <a:latin typeface="Arial" charset="0"/>
                    </a:defRPr>
                  </a:lvl3pPr>
                  <a:lvl4pPr marL="1600200" indent="-228600" eaLnBrk="0" hangingPunct="0">
                    <a:defRPr sz="3200" b="1">
                      <a:solidFill>
                        <a:schemeClr val="tx1"/>
                      </a:solidFill>
                      <a:latin typeface="Arial" charset="0"/>
                    </a:defRPr>
                  </a:lvl4pPr>
                  <a:lvl5pPr marL="2057400" indent="-228600" eaLnBrk="0" hangingPunct="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r>
                    <a:rPr lang="pl-PL" sz="2000" dirty="0"/>
                    <a:t>L/K</a:t>
                  </a:r>
                  <a:endParaRPr lang="pl-PL" sz="2400" dirty="0"/>
                </a:p>
              </p:txBody>
            </p:sp>
          </p:grpSp>
          <p:cxnSp>
            <p:nvCxnSpPr>
              <p:cNvPr id="47" name="Łącznik prosty 46"/>
              <p:cNvCxnSpPr/>
              <p:nvPr/>
            </p:nvCxnSpPr>
            <p:spPr>
              <a:xfrm>
                <a:off x="5022956" y="2429609"/>
                <a:ext cx="2335258" cy="845557"/>
              </a:xfrm>
              <a:prstGeom prst="line">
                <a:avLst/>
              </a:prstGeom>
            </p:spPr>
            <p:style>
              <a:lnRef idx="2">
                <a:schemeClr val="accent2"/>
              </a:lnRef>
              <a:fillRef idx="0">
                <a:schemeClr val="accent2"/>
              </a:fillRef>
              <a:effectRef idx="1">
                <a:schemeClr val="accent2"/>
              </a:effectRef>
              <a:fontRef idx="minor">
                <a:schemeClr val="tx1"/>
              </a:fontRef>
            </p:style>
          </p:cxnSp>
          <p:cxnSp>
            <p:nvCxnSpPr>
              <p:cNvPr id="51" name="Łącznik prosty 50"/>
              <p:cNvCxnSpPr/>
              <p:nvPr/>
            </p:nvCxnSpPr>
            <p:spPr>
              <a:xfrm flipV="1">
                <a:off x="4567146" y="2820197"/>
                <a:ext cx="1592268" cy="584808"/>
              </a:xfrm>
              <a:prstGeom prst="line">
                <a:avLst/>
              </a:prstGeom>
              <a:ln>
                <a:prstDash val="dash"/>
              </a:ln>
            </p:spPr>
            <p:style>
              <a:lnRef idx="2">
                <a:schemeClr val="accent1"/>
              </a:lnRef>
              <a:fillRef idx="0">
                <a:schemeClr val="accent1"/>
              </a:fillRef>
              <a:effectRef idx="1">
                <a:schemeClr val="accent1"/>
              </a:effectRef>
              <a:fontRef idx="minor">
                <a:schemeClr val="tx1"/>
              </a:fontRef>
            </p:style>
          </p:cxnSp>
        </p:grpSp>
        <p:sp>
          <p:nvSpPr>
            <p:cNvPr id="59" name="Strzałka zakrzywiona w lewo 58"/>
            <p:cNvSpPr/>
            <p:nvPr/>
          </p:nvSpPr>
          <p:spPr>
            <a:xfrm rot="18888356">
              <a:off x="4721225" y="2328863"/>
              <a:ext cx="1093788" cy="2316162"/>
            </a:xfrm>
            <a:prstGeom prst="curvedLeftArrow">
              <a:avLst>
                <a:gd name="adj1" fmla="val 0"/>
                <a:gd name="adj2" fmla="val 20464"/>
                <a:gd name="adj3" fmla="val 7941"/>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pl-PL">
                <a:solidFill>
                  <a:schemeClr val="tx1"/>
                </a:solidFill>
              </a:endParaRPr>
            </a:p>
          </p:txBody>
        </p:sp>
        <p:sp>
          <p:nvSpPr>
            <p:cNvPr id="60" name="Strzałka zakrzywiona w lewo 59"/>
            <p:cNvSpPr/>
            <p:nvPr/>
          </p:nvSpPr>
          <p:spPr>
            <a:xfrm rot="18888356">
              <a:off x="4138614" y="4103689"/>
              <a:ext cx="528637" cy="871537"/>
            </a:xfrm>
            <a:prstGeom prst="curvedLeftArrow">
              <a:avLst>
                <a:gd name="adj1" fmla="val 0"/>
                <a:gd name="adj2" fmla="val 20464"/>
                <a:gd name="adj3" fmla="val 7941"/>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pl-PL">
                <a:solidFill>
                  <a:schemeClr val="tx1"/>
                </a:solidFill>
              </a:endParaRPr>
            </a:p>
          </p:txBody>
        </p:sp>
        <p:graphicFrame>
          <p:nvGraphicFramePr>
            <p:cNvPr id="41996" name="Object 5"/>
            <p:cNvGraphicFramePr>
              <a:graphicFrameLocks noChangeAspect="1"/>
            </p:cNvGraphicFramePr>
            <p:nvPr>
              <p:extLst>
                <p:ext uri="{D42A27DB-BD31-4B8C-83A1-F6EECF244321}">
                  <p14:modId xmlns:p14="http://schemas.microsoft.com/office/powerpoint/2010/main" val="1221186306"/>
                </p:ext>
              </p:extLst>
            </p:nvPr>
          </p:nvGraphicFramePr>
          <p:xfrm>
            <a:off x="7251025" y="1896745"/>
            <a:ext cx="2701925" cy="1955800"/>
          </p:xfrm>
          <a:graphic>
            <a:graphicData uri="http://schemas.openxmlformats.org/presentationml/2006/ole">
              <mc:AlternateContent xmlns:mc="http://schemas.openxmlformats.org/markup-compatibility/2006">
                <mc:Choice xmlns:v="urn:schemas-microsoft-com:vml" Requires="v">
                  <p:oleObj name="Równanie" r:id="rId3" imgW="927100" imgH="762000" progId="Equation.3">
                    <p:embed/>
                  </p:oleObj>
                </mc:Choice>
                <mc:Fallback>
                  <p:oleObj name="Równanie" r:id="rId3" imgW="927100" imgH="762000" progId="Equation.3">
                    <p:embed/>
                    <p:pic>
                      <p:nvPicPr>
                        <p:cNvPr id="4199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51025" y="1896745"/>
                          <a:ext cx="2701925" cy="195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997" name="Object 3"/>
            <p:cNvGraphicFramePr>
              <a:graphicFrameLocks noChangeAspect="1"/>
            </p:cNvGraphicFramePr>
            <p:nvPr>
              <p:extLst>
                <p:ext uri="{D42A27DB-BD31-4B8C-83A1-F6EECF244321}">
                  <p14:modId xmlns:p14="http://schemas.microsoft.com/office/powerpoint/2010/main" val="128091800"/>
                </p:ext>
              </p:extLst>
            </p:nvPr>
          </p:nvGraphicFramePr>
          <p:xfrm>
            <a:off x="6139108" y="3633665"/>
            <a:ext cx="1074737" cy="554038"/>
          </p:xfrm>
          <a:graphic>
            <a:graphicData uri="http://schemas.openxmlformats.org/presentationml/2006/ole">
              <mc:AlternateContent xmlns:mc="http://schemas.openxmlformats.org/markup-compatibility/2006">
                <mc:Choice xmlns:v="urn:schemas-microsoft-com:vml" Requires="v">
                  <p:oleObj name="Równanie" r:id="rId5" imgW="672808" imgH="393529" progId="Equation.3">
                    <p:embed/>
                  </p:oleObj>
                </mc:Choice>
                <mc:Fallback>
                  <p:oleObj name="Równanie" r:id="rId5" imgW="672808" imgH="393529" progId="Equation.3">
                    <p:embed/>
                    <p:pic>
                      <p:nvPicPr>
                        <p:cNvPr id="4199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39108" y="3633665"/>
                          <a:ext cx="1074737"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998" name="Object 4"/>
            <p:cNvGraphicFramePr>
              <a:graphicFrameLocks noChangeAspect="1"/>
            </p:cNvGraphicFramePr>
            <p:nvPr>
              <p:extLst>
                <p:ext uri="{D42A27DB-BD31-4B8C-83A1-F6EECF244321}">
                  <p14:modId xmlns:p14="http://schemas.microsoft.com/office/powerpoint/2010/main" val="3119040841"/>
                </p:ext>
              </p:extLst>
            </p:nvPr>
          </p:nvGraphicFramePr>
          <p:xfrm>
            <a:off x="3784600" y="4451855"/>
            <a:ext cx="830262" cy="686405"/>
          </p:xfrm>
          <a:graphic>
            <a:graphicData uri="http://schemas.openxmlformats.org/presentationml/2006/ole">
              <mc:AlternateContent xmlns:mc="http://schemas.openxmlformats.org/markup-compatibility/2006">
                <mc:Choice xmlns:v="urn:schemas-microsoft-com:vml" Requires="v">
                  <p:oleObj name="Równanie" r:id="rId7" imgW="583947" imgH="393529" progId="Equation.3">
                    <p:embed/>
                  </p:oleObj>
                </mc:Choice>
                <mc:Fallback>
                  <p:oleObj name="Równanie" r:id="rId7" imgW="583947" imgH="393529" progId="Equation.3">
                    <p:embed/>
                    <p:pic>
                      <p:nvPicPr>
                        <p:cNvPr id="41998"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84600" y="4451855"/>
                          <a:ext cx="830262" cy="686405"/>
                        </a:xfrm>
                        <a:prstGeom prst="rect">
                          <a:avLst/>
                        </a:prstGeom>
                        <a:noFill/>
                        <a:ln>
                          <a:noFill/>
                        </a:ln>
                        <a:effectLst/>
                      </p:spPr>
                    </p:pic>
                  </p:oleObj>
                </mc:Fallback>
              </mc:AlternateContent>
            </a:graphicData>
          </a:graphic>
        </p:graphicFrame>
      </p:grpSp>
      <p:sp>
        <p:nvSpPr>
          <p:cNvPr id="3" name="CustomShape 1">
            <a:extLst>
              <a:ext uri="{FF2B5EF4-FFF2-40B4-BE49-F238E27FC236}">
                <a16:creationId xmlns:a16="http://schemas.microsoft.com/office/drawing/2014/main" id="{B7320B87-0AF0-6CFA-ECCB-924DC2A0879C}"/>
              </a:ext>
            </a:extLst>
          </p:cNvPr>
          <p:cNvSpPr/>
          <p:nvPr/>
        </p:nvSpPr>
        <p:spPr>
          <a:xfrm>
            <a:off x="0" y="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lvl="1" algn="ctr">
              <a:lnSpc>
                <a:spcPct val="107000"/>
              </a:lnSpc>
              <a:spcAft>
                <a:spcPts val="800"/>
              </a:spcAft>
            </a:pPr>
            <a:r>
              <a:rPr lang="en-US" sz="40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The cost (expenditure) minimization problem   - by analogy</a:t>
            </a:r>
          </a:p>
        </p:txBody>
      </p:sp>
    </p:spTree>
    <p:extLst>
      <p:ext uri="{BB962C8B-B14F-4D97-AF65-F5344CB8AC3E}">
        <p14:creationId xmlns:p14="http://schemas.microsoft.com/office/powerpoint/2010/main" val="4686637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Prostokąt 7">
            <a:extLst>
              <a:ext uri="{FF2B5EF4-FFF2-40B4-BE49-F238E27FC236}">
                <a16:creationId xmlns:a16="http://schemas.microsoft.com/office/drawing/2014/main" id="{31D74E4B-AC01-6C9D-CC43-E52D7190A12C}"/>
              </a:ext>
            </a:extLst>
          </p:cNvPr>
          <p:cNvSpPr>
            <a:spLocks noChangeArrowheads="1"/>
          </p:cNvSpPr>
          <p:nvPr/>
        </p:nvSpPr>
        <p:spPr bwMode="auto">
          <a:xfrm>
            <a:off x="340042" y="1569807"/>
            <a:ext cx="6789200" cy="3416320"/>
          </a:xfrm>
          <a:prstGeom prst="rect">
            <a:avLst/>
          </a:prstGeom>
          <a:noFill/>
          <a:ln w="9525">
            <a:noFill/>
            <a:miter lim="800000"/>
            <a:headEnd/>
            <a:tailEnd/>
          </a:ln>
        </p:spPr>
        <p:txBody>
          <a:bodyPr wrap="square">
            <a:spAutoFit/>
          </a:bodyPr>
          <a:lstStyle/>
          <a:p>
            <a:pPr>
              <a:defRPr/>
            </a:pPr>
            <a:r>
              <a:rPr lang="en-US" sz="2400" dirty="0">
                <a:solidFill>
                  <a:schemeClr val="accent5">
                    <a:lumMod val="50000"/>
                  </a:schemeClr>
                </a:solidFill>
                <a:latin typeface="Arial" charset="0"/>
              </a:rPr>
              <a:t>Firms are cost-effective, i.e.: given:</a:t>
            </a:r>
          </a:p>
          <a:p>
            <a:pPr>
              <a:defRPr/>
            </a:pPr>
            <a:endParaRPr lang="en-US" sz="2400" dirty="0">
              <a:solidFill>
                <a:schemeClr val="accent5">
                  <a:lumMod val="50000"/>
                </a:schemeClr>
              </a:solidFill>
              <a:latin typeface="Arial" charset="0"/>
            </a:endParaRPr>
          </a:p>
          <a:p>
            <a:pPr marL="342900" indent="-342900">
              <a:buFont typeface="Arial" panose="020B0604020202020204" pitchFamily="34" charset="0"/>
              <a:buChar char="•"/>
              <a:defRPr/>
            </a:pPr>
            <a:r>
              <a:rPr lang="en-US" sz="2400" dirty="0">
                <a:solidFill>
                  <a:schemeClr val="accent5">
                    <a:lumMod val="50000"/>
                  </a:schemeClr>
                </a:solidFill>
                <a:latin typeface="Arial" charset="0"/>
              </a:rPr>
              <a:t>prices of factors of production r, in</a:t>
            </a:r>
          </a:p>
          <a:p>
            <a:pPr marL="342900" indent="-342900">
              <a:buFont typeface="Arial" panose="020B0604020202020204" pitchFamily="34" charset="0"/>
              <a:buChar char="•"/>
              <a:defRPr/>
            </a:pPr>
            <a:r>
              <a:rPr lang="en-US" sz="2400" dirty="0">
                <a:solidFill>
                  <a:schemeClr val="accent5">
                    <a:lumMod val="50000"/>
                  </a:schemeClr>
                </a:solidFill>
                <a:latin typeface="Arial" charset="0"/>
              </a:rPr>
              <a:t>a technology Y(K,L)</a:t>
            </a:r>
          </a:p>
          <a:p>
            <a:pPr>
              <a:defRPr/>
            </a:pPr>
            <a:endParaRPr lang="en-US" sz="2400" dirty="0">
              <a:solidFill>
                <a:schemeClr val="accent5">
                  <a:lumMod val="50000"/>
                </a:schemeClr>
              </a:solidFill>
              <a:latin typeface="Arial" charset="0"/>
            </a:endParaRPr>
          </a:p>
          <a:p>
            <a:pPr>
              <a:defRPr/>
            </a:pPr>
            <a:r>
              <a:rPr lang="en-US" sz="2400" dirty="0">
                <a:solidFill>
                  <a:schemeClr val="accent5">
                    <a:lumMod val="50000"/>
                  </a:schemeClr>
                </a:solidFill>
                <a:latin typeface="Arial" charset="0"/>
              </a:rPr>
              <a:t>they will employ such a combination of factors of production as to </a:t>
            </a:r>
            <a:r>
              <a:rPr lang="en-US" sz="2400" b="1" dirty="0">
                <a:solidFill>
                  <a:schemeClr val="accent5">
                    <a:lumMod val="50000"/>
                  </a:schemeClr>
                </a:solidFill>
                <a:latin typeface="Arial" charset="0"/>
              </a:rPr>
              <a:t>minimize the cost </a:t>
            </a:r>
            <a:r>
              <a:rPr lang="en-US" sz="2400" dirty="0">
                <a:solidFill>
                  <a:schemeClr val="accent5">
                    <a:lumMod val="50000"/>
                  </a:schemeClr>
                </a:solidFill>
                <a:latin typeface="Arial" charset="0"/>
              </a:rPr>
              <a:t>of producing a given </a:t>
            </a:r>
            <a:r>
              <a:rPr lang="en-US" sz="2400" b="1" dirty="0">
                <a:solidFill>
                  <a:schemeClr val="accent5">
                    <a:lumMod val="50000"/>
                  </a:schemeClr>
                </a:solidFill>
                <a:latin typeface="Arial" charset="0"/>
              </a:rPr>
              <a:t>quantity of output Y </a:t>
            </a:r>
            <a:r>
              <a:rPr lang="pl-PL" sz="2400" dirty="0">
                <a:solidFill>
                  <a:schemeClr val="accent5">
                    <a:lumMod val="50000"/>
                  </a:schemeClr>
                </a:solidFill>
                <a:latin typeface="Arial" charset="0"/>
                <a:sym typeface="Wingdings" panose="05000000000000000000" pitchFamily="2" charset="2"/>
              </a:rPr>
              <a:t> </a:t>
            </a:r>
            <a:r>
              <a:rPr lang="en-US" sz="2400" dirty="0">
                <a:solidFill>
                  <a:schemeClr val="accent5">
                    <a:lumMod val="50000"/>
                  </a:schemeClr>
                </a:solidFill>
                <a:latin typeface="Arial" charset="0"/>
              </a:rPr>
              <a:t> the primary problem takes the form</a:t>
            </a:r>
            <a:r>
              <a:rPr lang="pl-PL" sz="2400" dirty="0">
                <a:solidFill>
                  <a:schemeClr val="accent5">
                    <a:lumMod val="50000"/>
                  </a:schemeClr>
                </a:solidFill>
                <a:latin typeface="Arial" charset="0"/>
              </a:rPr>
              <a:t>: </a:t>
            </a:r>
          </a:p>
        </p:txBody>
      </p:sp>
      <p:graphicFrame>
        <p:nvGraphicFramePr>
          <p:cNvPr id="4102" name="Object 2">
            <a:extLst>
              <a:ext uri="{FF2B5EF4-FFF2-40B4-BE49-F238E27FC236}">
                <a16:creationId xmlns:a16="http://schemas.microsoft.com/office/drawing/2014/main" id="{B98A7732-CD28-09F8-2D91-5BCA6DA1D144}"/>
              </a:ext>
            </a:extLst>
          </p:cNvPr>
          <p:cNvGraphicFramePr>
            <a:graphicFrameLocks/>
          </p:cNvGraphicFramePr>
          <p:nvPr>
            <p:extLst>
              <p:ext uri="{D42A27DB-BD31-4B8C-83A1-F6EECF244321}">
                <p14:modId xmlns:p14="http://schemas.microsoft.com/office/powerpoint/2010/main" val="502172063"/>
              </p:ext>
            </p:extLst>
          </p:nvPr>
        </p:nvGraphicFramePr>
        <p:xfrm>
          <a:off x="7932420" y="1314773"/>
          <a:ext cx="3919538" cy="895350"/>
        </p:xfrm>
        <a:graphic>
          <a:graphicData uri="http://schemas.openxmlformats.org/presentationml/2006/ole">
            <mc:AlternateContent xmlns:mc="http://schemas.openxmlformats.org/markup-compatibility/2006">
              <mc:Choice xmlns:v="urn:schemas-microsoft-com:vml" Requires="v">
                <p:oleObj name="Równanie" r:id="rId3" imgW="1020972" imgH="221081" progId="Equation.3">
                  <p:embed/>
                </p:oleObj>
              </mc:Choice>
              <mc:Fallback>
                <p:oleObj name="Równanie" r:id="rId3" imgW="1020972" imgH="221081" progId="Equation.3">
                  <p:embed/>
                  <p:pic>
                    <p:nvPicPr>
                      <p:cNvPr id="4102" name="Object 2">
                        <a:extLst>
                          <a:ext uri="{FF2B5EF4-FFF2-40B4-BE49-F238E27FC236}">
                            <a16:creationId xmlns:a16="http://schemas.microsoft.com/office/drawing/2014/main" id="{B98A7732-CD28-09F8-2D91-5BCA6DA1D14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32420" y="1314773"/>
                        <a:ext cx="3919538"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3" name="Object 3">
            <a:extLst>
              <a:ext uri="{FF2B5EF4-FFF2-40B4-BE49-F238E27FC236}">
                <a16:creationId xmlns:a16="http://schemas.microsoft.com/office/drawing/2014/main" id="{BDF9C721-B233-C83D-A086-10A0BB41A36B}"/>
              </a:ext>
            </a:extLst>
          </p:cNvPr>
          <p:cNvGraphicFramePr>
            <a:graphicFrameLocks/>
          </p:cNvGraphicFramePr>
          <p:nvPr>
            <p:extLst>
              <p:ext uri="{D42A27DB-BD31-4B8C-83A1-F6EECF244321}">
                <p14:modId xmlns:p14="http://schemas.microsoft.com/office/powerpoint/2010/main" val="3804556490"/>
              </p:ext>
            </p:extLst>
          </p:nvPr>
        </p:nvGraphicFramePr>
        <p:xfrm>
          <a:off x="9039860" y="3552287"/>
          <a:ext cx="2085975" cy="855663"/>
        </p:xfrm>
        <a:graphic>
          <a:graphicData uri="http://schemas.openxmlformats.org/presentationml/2006/ole">
            <mc:AlternateContent xmlns:mc="http://schemas.openxmlformats.org/markup-compatibility/2006">
              <mc:Choice xmlns:v="urn:schemas-microsoft-com:vml" Requires="v">
                <p:oleObj name="Równanie" r:id="rId5" imgW="708570" imgH="175202" progId="Equation.3">
                  <p:embed/>
                </p:oleObj>
              </mc:Choice>
              <mc:Fallback>
                <p:oleObj name="Równanie" r:id="rId5" imgW="708570" imgH="175202" progId="Equation.3">
                  <p:embed/>
                  <p:pic>
                    <p:nvPicPr>
                      <p:cNvPr id="4103" name="Object 3">
                        <a:extLst>
                          <a:ext uri="{FF2B5EF4-FFF2-40B4-BE49-F238E27FC236}">
                            <a16:creationId xmlns:a16="http://schemas.microsoft.com/office/drawing/2014/main" id="{BDF9C721-B233-C83D-A086-10A0BB41A36B}"/>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39860" y="3552287"/>
                        <a:ext cx="2085975" cy="85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CustomShape 1">
            <a:extLst>
              <a:ext uri="{FF2B5EF4-FFF2-40B4-BE49-F238E27FC236}">
                <a16:creationId xmlns:a16="http://schemas.microsoft.com/office/drawing/2014/main" id="{BD26E006-55FB-23EF-A448-C47D54B8C6F9}"/>
              </a:ext>
            </a:extLst>
          </p:cNvPr>
          <p:cNvSpPr/>
          <p:nvPr/>
        </p:nvSpPr>
        <p:spPr>
          <a:xfrm>
            <a:off x="0" y="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lvl="1" algn="ctr">
              <a:lnSpc>
                <a:spcPct val="107000"/>
              </a:lnSpc>
              <a:spcAft>
                <a:spcPts val="800"/>
              </a:spcAft>
            </a:pPr>
            <a:r>
              <a:rPr lang="en-US" sz="40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The cost minimization problem</a:t>
            </a:r>
          </a:p>
        </p:txBody>
      </p:sp>
      <p:sp>
        <p:nvSpPr>
          <p:cNvPr id="6" name="Elipsa 8">
            <a:extLst>
              <a:ext uri="{FF2B5EF4-FFF2-40B4-BE49-F238E27FC236}">
                <a16:creationId xmlns:a16="http://schemas.microsoft.com/office/drawing/2014/main" id="{41CAAE6A-BBCB-6F9C-D79D-2DA94105DE53}"/>
              </a:ext>
            </a:extLst>
          </p:cNvPr>
          <p:cNvSpPr/>
          <p:nvPr/>
        </p:nvSpPr>
        <p:spPr>
          <a:xfrm>
            <a:off x="7932420" y="1097384"/>
            <a:ext cx="4107116" cy="1187024"/>
          </a:xfrm>
          <a:prstGeom prst="ellipse">
            <a:avLst/>
          </a:prstGeom>
          <a:noFill/>
          <a:ln w="50800">
            <a:prstDash val="dash"/>
          </a:ln>
        </p:spPr>
        <p:style>
          <a:lnRef idx="2">
            <a:schemeClr val="accent2"/>
          </a:lnRef>
          <a:fillRef idx="1">
            <a:schemeClr val="lt1"/>
          </a:fillRef>
          <a:effectRef idx="0">
            <a:schemeClr val="accent2"/>
          </a:effectRef>
          <a:fontRef idx="minor">
            <a:schemeClr val="dk1"/>
          </a:fontRef>
        </p:style>
        <p:txBody>
          <a:bodyPr anchor="ctr"/>
          <a:lstStyle/>
          <a:p>
            <a:pPr>
              <a:defRPr/>
            </a:pPr>
            <a:endParaRPr lang="pl-PL">
              <a:solidFill>
                <a:schemeClr val="accent5">
                  <a:lumMod val="50000"/>
                </a:schemeClr>
              </a:solidFill>
            </a:endParaRPr>
          </a:p>
        </p:txBody>
      </p:sp>
      <p:cxnSp>
        <p:nvCxnSpPr>
          <p:cNvPr id="7" name="Łącznik prosty ze strzałką 24">
            <a:extLst>
              <a:ext uri="{FF2B5EF4-FFF2-40B4-BE49-F238E27FC236}">
                <a16:creationId xmlns:a16="http://schemas.microsoft.com/office/drawing/2014/main" id="{6E3DBFFE-B931-E856-5BC1-D0A2427147CF}"/>
              </a:ext>
            </a:extLst>
          </p:cNvPr>
          <p:cNvCxnSpPr>
            <a:cxnSpLocks/>
            <a:stCxn id="6" idx="4"/>
          </p:cNvCxnSpPr>
          <p:nvPr/>
        </p:nvCxnSpPr>
        <p:spPr>
          <a:xfrm flipH="1">
            <a:off x="5074538" y="2284408"/>
            <a:ext cx="4911440" cy="155680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Elipsa 8">
            <a:extLst>
              <a:ext uri="{FF2B5EF4-FFF2-40B4-BE49-F238E27FC236}">
                <a16:creationId xmlns:a16="http://schemas.microsoft.com/office/drawing/2014/main" id="{D6E92F01-C72E-A35F-70F7-94245676E396}"/>
              </a:ext>
            </a:extLst>
          </p:cNvPr>
          <p:cNvSpPr/>
          <p:nvPr/>
        </p:nvSpPr>
        <p:spPr>
          <a:xfrm>
            <a:off x="8740522" y="3429000"/>
            <a:ext cx="2669158" cy="1187024"/>
          </a:xfrm>
          <a:prstGeom prst="ellipse">
            <a:avLst/>
          </a:prstGeom>
          <a:noFill/>
          <a:ln w="50800">
            <a:prstDash val="dash"/>
          </a:ln>
        </p:spPr>
        <p:style>
          <a:lnRef idx="2">
            <a:schemeClr val="accent2"/>
          </a:lnRef>
          <a:fillRef idx="1">
            <a:schemeClr val="lt1"/>
          </a:fillRef>
          <a:effectRef idx="0">
            <a:schemeClr val="accent2"/>
          </a:effectRef>
          <a:fontRef idx="minor">
            <a:schemeClr val="dk1"/>
          </a:fontRef>
        </p:style>
        <p:txBody>
          <a:bodyPr anchor="ctr"/>
          <a:lstStyle/>
          <a:p>
            <a:pPr>
              <a:defRPr/>
            </a:pPr>
            <a:endParaRPr lang="pl-PL">
              <a:solidFill>
                <a:schemeClr val="accent5">
                  <a:lumMod val="50000"/>
                </a:schemeClr>
              </a:solidFill>
            </a:endParaRPr>
          </a:p>
        </p:txBody>
      </p:sp>
      <p:cxnSp>
        <p:nvCxnSpPr>
          <p:cNvPr id="10" name="Łącznik prosty ze strzałką 24">
            <a:extLst>
              <a:ext uri="{FF2B5EF4-FFF2-40B4-BE49-F238E27FC236}">
                <a16:creationId xmlns:a16="http://schemas.microsoft.com/office/drawing/2014/main" id="{0A4A2668-68E5-ADEF-EC00-D05EAA381C92}"/>
              </a:ext>
            </a:extLst>
          </p:cNvPr>
          <p:cNvCxnSpPr>
            <a:cxnSpLocks/>
            <a:stCxn id="9" idx="4"/>
          </p:cNvCxnSpPr>
          <p:nvPr/>
        </p:nvCxnSpPr>
        <p:spPr>
          <a:xfrm flipH="1" flipV="1">
            <a:off x="4409440" y="4407950"/>
            <a:ext cx="5665661" cy="20807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302677C-0814-F8A0-71F3-5B8ADA658E04}"/>
              </a:ext>
            </a:extLst>
          </p:cNvPr>
          <p:cNvSpPr txBox="1"/>
          <p:nvPr/>
        </p:nvSpPr>
        <p:spPr>
          <a:xfrm>
            <a:off x="8723125" y="2724240"/>
            <a:ext cx="2953036" cy="461665"/>
          </a:xfrm>
          <a:prstGeom prst="rect">
            <a:avLst/>
          </a:prstGeom>
          <a:noFill/>
        </p:spPr>
        <p:txBody>
          <a:bodyPr wrap="square">
            <a:spAutoFit/>
          </a:bodyPr>
          <a:lstStyle/>
          <a:p>
            <a:r>
              <a:rPr lang="pl-PL" sz="2400" dirty="0" err="1">
                <a:solidFill>
                  <a:schemeClr val="accent5">
                    <a:lumMod val="50000"/>
                  </a:schemeClr>
                </a:solidFill>
              </a:rPr>
              <a:t>subject</a:t>
            </a:r>
            <a:r>
              <a:rPr lang="pl-PL" sz="2400" dirty="0">
                <a:solidFill>
                  <a:schemeClr val="accent5">
                    <a:lumMod val="50000"/>
                  </a:schemeClr>
                </a:solidFill>
              </a:rPr>
              <a:t> to </a:t>
            </a:r>
            <a:r>
              <a:rPr lang="pl-PL" sz="2400" dirty="0" err="1">
                <a:solidFill>
                  <a:schemeClr val="accent5">
                    <a:lumMod val="50000"/>
                  </a:schemeClr>
                </a:solidFill>
              </a:rPr>
              <a:t>constraint</a:t>
            </a:r>
            <a:endParaRPr lang="pl-PL" sz="2400" dirty="0">
              <a:solidFill>
                <a:schemeClr val="accent5">
                  <a:lumMod val="50000"/>
                </a:schemeClr>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Elipsa 33">
            <a:extLst>
              <a:ext uri="{FF2B5EF4-FFF2-40B4-BE49-F238E27FC236}">
                <a16:creationId xmlns:a16="http://schemas.microsoft.com/office/drawing/2014/main" id="{647468A1-0BB8-6A64-FBFE-025356F66D35}"/>
              </a:ext>
            </a:extLst>
          </p:cNvPr>
          <p:cNvSpPr/>
          <p:nvPr/>
        </p:nvSpPr>
        <p:spPr>
          <a:xfrm>
            <a:off x="4143376" y="5467351"/>
            <a:ext cx="3590925" cy="1171575"/>
          </a:xfrm>
          <a:prstGeom prst="ellipse">
            <a:avLst/>
          </a:prstGeom>
          <a:solidFill>
            <a:schemeClr val="accent1">
              <a:alpha val="0"/>
            </a:schemeClr>
          </a:solid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l-PL">
              <a:solidFill>
                <a:schemeClr val="accent5">
                  <a:lumMod val="50000"/>
                </a:schemeClr>
              </a:solidFill>
            </a:endParaRPr>
          </a:p>
        </p:txBody>
      </p:sp>
      <p:sp>
        <p:nvSpPr>
          <p:cNvPr id="3081" name="Rectangle 5">
            <a:extLst>
              <a:ext uri="{FF2B5EF4-FFF2-40B4-BE49-F238E27FC236}">
                <a16:creationId xmlns:a16="http://schemas.microsoft.com/office/drawing/2014/main" id="{0FC20DDF-634C-54DA-706E-AD696056145D}"/>
              </a:ext>
            </a:extLst>
          </p:cNvPr>
          <p:cNvSpPr>
            <a:spLocks noChangeArrowheads="1"/>
          </p:cNvSpPr>
          <p:nvPr/>
        </p:nvSpPr>
        <p:spPr bwMode="auto">
          <a:xfrm>
            <a:off x="7923214" y="5145088"/>
            <a:ext cx="371475" cy="400050"/>
          </a:xfrm>
          <a:prstGeom prst="rect">
            <a:avLst/>
          </a:prstGeom>
          <a:noFill/>
          <a:ln w="9525">
            <a:noFill/>
            <a:miter lim="800000"/>
            <a:headEnd/>
            <a:tailEnd/>
          </a:ln>
        </p:spPr>
        <p:txBody>
          <a:bodyPr wrap="none" lIns="92075" tIns="46038" rIns="92075" bIns="46038">
            <a:spAutoFit/>
          </a:bodyPr>
          <a:lstStyle/>
          <a:p>
            <a:pPr>
              <a:defRPr/>
            </a:pPr>
            <a:r>
              <a:rPr lang="pl-PL" sz="2000" dirty="0">
                <a:solidFill>
                  <a:schemeClr val="accent5">
                    <a:lumMod val="50000"/>
                  </a:schemeClr>
                </a:solidFill>
                <a:latin typeface="Arial" charset="0"/>
              </a:rPr>
              <a:t>K</a:t>
            </a:r>
            <a:endParaRPr lang="en-US" sz="2000" baseline="-25000" dirty="0">
              <a:solidFill>
                <a:schemeClr val="accent5">
                  <a:lumMod val="50000"/>
                </a:schemeClr>
              </a:solidFill>
              <a:latin typeface="Arial" charset="0"/>
            </a:endParaRPr>
          </a:p>
        </p:txBody>
      </p:sp>
      <p:sp>
        <p:nvSpPr>
          <p:cNvPr id="3082" name="Rectangle 14">
            <a:extLst>
              <a:ext uri="{FF2B5EF4-FFF2-40B4-BE49-F238E27FC236}">
                <a16:creationId xmlns:a16="http://schemas.microsoft.com/office/drawing/2014/main" id="{9078B078-920A-DF26-6C88-533C902218ED}"/>
              </a:ext>
            </a:extLst>
          </p:cNvPr>
          <p:cNvSpPr>
            <a:spLocks noChangeArrowheads="1"/>
          </p:cNvSpPr>
          <p:nvPr/>
        </p:nvSpPr>
        <p:spPr bwMode="auto">
          <a:xfrm>
            <a:off x="4479925" y="5116513"/>
            <a:ext cx="471488" cy="400050"/>
          </a:xfrm>
          <a:prstGeom prst="rect">
            <a:avLst/>
          </a:prstGeom>
          <a:noFill/>
          <a:ln w="9525">
            <a:noFill/>
            <a:miter lim="800000"/>
            <a:headEnd/>
            <a:tailEnd/>
          </a:ln>
        </p:spPr>
        <p:txBody>
          <a:bodyPr wrap="none" lIns="92075" tIns="46038" rIns="92075" bIns="46038">
            <a:spAutoFit/>
          </a:bodyPr>
          <a:lstStyle/>
          <a:p>
            <a:pPr>
              <a:defRPr/>
            </a:pPr>
            <a:r>
              <a:rPr lang="pl-PL" sz="2000" dirty="0">
                <a:solidFill>
                  <a:schemeClr val="accent5">
                    <a:lumMod val="50000"/>
                  </a:schemeClr>
                </a:solidFill>
                <a:latin typeface="Arial" charset="0"/>
              </a:rPr>
              <a:t>K*</a:t>
            </a:r>
            <a:endParaRPr lang="en-US" sz="2000" dirty="0">
              <a:solidFill>
                <a:schemeClr val="accent5">
                  <a:lumMod val="50000"/>
                </a:schemeClr>
              </a:solidFill>
              <a:latin typeface="Arial" charset="0"/>
            </a:endParaRPr>
          </a:p>
        </p:txBody>
      </p:sp>
      <p:graphicFrame>
        <p:nvGraphicFramePr>
          <p:cNvPr id="6150" name="Object 17">
            <a:extLst>
              <a:ext uri="{FF2B5EF4-FFF2-40B4-BE49-F238E27FC236}">
                <a16:creationId xmlns:a16="http://schemas.microsoft.com/office/drawing/2014/main" id="{7EA8C97E-0CCC-6041-F8F9-A4104D164E99}"/>
              </a:ext>
            </a:extLst>
          </p:cNvPr>
          <p:cNvGraphicFramePr>
            <a:graphicFrameLocks/>
          </p:cNvGraphicFramePr>
          <p:nvPr>
            <p:extLst>
              <p:ext uri="{D42A27DB-BD31-4B8C-83A1-F6EECF244321}">
                <p14:modId xmlns:p14="http://schemas.microsoft.com/office/powerpoint/2010/main" val="159260173"/>
              </p:ext>
            </p:extLst>
          </p:nvPr>
        </p:nvGraphicFramePr>
        <p:xfrm>
          <a:off x="4714875" y="1293633"/>
          <a:ext cx="2324100" cy="623887"/>
        </p:xfrm>
        <a:graphic>
          <a:graphicData uri="http://schemas.openxmlformats.org/presentationml/2006/ole">
            <mc:AlternateContent xmlns:mc="http://schemas.openxmlformats.org/markup-compatibility/2006">
              <mc:Choice xmlns:v="urn:schemas-microsoft-com:vml" Requires="v">
                <p:oleObj name="Równanie" r:id="rId3" imgW="708570" imgH="175202" progId="Equation.3">
                  <p:embed/>
                </p:oleObj>
              </mc:Choice>
              <mc:Fallback>
                <p:oleObj name="Równanie" r:id="rId3" imgW="708570" imgH="175202" progId="Equation.3">
                  <p:embed/>
                  <p:pic>
                    <p:nvPicPr>
                      <p:cNvPr id="6150" name="Object 17">
                        <a:extLst>
                          <a:ext uri="{FF2B5EF4-FFF2-40B4-BE49-F238E27FC236}">
                            <a16:creationId xmlns:a16="http://schemas.microsoft.com/office/drawing/2014/main" id="{7EA8C97E-0CCC-6041-F8F9-A4104D164E9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4875" y="1293633"/>
                        <a:ext cx="2324100" cy="623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151" name="Grupa 21">
            <a:extLst>
              <a:ext uri="{FF2B5EF4-FFF2-40B4-BE49-F238E27FC236}">
                <a16:creationId xmlns:a16="http://schemas.microsoft.com/office/drawing/2014/main" id="{68A2F7E2-F9E9-7C02-AE08-F4CBF1157951}"/>
              </a:ext>
            </a:extLst>
          </p:cNvPr>
          <p:cNvGrpSpPr>
            <a:grpSpLocks/>
          </p:cNvGrpSpPr>
          <p:nvPr/>
        </p:nvGrpSpPr>
        <p:grpSpPr bwMode="auto">
          <a:xfrm>
            <a:off x="2527300" y="1104901"/>
            <a:ext cx="5233988" cy="3997325"/>
            <a:chOff x="974725" y="1431925"/>
            <a:chExt cx="4573589" cy="3670300"/>
          </a:xfrm>
        </p:grpSpPr>
        <p:sp>
          <p:nvSpPr>
            <p:cNvPr id="3085" name="Line 3">
              <a:extLst>
                <a:ext uri="{FF2B5EF4-FFF2-40B4-BE49-F238E27FC236}">
                  <a16:creationId xmlns:a16="http://schemas.microsoft.com/office/drawing/2014/main" id="{4CBA5BB7-0FBA-67E6-14A6-D61FEC44424C}"/>
                </a:ext>
              </a:extLst>
            </p:cNvPr>
            <p:cNvSpPr>
              <a:spLocks noChangeShapeType="1"/>
            </p:cNvSpPr>
            <p:nvPr/>
          </p:nvSpPr>
          <p:spPr bwMode="auto">
            <a:xfrm>
              <a:off x="1619772" y="1691382"/>
              <a:ext cx="0" cy="3405012"/>
            </a:xfrm>
            <a:prstGeom prst="line">
              <a:avLst/>
            </a:prstGeom>
            <a:ln>
              <a:headEnd type="stealth" w="med" len="lg"/>
              <a:tailEnd type="none" w="sm" len="sm"/>
            </a:ln>
          </p:spPr>
          <p:style>
            <a:lnRef idx="2">
              <a:schemeClr val="dk1"/>
            </a:lnRef>
            <a:fillRef idx="0">
              <a:schemeClr val="dk1"/>
            </a:fillRef>
            <a:effectRef idx="1">
              <a:schemeClr val="dk1"/>
            </a:effectRef>
            <a:fontRef idx="minor">
              <a:schemeClr val="tx1"/>
            </a:fontRef>
          </p:style>
          <p:txBody>
            <a:bodyPr wrap="none" anchor="ctr"/>
            <a:lstStyle/>
            <a:p>
              <a:pPr>
                <a:defRPr/>
              </a:pPr>
              <a:endParaRPr lang="pl-PL">
                <a:solidFill>
                  <a:schemeClr val="accent5">
                    <a:lumMod val="50000"/>
                  </a:schemeClr>
                </a:solidFill>
              </a:endParaRPr>
            </a:p>
          </p:txBody>
        </p:sp>
        <p:sp>
          <p:nvSpPr>
            <p:cNvPr id="3086" name="Line 4">
              <a:extLst>
                <a:ext uri="{FF2B5EF4-FFF2-40B4-BE49-F238E27FC236}">
                  <a16:creationId xmlns:a16="http://schemas.microsoft.com/office/drawing/2014/main" id="{869BF5DB-6A90-ECD0-EC50-7A2D603C83E1}"/>
                </a:ext>
              </a:extLst>
            </p:cNvPr>
            <p:cNvSpPr>
              <a:spLocks noChangeShapeType="1"/>
            </p:cNvSpPr>
            <p:nvPr/>
          </p:nvSpPr>
          <p:spPr bwMode="auto">
            <a:xfrm>
              <a:off x="1619772" y="5096394"/>
              <a:ext cx="3928542" cy="0"/>
            </a:xfrm>
            <a:prstGeom prst="line">
              <a:avLst/>
            </a:prstGeom>
            <a:ln>
              <a:headEnd type="none" w="sm" len="sm"/>
              <a:tailEnd type="stealth" w="med" len="lg"/>
            </a:ln>
          </p:spPr>
          <p:style>
            <a:lnRef idx="2">
              <a:schemeClr val="dk1"/>
            </a:lnRef>
            <a:fillRef idx="0">
              <a:schemeClr val="dk1"/>
            </a:fillRef>
            <a:effectRef idx="1">
              <a:schemeClr val="dk1"/>
            </a:effectRef>
            <a:fontRef idx="minor">
              <a:schemeClr val="tx1"/>
            </a:fontRef>
          </p:style>
          <p:txBody>
            <a:bodyPr wrap="none" anchor="ctr"/>
            <a:lstStyle/>
            <a:p>
              <a:pPr>
                <a:defRPr/>
              </a:pPr>
              <a:endParaRPr lang="pl-PL">
                <a:solidFill>
                  <a:schemeClr val="accent5">
                    <a:lumMod val="50000"/>
                  </a:schemeClr>
                </a:solidFill>
              </a:endParaRPr>
            </a:p>
          </p:txBody>
        </p:sp>
        <p:sp>
          <p:nvSpPr>
            <p:cNvPr id="3087" name="Rectangle 6">
              <a:extLst>
                <a:ext uri="{FF2B5EF4-FFF2-40B4-BE49-F238E27FC236}">
                  <a16:creationId xmlns:a16="http://schemas.microsoft.com/office/drawing/2014/main" id="{EF0D50EE-15B9-C4DD-7BDA-D3559F31A76D}"/>
                </a:ext>
              </a:extLst>
            </p:cNvPr>
            <p:cNvSpPr>
              <a:spLocks noChangeArrowheads="1"/>
            </p:cNvSpPr>
            <p:nvPr/>
          </p:nvSpPr>
          <p:spPr bwMode="auto">
            <a:xfrm>
              <a:off x="974725" y="1431925"/>
              <a:ext cx="287153" cy="367966"/>
            </a:xfrm>
            <a:prstGeom prst="rect">
              <a:avLst/>
            </a:prstGeom>
            <a:noFill/>
            <a:ln w="9525">
              <a:noFill/>
              <a:miter lim="800000"/>
              <a:headEnd/>
              <a:tailEnd/>
            </a:ln>
          </p:spPr>
          <p:txBody>
            <a:bodyPr wrap="none" lIns="92075" tIns="46038" rIns="92075" bIns="46038">
              <a:spAutoFit/>
            </a:bodyPr>
            <a:lstStyle/>
            <a:p>
              <a:pPr>
                <a:defRPr/>
              </a:pPr>
              <a:r>
                <a:rPr lang="pl-PL" sz="2000" dirty="0">
                  <a:solidFill>
                    <a:schemeClr val="accent5">
                      <a:lumMod val="50000"/>
                    </a:schemeClr>
                  </a:solidFill>
                  <a:latin typeface="Arial" charset="0"/>
                </a:rPr>
                <a:t>L</a:t>
              </a:r>
              <a:endParaRPr lang="en-US" sz="2000" baseline="-25000" dirty="0">
                <a:solidFill>
                  <a:schemeClr val="accent5">
                    <a:lumMod val="50000"/>
                  </a:schemeClr>
                </a:solidFill>
                <a:latin typeface="Arial" charset="0"/>
              </a:endParaRPr>
            </a:p>
          </p:txBody>
        </p:sp>
        <p:sp>
          <p:nvSpPr>
            <p:cNvPr id="3088" name="Arc 7">
              <a:extLst>
                <a:ext uri="{FF2B5EF4-FFF2-40B4-BE49-F238E27FC236}">
                  <a16:creationId xmlns:a16="http://schemas.microsoft.com/office/drawing/2014/main" id="{ED4BF006-4C2A-3520-D493-4A686F40BAB8}"/>
                </a:ext>
              </a:extLst>
            </p:cNvPr>
            <p:cNvSpPr>
              <a:spLocks/>
            </p:cNvSpPr>
            <p:nvPr/>
          </p:nvSpPr>
          <p:spPr bwMode="auto">
            <a:xfrm rot="10800000">
              <a:off x="1811205" y="2503280"/>
              <a:ext cx="3214135" cy="2450267"/>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pl-PL">
                <a:solidFill>
                  <a:schemeClr val="accent5">
                    <a:lumMod val="50000"/>
                  </a:schemeClr>
                </a:solidFill>
              </a:endParaRPr>
            </a:p>
          </p:txBody>
        </p:sp>
        <p:sp>
          <p:nvSpPr>
            <p:cNvPr id="3089" name="Line 8">
              <a:extLst>
                <a:ext uri="{FF2B5EF4-FFF2-40B4-BE49-F238E27FC236}">
                  <a16:creationId xmlns:a16="http://schemas.microsoft.com/office/drawing/2014/main" id="{37EF5EAA-5DF6-33B6-BD4B-73D607C6C726}"/>
                </a:ext>
              </a:extLst>
            </p:cNvPr>
            <p:cNvSpPr>
              <a:spLocks noChangeShapeType="1"/>
            </p:cNvSpPr>
            <p:nvPr/>
          </p:nvSpPr>
          <p:spPr bwMode="auto">
            <a:xfrm flipH="1" flipV="1">
              <a:off x="1614223" y="2807923"/>
              <a:ext cx="3391696" cy="2294302"/>
            </a:xfrm>
            <a:prstGeom prst="line">
              <a:avLst/>
            </a:prstGeom>
            <a:ln>
              <a:headEnd type="none" w="sm" len="sm"/>
              <a:tailEnd type="none" w="sm" len="sm"/>
            </a:ln>
          </p:spPr>
          <p:style>
            <a:lnRef idx="2">
              <a:schemeClr val="accent1"/>
            </a:lnRef>
            <a:fillRef idx="0">
              <a:schemeClr val="accent1"/>
            </a:fillRef>
            <a:effectRef idx="1">
              <a:schemeClr val="accent1"/>
            </a:effectRef>
            <a:fontRef idx="minor">
              <a:schemeClr val="tx1"/>
            </a:fontRef>
          </p:style>
          <p:txBody>
            <a:bodyPr wrap="none" anchor="ctr"/>
            <a:lstStyle/>
            <a:p>
              <a:pPr>
                <a:defRPr/>
              </a:pPr>
              <a:endParaRPr lang="pl-PL">
                <a:solidFill>
                  <a:schemeClr val="accent5">
                    <a:lumMod val="50000"/>
                  </a:schemeClr>
                </a:solidFill>
              </a:endParaRPr>
            </a:p>
          </p:txBody>
        </p:sp>
        <p:sp>
          <p:nvSpPr>
            <p:cNvPr id="3090" name="Line 9">
              <a:extLst>
                <a:ext uri="{FF2B5EF4-FFF2-40B4-BE49-F238E27FC236}">
                  <a16:creationId xmlns:a16="http://schemas.microsoft.com/office/drawing/2014/main" id="{65CB41D9-7745-958B-21E1-F5CF45FE72A9}"/>
                </a:ext>
              </a:extLst>
            </p:cNvPr>
            <p:cNvSpPr>
              <a:spLocks noChangeShapeType="1"/>
            </p:cNvSpPr>
            <p:nvPr/>
          </p:nvSpPr>
          <p:spPr bwMode="auto">
            <a:xfrm flipH="1" flipV="1">
              <a:off x="1614223" y="3466770"/>
              <a:ext cx="2409561" cy="1631083"/>
            </a:xfrm>
            <a:prstGeom prst="line">
              <a:avLst/>
            </a:prstGeom>
            <a:ln>
              <a:headEnd type="none" w="sm" len="sm"/>
              <a:tailEnd type="none" w="sm" len="sm"/>
            </a:ln>
          </p:spPr>
          <p:style>
            <a:lnRef idx="2">
              <a:schemeClr val="accent1"/>
            </a:lnRef>
            <a:fillRef idx="0">
              <a:schemeClr val="accent1"/>
            </a:fillRef>
            <a:effectRef idx="1">
              <a:schemeClr val="accent1"/>
            </a:effectRef>
            <a:fontRef idx="minor">
              <a:schemeClr val="tx1"/>
            </a:fontRef>
          </p:style>
          <p:txBody>
            <a:bodyPr wrap="none" anchor="ctr"/>
            <a:lstStyle/>
            <a:p>
              <a:pPr>
                <a:defRPr/>
              </a:pPr>
              <a:endParaRPr lang="pl-PL">
                <a:solidFill>
                  <a:schemeClr val="accent5">
                    <a:lumMod val="50000"/>
                  </a:schemeClr>
                </a:solidFill>
              </a:endParaRPr>
            </a:p>
          </p:txBody>
        </p:sp>
        <p:sp>
          <p:nvSpPr>
            <p:cNvPr id="3092" name="Line 11">
              <a:extLst>
                <a:ext uri="{FF2B5EF4-FFF2-40B4-BE49-F238E27FC236}">
                  <a16:creationId xmlns:a16="http://schemas.microsoft.com/office/drawing/2014/main" id="{5CD68BAD-A085-D3CA-8F6D-A9E77B1E9CC2}"/>
                </a:ext>
              </a:extLst>
            </p:cNvPr>
            <p:cNvSpPr>
              <a:spLocks noChangeShapeType="1"/>
            </p:cNvSpPr>
            <p:nvPr/>
          </p:nvSpPr>
          <p:spPr bwMode="auto">
            <a:xfrm>
              <a:off x="2825246" y="4294701"/>
              <a:ext cx="0" cy="792948"/>
            </a:xfrm>
            <a:prstGeom prst="line">
              <a:avLst/>
            </a:prstGeom>
            <a:noFill/>
            <a:ln w="12700">
              <a:solidFill>
                <a:schemeClr val="tx1"/>
              </a:solidFill>
              <a:prstDash val="dash"/>
              <a:round/>
              <a:headEnd type="none" w="sm" len="sm"/>
              <a:tailEnd type="none" w="sm" len="sm"/>
            </a:ln>
          </p:spPr>
          <p:txBody>
            <a:bodyPr wrap="none" anchor="ctr"/>
            <a:lstStyle/>
            <a:p>
              <a:pPr>
                <a:defRPr/>
              </a:pPr>
              <a:endParaRPr lang="pl-PL">
                <a:solidFill>
                  <a:schemeClr val="accent5">
                    <a:lumMod val="50000"/>
                  </a:schemeClr>
                </a:solidFill>
                <a:latin typeface="Arial" charset="0"/>
              </a:endParaRPr>
            </a:p>
          </p:txBody>
        </p:sp>
        <p:sp>
          <p:nvSpPr>
            <p:cNvPr id="3093" name="Line 12">
              <a:extLst>
                <a:ext uri="{FF2B5EF4-FFF2-40B4-BE49-F238E27FC236}">
                  <a16:creationId xmlns:a16="http://schemas.microsoft.com/office/drawing/2014/main" id="{8357E8AE-C406-6853-9143-B0758520DBFB}"/>
                </a:ext>
              </a:extLst>
            </p:cNvPr>
            <p:cNvSpPr>
              <a:spLocks noChangeShapeType="1"/>
            </p:cNvSpPr>
            <p:nvPr/>
          </p:nvSpPr>
          <p:spPr bwMode="auto">
            <a:xfrm flipH="1">
              <a:off x="1614223" y="4294701"/>
              <a:ext cx="1211022" cy="0"/>
            </a:xfrm>
            <a:prstGeom prst="line">
              <a:avLst/>
            </a:prstGeom>
            <a:noFill/>
            <a:ln w="12700">
              <a:solidFill>
                <a:schemeClr val="tx1"/>
              </a:solidFill>
              <a:prstDash val="dash"/>
              <a:round/>
              <a:headEnd type="none" w="sm" len="sm"/>
              <a:tailEnd type="none" w="sm" len="sm"/>
            </a:ln>
          </p:spPr>
          <p:txBody>
            <a:bodyPr wrap="none" anchor="ctr"/>
            <a:lstStyle/>
            <a:p>
              <a:pPr>
                <a:defRPr/>
              </a:pPr>
              <a:endParaRPr lang="pl-PL">
                <a:solidFill>
                  <a:schemeClr val="accent5">
                    <a:lumMod val="50000"/>
                  </a:schemeClr>
                </a:solidFill>
                <a:latin typeface="Arial" charset="0"/>
              </a:endParaRPr>
            </a:p>
          </p:txBody>
        </p:sp>
        <p:sp>
          <p:nvSpPr>
            <p:cNvPr id="3094" name="Oval 13">
              <a:extLst>
                <a:ext uri="{FF2B5EF4-FFF2-40B4-BE49-F238E27FC236}">
                  <a16:creationId xmlns:a16="http://schemas.microsoft.com/office/drawing/2014/main" id="{74E00C39-15BC-DDA3-4A52-B46AFDEF149F}"/>
                </a:ext>
              </a:extLst>
            </p:cNvPr>
            <p:cNvSpPr>
              <a:spLocks noChangeArrowheads="1"/>
            </p:cNvSpPr>
            <p:nvPr/>
          </p:nvSpPr>
          <p:spPr bwMode="auto">
            <a:xfrm>
              <a:off x="2751725" y="4221819"/>
              <a:ext cx="134558" cy="139932"/>
            </a:xfrm>
            <a:prstGeom prst="ellipse">
              <a:avLst/>
            </a:prstGeom>
            <a:ln>
              <a:headEnd/>
              <a:tailEnd/>
            </a:ln>
          </p:spPr>
          <p:style>
            <a:lnRef idx="2">
              <a:schemeClr val="accent2"/>
            </a:lnRef>
            <a:fillRef idx="1">
              <a:schemeClr val="lt1"/>
            </a:fillRef>
            <a:effectRef idx="0">
              <a:schemeClr val="accent2"/>
            </a:effectRef>
            <a:fontRef idx="minor">
              <a:schemeClr val="dk1"/>
            </a:fontRef>
          </p:style>
          <p:txBody>
            <a:bodyPr wrap="none" anchor="ctr"/>
            <a:lstStyle/>
            <a:p>
              <a:pPr>
                <a:defRPr/>
              </a:pPr>
              <a:endParaRPr lang="pl-PL" sz="2000">
                <a:solidFill>
                  <a:schemeClr val="accent5">
                    <a:lumMod val="50000"/>
                  </a:schemeClr>
                </a:solidFill>
              </a:endParaRPr>
            </a:p>
          </p:txBody>
        </p:sp>
        <p:sp>
          <p:nvSpPr>
            <p:cNvPr id="3095" name="Rectangle 15">
              <a:extLst>
                <a:ext uri="{FF2B5EF4-FFF2-40B4-BE49-F238E27FC236}">
                  <a16:creationId xmlns:a16="http://schemas.microsoft.com/office/drawing/2014/main" id="{BCCAF01B-0785-6105-2FA9-D9D39C1451A7}"/>
                </a:ext>
              </a:extLst>
            </p:cNvPr>
            <p:cNvSpPr>
              <a:spLocks noChangeArrowheads="1"/>
            </p:cNvSpPr>
            <p:nvPr/>
          </p:nvSpPr>
          <p:spPr bwMode="auto">
            <a:xfrm>
              <a:off x="999695" y="4013380"/>
              <a:ext cx="387028" cy="367322"/>
            </a:xfrm>
            <a:prstGeom prst="rect">
              <a:avLst/>
            </a:prstGeom>
            <a:noFill/>
            <a:ln w="9525">
              <a:noFill/>
              <a:miter lim="800000"/>
              <a:headEnd/>
              <a:tailEnd/>
            </a:ln>
          </p:spPr>
          <p:txBody>
            <a:bodyPr wrap="none" lIns="92075" tIns="46038" rIns="92075" bIns="46038">
              <a:spAutoFit/>
            </a:bodyPr>
            <a:lstStyle/>
            <a:p>
              <a:pPr>
                <a:defRPr/>
              </a:pPr>
              <a:r>
                <a:rPr lang="pl-PL" sz="2000" dirty="0">
                  <a:solidFill>
                    <a:schemeClr val="accent5">
                      <a:lumMod val="50000"/>
                    </a:schemeClr>
                  </a:solidFill>
                  <a:latin typeface="Arial" charset="0"/>
                </a:rPr>
                <a:t>L</a:t>
              </a:r>
              <a:r>
                <a:rPr lang="en-US" sz="2000" dirty="0">
                  <a:solidFill>
                    <a:schemeClr val="accent5">
                      <a:lumMod val="50000"/>
                    </a:schemeClr>
                  </a:solidFill>
                  <a:latin typeface="Arial" charset="0"/>
                </a:rPr>
                <a:t>*</a:t>
              </a:r>
            </a:p>
          </p:txBody>
        </p:sp>
        <p:graphicFrame>
          <p:nvGraphicFramePr>
            <p:cNvPr id="6166" name="Object 18">
              <a:extLst>
                <a:ext uri="{FF2B5EF4-FFF2-40B4-BE49-F238E27FC236}">
                  <a16:creationId xmlns:a16="http://schemas.microsoft.com/office/drawing/2014/main" id="{09F62CFB-DDAD-1722-8A98-9B9038010F01}"/>
                </a:ext>
              </a:extLst>
            </p:cNvPr>
            <p:cNvGraphicFramePr>
              <a:graphicFrameLocks/>
            </p:cNvGraphicFramePr>
            <p:nvPr>
              <p:extLst>
                <p:ext uri="{D42A27DB-BD31-4B8C-83A1-F6EECF244321}">
                  <p14:modId xmlns:p14="http://schemas.microsoft.com/office/powerpoint/2010/main" val="3923403702"/>
                </p:ext>
              </p:extLst>
            </p:nvPr>
          </p:nvGraphicFramePr>
          <p:xfrm>
            <a:off x="2825245" y="2730503"/>
            <a:ext cx="1717349" cy="664843"/>
          </p:xfrm>
          <a:graphic>
            <a:graphicData uri="http://schemas.openxmlformats.org/presentationml/2006/ole">
              <mc:AlternateContent xmlns:mc="http://schemas.openxmlformats.org/markup-compatibility/2006">
                <mc:Choice xmlns:v="urn:schemas-microsoft-com:vml" Requires="v">
                  <p:oleObj name="Równanie" r:id="rId5" imgW="960156" imgH="365887" progId="Equation.3">
                    <p:embed/>
                  </p:oleObj>
                </mc:Choice>
                <mc:Fallback>
                  <p:oleObj name="Równanie" r:id="rId5" imgW="960156" imgH="365887" progId="Equation.3">
                    <p:embed/>
                    <p:pic>
                      <p:nvPicPr>
                        <p:cNvPr id="6166" name="Object 18">
                          <a:extLst>
                            <a:ext uri="{FF2B5EF4-FFF2-40B4-BE49-F238E27FC236}">
                              <a16:creationId xmlns:a16="http://schemas.microsoft.com/office/drawing/2014/main" id="{09F62CFB-DDAD-1722-8A98-9B9038010F01}"/>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25245" y="2730503"/>
                          <a:ext cx="1717349" cy="664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67" name="Object 19">
              <a:extLst>
                <a:ext uri="{FF2B5EF4-FFF2-40B4-BE49-F238E27FC236}">
                  <a16:creationId xmlns:a16="http://schemas.microsoft.com/office/drawing/2014/main" id="{68886473-244E-53EA-E9DE-14FD17CB4103}"/>
                </a:ext>
              </a:extLst>
            </p:cNvPr>
            <p:cNvGraphicFramePr>
              <a:graphicFrameLocks noChangeAspect="1"/>
            </p:cNvGraphicFramePr>
            <p:nvPr>
              <p:extLst>
                <p:ext uri="{D42A27DB-BD31-4B8C-83A1-F6EECF244321}">
                  <p14:modId xmlns:p14="http://schemas.microsoft.com/office/powerpoint/2010/main" val="2491628960"/>
                </p:ext>
              </p:extLst>
            </p:nvPr>
          </p:nvGraphicFramePr>
          <p:xfrm>
            <a:off x="4787191" y="3956497"/>
            <a:ext cx="709795" cy="985423"/>
          </p:xfrm>
          <a:graphic>
            <a:graphicData uri="http://schemas.openxmlformats.org/presentationml/2006/ole">
              <mc:AlternateContent xmlns:mc="http://schemas.openxmlformats.org/markup-compatibility/2006">
                <mc:Choice xmlns:v="urn:schemas-microsoft-com:vml" Requires="v">
                  <p:oleObj name="Równanie" r:id="rId7" imgW="279279" imgH="393529" progId="Equation.3">
                    <p:embed/>
                  </p:oleObj>
                </mc:Choice>
                <mc:Fallback>
                  <p:oleObj name="Równanie" r:id="rId7" imgW="279279" imgH="393529" progId="Equation.3">
                    <p:embed/>
                    <p:pic>
                      <p:nvPicPr>
                        <p:cNvPr id="6167" name="Object 19">
                          <a:extLst>
                            <a:ext uri="{FF2B5EF4-FFF2-40B4-BE49-F238E27FC236}">
                              <a16:creationId xmlns:a16="http://schemas.microsoft.com/office/drawing/2014/main" id="{68886473-244E-53EA-E9DE-14FD17CB410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87191" y="3956497"/>
                          <a:ext cx="709795" cy="985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6152" name="Object 21">
            <a:extLst>
              <a:ext uri="{FF2B5EF4-FFF2-40B4-BE49-F238E27FC236}">
                <a16:creationId xmlns:a16="http://schemas.microsoft.com/office/drawing/2014/main" id="{D1452951-CCF3-0EC9-D99E-CDC3D227700B}"/>
              </a:ext>
            </a:extLst>
          </p:cNvPr>
          <p:cNvGraphicFramePr>
            <a:graphicFrameLocks noChangeAspect="1"/>
          </p:cNvGraphicFramePr>
          <p:nvPr/>
        </p:nvGraphicFramePr>
        <p:xfrm>
          <a:off x="4333876" y="5645151"/>
          <a:ext cx="3167063" cy="911225"/>
        </p:xfrm>
        <a:graphic>
          <a:graphicData uri="http://schemas.openxmlformats.org/presentationml/2006/ole">
            <mc:AlternateContent xmlns:mc="http://schemas.openxmlformats.org/markup-compatibility/2006">
              <mc:Choice xmlns:v="urn:schemas-microsoft-com:vml" Requires="v">
                <p:oleObj name="Równanie" r:id="rId9" imgW="1409088" imgH="431613" progId="Equation.3">
                  <p:embed/>
                </p:oleObj>
              </mc:Choice>
              <mc:Fallback>
                <p:oleObj name="Równanie" r:id="rId9" imgW="1409088" imgH="431613" progId="Equation.3">
                  <p:embed/>
                  <p:pic>
                    <p:nvPicPr>
                      <p:cNvPr id="6152" name="Object 21">
                        <a:extLst>
                          <a:ext uri="{FF2B5EF4-FFF2-40B4-BE49-F238E27FC236}">
                            <a16:creationId xmlns:a16="http://schemas.microsoft.com/office/drawing/2014/main" id="{D1452951-CCF3-0EC9-D99E-CDC3D227700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33876" y="5645151"/>
                        <a:ext cx="3167063" cy="91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26" name="Łącznik prosty 25">
            <a:extLst>
              <a:ext uri="{FF2B5EF4-FFF2-40B4-BE49-F238E27FC236}">
                <a16:creationId xmlns:a16="http://schemas.microsoft.com/office/drawing/2014/main" id="{61D7FBBE-7294-ABED-454D-BCDCF4E49327}"/>
              </a:ext>
            </a:extLst>
          </p:cNvPr>
          <p:cNvCxnSpPr>
            <a:cxnSpLocks/>
          </p:cNvCxnSpPr>
          <p:nvPr/>
        </p:nvCxnSpPr>
        <p:spPr>
          <a:xfrm flipH="1">
            <a:off x="6067426" y="2995795"/>
            <a:ext cx="2765425" cy="1395231"/>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6154" name="Object 24">
            <a:extLst>
              <a:ext uri="{FF2B5EF4-FFF2-40B4-BE49-F238E27FC236}">
                <a16:creationId xmlns:a16="http://schemas.microsoft.com/office/drawing/2014/main" id="{E9187199-BD71-15C2-A6A3-7D7EC8EF792C}"/>
              </a:ext>
            </a:extLst>
          </p:cNvPr>
          <p:cNvGraphicFramePr>
            <a:graphicFrameLocks/>
          </p:cNvGraphicFramePr>
          <p:nvPr>
            <p:extLst>
              <p:ext uri="{D42A27DB-BD31-4B8C-83A1-F6EECF244321}">
                <p14:modId xmlns:p14="http://schemas.microsoft.com/office/powerpoint/2010/main" val="1997002226"/>
              </p:ext>
            </p:extLst>
          </p:nvPr>
        </p:nvGraphicFramePr>
        <p:xfrm>
          <a:off x="8855076" y="2109788"/>
          <a:ext cx="2498725" cy="1228725"/>
        </p:xfrm>
        <a:graphic>
          <a:graphicData uri="http://schemas.openxmlformats.org/presentationml/2006/ole">
            <mc:AlternateContent xmlns:mc="http://schemas.openxmlformats.org/markup-compatibility/2006">
              <mc:Choice xmlns:v="urn:schemas-microsoft-com:vml" Requires="v">
                <p:oleObj name="Równanie" r:id="rId11" imgW="754470" imgH="541089" progId="Equation.3">
                  <p:embed/>
                </p:oleObj>
              </mc:Choice>
              <mc:Fallback>
                <p:oleObj name="Równanie" r:id="rId11" imgW="754470" imgH="541089" progId="Equation.3">
                  <p:embed/>
                  <p:pic>
                    <p:nvPicPr>
                      <p:cNvPr id="6154" name="Object 24">
                        <a:extLst>
                          <a:ext uri="{FF2B5EF4-FFF2-40B4-BE49-F238E27FC236}">
                            <a16:creationId xmlns:a16="http://schemas.microsoft.com/office/drawing/2014/main" id="{E9187199-BD71-15C2-A6A3-7D7EC8EF792C}"/>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855076" y="2109788"/>
                        <a:ext cx="2498725" cy="122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25" name="Łącznik prosty 24">
            <a:extLst>
              <a:ext uri="{FF2B5EF4-FFF2-40B4-BE49-F238E27FC236}">
                <a16:creationId xmlns:a16="http://schemas.microsoft.com/office/drawing/2014/main" id="{3A925DEC-FD25-A7EC-8719-B008A00D8451}"/>
              </a:ext>
            </a:extLst>
          </p:cNvPr>
          <p:cNvCxnSpPr>
            <a:cxnSpLocks/>
            <a:stCxn id="6150" idx="1"/>
          </p:cNvCxnSpPr>
          <p:nvPr/>
        </p:nvCxnSpPr>
        <p:spPr>
          <a:xfrm flipH="1">
            <a:off x="3505201" y="1605576"/>
            <a:ext cx="1209674" cy="785199"/>
          </a:xfrm>
          <a:prstGeom prst="line">
            <a:avLst/>
          </a:prstGeom>
        </p:spPr>
        <p:style>
          <a:lnRef idx="1">
            <a:schemeClr val="accent1"/>
          </a:lnRef>
          <a:fillRef idx="0">
            <a:schemeClr val="accent1"/>
          </a:fillRef>
          <a:effectRef idx="0">
            <a:schemeClr val="accent1"/>
          </a:effectRef>
          <a:fontRef idx="minor">
            <a:schemeClr val="tx1"/>
          </a:fontRef>
        </p:style>
      </p:cxnSp>
      <p:sp>
        <p:nvSpPr>
          <p:cNvPr id="4" name="CustomShape 1">
            <a:extLst>
              <a:ext uri="{FF2B5EF4-FFF2-40B4-BE49-F238E27FC236}">
                <a16:creationId xmlns:a16="http://schemas.microsoft.com/office/drawing/2014/main" id="{DB615241-2C09-BCBC-15A5-AEE86B0AA848}"/>
              </a:ext>
            </a:extLst>
          </p:cNvPr>
          <p:cNvSpPr/>
          <p:nvPr/>
        </p:nvSpPr>
        <p:spPr>
          <a:xfrm>
            <a:off x="0" y="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lvl="1" algn="ctr">
              <a:lnSpc>
                <a:spcPct val="107000"/>
              </a:lnSpc>
              <a:spcAft>
                <a:spcPts val="800"/>
              </a:spcAft>
            </a:pPr>
            <a:r>
              <a:rPr lang="en-US" sz="40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The cost minimization problem</a:t>
            </a:r>
          </a:p>
        </p:txBody>
      </p:sp>
      <p:sp>
        <p:nvSpPr>
          <p:cNvPr id="2" name="Elipsa 33">
            <a:extLst>
              <a:ext uri="{FF2B5EF4-FFF2-40B4-BE49-F238E27FC236}">
                <a16:creationId xmlns:a16="http://schemas.microsoft.com/office/drawing/2014/main" id="{3765C03C-7D49-047C-4522-AA26A60E650D}"/>
              </a:ext>
            </a:extLst>
          </p:cNvPr>
          <p:cNvSpPr/>
          <p:nvPr/>
        </p:nvSpPr>
        <p:spPr>
          <a:xfrm>
            <a:off x="10255253" y="2410007"/>
            <a:ext cx="812285" cy="1171575"/>
          </a:xfrm>
          <a:prstGeom prst="ellipse">
            <a:avLst/>
          </a:prstGeom>
          <a:solidFill>
            <a:schemeClr val="accent1">
              <a:alpha val="0"/>
            </a:schemeClr>
          </a:solid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l-PL">
              <a:solidFill>
                <a:schemeClr val="accent5">
                  <a:lumMod val="50000"/>
                </a:schemeClr>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9" name="Object 3">
            <a:extLst>
              <a:ext uri="{FF2B5EF4-FFF2-40B4-BE49-F238E27FC236}">
                <a16:creationId xmlns:a16="http://schemas.microsoft.com/office/drawing/2014/main" id="{5A168F54-47FA-511F-FCD4-3847B695EDC3}"/>
              </a:ext>
            </a:extLst>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Równanie" r:id="rId2" imgW="114151" imgH="215619" progId="Equation.3">
                  <p:embed/>
                </p:oleObj>
              </mc:Choice>
              <mc:Fallback>
                <p:oleObj name="Równanie" r:id="rId2" imgW="114151" imgH="215619" progId="Equation.3">
                  <p:embed/>
                  <p:pic>
                    <p:nvPicPr>
                      <p:cNvPr id="14339" name="Object 3">
                        <a:extLst>
                          <a:ext uri="{FF2B5EF4-FFF2-40B4-BE49-F238E27FC236}">
                            <a16:creationId xmlns:a16="http://schemas.microsoft.com/office/drawing/2014/main" id="{5A168F54-47FA-511F-FCD4-3847B695ED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0" name="Object 4">
            <a:extLst>
              <a:ext uri="{FF2B5EF4-FFF2-40B4-BE49-F238E27FC236}">
                <a16:creationId xmlns:a16="http://schemas.microsoft.com/office/drawing/2014/main" id="{8CC6BB6D-1152-8641-6E13-595C60B8EC62}"/>
              </a:ext>
            </a:extLst>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name="Równanie" r:id="rId4" imgW="114151" imgH="215619" progId="Equation.3">
                  <p:embed/>
                </p:oleObj>
              </mc:Choice>
              <mc:Fallback>
                <p:oleObj name="Równanie" r:id="rId4" imgW="114151" imgH="215619" progId="Equation.3">
                  <p:embed/>
                  <p:pic>
                    <p:nvPicPr>
                      <p:cNvPr id="14340" name="Object 4">
                        <a:extLst>
                          <a:ext uri="{FF2B5EF4-FFF2-40B4-BE49-F238E27FC236}">
                            <a16:creationId xmlns:a16="http://schemas.microsoft.com/office/drawing/2014/main" id="{8CC6BB6D-1152-8641-6E13-595C60B8EC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8850" y="3321050"/>
                        <a:ext cx="114300" cy="215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1" name="Object 2">
            <a:extLst>
              <a:ext uri="{FF2B5EF4-FFF2-40B4-BE49-F238E27FC236}">
                <a16:creationId xmlns:a16="http://schemas.microsoft.com/office/drawing/2014/main" id="{3B174957-7F00-AAD9-5B5F-00839101EF52}"/>
              </a:ext>
            </a:extLst>
          </p:cNvPr>
          <p:cNvGraphicFramePr>
            <a:graphicFrameLocks/>
          </p:cNvGraphicFramePr>
          <p:nvPr>
            <p:extLst>
              <p:ext uri="{D42A27DB-BD31-4B8C-83A1-F6EECF244321}">
                <p14:modId xmlns:p14="http://schemas.microsoft.com/office/powerpoint/2010/main" val="2964881727"/>
              </p:ext>
            </p:extLst>
          </p:nvPr>
        </p:nvGraphicFramePr>
        <p:xfrm>
          <a:off x="511176" y="1253406"/>
          <a:ext cx="3670300" cy="695325"/>
        </p:xfrm>
        <a:graphic>
          <a:graphicData uri="http://schemas.openxmlformats.org/presentationml/2006/ole">
            <mc:AlternateContent xmlns:mc="http://schemas.openxmlformats.org/markup-compatibility/2006">
              <mc:Choice xmlns:v="urn:schemas-microsoft-com:vml" Requires="v">
                <p:oleObj name="Równanie" r:id="rId5" imgW="1020972" imgH="228536" progId="Equation.3">
                  <p:embed/>
                </p:oleObj>
              </mc:Choice>
              <mc:Fallback>
                <p:oleObj name="Równanie" r:id="rId5" imgW="1020972" imgH="228536" progId="Equation.3">
                  <p:embed/>
                  <p:pic>
                    <p:nvPicPr>
                      <p:cNvPr id="14341" name="Object 2">
                        <a:extLst>
                          <a:ext uri="{FF2B5EF4-FFF2-40B4-BE49-F238E27FC236}">
                            <a16:creationId xmlns:a16="http://schemas.microsoft.com/office/drawing/2014/main" id="{3B174957-7F00-AAD9-5B5F-00839101EF52}"/>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1176" y="1253406"/>
                        <a:ext cx="3670300"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42" name="Object 7">
            <a:extLst>
              <a:ext uri="{FF2B5EF4-FFF2-40B4-BE49-F238E27FC236}">
                <a16:creationId xmlns:a16="http://schemas.microsoft.com/office/drawing/2014/main" id="{B37F792E-D27C-55D6-30EC-FC0A39091093}"/>
              </a:ext>
            </a:extLst>
          </p:cNvPr>
          <p:cNvGraphicFramePr>
            <a:graphicFrameLocks/>
          </p:cNvGraphicFramePr>
          <p:nvPr>
            <p:extLst>
              <p:ext uri="{D42A27DB-BD31-4B8C-83A1-F6EECF244321}">
                <p14:modId xmlns:p14="http://schemas.microsoft.com/office/powerpoint/2010/main" val="2934945959"/>
              </p:ext>
            </p:extLst>
          </p:nvPr>
        </p:nvGraphicFramePr>
        <p:xfrm>
          <a:off x="7451090" y="1198810"/>
          <a:ext cx="2309496" cy="477838"/>
        </p:xfrm>
        <a:graphic>
          <a:graphicData uri="http://schemas.openxmlformats.org/presentationml/2006/ole">
            <mc:AlternateContent xmlns:mc="http://schemas.openxmlformats.org/markup-compatibility/2006">
              <mc:Choice xmlns:v="urn:schemas-microsoft-com:vml" Requires="v">
                <p:oleObj name="Równanie" r:id="rId7" imgW="716316" imgH="182944" progId="Equation.3">
                  <p:embed/>
                </p:oleObj>
              </mc:Choice>
              <mc:Fallback>
                <p:oleObj name="Równanie" r:id="rId7" imgW="716316" imgH="182944" progId="Equation.3">
                  <p:embed/>
                  <p:pic>
                    <p:nvPicPr>
                      <p:cNvPr id="14342" name="Object 7">
                        <a:extLst>
                          <a:ext uri="{FF2B5EF4-FFF2-40B4-BE49-F238E27FC236}">
                            <a16:creationId xmlns:a16="http://schemas.microsoft.com/office/drawing/2014/main" id="{B37F792E-D27C-55D6-30EC-FC0A39091093}"/>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51090" y="1198810"/>
                        <a:ext cx="2309496" cy="477838"/>
                      </a:xfrm>
                      <a:prstGeom prst="rect">
                        <a:avLst/>
                      </a:prstGeom>
                      <a:noFill/>
                      <a:ln>
                        <a:noFill/>
                      </a:ln>
                      <a:effectLst/>
                    </p:spPr>
                  </p:pic>
                </p:oleObj>
              </mc:Fallback>
            </mc:AlternateContent>
          </a:graphicData>
        </a:graphic>
      </p:graphicFrame>
      <p:graphicFrame>
        <p:nvGraphicFramePr>
          <p:cNvPr id="14344" name="Object 5">
            <a:extLst>
              <a:ext uri="{FF2B5EF4-FFF2-40B4-BE49-F238E27FC236}">
                <a16:creationId xmlns:a16="http://schemas.microsoft.com/office/drawing/2014/main" id="{34F8255C-E375-544F-4BF4-3D9A039A57A1}"/>
              </a:ext>
            </a:extLst>
          </p:cNvPr>
          <p:cNvGraphicFramePr>
            <a:graphicFrameLocks/>
          </p:cNvGraphicFramePr>
          <p:nvPr>
            <p:extLst>
              <p:ext uri="{D42A27DB-BD31-4B8C-83A1-F6EECF244321}">
                <p14:modId xmlns:p14="http://schemas.microsoft.com/office/powerpoint/2010/main" val="3505734745"/>
              </p:ext>
            </p:extLst>
          </p:nvPr>
        </p:nvGraphicFramePr>
        <p:xfrm>
          <a:off x="2120900" y="2302671"/>
          <a:ext cx="8215312" cy="477838"/>
        </p:xfrm>
        <a:graphic>
          <a:graphicData uri="http://schemas.openxmlformats.org/presentationml/2006/ole">
            <mc:AlternateContent xmlns:mc="http://schemas.openxmlformats.org/markup-compatibility/2006">
              <mc:Choice xmlns:v="urn:schemas-microsoft-com:vml" Requires="v">
                <p:oleObj name="Równanie" r:id="rId9" imgW="2430654" imgH="167746" progId="Equation.3">
                  <p:embed/>
                </p:oleObj>
              </mc:Choice>
              <mc:Fallback>
                <p:oleObj name="Równanie" r:id="rId9" imgW="2430654" imgH="167746" progId="Equation.3">
                  <p:embed/>
                  <p:pic>
                    <p:nvPicPr>
                      <p:cNvPr id="14344" name="Object 5">
                        <a:extLst>
                          <a:ext uri="{FF2B5EF4-FFF2-40B4-BE49-F238E27FC236}">
                            <a16:creationId xmlns:a16="http://schemas.microsoft.com/office/drawing/2014/main" id="{34F8255C-E375-544F-4BF4-3D9A039A57A1}"/>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20900" y="2302671"/>
                        <a:ext cx="8215312"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45" name="Object 6">
            <a:extLst>
              <a:ext uri="{FF2B5EF4-FFF2-40B4-BE49-F238E27FC236}">
                <a16:creationId xmlns:a16="http://schemas.microsoft.com/office/drawing/2014/main" id="{EE827621-D3DF-55C5-8A94-C21826638821}"/>
              </a:ext>
            </a:extLst>
          </p:cNvPr>
          <p:cNvGraphicFramePr>
            <a:graphicFrameLocks/>
          </p:cNvGraphicFramePr>
          <p:nvPr>
            <p:extLst>
              <p:ext uri="{D42A27DB-BD31-4B8C-83A1-F6EECF244321}">
                <p14:modId xmlns:p14="http://schemas.microsoft.com/office/powerpoint/2010/main" val="2713451496"/>
              </p:ext>
            </p:extLst>
          </p:nvPr>
        </p:nvGraphicFramePr>
        <p:xfrm>
          <a:off x="1336517" y="3545523"/>
          <a:ext cx="3983038" cy="2765425"/>
        </p:xfrm>
        <a:graphic>
          <a:graphicData uri="http://schemas.openxmlformats.org/presentationml/2006/ole">
            <mc:AlternateContent xmlns:mc="http://schemas.openxmlformats.org/markup-compatibility/2006">
              <mc:Choice xmlns:v="urn:schemas-microsoft-com:vml" Requires="v">
                <p:oleObj name="Równanie" r:id="rId11" imgW="914543" imgH="1082178" progId="Equation.3">
                  <p:embed/>
                </p:oleObj>
              </mc:Choice>
              <mc:Fallback>
                <p:oleObj name="Równanie" r:id="rId11" imgW="914543" imgH="1082178" progId="Equation.3">
                  <p:embed/>
                  <p:pic>
                    <p:nvPicPr>
                      <p:cNvPr id="14345" name="Object 6">
                        <a:extLst>
                          <a:ext uri="{FF2B5EF4-FFF2-40B4-BE49-F238E27FC236}">
                            <a16:creationId xmlns:a16="http://schemas.microsoft.com/office/drawing/2014/main" id="{EE827621-D3DF-55C5-8A94-C21826638821}"/>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36517" y="3545523"/>
                        <a:ext cx="3983038" cy="276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46" name="Oval 11">
            <a:extLst>
              <a:ext uri="{FF2B5EF4-FFF2-40B4-BE49-F238E27FC236}">
                <a16:creationId xmlns:a16="http://schemas.microsoft.com/office/drawing/2014/main" id="{F0153663-C56D-1305-1C2A-B47A0D2DDED3}"/>
              </a:ext>
            </a:extLst>
          </p:cNvPr>
          <p:cNvSpPr>
            <a:spLocks noChangeArrowheads="1"/>
          </p:cNvSpPr>
          <p:nvPr/>
        </p:nvSpPr>
        <p:spPr bwMode="auto">
          <a:xfrm>
            <a:off x="4580703" y="2355129"/>
            <a:ext cx="2218747" cy="508000"/>
          </a:xfrm>
          <a:prstGeom prst="ellipse">
            <a:avLst/>
          </a:prstGeom>
          <a:noFill/>
          <a:ln w="25400">
            <a:solidFill>
              <a:srgbClr val="C0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pl-PL" altLang="pl-PL" sz="2800">
              <a:latin typeface="Arial" panose="020B0604020202020204" pitchFamily="34" charset="0"/>
            </a:endParaRPr>
          </a:p>
        </p:txBody>
      </p:sp>
      <p:cxnSp>
        <p:nvCxnSpPr>
          <p:cNvPr id="19" name="Łącznik prosty ze strzałką 18">
            <a:extLst>
              <a:ext uri="{FF2B5EF4-FFF2-40B4-BE49-F238E27FC236}">
                <a16:creationId xmlns:a16="http://schemas.microsoft.com/office/drawing/2014/main" id="{E2010E27-B8E3-422F-63F3-7F15CBAB13FE}"/>
              </a:ext>
            </a:extLst>
          </p:cNvPr>
          <p:cNvCxnSpPr>
            <a:cxnSpLocks/>
          </p:cNvCxnSpPr>
          <p:nvPr/>
        </p:nvCxnSpPr>
        <p:spPr>
          <a:xfrm>
            <a:off x="5866607" y="2863129"/>
            <a:ext cx="1584483" cy="1627591"/>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sp>
        <p:nvSpPr>
          <p:cNvPr id="2" name="Elipsa 33">
            <a:extLst>
              <a:ext uri="{FF2B5EF4-FFF2-40B4-BE49-F238E27FC236}">
                <a16:creationId xmlns:a16="http://schemas.microsoft.com/office/drawing/2014/main" id="{47B89241-DD91-D8AA-A6C7-B7DEE389352E}"/>
              </a:ext>
            </a:extLst>
          </p:cNvPr>
          <p:cNvSpPr/>
          <p:nvPr/>
        </p:nvSpPr>
        <p:spPr>
          <a:xfrm>
            <a:off x="7510651" y="2009861"/>
            <a:ext cx="2689990" cy="1045389"/>
          </a:xfrm>
          <a:prstGeom prst="ellipse">
            <a:avLst/>
          </a:prstGeom>
          <a:solidFill>
            <a:schemeClr val="accent1">
              <a:alpha val="0"/>
            </a:schemeClr>
          </a:solid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l-PL">
              <a:solidFill>
                <a:schemeClr val="accent5">
                  <a:lumMod val="50000"/>
                </a:schemeClr>
              </a:solidFill>
            </a:endParaRPr>
          </a:p>
        </p:txBody>
      </p:sp>
      <p:sp>
        <p:nvSpPr>
          <p:cNvPr id="5" name="CustomShape 1">
            <a:extLst>
              <a:ext uri="{FF2B5EF4-FFF2-40B4-BE49-F238E27FC236}">
                <a16:creationId xmlns:a16="http://schemas.microsoft.com/office/drawing/2014/main" id="{8549DE06-2EBC-C2E8-8332-00EFF4FA8DBF}"/>
              </a:ext>
            </a:extLst>
          </p:cNvPr>
          <p:cNvSpPr/>
          <p:nvPr/>
        </p:nvSpPr>
        <p:spPr>
          <a:xfrm>
            <a:off x="0" y="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lvl="1" algn="ctr">
              <a:lnSpc>
                <a:spcPct val="107000"/>
              </a:lnSpc>
              <a:spcAft>
                <a:spcPts val="800"/>
              </a:spcAft>
            </a:pPr>
            <a:r>
              <a:rPr lang="en-US" sz="40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The cost minimization problem</a:t>
            </a:r>
          </a:p>
        </p:txBody>
      </p:sp>
      <p:sp>
        <p:nvSpPr>
          <p:cNvPr id="6" name="TextBox 5">
            <a:extLst>
              <a:ext uri="{FF2B5EF4-FFF2-40B4-BE49-F238E27FC236}">
                <a16:creationId xmlns:a16="http://schemas.microsoft.com/office/drawing/2014/main" id="{4B2FE26A-E734-A107-AB24-C6F63A2D9D63}"/>
              </a:ext>
            </a:extLst>
          </p:cNvPr>
          <p:cNvSpPr txBox="1"/>
          <p:nvPr/>
        </p:nvSpPr>
        <p:spPr>
          <a:xfrm>
            <a:off x="5186363" y="1230650"/>
            <a:ext cx="1613087" cy="461665"/>
          </a:xfrm>
          <a:prstGeom prst="rect">
            <a:avLst/>
          </a:prstGeom>
          <a:noFill/>
        </p:spPr>
        <p:txBody>
          <a:bodyPr wrap="square">
            <a:spAutoFit/>
          </a:bodyPr>
          <a:lstStyle/>
          <a:p>
            <a:r>
              <a:rPr lang="pl-PL" sz="2400" dirty="0" err="1">
                <a:solidFill>
                  <a:schemeClr val="accent5">
                    <a:lumMod val="50000"/>
                  </a:schemeClr>
                </a:solidFill>
              </a:rPr>
              <a:t>subject</a:t>
            </a:r>
            <a:r>
              <a:rPr lang="pl-PL" sz="2400" dirty="0">
                <a:solidFill>
                  <a:schemeClr val="accent5">
                    <a:lumMod val="50000"/>
                  </a:schemeClr>
                </a:solidFill>
              </a:rPr>
              <a:t> to</a:t>
            </a:r>
          </a:p>
        </p:txBody>
      </p:sp>
      <p:sp>
        <p:nvSpPr>
          <p:cNvPr id="11" name="TextBox 10">
            <a:extLst>
              <a:ext uri="{FF2B5EF4-FFF2-40B4-BE49-F238E27FC236}">
                <a16:creationId xmlns:a16="http://schemas.microsoft.com/office/drawing/2014/main" id="{E0A69C30-C0B2-5ABA-0D70-707C195F1E97}"/>
              </a:ext>
            </a:extLst>
          </p:cNvPr>
          <p:cNvSpPr txBox="1"/>
          <p:nvPr/>
        </p:nvSpPr>
        <p:spPr>
          <a:xfrm>
            <a:off x="6153150" y="4544070"/>
            <a:ext cx="2956084" cy="461665"/>
          </a:xfrm>
          <a:prstGeom prst="rect">
            <a:avLst/>
          </a:prstGeom>
          <a:noFill/>
        </p:spPr>
        <p:txBody>
          <a:bodyPr wrap="square">
            <a:spAutoFit/>
          </a:bodyPr>
          <a:lstStyle/>
          <a:p>
            <a:r>
              <a:rPr lang="pl-PL" sz="2400" dirty="0" err="1">
                <a:solidFill>
                  <a:schemeClr val="accent5">
                    <a:lumMod val="50000"/>
                  </a:schemeClr>
                </a:solidFill>
              </a:rPr>
              <a:t>Objective</a:t>
            </a:r>
            <a:r>
              <a:rPr lang="pl-PL" sz="2400" dirty="0">
                <a:solidFill>
                  <a:schemeClr val="accent5">
                    <a:lumMod val="50000"/>
                  </a:schemeClr>
                </a:solidFill>
              </a:rPr>
              <a:t> </a:t>
            </a:r>
            <a:r>
              <a:rPr lang="pl-PL" sz="2400" dirty="0" err="1">
                <a:solidFill>
                  <a:schemeClr val="accent5">
                    <a:lumMod val="50000"/>
                  </a:schemeClr>
                </a:solidFill>
              </a:rPr>
              <a:t>function</a:t>
            </a:r>
            <a:endParaRPr lang="pl-PL" sz="2400" dirty="0">
              <a:solidFill>
                <a:schemeClr val="accent5">
                  <a:lumMod val="50000"/>
                </a:schemeClr>
              </a:solidFill>
            </a:endParaRPr>
          </a:p>
        </p:txBody>
      </p:sp>
      <p:cxnSp>
        <p:nvCxnSpPr>
          <p:cNvPr id="12" name="Łącznik prosty ze strzałką 18">
            <a:extLst>
              <a:ext uri="{FF2B5EF4-FFF2-40B4-BE49-F238E27FC236}">
                <a16:creationId xmlns:a16="http://schemas.microsoft.com/office/drawing/2014/main" id="{A364A2BE-647B-738B-9D21-4024E472A662}"/>
              </a:ext>
            </a:extLst>
          </p:cNvPr>
          <p:cNvCxnSpPr>
            <a:cxnSpLocks/>
          </p:cNvCxnSpPr>
          <p:nvPr/>
        </p:nvCxnSpPr>
        <p:spPr>
          <a:xfrm>
            <a:off x="9044413" y="3073319"/>
            <a:ext cx="716173" cy="1045389"/>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6F5BD13D-1F0B-85F1-47C4-497BED4D8719}"/>
              </a:ext>
            </a:extLst>
          </p:cNvPr>
          <p:cNvSpPr txBox="1"/>
          <p:nvPr/>
        </p:nvSpPr>
        <p:spPr>
          <a:xfrm>
            <a:off x="9195990" y="4376192"/>
            <a:ext cx="2447370" cy="1938992"/>
          </a:xfrm>
          <a:prstGeom prst="rect">
            <a:avLst/>
          </a:prstGeom>
          <a:noFill/>
        </p:spPr>
        <p:txBody>
          <a:bodyPr wrap="square">
            <a:spAutoFit/>
          </a:bodyPr>
          <a:lstStyle/>
          <a:p>
            <a:pPr rtl="0"/>
            <a:r>
              <a:rPr lang="en-US" sz="2400" dirty="0">
                <a:solidFill>
                  <a:schemeClr val="accent5">
                    <a:lumMod val="50000"/>
                  </a:schemeClr>
                </a:solidFill>
              </a:rPr>
              <a:t>We use K and L to achieve the desired level of production with a given technology.</a:t>
            </a:r>
          </a:p>
        </p:txBody>
      </p:sp>
      <p:sp>
        <p:nvSpPr>
          <p:cNvPr id="18" name="TextBox 17">
            <a:extLst>
              <a:ext uri="{FF2B5EF4-FFF2-40B4-BE49-F238E27FC236}">
                <a16:creationId xmlns:a16="http://schemas.microsoft.com/office/drawing/2014/main" id="{1DAE711D-0FA5-031C-9662-779CEF66CA30}"/>
              </a:ext>
            </a:extLst>
          </p:cNvPr>
          <p:cNvSpPr txBox="1"/>
          <p:nvPr/>
        </p:nvSpPr>
        <p:spPr>
          <a:xfrm>
            <a:off x="371952" y="4697402"/>
            <a:ext cx="877809" cy="461665"/>
          </a:xfrm>
          <a:prstGeom prst="rect">
            <a:avLst/>
          </a:prstGeom>
          <a:noFill/>
        </p:spPr>
        <p:txBody>
          <a:bodyPr wrap="square">
            <a:spAutoFit/>
          </a:bodyPr>
          <a:lstStyle/>
          <a:p>
            <a:r>
              <a:rPr lang="pl-PL" sz="2400" b="1" dirty="0">
                <a:solidFill>
                  <a:schemeClr val="accent5">
                    <a:lumMod val="50000"/>
                  </a:schemeClr>
                </a:solidFill>
              </a:rPr>
              <a:t>F.O.C</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stomShape 1">
            <a:extLst>
              <a:ext uri="{FF2B5EF4-FFF2-40B4-BE49-F238E27FC236}">
                <a16:creationId xmlns:a16="http://schemas.microsoft.com/office/drawing/2014/main" id="{C7C60B0C-ABEE-9C89-0F69-F05B948D13DA}"/>
              </a:ext>
            </a:extLst>
          </p:cNvPr>
          <p:cNvSpPr/>
          <p:nvPr/>
        </p:nvSpPr>
        <p:spPr>
          <a:xfrm>
            <a:off x="0" y="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lvl="1" algn="ctr">
              <a:lnSpc>
                <a:spcPct val="107000"/>
              </a:lnSpc>
              <a:spcAft>
                <a:spcPts val="800"/>
              </a:spcAft>
            </a:pPr>
            <a:r>
              <a:rPr lang="en-US" sz="40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The cost minimization problem</a:t>
            </a:r>
          </a:p>
        </p:txBody>
      </p:sp>
      <p:sp>
        <p:nvSpPr>
          <p:cNvPr id="4" name="Prostokąt 3">
            <a:extLst>
              <a:ext uri="{FF2B5EF4-FFF2-40B4-BE49-F238E27FC236}">
                <a16:creationId xmlns:a16="http://schemas.microsoft.com/office/drawing/2014/main" id="{0B9D85F3-67D1-6214-CD14-7A5858F5BCA1}"/>
              </a:ext>
            </a:extLst>
          </p:cNvPr>
          <p:cNvSpPr/>
          <p:nvPr/>
        </p:nvSpPr>
        <p:spPr>
          <a:xfrm>
            <a:off x="264160" y="917912"/>
            <a:ext cx="5510370" cy="5940088"/>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en-US" sz="1000" dirty="0">
                <a:solidFill>
                  <a:schemeClr val="accent5">
                    <a:lumMod val="50000"/>
                  </a:schemeClr>
                </a:solidFill>
              </a:rPr>
              <a:t>kill(all)$ /* Clear all previous definitions and variables */</a:t>
            </a:r>
          </a:p>
          <a:p>
            <a:pPr>
              <a:defRPr/>
            </a:pPr>
            <a:endParaRPr lang="en-US" sz="1000" dirty="0">
              <a:solidFill>
                <a:schemeClr val="accent5">
                  <a:lumMod val="50000"/>
                </a:schemeClr>
              </a:solidFill>
            </a:endParaRPr>
          </a:p>
          <a:p>
            <a:pPr>
              <a:defRPr/>
            </a:pPr>
            <a:r>
              <a:rPr lang="en-US" sz="1000" dirty="0">
                <a:solidFill>
                  <a:schemeClr val="accent5">
                    <a:lumMod val="50000"/>
                  </a:schemeClr>
                </a:solidFill>
              </a:rPr>
              <a:t>assume(K&gt;0, L&gt;0, r&gt;0, w&gt;0, Y&gt;0, lambda&gt;0, a&gt;0, b&gt;0, a&lt;1, b&lt;1, _Y&gt;0, A&gt;0)$ </a:t>
            </a:r>
          </a:p>
          <a:p>
            <a:pPr>
              <a:defRPr/>
            </a:pPr>
            <a:r>
              <a:rPr lang="en-US" sz="1000" dirty="0">
                <a:solidFill>
                  <a:schemeClr val="accent5">
                    <a:lumMod val="50000"/>
                  </a:schemeClr>
                </a:solidFill>
              </a:rPr>
              <a:t>/* Set assumptions for variables: K, L, r, w, Y, lambda, a, b, _Y as positive.</a:t>
            </a:r>
          </a:p>
          <a:p>
            <a:pPr>
              <a:defRPr/>
            </a:pPr>
            <a:r>
              <a:rPr lang="en-US" sz="1000" dirty="0">
                <a:solidFill>
                  <a:schemeClr val="accent5">
                    <a:lumMod val="50000"/>
                  </a:schemeClr>
                </a:solidFill>
              </a:rPr>
              <a:t>   Also, a and b are between 0 and 1 */</a:t>
            </a:r>
          </a:p>
          <a:p>
            <a:pPr>
              <a:defRPr/>
            </a:pPr>
            <a:endParaRPr lang="en-US" sz="1000" dirty="0">
              <a:solidFill>
                <a:schemeClr val="accent5">
                  <a:lumMod val="50000"/>
                </a:schemeClr>
              </a:solidFill>
            </a:endParaRPr>
          </a:p>
          <a:p>
            <a:pPr>
              <a:defRPr/>
            </a:pPr>
            <a:r>
              <a:rPr lang="en-US" sz="1000" dirty="0">
                <a:solidFill>
                  <a:schemeClr val="accent5">
                    <a:lumMod val="50000"/>
                  </a:schemeClr>
                </a:solidFill>
              </a:rPr>
              <a:t>declare(a, constant, b, constant, A, constant)$ </a:t>
            </a:r>
          </a:p>
          <a:p>
            <a:pPr>
              <a:defRPr/>
            </a:pPr>
            <a:r>
              <a:rPr lang="en-US" sz="1000" dirty="0">
                <a:solidFill>
                  <a:schemeClr val="accent5">
                    <a:lumMod val="50000"/>
                  </a:schemeClr>
                </a:solidFill>
              </a:rPr>
              <a:t>declare(a, </a:t>
            </a:r>
            <a:r>
              <a:rPr lang="en-US" sz="1000" dirty="0" err="1">
                <a:solidFill>
                  <a:schemeClr val="accent5">
                    <a:lumMod val="50000"/>
                  </a:schemeClr>
                </a:solidFill>
              </a:rPr>
              <a:t>noninteger</a:t>
            </a:r>
            <a:r>
              <a:rPr lang="en-US" sz="1000" dirty="0">
                <a:solidFill>
                  <a:schemeClr val="accent5">
                    <a:lumMod val="50000"/>
                  </a:schemeClr>
                </a:solidFill>
              </a:rPr>
              <a:t>, b, </a:t>
            </a:r>
            <a:r>
              <a:rPr lang="en-US" sz="1000" dirty="0" err="1">
                <a:solidFill>
                  <a:schemeClr val="accent5">
                    <a:lumMod val="50000"/>
                  </a:schemeClr>
                </a:solidFill>
              </a:rPr>
              <a:t>noninteger</a:t>
            </a:r>
            <a:r>
              <a:rPr lang="en-US" sz="1000" dirty="0">
                <a:solidFill>
                  <a:schemeClr val="accent5">
                    <a:lumMod val="50000"/>
                  </a:schemeClr>
                </a:solidFill>
              </a:rPr>
              <a:t>); </a:t>
            </a:r>
          </a:p>
          <a:p>
            <a:pPr>
              <a:defRPr/>
            </a:pPr>
            <a:r>
              <a:rPr lang="en-US" sz="1000" dirty="0">
                <a:solidFill>
                  <a:schemeClr val="accent5">
                    <a:lumMod val="50000"/>
                  </a:schemeClr>
                </a:solidFill>
              </a:rPr>
              <a:t>/* Declare 'a' and 'b' as non-integer values for further symbolic manipulation */</a:t>
            </a:r>
          </a:p>
          <a:p>
            <a:pPr>
              <a:defRPr/>
            </a:pPr>
            <a:r>
              <a:rPr lang="en-US" sz="1000" dirty="0">
                <a:solidFill>
                  <a:schemeClr val="accent5">
                    <a:lumMod val="50000"/>
                  </a:schemeClr>
                </a:solidFill>
              </a:rPr>
              <a:t>/* Declare 'a', 'b', and 'A' as constants for symbolic manipulation */</a:t>
            </a:r>
          </a:p>
          <a:p>
            <a:pPr>
              <a:defRPr/>
            </a:pPr>
            <a:endParaRPr lang="en-US" sz="1000" dirty="0">
              <a:solidFill>
                <a:schemeClr val="accent5">
                  <a:lumMod val="50000"/>
                </a:schemeClr>
              </a:solidFill>
            </a:endParaRPr>
          </a:p>
          <a:p>
            <a:pPr>
              <a:defRPr/>
            </a:pPr>
            <a:r>
              <a:rPr lang="en-US" sz="1000" dirty="0">
                <a:solidFill>
                  <a:schemeClr val="accent5">
                    <a:lumMod val="50000"/>
                  </a:schemeClr>
                </a:solidFill>
              </a:rPr>
              <a:t>Y: A * (K^(a)) * (L^(b))$ </a:t>
            </a:r>
          </a:p>
          <a:p>
            <a:pPr>
              <a:defRPr/>
            </a:pPr>
            <a:r>
              <a:rPr lang="en-US" sz="1000" dirty="0">
                <a:solidFill>
                  <a:schemeClr val="accent5">
                    <a:lumMod val="50000"/>
                  </a:schemeClr>
                </a:solidFill>
              </a:rPr>
              <a:t>/* Define the production function Y as a function of K and L with scaling factor A and exponents a and b */</a:t>
            </a:r>
          </a:p>
          <a:p>
            <a:pPr>
              <a:defRPr/>
            </a:pPr>
            <a:endParaRPr lang="en-US" sz="1000" dirty="0">
              <a:solidFill>
                <a:schemeClr val="accent5">
                  <a:lumMod val="50000"/>
                </a:schemeClr>
              </a:solidFill>
            </a:endParaRPr>
          </a:p>
          <a:p>
            <a:pPr>
              <a:defRPr/>
            </a:pPr>
            <a:r>
              <a:rPr lang="en-US" sz="1000" dirty="0" err="1">
                <a:solidFill>
                  <a:schemeClr val="accent5">
                    <a:lumMod val="50000"/>
                  </a:schemeClr>
                </a:solidFill>
              </a:rPr>
              <a:t>Lagr</a:t>
            </a:r>
            <a:r>
              <a:rPr lang="en-US" sz="1000" dirty="0">
                <a:solidFill>
                  <a:schemeClr val="accent5">
                    <a:lumMod val="50000"/>
                  </a:schemeClr>
                </a:solidFill>
              </a:rPr>
              <a:t>: (r * K + w * L) + lambda * (_Y - Y)$ </a:t>
            </a:r>
          </a:p>
          <a:p>
            <a:pPr>
              <a:defRPr/>
            </a:pPr>
            <a:r>
              <a:rPr lang="en-US" sz="1000" dirty="0">
                <a:solidFill>
                  <a:schemeClr val="accent5">
                    <a:lumMod val="50000"/>
                  </a:schemeClr>
                </a:solidFill>
              </a:rPr>
              <a:t>/* Define the </a:t>
            </a:r>
            <a:r>
              <a:rPr lang="en-US" sz="1000" dirty="0" err="1">
                <a:solidFill>
                  <a:schemeClr val="accent5">
                    <a:lumMod val="50000"/>
                  </a:schemeClr>
                </a:solidFill>
              </a:rPr>
              <a:t>Lagrangian</a:t>
            </a:r>
            <a:r>
              <a:rPr lang="en-US" sz="1000" dirty="0">
                <a:solidFill>
                  <a:schemeClr val="accent5">
                    <a:lumMod val="50000"/>
                  </a:schemeClr>
                </a:solidFill>
              </a:rPr>
              <a:t> function with the objective function (r * K + w * L) </a:t>
            </a:r>
          </a:p>
          <a:p>
            <a:pPr>
              <a:defRPr/>
            </a:pPr>
            <a:r>
              <a:rPr lang="en-US" sz="1000" dirty="0">
                <a:solidFill>
                  <a:schemeClr val="accent5">
                    <a:lumMod val="50000"/>
                  </a:schemeClr>
                </a:solidFill>
              </a:rPr>
              <a:t>   and the constraint (_Y - Y) multiplied by lambda */</a:t>
            </a:r>
          </a:p>
          <a:p>
            <a:pPr>
              <a:defRPr/>
            </a:pPr>
            <a:endParaRPr lang="en-US" sz="1000" dirty="0">
              <a:solidFill>
                <a:schemeClr val="accent5">
                  <a:lumMod val="50000"/>
                </a:schemeClr>
              </a:solidFill>
            </a:endParaRPr>
          </a:p>
          <a:p>
            <a:pPr>
              <a:defRPr/>
            </a:pPr>
            <a:r>
              <a:rPr lang="en-US" sz="1000" dirty="0">
                <a:solidFill>
                  <a:schemeClr val="accent5">
                    <a:lumMod val="50000"/>
                  </a:schemeClr>
                </a:solidFill>
              </a:rPr>
              <a:t>eq1: diff(</a:t>
            </a:r>
            <a:r>
              <a:rPr lang="en-US" sz="1000" dirty="0" err="1">
                <a:solidFill>
                  <a:schemeClr val="accent5">
                    <a:lumMod val="50000"/>
                  </a:schemeClr>
                </a:solidFill>
              </a:rPr>
              <a:t>Lagr</a:t>
            </a:r>
            <a:r>
              <a:rPr lang="en-US" sz="1000" dirty="0">
                <a:solidFill>
                  <a:schemeClr val="accent5">
                    <a:lumMod val="50000"/>
                  </a:schemeClr>
                </a:solidFill>
              </a:rPr>
              <a:t>, K, 1) = 0$ /* First-order condition with respect to K */</a:t>
            </a:r>
          </a:p>
          <a:p>
            <a:pPr>
              <a:defRPr/>
            </a:pPr>
            <a:r>
              <a:rPr lang="en-US" sz="1000" dirty="0">
                <a:solidFill>
                  <a:schemeClr val="accent5">
                    <a:lumMod val="50000"/>
                  </a:schemeClr>
                </a:solidFill>
              </a:rPr>
              <a:t>eq2: diff(</a:t>
            </a:r>
            <a:r>
              <a:rPr lang="en-US" sz="1000" dirty="0" err="1">
                <a:solidFill>
                  <a:schemeClr val="accent5">
                    <a:lumMod val="50000"/>
                  </a:schemeClr>
                </a:solidFill>
              </a:rPr>
              <a:t>Lagr</a:t>
            </a:r>
            <a:r>
              <a:rPr lang="en-US" sz="1000" dirty="0">
                <a:solidFill>
                  <a:schemeClr val="accent5">
                    <a:lumMod val="50000"/>
                  </a:schemeClr>
                </a:solidFill>
              </a:rPr>
              <a:t>, L, 1) = 0$ /* First-order condition with respect to L */</a:t>
            </a:r>
          </a:p>
          <a:p>
            <a:pPr>
              <a:defRPr/>
            </a:pPr>
            <a:r>
              <a:rPr lang="en-US" sz="1000" dirty="0">
                <a:solidFill>
                  <a:schemeClr val="accent5">
                    <a:lumMod val="50000"/>
                  </a:schemeClr>
                </a:solidFill>
              </a:rPr>
              <a:t>eq3: diff(</a:t>
            </a:r>
            <a:r>
              <a:rPr lang="en-US" sz="1000" dirty="0" err="1">
                <a:solidFill>
                  <a:schemeClr val="accent5">
                    <a:lumMod val="50000"/>
                  </a:schemeClr>
                </a:solidFill>
              </a:rPr>
              <a:t>Lagr</a:t>
            </a:r>
            <a:r>
              <a:rPr lang="en-US" sz="1000" dirty="0">
                <a:solidFill>
                  <a:schemeClr val="accent5">
                    <a:lumMod val="50000"/>
                  </a:schemeClr>
                </a:solidFill>
              </a:rPr>
              <a:t>, lambda, 1) = 0$ /* First-order condition with respect to lambda (constraint) */</a:t>
            </a:r>
          </a:p>
          <a:p>
            <a:pPr>
              <a:defRPr/>
            </a:pPr>
            <a:endParaRPr lang="en-US" sz="1000" dirty="0">
              <a:solidFill>
                <a:schemeClr val="accent5">
                  <a:lumMod val="50000"/>
                </a:schemeClr>
              </a:solidFill>
            </a:endParaRPr>
          </a:p>
          <a:p>
            <a:pPr>
              <a:defRPr/>
            </a:pPr>
            <a:r>
              <a:rPr lang="en-US" sz="1000" dirty="0">
                <a:solidFill>
                  <a:schemeClr val="accent5">
                    <a:lumMod val="50000"/>
                  </a:schemeClr>
                </a:solidFill>
              </a:rPr>
              <a:t>/* Solve the equations sequentially since direct substitution does not work */</a:t>
            </a:r>
          </a:p>
          <a:p>
            <a:pPr>
              <a:defRPr/>
            </a:pPr>
            <a:endParaRPr lang="en-US" sz="1000" dirty="0">
              <a:solidFill>
                <a:schemeClr val="accent5">
                  <a:lumMod val="50000"/>
                </a:schemeClr>
              </a:solidFill>
            </a:endParaRPr>
          </a:p>
          <a:p>
            <a:pPr>
              <a:defRPr/>
            </a:pPr>
            <a:r>
              <a:rPr lang="en-US" sz="1000" dirty="0">
                <a:solidFill>
                  <a:schemeClr val="accent5">
                    <a:lumMod val="50000"/>
                  </a:schemeClr>
                </a:solidFill>
              </a:rPr>
              <a:t>/* From the third equation, solve for K */</a:t>
            </a:r>
          </a:p>
          <a:p>
            <a:pPr>
              <a:defRPr/>
            </a:pPr>
            <a:r>
              <a:rPr lang="en-US" sz="1000" dirty="0">
                <a:solidFill>
                  <a:schemeClr val="accent5">
                    <a:lumMod val="50000"/>
                  </a:schemeClr>
                </a:solidFill>
              </a:rPr>
              <a:t>solve(eq3, K)$ K: </a:t>
            </a:r>
            <a:r>
              <a:rPr lang="en-US" sz="1000" dirty="0" err="1">
                <a:solidFill>
                  <a:schemeClr val="accent5">
                    <a:lumMod val="50000"/>
                  </a:schemeClr>
                </a:solidFill>
              </a:rPr>
              <a:t>rhs</a:t>
            </a:r>
            <a:r>
              <a:rPr lang="en-US" sz="1000" dirty="0">
                <a:solidFill>
                  <a:schemeClr val="accent5">
                    <a:lumMod val="50000"/>
                  </a:schemeClr>
                </a:solidFill>
              </a:rPr>
              <a:t>(%[1])$ /* Extract the value of K from the solution */</a:t>
            </a:r>
          </a:p>
          <a:p>
            <a:pPr>
              <a:defRPr/>
            </a:pPr>
            <a:endParaRPr lang="en-US" sz="1000" dirty="0">
              <a:solidFill>
                <a:schemeClr val="accent5">
                  <a:lumMod val="50000"/>
                </a:schemeClr>
              </a:solidFill>
            </a:endParaRPr>
          </a:p>
          <a:p>
            <a:pPr>
              <a:defRPr/>
            </a:pPr>
            <a:r>
              <a:rPr lang="en-US" sz="1000" dirty="0">
                <a:solidFill>
                  <a:schemeClr val="accent5">
                    <a:lumMod val="50000"/>
                  </a:schemeClr>
                </a:solidFill>
              </a:rPr>
              <a:t>/* From the second equation, solve for lambda */</a:t>
            </a:r>
          </a:p>
          <a:p>
            <a:pPr>
              <a:defRPr/>
            </a:pPr>
            <a:r>
              <a:rPr lang="en-US" sz="1000" dirty="0">
                <a:solidFill>
                  <a:schemeClr val="accent5">
                    <a:lumMod val="50000"/>
                  </a:schemeClr>
                </a:solidFill>
              </a:rPr>
              <a:t>solve(''eq2, lambda)$ lambda: ''</a:t>
            </a:r>
            <a:r>
              <a:rPr lang="en-US" sz="1000" dirty="0" err="1">
                <a:solidFill>
                  <a:schemeClr val="accent5">
                    <a:lumMod val="50000"/>
                  </a:schemeClr>
                </a:solidFill>
              </a:rPr>
              <a:t>rhs</a:t>
            </a:r>
            <a:r>
              <a:rPr lang="en-US" sz="1000" dirty="0">
                <a:solidFill>
                  <a:schemeClr val="accent5">
                    <a:lumMod val="50000"/>
                  </a:schemeClr>
                </a:solidFill>
              </a:rPr>
              <a:t>(%[1])$ /* Extract the value of lambda from the solution */</a:t>
            </a:r>
          </a:p>
          <a:p>
            <a:pPr>
              <a:defRPr/>
            </a:pPr>
            <a:endParaRPr lang="en-US" sz="1000" dirty="0">
              <a:solidFill>
                <a:schemeClr val="accent5">
                  <a:lumMod val="50000"/>
                </a:schemeClr>
              </a:solidFill>
            </a:endParaRPr>
          </a:p>
          <a:p>
            <a:pPr>
              <a:defRPr/>
            </a:pPr>
            <a:r>
              <a:rPr lang="en-US" sz="1000" dirty="0">
                <a:solidFill>
                  <a:schemeClr val="accent5">
                    <a:lumMod val="50000"/>
                  </a:schemeClr>
                </a:solidFill>
              </a:rPr>
              <a:t>/* From the first equation, solve for L */</a:t>
            </a:r>
          </a:p>
          <a:p>
            <a:pPr>
              <a:defRPr/>
            </a:pPr>
            <a:r>
              <a:rPr lang="en-US" sz="1000" dirty="0">
                <a:solidFill>
                  <a:schemeClr val="accent5">
                    <a:lumMod val="50000"/>
                  </a:schemeClr>
                </a:solidFill>
              </a:rPr>
              <a:t>solve(''eq1, L)$ L: </a:t>
            </a:r>
            <a:r>
              <a:rPr lang="en-US" sz="1000" dirty="0" err="1">
                <a:solidFill>
                  <a:schemeClr val="accent5">
                    <a:lumMod val="50000"/>
                  </a:schemeClr>
                </a:solidFill>
              </a:rPr>
              <a:t>rhs</a:t>
            </a:r>
            <a:r>
              <a:rPr lang="en-US" sz="1000" dirty="0">
                <a:solidFill>
                  <a:schemeClr val="accent5">
                    <a:lumMod val="50000"/>
                  </a:schemeClr>
                </a:solidFill>
              </a:rPr>
              <a:t>(%[1])$ /* Extract the value of L from the solution */</a:t>
            </a:r>
          </a:p>
          <a:p>
            <a:pPr>
              <a:defRPr/>
            </a:pPr>
            <a:endParaRPr lang="en-US" sz="1000" dirty="0">
              <a:solidFill>
                <a:schemeClr val="accent5">
                  <a:lumMod val="50000"/>
                </a:schemeClr>
              </a:solidFill>
            </a:endParaRPr>
          </a:p>
          <a:p>
            <a:pPr>
              <a:defRPr/>
            </a:pPr>
            <a:r>
              <a:rPr lang="en-US" sz="1000" dirty="0">
                <a:solidFill>
                  <a:schemeClr val="accent5">
                    <a:lumMod val="50000"/>
                  </a:schemeClr>
                </a:solidFill>
              </a:rPr>
              <a:t>/* Display the final values of L, K, and lambda */</a:t>
            </a:r>
          </a:p>
          <a:p>
            <a:pPr>
              <a:defRPr/>
            </a:pPr>
            <a:r>
              <a:rPr lang="en-US" sz="1000" dirty="0">
                <a:solidFill>
                  <a:schemeClr val="accent5">
                    <a:lumMod val="50000"/>
                  </a:schemeClr>
                </a:solidFill>
              </a:rPr>
              <a:t>print("Optimal value of L:", ''L)$</a:t>
            </a:r>
          </a:p>
          <a:p>
            <a:pPr>
              <a:defRPr/>
            </a:pPr>
            <a:r>
              <a:rPr lang="en-US" sz="1000" dirty="0">
                <a:solidFill>
                  <a:schemeClr val="accent5">
                    <a:lumMod val="50000"/>
                  </a:schemeClr>
                </a:solidFill>
              </a:rPr>
              <a:t>print("Optimal value of K:", ''K)$</a:t>
            </a:r>
          </a:p>
          <a:p>
            <a:pPr>
              <a:defRPr/>
            </a:pPr>
            <a:r>
              <a:rPr lang="en-US" sz="1000" dirty="0">
                <a:solidFill>
                  <a:schemeClr val="accent5">
                    <a:lumMod val="50000"/>
                  </a:schemeClr>
                </a:solidFill>
              </a:rPr>
              <a:t>print("Optimal value of lambda:", ''lambda)$</a:t>
            </a:r>
            <a:endParaRPr lang="pl-PL" sz="1000" dirty="0">
              <a:solidFill>
                <a:schemeClr val="accent5">
                  <a:lumMod val="50000"/>
                </a:schemeClr>
              </a:solidFill>
            </a:endParaRPr>
          </a:p>
        </p:txBody>
      </p:sp>
      <p:pic>
        <p:nvPicPr>
          <p:cNvPr id="15364" name="Picture 2">
            <a:extLst>
              <a:ext uri="{FF2B5EF4-FFF2-40B4-BE49-F238E27FC236}">
                <a16:creationId xmlns:a16="http://schemas.microsoft.com/office/drawing/2014/main" id="{E1BD69DC-89A1-A9BC-0B3E-4F195197AC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9661" y="2295523"/>
            <a:ext cx="2698749"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cxnSp>
        <p:nvCxnSpPr>
          <p:cNvPr id="6" name="Łącznik prosty ze strzałką 5">
            <a:extLst>
              <a:ext uri="{FF2B5EF4-FFF2-40B4-BE49-F238E27FC236}">
                <a16:creationId xmlns:a16="http://schemas.microsoft.com/office/drawing/2014/main" id="{DC018552-CBE5-0CF2-B623-8A28B0D9E603}"/>
              </a:ext>
            </a:extLst>
          </p:cNvPr>
          <p:cNvCxnSpPr>
            <a:cxnSpLocks/>
            <a:stCxn id="15366" idx="2"/>
          </p:cNvCxnSpPr>
          <p:nvPr/>
        </p:nvCxnSpPr>
        <p:spPr>
          <a:xfrm flipH="1">
            <a:off x="4267200" y="2962272"/>
            <a:ext cx="1635128" cy="1071248"/>
          </a:xfrm>
          <a:prstGeom prst="straightConnector1">
            <a:avLst/>
          </a:prstGeom>
          <a:ln>
            <a:solidFill>
              <a:srgbClr val="C00000"/>
            </a:solidFill>
            <a:tailEnd type="arrow"/>
          </a:ln>
        </p:spPr>
        <p:style>
          <a:lnRef idx="1">
            <a:schemeClr val="accent5"/>
          </a:lnRef>
          <a:fillRef idx="0">
            <a:schemeClr val="accent5"/>
          </a:fillRef>
          <a:effectRef idx="0">
            <a:schemeClr val="accent5"/>
          </a:effectRef>
          <a:fontRef idx="minor">
            <a:schemeClr val="tx1"/>
          </a:fontRef>
        </p:style>
      </p:cxnSp>
      <p:sp>
        <p:nvSpPr>
          <p:cNvPr id="15366" name="Oval 11">
            <a:extLst>
              <a:ext uri="{FF2B5EF4-FFF2-40B4-BE49-F238E27FC236}">
                <a16:creationId xmlns:a16="http://schemas.microsoft.com/office/drawing/2014/main" id="{0ACB3727-9F92-92FE-4AD5-7F95494C6374}"/>
              </a:ext>
            </a:extLst>
          </p:cNvPr>
          <p:cNvSpPr>
            <a:spLocks noChangeArrowheads="1"/>
          </p:cNvSpPr>
          <p:nvPr/>
        </p:nvSpPr>
        <p:spPr bwMode="auto">
          <a:xfrm flipV="1">
            <a:off x="5902328" y="2128835"/>
            <a:ext cx="5720712" cy="1666875"/>
          </a:xfrm>
          <a:prstGeom prst="ellipse">
            <a:avLst/>
          </a:prstGeom>
          <a:noFill/>
          <a:ln w="25400">
            <a:solidFill>
              <a:srgbClr val="C0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pl-PL" altLang="pl-PL" sz="2800">
              <a:latin typeface="Arial" panose="020B0604020202020204" pitchFamily="34" charset="0"/>
            </a:endParaRPr>
          </a:p>
        </p:txBody>
      </p:sp>
      <p:graphicFrame>
        <p:nvGraphicFramePr>
          <p:cNvPr id="15367" name="Object 6">
            <a:extLst>
              <a:ext uri="{FF2B5EF4-FFF2-40B4-BE49-F238E27FC236}">
                <a16:creationId xmlns:a16="http://schemas.microsoft.com/office/drawing/2014/main" id="{8C63F18E-AE36-16DB-9B4B-EEA8DF5F6605}"/>
              </a:ext>
            </a:extLst>
          </p:cNvPr>
          <p:cNvGraphicFramePr>
            <a:graphicFrameLocks/>
          </p:cNvGraphicFramePr>
          <p:nvPr>
            <p:extLst>
              <p:ext uri="{D42A27DB-BD31-4B8C-83A1-F6EECF244321}">
                <p14:modId xmlns:p14="http://schemas.microsoft.com/office/powerpoint/2010/main" val="4019825547"/>
              </p:ext>
            </p:extLst>
          </p:nvPr>
        </p:nvGraphicFramePr>
        <p:xfrm>
          <a:off x="9121934" y="2362018"/>
          <a:ext cx="1407479" cy="1151395"/>
        </p:xfrm>
        <a:graphic>
          <a:graphicData uri="http://schemas.openxmlformats.org/presentationml/2006/ole">
            <mc:AlternateContent xmlns:mc="http://schemas.openxmlformats.org/markup-compatibility/2006">
              <mc:Choice xmlns:v="urn:schemas-microsoft-com:vml" Requires="v">
                <p:oleObj name="Równanie" r:id="rId4" imgW="914543" imgH="1082178" progId="Equation.3">
                  <p:embed/>
                </p:oleObj>
              </mc:Choice>
              <mc:Fallback>
                <p:oleObj name="Równanie" r:id="rId4" imgW="914543" imgH="1082178" progId="Equation.3">
                  <p:embed/>
                  <p:pic>
                    <p:nvPicPr>
                      <p:cNvPr id="15367" name="Object 6">
                        <a:extLst>
                          <a:ext uri="{FF2B5EF4-FFF2-40B4-BE49-F238E27FC236}">
                            <a16:creationId xmlns:a16="http://schemas.microsoft.com/office/drawing/2014/main" id="{8C63F18E-AE36-16DB-9B4B-EEA8DF5F6605}"/>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21934" y="2362018"/>
                        <a:ext cx="1407479" cy="1151395"/>
                      </a:xfrm>
                      <a:prstGeom prst="rect">
                        <a:avLst/>
                      </a:prstGeom>
                      <a:noFill/>
                      <a:ln>
                        <a:noFill/>
                      </a:ln>
                      <a:effectLst/>
                    </p:spPr>
                  </p:pic>
                </p:oleObj>
              </mc:Fallback>
            </mc:AlternateContent>
          </a:graphicData>
        </a:graphic>
      </p:graphicFrame>
      <p:graphicFrame>
        <p:nvGraphicFramePr>
          <p:cNvPr id="15368" name="Object 5">
            <a:extLst>
              <a:ext uri="{FF2B5EF4-FFF2-40B4-BE49-F238E27FC236}">
                <a16:creationId xmlns:a16="http://schemas.microsoft.com/office/drawing/2014/main" id="{5238D139-2310-734D-6721-1652E23F7DC0}"/>
              </a:ext>
            </a:extLst>
          </p:cNvPr>
          <p:cNvGraphicFramePr>
            <a:graphicFrameLocks/>
          </p:cNvGraphicFramePr>
          <p:nvPr>
            <p:extLst>
              <p:ext uri="{D42A27DB-BD31-4B8C-83A1-F6EECF244321}">
                <p14:modId xmlns:p14="http://schemas.microsoft.com/office/powerpoint/2010/main" val="318539730"/>
              </p:ext>
            </p:extLst>
          </p:nvPr>
        </p:nvGraphicFramePr>
        <p:xfrm>
          <a:off x="7481254" y="1384575"/>
          <a:ext cx="3462337" cy="342900"/>
        </p:xfrm>
        <a:graphic>
          <a:graphicData uri="http://schemas.openxmlformats.org/presentationml/2006/ole">
            <mc:AlternateContent xmlns:mc="http://schemas.openxmlformats.org/markup-compatibility/2006">
              <mc:Choice xmlns:v="urn:schemas-microsoft-com:vml" Requires="v">
                <p:oleObj name="Równanie" r:id="rId6" imgW="2430654" imgH="167746" progId="Equation.3">
                  <p:embed/>
                </p:oleObj>
              </mc:Choice>
              <mc:Fallback>
                <p:oleObj name="Równanie" r:id="rId6" imgW="2430654" imgH="167746" progId="Equation.3">
                  <p:embed/>
                  <p:pic>
                    <p:nvPicPr>
                      <p:cNvPr id="15368" name="Object 5">
                        <a:extLst>
                          <a:ext uri="{FF2B5EF4-FFF2-40B4-BE49-F238E27FC236}">
                            <a16:creationId xmlns:a16="http://schemas.microsoft.com/office/drawing/2014/main" id="{5238D139-2310-734D-6721-1652E23F7DC0}"/>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81254" y="1384575"/>
                        <a:ext cx="346233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pole tekstowe 10">
            <a:extLst>
              <a:ext uri="{FF2B5EF4-FFF2-40B4-BE49-F238E27FC236}">
                <a16:creationId xmlns:a16="http://schemas.microsoft.com/office/drawing/2014/main" id="{FA464EB6-2F15-041B-D10E-E7256FFB1857}"/>
              </a:ext>
            </a:extLst>
          </p:cNvPr>
          <p:cNvSpPr txBox="1">
            <a:spLocks noChangeArrowheads="1"/>
          </p:cNvSpPr>
          <p:nvPr/>
        </p:nvSpPr>
        <p:spPr bwMode="auto">
          <a:xfrm>
            <a:off x="6018054" y="4782265"/>
            <a:ext cx="5720712" cy="1200329"/>
          </a:xfrm>
          <a:prstGeom prst="rect">
            <a:avLst/>
          </a:prstGeom>
          <a:noFill/>
          <a:ln w="9525">
            <a:noFill/>
            <a:miter lim="800000"/>
            <a:headEnd/>
            <a:tailEnd/>
          </a:ln>
        </p:spPr>
        <p:txBody>
          <a:bodyPr wrap="square">
            <a:spAutoFit/>
          </a:bodyPr>
          <a:lstStyle/>
          <a:p>
            <a:pPr algn="just">
              <a:defRPr/>
            </a:pPr>
            <a:r>
              <a:rPr lang="en-US" dirty="0">
                <a:solidFill>
                  <a:schemeClr val="accent5">
                    <a:lumMod val="50000"/>
                  </a:schemeClr>
                </a:solidFill>
                <a:latin typeface="Arial" charset="0"/>
              </a:rPr>
              <a:t>We solve the system of 3 equations by substitution. In textbooks it is done in such a way that we get interpretable conditions along the way, i.e.: </a:t>
            </a:r>
            <a:endParaRPr lang="pl-PL" dirty="0">
              <a:solidFill>
                <a:schemeClr val="accent5">
                  <a:lumMod val="50000"/>
                </a:schemeClr>
              </a:solidFill>
              <a:latin typeface="Arial" charset="0"/>
            </a:endParaRPr>
          </a:p>
          <a:p>
            <a:pPr algn="just">
              <a:defRPr/>
            </a:pPr>
            <a:r>
              <a:rPr lang="en-US" dirty="0">
                <a:solidFill>
                  <a:schemeClr val="accent5">
                    <a:lumMod val="50000"/>
                  </a:schemeClr>
                </a:solidFill>
                <a:latin typeface="Arial" charset="0"/>
              </a:rPr>
              <a:t>MRTS = price ratio</a:t>
            </a:r>
            <a:endParaRPr lang="pl-PL" dirty="0">
              <a:solidFill>
                <a:schemeClr val="accent5">
                  <a:lumMod val="50000"/>
                </a:schemeClr>
              </a:solidFill>
              <a:latin typeface="Arial" charset="0"/>
            </a:endParaRPr>
          </a:p>
        </p:txBody>
      </p:sp>
      <p:cxnSp>
        <p:nvCxnSpPr>
          <p:cNvPr id="9" name="Łącznik prosty ze strzałką 5">
            <a:extLst>
              <a:ext uri="{FF2B5EF4-FFF2-40B4-BE49-F238E27FC236}">
                <a16:creationId xmlns:a16="http://schemas.microsoft.com/office/drawing/2014/main" id="{D6217272-3304-2263-4466-20F99A3AFD70}"/>
              </a:ext>
            </a:extLst>
          </p:cNvPr>
          <p:cNvCxnSpPr>
            <a:cxnSpLocks/>
          </p:cNvCxnSpPr>
          <p:nvPr/>
        </p:nvCxnSpPr>
        <p:spPr>
          <a:xfrm flipH="1">
            <a:off x="2286000" y="1556025"/>
            <a:ext cx="5110480" cy="1786615"/>
          </a:xfrm>
          <a:prstGeom prst="straightConnector1">
            <a:avLst/>
          </a:prstGeom>
          <a:ln>
            <a:solidFill>
              <a:srgbClr val="C00000"/>
            </a:solidFill>
            <a:tailEnd type="arrow"/>
          </a:ln>
        </p:spPr>
        <p:style>
          <a:lnRef idx="1">
            <a:schemeClr val="accent5"/>
          </a:lnRef>
          <a:fillRef idx="0">
            <a:schemeClr val="accent5"/>
          </a:fillRef>
          <a:effectRef idx="0">
            <a:schemeClr val="accent5"/>
          </a:effectRef>
          <a:fontRef idx="minor">
            <a:schemeClr val="tx1"/>
          </a:fontRef>
        </p:style>
      </p:cxnSp>
      <p:sp>
        <p:nvSpPr>
          <p:cNvPr id="12" name="Oval 11">
            <a:extLst>
              <a:ext uri="{FF2B5EF4-FFF2-40B4-BE49-F238E27FC236}">
                <a16:creationId xmlns:a16="http://schemas.microsoft.com/office/drawing/2014/main" id="{70B82C81-BE8E-965C-AD75-4F5CD990F686}"/>
              </a:ext>
            </a:extLst>
          </p:cNvPr>
          <p:cNvSpPr>
            <a:spLocks noChangeArrowheads="1"/>
          </p:cNvSpPr>
          <p:nvPr/>
        </p:nvSpPr>
        <p:spPr bwMode="auto">
          <a:xfrm flipV="1">
            <a:off x="7340759" y="1042965"/>
            <a:ext cx="3743325" cy="878999"/>
          </a:xfrm>
          <a:prstGeom prst="ellipse">
            <a:avLst/>
          </a:prstGeom>
          <a:noFill/>
          <a:ln w="25400">
            <a:solidFill>
              <a:srgbClr val="C0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pl-PL" altLang="pl-PL" sz="2800">
              <a:latin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Prostokąt 8">
            <a:extLst>
              <a:ext uri="{FF2B5EF4-FFF2-40B4-BE49-F238E27FC236}">
                <a16:creationId xmlns:a16="http://schemas.microsoft.com/office/drawing/2014/main" id="{57907BCF-DC24-B99E-62C9-355E9CFAF322}"/>
              </a:ext>
            </a:extLst>
          </p:cNvPr>
          <p:cNvSpPr>
            <a:spLocks noChangeArrowheads="1"/>
          </p:cNvSpPr>
          <p:nvPr/>
        </p:nvSpPr>
        <p:spPr bwMode="auto">
          <a:xfrm>
            <a:off x="5846600" y="1436703"/>
            <a:ext cx="6096000" cy="4893647"/>
          </a:xfrm>
          <a:prstGeom prst="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pl-PL" sz="2400" dirty="0">
                <a:solidFill>
                  <a:schemeClr val="accent5">
                    <a:lumMod val="50000"/>
                  </a:schemeClr>
                </a:solidFill>
              </a:rPr>
              <a:t>E</a:t>
            </a:r>
            <a:r>
              <a:rPr lang="en-US" sz="2400" dirty="0" err="1">
                <a:solidFill>
                  <a:schemeClr val="accent5">
                    <a:lumMod val="50000"/>
                  </a:schemeClr>
                </a:solidFill>
              </a:rPr>
              <a:t>mploying</a:t>
            </a:r>
            <a:r>
              <a:rPr lang="en-US" sz="2400" dirty="0">
                <a:solidFill>
                  <a:schemeClr val="accent5">
                    <a:lumMod val="50000"/>
                  </a:schemeClr>
                </a:solidFill>
              </a:rPr>
              <a:t> K* and L* gives the minimum cost of producing Y. </a:t>
            </a:r>
            <a:endParaRPr lang="pl-PL" sz="2400" dirty="0">
              <a:solidFill>
                <a:schemeClr val="accent5">
                  <a:lumMod val="50000"/>
                </a:schemeClr>
              </a:solidFill>
            </a:endParaRPr>
          </a:p>
          <a:p>
            <a:pPr>
              <a:defRPr/>
            </a:pPr>
            <a:endParaRPr lang="pl-PL" sz="2400" dirty="0">
              <a:solidFill>
                <a:schemeClr val="accent5">
                  <a:lumMod val="50000"/>
                </a:schemeClr>
              </a:solidFill>
            </a:endParaRPr>
          </a:p>
          <a:p>
            <a:pPr>
              <a:defRPr/>
            </a:pPr>
            <a:r>
              <a:rPr lang="en-US" sz="2400" dirty="0">
                <a:solidFill>
                  <a:schemeClr val="accent5">
                    <a:lumMod val="50000"/>
                  </a:schemeClr>
                </a:solidFill>
              </a:rPr>
              <a:t>There are also functions of demand for production factors </a:t>
            </a:r>
            <a:r>
              <a:rPr lang="en-US" sz="1400" dirty="0">
                <a:solidFill>
                  <a:schemeClr val="accent5">
                    <a:lumMod val="50000"/>
                  </a:schemeClr>
                </a:solidFill>
              </a:rPr>
              <a:t>(analogous to consumer choice) </a:t>
            </a:r>
            <a:endParaRPr lang="pl-PL" sz="1400" dirty="0">
              <a:solidFill>
                <a:schemeClr val="accent5">
                  <a:lumMod val="50000"/>
                </a:schemeClr>
              </a:solidFill>
            </a:endParaRPr>
          </a:p>
          <a:p>
            <a:pPr>
              <a:defRPr/>
            </a:pPr>
            <a:endParaRPr lang="pl-PL" sz="2400" dirty="0">
              <a:solidFill>
                <a:schemeClr val="accent5">
                  <a:lumMod val="50000"/>
                </a:schemeClr>
              </a:solidFill>
            </a:endParaRPr>
          </a:p>
          <a:p>
            <a:pPr lvl="1">
              <a:defRPr/>
            </a:pPr>
            <a:r>
              <a:rPr lang="pl-PL" sz="2400" dirty="0">
                <a:solidFill>
                  <a:schemeClr val="accent5">
                    <a:lumMod val="50000"/>
                  </a:schemeClr>
                </a:solidFill>
              </a:rPr>
              <a:t>C</a:t>
            </a:r>
            <a:r>
              <a:rPr lang="en-US" sz="2400" dirty="0" err="1">
                <a:solidFill>
                  <a:schemeClr val="accent5">
                    <a:lumMod val="50000"/>
                  </a:schemeClr>
                </a:solidFill>
              </a:rPr>
              <a:t>onditional</a:t>
            </a:r>
            <a:r>
              <a:rPr lang="pl-PL" sz="2400" dirty="0">
                <a:solidFill>
                  <a:schemeClr val="accent5">
                    <a:lumMod val="50000"/>
                  </a:schemeClr>
                </a:solidFill>
              </a:rPr>
              <a:t> </a:t>
            </a:r>
            <a:r>
              <a:rPr lang="en-US" sz="2400" dirty="0">
                <a:solidFill>
                  <a:schemeClr val="accent5">
                    <a:lumMod val="50000"/>
                  </a:schemeClr>
                </a:solidFill>
              </a:rPr>
              <a:t>Demands</a:t>
            </a:r>
            <a:r>
              <a:rPr lang="pl-PL" sz="2400" dirty="0">
                <a:solidFill>
                  <a:schemeClr val="accent5">
                    <a:lumMod val="50000"/>
                  </a:schemeClr>
                </a:solidFill>
              </a:rPr>
              <a:t>:  </a:t>
            </a:r>
          </a:p>
          <a:p>
            <a:pPr lvl="1">
              <a:defRPr/>
            </a:pPr>
            <a:r>
              <a:rPr lang="en-US" sz="2400" dirty="0">
                <a:solidFill>
                  <a:schemeClr val="accent5">
                    <a:lumMod val="50000"/>
                  </a:schemeClr>
                </a:solidFill>
              </a:rPr>
              <a:t>K = f(</a:t>
            </a:r>
            <a:r>
              <a:rPr lang="en-US" sz="2400" dirty="0" err="1">
                <a:solidFill>
                  <a:schemeClr val="accent5">
                    <a:lumMod val="50000"/>
                  </a:schemeClr>
                </a:solidFill>
              </a:rPr>
              <a:t>r,w,Y</a:t>
            </a:r>
            <a:r>
              <a:rPr lang="en-US" sz="2400" dirty="0">
                <a:solidFill>
                  <a:schemeClr val="accent5">
                    <a:lumMod val="50000"/>
                  </a:schemeClr>
                </a:solidFill>
              </a:rPr>
              <a:t>) and L = f(</a:t>
            </a:r>
            <a:r>
              <a:rPr lang="en-US" sz="2400" dirty="0" err="1">
                <a:solidFill>
                  <a:schemeClr val="accent5">
                    <a:lumMod val="50000"/>
                  </a:schemeClr>
                </a:solidFill>
              </a:rPr>
              <a:t>r,w,Y</a:t>
            </a:r>
            <a:r>
              <a:rPr lang="en-US" sz="2400" dirty="0">
                <a:solidFill>
                  <a:schemeClr val="accent5">
                    <a:lumMod val="50000"/>
                  </a:schemeClr>
                </a:solidFill>
              </a:rPr>
              <a:t>)</a:t>
            </a:r>
          </a:p>
          <a:p>
            <a:pPr>
              <a:defRPr/>
            </a:pPr>
            <a:endParaRPr lang="en-US" sz="2400" dirty="0">
              <a:solidFill>
                <a:schemeClr val="accent5">
                  <a:lumMod val="50000"/>
                </a:schemeClr>
              </a:solidFill>
            </a:endParaRPr>
          </a:p>
          <a:p>
            <a:pPr>
              <a:defRPr/>
            </a:pPr>
            <a:r>
              <a:rPr lang="en-US" sz="2400" dirty="0">
                <a:solidFill>
                  <a:schemeClr val="accent5">
                    <a:lumMod val="50000"/>
                  </a:schemeClr>
                </a:solidFill>
              </a:rPr>
              <a:t>The interpretation of lambda is </a:t>
            </a:r>
            <a:r>
              <a:rPr lang="pl-PL" sz="2400" dirty="0">
                <a:solidFill>
                  <a:schemeClr val="accent5">
                    <a:lumMod val="50000"/>
                  </a:schemeClr>
                </a:solidFill>
              </a:rPr>
              <a:t>M</a:t>
            </a:r>
            <a:r>
              <a:rPr lang="en-US" sz="2400" dirty="0" err="1">
                <a:solidFill>
                  <a:schemeClr val="accent5">
                    <a:lumMod val="50000"/>
                  </a:schemeClr>
                </a:solidFill>
              </a:rPr>
              <a:t>arginal</a:t>
            </a:r>
            <a:r>
              <a:rPr lang="en-US" sz="2400" dirty="0">
                <a:solidFill>
                  <a:schemeClr val="accent5">
                    <a:lumMod val="50000"/>
                  </a:schemeClr>
                </a:solidFill>
              </a:rPr>
              <a:t> </a:t>
            </a:r>
            <a:r>
              <a:rPr lang="pl-PL" sz="2400" dirty="0">
                <a:solidFill>
                  <a:schemeClr val="accent5">
                    <a:lumMod val="50000"/>
                  </a:schemeClr>
                </a:solidFill>
              </a:rPr>
              <a:t>C</a:t>
            </a:r>
            <a:r>
              <a:rPr lang="en-US" sz="2400" dirty="0" err="1">
                <a:solidFill>
                  <a:schemeClr val="accent5">
                    <a:lumMod val="50000"/>
                  </a:schemeClr>
                </a:solidFill>
              </a:rPr>
              <a:t>ost</a:t>
            </a:r>
            <a:r>
              <a:rPr lang="en-US" sz="2400" dirty="0">
                <a:solidFill>
                  <a:schemeClr val="accent5">
                    <a:lumMod val="50000"/>
                  </a:schemeClr>
                </a:solidFill>
              </a:rPr>
              <a:t>: how much will the cost increase when we „</a:t>
            </a:r>
            <a:r>
              <a:rPr lang="pl-PL" sz="2400" dirty="0" err="1">
                <a:solidFill>
                  <a:schemeClr val="accent5">
                    <a:lumMod val="50000"/>
                  </a:schemeClr>
                </a:solidFill>
              </a:rPr>
              <a:t>relax</a:t>
            </a:r>
            <a:r>
              <a:rPr lang="en-US" sz="2400" dirty="0">
                <a:solidFill>
                  <a:schemeClr val="accent5">
                    <a:lumMod val="50000"/>
                  </a:schemeClr>
                </a:solidFill>
              </a:rPr>
              <a:t>" the constraint and increase the production of Y by a unit</a:t>
            </a:r>
          </a:p>
        </p:txBody>
      </p:sp>
      <p:sp>
        <p:nvSpPr>
          <p:cNvPr id="2054" name="Prostokąt 12">
            <a:extLst>
              <a:ext uri="{FF2B5EF4-FFF2-40B4-BE49-F238E27FC236}">
                <a16:creationId xmlns:a16="http://schemas.microsoft.com/office/drawing/2014/main" id="{D2BB3910-423D-4169-D500-187BA53F5F53}"/>
              </a:ext>
            </a:extLst>
          </p:cNvPr>
          <p:cNvSpPr>
            <a:spLocks noChangeArrowheads="1"/>
          </p:cNvSpPr>
          <p:nvPr/>
        </p:nvSpPr>
        <p:spPr bwMode="auto">
          <a:xfrm>
            <a:off x="4310063" y="4729163"/>
            <a:ext cx="1030988" cy="369332"/>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a:spAutoFit/>
          </a:bodyPr>
          <a:lstStyle/>
          <a:p>
            <a:pPr>
              <a:defRPr/>
            </a:pPr>
            <a:r>
              <a:rPr lang="pl-PL" dirty="0">
                <a:solidFill>
                  <a:schemeClr val="accent5">
                    <a:lumMod val="50000"/>
                  </a:schemeClr>
                </a:solidFill>
              </a:rPr>
              <a:t>K</a:t>
            </a:r>
            <a:r>
              <a:rPr lang="en-US" dirty="0">
                <a:solidFill>
                  <a:schemeClr val="accent5">
                    <a:lumMod val="50000"/>
                  </a:schemeClr>
                </a:solidFill>
              </a:rPr>
              <a:t>*(</a:t>
            </a:r>
            <a:r>
              <a:rPr lang="pl-PL" dirty="0" err="1">
                <a:solidFill>
                  <a:schemeClr val="accent5">
                    <a:lumMod val="50000"/>
                  </a:schemeClr>
                </a:solidFill>
              </a:rPr>
              <a:t>r</a:t>
            </a:r>
            <a:r>
              <a:rPr lang="en-US" dirty="0">
                <a:solidFill>
                  <a:schemeClr val="accent5">
                    <a:lumMod val="50000"/>
                  </a:schemeClr>
                </a:solidFill>
              </a:rPr>
              <a:t>,w,</a:t>
            </a:r>
            <a:r>
              <a:rPr lang="pl-PL" dirty="0">
                <a:solidFill>
                  <a:schemeClr val="accent5">
                    <a:lumMod val="50000"/>
                  </a:schemeClr>
                </a:solidFill>
              </a:rPr>
              <a:t>Y</a:t>
            </a:r>
            <a:r>
              <a:rPr lang="en-US" dirty="0">
                <a:solidFill>
                  <a:schemeClr val="accent5">
                    <a:lumMod val="50000"/>
                  </a:schemeClr>
                </a:solidFill>
              </a:rPr>
              <a:t>) </a:t>
            </a:r>
            <a:endParaRPr lang="pl-PL" dirty="0">
              <a:solidFill>
                <a:schemeClr val="accent5">
                  <a:lumMod val="50000"/>
                </a:schemeClr>
              </a:solidFill>
            </a:endParaRPr>
          </a:p>
        </p:txBody>
      </p:sp>
      <p:sp>
        <p:nvSpPr>
          <p:cNvPr id="14" name="Strzałka w prawo 13">
            <a:extLst>
              <a:ext uri="{FF2B5EF4-FFF2-40B4-BE49-F238E27FC236}">
                <a16:creationId xmlns:a16="http://schemas.microsoft.com/office/drawing/2014/main" id="{93963F21-5F30-96CE-A5D4-C8BD853206A2}"/>
              </a:ext>
            </a:extLst>
          </p:cNvPr>
          <p:cNvSpPr/>
          <p:nvPr/>
        </p:nvSpPr>
        <p:spPr>
          <a:xfrm rot="16200000">
            <a:off x="4600575" y="3876675"/>
            <a:ext cx="1047750" cy="419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l-PL"/>
          </a:p>
        </p:txBody>
      </p:sp>
      <p:sp>
        <p:nvSpPr>
          <p:cNvPr id="4" name="CustomShape 1">
            <a:extLst>
              <a:ext uri="{FF2B5EF4-FFF2-40B4-BE49-F238E27FC236}">
                <a16:creationId xmlns:a16="http://schemas.microsoft.com/office/drawing/2014/main" id="{3F312521-E7DC-C69F-4CED-8CECE0EA0298}"/>
              </a:ext>
            </a:extLst>
          </p:cNvPr>
          <p:cNvSpPr/>
          <p:nvPr/>
        </p:nvSpPr>
        <p:spPr>
          <a:xfrm>
            <a:off x="0" y="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lvl="1" algn="ctr">
              <a:lnSpc>
                <a:spcPct val="107000"/>
              </a:lnSpc>
              <a:spcAft>
                <a:spcPts val="800"/>
              </a:spcAft>
            </a:pPr>
            <a:r>
              <a:rPr lang="en-US" sz="40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The cost minimization problem</a:t>
            </a:r>
          </a:p>
        </p:txBody>
      </p:sp>
      <p:pic>
        <p:nvPicPr>
          <p:cNvPr id="6" name="Picture 5">
            <a:extLst>
              <a:ext uri="{FF2B5EF4-FFF2-40B4-BE49-F238E27FC236}">
                <a16:creationId xmlns:a16="http://schemas.microsoft.com/office/drawing/2014/main" id="{B5DAEBA0-4E60-13AC-2061-C3703AD6F77E}"/>
              </a:ext>
            </a:extLst>
          </p:cNvPr>
          <p:cNvPicPr>
            <a:picLocks noChangeAspect="1"/>
          </p:cNvPicPr>
          <p:nvPr/>
        </p:nvPicPr>
        <p:blipFill>
          <a:blip r:embed="rId3"/>
          <a:stretch>
            <a:fillRect/>
          </a:stretch>
        </p:blipFill>
        <p:spPr>
          <a:xfrm>
            <a:off x="187960" y="2006840"/>
            <a:ext cx="5658640" cy="3753374"/>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8F483-71CB-D667-4426-53EF22995CC1}"/>
            </a:ext>
          </a:extLst>
        </p:cNvPr>
        <p:cNvGrpSpPr/>
        <p:nvPr/>
      </p:nvGrpSpPr>
      <p:grpSpPr>
        <a:xfrm>
          <a:off x="0" y="0"/>
          <a:ext cx="0" cy="0"/>
          <a:chOff x="0" y="0"/>
          <a:chExt cx="0" cy="0"/>
        </a:xfrm>
      </p:grpSpPr>
      <p:graphicFrame>
        <p:nvGraphicFramePr>
          <p:cNvPr id="7170" name="Object 4">
            <a:extLst>
              <a:ext uri="{FF2B5EF4-FFF2-40B4-BE49-F238E27FC236}">
                <a16:creationId xmlns:a16="http://schemas.microsoft.com/office/drawing/2014/main" id="{68F1ABFF-8B54-1202-20B7-E3F28D5C873F}"/>
              </a:ext>
            </a:extLst>
          </p:cNvPr>
          <p:cNvGraphicFramePr>
            <a:graphicFrameLocks/>
          </p:cNvGraphicFramePr>
          <p:nvPr>
            <p:extLst>
              <p:ext uri="{D42A27DB-BD31-4B8C-83A1-F6EECF244321}">
                <p14:modId xmlns:p14="http://schemas.microsoft.com/office/powerpoint/2010/main" val="3343660416"/>
              </p:ext>
            </p:extLst>
          </p:nvPr>
        </p:nvGraphicFramePr>
        <p:xfrm>
          <a:off x="2849880" y="3197744"/>
          <a:ext cx="6294438" cy="915988"/>
        </p:xfrm>
        <a:graphic>
          <a:graphicData uri="http://schemas.openxmlformats.org/presentationml/2006/ole">
            <mc:AlternateContent xmlns:mc="http://schemas.openxmlformats.org/markup-compatibility/2006">
              <mc:Choice xmlns:v="urn:schemas-microsoft-com:vml" Requires="v">
                <p:oleObj name="Równanie" r:id="rId3" imgW="2270868" imgH="160004" progId="Equation.3">
                  <p:embed/>
                </p:oleObj>
              </mc:Choice>
              <mc:Fallback>
                <p:oleObj name="Równanie" r:id="rId3" imgW="2270868" imgH="160004" progId="Equation.3">
                  <p:embed/>
                  <p:pic>
                    <p:nvPicPr>
                      <p:cNvPr id="7170" name="Object 4">
                        <a:extLst>
                          <a:ext uri="{FF2B5EF4-FFF2-40B4-BE49-F238E27FC236}">
                            <a16:creationId xmlns:a16="http://schemas.microsoft.com/office/drawing/2014/main" id="{F56A61D6-473D-78E8-DEF3-67399D43146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9880" y="3197744"/>
                        <a:ext cx="6294438"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2" name="Prostokąt 8">
            <a:extLst>
              <a:ext uri="{FF2B5EF4-FFF2-40B4-BE49-F238E27FC236}">
                <a16:creationId xmlns:a16="http://schemas.microsoft.com/office/drawing/2014/main" id="{E4D26700-50B6-8649-C49B-A0B1B82C7728}"/>
              </a:ext>
            </a:extLst>
          </p:cNvPr>
          <p:cNvSpPr>
            <a:spLocks noChangeArrowheads="1"/>
          </p:cNvSpPr>
          <p:nvPr/>
        </p:nvSpPr>
        <p:spPr bwMode="auto">
          <a:xfrm>
            <a:off x="588327" y="1206101"/>
            <a:ext cx="11015345" cy="1815882"/>
          </a:xfrm>
          <a:prstGeom prst="rect">
            <a:avLst/>
          </a:prstGeom>
          <a:noFill/>
          <a:ln>
            <a:noFill/>
            <a:headEnd/>
            <a:tailEnd/>
          </a:ln>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en-US" sz="2800" dirty="0">
                <a:solidFill>
                  <a:schemeClr val="accent5">
                    <a:lumMod val="50000"/>
                  </a:schemeClr>
                </a:solidFill>
              </a:rPr>
              <a:t>We can insert the obtained solutions K*(</a:t>
            </a:r>
            <a:r>
              <a:rPr lang="en-US" sz="2800" dirty="0" err="1">
                <a:solidFill>
                  <a:schemeClr val="accent5">
                    <a:lumMod val="50000"/>
                  </a:schemeClr>
                </a:solidFill>
              </a:rPr>
              <a:t>r,w,Y</a:t>
            </a:r>
            <a:r>
              <a:rPr lang="en-US" sz="2800" dirty="0">
                <a:solidFill>
                  <a:schemeClr val="accent5">
                    <a:lumMod val="50000"/>
                  </a:schemeClr>
                </a:solidFill>
              </a:rPr>
              <a:t>) and L*(</a:t>
            </a:r>
            <a:r>
              <a:rPr lang="en-US" sz="2800" dirty="0" err="1">
                <a:solidFill>
                  <a:schemeClr val="accent5">
                    <a:lumMod val="50000"/>
                  </a:schemeClr>
                </a:solidFill>
              </a:rPr>
              <a:t>r,w,Y</a:t>
            </a:r>
            <a:r>
              <a:rPr lang="en-US" sz="2800" dirty="0">
                <a:solidFill>
                  <a:schemeClr val="accent5">
                    <a:lumMod val="50000"/>
                  </a:schemeClr>
                </a:solidFill>
              </a:rPr>
              <a:t>) into the cost function and we will get an intermediate cost function that depends on the market price variables: </a:t>
            </a:r>
            <a:r>
              <a:rPr lang="en-US" sz="2800" dirty="0" err="1">
                <a:solidFill>
                  <a:schemeClr val="accent5">
                    <a:lumMod val="50000"/>
                  </a:schemeClr>
                </a:solidFill>
              </a:rPr>
              <a:t>r,w</a:t>
            </a:r>
            <a:r>
              <a:rPr lang="en-US" sz="2800" dirty="0">
                <a:solidFill>
                  <a:schemeClr val="accent5">
                    <a:lumMod val="50000"/>
                  </a:schemeClr>
                </a:solidFill>
              </a:rPr>
              <a:t>, on the parameters defining the technology and the production volume Y</a:t>
            </a:r>
            <a:r>
              <a:rPr lang="pl-PL" sz="2800" dirty="0">
                <a:solidFill>
                  <a:schemeClr val="accent5">
                    <a:lumMod val="50000"/>
                  </a:schemeClr>
                </a:solidFill>
              </a:rPr>
              <a:t>. </a:t>
            </a:r>
            <a:endParaRPr lang="en-US" sz="2800" dirty="0">
              <a:solidFill>
                <a:schemeClr val="accent5">
                  <a:lumMod val="50000"/>
                </a:schemeClr>
              </a:solidFill>
            </a:endParaRPr>
          </a:p>
        </p:txBody>
      </p:sp>
      <p:sp>
        <p:nvSpPr>
          <p:cNvPr id="2054" name="Prostokąt 12">
            <a:extLst>
              <a:ext uri="{FF2B5EF4-FFF2-40B4-BE49-F238E27FC236}">
                <a16:creationId xmlns:a16="http://schemas.microsoft.com/office/drawing/2014/main" id="{7F6CF6C8-C9AB-A62E-17A5-63DEE00CBB0C}"/>
              </a:ext>
            </a:extLst>
          </p:cNvPr>
          <p:cNvSpPr>
            <a:spLocks noChangeArrowheads="1"/>
          </p:cNvSpPr>
          <p:nvPr/>
        </p:nvSpPr>
        <p:spPr bwMode="auto">
          <a:xfrm>
            <a:off x="4736783" y="4554718"/>
            <a:ext cx="1030988" cy="369332"/>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a:spAutoFit/>
          </a:bodyPr>
          <a:lstStyle/>
          <a:p>
            <a:pPr>
              <a:defRPr/>
            </a:pPr>
            <a:r>
              <a:rPr lang="pl-PL" dirty="0">
                <a:solidFill>
                  <a:schemeClr val="accent5">
                    <a:lumMod val="50000"/>
                  </a:schemeClr>
                </a:solidFill>
              </a:rPr>
              <a:t>K</a:t>
            </a:r>
            <a:r>
              <a:rPr lang="en-US" dirty="0">
                <a:solidFill>
                  <a:schemeClr val="accent5">
                    <a:lumMod val="50000"/>
                  </a:schemeClr>
                </a:solidFill>
              </a:rPr>
              <a:t>*(</a:t>
            </a:r>
            <a:r>
              <a:rPr lang="pl-PL" dirty="0" err="1">
                <a:solidFill>
                  <a:schemeClr val="accent5">
                    <a:lumMod val="50000"/>
                  </a:schemeClr>
                </a:solidFill>
              </a:rPr>
              <a:t>r</a:t>
            </a:r>
            <a:r>
              <a:rPr lang="en-US" dirty="0">
                <a:solidFill>
                  <a:schemeClr val="accent5">
                    <a:lumMod val="50000"/>
                  </a:schemeClr>
                </a:solidFill>
              </a:rPr>
              <a:t>,w,</a:t>
            </a:r>
            <a:r>
              <a:rPr lang="pl-PL" dirty="0">
                <a:solidFill>
                  <a:schemeClr val="accent5">
                    <a:lumMod val="50000"/>
                  </a:schemeClr>
                </a:solidFill>
              </a:rPr>
              <a:t>Y</a:t>
            </a:r>
            <a:r>
              <a:rPr lang="en-US" dirty="0">
                <a:solidFill>
                  <a:schemeClr val="accent5">
                    <a:lumMod val="50000"/>
                  </a:schemeClr>
                </a:solidFill>
              </a:rPr>
              <a:t>) </a:t>
            </a:r>
            <a:endParaRPr lang="pl-PL" dirty="0">
              <a:solidFill>
                <a:schemeClr val="accent5">
                  <a:lumMod val="50000"/>
                </a:schemeClr>
              </a:solidFill>
            </a:endParaRPr>
          </a:p>
        </p:txBody>
      </p:sp>
      <p:sp>
        <p:nvSpPr>
          <p:cNvPr id="14" name="Strzałka w prawo 13">
            <a:extLst>
              <a:ext uri="{FF2B5EF4-FFF2-40B4-BE49-F238E27FC236}">
                <a16:creationId xmlns:a16="http://schemas.microsoft.com/office/drawing/2014/main" id="{F887C116-F711-C021-7E6C-3495B821FA0B}"/>
              </a:ext>
            </a:extLst>
          </p:cNvPr>
          <p:cNvSpPr/>
          <p:nvPr/>
        </p:nvSpPr>
        <p:spPr>
          <a:xfrm rot="16200000">
            <a:off x="5067611" y="4024702"/>
            <a:ext cx="369332" cy="419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l-PL"/>
          </a:p>
        </p:txBody>
      </p:sp>
      <p:sp>
        <p:nvSpPr>
          <p:cNvPr id="2057" name="Prostokąt 15">
            <a:extLst>
              <a:ext uri="{FF2B5EF4-FFF2-40B4-BE49-F238E27FC236}">
                <a16:creationId xmlns:a16="http://schemas.microsoft.com/office/drawing/2014/main" id="{8B8F302E-5DE6-93F5-6B16-6E0BEC69A077}"/>
              </a:ext>
            </a:extLst>
          </p:cNvPr>
          <p:cNvSpPr>
            <a:spLocks noChangeArrowheads="1"/>
          </p:cNvSpPr>
          <p:nvPr/>
        </p:nvSpPr>
        <p:spPr bwMode="auto">
          <a:xfrm>
            <a:off x="7072547" y="4627563"/>
            <a:ext cx="1008546" cy="369332"/>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a:spAutoFit/>
          </a:bodyPr>
          <a:lstStyle/>
          <a:p>
            <a:pPr>
              <a:defRPr/>
            </a:pPr>
            <a:r>
              <a:rPr lang="pl-PL" dirty="0">
                <a:solidFill>
                  <a:schemeClr val="accent5">
                    <a:lumMod val="50000"/>
                  </a:schemeClr>
                </a:solidFill>
              </a:rPr>
              <a:t>L</a:t>
            </a:r>
            <a:r>
              <a:rPr lang="en-US" dirty="0">
                <a:solidFill>
                  <a:schemeClr val="accent5">
                    <a:lumMod val="50000"/>
                  </a:schemeClr>
                </a:solidFill>
              </a:rPr>
              <a:t>*(</a:t>
            </a:r>
            <a:r>
              <a:rPr lang="pl-PL" dirty="0" err="1">
                <a:solidFill>
                  <a:schemeClr val="accent5">
                    <a:lumMod val="50000"/>
                  </a:schemeClr>
                </a:solidFill>
              </a:rPr>
              <a:t>r</a:t>
            </a:r>
            <a:r>
              <a:rPr lang="en-US" dirty="0">
                <a:solidFill>
                  <a:schemeClr val="accent5">
                    <a:lumMod val="50000"/>
                  </a:schemeClr>
                </a:solidFill>
              </a:rPr>
              <a:t>,w,</a:t>
            </a:r>
            <a:r>
              <a:rPr lang="pl-PL" dirty="0">
                <a:solidFill>
                  <a:schemeClr val="accent5">
                    <a:lumMod val="50000"/>
                  </a:schemeClr>
                </a:solidFill>
              </a:rPr>
              <a:t>Y</a:t>
            </a:r>
            <a:r>
              <a:rPr lang="en-US" dirty="0">
                <a:solidFill>
                  <a:schemeClr val="accent5">
                    <a:lumMod val="50000"/>
                  </a:schemeClr>
                </a:solidFill>
              </a:rPr>
              <a:t>) </a:t>
            </a:r>
            <a:endParaRPr lang="pl-PL" dirty="0">
              <a:solidFill>
                <a:schemeClr val="accent5">
                  <a:lumMod val="50000"/>
                </a:schemeClr>
              </a:solidFill>
            </a:endParaRPr>
          </a:p>
        </p:txBody>
      </p:sp>
      <p:sp>
        <p:nvSpPr>
          <p:cNvPr id="10" name="Strzałka w prawo 9">
            <a:extLst>
              <a:ext uri="{FF2B5EF4-FFF2-40B4-BE49-F238E27FC236}">
                <a16:creationId xmlns:a16="http://schemas.microsoft.com/office/drawing/2014/main" id="{C221AF70-4B76-8A73-F4E2-83FEFE4E1305}"/>
              </a:ext>
            </a:extLst>
          </p:cNvPr>
          <p:cNvSpPr/>
          <p:nvPr/>
        </p:nvSpPr>
        <p:spPr>
          <a:xfrm rot="16200000">
            <a:off x="7337584" y="4024700"/>
            <a:ext cx="478473" cy="419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l-PL"/>
          </a:p>
        </p:txBody>
      </p:sp>
      <p:sp>
        <p:nvSpPr>
          <p:cNvPr id="4" name="CustomShape 1">
            <a:extLst>
              <a:ext uri="{FF2B5EF4-FFF2-40B4-BE49-F238E27FC236}">
                <a16:creationId xmlns:a16="http://schemas.microsoft.com/office/drawing/2014/main" id="{26325F24-5CBB-A7F6-265D-7EC28E043526}"/>
              </a:ext>
            </a:extLst>
          </p:cNvPr>
          <p:cNvSpPr/>
          <p:nvPr/>
        </p:nvSpPr>
        <p:spPr>
          <a:xfrm>
            <a:off x="0" y="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lvl="1" algn="ctr">
              <a:lnSpc>
                <a:spcPct val="107000"/>
              </a:lnSpc>
              <a:spcAft>
                <a:spcPts val="800"/>
              </a:spcAft>
            </a:pPr>
            <a:r>
              <a:rPr lang="en-US" sz="40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The cost minimization problem</a:t>
            </a:r>
          </a:p>
        </p:txBody>
      </p:sp>
      <p:pic>
        <p:nvPicPr>
          <p:cNvPr id="3" name="Picture 2">
            <a:extLst>
              <a:ext uri="{FF2B5EF4-FFF2-40B4-BE49-F238E27FC236}">
                <a16:creationId xmlns:a16="http://schemas.microsoft.com/office/drawing/2014/main" id="{63FB3C5A-8C9F-4235-CF51-100784664F04}"/>
              </a:ext>
            </a:extLst>
          </p:cNvPr>
          <p:cNvPicPr>
            <a:picLocks noChangeAspect="1"/>
          </p:cNvPicPr>
          <p:nvPr/>
        </p:nvPicPr>
        <p:blipFill>
          <a:blip r:embed="rId5"/>
          <a:stretch>
            <a:fillRect/>
          </a:stretch>
        </p:blipFill>
        <p:spPr>
          <a:xfrm>
            <a:off x="3386699" y="5262729"/>
            <a:ext cx="5601482" cy="1200318"/>
          </a:xfrm>
          <a:prstGeom prst="rect">
            <a:avLst/>
          </a:prstGeom>
        </p:spPr>
      </p:pic>
    </p:spTree>
    <p:extLst>
      <p:ext uri="{BB962C8B-B14F-4D97-AF65-F5344CB8AC3E}">
        <p14:creationId xmlns:p14="http://schemas.microsoft.com/office/powerpoint/2010/main" val="2728895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Plik:Homothetic transformation.svg">
            <a:extLst>
              <a:ext uri="{FF2B5EF4-FFF2-40B4-BE49-F238E27FC236}">
                <a16:creationId xmlns:a16="http://schemas.microsoft.com/office/drawing/2014/main" id="{A5A5254C-B3A8-8FB3-71D8-E63B755C75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1056" y="1227079"/>
            <a:ext cx="2225675" cy="195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8436" name="Grupa 36">
            <a:extLst>
              <a:ext uri="{FF2B5EF4-FFF2-40B4-BE49-F238E27FC236}">
                <a16:creationId xmlns:a16="http://schemas.microsoft.com/office/drawing/2014/main" id="{75F75CAB-75E2-82E8-F318-4FE0DA21AB86}"/>
              </a:ext>
            </a:extLst>
          </p:cNvPr>
          <p:cNvGrpSpPr>
            <a:grpSpLocks/>
          </p:cNvGrpSpPr>
          <p:nvPr/>
        </p:nvGrpSpPr>
        <p:grpSpPr bwMode="auto">
          <a:xfrm>
            <a:off x="5119860" y="1037153"/>
            <a:ext cx="2787095" cy="2623966"/>
            <a:chOff x="991627" y="1460328"/>
            <a:chExt cx="5490370" cy="4133537"/>
          </a:xfrm>
        </p:grpSpPr>
        <p:grpSp>
          <p:nvGrpSpPr>
            <p:cNvPr id="18457" name="Grupa 4">
              <a:extLst>
                <a:ext uri="{FF2B5EF4-FFF2-40B4-BE49-F238E27FC236}">
                  <a16:creationId xmlns:a16="http://schemas.microsoft.com/office/drawing/2014/main" id="{B1DDA317-A3A2-2750-DBE2-F4720672680E}"/>
                </a:ext>
              </a:extLst>
            </p:cNvPr>
            <p:cNvGrpSpPr>
              <a:grpSpLocks/>
            </p:cNvGrpSpPr>
            <p:nvPr/>
          </p:nvGrpSpPr>
          <p:grpSpPr bwMode="auto">
            <a:xfrm>
              <a:off x="991627" y="1460328"/>
              <a:ext cx="5490370" cy="4133537"/>
              <a:chOff x="974725" y="1431925"/>
              <a:chExt cx="5490370" cy="4133537"/>
            </a:xfrm>
          </p:grpSpPr>
          <p:sp>
            <p:nvSpPr>
              <p:cNvPr id="10271" name="Line 3">
                <a:extLst>
                  <a:ext uri="{FF2B5EF4-FFF2-40B4-BE49-F238E27FC236}">
                    <a16:creationId xmlns:a16="http://schemas.microsoft.com/office/drawing/2014/main" id="{FAB97CD3-B1EA-7244-72A8-9873EAF2CDC5}"/>
                  </a:ext>
                </a:extLst>
              </p:cNvPr>
              <p:cNvSpPr>
                <a:spLocks noChangeShapeType="1"/>
              </p:cNvSpPr>
              <p:nvPr/>
            </p:nvSpPr>
            <p:spPr bwMode="auto">
              <a:xfrm>
                <a:off x="1618940" y="1689507"/>
                <a:ext cx="0" cy="3406077"/>
              </a:xfrm>
              <a:prstGeom prst="line">
                <a:avLst/>
              </a:prstGeom>
              <a:noFill/>
              <a:ln w="12700">
                <a:solidFill>
                  <a:schemeClr val="tx1"/>
                </a:solidFill>
                <a:round/>
                <a:headEnd type="stealth" w="med" len="lg"/>
                <a:tailEnd type="none" w="sm" len="sm"/>
              </a:ln>
            </p:spPr>
            <p:txBody>
              <a:bodyPr wrap="none" anchor="ctr"/>
              <a:lstStyle/>
              <a:p>
                <a:pPr>
                  <a:defRPr/>
                </a:pPr>
                <a:endParaRPr lang="pl-PL" sz="1100">
                  <a:solidFill>
                    <a:schemeClr val="accent5">
                      <a:lumMod val="50000"/>
                    </a:schemeClr>
                  </a:solidFill>
                  <a:latin typeface="Arial" charset="0"/>
                </a:endParaRPr>
              </a:p>
            </p:txBody>
          </p:sp>
          <p:sp>
            <p:nvSpPr>
              <p:cNvPr id="10272" name="Line 4">
                <a:extLst>
                  <a:ext uri="{FF2B5EF4-FFF2-40B4-BE49-F238E27FC236}">
                    <a16:creationId xmlns:a16="http://schemas.microsoft.com/office/drawing/2014/main" id="{F56A3CF2-44F6-666A-6FB8-A573516AB23E}"/>
                  </a:ext>
                </a:extLst>
              </p:cNvPr>
              <p:cNvSpPr>
                <a:spLocks noChangeShapeType="1"/>
              </p:cNvSpPr>
              <p:nvPr/>
            </p:nvSpPr>
            <p:spPr bwMode="auto">
              <a:xfrm>
                <a:off x="1618940" y="5095584"/>
                <a:ext cx="4512631" cy="0"/>
              </a:xfrm>
              <a:prstGeom prst="line">
                <a:avLst/>
              </a:prstGeom>
              <a:noFill/>
              <a:ln w="12700">
                <a:solidFill>
                  <a:schemeClr val="tx1"/>
                </a:solidFill>
                <a:round/>
                <a:headEnd type="none" w="sm" len="sm"/>
                <a:tailEnd type="stealth" w="med" len="lg"/>
              </a:ln>
            </p:spPr>
            <p:txBody>
              <a:bodyPr wrap="none" anchor="ctr"/>
              <a:lstStyle/>
              <a:p>
                <a:pPr>
                  <a:defRPr/>
                </a:pPr>
                <a:endParaRPr lang="pl-PL" sz="1100">
                  <a:solidFill>
                    <a:schemeClr val="accent5">
                      <a:lumMod val="50000"/>
                    </a:schemeClr>
                  </a:solidFill>
                  <a:latin typeface="Arial" charset="0"/>
                </a:endParaRPr>
              </a:p>
            </p:txBody>
          </p:sp>
          <p:sp>
            <p:nvSpPr>
              <p:cNvPr id="10273" name="Rectangle 5">
                <a:extLst>
                  <a:ext uri="{FF2B5EF4-FFF2-40B4-BE49-F238E27FC236}">
                    <a16:creationId xmlns:a16="http://schemas.microsoft.com/office/drawing/2014/main" id="{6BA34301-3FA9-8048-86A4-271B061835F4}"/>
                  </a:ext>
                </a:extLst>
              </p:cNvPr>
              <p:cNvSpPr>
                <a:spLocks noChangeArrowheads="1"/>
              </p:cNvSpPr>
              <p:nvPr/>
            </p:nvSpPr>
            <p:spPr bwMode="auto">
              <a:xfrm>
                <a:off x="5931426" y="5128094"/>
                <a:ext cx="533669" cy="437368"/>
              </a:xfrm>
              <a:prstGeom prst="rect">
                <a:avLst/>
              </a:prstGeom>
              <a:noFill/>
              <a:ln w="9525">
                <a:noFill/>
                <a:miter lim="800000"/>
                <a:headEnd/>
                <a:tailEnd/>
              </a:ln>
            </p:spPr>
            <p:txBody>
              <a:bodyPr wrap="none" lIns="92075" tIns="46038" rIns="92075" bIns="46038">
                <a:spAutoFit/>
              </a:bodyPr>
              <a:lstStyle/>
              <a:p>
                <a:pPr>
                  <a:defRPr/>
                </a:pPr>
                <a:r>
                  <a:rPr lang="pl-PL" sz="1200" dirty="0">
                    <a:solidFill>
                      <a:schemeClr val="accent5">
                        <a:lumMod val="50000"/>
                      </a:schemeClr>
                    </a:solidFill>
                    <a:latin typeface="Arial" charset="0"/>
                  </a:rPr>
                  <a:t>L</a:t>
                </a:r>
                <a:endParaRPr lang="en-US" sz="1200" baseline="-25000" dirty="0">
                  <a:solidFill>
                    <a:schemeClr val="accent5">
                      <a:lumMod val="50000"/>
                    </a:schemeClr>
                  </a:solidFill>
                  <a:latin typeface="Arial" charset="0"/>
                </a:endParaRPr>
              </a:p>
            </p:txBody>
          </p:sp>
          <p:sp>
            <p:nvSpPr>
              <p:cNvPr id="10274" name="Rectangle 6">
                <a:extLst>
                  <a:ext uri="{FF2B5EF4-FFF2-40B4-BE49-F238E27FC236}">
                    <a16:creationId xmlns:a16="http://schemas.microsoft.com/office/drawing/2014/main" id="{ADB6FB1F-AD30-D813-660D-63088210D2DA}"/>
                  </a:ext>
                </a:extLst>
              </p:cNvPr>
              <p:cNvSpPr>
                <a:spLocks noChangeArrowheads="1"/>
              </p:cNvSpPr>
              <p:nvPr/>
            </p:nvSpPr>
            <p:spPr bwMode="auto">
              <a:xfrm>
                <a:off x="974725" y="1431925"/>
                <a:ext cx="533669" cy="437368"/>
              </a:xfrm>
              <a:prstGeom prst="rect">
                <a:avLst/>
              </a:prstGeom>
              <a:noFill/>
              <a:ln w="9525">
                <a:noFill/>
                <a:miter lim="800000"/>
                <a:headEnd/>
                <a:tailEnd/>
              </a:ln>
            </p:spPr>
            <p:txBody>
              <a:bodyPr wrap="none" lIns="92075" tIns="46038" rIns="92075" bIns="46038">
                <a:spAutoFit/>
              </a:bodyPr>
              <a:lstStyle/>
              <a:p>
                <a:pPr>
                  <a:defRPr/>
                </a:pPr>
                <a:r>
                  <a:rPr lang="pl-PL" sz="1200" dirty="0">
                    <a:solidFill>
                      <a:schemeClr val="accent5">
                        <a:lumMod val="50000"/>
                      </a:schemeClr>
                    </a:solidFill>
                    <a:latin typeface="Arial" charset="0"/>
                  </a:rPr>
                  <a:t>L</a:t>
                </a:r>
                <a:endParaRPr lang="en-US" sz="1200" baseline="-25000" dirty="0">
                  <a:solidFill>
                    <a:schemeClr val="accent5">
                      <a:lumMod val="50000"/>
                    </a:schemeClr>
                  </a:solidFill>
                  <a:latin typeface="Arial" charset="0"/>
                </a:endParaRPr>
              </a:p>
            </p:txBody>
          </p:sp>
          <p:sp>
            <p:nvSpPr>
              <p:cNvPr id="10275" name="Arc 8">
                <a:extLst>
                  <a:ext uri="{FF2B5EF4-FFF2-40B4-BE49-F238E27FC236}">
                    <a16:creationId xmlns:a16="http://schemas.microsoft.com/office/drawing/2014/main" id="{AABE73D8-BEC5-4F04-FEC8-1DCBDD0A0729}"/>
                  </a:ext>
                </a:extLst>
              </p:cNvPr>
              <p:cNvSpPr>
                <a:spLocks/>
              </p:cNvSpPr>
              <p:nvPr/>
            </p:nvSpPr>
            <p:spPr bwMode="auto">
              <a:xfrm rot="10800000">
                <a:off x="2475808" y="1661998"/>
                <a:ext cx="3574454" cy="2833397"/>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chemeClr val="tx1"/>
                </a:solidFill>
                <a:round/>
                <a:headEnd type="none" w="sm" len="sm"/>
                <a:tailEnd type="none" w="sm" len="sm"/>
              </a:ln>
            </p:spPr>
            <p:txBody>
              <a:bodyPr wrap="none" anchor="ctr"/>
              <a:lstStyle/>
              <a:p>
                <a:pPr>
                  <a:defRPr/>
                </a:pPr>
                <a:endParaRPr lang="pl-PL" sz="1100">
                  <a:solidFill>
                    <a:schemeClr val="accent5">
                      <a:lumMod val="50000"/>
                    </a:schemeClr>
                  </a:solidFill>
                  <a:latin typeface="Arial" charset="0"/>
                </a:endParaRPr>
              </a:p>
            </p:txBody>
          </p:sp>
          <p:sp>
            <p:nvSpPr>
              <p:cNvPr id="10276" name="Line 10">
                <a:extLst>
                  <a:ext uri="{FF2B5EF4-FFF2-40B4-BE49-F238E27FC236}">
                    <a16:creationId xmlns:a16="http://schemas.microsoft.com/office/drawing/2014/main" id="{A5D0E7BF-13E1-C245-207F-8780A6D3F651}"/>
                  </a:ext>
                </a:extLst>
              </p:cNvPr>
              <p:cNvSpPr>
                <a:spLocks noChangeShapeType="1"/>
              </p:cNvSpPr>
              <p:nvPr/>
            </p:nvSpPr>
            <p:spPr bwMode="auto">
              <a:xfrm>
                <a:off x="1612685" y="3295015"/>
                <a:ext cx="2858313" cy="1818074"/>
              </a:xfrm>
              <a:prstGeom prst="line">
                <a:avLst/>
              </a:prstGeom>
              <a:noFill/>
              <a:ln w="12700">
                <a:solidFill>
                  <a:schemeClr val="tx1"/>
                </a:solidFill>
                <a:round/>
                <a:headEnd type="none" w="sm" len="sm"/>
                <a:tailEnd type="none" w="sm" len="sm"/>
              </a:ln>
            </p:spPr>
            <p:txBody>
              <a:bodyPr wrap="none" anchor="ctr"/>
              <a:lstStyle/>
              <a:p>
                <a:pPr>
                  <a:defRPr/>
                </a:pPr>
                <a:endParaRPr lang="pl-PL" sz="1100">
                  <a:solidFill>
                    <a:schemeClr val="accent5">
                      <a:lumMod val="50000"/>
                    </a:schemeClr>
                  </a:solidFill>
                  <a:latin typeface="Arial" charset="0"/>
                </a:endParaRPr>
              </a:p>
            </p:txBody>
          </p:sp>
          <p:sp>
            <p:nvSpPr>
              <p:cNvPr id="10277" name="Line 11">
                <a:extLst>
                  <a:ext uri="{FF2B5EF4-FFF2-40B4-BE49-F238E27FC236}">
                    <a16:creationId xmlns:a16="http://schemas.microsoft.com/office/drawing/2014/main" id="{4A713A18-73A6-09E1-1485-8EBE70FF0009}"/>
                  </a:ext>
                </a:extLst>
              </p:cNvPr>
              <p:cNvSpPr>
                <a:spLocks noChangeShapeType="1"/>
              </p:cNvSpPr>
              <p:nvPr/>
            </p:nvSpPr>
            <p:spPr bwMode="auto">
              <a:xfrm>
                <a:off x="1612685" y="3982732"/>
                <a:ext cx="1763773" cy="1122856"/>
              </a:xfrm>
              <a:prstGeom prst="line">
                <a:avLst/>
              </a:prstGeom>
              <a:noFill/>
              <a:ln w="12700">
                <a:solidFill>
                  <a:schemeClr val="tx1"/>
                </a:solidFill>
                <a:round/>
                <a:headEnd type="none" w="sm" len="sm"/>
                <a:tailEnd type="none" w="sm" len="sm"/>
              </a:ln>
            </p:spPr>
            <p:txBody>
              <a:bodyPr wrap="none" anchor="ctr"/>
              <a:lstStyle/>
              <a:p>
                <a:pPr>
                  <a:defRPr/>
                </a:pPr>
                <a:endParaRPr lang="pl-PL" sz="1100">
                  <a:solidFill>
                    <a:schemeClr val="accent5">
                      <a:lumMod val="50000"/>
                    </a:schemeClr>
                  </a:solidFill>
                  <a:latin typeface="Arial" charset="0"/>
                </a:endParaRPr>
              </a:p>
            </p:txBody>
          </p:sp>
          <p:sp>
            <p:nvSpPr>
              <p:cNvPr id="10278" name="Line 12">
                <a:extLst>
                  <a:ext uri="{FF2B5EF4-FFF2-40B4-BE49-F238E27FC236}">
                    <a16:creationId xmlns:a16="http://schemas.microsoft.com/office/drawing/2014/main" id="{AB02155E-2FEB-A08F-4A56-0CBB431F13EA}"/>
                  </a:ext>
                </a:extLst>
              </p:cNvPr>
              <p:cNvSpPr>
                <a:spLocks noChangeShapeType="1"/>
              </p:cNvSpPr>
              <p:nvPr/>
            </p:nvSpPr>
            <p:spPr bwMode="auto">
              <a:xfrm>
                <a:off x="1612685" y="2479757"/>
                <a:ext cx="4143615" cy="2635833"/>
              </a:xfrm>
              <a:prstGeom prst="line">
                <a:avLst/>
              </a:prstGeom>
              <a:noFill/>
              <a:ln w="12700">
                <a:solidFill>
                  <a:schemeClr val="tx1"/>
                </a:solidFill>
                <a:round/>
                <a:headEnd type="none" w="sm" len="sm"/>
                <a:tailEnd type="none" w="sm" len="sm"/>
              </a:ln>
            </p:spPr>
            <p:txBody>
              <a:bodyPr wrap="none" anchor="ctr"/>
              <a:lstStyle/>
              <a:p>
                <a:pPr>
                  <a:defRPr/>
                </a:pPr>
                <a:endParaRPr lang="pl-PL" sz="1100">
                  <a:solidFill>
                    <a:schemeClr val="accent5">
                      <a:lumMod val="50000"/>
                    </a:schemeClr>
                  </a:solidFill>
                  <a:latin typeface="Arial" charset="0"/>
                </a:endParaRPr>
              </a:p>
            </p:txBody>
          </p:sp>
          <p:sp>
            <p:nvSpPr>
              <p:cNvPr id="10279" name="Oval 22">
                <a:extLst>
                  <a:ext uri="{FF2B5EF4-FFF2-40B4-BE49-F238E27FC236}">
                    <a16:creationId xmlns:a16="http://schemas.microsoft.com/office/drawing/2014/main" id="{89299E57-3D5D-37B7-0A11-97480429ECCD}"/>
                  </a:ext>
                </a:extLst>
              </p:cNvPr>
              <p:cNvSpPr>
                <a:spLocks noChangeArrowheads="1"/>
              </p:cNvSpPr>
              <p:nvPr/>
            </p:nvSpPr>
            <p:spPr bwMode="auto">
              <a:xfrm>
                <a:off x="3526567" y="3622618"/>
                <a:ext cx="187635" cy="187560"/>
              </a:xfrm>
              <a:prstGeom prst="ellipse">
                <a:avLst/>
              </a:prstGeom>
              <a:solidFill>
                <a:schemeClr val="accent1"/>
              </a:solidFill>
              <a:ln w="9525">
                <a:noFill/>
                <a:round/>
                <a:headEnd/>
                <a:tailEnd/>
              </a:ln>
            </p:spPr>
            <p:txBody>
              <a:bodyPr wrap="none" anchor="ctr"/>
              <a:lstStyle/>
              <a:p>
                <a:pPr>
                  <a:defRPr/>
                </a:pPr>
                <a:endParaRPr lang="pl-PL" sz="1200">
                  <a:solidFill>
                    <a:schemeClr val="accent5">
                      <a:lumMod val="50000"/>
                    </a:schemeClr>
                  </a:solidFill>
                  <a:latin typeface="Arial" charset="0"/>
                </a:endParaRPr>
              </a:p>
            </p:txBody>
          </p:sp>
          <p:sp>
            <p:nvSpPr>
              <p:cNvPr id="10280" name="Oval 23">
                <a:extLst>
                  <a:ext uri="{FF2B5EF4-FFF2-40B4-BE49-F238E27FC236}">
                    <a16:creationId xmlns:a16="http://schemas.microsoft.com/office/drawing/2014/main" id="{9010B06E-5F87-900D-C403-C5996C6493B1}"/>
                  </a:ext>
                </a:extLst>
              </p:cNvPr>
              <p:cNvSpPr>
                <a:spLocks noChangeArrowheads="1"/>
              </p:cNvSpPr>
              <p:nvPr/>
            </p:nvSpPr>
            <p:spPr bwMode="auto">
              <a:xfrm>
                <a:off x="2941769" y="4085265"/>
                <a:ext cx="187635" cy="187559"/>
              </a:xfrm>
              <a:prstGeom prst="ellipse">
                <a:avLst/>
              </a:prstGeom>
              <a:solidFill>
                <a:schemeClr val="accent1"/>
              </a:solidFill>
              <a:ln w="9525">
                <a:noFill/>
                <a:round/>
                <a:headEnd/>
                <a:tailEnd/>
              </a:ln>
            </p:spPr>
            <p:txBody>
              <a:bodyPr wrap="none" anchor="ctr"/>
              <a:lstStyle/>
              <a:p>
                <a:pPr>
                  <a:defRPr/>
                </a:pPr>
                <a:endParaRPr lang="pl-PL" sz="1200">
                  <a:solidFill>
                    <a:schemeClr val="accent5">
                      <a:lumMod val="50000"/>
                    </a:schemeClr>
                  </a:solidFill>
                  <a:latin typeface="Arial" charset="0"/>
                </a:endParaRPr>
              </a:p>
            </p:txBody>
          </p:sp>
          <p:sp>
            <p:nvSpPr>
              <p:cNvPr id="10281" name="Oval 24">
                <a:extLst>
                  <a:ext uri="{FF2B5EF4-FFF2-40B4-BE49-F238E27FC236}">
                    <a16:creationId xmlns:a16="http://schemas.microsoft.com/office/drawing/2014/main" id="{73491D31-77FE-7064-B5D9-DF4F7A88C4E0}"/>
                  </a:ext>
                </a:extLst>
              </p:cNvPr>
              <p:cNvSpPr>
                <a:spLocks noChangeArrowheads="1"/>
              </p:cNvSpPr>
              <p:nvPr/>
            </p:nvSpPr>
            <p:spPr bwMode="auto">
              <a:xfrm>
                <a:off x="2441408" y="4427872"/>
                <a:ext cx="187635" cy="187560"/>
              </a:xfrm>
              <a:prstGeom prst="ellipse">
                <a:avLst/>
              </a:prstGeom>
              <a:solidFill>
                <a:schemeClr val="accent1"/>
              </a:solidFill>
              <a:ln w="9525">
                <a:noFill/>
                <a:round/>
                <a:headEnd/>
                <a:tailEnd/>
              </a:ln>
            </p:spPr>
            <p:txBody>
              <a:bodyPr wrap="none" anchor="ctr"/>
              <a:lstStyle/>
              <a:p>
                <a:pPr>
                  <a:defRPr/>
                </a:pPr>
                <a:endParaRPr lang="pl-PL" sz="1200">
                  <a:solidFill>
                    <a:schemeClr val="accent5">
                      <a:lumMod val="50000"/>
                    </a:schemeClr>
                  </a:solidFill>
                  <a:latin typeface="Arial" charset="0"/>
                </a:endParaRPr>
              </a:p>
            </p:txBody>
          </p:sp>
        </p:grpSp>
        <p:sp>
          <p:nvSpPr>
            <p:cNvPr id="10268" name="Arc 8">
              <a:extLst>
                <a:ext uri="{FF2B5EF4-FFF2-40B4-BE49-F238E27FC236}">
                  <a16:creationId xmlns:a16="http://schemas.microsoft.com/office/drawing/2014/main" id="{469EC134-15AF-67D3-6170-1527D55C7B48}"/>
                </a:ext>
              </a:extLst>
            </p:cNvPr>
            <p:cNvSpPr>
              <a:spLocks/>
            </p:cNvSpPr>
            <p:nvPr/>
          </p:nvSpPr>
          <p:spPr bwMode="auto">
            <a:xfrm rot="10800000">
              <a:off x="2020494" y="2218068"/>
              <a:ext cx="2683187" cy="256331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chemeClr val="tx1"/>
              </a:solidFill>
              <a:round/>
              <a:headEnd type="none" w="sm" len="sm"/>
              <a:tailEnd type="none" w="sm" len="sm"/>
            </a:ln>
          </p:spPr>
          <p:txBody>
            <a:bodyPr wrap="none" anchor="ctr"/>
            <a:lstStyle/>
            <a:p>
              <a:pPr>
                <a:defRPr/>
              </a:pPr>
              <a:endParaRPr lang="pl-PL" sz="1100">
                <a:solidFill>
                  <a:schemeClr val="accent5">
                    <a:lumMod val="50000"/>
                  </a:schemeClr>
                </a:solidFill>
                <a:latin typeface="Arial" charset="0"/>
              </a:endParaRPr>
            </a:p>
          </p:txBody>
        </p:sp>
        <p:cxnSp>
          <p:nvCxnSpPr>
            <p:cNvPr id="28" name="Łącznik prosty 27">
              <a:extLst>
                <a:ext uri="{FF2B5EF4-FFF2-40B4-BE49-F238E27FC236}">
                  <a16:creationId xmlns:a16="http://schemas.microsoft.com/office/drawing/2014/main" id="{8D0D13F5-2810-57F9-1330-4BDB7E9EFAD3}"/>
                </a:ext>
              </a:extLst>
            </p:cNvPr>
            <p:cNvCxnSpPr/>
            <p:nvPr/>
          </p:nvCxnSpPr>
          <p:spPr>
            <a:xfrm flipV="1">
              <a:off x="2198748" y="3596003"/>
              <a:ext cx="1663701" cy="1192878"/>
            </a:xfrm>
            <a:prstGeom prst="line">
              <a:avLst/>
            </a:prstGeom>
          </p:spPr>
          <p:style>
            <a:lnRef idx="3">
              <a:schemeClr val="accent2"/>
            </a:lnRef>
            <a:fillRef idx="0">
              <a:schemeClr val="accent2"/>
            </a:fillRef>
            <a:effectRef idx="2">
              <a:schemeClr val="accent2"/>
            </a:effectRef>
            <a:fontRef idx="minor">
              <a:schemeClr val="tx1"/>
            </a:fontRef>
          </p:style>
        </p:cxnSp>
        <p:sp>
          <p:nvSpPr>
            <p:cNvPr id="10270" name="Arc 8">
              <a:extLst>
                <a:ext uri="{FF2B5EF4-FFF2-40B4-BE49-F238E27FC236}">
                  <a16:creationId xmlns:a16="http://schemas.microsoft.com/office/drawing/2014/main" id="{7FA16BA2-EEFF-9054-D00E-15197CC06C43}"/>
                </a:ext>
              </a:extLst>
            </p:cNvPr>
            <p:cNvSpPr>
              <a:spLocks/>
            </p:cNvSpPr>
            <p:nvPr/>
          </p:nvSpPr>
          <p:spPr bwMode="auto">
            <a:xfrm rot="10800000">
              <a:off x="1742169" y="3163367"/>
              <a:ext cx="2298533" cy="1875593"/>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chemeClr val="tx1"/>
              </a:solidFill>
              <a:round/>
              <a:headEnd type="none" w="sm" len="sm"/>
              <a:tailEnd type="none" w="sm" len="sm"/>
            </a:ln>
          </p:spPr>
          <p:txBody>
            <a:bodyPr wrap="none" anchor="ctr"/>
            <a:lstStyle/>
            <a:p>
              <a:pPr>
                <a:defRPr/>
              </a:pPr>
              <a:endParaRPr lang="pl-PL" sz="1100">
                <a:solidFill>
                  <a:schemeClr val="accent5">
                    <a:lumMod val="50000"/>
                  </a:schemeClr>
                </a:solidFill>
                <a:latin typeface="Arial" charset="0"/>
              </a:endParaRPr>
            </a:p>
          </p:txBody>
        </p:sp>
      </p:grpSp>
      <p:graphicFrame>
        <p:nvGraphicFramePr>
          <p:cNvPr id="18437" name="Object 4">
            <a:extLst>
              <a:ext uri="{FF2B5EF4-FFF2-40B4-BE49-F238E27FC236}">
                <a16:creationId xmlns:a16="http://schemas.microsoft.com/office/drawing/2014/main" id="{38D6E25C-0C7F-36F3-142D-1D08239CFA7A}"/>
              </a:ext>
            </a:extLst>
          </p:cNvPr>
          <p:cNvGraphicFramePr>
            <a:graphicFrameLocks/>
          </p:cNvGraphicFramePr>
          <p:nvPr>
            <p:extLst>
              <p:ext uri="{D42A27DB-BD31-4B8C-83A1-F6EECF244321}">
                <p14:modId xmlns:p14="http://schemas.microsoft.com/office/powerpoint/2010/main" val="1863724375"/>
              </p:ext>
            </p:extLst>
          </p:nvPr>
        </p:nvGraphicFramePr>
        <p:xfrm>
          <a:off x="2472133" y="1156199"/>
          <a:ext cx="2532062" cy="515938"/>
        </p:xfrm>
        <a:graphic>
          <a:graphicData uri="http://schemas.openxmlformats.org/presentationml/2006/ole">
            <mc:AlternateContent xmlns:mc="http://schemas.openxmlformats.org/markup-compatibility/2006">
              <mc:Choice xmlns:v="urn:schemas-microsoft-com:vml" Requires="v">
                <p:oleObj name="Równanie" r:id="rId4" imgW="1036463" imgH="160004" progId="Equation.3">
                  <p:embed/>
                </p:oleObj>
              </mc:Choice>
              <mc:Fallback>
                <p:oleObj name="Równanie" r:id="rId4" imgW="1036463" imgH="160004" progId="Equation.3">
                  <p:embed/>
                  <p:pic>
                    <p:nvPicPr>
                      <p:cNvPr id="18437" name="Object 4">
                        <a:extLst>
                          <a:ext uri="{FF2B5EF4-FFF2-40B4-BE49-F238E27FC236}">
                            <a16:creationId xmlns:a16="http://schemas.microsoft.com/office/drawing/2014/main" id="{38D6E25C-0C7F-36F3-142D-1D08239CFA7A}"/>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72133" y="1156199"/>
                        <a:ext cx="2532062"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38" name="Object 21">
            <a:extLst>
              <a:ext uri="{FF2B5EF4-FFF2-40B4-BE49-F238E27FC236}">
                <a16:creationId xmlns:a16="http://schemas.microsoft.com/office/drawing/2014/main" id="{36FB6053-0B0A-5A86-076E-F9261CD7FB6A}"/>
              </a:ext>
            </a:extLst>
          </p:cNvPr>
          <p:cNvGraphicFramePr>
            <a:graphicFrameLocks noChangeAspect="1"/>
          </p:cNvGraphicFramePr>
          <p:nvPr>
            <p:extLst>
              <p:ext uri="{D42A27DB-BD31-4B8C-83A1-F6EECF244321}">
                <p14:modId xmlns:p14="http://schemas.microsoft.com/office/powerpoint/2010/main" val="2981934583"/>
              </p:ext>
            </p:extLst>
          </p:nvPr>
        </p:nvGraphicFramePr>
        <p:xfrm>
          <a:off x="2459210" y="1825592"/>
          <a:ext cx="2581275" cy="1514475"/>
        </p:xfrm>
        <a:graphic>
          <a:graphicData uri="http://schemas.openxmlformats.org/presentationml/2006/ole">
            <mc:AlternateContent xmlns:mc="http://schemas.openxmlformats.org/markup-compatibility/2006">
              <mc:Choice xmlns:v="urn:schemas-microsoft-com:vml" Requires="v">
                <p:oleObj name="Równanie" r:id="rId6" imgW="1422400" imgH="889000" progId="Equation.3">
                  <p:embed/>
                </p:oleObj>
              </mc:Choice>
              <mc:Fallback>
                <p:oleObj name="Równanie" r:id="rId6" imgW="1422400" imgH="889000" progId="Equation.3">
                  <p:embed/>
                  <p:pic>
                    <p:nvPicPr>
                      <p:cNvPr id="18438" name="Object 21">
                        <a:extLst>
                          <a:ext uri="{FF2B5EF4-FFF2-40B4-BE49-F238E27FC236}">
                            <a16:creationId xmlns:a16="http://schemas.microsoft.com/office/drawing/2014/main" id="{36FB6053-0B0A-5A86-076E-F9261CD7FB6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59210" y="1825592"/>
                        <a:ext cx="2581275" cy="151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50" name="pole tekstowe 64">
            <a:extLst>
              <a:ext uri="{FF2B5EF4-FFF2-40B4-BE49-F238E27FC236}">
                <a16:creationId xmlns:a16="http://schemas.microsoft.com/office/drawing/2014/main" id="{23284A11-C9CB-A094-017E-186DF87957BF}"/>
              </a:ext>
            </a:extLst>
          </p:cNvPr>
          <p:cNvSpPr txBox="1">
            <a:spLocks noChangeArrowheads="1"/>
          </p:cNvSpPr>
          <p:nvPr/>
        </p:nvSpPr>
        <p:spPr bwMode="auto">
          <a:xfrm>
            <a:off x="2523964" y="3802904"/>
            <a:ext cx="2417373" cy="2031325"/>
          </a:xfrm>
          <a:prstGeom prst="rect">
            <a:avLst/>
          </a:prstGeom>
          <a:noFill/>
          <a:ln w="9525">
            <a:noFill/>
            <a:miter lim="800000"/>
            <a:headEnd/>
            <a:tailEnd/>
          </a:ln>
        </p:spPr>
        <p:txBody>
          <a:bodyPr wrap="square">
            <a:spAutoFit/>
          </a:bodyPr>
          <a:lstStyle/>
          <a:p>
            <a:pPr algn="just">
              <a:defRPr/>
            </a:pPr>
            <a:r>
              <a:rPr lang="en-US" dirty="0">
                <a:solidFill>
                  <a:schemeClr val="accent5">
                    <a:lumMod val="50000"/>
                  </a:schemeClr>
                </a:solidFill>
                <a:latin typeface="+mj-lt"/>
              </a:rPr>
              <a:t>Constant proportion of expenditure on K to expenditure on L depending on the parameters of the production function </a:t>
            </a:r>
            <a:endParaRPr lang="pl-PL" dirty="0">
              <a:solidFill>
                <a:schemeClr val="accent5">
                  <a:lumMod val="50000"/>
                </a:schemeClr>
              </a:solidFill>
              <a:latin typeface="+mj-lt"/>
            </a:endParaRPr>
          </a:p>
          <a:p>
            <a:pPr algn="just">
              <a:defRPr/>
            </a:pPr>
            <a:r>
              <a:rPr lang="en-US" dirty="0">
                <a:solidFill>
                  <a:schemeClr val="accent5">
                    <a:lumMod val="50000"/>
                  </a:schemeClr>
                </a:solidFill>
                <a:latin typeface="+mj-lt"/>
              </a:rPr>
              <a:t>--&gt; S= a/b</a:t>
            </a:r>
            <a:endParaRPr lang="pl-PL" dirty="0">
              <a:solidFill>
                <a:schemeClr val="accent5">
                  <a:lumMod val="50000"/>
                </a:schemeClr>
              </a:solidFill>
              <a:latin typeface="+mj-lt"/>
            </a:endParaRPr>
          </a:p>
        </p:txBody>
      </p:sp>
      <p:grpSp>
        <p:nvGrpSpPr>
          <p:cNvPr id="18441" name="Grupa 40">
            <a:extLst>
              <a:ext uri="{FF2B5EF4-FFF2-40B4-BE49-F238E27FC236}">
                <a16:creationId xmlns:a16="http://schemas.microsoft.com/office/drawing/2014/main" id="{D440E295-18E1-72C0-AEEF-2EB5D55ECCE4}"/>
              </a:ext>
            </a:extLst>
          </p:cNvPr>
          <p:cNvGrpSpPr>
            <a:grpSpLocks/>
          </p:cNvGrpSpPr>
          <p:nvPr/>
        </p:nvGrpSpPr>
        <p:grpSpPr bwMode="auto">
          <a:xfrm>
            <a:off x="9533102" y="1253499"/>
            <a:ext cx="2278686" cy="2225389"/>
            <a:chOff x="900113" y="3038475"/>
            <a:chExt cx="3224876" cy="2888860"/>
          </a:xfrm>
        </p:grpSpPr>
        <p:grpSp>
          <p:nvGrpSpPr>
            <p:cNvPr id="18444" name="Grupa 37">
              <a:extLst>
                <a:ext uri="{FF2B5EF4-FFF2-40B4-BE49-F238E27FC236}">
                  <a16:creationId xmlns:a16="http://schemas.microsoft.com/office/drawing/2014/main" id="{F04F9F33-FA07-09B7-6FAE-DA8E87065ED5}"/>
                </a:ext>
              </a:extLst>
            </p:cNvPr>
            <p:cNvGrpSpPr>
              <a:grpSpLocks/>
            </p:cNvGrpSpPr>
            <p:nvPr/>
          </p:nvGrpSpPr>
          <p:grpSpPr bwMode="auto">
            <a:xfrm>
              <a:off x="900113" y="3038475"/>
              <a:ext cx="3224876" cy="2888860"/>
              <a:chOff x="991627" y="1460328"/>
              <a:chExt cx="5675988" cy="4222730"/>
            </a:xfrm>
          </p:grpSpPr>
          <p:grpSp>
            <p:nvGrpSpPr>
              <p:cNvPr id="18449" name="Grupa 4">
                <a:extLst>
                  <a:ext uri="{FF2B5EF4-FFF2-40B4-BE49-F238E27FC236}">
                    <a16:creationId xmlns:a16="http://schemas.microsoft.com/office/drawing/2014/main" id="{1F51FBCC-20FD-9934-FEA6-A995724D80BD}"/>
                  </a:ext>
                </a:extLst>
              </p:cNvPr>
              <p:cNvGrpSpPr>
                <a:grpSpLocks/>
              </p:cNvGrpSpPr>
              <p:nvPr/>
            </p:nvGrpSpPr>
            <p:grpSpPr bwMode="auto">
              <a:xfrm>
                <a:off x="991627" y="1460328"/>
                <a:ext cx="5675988" cy="4222730"/>
                <a:chOff x="974725" y="1431925"/>
                <a:chExt cx="5675988" cy="4222730"/>
              </a:xfrm>
            </p:grpSpPr>
            <p:sp>
              <p:nvSpPr>
                <p:cNvPr id="10262" name="Line 3">
                  <a:extLst>
                    <a:ext uri="{FF2B5EF4-FFF2-40B4-BE49-F238E27FC236}">
                      <a16:creationId xmlns:a16="http://schemas.microsoft.com/office/drawing/2014/main" id="{D2A5F24D-12E8-6590-E73E-D04E9E1E56E0}"/>
                    </a:ext>
                  </a:extLst>
                </p:cNvPr>
                <p:cNvSpPr>
                  <a:spLocks noChangeShapeType="1"/>
                </p:cNvSpPr>
                <p:nvPr/>
              </p:nvSpPr>
              <p:spPr bwMode="auto">
                <a:xfrm>
                  <a:off x="1620230" y="1689617"/>
                  <a:ext cx="0" cy="3408028"/>
                </a:xfrm>
                <a:prstGeom prst="line">
                  <a:avLst/>
                </a:prstGeom>
                <a:noFill/>
                <a:ln w="12700">
                  <a:solidFill>
                    <a:schemeClr val="tx1"/>
                  </a:solidFill>
                  <a:round/>
                  <a:headEnd type="stealth" w="med" len="lg"/>
                  <a:tailEnd type="none" w="sm" len="sm"/>
                </a:ln>
              </p:spPr>
              <p:txBody>
                <a:bodyPr wrap="none" anchor="ctr"/>
                <a:lstStyle/>
                <a:p>
                  <a:pPr>
                    <a:defRPr/>
                  </a:pPr>
                  <a:endParaRPr lang="pl-PL" sz="1100">
                    <a:solidFill>
                      <a:schemeClr val="accent5">
                        <a:lumMod val="50000"/>
                      </a:schemeClr>
                    </a:solidFill>
                    <a:latin typeface="Arial" charset="0"/>
                  </a:endParaRPr>
                </a:p>
              </p:txBody>
            </p:sp>
            <p:sp>
              <p:nvSpPr>
                <p:cNvPr id="10263" name="Line 4">
                  <a:extLst>
                    <a:ext uri="{FF2B5EF4-FFF2-40B4-BE49-F238E27FC236}">
                      <a16:creationId xmlns:a16="http://schemas.microsoft.com/office/drawing/2014/main" id="{657D3DA3-1D68-1525-8257-916EE628E465}"/>
                    </a:ext>
                  </a:extLst>
                </p:cNvPr>
                <p:cNvSpPr>
                  <a:spLocks noChangeShapeType="1"/>
                </p:cNvSpPr>
                <p:nvPr/>
              </p:nvSpPr>
              <p:spPr bwMode="auto">
                <a:xfrm>
                  <a:off x="1620230" y="5097645"/>
                  <a:ext cx="4510157" cy="0"/>
                </a:xfrm>
                <a:prstGeom prst="line">
                  <a:avLst/>
                </a:prstGeom>
                <a:noFill/>
                <a:ln w="12700">
                  <a:solidFill>
                    <a:schemeClr val="tx1"/>
                  </a:solidFill>
                  <a:round/>
                  <a:headEnd type="none" w="sm" len="sm"/>
                  <a:tailEnd type="stealth" w="med" len="lg"/>
                </a:ln>
              </p:spPr>
              <p:txBody>
                <a:bodyPr wrap="none" anchor="ctr"/>
                <a:lstStyle/>
                <a:p>
                  <a:pPr>
                    <a:defRPr/>
                  </a:pPr>
                  <a:endParaRPr lang="pl-PL" sz="1100">
                    <a:solidFill>
                      <a:schemeClr val="accent5">
                        <a:lumMod val="50000"/>
                      </a:schemeClr>
                    </a:solidFill>
                    <a:latin typeface="Arial" charset="0"/>
                  </a:endParaRPr>
                </a:p>
              </p:txBody>
            </p:sp>
            <p:sp>
              <p:nvSpPr>
                <p:cNvPr id="10264" name="Rectangle 5">
                  <a:extLst>
                    <a:ext uri="{FF2B5EF4-FFF2-40B4-BE49-F238E27FC236}">
                      <a16:creationId xmlns:a16="http://schemas.microsoft.com/office/drawing/2014/main" id="{D43EC3A2-FACA-03FF-B61E-540C9EAD4956}"/>
                    </a:ext>
                  </a:extLst>
                </p:cNvPr>
                <p:cNvSpPr>
                  <a:spLocks noChangeArrowheads="1"/>
                </p:cNvSpPr>
                <p:nvPr/>
              </p:nvSpPr>
              <p:spPr bwMode="auto">
                <a:xfrm>
                  <a:off x="5931985" y="5127824"/>
                  <a:ext cx="718728" cy="526831"/>
                </a:xfrm>
                <a:prstGeom prst="rect">
                  <a:avLst/>
                </a:prstGeom>
                <a:noFill/>
                <a:ln w="9525">
                  <a:noFill/>
                  <a:miter lim="800000"/>
                  <a:headEnd/>
                  <a:tailEnd/>
                </a:ln>
              </p:spPr>
              <p:txBody>
                <a:bodyPr wrap="none" lIns="92075" tIns="46038" rIns="92075" bIns="46038">
                  <a:spAutoFit/>
                </a:bodyPr>
                <a:lstStyle/>
                <a:p>
                  <a:pPr>
                    <a:defRPr/>
                  </a:pPr>
                  <a:r>
                    <a:rPr lang="pl-PL" sz="1200" dirty="0">
                      <a:solidFill>
                        <a:schemeClr val="accent5">
                          <a:lumMod val="50000"/>
                        </a:schemeClr>
                      </a:solidFill>
                      <a:latin typeface="Arial" charset="0"/>
                    </a:rPr>
                    <a:t>K</a:t>
                  </a:r>
                  <a:endParaRPr lang="en-US" sz="1200" baseline="-25000" dirty="0">
                    <a:solidFill>
                      <a:schemeClr val="accent5">
                        <a:lumMod val="50000"/>
                      </a:schemeClr>
                    </a:solidFill>
                    <a:latin typeface="Arial" charset="0"/>
                  </a:endParaRPr>
                </a:p>
              </p:txBody>
            </p:sp>
            <p:sp>
              <p:nvSpPr>
                <p:cNvPr id="10265" name="Rectangle 6">
                  <a:extLst>
                    <a:ext uri="{FF2B5EF4-FFF2-40B4-BE49-F238E27FC236}">
                      <a16:creationId xmlns:a16="http://schemas.microsoft.com/office/drawing/2014/main" id="{0BDD4516-6A99-0AFC-BBE8-D9ED3CF36430}"/>
                    </a:ext>
                  </a:extLst>
                </p:cNvPr>
                <p:cNvSpPr>
                  <a:spLocks noChangeArrowheads="1"/>
                </p:cNvSpPr>
                <p:nvPr/>
              </p:nvSpPr>
              <p:spPr bwMode="auto">
                <a:xfrm>
                  <a:off x="974725" y="1431925"/>
                  <a:ext cx="674806" cy="526831"/>
                </a:xfrm>
                <a:prstGeom prst="rect">
                  <a:avLst/>
                </a:prstGeom>
                <a:noFill/>
                <a:ln w="9525">
                  <a:noFill/>
                  <a:miter lim="800000"/>
                  <a:headEnd/>
                  <a:tailEnd/>
                </a:ln>
              </p:spPr>
              <p:txBody>
                <a:bodyPr wrap="none" lIns="92075" tIns="46038" rIns="92075" bIns="46038">
                  <a:spAutoFit/>
                </a:bodyPr>
                <a:lstStyle/>
                <a:p>
                  <a:pPr>
                    <a:defRPr/>
                  </a:pPr>
                  <a:r>
                    <a:rPr lang="pl-PL" sz="1200" dirty="0">
                      <a:solidFill>
                        <a:schemeClr val="accent5">
                          <a:lumMod val="50000"/>
                        </a:schemeClr>
                      </a:solidFill>
                      <a:latin typeface="Arial" charset="0"/>
                    </a:rPr>
                    <a:t>L</a:t>
                  </a:r>
                  <a:endParaRPr lang="en-US" sz="1200" baseline="-25000" dirty="0">
                    <a:solidFill>
                      <a:schemeClr val="accent5">
                        <a:lumMod val="50000"/>
                      </a:schemeClr>
                    </a:solidFill>
                    <a:latin typeface="Arial" charset="0"/>
                  </a:endParaRPr>
                </a:p>
              </p:txBody>
            </p:sp>
            <p:sp>
              <p:nvSpPr>
                <p:cNvPr id="10266" name="Arc 8">
                  <a:extLst>
                    <a:ext uri="{FF2B5EF4-FFF2-40B4-BE49-F238E27FC236}">
                      <a16:creationId xmlns:a16="http://schemas.microsoft.com/office/drawing/2014/main" id="{84517F04-44AC-C0F3-910F-4C74BA89F83B}"/>
                    </a:ext>
                  </a:extLst>
                </p:cNvPr>
                <p:cNvSpPr>
                  <a:spLocks/>
                </p:cNvSpPr>
                <p:nvPr/>
              </p:nvSpPr>
              <p:spPr bwMode="auto">
                <a:xfrm rot="10462729">
                  <a:off x="2307652" y="1626935"/>
                  <a:ext cx="3741699" cy="2867109"/>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chemeClr val="tx1"/>
                  </a:solidFill>
                  <a:round/>
                  <a:headEnd type="none" w="sm" len="sm"/>
                  <a:tailEnd type="none" w="sm" len="sm"/>
                </a:ln>
              </p:spPr>
              <p:txBody>
                <a:bodyPr wrap="none" anchor="ctr"/>
                <a:lstStyle/>
                <a:p>
                  <a:pPr>
                    <a:defRPr/>
                  </a:pPr>
                  <a:endParaRPr lang="pl-PL" sz="1100">
                    <a:solidFill>
                      <a:schemeClr val="accent5">
                        <a:lumMod val="50000"/>
                      </a:schemeClr>
                    </a:solidFill>
                    <a:latin typeface="Arial" charset="0"/>
                  </a:endParaRPr>
                </a:p>
              </p:txBody>
            </p:sp>
          </p:grpSp>
          <p:sp>
            <p:nvSpPr>
              <p:cNvPr id="10260" name="Arc 8">
                <a:extLst>
                  <a:ext uri="{FF2B5EF4-FFF2-40B4-BE49-F238E27FC236}">
                    <a16:creationId xmlns:a16="http://schemas.microsoft.com/office/drawing/2014/main" id="{F5ED83DE-8651-ACE1-23DD-48687A1B39DB}"/>
                  </a:ext>
                </a:extLst>
              </p:cNvPr>
              <p:cNvSpPr>
                <a:spLocks/>
              </p:cNvSpPr>
              <p:nvPr/>
            </p:nvSpPr>
            <p:spPr bwMode="auto">
              <a:xfrm rot="10505561">
                <a:off x="1955693" y="2101074"/>
                <a:ext cx="2816753" cy="258388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chemeClr val="tx1"/>
                </a:solidFill>
                <a:round/>
                <a:headEnd type="none" w="sm" len="sm"/>
                <a:tailEnd type="none" w="sm" len="sm"/>
              </a:ln>
            </p:spPr>
            <p:txBody>
              <a:bodyPr wrap="none" anchor="ctr"/>
              <a:lstStyle/>
              <a:p>
                <a:pPr>
                  <a:defRPr/>
                </a:pPr>
                <a:endParaRPr lang="pl-PL" sz="1100">
                  <a:solidFill>
                    <a:schemeClr val="accent5">
                      <a:lumMod val="50000"/>
                    </a:schemeClr>
                  </a:solidFill>
                  <a:latin typeface="Arial" charset="0"/>
                </a:endParaRPr>
              </a:p>
            </p:txBody>
          </p:sp>
          <p:sp>
            <p:nvSpPr>
              <p:cNvPr id="10261" name="Arc 8">
                <a:extLst>
                  <a:ext uri="{FF2B5EF4-FFF2-40B4-BE49-F238E27FC236}">
                    <a16:creationId xmlns:a16="http://schemas.microsoft.com/office/drawing/2014/main" id="{971D296F-D5A6-E0E7-9142-69778C83122C}"/>
                  </a:ext>
                </a:extLst>
              </p:cNvPr>
              <p:cNvSpPr>
                <a:spLocks/>
              </p:cNvSpPr>
              <p:nvPr/>
            </p:nvSpPr>
            <p:spPr bwMode="auto">
              <a:xfrm rot="10800000">
                <a:off x="1740526" y="3162021"/>
                <a:ext cx="2299788" cy="1878129"/>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5400" cap="rnd">
                <a:solidFill>
                  <a:schemeClr val="tx1"/>
                </a:solidFill>
                <a:round/>
                <a:headEnd type="none" w="sm" len="sm"/>
                <a:tailEnd type="none" w="sm" len="sm"/>
              </a:ln>
            </p:spPr>
            <p:txBody>
              <a:bodyPr wrap="none" anchor="ctr"/>
              <a:lstStyle/>
              <a:p>
                <a:pPr>
                  <a:defRPr/>
                </a:pPr>
                <a:endParaRPr lang="pl-PL" sz="1100">
                  <a:solidFill>
                    <a:schemeClr val="accent5">
                      <a:lumMod val="50000"/>
                    </a:schemeClr>
                  </a:solidFill>
                  <a:latin typeface="Arial" charset="0"/>
                </a:endParaRPr>
              </a:p>
            </p:txBody>
          </p:sp>
        </p:grpSp>
        <p:cxnSp>
          <p:nvCxnSpPr>
            <p:cNvPr id="57" name="Łącznik prosty 56">
              <a:extLst>
                <a:ext uri="{FF2B5EF4-FFF2-40B4-BE49-F238E27FC236}">
                  <a16:creationId xmlns:a16="http://schemas.microsoft.com/office/drawing/2014/main" id="{4D9252C0-33D2-77C2-BC1B-9DCB55BF8429}"/>
                </a:ext>
              </a:extLst>
            </p:cNvPr>
            <p:cNvCxnSpPr>
              <a:stCxn id="10263" idx="0"/>
            </p:cNvCxnSpPr>
            <p:nvPr/>
          </p:nvCxnSpPr>
          <p:spPr>
            <a:xfrm rot="5400000" flipH="1" flipV="1">
              <a:off x="700498" y="4024130"/>
              <a:ext cx="2088508" cy="955776"/>
            </a:xfrm>
            <a:prstGeom prst="line">
              <a:avLst/>
            </a:prstGeom>
          </p:spPr>
          <p:style>
            <a:lnRef idx="3">
              <a:schemeClr val="accent3"/>
            </a:lnRef>
            <a:fillRef idx="0">
              <a:schemeClr val="accent3"/>
            </a:fillRef>
            <a:effectRef idx="2">
              <a:schemeClr val="accent3"/>
            </a:effectRef>
            <a:fontRef idx="minor">
              <a:schemeClr val="tx1"/>
            </a:fontRef>
          </p:style>
        </p:cxnSp>
        <p:sp>
          <p:nvSpPr>
            <p:cNvPr id="10256" name="Line 11">
              <a:extLst>
                <a:ext uri="{FF2B5EF4-FFF2-40B4-BE49-F238E27FC236}">
                  <a16:creationId xmlns:a16="http://schemas.microsoft.com/office/drawing/2014/main" id="{25E7AE9B-E16F-4132-EEBE-2EE37276E48E}"/>
                </a:ext>
              </a:extLst>
            </p:cNvPr>
            <p:cNvSpPr>
              <a:spLocks noChangeShapeType="1"/>
            </p:cNvSpPr>
            <p:nvPr/>
          </p:nvSpPr>
          <p:spPr bwMode="auto">
            <a:xfrm>
              <a:off x="942980" y="4210580"/>
              <a:ext cx="1247907" cy="1496102"/>
            </a:xfrm>
            <a:prstGeom prst="line">
              <a:avLst/>
            </a:prstGeom>
            <a:noFill/>
            <a:ln w="12700">
              <a:solidFill>
                <a:schemeClr val="tx1"/>
              </a:solidFill>
              <a:round/>
              <a:headEnd type="none" w="sm" len="sm"/>
              <a:tailEnd type="none" w="sm" len="sm"/>
            </a:ln>
          </p:spPr>
          <p:txBody>
            <a:bodyPr wrap="none" anchor="ctr"/>
            <a:lstStyle/>
            <a:p>
              <a:pPr>
                <a:defRPr/>
              </a:pPr>
              <a:endParaRPr lang="pl-PL" sz="1100">
                <a:solidFill>
                  <a:schemeClr val="accent5">
                    <a:lumMod val="50000"/>
                  </a:schemeClr>
                </a:solidFill>
                <a:latin typeface="Arial" charset="0"/>
              </a:endParaRPr>
            </a:p>
          </p:txBody>
        </p:sp>
        <p:sp>
          <p:nvSpPr>
            <p:cNvPr id="10257" name="Line 11">
              <a:extLst>
                <a:ext uri="{FF2B5EF4-FFF2-40B4-BE49-F238E27FC236}">
                  <a16:creationId xmlns:a16="http://schemas.microsoft.com/office/drawing/2014/main" id="{09F04ABC-97B1-F630-245C-57A50BF1A366}"/>
                </a:ext>
              </a:extLst>
            </p:cNvPr>
            <p:cNvSpPr>
              <a:spLocks noChangeShapeType="1"/>
            </p:cNvSpPr>
            <p:nvPr/>
          </p:nvSpPr>
          <p:spPr bwMode="auto">
            <a:xfrm>
              <a:off x="1028714" y="3657880"/>
              <a:ext cx="1657526" cy="2039273"/>
            </a:xfrm>
            <a:prstGeom prst="line">
              <a:avLst/>
            </a:prstGeom>
            <a:noFill/>
            <a:ln w="12700">
              <a:solidFill>
                <a:schemeClr val="tx1"/>
              </a:solidFill>
              <a:round/>
              <a:headEnd type="none" w="sm" len="sm"/>
              <a:tailEnd type="none" w="sm" len="sm"/>
            </a:ln>
          </p:spPr>
          <p:txBody>
            <a:bodyPr wrap="none" anchor="ctr"/>
            <a:lstStyle/>
            <a:p>
              <a:pPr>
                <a:defRPr/>
              </a:pPr>
              <a:endParaRPr lang="pl-PL" sz="1100">
                <a:solidFill>
                  <a:schemeClr val="accent5">
                    <a:lumMod val="50000"/>
                  </a:schemeClr>
                </a:solidFill>
                <a:latin typeface="Arial" charset="0"/>
              </a:endParaRPr>
            </a:p>
          </p:txBody>
        </p:sp>
        <p:sp>
          <p:nvSpPr>
            <p:cNvPr id="10258" name="Line 11">
              <a:extLst>
                <a:ext uri="{FF2B5EF4-FFF2-40B4-BE49-F238E27FC236}">
                  <a16:creationId xmlns:a16="http://schemas.microsoft.com/office/drawing/2014/main" id="{47C87C87-AFA2-5976-60AE-9552F4411D44}"/>
                </a:ext>
              </a:extLst>
            </p:cNvPr>
            <p:cNvSpPr>
              <a:spLocks noChangeShapeType="1"/>
            </p:cNvSpPr>
            <p:nvPr/>
          </p:nvSpPr>
          <p:spPr bwMode="auto">
            <a:xfrm>
              <a:off x="1276390" y="3419647"/>
              <a:ext cx="1657526" cy="2039273"/>
            </a:xfrm>
            <a:prstGeom prst="line">
              <a:avLst/>
            </a:prstGeom>
            <a:noFill/>
            <a:ln w="12700">
              <a:solidFill>
                <a:schemeClr val="tx1"/>
              </a:solidFill>
              <a:round/>
              <a:headEnd type="none" w="sm" len="sm"/>
              <a:tailEnd type="none" w="sm" len="sm"/>
            </a:ln>
          </p:spPr>
          <p:txBody>
            <a:bodyPr wrap="none" anchor="ctr"/>
            <a:lstStyle/>
            <a:p>
              <a:pPr>
                <a:defRPr/>
              </a:pPr>
              <a:endParaRPr lang="pl-PL" sz="1100">
                <a:solidFill>
                  <a:schemeClr val="accent5">
                    <a:lumMod val="50000"/>
                  </a:schemeClr>
                </a:solidFill>
                <a:latin typeface="Arial" charset="0"/>
              </a:endParaRPr>
            </a:p>
          </p:txBody>
        </p:sp>
      </p:grpSp>
      <p:sp>
        <p:nvSpPr>
          <p:cNvPr id="3" name="TextBox 2">
            <a:extLst>
              <a:ext uri="{FF2B5EF4-FFF2-40B4-BE49-F238E27FC236}">
                <a16:creationId xmlns:a16="http://schemas.microsoft.com/office/drawing/2014/main" id="{561C36E5-0A34-FBD2-DB57-4A4D66A96E60}"/>
              </a:ext>
            </a:extLst>
          </p:cNvPr>
          <p:cNvSpPr txBox="1"/>
          <p:nvPr/>
        </p:nvSpPr>
        <p:spPr>
          <a:xfrm>
            <a:off x="143192" y="1368179"/>
            <a:ext cx="2103437" cy="513986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800" dirty="0">
                <a:solidFill>
                  <a:schemeClr val="accent5">
                    <a:lumMod val="50000"/>
                  </a:schemeClr>
                </a:solidFill>
              </a:rPr>
              <a:t>kill(all)$ /* Clear all previous definitions and variables */</a:t>
            </a:r>
          </a:p>
          <a:p>
            <a:endParaRPr lang="en-US" sz="800" dirty="0">
              <a:solidFill>
                <a:schemeClr val="accent5">
                  <a:lumMod val="50000"/>
                </a:schemeClr>
              </a:solidFill>
            </a:endParaRPr>
          </a:p>
          <a:p>
            <a:r>
              <a:rPr lang="en-US" sz="800" dirty="0">
                <a:solidFill>
                  <a:schemeClr val="accent5">
                    <a:lumMod val="50000"/>
                  </a:schemeClr>
                </a:solidFill>
              </a:rPr>
              <a:t>assume(X1&gt;0, X2&gt;0, p&gt;0, w1&gt;0, w2&gt;0, MP1&gt;0, MP2&gt;0, a&gt;0, b&lt;0)$ </a:t>
            </a:r>
          </a:p>
          <a:p>
            <a:r>
              <a:rPr lang="en-US" sz="800" dirty="0">
                <a:solidFill>
                  <a:schemeClr val="accent5">
                    <a:lumMod val="50000"/>
                  </a:schemeClr>
                </a:solidFill>
              </a:rPr>
              <a:t>/* Set assumptions for variables: X1, X2, p, w1, w2, MP1, MP2 as positive, </a:t>
            </a:r>
          </a:p>
          <a:p>
            <a:r>
              <a:rPr lang="en-US" sz="800" dirty="0">
                <a:solidFill>
                  <a:schemeClr val="accent5">
                    <a:lumMod val="50000"/>
                  </a:schemeClr>
                </a:solidFill>
              </a:rPr>
              <a:t>   a as positive, and b as negative. */</a:t>
            </a:r>
          </a:p>
          <a:p>
            <a:endParaRPr lang="en-US" sz="800" dirty="0">
              <a:solidFill>
                <a:schemeClr val="accent5">
                  <a:lumMod val="50000"/>
                </a:schemeClr>
              </a:solidFill>
            </a:endParaRPr>
          </a:p>
          <a:p>
            <a:r>
              <a:rPr lang="en-US" sz="800" dirty="0">
                <a:solidFill>
                  <a:schemeClr val="accent5">
                    <a:lumMod val="50000"/>
                  </a:schemeClr>
                </a:solidFill>
              </a:rPr>
              <a:t>Y: A * (</a:t>
            </a:r>
            <a:r>
              <a:rPr lang="en-US" sz="800" dirty="0" err="1">
                <a:solidFill>
                  <a:schemeClr val="accent5">
                    <a:lumMod val="50000"/>
                  </a:schemeClr>
                </a:solidFill>
              </a:rPr>
              <a:t>K^a</a:t>
            </a:r>
            <a:r>
              <a:rPr lang="en-US" sz="800" dirty="0">
                <a:solidFill>
                  <a:schemeClr val="accent5">
                    <a:lumMod val="50000"/>
                  </a:schemeClr>
                </a:solidFill>
              </a:rPr>
              <a:t>) * (</a:t>
            </a:r>
            <a:r>
              <a:rPr lang="en-US" sz="800" dirty="0" err="1">
                <a:solidFill>
                  <a:schemeClr val="accent5">
                    <a:lumMod val="50000"/>
                  </a:schemeClr>
                </a:solidFill>
              </a:rPr>
              <a:t>L^b</a:t>
            </a:r>
            <a:r>
              <a:rPr lang="en-US" sz="800" dirty="0">
                <a:solidFill>
                  <a:schemeClr val="accent5">
                    <a:lumMod val="50000"/>
                  </a:schemeClr>
                </a:solidFill>
              </a:rPr>
              <a:t>); </a:t>
            </a:r>
          </a:p>
          <a:p>
            <a:r>
              <a:rPr lang="en-US" sz="800" dirty="0">
                <a:solidFill>
                  <a:schemeClr val="accent5">
                    <a:lumMod val="50000"/>
                  </a:schemeClr>
                </a:solidFill>
              </a:rPr>
              <a:t>/* Define the production function Y as a function of capital (K) and labor (L) </a:t>
            </a:r>
          </a:p>
          <a:p>
            <a:r>
              <a:rPr lang="en-US" sz="800" dirty="0">
                <a:solidFill>
                  <a:schemeClr val="accent5">
                    <a:lumMod val="50000"/>
                  </a:schemeClr>
                </a:solidFill>
              </a:rPr>
              <a:t>   with parameters A, a, and b, where a and b represent the output elasticities of K and L. */</a:t>
            </a:r>
          </a:p>
          <a:p>
            <a:endParaRPr lang="en-US" sz="800" dirty="0">
              <a:solidFill>
                <a:schemeClr val="accent5">
                  <a:lumMod val="50000"/>
                </a:schemeClr>
              </a:solidFill>
            </a:endParaRPr>
          </a:p>
          <a:p>
            <a:r>
              <a:rPr lang="en-US" sz="800" dirty="0">
                <a:solidFill>
                  <a:schemeClr val="accent5">
                    <a:lumMod val="50000"/>
                  </a:schemeClr>
                </a:solidFill>
              </a:rPr>
              <a:t>MP_K: diff(Y, K, 1)$ </a:t>
            </a:r>
          </a:p>
          <a:p>
            <a:r>
              <a:rPr lang="en-US" sz="800" dirty="0">
                <a:solidFill>
                  <a:schemeClr val="accent5">
                    <a:lumMod val="50000"/>
                  </a:schemeClr>
                </a:solidFill>
              </a:rPr>
              <a:t>/* Calculate the marginal product of capital (MP_K) by taking the first derivative of Y with respect to K */</a:t>
            </a:r>
          </a:p>
          <a:p>
            <a:endParaRPr lang="en-US" sz="800" dirty="0">
              <a:solidFill>
                <a:schemeClr val="accent5">
                  <a:lumMod val="50000"/>
                </a:schemeClr>
              </a:solidFill>
            </a:endParaRPr>
          </a:p>
          <a:p>
            <a:r>
              <a:rPr lang="en-US" sz="800" dirty="0">
                <a:solidFill>
                  <a:schemeClr val="accent5">
                    <a:lumMod val="50000"/>
                  </a:schemeClr>
                </a:solidFill>
              </a:rPr>
              <a:t>MP_L: diff(Y, L, 1)$ </a:t>
            </a:r>
          </a:p>
          <a:p>
            <a:r>
              <a:rPr lang="en-US" sz="800" dirty="0">
                <a:solidFill>
                  <a:schemeClr val="accent5">
                    <a:lumMod val="50000"/>
                  </a:schemeClr>
                </a:solidFill>
              </a:rPr>
              <a:t>/* Calculate the marginal product of labor (MP_L) by taking the first derivative of Y with respect to L */</a:t>
            </a:r>
          </a:p>
          <a:p>
            <a:endParaRPr lang="en-US" sz="800" dirty="0">
              <a:solidFill>
                <a:schemeClr val="accent5">
                  <a:lumMod val="50000"/>
                </a:schemeClr>
              </a:solidFill>
            </a:endParaRPr>
          </a:p>
          <a:p>
            <a:r>
              <a:rPr lang="en-US" sz="800" dirty="0">
                <a:solidFill>
                  <a:schemeClr val="accent5">
                    <a:lumMod val="50000"/>
                  </a:schemeClr>
                </a:solidFill>
              </a:rPr>
              <a:t>eq1: MRTS: MP_K / MP_L = r / w; </a:t>
            </a:r>
          </a:p>
          <a:p>
            <a:r>
              <a:rPr lang="en-US" sz="800" dirty="0">
                <a:solidFill>
                  <a:schemeClr val="accent5">
                    <a:lumMod val="50000"/>
                  </a:schemeClr>
                </a:solidFill>
              </a:rPr>
              <a:t>/* Define the Marginal Rate of Technical Substitution (MRTS) as the ratio of the marginal products </a:t>
            </a:r>
          </a:p>
          <a:p>
            <a:r>
              <a:rPr lang="en-US" sz="800" dirty="0">
                <a:solidFill>
                  <a:schemeClr val="accent5">
                    <a:lumMod val="50000"/>
                  </a:schemeClr>
                </a:solidFill>
              </a:rPr>
              <a:t>   (MP_K / MP_L) and set it equal to the ratio of input prices (r/w). </a:t>
            </a:r>
          </a:p>
          <a:p>
            <a:r>
              <a:rPr lang="en-US" sz="800" dirty="0">
                <a:solidFill>
                  <a:schemeClr val="accent5">
                    <a:lumMod val="50000"/>
                  </a:schemeClr>
                </a:solidFill>
              </a:rPr>
              <a:t>   This indicates that the spending on capital (K) and labor (L) is in the same proportion to achieve optimal production. */</a:t>
            </a:r>
          </a:p>
          <a:p>
            <a:endParaRPr lang="en-US" sz="800" dirty="0">
              <a:solidFill>
                <a:schemeClr val="accent5">
                  <a:lumMod val="50000"/>
                </a:schemeClr>
              </a:solidFill>
            </a:endParaRPr>
          </a:p>
          <a:p>
            <a:r>
              <a:rPr lang="en-US" sz="800" dirty="0">
                <a:solidFill>
                  <a:schemeClr val="accent5">
                    <a:lumMod val="50000"/>
                  </a:schemeClr>
                </a:solidFill>
              </a:rPr>
              <a:t>print("Production function Y:", Y);</a:t>
            </a:r>
          </a:p>
          <a:p>
            <a:r>
              <a:rPr lang="en-US" sz="800" dirty="0">
                <a:solidFill>
                  <a:schemeClr val="accent5">
                    <a:lumMod val="50000"/>
                  </a:schemeClr>
                </a:solidFill>
              </a:rPr>
              <a:t>print("Marginal Product of Capital (MP_K):", MP_K);</a:t>
            </a:r>
          </a:p>
          <a:p>
            <a:r>
              <a:rPr lang="en-US" sz="800" dirty="0">
                <a:solidFill>
                  <a:schemeClr val="accent5">
                    <a:lumMod val="50000"/>
                  </a:schemeClr>
                </a:solidFill>
              </a:rPr>
              <a:t>print("Marginal Product of Labor (MP_L):", MP_L);</a:t>
            </a:r>
          </a:p>
          <a:p>
            <a:r>
              <a:rPr lang="en-US" sz="800" dirty="0">
                <a:solidFill>
                  <a:schemeClr val="accent5">
                    <a:lumMod val="50000"/>
                  </a:schemeClr>
                </a:solidFill>
              </a:rPr>
              <a:t>print("MRTS Condition (eq1):", eq1);</a:t>
            </a:r>
            <a:endParaRPr lang="pl-PL" sz="800" dirty="0">
              <a:solidFill>
                <a:schemeClr val="accent5">
                  <a:lumMod val="50000"/>
                </a:schemeClr>
              </a:solidFill>
            </a:endParaRPr>
          </a:p>
        </p:txBody>
      </p:sp>
      <p:sp>
        <p:nvSpPr>
          <p:cNvPr id="2" name="CustomShape 1">
            <a:extLst>
              <a:ext uri="{FF2B5EF4-FFF2-40B4-BE49-F238E27FC236}">
                <a16:creationId xmlns:a16="http://schemas.microsoft.com/office/drawing/2014/main" id="{AAB56C51-0779-A5D2-02AC-F17E810C4D12}"/>
              </a:ext>
            </a:extLst>
          </p:cNvPr>
          <p:cNvSpPr/>
          <p:nvPr/>
        </p:nvSpPr>
        <p:spPr>
          <a:xfrm>
            <a:off x="0" y="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lvl="1" algn="ctr">
              <a:lnSpc>
                <a:spcPct val="107000"/>
              </a:lnSpc>
              <a:spcAft>
                <a:spcPts val="800"/>
              </a:spcAft>
            </a:pPr>
            <a:r>
              <a:rPr lang="en-US" sz="40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The cost minimization problem</a:t>
            </a:r>
          </a:p>
        </p:txBody>
      </p:sp>
      <p:sp>
        <p:nvSpPr>
          <p:cNvPr id="8" name="TextBox 7">
            <a:extLst>
              <a:ext uri="{FF2B5EF4-FFF2-40B4-BE49-F238E27FC236}">
                <a16:creationId xmlns:a16="http://schemas.microsoft.com/office/drawing/2014/main" id="{A3F7AE5A-F91F-6724-5F51-E5233ECED93A}"/>
              </a:ext>
            </a:extLst>
          </p:cNvPr>
          <p:cNvSpPr txBox="1"/>
          <p:nvPr/>
        </p:nvSpPr>
        <p:spPr>
          <a:xfrm>
            <a:off x="5544754" y="4086971"/>
            <a:ext cx="6096000" cy="1815882"/>
          </a:xfrm>
          <a:prstGeom prst="rect">
            <a:avLst/>
          </a:prstGeom>
          <a:noFill/>
        </p:spPr>
        <p:txBody>
          <a:bodyPr wrap="square">
            <a:spAutoFit/>
          </a:bodyPr>
          <a:lstStyle/>
          <a:p>
            <a:pPr algn="just"/>
            <a:r>
              <a:rPr lang="pl-PL" sz="1400" i="1" dirty="0"/>
              <a:t>„</a:t>
            </a:r>
            <a:r>
              <a:rPr lang="en-US" sz="1400" i="1" dirty="0"/>
              <a:t>In production theory, homothetic functions are a class of functions where the ratio of input factors remains constant along expansion paths. This means that if inputs are scaled by a certain factor, output also scales by a function of that factor, preserving the production structure. Homothetic functions are particularly useful for analyzing production processes where returns to scale are consistent. These functions allow for a straightforward analysis of proportional changes in input levels, which makes them valuable for studying cost functions and input substitution in economic models.</a:t>
            </a:r>
            <a:r>
              <a:rPr lang="pl-PL" sz="1400" i="1" dirty="0"/>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5">
            <a:extLst>
              <a:ext uri="{FF2B5EF4-FFF2-40B4-BE49-F238E27FC236}">
                <a16:creationId xmlns:a16="http://schemas.microsoft.com/office/drawing/2014/main" id="{E32C20F5-DF51-F04D-7234-1E238481FDFA}"/>
              </a:ext>
            </a:extLst>
          </p:cNvPr>
          <p:cNvSpPr>
            <a:spLocks noChangeArrowheads="1"/>
          </p:cNvSpPr>
          <p:nvPr/>
        </p:nvSpPr>
        <p:spPr bwMode="auto">
          <a:xfrm>
            <a:off x="1524001" y="1952595"/>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endParaRPr lang="pl-PL" altLang="pl-PL" sz="2000">
              <a:solidFill>
                <a:schemeClr val="accent5">
                  <a:lumMod val="50000"/>
                </a:schemeClr>
              </a:solidFill>
              <a:latin typeface="+mj-lt"/>
            </a:endParaRPr>
          </a:p>
        </p:txBody>
      </p:sp>
      <p:sp>
        <p:nvSpPr>
          <p:cNvPr id="19460" name="Rectangle 4">
            <a:extLst>
              <a:ext uri="{FF2B5EF4-FFF2-40B4-BE49-F238E27FC236}">
                <a16:creationId xmlns:a16="http://schemas.microsoft.com/office/drawing/2014/main" id="{4410591B-03B3-D6C1-BC10-863065C7ADE9}"/>
              </a:ext>
            </a:extLst>
          </p:cNvPr>
          <p:cNvSpPr>
            <a:spLocks noChangeArrowheads="1"/>
          </p:cNvSpPr>
          <p:nvPr/>
        </p:nvSpPr>
        <p:spPr bwMode="auto">
          <a:xfrm>
            <a:off x="1524001" y="701388"/>
            <a:ext cx="1847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endParaRPr lang="pl-PL" altLang="pl-PL">
              <a:solidFill>
                <a:schemeClr val="accent5">
                  <a:lumMod val="50000"/>
                </a:schemeClr>
              </a:solidFill>
              <a:latin typeface="+mj-lt"/>
            </a:endParaRPr>
          </a:p>
        </p:txBody>
      </p:sp>
      <p:sp>
        <p:nvSpPr>
          <p:cNvPr id="19461" name="Rectangle 5">
            <a:extLst>
              <a:ext uri="{FF2B5EF4-FFF2-40B4-BE49-F238E27FC236}">
                <a16:creationId xmlns:a16="http://schemas.microsoft.com/office/drawing/2014/main" id="{F1BC286F-59ED-61AC-ECA0-DEAF267881E5}"/>
              </a:ext>
            </a:extLst>
          </p:cNvPr>
          <p:cNvSpPr>
            <a:spLocks noChangeArrowheads="1"/>
          </p:cNvSpPr>
          <p:nvPr/>
        </p:nvSpPr>
        <p:spPr bwMode="auto">
          <a:xfrm>
            <a:off x="1524001" y="1495395"/>
            <a:ext cx="1847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endParaRPr lang="pl-PL" altLang="pl-PL" sz="2000">
              <a:solidFill>
                <a:schemeClr val="accent5">
                  <a:lumMod val="50000"/>
                </a:schemeClr>
              </a:solidFill>
              <a:latin typeface="+mj-lt"/>
            </a:endParaRPr>
          </a:p>
        </p:txBody>
      </p:sp>
      <p:sp>
        <p:nvSpPr>
          <p:cNvPr id="19462" name="Rectangle 7">
            <a:extLst>
              <a:ext uri="{FF2B5EF4-FFF2-40B4-BE49-F238E27FC236}">
                <a16:creationId xmlns:a16="http://schemas.microsoft.com/office/drawing/2014/main" id="{DB3191EB-7C32-6E59-7791-8EE29D881175}"/>
              </a:ext>
            </a:extLst>
          </p:cNvPr>
          <p:cNvSpPr>
            <a:spLocks noChangeArrowheads="1"/>
          </p:cNvSpPr>
          <p:nvPr/>
        </p:nvSpPr>
        <p:spPr bwMode="auto">
          <a:xfrm>
            <a:off x="1524001" y="-261610"/>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endParaRPr lang="pl-PL" altLang="pl-PL" sz="2800">
              <a:latin typeface="Arial" panose="020B0604020202020204" pitchFamily="34" charset="0"/>
            </a:endParaRPr>
          </a:p>
        </p:txBody>
      </p:sp>
      <p:sp>
        <p:nvSpPr>
          <p:cNvPr id="19463" name="Rectangle 9">
            <a:extLst>
              <a:ext uri="{FF2B5EF4-FFF2-40B4-BE49-F238E27FC236}">
                <a16:creationId xmlns:a16="http://schemas.microsoft.com/office/drawing/2014/main" id="{834777BD-AE71-BB07-0BAC-C0590DB65E45}"/>
              </a:ext>
            </a:extLst>
          </p:cNvPr>
          <p:cNvSpPr>
            <a:spLocks noChangeArrowheads="1"/>
          </p:cNvSpPr>
          <p:nvPr/>
        </p:nvSpPr>
        <p:spPr bwMode="auto">
          <a:xfrm>
            <a:off x="1524001" y="-261610"/>
            <a:ext cx="1847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endParaRPr lang="pl-PL" altLang="pl-PL" sz="2800">
              <a:latin typeface="Arial" panose="020B0604020202020204" pitchFamily="34" charset="0"/>
            </a:endParaRPr>
          </a:p>
        </p:txBody>
      </p:sp>
      <p:grpSp>
        <p:nvGrpSpPr>
          <p:cNvPr id="19464" name="Grupa 26">
            <a:extLst>
              <a:ext uri="{FF2B5EF4-FFF2-40B4-BE49-F238E27FC236}">
                <a16:creationId xmlns:a16="http://schemas.microsoft.com/office/drawing/2014/main" id="{3BB71FA7-C39B-B785-4A7F-A452B96E9209}"/>
              </a:ext>
            </a:extLst>
          </p:cNvPr>
          <p:cNvGrpSpPr>
            <a:grpSpLocks/>
          </p:cNvGrpSpPr>
          <p:nvPr/>
        </p:nvGrpSpPr>
        <p:grpSpPr bwMode="auto">
          <a:xfrm>
            <a:off x="1662114" y="3709988"/>
            <a:ext cx="4795837" cy="3148012"/>
            <a:chOff x="947738" y="1131888"/>
            <a:chExt cx="7037387" cy="5006975"/>
          </a:xfrm>
        </p:grpSpPr>
        <p:grpSp>
          <p:nvGrpSpPr>
            <p:cNvPr id="19476" name="Grupa 72">
              <a:extLst>
                <a:ext uri="{FF2B5EF4-FFF2-40B4-BE49-F238E27FC236}">
                  <a16:creationId xmlns:a16="http://schemas.microsoft.com/office/drawing/2014/main" id="{FB7372E2-7818-D321-D355-493D0CB3A1E7}"/>
                </a:ext>
              </a:extLst>
            </p:cNvPr>
            <p:cNvGrpSpPr>
              <a:grpSpLocks/>
            </p:cNvGrpSpPr>
            <p:nvPr/>
          </p:nvGrpSpPr>
          <p:grpSpPr bwMode="auto">
            <a:xfrm>
              <a:off x="947738" y="1131888"/>
              <a:ext cx="7037387" cy="5006975"/>
              <a:chOff x="4139952" y="476672"/>
              <a:chExt cx="4530503" cy="3384376"/>
            </a:xfrm>
          </p:grpSpPr>
          <p:grpSp>
            <p:nvGrpSpPr>
              <p:cNvPr id="19481" name="Grupa 34">
                <a:extLst>
                  <a:ext uri="{FF2B5EF4-FFF2-40B4-BE49-F238E27FC236}">
                    <a16:creationId xmlns:a16="http://schemas.microsoft.com/office/drawing/2014/main" id="{931545D6-6786-B1D5-874A-CF80A41EAF7D}"/>
                  </a:ext>
                </a:extLst>
              </p:cNvPr>
              <p:cNvGrpSpPr>
                <a:grpSpLocks/>
              </p:cNvGrpSpPr>
              <p:nvPr/>
            </p:nvGrpSpPr>
            <p:grpSpPr bwMode="auto">
              <a:xfrm>
                <a:off x="4139952" y="476672"/>
                <a:ext cx="4530503" cy="3384376"/>
                <a:chOff x="1270911" y="261442"/>
                <a:chExt cx="6739254" cy="5558303"/>
              </a:xfrm>
            </p:grpSpPr>
            <p:grpSp>
              <p:nvGrpSpPr>
                <p:cNvPr id="19484" name="Grupa 45">
                  <a:extLst>
                    <a:ext uri="{FF2B5EF4-FFF2-40B4-BE49-F238E27FC236}">
                      <a16:creationId xmlns:a16="http://schemas.microsoft.com/office/drawing/2014/main" id="{286545D5-7AB4-6A7D-AF1D-B71B6B549090}"/>
                    </a:ext>
                  </a:extLst>
                </p:cNvPr>
                <p:cNvGrpSpPr>
                  <a:grpSpLocks/>
                </p:cNvGrpSpPr>
                <p:nvPr/>
              </p:nvGrpSpPr>
              <p:grpSpPr bwMode="auto">
                <a:xfrm>
                  <a:off x="1270911" y="261442"/>
                  <a:ext cx="6739254" cy="5558303"/>
                  <a:chOff x="1270911" y="261442"/>
                  <a:chExt cx="6739254" cy="5558303"/>
                </a:xfrm>
              </p:grpSpPr>
              <p:cxnSp>
                <p:nvCxnSpPr>
                  <p:cNvPr id="41" name="Łącznik prosty ze strzałką 40">
                    <a:extLst>
                      <a:ext uri="{FF2B5EF4-FFF2-40B4-BE49-F238E27FC236}">
                        <a16:creationId xmlns:a16="http://schemas.microsoft.com/office/drawing/2014/main" id="{3BAD0899-3E3C-A1A5-1F6B-4E9126F358F6}"/>
                      </a:ext>
                    </a:extLst>
                  </p:cNvPr>
                  <p:cNvCxnSpPr/>
                  <p:nvPr/>
                </p:nvCxnSpPr>
                <p:spPr>
                  <a:xfrm rot="5400000" flipH="1" flipV="1">
                    <a:off x="-610957" y="2781319"/>
                    <a:ext cx="5039753"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42" name="Łącznik prosty ze strzałką 41">
                    <a:extLst>
                      <a:ext uri="{FF2B5EF4-FFF2-40B4-BE49-F238E27FC236}">
                        <a16:creationId xmlns:a16="http://schemas.microsoft.com/office/drawing/2014/main" id="{84469CA5-F080-AB8B-C56D-0D066C11A924}"/>
                      </a:ext>
                    </a:extLst>
                  </p:cNvPr>
                  <p:cNvCxnSpPr/>
                  <p:nvPr/>
                </p:nvCxnSpPr>
                <p:spPr>
                  <a:xfrm>
                    <a:off x="1402528" y="5085365"/>
                    <a:ext cx="6409097"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3336" name="Text Box 2">
                    <a:extLst>
                      <a:ext uri="{FF2B5EF4-FFF2-40B4-BE49-F238E27FC236}">
                        <a16:creationId xmlns:a16="http://schemas.microsoft.com/office/drawing/2014/main" id="{F51BFEA2-7D06-0E6C-34F3-8036EA5ACBFE}"/>
                      </a:ext>
                    </a:extLst>
                  </p:cNvPr>
                  <p:cNvSpPr txBox="1">
                    <a:spLocks noChangeArrowheads="1"/>
                  </p:cNvSpPr>
                  <p:nvPr/>
                </p:nvSpPr>
                <p:spPr bwMode="auto">
                  <a:xfrm>
                    <a:off x="1270911" y="449241"/>
                    <a:ext cx="575547" cy="504536"/>
                  </a:xfrm>
                  <a:prstGeom prst="rect">
                    <a:avLst/>
                  </a:prstGeom>
                  <a:solidFill>
                    <a:srgbClr val="FFFFFF"/>
                  </a:solidFill>
                  <a:ln w="9525">
                    <a:noFill/>
                    <a:miter lim="800000"/>
                    <a:headEnd/>
                    <a:tailEnd/>
                  </a:ln>
                </p:spPr>
                <p:txBody>
                  <a:bodyPr/>
                  <a:lstStyle/>
                  <a:p>
                    <a:pPr>
                      <a:defRPr/>
                    </a:pPr>
                    <a:r>
                      <a:rPr lang="pl-PL" sz="1200">
                        <a:solidFill>
                          <a:schemeClr val="accent5">
                            <a:lumMod val="50000"/>
                          </a:schemeClr>
                        </a:solidFill>
                        <a:latin typeface="Arial" charset="0"/>
                        <a:cs typeface="Times New Roman" pitchFamily="18" charset="0"/>
                      </a:rPr>
                      <a:t>L</a:t>
                    </a:r>
                    <a:endParaRPr lang="pl-PL" sz="1100">
                      <a:solidFill>
                        <a:schemeClr val="accent5">
                          <a:lumMod val="50000"/>
                        </a:schemeClr>
                      </a:solidFill>
                      <a:latin typeface="Arial" charset="0"/>
                    </a:endParaRPr>
                  </a:p>
                </p:txBody>
              </p:sp>
              <p:sp>
                <p:nvSpPr>
                  <p:cNvPr id="2" name="Text Box 2">
                    <a:extLst>
                      <a:ext uri="{FF2B5EF4-FFF2-40B4-BE49-F238E27FC236}">
                        <a16:creationId xmlns:a16="http://schemas.microsoft.com/office/drawing/2014/main" id="{AB7F138B-7D03-2134-A90D-21A2F8F671A9}"/>
                      </a:ext>
                    </a:extLst>
                  </p:cNvPr>
                  <p:cNvSpPr txBox="1">
                    <a:spLocks noChangeArrowheads="1"/>
                  </p:cNvSpPr>
                  <p:nvPr/>
                </p:nvSpPr>
                <p:spPr bwMode="auto">
                  <a:xfrm>
                    <a:off x="7434618" y="5315209"/>
                    <a:ext cx="575547" cy="504536"/>
                  </a:xfrm>
                  <a:prstGeom prst="rect">
                    <a:avLst/>
                  </a:prstGeom>
                  <a:solidFill>
                    <a:srgbClr val="FFFFFF"/>
                  </a:solidFill>
                  <a:ln w="9525">
                    <a:noFill/>
                    <a:miter lim="800000"/>
                    <a:headEnd/>
                    <a:tailEnd/>
                  </a:ln>
                </p:spPr>
                <p:txBody>
                  <a:bodyPr/>
                  <a:lstStyle/>
                  <a:p>
                    <a:pPr>
                      <a:defRPr/>
                    </a:pPr>
                    <a:r>
                      <a:rPr lang="pl-PL" sz="1200">
                        <a:solidFill>
                          <a:schemeClr val="accent5">
                            <a:lumMod val="50000"/>
                          </a:schemeClr>
                        </a:solidFill>
                        <a:latin typeface="Arial" charset="0"/>
                        <a:cs typeface="Times New Roman" pitchFamily="18" charset="0"/>
                      </a:rPr>
                      <a:t>K</a:t>
                    </a:r>
                    <a:endParaRPr lang="pl-PL" sz="1100">
                      <a:solidFill>
                        <a:schemeClr val="accent5">
                          <a:lumMod val="50000"/>
                        </a:schemeClr>
                      </a:solidFill>
                      <a:latin typeface="Arial" charset="0"/>
                    </a:endParaRPr>
                  </a:p>
                </p:txBody>
              </p:sp>
              <p:sp>
                <p:nvSpPr>
                  <p:cNvPr id="45" name="Dowolny kształt 44">
                    <a:extLst>
                      <a:ext uri="{FF2B5EF4-FFF2-40B4-BE49-F238E27FC236}">
                        <a16:creationId xmlns:a16="http://schemas.microsoft.com/office/drawing/2014/main" id="{18D15F26-C759-77F7-F8C8-6F99F2E1DCB7}"/>
                      </a:ext>
                    </a:extLst>
                  </p:cNvPr>
                  <p:cNvSpPr/>
                  <p:nvPr/>
                </p:nvSpPr>
                <p:spPr>
                  <a:xfrm rot="9838989">
                    <a:off x="2899397" y="314698"/>
                    <a:ext cx="4209524" cy="4647336"/>
                  </a:xfrm>
                  <a:custGeom>
                    <a:avLst/>
                    <a:gdLst>
                      <a:gd name="connsiteX0" fmla="*/ 0 w 1843088"/>
                      <a:gd name="connsiteY0" fmla="*/ 0 h 3333750"/>
                      <a:gd name="connsiteX1" fmla="*/ 1543050 w 1843088"/>
                      <a:gd name="connsiteY1" fmla="*/ 1066800 h 3333750"/>
                      <a:gd name="connsiteX2" fmla="*/ 1800225 w 1843088"/>
                      <a:gd name="connsiteY2" fmla="*/ 3333750 h 3333750"/>
                    </a:gdLst>
                    <a:ahLst/>
                    <a:cxnLst>
                      <a:cxn ang="0">
                        <a:pos x="connsiteX0" y="connsiteY0"/>
                      </a:cxn>
                      <a:cxn ang="0">
                        <a:pos x="connsiteX1" y="connsiteY1"/>
                      </a:cxn>
                      <a:cxn ang="0">
                        <a:pos x="connsiteX2" y="connsiteY2"/>
                      </a:cxn>
                    </a:cxnLst>
                    <a:rect l="l" t="t" r="r" b="b"/>
                    <a:pathLst>
                      <a:path w="1843088" h="3333750">
                        <a:moveTo>
                          <a:pt x="0" y="0"/>
                        </a:moveTo>
                        <a:cubicBezTo>
                          <a:pt x="621506" y="255587"/>
                          <a:pt x="1243013" y="511175"/>
                          <a:pt x="1543050" y="1066800"/>
                        </a:cubicBezTo>
                        <a:cubicBezTo>
                          <a:pt x="1843088" y="1622425"/>
                          <a:pt x="1755775" y="2851150"/>
                          <a:pt x="1800225" y="3333750"/>
                        </a:cubicBezTo>
                      </a:path>
                    </a:pathLst>
                  </a:custGeom>
                </p:spPr>
                <p:style>
                  <a:lnRef idx="3">
                    <a:schemeClr val="accent1"/>
                  </a:lnRef>
                  <a:fillRef idx="0">
                    <a:schemeClr val="accent1"/>
                  </a:fillRef>
                  <a:effectRef idx="2">
                    <a:schemeClr val="accent1"/>
                  </a:effectRef>
                  <a:fontRef idx="minor">
                    <a:schemeClr val="tx1"/>
                  </a:fontRef>
                </p:style>
                <p:txBody>
                  <a:bodyPr anchor="ctr"/>
                  <a:lstStyle/>
                  <a:p>
                    <a:pPr algn="ctr">
                      <a:defRPr/>
                    </a:pPr>
                    <a:endParaRPr lang="pl-PL" sz="1200">
                      <a:solidFill>
                        <a:schemeClr val="accent5">
                          <a:lumMod val="50000"/>
                        </a:schemeClr>
                      </a:solidFill>
                    </a:endParaRPr>
                  </a:p>
                </p:txBody>
              </p:sp>
            </p:grpSp>
            <p:cxnSp>
              <p:nvCxnSpPr>
                <p:cNvPr id="37" name="Łącznik prosty 36">
                  <a:extLst>
                    <a:ext uri="{FF2B5EF4-FFF2-40B4-BE49-F238E27FC236}">
                      <a16:creationId xmlns:a16="http://schemas.microsoft.com/office/drawing/2014/main" id="{56131CB8-1887-8211-98DC-EB77EA6D75A5}"/>
                    </a:ext>
                  </a:extLst>
                </p:cNvPr>
                <p:cNvCxnSpPr/>
                <p:nvPr/>
              </p:nvCxnSpPr>
              <p:spPr>
                <a:xfrm rot="5400000" flipH="1" flipV="1">
                  <a:off x="1505996" y="3442116"/>
                  <a:ext cx="2046173" cy="1240326"/>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38" name="Łącznik prosty 37">
                  <a:extLst>
                    <a:ext uri="{FF2B5EF4-FFF2-40B4-BE49-F238E27FC236}">
                      <a16:creationId xmlns:a16="http://schemas.microsoft.com/office/drawing/2014/main" id="{2A01FCC2-621E-3988-27E4-4FB4CC0509D1}"/>
                    </a:ext>
                  </a:extLst>
                </p:cNvPr>
                <p:cNvCxnSpPr/>
                <p:nvPr/>
              </p:nvCxnSpPr>
              <p:spPr>
                <a:xfrm rot="16200000" flipH="1">
                  <a:off x="1277143" y="2343186"/>
                  <a:ext cx="3741976" cy="1501331"/>
                </a:xfrm>
                <a:prstGeom prst="line">
                  <a:avLst/>
                </a:prstGeom>
              </p:spPr>
              <p:style>
                <a:lnRef idx="2">
                  <a:schemeClr val="accent2"/>
                </a:lnRef>
                <a:fillRef idx="0">
                  <a:schemeClr val="accent2"/>
                </a:fillRef>
                <a:effectRef idx="1">
                  <a:schemeClr val="accent2"/>
                </a:effectRef>
                <a:fontRef idx="minor">
                  <a:schemeClr val="tx1"/>
                </a:fontRef>
              </p:style>
            </p:cxnSp>
            <p:sp>
              <p:nvSpPr>
                <p:cNvPr id="13332" name="pole tekstowe 38">
                  <a:extLst>
                    <a:ext uri="{FF2B5EF4-FFF2-40B4-BE49-F238E27FC236}">
                      <a16:creationId xmlns:a16="http://schemas.microsoft.com/office/drawing/2014/main" id="{B2FF5009-0E44-0FF6-AFB1-E531C1F4E540}"/>
                    </a:ext>
                  </a:extLst>
                </p:cNvPr>
                <p:cNvSpPr txBox="1">
                  <a:spLocks noChangeArrowheads="1"/>
                </p:cNvSpPr>
                <p:nvPr/>
              </p:nvSpPr>
              <p:spPr bwMode="auto">
                <a:xfrm>
                  <a:off x="2290387" y="2716850"/>
                  <a:ext cx="1726641" cy="462490"/>
                </a:xfrm>
                <a:prstGeom prst="rect">
                  <a:avLst/>
                </a:prstGeom>
                <a:noFill/>
                <a:ln w="9525">
                  <a:noFill/>
                  <a:miter lim="800000"/>
                  <a:headEnd/>
                  <a:tailEnd/>
                </a:ln>
              </p:spPr>
              <p:txBody>
                <a:bodyPr>
                  <a:spAutoFit/>
                </a:bodyPr>
                <a:lstStyle/>
                <a:p>
                  <a:pPr>
                    <a:defRPr/>
                  </a:pPr>
                  <a:r>
                    <a:rPr lang="pl-PL" sz="1100">
                      <a:solidFill>
                        <a:schemeClr val="accent5">
                          <a:lumMod val="50000"/>
                        </a:schemeClr>
                      </a:solidFill>
                      <a:latin typeface="Arial" charset="0"/>
                    </a:rPr>
                    <a:t>dL/dK</a:t>
                  </a:r>
                </a:p>
              </p:txBody>
            </p:sp>
            <p:sp>
              <p:nvSpPr>
                <p:cNvPr id="13333" name="pole tekstowe 39">
                  <a:extLst>
                    <a:ext uri="{FF2B5EF4-FFF2-40B4-BE49-F238E27FC236}">
                      <a16:creationId xmlns:a16="http://schemas.microsoft.com/office/drawing/2014/main" id="{A589D810-950D-453A-BCF5-E80D1557C18C}"/>
                    </a:ext>
                  </a:extLst>
                </p:cNvPr>
                <p:cNvSpPr txBox="1">
                  <a:spLocks noChangeArrowheads="1"/>
                </p:cNvSpPr>
                <p:nvPr/>
              </p:nvSpPr>
              <p:spPr bwMode="auto">
                <a:xfrm>
                  <a:off x="2082923" y="3798799"/>
                  <a:ext cx="1006091" cy="462490"/>
                </a:xfrm>
                <a:prstGeom prst="rect">
                  <a:avLst/>
                </a:prstGeom>
                <a:noFill/>
                <a:ln w="9525">
                  <a:noFill/>
                  <a:miter lim="800000"/>
                  <a:headEnd/>
                  <a:tailEnd/>
                </a:ln>
              </p:spPr>
              <p:txBody>
                <a:bodyPr>
                  <a:spAutoFit/>
                </a:bodyPr>
                <a:lstStyle/>
                <a:p>
                  <a:pPr>
                    <a:defRPr/>
                  </a:pPr>
                  <a:r>
                    <a:rPr lang="pl-PL" sz="1100">
                      <a:solidFill>
                        <a:schemeClr val="accent5">
                          <a:lumMod val="50000"/>
                        </a:schemeClr>
                      </a:solidFill>
                      <a:latin typeface="Arial" charset="0"/>
                    </a:rPr>
                    <a:t>L/K</a:t>
                  </a:r>
                  <a:endParaRPr lang="pl-PL" sz="1200">
                    <a:solidFill>
                      <a:schemeClr val="accent5">
                        <a:lumMod val="50000"/>
                      </a:schemeClr>
                    </a:solidFill>
                    <a:latin typeface="Arial" charset="0"/>
                  </a:endParaRPr>
                </a:p>
              </p:txBody>
            </p:sp>
          </p:grpSp>
          <p:cxnSp>
            <p:nvCxnSpPr>
              <p:cNvPr id="47" name="Łącznik prosty 46">
                <a:extLst>
                  <a:ext uri="{FF2B5EF4-FFF2-40B4-BE49-F238E27FC236}">
                    <a16:creationId xmlns:a16="http://schemas.microsoft.com/office/drawing/2014/main" id="{D4DD468C-BB7D-B58F-1B9C-6B3556CEEC11}"/>
                  </a:ext>
                </a:extLst>
              </p:cNvPr>
              <p:cNvCxnSpPr/>
              <p:nvPr/>
            </p:nvCxnSpPr>
            <p:spPr>
              <a:xfrm>
                <a:off x="5023257" y="2429131"/>
                <a:ext cx="2334987" cy="846521"/>
              </a:xfrm>
              <a:prstGeom prst="line">
                <a:avLst/>
              </a:prstGeom>
            </p:spPr>
            <p:style>
              <a:lnRef idx="2">
                <a:schemeClr val="accent2"/>
              </a:lnRef>
              <a:fillRef idx="0">
                <a:schemeClr val="accent2"/>
              </a:fillRef>
              <a:effectRef idx="1">
                <a:schemeClr val="accent2"/>
              </a:effectRef>
              <a:fontRef idx="minor">
                <a:schemeClr val="tx1"/>
              </a:fontRef>
            </p:style>
          </p:cxnSp>
          <p:cxnSp>
            <p:nvCxnSpPr>
              <p:cNvPr id="51" name="Łącznik prosty 50">
                <a:extLst>
                  <a:ext uri="{FF2B5EF4-FFF2-40B4-BE49-F238E27FC236}">
                    <a16:creationId xmlns:a16="http://schemas.microsoft.com/office/drawing/2014/main" id="{1236317F-5AB6-F7D9-29FC-E0F6B60D75C0}"/>
                  </a:ext>
                </a:extLst>
              </p:cNvPr>
              <p:cNvCxnSpPr/>
              <p:nvPr/>
            </p:nvCxnSpPr>
            <p:spPr>
              <a:xfrm flipV="1">
                <a:off x="4567358" y="2819964"/>
                <a:ext cx="1592650" cy="585397"/>
              </a:xfrm>
              <a:prstGeom prst="line">
                <a:avLst/>
              </a:prstGeom>
              <a:ln>
                <a:prstDash val="dash"/>
              </a:ln>
            </p:spPr>
            <p:style>
              <a:lnRef idx="2">
                <a:schemeClr val="accent1"/>
              </a:lnRef>
              <a:fillRef idx="0">
                <a:schemeClr val="accent1"/>
              </a:fillRef>
              <a:effectRef idx="1">
                <a:schemeClr val="accent1"/>
              </a:effectRef>
              <a:fontRef idx="minor">
                <a:schemeClr val="tx1"/>
              </a:fontRef>
            </p:style>
          </p:cxnSp>
        </p:grpSp>
        <p:sp>
          <p:nvSpPr>
            <p:cNvPr id="59" name="Strzałka zakrzywiona w lewo 58">
              <a:extLst>
                <a:ext uri="{FF2B5EF4-FFF2-40B4-BE49-F238E27FC236}">
                  <a16:creationId xmlns:a16="http://schemas.microsoft.com/office/drawing/2014/main" id="{ED41FD29-CAFC-0B15-8CED-CD4983CA988D}"/>
                </a:ext>
              </a:extLst>
            </p:cNvPr>
            <p:cNvSpPr/>
            <p:nvPr/>
          </p:nvSpPr>
          <p:spPr>
            <a:xfrm rot="18888356">
              <a:off x="3197638" y="2327482"/>
              <a:ext cx="1093303" cy="2317843"/>
            </a:xfrm>
            <a:prstGeom prst="curvedLeftArrow">
              <a:avLst>
                <a:gd name="adj1" fmla="val 0"/>
                <a:gd name="adj2" fmla="val 20464"/>
                <a:gd name="adj3" fmla="val 7941"/>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l-PL" sz="1400">
                <a:solidFill>
                  <a:schemeClr val="accent5">
                    <a:lumMod val="50000"/>
                  </a:schemeClr>
                </a:solidFill>
              </a:endParaRPr>
            </a:p>
          </p:txBody>
        </p:sp>
        <p:sp>
          <p:nvSpPr>
            <p:cNvPr id="60" name="Strzałka zakrzywiona w lewo 59">
              <a:extLst>
                <a:ext uri="{FF2B5EF4-FFF2-40B4-BE49-F238E27FC236}">
                  <a16:creationId xmlns:a16="http://schemas.microsoft.com/office/drawing/2014/main" id="{95CC9D09-2D80-CFBD-A61C-7292292668B9}"/>
                </a:ext>
              </a:extLst>
            </p:cNvPr>
            <p:cNvSpPr/>
            <p:nvPr/>
          </p:nvSpPr>
          <p:spPr>
            <a:xfrm rot="18888356">
              <a:off x="2615028" y="4103692"/>
              <a:ext cx="527715" cy="871229"/>
            </a:xfrm>
            <a:prstGeom prst="curvedLeftArrow">
              <a:avLst>
                <a:gd name="adj1" fmla="val 0"/>
                <a:gd name="adj2" fmla="val 20464"/>
                <a:gd name="adj3" fmla="val 7941"/>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l-PL" sz="1400">
                <a:solidFill>
                  <a:schemeClr val="accent5">
                    <a:lumMod val="50000"/>
                  </a:schemeClr>
                </a:solidFill>
              </a:endParaRPr>
            </a:p>
          </p:txBody>
        </p:sp>
        <p:graphicFrame>
          <p:nvGraphicFramePr>
            <p:cNvPr id="19479" name="Object 3">
              <a:extLst>
                <a:ext uri="{FF2B5EF4-FFF2-40B4-BE49-F238E27FC236}">
                  <a16:creationId xmlns:a16="http://schemas.microsoft.com/office/drawing/2014/main" id="{74AD7E5D-9F10-FA51-F590-A076399F84E1}"/>
                </a:ext>
              </a:extLst>
            </p:cNvPr>
            <p:cNvGraphicFramePr>
              <a:graphicFrameLocks noChangeAspect="1"/>
            </p:cNvGraphicFramePr>
            <p:nvPr/>
          </p:nvGraphicFramePr>
          <p:xfrm>
            <a:off x="3986213" y="2514600"/>
            <a:ext cx="1074737" cy="554038"/>
          </p:xfrm>
          <a:graphic>
            <a:graphicData uri="http://schemas.openxmlformats.org/presentationml/2006/ole">
              <mc:AlternateContent xmlns:mc="http://schemas.openxmlformats.org/markup-compatibility/2006">
                <mc:Choice xmlns:v="urn:schemas-microsoft-com:vml" Requires="v">
                  <p:oleObj name="Równanie" r:id="rId3" imgW="672808" imgH="393529" progId="Equation.3">
                    <p:embed/>
                  </p:oleObj>
                </mc:Choice>
                <mc:Fallback>
                  <p:oleObj name="Równanie" r:id="rId3" imgW="672808" imgH="393529" progId="Equation.3">
                    <p:embed/>
                    <p:pic>
                      <p:nvPicPr>
                        <p:cNvPr id="19479" name="Object 3">
                          <a:extLst>
                            <a:ext uri="{FF2B5EF4-FFF2-40B4-BE49-F238E27FC236}">
                              <a16:creationId xmlns:a16="http://schemas.microsoft.com/office/drawing/2014/main" id="{74AD7E5D-9F10-FA51-F590-A076399F84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6213" y="2514600"/>
                          <a:ext cx="1074737"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80" name="Object 4">
              <a:extLst>
                <a:ext uri="{FF2B5EF4-FFF2-40B4-BE49-F238E27FC236}">
                  <a16:creationId xmlns:a16="http://schemas.microsoft.com/office/drawing/2014/main" id="{07A9F380-042F-18A4-9669-B4AC8EFB5E00}"/>
                </a:ext>
              </a:extLst>
            </p:cNvPr>
            <p:cNvGraphicFramePr>
              <a:graphicFrameLocks noChangeAspect="1"/>
            </p:cNvGraphicFramePr>
            <p:nvPr/>
          </p:nvGraphicFramePr>
          <p:xfrm>
            <a:off x="2373313" y="4419600"/>
            <a:ext cx="641350" cy="530225"/>
          </p:xfrm>
          <a:graphic>
            <a:graphicData uri="http://schemas.openxmlformats.org/presentationml/2006/ole">
              <mc:AlternateContent xmlns:mc="http://schemas.openxmlformats.org/markup-compatibility/2006">
                <mc:Choice xmlns:v="urn:schemas-microsoft-com:vml" Requires="v">
                  <p:oleObj name="Równanie" r:id="rId5" imgW="583947" imgH="393529" progId="Equation.3">
                    <p:embed/>
                  </p:oleObj>
                </mc:Choice>
                <mc:Fallback>
                  <p:oleObj name="Równanie" r:id="rId5" imgW="583947" imgH="393529" progId="Equation.3">
                    <p:embed/>
                    <p:pic>
                      <p:nvPicPr>
                        <p:cNvPr id="19480" name="Object 4">
                          <a:extLst>
                            <a:ext uri="{FF2B5EF4-FFF2-40B4-BE49-F238E27FC236}">
                              <a16:creationId xmlns:a16="http://schemas.microsoft.com/office/drawing/2014/main" id="{07A9F380-042F-18A4-9669-B4AC8EFB5E0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3313" y="4419600"/>
                          <a:ext cx="64135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9465" name="Object 5">
            <a:extLst>
              <a:ext uri="{FF2B5EF4-FFF2-40B4-BE49-F238E27FC236}">
                <a16:creationId xmlns:a16="http://schemas.microsoft.com/office/drawing/2014/main" id="{9100FB54-9A38-E71A-7486-CC02832FB5A8}"/>
              </a:ext>
            </a:extLst>
          </p:cNvPr>
          <p:cNvGraphicFramePr>
            <a:graphicFrameLocks noChangeAspect="1"/>
          </p:cNvGraphicFramePr>
          <p:nvPr>
            <p:extLst>
              <p:ext uri="{D42A27DB-BD31-4B8C-83A1-F6EECF244321}">
                <p14:modId xmlns:p14="http://schemas.microsoft.com/office/powerpoint/2010/main" val="4052270907"/>
              </p:ext>
            </p:extLst>
          </p:nvPr>
        </p:nvGraphicFramePr>
        <p:xfrm>
          <a:off x="2284413" y="1579563"/>
          <a:ext cx="3840162" cy="2051050"/>
        </p:xfrm>
        <a:graphic>
          <a:graphicData uri="http://schemas.openxmlformats.org/presentationml/2006/ole">
            <mc:AlternateContent xmlns:mc="http://schemas.openxmlformats.org/markup-compatibility/2006">
              <mc:Choice xmlns:v="urn:schemas-microsoft-com:vml" Requires="v">
                <p:oleObj name="Równanie" r:id="rId7" imgW="1841500" imgH="1117600" progId="Equation.3">
                  <p:embed/>
                </p:oleObj>
              </mc:Choice>
              <mc:Fallback>
                <p:oleObj name="Równanie" r:id="rId7" imgW="1841500" imgH="1117600" progId="Equation.3">
                  <p:embed/>
                  <p:pic>
                    <p:nvPicPr>
                      <p:cNvPr id="19465" name="Object 5">
                        <a:extLst>
                          <a:ext uri="{FF2B5EF4-FFF2-40B4-BE49-F238E27FC236}">
                            <a16:creationId xmlns:a16="http://schemas.microsoft.com/office/drawing/2014/main" id="{9100FB54-9A38-E71A-7486-CC02832FB5A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4413" y="1579563"/>
                        <a:ext cx="3840162" cy="2051050"/>
                      </a:xfrm>
                      <a:prstGeom prst="rect">
                        <a:avLst/>
                      </a:prstGeom>
                      <a:noFill/>
                      <a:ln>
                        <a:noFill/>
                      </a:ln>
                      <a:effectLst/>
                    </p:spPr>
                  </p:pic>
                </p:oleObj>
              </mc:Fallback>
            </mc:AlternateContent>
          </a:graphicData>
        </a:graphic>
      </p:graphicFrame>
      <p:sp>
        <p:nvSpPr>
          <p:cNvPr id="19468" name="Oval 11">
            <a:extLst>
              <a:ext uri="{FF2B5EF4-FFF2-40B4-BE49-F238E27FC236}">
                <a16:creationId xmlns:a16="http://schemas.microsoft.com/office/drawing/2014/main" id="{F7C8AC4E-A1EE-F38D-9E4F-7549229A66A3}"/>
              </a:ext>
            </a:extLst>
          </p:cNvPr>
          <p:cNvSpPr>
            <a:spLocks noChangeArrowheads="1"/>
          </p:cNvSpPr>
          <p:nvPr/>
        </p:nvSpPr>
        <p:spPr bwMode="auto">
          <a:xfrm flipV="1">
            <a:off x="4468814" y="1330326"/>
            <a:ext cx="1152525" cy="1027113"/>
          </a:xfrm>
          <a:prstGeom prst="ellipse">
            <a:avLst/>
          </a:prstGeom>
          <a:noFill/>
          <a:ln w="25400">
            <a:solidFill>
              <a:srgbClr val="C0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endParaRPr lang="pl-PL" altLang="pl-PL">
              <a:solidFill>
                <a:schemeClr val="accent5">
                  <a:lumMod val="50000"/>
                </a:schemeClr>
              </a:solidFill>
              <a:latin typeface="+mj-lt"/>
            </a:endParaRPr>
          </a:p>
        </p:txBody>
      </p:sp>
      <p:sp>
        <p:nvSpPr>
          <p:cNvPr id="19469" name="Oval 11">
            <a:extLst>
              <a:ext uri="{FF2B5EF4-FFF2-40B4-BE49-F238E27FC236}">
                <a16:creationId xmlns:a16="http://schemas.microsoft.com/office/drawing/2014/main" id="{95B576B1-D22B-375C-12D3-A3E3B521B0BA}"/>
              </a:ext>
            </a:extLst>
          </p:cNvPr>
          <p:cNvSpPr>
            <a:spLocks noChangeArrowheads="1"/>
          </p:cNvSpPr>
          <p:nvPr/>
        </p:nvSpPr>
        <p:spPr bwMode="auto">
          <a:xfrm flipV="1">
            <a:off x="4491039" y="2344628"/>
            <a:ext cx="1150937" cy="1211372"/>
          </a:xfrm>
          <a:prstGeom prst="ellipse">
            <a:avLst/>
          </a:prstGeom>
          <a:noFill/>
          <a:ln w="25400">
            <a:solidFill>
              <a:srgbClr val="C0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endParaRPr lang="pl-PL" altLang="pl-PL">
              <a:solidFill>
                <a:schemeClr val="accent5">
                  <a:lumMod val="50000"/>
                </a:schemeClr>
              </a:solidFill>
              <a:latin typeface="+mj-lt"/>
            </a:endParaRPr>
          </a:p>
        </p:txBody>
      </p:sp>
      <p:sp>
        <p:nvSpPr>
          <p:cNvPr id="34" name="Strzałka w dół 33">
            <a:extLst>
              <a:ext uri="{FF2B5EF4-FFF2-40B4-BE49-F238E27FC236}">
                <a16:creationId xmlns:a16="http://schemas.microsoft.com/office/drawing/2014/main" id="{16B1E145-B354-FBB5-9B59-3E02BAB2F9A4}"/>
              </a:ext>
            </a:extLst>
          </p:cNvPr>
          <p:cNvSpPr/>
          <p:nvPr/>
        </p:nvSpPr>
        <p:spPr>
          <a:xfrm rot="16200000">
            <a:off x="5909469" y="2595688"/>
            <a:ext cx="373062" cy="68825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endParaRPr lang="pl-PL" sz="2000">
              <a:solidFill>
                <a:schemeClr val="accent5">
                  <a:lumMod val="50000"/>
                </a:schemeClr>
              </a:solidFill>
              <a:latin typeface="+mj-lt"/>
            </a:endParaRPr>
          </a:p>
        </p:txBody>
      </p:sp>
      <p:sp>
        <p:nvSpPr>
          <p:cNvPr id="36" name="Strzałka w dół 35">
            <a:extLst>
              <a:ext uri="{FF2B5EF4-FFF2-40B4-BE49-F238E27FC236}">
                <a16:creationId xmlns:a16="http://schemas.microsoft.com/office/drawing/2014/main" id="{22D9026A-5F5E-0E88-0789-F68E6F73D174}"/>
              </a:ext>
            </a:extLst>
          </p:cNvPr>
          <p:cNvSpPr/>
          <p:nvPr/>
        </p:nvSpPr>
        <p:spPr>
          <a:xfrm rot="10800000">
            <a:off x="9145589" y="2004149"/>
            <a:ext cx="374650" cy="74913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endParaRPr lang="pl-PL" sz="2000" dirty="0">
              <a:solidFill>
                <a:schemeClr val="accent5">
                  <a:lumMod val="50000"/>
                </a:schemeClr>
              </a:solidFill>
              <a:latin typeface="+mj-lt"/>
            </a:endParaRPr>
          </a:p>
        </p:txBody>
      </p:sp>
      <p:sp>
        <p:nvSpPr>
          <p:cNvPr id="39" name="pole tekstowe 64">
            <a:extLst>
              <a:ext uri="{FF2B5EF4-FFF2-40B4-BE49-F238E27FC236}">
                <a16:creationId xmlns:a16="http://schemas.microsoft.com/office/drawing/2014/main" id="{A3E59D60-0B98-04FA-BB47-7CD91C15EEB2}"/>
              </a:ext>
            </a:extLst>
          </p:cNvPr>
          <p:cNvSpPr txBox="1">
            <a:spLocks noChangeArrowheads="1"/>
          </p:cNvSpPr>
          <p:nvPr/>
        </p:nvSpPr>
        <p:spPr bwMode="auto">
          <a:xfrm>
            <a:off x="6647639" y="1029266"/>
            <a:ext cx="4256577" cy="1015663"/>
          </a:xfrm>
          <a:prstGeom prst="rect">
            <a:avLst/>
          </a:prstGeom>
          <a:noFill/>
          <a:ln w="9525">
            <a:noFill/>
            <a:miter lim="800000"/>
            <a:headEnd/>
            <a:tailEnd/>
          </a:ln>
        </p:spPr>
        <p:txBody>
          <a:bodyPr wrap="square">
            <a:spAutoFit/>
          </a:bodyPr>
          <a:lstStyle/>
          <a:p>
            <a:pPr algn="just">
              <a:defRPr/>
            </a:pPr>
            <a:r>
              <a:rPr lang="en-US" sz="2000" dirty="0">
                <a:solidFill>
                  <a:schemeClr val="accent5">
                    <a:lumMod val="50000"/>
                  </a:schemeClr>
                </a:solidFill>
                <a:latin typeface="+mj-lt"/>
              </a:rPr>
              <a:t>The % change in factor prices is fully compensated by the % change in the factor ratio (technology</a:t>
            </a:r>
            <a:r>
              <a:rPr lang="pl-PL" sz="2000" dirty="0">
                <a:solidFill>
                  <a:schemeClr val="accent5">
                    <a:lumMod val="50000"/>
                  </a:schemeClr>
                </a:solidFill>
                <a:latin typeface="+mj-lt"/>
              </a:rPr>
              <a:t>. </a:t>
            </a:r>
          </a:p>
        </p:txBody>
      </p:sp>
      <p:sp>
        <p:nvSpPr>
          <p:cNvPr id="43" name="Strzałka w dół 42">
            <a:extLst>
              <a:ext uri="{FF2B5EF4-FFF2-40B4-BE49-F238E27FC236}">
                <a16:creationId xmlns:a16="http://schemas.microsoft.com/office/drawing/2014/main" id="{0AF50198-A620-07ED-2D79-A0E7548D38CF}"/>
              </a:ext>
            </a:extLst>
          </p:cNvPr>
          <p:cNvSpPr/>
          <p:nvPr/>
        </p:nvSpPr>
        <p:spPr>
          <a:xfrm>
            <a:off x="10904217" y="2456180"/>
            <a:ext cx="374650" cy="184356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endParaRPr lang="pl-PL" sz="2000">
              <a:solidFill>
                <a:schemeClr val="accent5">
                  <a:lumMod val="50000"/>
                </a:schemeClr>
              </a:solidFill>
              <a:latin typeface="+mj-lt"/>
            </a:endParaRPr>
          </a:p>
        </p:txBody>
      </p:sp>
      <p:sp>
        <p:nvSpPr>
          <p:cNvPr id="4" name="TextBox 3">
            <a:extLst>
              <a:ext uri="{FF2B5EF4-FFF2-40B4-BE49-F238E27FC236}">
                <a16:creationId xmlns:a16="http://schemas.microsoft.com/office/drawing/2014/main" id="{56294CDD-A2E5-A363-A456-C08F2057005F}"/>
              </a:ext>
            </a:extLst>
          </p:cNvPr>
          <p:cNvSpPr txBox="1"/>
          <p:nvPr/>
        </p:nvSpPr>
        <p:spPr>
          <a:xfrm>
            <a:off x="7145318" y="4321543"/>
            <a:ext cx="3605568" cy="1631216"/>
          </a:xfrm>
          <a:prstGeom prst="rect">
            <a:avLst/>
          </a:prstGeom>
          <a:noFill/>
        </p:spPr>
        <p:txBody>
          <a:bodyPr wrap="square">
            <a:spAutoFit/>
          </a:bodyPr>
          <a:lstStyle/>
          <a:p>
            <a:pPr algn="just"/>
            <a:r>
              <a:rPr lang="en-US" sz="2000" dirty="0">
                <a:solidFill>
                  <a:schemeClr val="accent5">
                    <a:lumMod val="50000"/>
                  </a:schemeClr>
                </a:solidFill>
                <a:latin typeface="+mj-lt"/>
              </a:rPr>
              <a:t>Restrictive assumption for C-D: The division of total income between factors of production depends on technology parameter</a:t>
            </a:r>
            <a:r>
              <a:rPr lang="pl-PL" sz="2000" dirty="0">
                <a:solidFill>
                  <a:schemeClr val="accent5">
                    <a:lumMod val="50000"/>
                  </a:schemeClr>
                </a:solidFill>
                <a:latin typeface="+mj-lt"/>
              </a:rPr>
              <a:t>s. </a:t>
            </a:r>
          </a:p>
        </p:txBody>
      </p:sp>
      <p:sp>
        <p:nvSpPr>
          <p:cNvPr id="6" name="TextBox 5">
            <a:extLst>
              <a:ext uri="{FF2B5EF4-FFF2-40B4-BE49-F238E27FC236}">
                <a16:creationId xmlns:a16="http://schemas.microsoft.com/office/drawing/2014/main" id="{2F290699-9B86-B31E-4161-D4BCBDD64964}"/>
              </a:ext>
            </a:extLst>
          </p:cNvPr>
          <p:cNvSpPr txBox="1"/>
          <p:nvPr/>
        </p:nvSpPr>
        <p:spPr>
          <a:xfrm>
            <a:off x="210129" y="1663100"/>
            <a:ext cx="1977943" cy="1323439"/>
          </a:xfrm>
          <a:prstGeom prst="rect">
            <a:avLst/>
          </a:prstGeom>
          <a:noFill/>
        </p:spPr>
        <p:txBody>
          <a:bodyPr wrap="square">
            <a:spAutoFit/>
          </a:bodyPr>
          <a:lstStyle/>
          <a:p>
            <a:pPr algn="just"/>
            <a:r>
              <a:rPr lang="en-US" sz="2000" dirty="0">
                <a:solidFill>
                  <a:schemeClr val="accent5">
                    <a:lumMod val="50000"/>
                  </a:schemeClr>
                </a:solidFill>
                <a:latin typeface="+mj-lt"/>
              </a:rPr>
              <a:t>For the C</a:t>
            </a:r>
            <a:r>
              <a:rPr lang="pl-PL" sz="2000" dirty="0">
                <a:solidFill>
                  <a:schemeClr val="accent5">
                    <a:lumMod val="50000"/>
                  </a:schemeClr>
                </a:solidFill>
                <a:latin typeface="+mj-lt"/>
              </a:rPr>
              <a:t>-</a:t>
            </a:r>
            <a:r>
              <a:rPr lang="en-US" sz="2000" dirty="0">
                <a:solidFill>
                  <a:schemeClr val="accent5">
                    <a:lumMod val="50000"/>
                  </a:schemeClr>
                </a:solidFill>
                <a:latin typeface="+mj-lt"/>
              </a:rPr>
              <a:t>D function, elasticity of substitution = 1 </a:t>
            </a:r>
            <a:endParaRPr lang="pl-PL" sz="2000" dirty="0">
              <a:solidFill>
                <a:schemeClr val="accent5">
                  <a:lumMod val="50000"/>
                </a:schemeClr>
              </a:solidFill>
              <a:latin typeface="+mj-lt"/>
            </a:endParaRPr>
          </a:p>
        </p:txBody>
      </p:sp>
      <p:sp>
        <p:nvSpPr>
          <p:cNvPr id="8" name="TextBox 7">
            <a:extLst>
              <a:ext uri="{FF2B5EF4-FFF2-40B4-BE49-F238E27FC236}">
                <a16:creationId xmlns:a16="http://schemas.microsoft.com/office/drawing/2014/main" id="{94AC5639-8C8C-EBF3-4A87-35DF580CAD44}"/>
              </a:ext>
            </a:extLst>
          </p:cNvPr>
          <p:cNvSpPr txBox="1"/>
          <p:nvPr/>
        </p:nvSpPr>
        <p:spPr>
          <a:xfrm>
            <a:off x="6647640" y="2778363"/>
            <a:ext cx="4298809" cy="400110"/>
          </a:xfrm>
          <a:prstGeom prst="rect">
            <a:avLst/>
          </a:prstGeom>
          <a:noFill/>
        </p:spPr>
        <p:txBody>
          <a:bodyPr wrap="square">
            <a:spAutoFit/>
          </a:bodyPr>
          <a:lstStyle/>
          <a:p>
            <a:pPr algn="just"/>
            <a:r>
              <a:rPr lang="en-US" sz="2000" dirty="0">
                <a:solidFill>
                  <a:schemeClr val="accent5">
                    <a:lumMod val="50000"/>
                  </a:schemeClr>
                </a:solidFill>
                <a:latin typeface="+mj-lt"/>
              </a:rPr>
              <a:t>The % change in the market price ratio </a:t>
            </a:r>
            <a:endParaRPr lang="pl-PL" sz="2000" dirty="0">
              <a:solidFill>
                <a:schemeClr val="accent5">
                  <a:lumMod val="50000"/>
                </a:schemeClr>
              </a:solidFill>
              <a:latin typeface="+mj-lt"/>
            </a:endParaRPr>
          </a:p>
        </p:txBody>
      </p:sp>
      <p:sp>
        <p:nvSpPr>
          <p:cNvPr id="9" name="Strzałka w dół 35">
            <a:extLst>
              <a:ext uri="{FF2B5EF4-FFF2-40B4-BE49-F238E27FC236}">
                <a16:creationId xmlns:a16="http://schemas.microsoft.com/office/drawing/2014/main" id="{D1DF729A-A148-1AFF-EE48-B8DEC6551F12}"/>
              </a:ext>
            </a:extLst>
          </p:cNvPr>
          <p:cNvSpPr/>
          <p:nvPr/>
        </p:nvSpPr>
        <p:spPr>
          <a:xfrm rot="5400000">
            <a:off x="5964238" y="1397724"/>
            <a:ext cx="374650" cy="838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a:defRPr/>
            </a:pPr>
            <a:endParaRPr lang="pl-PL" sz="2000">
              <a:solidFill>
                <a:schemeClr val="accent5">
                  <a:lumMod val="50000"/>
                </a:schemeClr>
              </a:solidFill>
              <a:latin typeface="+mj-lt"/>
            </a:endParaRPr>
          </a:p>
        </p:txBody>
      </p:sp>
      <p:sp>
        <p:nvSpPr>
          <p:cNvPr id="10" name="CustomShape 1">
            <a:extLst>
              <a:ext uri="{FF2B5EF4-FFF2-40B4-BE49-F238E27FC236}">
                <a16:creationId xmlns:a16="http://schemas.microsoft.com/office/drawing/2014/main" id="{8FFBC689-7B4D-FC3A-DBFC-FD4FE057F188}"/>
              </a:ext>
            </a:extLst>
          </p:cNvPr>
          <p:cNvSpPr/>
          <p:nvPr/>
        </p:nvSpPr>
        <p:spPr>
          <a:xfrm>
            <a:off x="0" y="0"/>
            <a:ext cx="12192000" cy="1142280"/>
          </a:xfrm>
          <a:prstGeom prst="rect">
            <a:avLst/>
          </a:prstGeom>
          <a:solidFill>
            <a:srgbClr val="DBEEF4"/>
          </a:solidFill>
          <a:ln>
            <a:noFill/>
          </a:ln>
        </p:spPr>
        <p:style>
          <a:lnRef idx="0">
            <a:scrgbClr r="0" g="0" b="0"/>
          </a:lnRef>
          <a:fillRef idx="0">
            <a:scrgbClr r="0" g="0" b="0"/>
          </a:fillRef>
          <a:effectRef idx="0">
            <a:scrgbClr r="0" g="0" b="0"/>
          </a:effectRef>
          <a:fontRef idx="minor"/>
        </p:style>
        <p:txBody>
          <a:bodyPr lIns="90000" tIns="45000" rIns="90000" bIns="45000" anchor="ctr"/>
          <a:lstStyle/>
          <a:p>
            <a:pPr lvl="1" algn="ctr">
              <a:lnSpc>
                <a:spcPct val="107000"/>
              </a:lnSpc>
              <a:spcAft>
                <a:spcPts val="800"/>
              </a:spcAft>
            </a:pPr>
            <a:r>
              <a:rPr lang="en-US" sz="4000" b="1" kern="0" dirty="0">
                <a:solidFill>
                  <a:schemeClr val="accent5">
                    <a:lumMod val="50000"/>
                  </a:schemeClr>
                </a:solidFill>
                <a:effectLst/>
                <a:latin typeface="Calibri" panose="020F0502020204030204" pitchFamily="34" charset="0"/>
                <a:ea typeface="Calibri" panose="020F0502020204030204" pitchFamily="34" charset="0"/>
                <a:cs typeface="Calibri" panose="020F0502020204030204" pitchFamily="34" charset="0"/>
              </a:rPr>
              <a:t>The cost minimization problem</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ytuł 1"/>
          <p:cNvSpPr>
            <a:spLocks noGrp="1"/>
          </p:cNvSpPr>
          <p:nvPr>
            <p:ph type="title"/>
          </p:nvPr>
        </p:nvSpPr>
        <p:spPr>
          <a:xfrm>
            <a:off x="491" y="19951"/>
            <a:ext cx="12192000" cy="1391920"/>
          </a:xfrm>
          <a:solidFill>
            <a:schemeClr val="accent5">
              <a:lumMod val="20000"/>
              <a:lumOff val="80000"/>
            </a:schemeClr>
          </a:solidFill>
        </p:spPr>
        <p:txBody>
          <a:bodyPr>
            <a:noAutofit/>
          </a:bodyPr>
          <a:lstStyle/>
          <a:p>
            <a:r>
              <a:rPr lang="en-US" sz="3600" b="1" dirty="0">
                <a:solidFill>
                  <a:schemeClr val="accent5">
                    <a:lumMod val="50000"/>
                  </a:schemeClr>
                </a:solidFill>
              </a:rPr>
              <a:t>Contemporary Microeconomic Models of Macroeconomics - Welcome to Arrow–Debreu World</a:t>
            </a:r>
            <a:r>
              <a:rPr lang="pl-PL" sz="3600" b="1" dirty="0">
                <a:solidFill>
                  <a:schemeClr val="accent5">
                    <a:lumMod val="50000"/>
                  </a:schemeClr>
                </a:solidFill>
              </a:rPr>
              <a:t>   </a:t>
            </a:r>
            <a:endParaRPr lang="en-GB" sz="3600" b="1" dirty="0">
              <a:solidFill>
                <a:schemeClr val="accent5">
                  <a:lumMod val="50000"/>
                </a:schemeClr>
              </a:solidFill>
            </a:endParaRPr>
          </a:p>
        </p:txBody>
      </p:sp>
      <p:sp>
        <p:nvSpPr>
          <p:cNvPr id="4" name="pole tekstowe 3"/>
          <p:cNvSpPr txBox="1"/>
          <p:nvPr/>
        </p:nvSpPr>
        <p:spPr>
          <a:xfrm>
            <a:off x="2499360" y="1545864"/>
            <a:ext cx="9213688" cy="2554545"/>
          </a:xfrm>
          <a:prstGeom prst="rect">
            <a:avLst/>
          </a:prstGeom>
          <a:noFill/>
        </p:spPr>
        <p:txBody>
          <a:bodyPr wrap="square">
            <a:spAutoFit/>
          </a:bodyPr>
          <a:lstStyle/>
          <a:p>
            <a:pPr lvl="0" algn="just">
              <a:defRPr/>
            </a:pPr>
            <a:r>
              <a:rPr lang="en-US" sz="2000" dirty="0">
                <a:solidFill>
                  <a:schemeClr val="accent5">
                    <a:lumMod val="50000"/>
                  </a:schemeClr>
                </a:solidFill>
              </a:rPr>
              <a:t>General equilibrium models - we start with individuals (homo </a:t>
            </a:r>
            <a:r>
              <a:rPr lang="en-US" sz="2000" dirty="0" err="1">
                <a:solidFill>
                  <a:schemeClr val="accent5">
                    <a:lumMod val="50000"/>
                  </a:schemeClr>
                </a:solidFill>
              </a:rPr>
              <a:t>oeconomicus</a:t>
            </a:r>
            <a:r>
              <a:rPr lang="en-US" sz="2000" dirty="0">
                <a:solidFill>
                  <a:schemeClr val="accent5">
                    <a:lumMod val="50000"/>
                  </a:schemeClr>
                </a:solidFill>
              </a:rPr>
              <a:t> [assumptions - axioms]) and end with the entire economy.</a:t>
            </a:r>
          </a:p>
          <a:p>
            <a:pPr lvl="0" algn="just">
              <a:defRPr/>
            </a:pPr>
            <a:endParaRPr lang="en-US" sz="2000" dirty="0">
              <a:solidFill>
                <a:schemeClr val="accent5">
                  <a:lumMod val="50000"/>
                </a:schemeClr>
              </a:solidFill>
            </a:endParaRPr>
          </a:p>
          <a:p>
            <a:pPr lvl="0" algn="just">
              <a:defRPr/>
            </a:pPr>
            <a:r>
              <a:rPr lang="en-US" sz="2000" dirty="0">
                <a:solidFill>
                  <a:schemeClr val="accent5">
                    <a:lumMod val="50000"/>
                  </a:schemeClr>
                </a:solidFill>
              </a:rPr>
              <a:t>Kenneth Arrow, Gérard Debreu did what physics failed to do </a:t>
            </a:r>
            <a:r>
              <a:rPr lang="pl-PL" sz="2000" dirty="0">
                <a:solidFill>
                  <a:schemeClr val="accent5">
                    <a:lumMod val="50000"/>
                  </a:schemeClr>
                </a:solidFill>
              </a:rPr>
              <a:t>[</a:t>
            </a:r>
            <a:r>
              <a:rPr lang="en-US" sz="2000" dirty="0">
                <a:solidFill>
                  <a:schemeClr val="accent5">
                    <a:lumMod val="50000"/>
                  </a:schemeClr>
                </a:solidFill>
              </a:rPr>
              <a:t>the model of the behavior of atoms does not explain the behavior of the universe</a:t>
            </a:r>
            <a:r>
              <a:rPr lang="pl-PL" sz="2000" dirty="0">
                <a:solidFill>
                  <a:schemeClr val="accent5">
                    <a:lumMod val="50000"/>
                  </a:schemeClr>
                </a:solidFill>
              </a:rPr>
              <a:t>]</a:t>
            </a:r>
            <a:r>
              <a:rPr lang="en-US" sz="2000" dirty="0">
                <a:solidFill>
                  <a:schemeClr val="accent5">
                    <a:lumMod val="50000"/>
                  </a:schemeClr>
                </a:solidFill>
              </a:rPr>
              <a:t>.</a:t>
            </a:r>
          </a:p>
          <a:p>
            <a:pPr lvl="0" algn="just">
              <a:defRPr/>
            </a:pPr>
            <a:endParaRPr lang="en-US" sz="2000" dirty="0">
              <a:solidFill>
                <a:schemeClr val="accent5">
                  <a:lumMod val="50000"/>
                </a:schemeClr>
              </a:solidFill>
            </a:endParaRPr>
          </a:p>
          <a:p>
            <a:pPr lvl="0" algn="just">
              <a:defRPr/>
            </a:pPr>
            <a:r>
              <a:rPr lang="pl-PL" sz="2000" dirty="0">
                <a:solidFill>
                  <a:schemeClr val="accent5">
                    <a:lumMod val="50000"/>
                  </a:schemeClr>
                </a:solidFill>
              </a:rPr>
              <a:t>We </a:t>
            </a:r>
            <a:r>
              <a:rPr lang="pl-PL" sz="2000" dirty="0" err="1">
                <a:solidFill>
                  <a:schemeClr val="accent5">
                    <a:lumMod val="50000"/>
                  </a:schemeClr>
                </a:solidFill>
              </a:rPr>
              <a:t>can</a:t>
            </a:r>
            <a:r>
              <a:rPr lang="pl-PL" sz="2000" dirty="0">
                <a:solidFill>
                  <a:schemeClr val="accent5">
                    <a:lumMod val="50000"/>
                  </a:schemeClr>
                </a:solidFill>
              </a:rPr>
              <a:t> </a:t>
            </a:r>
            <a:r>
              <a:rPr lang="en-US" sz="2000" dirty="0">
                <a:solidFill>
                  <a:schemeClr val="accent5">
                    <a:lumMod val="50000"/>
                  </a:schemeClr>
                </a:solidFill>
              </a:rPr>
              <a:t>start with, two optimization problems and a few tautological equalities from the scheme of circulation in the economy are enough</a:t>
            </a:r>
            <a:r>
              <a:rPr lang="pl-PL" sz="2000" dirty="0">
                <a:solidFill>
                  <a:schemeClr val="accent5">
                    <a:lumMod val="50000"/>
                  </a:schemeClr>
                </a:solidFill>
              </a:rPr>
              <a:t>, to do </a:t>
            </a:r>
            <a:r>
              <a:rPr lang="pl-PL" sz="2000" dirty="0" err="1">
                <a:solidFill>
                  <a:schemeClr val="accent5">
                    <a:lumMod val="50000"/>
                  </a:schemeClr>
                </a:solidFill>
              </a:rPr>
              <a:t>it</a:t>
            </a:r>
            <a:r>
              <a:rPr lang="pl-PL" sz="2000" dirty="0">
                <a:solidFill>
                  <a:schemeClr val="accent5">
                    <a:lumMod val="50000"/>
                  </a:schemeClr>
                </a:solidFill>
              </a:rPr>
              <a:t>. </a:t>
            </a:r>
            <a:endParaRPr kumimoji="0" lang="pl-PL" sz="2000" i="1" u="none" strike="noStrike" kern="1200" cap="none" spc="0" normalizeH="0" baseline="0" noProof="0" dirty="0">
              <a:ln>
                <a:noFill/>
              </a:ln>
              <a:solidFill>
                <a:schemeClr val="accent5">
                  <a:lumMod val="50000"/>
                </a:schemeClr>
              </a:solidFill>
              <a:effectLst/>
              <a:uLnTx/>
              <a:uFillTx/>
              <a:latin typeface="Calibri"/>
              <a:ea typeface="+mn-ea"/>
              <a:cs typeface="+mn-cs"/>
            </a:endParaRPr>
          </a:p>
        </p:txBody>
      </p:sp>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5530" y="3995482"/>
            <a:ext cx="3009837" cy="2842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7" name="Prostokąt 6"/>
          <p:cNvSpPr/>
          <p:nvPr/>
        </p:nvSpPr>
        <p:spPr>
          <a:xfrm>
            <a:off x="395311" y="3905977"/>
            <a:ext cx="1900219"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dirty="0">
                <a:ln>
                  <a:noFill/>
                </a:ln>
                <a:solidFill>
                  <a:srgbClr val="4BACC6">
                    <a:lumMod val="50000"/>
                  </a:srgbClr>
                </a:solidFill>
                <a:effectLst/>
                <a:uLnTx/>
                <a:uFillTx/>
                <a:latin typeface="Arial" charset="0"/>
                <a:ea typeface="+mn-ea"/>
                <a:cs typeface="+mn-cs"/>
              </a:rPr>
              <a:t>Kenneth Arrow</a:t>
            </a:r>
          </a:p>
        </p:txBody>
      </p:sp>
      <p:pic>
        <p:nvPicPr>
          <p:cNvPr id="8" name="Picture 2" descr="File:Kenneth Arrow, Stanford University.jpg"/>
          <p:cNvPicPr>
            <a:picLocks noChangeAspect="1" noChangeArrowheads="1"/>
          </p:cNvPicPr>
          <p:nvPr/>
        </p:nvPicPr>
        <p:blipFill>
          <a:blip r:embed="rId4"/>
          <a:srcRect/>
          <a:stretch>
            <a:fillRect/>
          </a:stretch>
        </p:blipFill>
        <p:spPr bwMode="auto">
          <a:xfrm>
            <a:off x="671585" y="2111528"/>
            <a:ext cx="1347673" cy="1683094"/>
          </a:xfrm>
          <a:prstGeom prst="rect">
            <a:avLst/>
          </a:prstGeom>
          <a:ln>
            <a:noFill/>
          </a:ln>
          <a:effectLst>
            <a:outerShdw blurRad="292100" dist="139700" dir="2700000" algn="tl" rotWithShape="0">
              <a:srgbClr val="333333">
                <a:alpha val="65000"/>
              </a:srgbClr>
            </a:outerShdw>
          </a:effectLst>
        </p:spPr>
      </p:pic>
      <p:sp>
        <p:nvSpPr>
          <p:cNvPr id="9" name="Prostokąt 8"/>
          <p:cNvSpPr/>
          <p:nvPr/>
        </p:nvSpPr>
        <p:spPr>
          <a:xfrm>
            <a:off x="392317" y="6038792"/>
            <a:ext cx="1903214"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dirty="0" err="1">
                <a:ln>
                  <a:noFill/>
                </a:ln>
                <a:solidFill>
                  <a:srgbClr val="4BACC6">
                    <a:lumMod val="50000"/>
                  </a:srgbClr>
                </a:solidFill>
                <a:effectLst/>
                <a:uLnTx/>
                <a:uFillTx/>
                <a:latin typeface="Arial" charset="0"/>
                <a:ea typeface="+mn-ea"/>
                <a:cs typeface="+mn-cs"/>
              </a:rPr>
              <a:t>Gérard</a:t>
            </a:r>
            <a:r>
              <a:rPr kumimoji="0" lang="pl-PL" sz="2000" b="0" i="0" u="none" strike="noStrike" kern="1200" cap="none" spc="0" normalizeH="0" baseline="0" noProof="0" dirty="0">
                <a:ln>
                  <a:noFill/>
                </a:ln>
                <a:solidFill>
                  <a:srgbClr val="4BACC6">
                    <a:lumMod val="50000"/>
                  </a:srgbClr>
                </a:solidFill>
                <a:effectLst/>
                <a:uLnTx/>
                <a:uFillTx/>
                <a:latin typeface="Arial" charset="0"/>
                <a:ea typeface="+mn-ea"/>
                <a:cs typeface="+mn-cs"/>
              </a:rPr>
              <a:t> </a:t>
            </a:r>
            <a:r>
              <a:rPr kumimoji="0" lang="pl-PL" sz="2000" b="0" i="0" u="none" strike="noStrike" kern="1200" cap="none" spc="0" normalizeH="0" baseline="0" noProof="0" dirty="0" err="1">
                <a:ln>
                  <a:noFill/>
                </a:ln>
                <a:solidFill>
                  <a:srgbClr val="4BACC6">
                    <a:lumMod val="50000"/>
                  </a:srgbClr>
                </a:solidFill>
                <a:effectLst/>
                <a:uLnTx/>
                <a:uFillTx/>
                <a:latin typeface="Arial" charset="0"/>
                <a:ea typeface="+mn-ea"/>
                <a:cs typeface="+mn-cs"/>
              </a:rPr>
              <a:t>Debreu</a:t>
            </a:r>
            <a:endParaRPr kumimoji="0" lang="pl-PL" sz="2000" b="0" i="0" u="none" strike="noStrike" kern="1200" cap="none" spc="0" normalizeH="0" baseline="0" noProof="0" dirty="0">
              <a:ln>
                <a:noFill/>
              </a:ln>
              <a:solidFill>
                <a:srgbClr val="4BACC6">
                  <a:lumMod val="50000"/>
                </a:srgbClr>
              </a:solidFill>
              <a:effectLst/>
              <a:uLnTx/>
              <a:uFillTx/>
              <a:latin typeface="Arial" charset="0"/>
              <a:ea typeface="+mn-ea"/>
              <a:cs typeface="+mn-cs"/>
            </a:endParaRPr>
          </a:p>
        </p:txBody>
      </p:sp>
      <p:pic>
        <p:nvPicPr>
          <p:cNvPr id="10" name="Picture 4" descr="http://t1.gstatic.com/images?q=tbn:ANd9GcQ37f8QzZJK6icXqZK_t-hyXFMtczFS0B8jXeW8TiiBfqs8ogzr2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1585" y="4306087"/>
            <a:ext cx="1308740" cy="1642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pole tekstowe 10"/>
          <p:cNvSpPr txBox="1"/>
          <p:nvPr/>
        </p:nvSpPr>
        <p:spPr>
          <a:xfrm>
            <a:off x="5305367" y="4168745"/>
            <a:ext cx="3911109" cy="230832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BACC6">
                    <a:lumMod val="50000"/>
                  </a:srgbClr>
                </a:solidFill>
                <a:effectLst/>
                <a:uLnTx/>
                <a:uFillTx/>
                <a:latin typeface="Arial" charset="0"/>
                <a:ea typeface="+mn-ea"/>
                <a:cs typeface="+mn-cs"/>
              </a:rPr>
              <a:t>The economy 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BACC6">
                    <a:lumMod val="50000"/>
                  </a:srgbClr>
                </a:solidFill>
                <a:effectLst/>
                <a:uLnTx/>
                <a:uFillTx/>
                <a:latin typeface="Arial" charset="0"/>
                <a:ea typeface="+mn-ea"/>
                <a:cs typeface="+mn-cs"/>
              </a:rPr>
              <a:t>N1 consumers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BACC6">
                    <a:lumMod val="50000"/>
                  </a:srgbClr>
                </a:solidFill>
                <a:effectLst/>
                <a:uLnTx/>
                <a:uFillTx/>
                <a:latin typeface="Arial" charset="0"/>
                <a:ea typeface="+mn-ea"/>
                <a:cs typeface="+mn-cs"/>
              </a:rPr>
              <a:t>N2 goods and services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BACC6">
                    <a:lumMod val="50000"/>
                  </a:srgbClr>
                </a:solidFill>
                <a:effectLst/>
                <a:uLnTx/>
                <a:uFillTx/>
                <a:latin typeface="Arial" charset="0"/>
                <a:ea typeface="+mn-ea"/>
                <a:cs typeface="+mn-cs"/>
              </a:rPr>
              <a:t>N3 factors of production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BACC6">
                    <a:lumMod val="50000"/>
                  </a:srgbClr>
                </a:solidFill>
                <a:effectLst/>
                <a:uLnTx/>
                <a:uFillTx/>
                <a:latin typeface="Arial" charset="0"/>
                <a:ea typeface="+mn-ea"/>
                <a:cs typeface="+mn-cs"/>
              </a:rPr>
              <a:t>N2 markets for goods and services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BACC6">
                    <a:lumMod val="50000"/>
                  </a:srgbClr>
                </a:solidFill>
                <a:effectLst/>
                <a:uLnTx/>
                <a:uFillTx/>
                <a:latin typeface="Arial" charset="0"/>
                <a:ea typeface="+mn-ea"/>
                <a:cs typeface="+mn-cs"/>
              </a:rPr>
              <a:t>and their prices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BACC6">
                    <a:lumMod val="50000"/>
                  </a:srgbClr>
                </a:solidFill>
                <a:effectLst/>
                <a:uLnTx/>
                <a:uFillTx/>
                <a:latin typeface="Arial" charset="0"/>
                <a:ea typeface="+mn-ea"/>
                <a:cs typeface="+mn-cs"/>
              </a:rPr>
              <a:t>N3 markets for factors of production and their prices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4BACC6">
                  <a:lumMod val="50000"/>
                </a:srgbClr>
              </a:solidFill>
              <a:effectLst/>
              <a:uLnTx/>
              <a:uFillTx/>
              <a:latin typeface="Arial"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BACC6">
                    <a:lumMod val="50000"/>
                  </a:srgbClr>
                </a:solidFill>
                <a:effectLst/>
                <a:uLnTx/>
                <a:uFillTx/>
                <a:latin typeface="Arial" charset="0"/>
                <a:ea typeface="+mn-ea"/>
                <a:cs typeface="+mn-cs"/>
              </a:rPr>
              <a:t>and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4BACC6">
                  <a:lumMod val="50000"/>
                </a:srgbClr>
              </a:solidFill>
              <a:effectLst/>
              <a:uLnTx/>
              <a:uFillTx/>
              <a:latin typeface="Arial"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BACC6">
                    <a:lumMod val="50000"/>
                  </a:srgbClr>
                </a:solidFill>
                <a:effectLst/>
                <a:uLnTx/>
                <a:uFillTx/>
                <a:latin typeface="Arial" charset="0"/>
                <a:ea typeface="+mn-ea"/>
                <a:cs typeface="+mn-cs"/>
              </a:rPr>
              <a:t>the mechanism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BACC6">
                    <a:lumMod val="50000"/>
                  </a:srgbClr>
                </a:solidFill>
                <a:effectLst/>
                <a:uLnTx/>
                <a:uFillTx/>
                <a:latin typeface="Arial" charset="0"/>
                <a:ea typeface="+mn-ea"/>
                <a:cs typeface="+mn-cs"/>
              </a:rPr>
              <a:t>that makes it all clear</a:t>
            </a:r>
            <a:endParaRPr kumimoji="0" lang="pl-PL" sz="1200" b="0" i="0" u="none" strike="noStrike" kern="1200" cap="none" spc="0" normalizeH="0" baseline="0" noProof="0" dirty="0">
              <a:ln>
                <a:noFill/>
              </a:ln>
              <a:solidFill>
                <a:srgbClr val="4BACC6">
                  <a:lumMod val="50000"/>
                </a:srgbClr>
              </a:solidFill>
              <a:effectLst/>
              <a:uLnTx/>
              <a:uFillTx/>
              <a:latin typeface="Arial" charset="0"/>
              <a:ea typeface="+mn-ea"/>
              <a:cs typeface="+mn-cs"/>
            </a:endParaRPr>
          </a:p>
        </p:txBody>
      </p:sp>
      <p:pic>
        <p:nvPicPr>
          <p:cNvPr id="3" name="Obraz 2"/>
          <p:cNvPicPr>
            <a:picLocks noChangeAspect="1"/>
          </p:cNvPicPr>
          <p:nvPr/>
        </p:nvPicPr>
        <p:blipFill>
          <a:blip r:embed="rId6"/>
          <a:stretch>
            <a:fillRect/>
          </a:stretch>
        </p:blipFill>
        <p:spPr>
          <a:xfrm>
            <a:off x="10913767" y="4168745"/>
            <a:ext cx="799281" cy="802849"/>
          </a:xfrm>
          <a:prstGeom prst="rect">
            <a:avLst/>
          </a:prstGeom>
        </p:spPr>
      </p:pic>
      <p:sp>
        <p:nvSpPr>
          <p:cNvPr id="6" name="Strzałka w dół 5"/>
          <p:cNvSpPr/>
          <p:nvPr/>
        </p:nvSpPr>
        <p:spPr>
          <a:xfrm>
            <a:off x="10775716" y="5140960"/>
            <a:ext cx="438712" cy="487680"/>
          </a:xfrm>
          <a:prstGeom prst="downArrow">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white"/>
              </a:solidFill>
              <a:effectLst/>
              <a:uLnTx/>
              <a:uFillTx/>
              <a:latin typeface="Calibri"/>
              <a:ea typeface="+mn-ea"/>
              <a:cs typeface="+mn-cs"/>
            </a:endParaRPr>
          </a:p>
        </p:txBody>
      </p:sp>
      <p:pic>
        <p:nvPicPr>
          <p:cNvPr id="14" name="Obraz 13"/>
          <p:cNvPicPr>
            <a:picLocks noChangeAspect="1"/>
          </p:cNvPicPr>
          <p:nvPr/>
        </p:nvPicPr>
        <p:blipFill>
          <a:blip r:embed="rId7"/>
          <a:stretch>
            <a:fillRect/>
          </a:stretch>
        </p:blipFill>
        <p:spPr>
          <a:xfrm>
            <a:off x="9727280" y="5740040"/>
            <a:ext cx="2372975" cy="916476"/>
          </a:xfrm>
          <a:prstGeom prst="rect">
            <a:avLst/>
          </a:prstGeom>
        </p:spPr>
      </p:pic>
    </p:spTree>
    <p:extLst>
      <p:ext uri="{BB962C8B-B14F-4D97-AF65-F5344CB8AC3E}">
        <p14:creationId xmlns:p14="http://schemas.microsoft.com/office/powerpoint/2010/main" val="18560069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0C1E5-D71E-E64C-5AF5-2828A612C87D}"/>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77751231-290D-2C94-7B45-F7C971D62DD8}"/>
              </a:ext>
            </a:extLst>
          </p:cNvPr>
          <p:cNvPicPr>
            <a:picLocks noChangeAspect="1"/>
          </p:cNvPicPr>
          <p:nvPr/>
        </p:nvPicPr>
        <p:blipFill>
          <a:blip r:embed="rId3"/>
          <a:stretch>
            <a:fillRect/>
          </a:stretch>
        </p:blipFill>
        <p:spPr>
          <a:xfrm>
            <a:off x="1709629" y="1691008"/>
            <a:ext cx="8549222" cy="5057135"/>
          </a:xfrm>
          <a:prstGeom prst="rect">
            <a:avLst/>
          </a:prstGeom>
        </p:spPr>
      </p:pic>
      <p:sp>
        <p:nvSpPr>
          <p:cNvPr id="19" name="Tytuł 1">
            <a:extLst>
              <a:ext uri="{FF2B5EF4-FFF2-40B4-BE49-F238E27FC236}">
                <a16:creationId xmlns:a16="http://schemas.microsoft.com/office/drawing/2014/main" id="{28D52A2D-18AC-87C0-EC77-4580F85B41FD}"/>
              </a:ext>
            </a:extLst>
          </p:cNvPr>
          <p:cNvSpPr>
            <a:spLocks noGrp="1"/>
          </p:cNvSpPr>
          <p:nvPr>
            <p:ph type="title"/>
          </p:nvPr>
        </p:nvSpPr>
        <p:spPr>
          <a:xfrm>
            <a:off x="7517" y="-173"/>
            <a:ext cx="12192000" cy="1391920"/>
          </a:xfrm>
          <a:solidFill>
            <a:schemeClr val="accent5">
              <a:lumMod val="20000"/>
              <a:lumOff val="80000"/>
            </a:schemeClr>
          </a:solidFill>
        </p:spPr>
        <p:txBody>
          <a:bodyPr>
            <a:noAutofit/>
          </a:bodyPr>
          <a:lstStyle/>
          <a:p>
            <a:r>
              <a:rPr lang="en-US" sz="3600" b="1" dirty="0">
                <a:solidFill>
                  <a:schemeClr val="accent5">
                    <a:lumMod val="50000"/>
                  </a:schemeClr>
                </a:solidFill>
              </a:rPr>
              <a:t>Contemporary Microeconomic Models of Macroeconomics - Welcome to Arrow–Debreu World</a:t>
            </a:r>
            <a:r>
              <a:rPr lang="pl-PL" sz="3600" b="1" dirty="0">
                <a:solidFill>
                  <a:schemeClr val="accent5">
                    <a:lumMod val="50000"/>
                  </a:schemeClr>
                </a:solidFill>
              </a:rPr>
              <a:t>   </a:t>
            </a:r>
            <a:endParaRPr lang="en-GB" sz="3600" b="1" dirty="0">
              <a:solidFill>
                <a:schemeClr val="accent5">
                  <a:lumMod val="50000"/>
                </a:schemeClr>
              </a:solidFill>
            </a:endParaRPr>
          </a:p>
        </p:txBody>
      </p:sp>
    </p:spTree>
    <p:extLst>
      <p:ext uri="{BB962C8B-B14F-4D97-AF65-F5344CB8AC3E}">
        <p14:creationId xmlns:p14="http://schemas.microsoft.com/office/powerpoint/2010/main" val="3967994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3DBBF-2AC8-FE1B-0A78-3C5B3386329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5437DE4-5C91-59CE-E979-289CCFDBBFF5}"/>
              </a:ext>
            </a:extLst>
          </p:cNvPr>
          <p:cNvPicPr>
            <a:picLocks noChangeAspect="1"/>
          </p:cNvPicPr>
          <p:nvPr/>
        </p:nvPicPr>
        <p:blipFill>
          <a:blip r:embed="rId3"/>
          <a:stretch>
            <a:fillRect/>
          </a:stretch>
        </p:blipFill>
        <p:spPr>
          <a:xfrm>
            <a:off x="1750896" y="1820794"/>
            <a:ext cx="7464224" cy="5037206"/>
          </a:xfrm>
          <a:prstGeom prst="rect">
            <a:avLst/>
          </a:prstGeom>
        </p:spPr>
      </p:pic>
      <p:sp>
        <p:nvSpPr>
          <p:cNvPr id="8" name="Tytuł 1">
            <a:extLst>
              <a:ext uri="{FF2B5EF4-FFF2-40B4-BE49-F238E27FC236}">
                <a16:creationId xmlns:a16="http://schemas.microsoft.com/office/drawing/2014/main" id="{23CF11C2-173A-E303-82AF-B2A265C55434}"/>
              </a:ext>
            </a:extLst>
          </p:cNvPr>
          <p:cNvSpPr>
            <a:spLocks noGrp="1"/>
          </p:cNvSpPr>
          <p:nvPr>
            <p:ph type="title"/>
          </p:nvPr>
        </p:nvSpPr>
        <p:spPr>
          <a:xfrm>
            <a:off x="7517" y="-173"/>
            <a:ext cx="12192000" cy="1391920"/>
          </a:xfrm>
          <a:solidFill>
            <a:schemeClr val="accent5">
              <a:lumMod val="20000"/>
              <a:lumOff val="80000"/>
            </a:schemeClr>
          </a:solidFill>
        </p:spPr>
        <p:txBody>
          <a:bodyPr>
            <a:noAutofit/>
          </a:bodyPr>
          <a:lstStyle/>
          <a:p>
            <a:r>
              <a:rPr lang="en-US" sz="3600" b="1" dirty="0">
                <a:solidFill>
                  <a:schemeClr val="accent5">
                    <a:lumMod val="50000"/>
                  </a:schemeClr>
                </a:solidFill>
              </a:rPr>
              <a:t>Contemporary Microeconomic Models of Macroeconomics - Welcome to Arrow–Debreu World</a:t>
            </a:r>
            <a:r>
              <a:rPr lang="pl-PL" sz="3600" b="1" dirty="0">
                <a:solidFill>
                  <a:schemeClr val="accent5">
                    <a:lumMod val="50000"/>
                  </a:schemeClr>
                </a:solidFill>
              </a:rPr>
              <a:t>   </a:t>
            </a:r>
            <a:endParaRPr lang="en-GB" sz="3600" b="1" dirty="0">
              <a:solidFill>
                <a:schemeClr val="accent5">
                  <a:lumMod val="50000"/>
                </a:schemeClr>
              </a:solidFill>
            </a:endParaRPr>
          </a:p>
        </p:txBody>
      </p:sp>
    </p:spTree>
    <p:extLst>
      <p:ext uri="{BB962C8B-B14F-4D97-AF65-F5344CB8AC3E}">
        <p14:creationId xmlns:p14="http://schemas.microsoft.com/office/powerpoint/2010/main" val="1783534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6DAF0-5BF3-06A0-59FD-AE423A986AB1}"/>
            </a:ext>
          </a:extLst>
        </p:cNvPr>
        <p:cNvGrpSpPr/>
        <p:nvPr/>
      </p:nvGrpSpPr>
      <p:grpSpPr>
        <a:xfrm>
          <a:off x="0" y="0"/>
          <a:ext cx="0" cy="0"/>
          <a:chOff x="0" y="0"/>
          <a:chExt cx="0" cy="0"/>
        </a:xfrm>
      </p:grpSpPr>
      <p:sp>
        <p:nvSpPr>
          <p:cNvPr id="8" name="Tytuł 1">
            <a:extLst>
              <a:ext uri="{FF2B5EF4-FFF2-40B4-BE49-F238E27FC236}">
                <a16:creationId xmlns:a16="http://schemas.microsoft.com/office/drawing/2014/main" id="{1CB5D4DD-5742-0472-0350-E967784FB5D6}"/>
              </a:ext>
            </a:extLst>
          </p:cNvPr>
          <p:cNvSpPr>
            <a:spLocks noGrp="1"/>
          </p:cNvSpPr>
          <p:nvPr>
            <p:ph type="title"/>
          </p:nvPr>
        </p:nvSpPr>
        <p:spPr>
          <a:xfrm>
            <a:off x="7517" y="-173"/>
            <a:ext cx="12192000" cy="1391920"/>
          </a:xfrm>
          <a:solidFill>
            <a:schemeClr val="accent5">
              <a:lumMod val="20000"/>
              <a:lumOff val="80000"/>
            </a:schemeClr>
          </a:solidFill>
        </p:spPr>
        <p:txBody>
          <a:bodyPr>
            <a:noAutofit/>
          </a:bodyPr>
          <a:lstStyle/>
          <a:p>
            <a:r>
              <a:rPr lang="en-US" sz="3600" b="1" dirty="0">
                <a:solidFill>
                  <a:schemeClr val="accent5">
                    <a:lumMod val="50000"/>
                  </a:schemeClr>
                </a:solidFill>
              </a:rPr>
              <a:t>Contemporary Microeconomic Models of Macroeconomics - Welcome to Arrow–Debreu World</a:t>
            </a:r>
            <a:r>
              <a:rPr lang="pl-PL" sz="3600" b="1" dirty="0">
                <a:solidFill>
                  <a:schemeClr val="accent5">
                    <a:lumMod val="50000"/>
                  </a:schemeClr>
                </a:solidFill>
              </a:rPr>
              <a:t>   </a:t>
            </a:r>
            <a:endParaRPr lang="en-GB" sz="3600" b="1" dirty="0">
              <a:solidFill>
                <a:schemeClr val="accent5">
                  <a:lumMod val="50000"/>
                </a:schemeClr>
              </a:solidFill>
            </a:endParaRPr>
          </a:p>
        </p:txBody>
      </p:sp>
      <p:pic>
        <p:nvPicPr>
          <p:cNvPr id="3" name="Picture 2">
            <a:extLst>
              <a:ext uri="{FF2B5EF4-FFF2-40B4-BE49-F238E27FC236}">
                <a16:creationId xmlns:a16="http://schemas.microsoft.com/office/drawing/2014/main" id="{D8636B6E-721E-279A-7456-30A45C981BBA}"/>
              </a:ext>
            </a:extLst>
          </p:cNvPr>
          <p:cNvPicPr>
            <a:picLocks noChangeAspect="1"/>
          </p:cNvPicPr>
          <p:nvPr/>
        </p:nvPicPr>
        <p:blipFill>
          <a:blip r:embed="rId3"/>
          <a:stretch>
            <a:fillRect/>
          </a:stretch>
        </p:blipFill>
        <p:spPr>
          <a:xfrm>
            <a:off x="2254703" y="1595120"/>
            <a:ext cx="7986577" cy="5128289"/>
          </a:xfrm>
          <a:prstGeom prst="rect">
            <a:avLst/>
          </a:prstGeom>
        </p:spPr>
      </p:pic>
    </p:spTree>
    <p:extLst>
      <p:ext uri="{BB962C8B-B14F-4D97-AF65-F5344CB8AC3E}">
        <p14:creationId xmlns:p14="http://schemas.microsoft.com/office/powerpoint/2010/main" val="36734832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F2C47-92F2-99DD-830E-95BD74E74104}"/>
            </a:ext>
          </a:extLst>
        </p:cNvPr>
        <p:cNvGrpSpPr/>
        <p:nvPr/>
      </p:nvGrpSpPr>
      <p:grpSpPr>
        <a:xfrm>
          <a:off x="0" y="0"/>
          <a:ext cx="0" cy="0"/>
          <a:chOff x="0" y="0"/>
          <a:chExt cx="0" cy="0"/>
        </a:xfrm>
      </p:grpSpPr>
      <p:sp>
        <p:nvSpPr>
          <p:cNvPr id="8" name="Tytuł 1">
            <a:extLst>
              <a:ext uri="{FF2B5EF4-FFF2-40B4-BE49-F238E27FC236}">
                <a16:creationId xmlns:a16="http://schemas.microsoft.com/office/drawing/2014/main" id="{0C14F2B9-7C25-6F20-3617-336D616CFAB4}"/>
              </a:ext>
            </a:extLst>
          </p:cNvPr>
          <p:cNvSpPr>
            <a:spLocks noGrp="1"/>
          </p:cNvSpPr>
          <p:nvPr>
            <p:ph type="title"/>
          </p:nvPr>
        </p:nvSpPr>
        <p:spPr>
          <a:xfrm>
            <a:off x="7517" y="-173"/>
            <a:ext cx="12192000" cy="1391920"/>
          </a:xfrm>
          <a:solidFill>
            <a:schemeClr val="accent5">
              <a:lumMod val="20000"/>
              <a:lumOff val="80000"/>
            </a:schemeClr>
          </a:solidFill>
        </p:spPr>
        <p:txBody>
          <a:bodyPr>
            <a:noAutofit/>
          </a:bodyPr>
          <a:lstStyle/>
          <a:p>
            <a:r>
              <a:rPr lang="en-US" sz="3600" b="1" dirty="0">
                <a:solidFill>
                  <a:schemeClr val="accent5">
                    <a:lumMod val="50000"/>
                  </a:schemeClr>
                </a:solidFill>
              </a:rPr>
              <a:t>Contemporary Microeconomic Models of Macroeconomics - Welcome to Arrow–Debreu World</a:t>
            </a:r>
            <a:r>
              <a:rPr lang="pl-PL" sz="3600" b="1" dirty="0">
                <a:solidFill>
                  <a:schemeClr val="accent5">
                    <a:lumMod val="50000"/>
                  </a:schemeClr>
                </a:solidFill>
              </a:rPr>
              <a:t>   </a:t>
            </a:r>
            <a:endParaRPr lang="en-GB" sz="3600" b="1" dirty="0">
              <a:solidFill>
                <a:schemeClr val="accent5">
                  <a:lumMod val="50000"/>
                </a:schemeClr>
              </a:solidFill>
            </a:endParaRPr>
          </a:p>
        </p:txBody>
      </p:sp>
      <p:pic>
        <p:nvPicPr>
          <p:cNvPr id="4" name="Picture 3">
            <a:extLst>
              <a:ext uri="{FF2B5EF4-FFF2-40B4-BE49-F238E27FC236}">
                <a16:creationId xmlns:a16="http://schemas.microsoft.com/office/drawing/2014/main" id="{8DFBF4DC-2DA6-B793-996D-85A38E594033}"/>
              </a:ext>
            </a:extLst>
          </p:cNvPr>
          <p:cNvPicPr>
            <a:picLocks noChangeAspect="1"/>
          </p:cNvPicPr>
          <p:nvPr/>
        </p:nvPicPr>
        <p:blipFill>
          <a:blip r:embed="rId3"/>
          <a:stretch>
            <a:fillRect/>
          </a:stretch>
        </p:blipFill>
        <p:spPr>
          <a:xfrm>
            <a:off x="121388" y="1838345"/>
            <a:ext cx="7892718" cy="4410055"/>
          </a:xfrm>
          <a:prstGeom prst="rect">
            <a:avLst/>
          </a:prstGeom>
        </p:spPr>
      </p:pic>
      <p:pic>
        <p:nvPicPr>
          <p:cNvPr id="9" name="Picture 8">
            <a:extLst>
              <a:ext uri="{FF2B5EF4-FFF2-40B4-BE49-F238E27FC236}">
                <a16:creationId xmlns:a16="http://schemas.microsoft.com/office/drawing/2014/main" id="{C28C9B57-0DD6-EBF8-7AEA-69AFEBC5BFDB}"/>
              </a:ext>
            </a:extLst>
          </p:cNvPr>
          <p:cNvPicPr>
            <a:picLocks noChangeAspect="1"/>
          </p:cNvPicPr>
          <p:nvPr/>
        </p:nvPicPr>
        <p:blipFill>
          <a:blip r:embed="rId4"/>
          <a:stretch>
            <a:fillRect/>
          </a:stretch>
        </p:blipFill>
        <p:spPr>
          <a:xfrm>
            <a:off x="5709920" y="2618910"/>
            <a:ext cx="6198132" cy="21926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765537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8053D-16E1-9FF5-3300-176738826C06}"/>
            </a:ext>
          </a:extLst>
        </p:cNvPr>
        <p:cNvGrpSpPr/>
        <p:nvPr/>
      </p:nvGrpSpPr>
      <p:grpSpPr>
        <a:xfrm>
          <a:off x="0" y="0"/>
          <a:ext cx="0" cy="0"/>
          <a:chOff x="0" y="0"/>
          <a:chExt cx="0" cy="0"/>
        </a:xfrm>
      </p:grpSpPr>
      <p:sp>
        <p:nvSpPr>
          <p:cNvPr id="8" name="Tytuł 1">
            <a:extLst>
              <a:ext uri="{FF2B5EF4-FFF2-40B4-BE49-F238E27FC236}">
                <a16:creationId xmlns:a16="http://schemas.microsoft.com/office/drawing/2014/main" id="{D1934256-BA49-74B6-8FFA-19427457AA6E}"/>
              </a:ext>
            </a:extLst>
          </p:cNvPr>
          <p:cNvSpPr>
            <a:spLocks noGrp="1"/>
          </p:cNvSpPr>
          <p:nvPr>
            <p:ph type="title"/>
          </p:nvPr>
        </p:nvSpPr>
        <p:spPr>
          <a:xfrm>
            <a:off x="7517" y="-173"/>
            <a:ext cx="12192000" cy="1391920"/>
          </a:xfrm>
          <a:solidFill>
            <a:schemeClr val="accent5">
              <a:lumMod val="20000"/>
              <a:lumOff val="80000"/>
            </a:schemeClr>
          </a:solidFill>
        </p:spPr>
        <p:txBody>
          <a:bodyPr>
            <a:noAutofit/>
          </a:bodyPr>
          <a:lstStyle/>
          <a:p>
            <a:r>
              <a:rPr lang="en-US" sz="3600" b="1" dirty="0">
                <a:solidFill>
                  <a:schemeClr val="accent5">
                    <a:lumMod val="50000"/>
                  </a:schemeClr>
                </a:solidFill>
              </a:rPr>
              <a:t>Contemporary Microeconomic Models of Macroeconomics - Welcome to Arrow–Debreu World</a:t>
            </a:r>
            <a:r>
              <a:rPr lang="pl-PL" sz="3600" b="1" dirty="0">
                <a:solidFill>
                  <a:schemeClr val="accent5">
                    <a:lumMod val="50000"/>
                  </a:schemeClr>
                </a:solidFill>
              </a:rPr>
              <a:t>   </a:t>
            </a:r>
            <a:endParaRPr lang="en-GB" sz="3600" b="1" dirty="0">
              <a:solidFill>
                <a:schemeClr val="accent5">
                  <a:lumMod val="50000"/>
                </a:schemeClr>
              </a:solidFill>
            </a:endParaRPr>
          </a:p>
        </p:txBody>
      </p:sp>
      <p:pic>
        <p:nvPicPr>
          <p:cNvPr id="3" name="Picture 2">
            <a:extLst>
              <a:ext uri="{FF2B5EF4-FFF2-40B4-BE49-F238E27FC236}">
                <a16:creationId xmlns:a16="http://schemas.microsoft.com/office/drawing/2014/main" id="{96C3B332-F3E9-415A-6EF9-6160C6BC3A0D}"/>
              </a:ext>
            </a:extLst>
          </p:cNvPr>
          <p:cNvPicPr>
            <a:picLocks noChangeAspect="1"/>
          </p:cNvPicPr>
          <p:nvPr/>
        </p:nvPicPr>
        <p:blipFill>
          <a:blip r:embed="rId3"/>
          <a:stretch>
            <a:fillRect/>
          </a:stretch>
        </p:blipFill>
        <p:spPr>
          <a:xfrm>
            <a:off x="1404419" y="2123654"/>
            <a:ext cx="7904882" cy="2610692"/>
          </a:xfrm>
          <a:prstGeom prst="rect">
            <a:avLst/>
          </a:prstGeom>
        </p:spPr>
      </p:pic>
      <p:sp>
        <p:nvSpPr>
          <p:cNvPr id="6" name="TextBox 5">
            <a:extLst>
              <a:ext uri="{FF2B5EF4-FFF2-40B4-BE49-F238E27FC236}">
                <a16:creationId xmlns:a16="http://schemas.microsoft.com/office/drawing/2014/main" id="{144FB3C7-519E-590D-1E31-926D79B8C32A}"/>
              </a:ext>
            </a:extLst>
          </p:cNvPr>
          <p:cNvSpPr txBox="1"/>
          <p:nvPr/>
        </p:nvSpPr>
        <p:spPr>
          <a:xfrm>
            <a:off x="5356860" y="5341035"/>
            <a:ext cx="6101080" cy="646331"/>
          </a:xfrm>
          <a:prstGeom prst="rect">
            <a:avLst/>
          </a:prstGeom>
          <a:noFill/>
        </p:spPr>
        <p:txBody>
          <a:bodyPr wrap="square">
            <a:spAutoFit/>
          </a:bodyPr>
          <a:lstStyle/>
          <a:p>
            <a:r>
              <a:rPr lang="en-US" dirty="0"/>
              <a:t>Interesting facts</a:t>
            </a:r>
            <a:r>
              <a:rPr lang="pl-PL" dirty="0"/>
              <a:t>: </a:t>
            </a:r>
            <a:r>
              <a:rPr lang="en-US" dirty="0"/>
              <a:t>20 years ago</a:t>
            </a:r>
            <a:r>
              <a:rPr lang="pl-PL" dirty="0"/>
              <a:t>, </a:t>
            </a:r>
            <a:r>
              <a:rPr lang="en-US" dirty="0"/>
              <a:t>in large NBP models, these parameters for Poland were taken from the US economy</a:t>
            </a:r>
            <a:r>
              <a:rPr lang="pl-PL" dirty="0"/>
              <a:t> </a:t>
            </a:r>
            <a:r>
              <a:rPr lang="en-US" dirty="0"/>
              <a:t>:)</a:t>
            </a:r>
          </a:p>
        </p:txBody>
      </p:sp>
    </p:spTree>
    <p:extLst>
      <p:ext uri="{BB962C8B-B14F-4D97-AF65-F5344CB8AC3E}">
        <p14:creationId xmlns:p14="http://schemas.microsoft.com/office/powerpoint/2010/main" val="29725673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4E816-932D-C636-B92A-7912751AB216}"/>
            </a:ext>
          </a:extLst>
        </p:cNvPr>
        <p:cNvGrpSpPr/>
        <p:nvPr/>
      </p:nvGrpSpPr>
      <p:grpSpPr>
        <a:xfrm>
          <a:off x="0" y="0"/>
          <a:ext cx="0" cy="0"/>
          <a:chOff x="0" y="0"/>
          <a:chExt cx="0" cy="0"/>
        </a:xfrm>
      </p:grpSpPr>
      <p:sp>
        <p:nvSpPr>
          <p:cNvPr id="8" name="Tytuł 1">
            <a:extLst>
              <a:ext uri="{FF2B5EF4-FFF2-40B4-BE49-F238E27FC236}">
                <a16:creationId xmlns:a16="http://schemas.microsoft.com/office/drawing/2014/main" id="{98297161-D731-12AD-43DC-EE0906F414FE}"/>
              </a:ext>
            </a:extLst>
          </p:cNvPr>
          <p:cNvSpPr>
            <a:spLocks noGrp="1"/>
          </p:cNvSpPr>
          <p:nvPr>
            <p:ph type="title"/>
          </p:nvPr>
        </p:nvSpPr>
        <p:spPr>
          <a:xfrm>
            <a:off x="7517" y="-173"/>
            <a:ext cx="12192000" cy="1391920"/>
          </a:xfrm>
          <a:solidFill>
            <a:schemeClr val="accent5">
              <a:lumMod val="20000"/>
              <a:lumOff val="80000"/>
            </a:schemeClr>
          </a:solidFill>
        </p:spPr>
        <p:txBody>
          <a:bodyPr>
            <a:noAutofit/>
          </a:bodyPr>
          <a:lstStyle/>
          <a:p>
            <a:r>
              <a:rPr lang="en-US" sz="3600" b="1" dirty="0">
                <a:solidFill>
                  <a:schemeClr val="accent5">
                    <a:lumMod val="50000"/>
                  </a:schemeClr>
                </a:solidFill>
              </a:rPr>
              <a:t>Contemporary Microeconomic Models of Macroeconomics - Welcome to Arrow–Debreu World</a:t>
            </a:r>
            <a:r>
              <a:rPr lang="pl-PL" sz="3600" b="1" dirty="0">
                <a:solidFill>
                  <a:schemeClr val="accent5">
                    <a:lumMod val="50000"/>
                  </a:schemeClr>
                </a:solidFill>
              </a:rPr>
              <a:t>   </a:t>
            </a:r>
            <a:endParaRPr lang="en-GB" sz="3600" b="1" dirty="0">
              <a:solidFill>
                <a:schemeClr val="accent5">
                  <a:lumMod val="50000"/>
                </a:schemeClr>
              </a:solidFill>
            </a:endParaRPr>
          </a:p>
        </p:txBody>
      </p:sp>
      <p:pic>
        <p:nvPicPr>
          <p:cNvPr id="4" name="Picture 3">
            <a:extLst>
              <a:ext uri="{FF2B5EF4-FFF2-40B4-BE49-F238E27FC236}">
                <a16:creationId xmlns:a16="http://schemas.microsoft.com/office/drawing/2014/main" id="{190A1874-35B5-C4F1-4EC5-3416A9274823}"/>
              </a:ext>
            </a:extLst>
          </p:cNvPr>
          <p:cNvPicPr>
            <a:picLocks noChangeAspect="1"/>
          </p:cNvPicPr>
          <p:nvPr/>
        </p:nvPicPr>
        <p:blipFill>
          <a:blip r:embed="rId3"/>
          <a:stretch>
            <a:fillRect/>
          </a:stretch>
        </p:blipFill>
        <p:spPr>
          <a:xfrm>
            <a:off x="1332456" y="1706329"/>
            <a:ext cx="8248423" cy="4715304"/>
          </a:xfrm>
          <a:prstGeom prst="rect">
            <a:avLst/>
          </a:prstGeom>
        </p:spPr>
      </p:pic>
    </p:spTree>
    <p:extLst>
      <p:ext uri="{BB962C8B-B14F-4D97-AF65-F5344CB8AC3E}">
        <p14:creationId xmlns:p14="http://schemas.microsoft.com/office/powerpoint/2010/main" val="22797366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97FEF-AE71-FBCB-20A6-C0F7F903FFFB}"/>
            </a:ext>
          </a:extLst>
        </p:cNvPr>
        <p:cNvGrpSpPr/>
        <p:nvPr/>
      </p:nvGrpSpPr>
      <p:grpSpPr>
        <a:xfrm>
          <a:off x="0" y="0"/>
          <a:ext cx="0" cy="0"/>
          <a:chOff x="0" y="0"/>
          <a:chExt cx="0" cy="0"/>
        </a:xfrm>
      </p:grpSpPr>
      <p:sp>
        <p:nvSpPr>
          <p:cNvPr id="8" name="Tytuł 1">
            <a:extLst>
              <a:ext uri="{FF2B5EF4-FFF2-40B4-BE49-F238E27FC236}">
                <a16:creationId xmlns:a16="http://schemas.microsoft.com/office/drawing/2014/main" id="{15CDA209-C555-7419-E945-A086D1794CA8}"/>
              </a:ext>
            </a:extLst>
          </p:cNvPr>
          <p:cNvSpPr>
            <a:spLocks noGrp="1"/>
          </p:cNvSpPr>
          <p:nvPr>
            <p:ph type="title"/>
          </p:nvPr>
        </p:nvSpPr>
        <p:spPr>
          <a:xfrm>
            <a:off x="7517" y="-173"/>
            <a:ext cx="12192000" cy="1391920"/>
          </a:xfrm>
          <a:solidFill>
            <a:schemeClr val="accent5">
              <a:lumMod val="20000"/>
              <a:lumOff val="80000"/>
            </a:schemeClr>
          </a:solidFill>
        </p:spPr>
        <p:txBody>
          <a:bodyPr>
            <a:noAutofit/>
          </a:bodyPr>
          <a:lstStyle/>
          <a:p>
            <a:r>
              <a:rPr lang="en-US" sz="3600" b="1" dirty="0">
                <a:solidFill>
                  <a:schemeClr val="accent5">
                    <a:lumMod val="50000"/>
                  </a:schemeClr>
                </a:solidFill>
              </a:rPr>
              <a:t>Contemporary Microeconomic Models of Macroeconomics - Welcome to Arrow–Debreu World</a:t>
            </a:r>
            <a:r>
              <a:rPr lang="pl-PL" sz="3600" b="1" dirty="0">
                <a:solidFill>
                  <a:schemeClr val="accent5">
                    <a:lumMod val="50000"/>
                  </a:schemeClr>
                </a:solidFill>
              </a:rPr>
              <a:t>   </a:t>
            </a:r>
            <a:endParaRPr lang="en-GB" sz="3600" b="1" dirty="0">
              <a:solidFill>
                <a:schemeClr val="accent5">
                  <a:lumMod val="50000"/>
                </a:schemeClr>
              </a:solidFill>
            </a:endParaRPr>
          </a:p>
        </p:txBody>
      </p:sp>
      <p:pic>
        <p:nvPicPr>
          <p:cNvPr id="6" name="Picture 5">
            <a:extLst>
              <a:ext uri="{FF2B5EF4-FFF2-40B4-BE49-F238E27FC236}">
                <a16:creationId xmlns:a16="http://schemas.microsoft.com/office/drawing/2014/main" id="{FD8025DC-BB4B-120D-75B6-E21A42DCD14D}"/>
              </a:ext>
            </a:extLst>
          </p:cNvPr>
          <p:cNvPicPr>
            <a:picLocks noChangeAspect="1"/>
          </p:cNvPicPr>
          <p:nvPr/>
        </p:nvPicPr>
        <p:blipFill>
          <a:blip r:embed="rId3"/>
          <a:stretch>
            <a:fillRect/>
          </a:stretch>
        </p:blipFill>
        <p:spPr>
          <a:xfrm>
            <a:off x="1198880" y="1418591"/>
            <a:ext cx="7437120" cy="5358129"/>
          </a:xfrm>
          <a:prstGeom prst="rect">
            <a:avLst/>
          </a:prstGeom>
        </p:spPr>
      </p:pic>
    </p:spTree>
    <p:extLst>
      <p:ext uri="{BB962C8B-B14F-4D97-AF65-F5344CB8AC3E}">
        <p14:creationId xmlns:p14="http://schemas.microsoft.com/office/powerpoint/2010/main" val="18467277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A7F96-1C87-97DA-4235-042D6E65462B}"/>
            </a:ext>
          </a:extLst>
        </p:cNvPr>
        <p:cNvGrpSpPr/>
        <p:nvPr/>
      </p:nvGrpSpPr>
      <p:grpSpPr>
        <a:xfrm>
          <a:off x="0" y="0"/>
          <a:ext cx="0" cy="0"/>
          <a:chOff x="0" y="0"/>
          <a:chExt cx="0" cy="0"/>
        </a:xfrm>
      </p:grpSpPr>
      <p:sp>
        <p:nvSpPr>
          <p:cNvPr id="8" name="Tytuł 1">
            <a:extLst>
              <a:ext uri="{FF2B5EF4-FFF2-40B4-BE49-F238E27FC236}">
                <a16:creationId xmlns:a16="http://schemas.microsoft.com/office/drawing/2014/main" id="{9C9158C2-B075-6270-2538-AC043560B3B7}"/>
              </a:ext>
            </a:extLst>
          </p:cNvPr>
          <p:cNvSpPr>
            <a:spLocks noGrp="1"/>
          </p:cNvSpPr>
          <p:nvPr>
            <p:ph type="title"/>
          </p:nvPr>
        </p:nvSpPr>
        <p:spPr>
          <a:xfrm>
            <a:off x="7517" y="-173"/>
            <a:ext cx="12192000" cy="1391920"/>
          </a:xfrm>
          <a:solidFill>
            <a:schemeClr val="accent5">
              <a:lumMod val="20000"/>
              <a:lumOff val="80000"/>
            </a:schemeClr>
          </a:solidFill>
        </p:spPr>
        <p:txBody>
          <a:bodyPr>
            <a:noAutofit/>
          </a:bodyPr>
          <a:lstStyle/>
          <a:p>
            <a:r>
              <a:rPr lang="en-US" sz="3600" b="1" dirty="0">
                <a:solidFill>
                  <a:schemeClr val="accent5">
                    <a:lumMod val="50000"/>
                  </a:schemeClr>
                </a:solidFill>
              </a:rPr>
              <a:t>Contemporary Microeconomic Models of Macroeconomics - Welcome to Arrow–Debreu World</a:t>
            </a:r>
            <a:r>
              <a:rPr lang="pl-PL" sz="3600" b="1" dirty="0">
                <a:solidFill>
                  <a:schemeClr val="accent5">
                    <a:lumMod val="50000"/>
                  </a:schemeClr>
                </a:solidFill>
              </a:rPr>
              <a:t>   </a:t>
            </a:r>
            <a:endParaRPr lang="en-GB" sz="3600" b="1" dirty="0">
              <a:solidFill>
                <a:schemeClr val="accent5">
                  <a:lumMod val="50000"/>
                </a:schemeClr>
              </a:solidFill>
            </a:endParaRPr>
          </a:p>
        </p:txBody>
      </p:sp>
      <p:pic>
        <p:nvPicPr>
          <p:cNvPr id="4" name="Picture 3">
            <a:extLst>
              <a:ext uri="{FF2B5EF4-FFF2-40B4-BE49-F238E27FC236}">
                <a16:creationId xmlns:a16="http://schemas.microsoft.com/office/drawing/2014/main" id="{3EE6D725-1263-EE4E-E404-323B5EE752FC}"/>
              </a:ext>
            </a:extLst>
          </p:cNvPr>
          <p:cNvPicPr>
            <a:picLocks noChangeAspect="1"/>
          </p:cNvPicPr>
          <p:nvPr/>
        </p:nvPicPr>
        <p:blipFill>
          <a:blip r:embed="rId3"/>
          <a:stretch>
            <a:fillRect/>
          </a:stretch>
        </p:blipFill>
        <p:spPr>
          <a:xfrm>
            <a:off x="778334" y="1840658"/>
            <a:ext cx="10851637" cy="4539821"/>
          </a:xfrm>
          <a:prstGeom prst="rect">
            <a:avLst/>
          </a:prstGeom>
        </p:spPr>
      </p:pic>
    </p:spTree>
    <p:extLst>
      <p:ext uri="{BB962C8B-B14F-4D97-AF65-F5344CB8AC3E}">
        <p14:creationId xmlns:p14="http://schemas.microsoft.com/office/powerpoint/2010/main" val="9263708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97F69-9B35-B3D8-3534-D2851B772221}"/>
            </a:ext>
          </a:extLst>
        </p:cNvPr>
        <p:cNvGrpSpPr/>
        <p:nvPr/>
      </p:nvGrpSpPr>
      <p:grpSpPr>
        <a:xfrm>
          <a:off x="0" y="0"/>
          <a:ext cx="0" cy="0"/>
          <a:chOff x="0" y="0"/>
          <a:chExt cx="0" cy="0"/>
        </a:xfrm>
      </p:grpSpPr>
      <p:sp>
        <p:nvSpPr>
          <p:cNvPr id="8" name="Tytuł 1">
            <a:extLst>
              <a:ext uri="{FF2B5EF4-FFF2-40B4-BE49-F238E27FC236}">
                <a16:creationId xmlns:a16="http://schemas.microsoft.com/office/drawing/2014/main" id="{B53D751C-74F9-BE2A-3CE3-DB4DC56E3E4B}"/>
              </a:ext>
            </a:extLst>
          </p:cNvPr>
          <p:cNvSpPr>
            <a:spLocks noGrp="1"/>
          </p:cNvSpPr>
          <p:nvPr>
            <p:ph type="title"/>
          </p:nvPr>
        </p:nvSpPr>
        <p:spPr>
          <a:xfrm>
            <a:off x="7517" y="-173"/>
            <a:ext cx="12192000" cy="1391920"/>
          </a:xfrm>
          <a:solidFill>
            <a:schemeClr val="accent5">
              <a:lumMod val="20000"/>
              <a:lumOff val="80000"/>
            </a:schemeClr>
          </a:solidFill>
        </p:spPr>
        <p:txBody>
          <a:bodyPr>
            <a:noAutofit/>
          </a:bodyPr>
          <a:lstStyle/>
          <a:p>
            <a:r>
              <a:rPr lang="en-US" sz="3600" b="1" dirty="0">
                <a:solidFill>
                  <a:schemeClr val="accent5">
                    <a:lumMod val="50000"/>
                  </a:schemeClr>
                </a:solidFill>
              </a:rPr>
              <a:t>Contemporary Microeconomic Models of Macroeconomics - Welcome to Arrow–Debreu World</a:t>
            </a:r>
            <a:r>
              <a:rPr lang="pl-PL" sz="3600" b="1" dirty="0">
                <a:solidFill>
                  <a:schemeClr val="accent5">
                    <a:lumMod val="50000"/>
                  </a:schemeClr>
                </a:solidFill>
              </a:rPr>
              <a:t>   </a:t>
            </a:r>
            <a:endParaRPr lang="en-GB" sz="3600" b="1" dirty="0">
              <a:solidFill>
                <a:schemeClr val="accent5">
                  <a:lumMod val="50000"/>
                </a:schemeClr>
              </a:solidFill>
            </a:endParaRPr>
          </a:p>
        </p:txBody>
      </p:sp>
      <p:pic>
        <p:nvPicPr>
          <p:cNvPr id="9" name="Picture 8">
            <a:extLst>
              <a:ext uri="{FF2B5EF4-FFF2-40B4-BE49-F238E27FC236}">
                <a16:creationId xmlns:a16="http://schemas.microsoft.com/office/drawing/2014/main" id="{1CB48707-0217-4EEC-3B01-11DBB145A2AB}"/>
              </a:ext>
            </a:extLst>
          </p:cNvPr>
          <p:cNvPicPr>
            <a:picLocks noChangeAspect="1"/>
          </p:cNvPicPr>
          <p:nvPr/>
        </p:nvPicPr>
        <p:blipFill>
          <a:blip r:embed="rId3"/>
          <a:stretch>
            <a:fillRect/>
          </a:stretch>
        </p:blipFill>
        <p:spPr>
          <a:xfrm>
            <a:off x="812799" y="1870112"/>
            <a:ext cx="3932241" cy="4591648"/>
          </a:xfrm>
          <a:prstGeom prst="rect">
            <a:avLst/>
          </a:prstGeom>
          <a:ln>
            <a:noFill/>
          </a:ln>
          <a:effectLst>
            <a:outerShdw blurRad="292100" dist="139700" dir="2700000" algn="tl" rotWithShape="0">
              <a:srgbClr val="333333">
                <a:alpha val="65000"/>
              </a:srgbClr>
            </a:outerShdw>
          </a:effectLst>
        </p:spPr>
      </p:pic>
      <p:sp>
        <p:nvSpPr>
          <p:cNvPr id="11" name="TextBox 10">
            <a:extLst>
              <a:ext uri="{FF2B5EF4-FFF2-40B4-BE49-F238E27FC236}">
                <a16:creationId xmlns:a16="http://schemas.microsoft.com/office/drawing/2014/main" id="{24DFC77D-95EB-FB37-D419-87C291F1C47D}"/>
              </a:ext>
            </a:extLst>
          </p:cNvPr>
          <p:cNvSpPr txBox="1"/>
          <p:nvPr/>
        </p:nvSpPr>
        <p:spPr>
          <a:xfrm>
            <a:off x="5549900" y="3565771"/>
            <a:ext cx="5280660" cy="1200329"/>
          </a:xfrm>
          <a:prstGeom prst="rect">
            <a:avLst/>
          </a:prstGeom>
          <a:noFill/>
        </p:spPr>
        <p:txBody>
          <a:bodyPr wrap="square">
            <a:spAutoFit/>
          </a:bodyPr>
          <a:lstStyle/>
          <a:p>
            <a:r>
              <a:rPr lang="en-US" sz="3600" dirty="0">
                <a:solidFill>
                  <a:schemeClr val="accent5">
                    <a:lumMod val="50000"/>
                  </a:schemeClr>
                </a:solidFill>
              </a:rPr>
              <a:t>Open Maxima's </a:t>
            </a:r>
            <a:r>
              <a:rPr lang="en-US" sz="3600" b="1" dirty="0">
                <a:solidFill>
                  <a:schemeClr val="accent5">
                    <a:lumMod val="50000"/>
                  </a:schemeClr>
                </a:solidFill>
              </a:rPr>
              <a:t>CGE2.wxm </a:t>
            </a:r>
            <a:r>
              <a:rPr lang="en-US" sz="3600" dirty="0">
                <a:solidFill>
                  <a:schemeClr val="accent5">
                    <a:lumMod val="50000"/>
                  </a:schemeClr>
                </a:solidFill>
              </a:rPr>
              <a:t>file and run it cell by cell.</a:t>
            </a:r>
            <a:endParaRPr lang="pl-PL" sz="3600" dirty="0">
              <a:solidFill>
                <a:schemeClr val="accent5">
                  <a:lumMod val="50000"/>
                </a:schemeClr>
              </a:solidFill>
            </a:endParaRPr>
          </a:p>
        </p:txBody>
      </p:sp>
    </p:spTree>
    <p:extLst>
      <p:ext uri="{BB962C8B-B14F-4D97-AF65-F5344CB8AC3E}">
        <p14:creationId xmlns:p14="http://schemas.microsoft.com/office/powerpoint/2010/main" val="35302244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14576-DE16-4C9E-9413-0C1A23547628}"/>
            </a:ext>
          </a:extLst>
        </p:cNvPr>
        <p:cNvGrpSpPr/>
        <p:nvPr/>
      </p:nvGrpSpPr>
      <p:grpSpPr>
        <a:xfrm>
          <a:off x="0" y="0"/>
          <a:ext cx="0" cy="0"/>
          <a:chOff x="0" y="0"/>
          <a:chExt cx="0" cy="0"/>
        </a:xfrm>
      </p:grpSpPr>
      <p:sp>
        <p:nvSpPr>
          <p:cNvPr id="8" name="Tytuł 1">
            <a:extLst>
              <a:ext uri="{FF2B5EF4-FFF2-40B4-BE49-F238E27FC236}">
                <a16:creationId xmlns:a16="http://schemas.microsoft.com/office/drawing/2014/main" id="{07E6C71D-DDD4-3F88-1453-3333F55E9F52}"/>
              </a:ext>
            </a:extLst>
          </p:cNvPr>
          <p:cNvSpPr>
            <a:spLocks noGrp="1"/>
          </p:cNvSpPr>
          <p:nvPr>
            <p:ph type="title"/>
          </p:nvPr>
        </p:nvSpPr>
        <p:spPr>
          <a:xfrm>
            <a:off x="7517" y="-173"/>
            <a:ext cx="12192000" cy="1391920"/>
          </a:xfrm>
          <a:solidFill>
            <a:schemeClr val="accent5">
              <a:lumMod val="20000"/>
              <a:lumOff val="80000"/>
            </a:schemeClr>
          </a:solidFill>
        </p:spPr>
        <p:txBody>
          <a:bodyPr>
            <a:noAutofit/>
          </a:bodyPr>
          <a:lstStyle/>
          <a:p>
            <a:r>
              <a:rPr lang="en-US" sz="3600" b="1" dirty="0">
                <a:solidFill>
                  <a:schemeClr val="accent5">
                    <a:lumMod val="50000"/>
                  </a:schemeClr>
                </a:solidFill>
              </a:rPr>
              <a:t>Contemporary Microeconomic Models of Macroeconomics - Welcome to Arrow–Debreu World</a:t>
            </a:r>
            <a:r>
              <a:rPr lang="pl-PL" sz="3600" b="1" dirty="0">
                <a:solidFill>
                  <a:schemeClr val="accent5">
                    <a:lumMod val="50000"/>
                  </a:schemeClr>
                </a:solidFill>
              </a:rPr>
              <a:t>   </a:t>
            </a:r>
            <a:endParaRPr lang="en-GB" sz="3600" b="1" dirty="0">
              <a:solidFill>
                <a:schemeClr val="accent5">
                  <a:lumMod val="50000"/>
                </a:schemeClr>
              </a:solidFill>
            </a:endParaRPr>
          </a:p>
        </p:txBody>
      </p:sp>
      <p:pic>
        <p:nvPicPr>
          <p:cNvPr id="3" name="Picture 2">
            <a:extLst>
              <a:ext uri="{FF2B5EF4-FFF2-40B4-BE49-F238E27FC236}">
                <a16:creationId xmlns:a16="http://schemas.microsoft.com/office/drawing/2014/main" id="{8E18EE34-0062-1E10-9128-0AEB7237296A}"/>
              </a:ext>
            </a:extLst>
          </p:cNvPr>
          <p:cNvPicPr>
            <a:picLocks noChangeAspect="1"/>
          </p:cNvPicPr>
          <p:nvPr/>
        </p:nvPicPr>
        <p:blipFill>
          <a:blip r:embed="rId3"/>
          <a:stretch>
            <a:fillRect/>
          </a:stretch>
        </p:blipFill>
        <p:spPr>
          <a:xfrm>
            <a:off x="232748" y="2214715"/>
            <a:ext cx="4900085" cy="3810330"/>
          </a:xfrm>
          <a:prstGeom prst="rect">
            <a:avLst/>
          </a:prstGeom>
        </p:spPr>
      </p:pic>
      <p:pic>
        <p:nvPicPr>
          <p:cNvPr id="7" name="Picture 6">
            <a:extLst>
              <a:ext uri="{FF2B5EF4-FFF2-40B4-BE49-F238E27FC236}">
                <a16:creationId xmlns:a16="http://schemas.microsoft.com/office/drawing/2014/main" id="{6FEBC753-0D1A-E869-D10B-1639F4B31899}"/>
              </a:ext>
            </a:extLst>
          </p:cNvPr>
          <p:cNvPicPr>
            <a:picLocks noChangeAspect="1"/>
          </p:cNvPicPr>
          <p:nvPr/>
        </p:nvPicPr>
        <p:blipFill>
          <a:blip r:embed="rId4"/>
          <a:stretch>
            <a:fillRect/>
          </a:stretch>
        </p:blipFill>
        <p:spPr>
          <a:xfrm>
            <a:off x="5132832" y="1391747"/>
            <a:ext cx="3645407" cy="3037840"/>
          </a:xfrm>
          <a:prstGeom prst="rect">
            <a:avLst/>
          </a:prstGeom>
        </p:spPr>
      </p:pic>
      <p:pic>
        <p:nvPicPr>
          <p:cNvPr id="12" name="Picture 11">
            <a:extLst>
              <a:ext uri="{FF2B5EF4-FFF2-40B4-BE49-F238E27FC236}">
                <a16:creationId xmlns:a16="http://schemas.microsoft.com/office/drawing/2014/main" id="{BDD826F0-307E-9F1D-3430-AC9331D76129}"/>
              </a:ext>
            </a:extLst>
          </p:cNvPr>
          <p:cNvPicPr>
            <a:picLocks noChangeAspect="1"/>
          </p:cNvPicPr>
          <p:nvPr/>
        </p:nvPicPr>
        <p:blipFill>
          <a:blip r:embed="rId5"/>
          <a:stretch>
            <a:fillRect/>
          </a:stretch>
        </p:blipFill>
        <p:spPr>
          <a:xfrm>
            <a:off x="8315778" y="3699934"/>
            <a:ext cx="3527551" cy="2939626"/>
          </a:xfrm>
          <a:prstGeom prst="rect">
            <a:avLst/>
          </a:prstGeom>
        </p:spPr>
      </p:pic>
    </p:spTree>
    <p:extLst>
      <p:ext uri="{BB962C8B-B14F-4D97-AF65-F5344CB8AC3E}">
        <p14:creationId xmlns:p14="http://schemas.microsoft.com/office/powerpoint/2010/main" val="35270254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DDB66-3DC5-8CF6-8508-7C473E87E2AC}"/>
            </a:ext>
          </a:extLst>
        </p:cNvPr>
        <p:cNvGrpSpPr/>
        <p:nvPr/>
      </p:nvGrpSpPr>
      <p:grpSpPr>
        <a:xfrm>
          <a:off x="0" y="0"/>
          <a:ext cx="0" cy="0"/>
          <a:chOff x="0" y="0"/>
          <a:chExt cx="0" cy="0"/>
        </a:xfrm>
      </p:grpSpPr>
      <p:sp>
        <p:nvSpPr>
          <p:cNvPr id="8" name="Tytuł 1">
            <a:extLst>
              <a:ext uri="{FF2B5EF4-FFF2-40B4-BE49-F238E27FC236}">
                <a16:creationId xmlns:a16="http://schemas.microsoft.com/office/drawing/2014/main" id="{03DCC993-7279-DD03-7CA1-48252A6F7CCB}"/>
              </a:ext>
            </a:extLst>
          </p:cNvPr>
          <p:cNvSpPr>
            <a:spLocks noGrp="1"/>
          </p:cNvSpPr>
          <p:nvPr>
            <p:ph type="title"/>
          </p:nvPr>
        </p:nvSpPr>
        <p:spPr>
          <a:xfrm>
            <a:off x="7517" y="-173"/>
            <a:ext cx="12192000" cy="1391920"/>
          </a:xfrm>
          <a:solidFill>
            <a:schemeClr val="accent5">
              <a:lumMod val="20000"/>
              <a:lumOff val="80000"/>
            </a:schemeClr>
          </a:solidFill>
        </p:spPr>
        <p:txBody>
          <a:bodyPr>
            <a:noAutofit/>
          </a:bodyPr>
          <a:lstStyle/>
          <a:p>
            <a:r>
              <a:rPr lang="en-US" sz="3600" b="1" dirty="0">
                <a:solidFill>
                  <a:schemeClr val="accent5">
                    <a:lumMod val="50000"/>
                  </a:schemeClr>
                </a:solidFill>
              </a:rPr>
              <a:t>Contemporary Microeconomic Models of Macroeconomics - Welcome to Arrow–Debreu World</a:t>
            </a:r>
            <a:r>
              <a:rPr lang="pl-PL" sz="3600" b="1" dirty="0">
                <a:solidFill>
                  <a:schemeClr val="accent5">
                    <a:lumMod val="50000"/>
                  </a:schemeClr>
                </a:solidFill>
              </a:rPr>
              <a:t>   </a:t>
            </a:r>
            <a:endParaRPr lang="en-GB" sz="3600" b="1" dirty="0">
              <a:solidFill>
                <a:schemeClr val="accent5">
                  <a:lumMod val="50000"/>
                </a:schemeClr>
              </a:solidFill>
            </a:endParaRPr>
          </a:p>
        </p:txBody>
      </p:sp>
      <p:pic>
        <p:nvPicPr>
          <p:cNvPr id="4" name="Picture 3">
            <a:extLst>
              <a:ext uri="{FF2B5EF4-FFF2-40B4-BE49-F238E27FC236}">
                <a16:creationId xmlns:a16="http://schemas.microsoft.com/office/drawing/2014/main" id="{189CCC16-7A22-053C-5A80-826A50BD07C2}"/>
              </a:ext>
            </a:extLst>
          </p:cNvPr>
          <p:cNvPicPr>
            <a:picLocks noChangeAspect="1"/>
          </p:cNvPicPr>
          <p:nvPr/>
        </p:nvPicPr>
        <p:blipFill>
          <a:blip r:embed="rId3"/>
          <a:stretch>
            <a:fillRect/>
          </a:stretch>
        </p:blipFill>
        <p:spPr>
          <a:xfrm>
            <a:off x="284479" y="1685802"/>
            <a:ext cx="4183673" cy="3486394"/>
          </a:xfrm>
          <a:prstGeom prst="rect">
            <a:avLst/>
          </a:prstGeom>
        </p:spPr>
      </p:pic>
      <p:pic>
        <p:nvPicPr>
          <p:cNvPr id="6" name="Picture 5">
            <a:extLst>
              <a:ext uri="{FF2B5EF4-FFF2-40B4-BE49-F238E27FC236}">
                <a16:creationId xmlns:a16="http://schemas.microsoft.com/office/drawing/2014/main" id="{8397AF7F-C8ED-7B73-9D81-50D828B9EADA}"/>
              </a:ext>
            </a:extLst>
          </p:cNvPr>
          <p:cNvPicPr>
            <a:picLocks noChangeAspect="1"/>
          </p:cNvPicPr>
          <p:nvPr/>
        </p:nvPicPr>
        <p:blipFill>
          <a:blip r:embed="rId4"/>
          <a:stretch>
            <a:fillRect/>
          </a:stretch>
        </p:blipFill>
        <p:spPr>
          <a:xfrm>
            <a:off x="4316683" y="3635413"/>
            <a:ext cx="3688278" cy="3073565"/>
          </a:xfrm>
          <a:prstGeom prst="rect">
            <a:avLst/>
          </a:prstGeom>
        </p:spPr>
      </p:pic>
      <p:pic>
        <p:nvPicPr>
          <p:cNvPr id="3" name="Picture 2">
            <a:extLst>
              <a:ext uri="{FF2B5EF4-FFF2-40B4-BE49-F238E27FC236}">
                <a16:creationId xmlns:a16="http://schemas.microsoft.com/office/drawing/2014/main" id="{FCF40C98-C444-A0E5-B690-21ED4590F00F}"/>
              </a:ext>
            </a:extLst>
          </p:cNvPr>
          <p:cNvPicPr>
            <a:picLocks noChangeAspect="1"/>
          </p:cNvPicPr>
          <p:nvPr/>
        </p:nvPicPr>
        <p:blipFill>
          <a:blip r:embed="rId5"/>
          <a:stretch>
            <a:fillRect/>
          </a:stretch>
        </p:blipFill>
        <p:spPr>
          <a:xfrm>
            <a:off x="7853492" y="1598161"/>
            <a:ext cx="3962588" cy="3302157"/>
          </a:xfrm>
          <a:prstGeom prst="rect">
            <a:avLst/>
          </a:prstGeom>
        </p:spPr>
      </p:pic>
    </p:spTree>
    <p:extLst>
      <p:ext uri="{BB962C8B-B14F-4D97-AF65-F5344CB8AC3E}">
        <p14:creationId xmlns:p14="http://schemas.microsoft.com/office/powerpoint/2010/main" val="10978866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FFFD2-0E98-6F37-5BC1-A22BD1F69110}"/>
            </a:ext>
          </a:extLst>
        </p:cNvPr>
        <p:cNvGrpSpPr/>
        <p:nvPr/>
      </p:nvGrpSpPr>
      <p:grpSpPr>
        <a:xfrm>
          <a:off x="0" y="0"/>
          <a:ext cx="0" cy="0"/>
          <a:chOff x="0" y="0"/>
          <a:chExt cx="0" cy="0"/>
        </a:xfrm>
      </p:grpSpPr>
      <p:sp>
        <p:nvSpPr>
          <p:cNvPr id="8" name="Tytuł 1">
            <a:extLst>
              <a:ext uri="{FF2B5EF4-FFF2-40B4-BE49-F238E27FC236}">
                <a16:creationId xmlns:a16="http://schemas.microsoft.com/office/drawing/2014/main" id="{44F6FA4C-45C4-BFF8-F2D9-F89D6D59E97E}"/>
              </a:ext>
            </a:extLst>
          </p:cNvPr>
          <p:cNvSpPr>
            <a:spLocks noGrp="1"/>
          </p:cNvSpPr>
          <p:nvPr>
            <p:ph type="title"/>
          </p:nvPr>
        </p:nvSpPr>
        <p:spPr>
          <a:xfrm>
            <a:off x="7517" y="-173"/>
            <a:ext cx="12192000" cy="1391920"/>
          </a:xfrm>
          <a:solidFill>
            <a:schemeClr val="accent5">
              <a:lumMod val="20000"/>
              <a:lumOff val="80000"/>
            </a:schemeClr>
          </a:solidFill>
        </p:spPr>
        <p:txBody>
          <a:bodyPr>
            <a:noAutofit/>
          </a:bodyPr>
          <a:lstStyle/>
          <a:p>
            <a:r>
              <a:rPr lang="en-US" sz="3600" b="1" dirty="0">
                <a:solidFill>
                  <a:schemeClr val="accent5">
                    <a:lumMod val="50000"/>
                  </a:schemeClr>
                </a:solidFill>
              </a:rPr>
              <a:t>Contemporary Microeconomic Models of Macroeconomics - Welcome to Arrow–Debreu World</a:t>
            </a:r>
            <a:r>
              <a:rPr lang="pl-PL" sz="3600" b="1" dirty="0">
                <a:solidFill>
                  <a:schemeClr val="accent5">
                    <a:lumMod val="50000"/>
                  </a:schemeClr>
                </a:solidFill>
              </a:rPr>
              <a:t>   </a:t>
            </a:r>
            <a:endParaRPr lang="en-GB" sz="3600" b="1" dirty="0">
              <a:solidFill>
                <a:schemeClr val="accent5">
                  <a:lumMod val="50000"/>
                </a:schemeClr>
              </a:solidFill>
            </a:endParaRPr>
          </a:p>
        </p:txBody>
      </p:sp>
      <p:pic>
        <p:nvPicPr>
          <p:cNvPr id="6" name="Picture 5">
            <a:extLst>
              <a:ext uri="{FF2B5EF4-FFF2-40B4-BE49-F238E27FC236}">
                <a16:creationId xmlns:a16="http://schemas.microsoft.com/office/drawing/2014/main" id="{401A0B59-99E0-FAFF-8D67-AA2418152465}"/>
              </a:ext>
            </a:extLst>
          </p:cNvPr>
          <p:cNvPicPr>
            <a:picLocks noChangeAspect="1"/>
          </p:cNvPicPr>
          <p:nvPr/>
        </p:nvPicPr>
        <p:blipFill>
          <a:blip r:embed="rId3"/>
          <a:stretch>
            <a:fillRect/>
          </a:stretch>
        </p:blipFill>
        <p:spPr>
          <a:xfrm>
            <a:off x="143652" y="1483834"/>
            <a:ext cx="6927708" cy="2305372"/>
          </a:xfrm>
          <a:prstGeom prst="rect">
            <a:avLst/>
          </a:prstGeom>
        </p:spPr>
      </p:pic>
      <p:pic>
        <p:nvPicPr>
          <p:cNvPr id="9" name="Picture 8">
            <a:extLst>
              <a:ext uri="{FF2B5EF4-FFF2-40B4-BE49-F238E27FC236}">
                <a16:creationId xmlns:a16="http://schemas.microsoft.com/office/drawing/2014/main" id="{229719BD-1837-F390-E15A-A7922B80055A}"/>
              </a:ext>
            </a:extLst>
          </p:cNvPr>
          <p:cNvPicPr>
            <a:picLocks noChangeAspect="1"/>
          </p:cNvPicPr>
          <p:nvPr/>
        </p:nvPicPr>
        <p:blipFill>
          <a:blip r:embed="rId4"/>
          <a:stretch>
            <a:fillRect/>
          </a:stretch>
        </p:blipFill>
        <p:spPr>
          <a:xfrm>
            <a:off x="6867962" y="2799080"/>
            <a:ext cx="4572396" cy="3810330"/>
          </a:xfrm>
          <a:prstGeom prst="rect">
            <a:avLst/>
          </a:prstGeom>
        </p:spPr>
      </p:pic>
    </p:spTree>
    <p:extLst>
      <p:ext uri="{BB962C8B-B14F-4D97-AF65-F5344CB8AC3E}">
        <p14:creationId xmlns:p14="http://schemas.microsoft.com/office/powerpoint/2010/main" val="42420715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B7977-FFE0-CAE1-E7D7-B574376880D0}"/>
            </a:ext>
          </a:extLst>
        </p:cNvPr>
        <p:cNvGrpSpPr/>
        <p:nvPr/>
      </p:nvGrpSpPr>
      <p:grpSpPr>
        <a:xfrm>
          <a:off x="0" y="0"/>
          <a:ext cx="0" cy="0"/>
          <a:chOff x="0" y="0"/>
          <a:chExt cx="0" cy="0"/>
        </a:xfrm>
      </p:grpSpPr>
      <p:sp>
        <p:nvSpPr>
          <p:cNvPr id="8" name="Tytuł 1">
            <a:extLst>
              <a:ext uri="{FF2B5EF4-FFF2-40B4-BE49-F238E27FC236}">
                <a16:creationId xmlns:a16="http://schemas.microsoft.com/office/drawing/2014/main" id="{29CA16CD-415D-A4D0-CFC8-A1087EF7C584}"/>
              </a:ext>
            </a:extLst>
          </p:cNvPr>
          <p:cNvSpPr>
            <a:spLocks noGrp="1"/>
          </p:cNvSpPr>
          <p:nvPr>
            <p:ph type="title"/>
          </p:nvPr>
        </p:nvSpPr>
        <p:spPr>
          <a:xfrm>
            <a:off x="7517" y="-173"/>
            <a:ext cx="12192000" cy="1391920"/>
          </a:xfrm>
          <a:solidFill>
            <a:schemeClr val="accent5">
              <a:lumMod val="20000"/>
              <a:lumOff val="80000"/>
            </a:schemeClr>
          </a:solidFill>
        </p:spPr>
        <p:txBody>
          <a:bodyPr>
            <a:noAutofit/>
          </a:bodyPr>
          <a:lstStyle/>
          <a:p>
            <a:r>
              <a:rPr lang="en-US" sz="3600" b="1" dirty="0">
                <a:solidFill>
                  <a:schemeClr val="accent5">
                    <a:lumMod val="50000"/>
                  </a:schemeClr>
                </a:solidFill>
              </a:rPr>
              <a:t>Contemporary Microeconomic Models of Macroeconomics - Welcome to Arrow–Debreu World</a:t>
            </a:r>
            <a:r>
              <a:rPr lang="pl-PL" sz="3600" b="1" dirty="0">
                <a:solidFill>
                  <a:schemeClr val="accent5">
                    <a:lumMod val="50000"/>
                  </a:schemeClr>
                </a:solidFill>
              </a:rPr>
              <a:t>   </a:t>
            </a:r>
            <a:endParaRPr lang="en-GB" sz="3600" b="1" dirty="0">
              <a:solidFill>
                <a:schemeClr val="accent5">
                  <a:lumMod val="50000"/>
                </a:schemeClr>
              </a:solidFill>
            </a:endParaRPr>
          </a:p>
        </p:txBody>
      </p:sp>
      <p:pic>
        <p:nvPicPr>
          <p:cNvPr id="10" name="Picture 9">
            <a:extLst>
              <a:ext uri="{FF2B5EF4-FFF2-40B4-BE49-F238E27FC236}">
                <a16:creationId xmlns:a16="http://schemas.microsoft.com/office/drawing/2014/main" id="{27D0091B-0363-DA41-296B-6B7F64D9D7C1}"/>
              </a:ext>
            </a:extLst>
          </p:cNvPr>
          <p:cNvPicPr>
            <a:picLocks noChangeAspect="1"/>
          </p:cNvPicPr>
          <p:nvPr/>
        </p:nvPicPr>
        <p:blipFill>
          <a:blip r:embed="rId3"/>
          <a:stretch>
            <a:fillRect/>
          </a:stretch>
        </p:blipFill>
        <p:spPr>
          <a:xfrm>
            <a:off x="853242" y="1686395"/>
            <a:ext cx="4572396" cy="3810330"/>
          </a:xfrm>
          <a:prstGeom prst="rect">
            <a:avLst/>
          </a:prstGeom>
        </p:spPr>
      </p:pic>
      <p:pic>
        <p:nvPicPr>
          <p:cNvPr id="13" name="Picture 12">
            <a:extLst>
              <a:ext uri="{FF2B5EF4-FFF2-40B4-BE49-F238E27FC236}">
                <a16:creationId xmlns:a16="http://schemas.microsoft.com/office/drawing/2014/main" id="{F3914F6C-B0A1-18EC-B250-961056CEEA25}"/>
              </a:ext>
            </a:extLst>
          </p:cNvPr>
          <p:cNvPicPr>
            <a:picLocks noChangeAspect="1"/>
          </p:cNvPicPr>
          <p:nvPr/>
        </p:nvPicPr>
        <p:blipFill>
          <a:blip r:embed="rId4"/>
          <a:stretch>
            <a:fillRect/>
          </a:stretch>
        </p:blipFill>
        <p:spPr>
          <a:xfrm>
            <a:off x="6573322" y="2682075"/>
            <a:ext cx="4572396" cy="3810330"/>
          </a:xfrm>
          <a:prstGeom prst="rect">
            <a:avLst/>
          </a:prstGeom>
        </p:spPr>
      </p:pic>
    </p:spTree>
    <p:extLst>
      <p:ext uri="{BB962C8B-B14F-4D97-AF65-F5344CB8AC3E}">
        <p14:creationId xmlns:p14="http://schemas.microsoft.com/office/powerpoint/2010/main" val="1722906697"/>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Motyw pakietu Office">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4155</TotalTime>
  <Words>7615</Words>
  <Application>Microsoft Office PowerPoint</Application>
  <PresentationFormat>Widescreen</PresentationFormat>
  <Paragraphs>625</Paragraphs>
  <Slides>64</Slides>
  <Notes>26</Notes>
  <HiddenSlides>0</HiddenSlides>
  <MMClips>0</MMClips>
  <ScaleCrop>false</ScaleCrop>
  <HeadingPairs>
    <vt:vector size="8" baseType="variant">
      <vt:variant>
        <vt:lpstr>Fonts Used</vt:lpstr>
      </vt:variant>
      <vt:variant>
        <vt:i4>8</vt:i4>
      </vt:variant>
      <vt:variant>
        <vt:lpstr>Theme</vt:lpstr>
      </vt:variant>
      <vt:variant>
        <vt:i4>3</vt:i4>
      </vt:variant>
      <vt:variant>
        <vt:lpstr>Embedded OLE Servers</vt:lpstr>
      </vt:variant>
      <vt:variant>
        <vt:i4>1</vt:i4>
      </vt:variant>
      <vt:variant>
        <vt:lpstr>Slide Titles</vt:lpstr>
      </vt:variant>
      <vt:variant>
        <vt:i4>64</vt:i4>
      </vt:variant>
    </vt:vector>
  </HeadingPairs>
  <TitlesOfParts>
    <vt:vector size="76" baseType="lpstr">
      <vt:lpstr>Aptos</vt:lpstr>
      <vt:lpstr>Aptos Display</vt:lpstr>
      <vt:lpstr>Arial</vt:lpstr>
      <vt:lpstr>Calibri</vt:lpstr>
      <vt:lpstr>Cambria Math</vt:lpstr>
      <vt:lpstr>StarSymbol</vt:lpstr>
      <vt:lpstr>Symbol</vt:lpstr>
      <vt:lpstr>Times New Roman</vt:lpstr>
      <vt:lpstr>Motyw pakietu Office</vt:lpstr>
      <vt:lpstr>Office Theme</vt:lpstr>
      <vt:lpstr>2_Motyw pakietu Office</vt:lpstr>
      <vt:lpstr>Równanie</vt:lpstr>
      <vt:lpstr>PowerPoint Presentation</vt:lpstr>
      <vt:lpstr>PowerPoint Presentation</vt:lpstr>
      <vt:lpstr>PowerPoint Presentation</vt:lpstr>
      <vt:lpstr>Welcome to the Arrow–Debreu world (general equilibrium)</vt:lpstr>
      <vt:lpstr>Witamy w świecie Arrow–Debreu (równowagi ogólnej)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Utility maximization - preferences </vt:lpstr>
      <vt:lpstr>Utility maximization - preferences </vt:lpstr>
      <vt:lpstr>Utility maximization - preferences </vt:lpstr>
      <vt:lpstr>Utility maximization – utility function </vt:lpstr>
      <vt:lpstr>PowerPoint Presentation</vt:lpstr>
      <vt:lpstr>PowerPoint Presentation</vt:lpstr>
      <vt:lpstr>PowerPoint Presentation</vt:lpstr>
      <vt:lpstr>PowerPoint Presentation</vt:lpstr>
      <vt:lpstr>PowerPoint Presentation</vt:lpstr>
      <vt:lpstr>PowerPoint Presentation</vt:lpstr>
      <vt:lpstr>Utility maximization - budget constraint</vt:lpstr>
      <vt:lpstr>Utility - the maximization problem </vt:lpstr>
      <vt:lpstr>Utility - the equilibrium</vt:lpstr>
      <vt:lpstr>PowerPoint Presentation</vt:lpstr>
      <vt:lpstr>The maximization problem</vt:lpstr>
      <vt:lpstr>Utility - the equilibrium</vt:lpstr>
      <vt:lpstr>Utility - the equilibrium</vt:lpstr>
      <vt:lpstr>L/x1 = ax1a-1x2b + p1    = 0 L/x2 = bx1ax2b-1 + p2    = 0 L/   = p1x1 + p2x2 - M     = 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Contemporary Microeconomic Models of Macroeconomics - Welcome to Arrow–Debreu World   </vt:lpstr>
      <vt:lpstr>Contemporary Microeconomic Models of Macroeconomics - Welcome to Arrow–Debreu World   </vt:lpstr>
      <vt:lpstr>Contemporary Microeconomic Models of Macroeconomics - Welcome to Arrow–Debreu World   </vt:lpstr>
      <vt:lpstr>Contemporary Microeconomic Models of Macroeconomics - Welcome to Arrow–Debreu World   </vt:lpstr>
      <vt:lpstr>Contemporary Microeconomic Models of Macroeconomics - Welcome to Arrow–Debreu World   </vt:lpstr>
      <vt:lpstr>Contemporary Microeconomic Models of Macroeconomics - Welcome to Arrow–Debreu World   </vt:lpstr>
      <vt:lpstr>Contemporary Microeconomic Models of Macroeconomics - Welcome to Arrow–Debreu World   </vt:lpstr>
      <vt:lpstr>Contemporary Microeconomic Models of Macroeconomics - Welcome to Arrow–Debreu World   </vt:lpstr>
      <vt:lpstr>Contemporary Microeconomic Models of Macroeconomics - Welcome to Arrow–Debreu World   </vt:lpstr>
      <vt:lpstr>Contemporary Microeconomic Models of Macroeconomics - Welcome to Arrow–Debreu World   </vt:lpstr>
      <vt:lpstr>Contemporary Microeconomic Models of Macroeconomics - Welcome to Arrow–Debreu World   </vt:lpstr>
      <vt:lpstr>Contemporary Microeconomic Models of Macroeconomics - Welcome to Arrow–Debreu World   </vt:lpstr>
      <vt:lpstr>Contemporary Microeconomic Models of Macroeconomics - Welcome to Arrow–Debreu World   </vt:lpstr>
      <vt:lpstr>Contemporary Microeconomic Models of Macroeconomics - Welcome to Arrow–Debreu World   </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Tomasz Kopczewski</dc:creator>
  <cp:lastModifiedBy>Tomasz Kopczewski</cp:lastModifiedBy>
  <cp:revision>34</cp:revision>
  <dcterms:created xsi:type="dcterms:W3CDTF">2024-10-24T09:34:37Z</dcterms:created>
  <dcterms:modified xsi:type="dcterms:W3CDTF">2025-10-17T08:00:04Z</dcterms:modified>
</cp:coreProperties>
</file>