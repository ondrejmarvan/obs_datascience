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256" r:id="rId3"/>
    <p:sldId id="257" r:id="rId4"/>
    <p:sldId id="258" r:id="rId5"/>
    <p:sldId id="259" r:id="rId6"/>
    <p:sldId id="260" r:id="rId7"/>
    <p:sldId id="261" r:id="rId8"/>
    <p:sldId id="262" r:id="rId9"/>
    <p:sldId id="264" r:id="rId10"/>
    <p:sldId id="265" r:id="rId11"/>
    <p:sldId id="266" r:id="rId12"/>
    <p:sldId id="263" r:id="rId13"/>
    <p:sldId id="268" r:id="rId1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79" d="100"/>
          <a:sy n="79" d="100"/>
        </p:scale>
        <p:origin x="6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E40E84-7A9D-44DA-993B-98072119646B}" type="datetimeFigureOut">
              <a:rPr lang="pl-PL" smtClean="0"/>
              <a:t>12.12.2025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58D775-969A-47CE-9649-EEE575C5EEEC}" type="slidenum">
              <a:rPr lang="pl-PL" smtClean="0"/>
              <a:t>‹#›</a:t>
            </a:fld>
            <a:endParaRPr lang="pl-PL"/>
          </a:p>
        </p:txBody>
      </p:sp>
    </p:spTree>
    <p:extLst>
      <p:ext uri="{BB962C8B-B14F-4D97-AF65-F5344CB8AC3E}">
        <p14:creationId xmlns:p14="http://schemas.microsoft.com/office/powerpoint/2010/main" val="1315782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extShape 1"/>
          <p:cNvSpPr txBox="1"/>
          <p:nvPr/>
        </p:nvSpPr>
        <p:spPr>
          <a:xfrm>
            <a:off x="685800" y="4343400"/>
            <a:ext cx="5486400" cy="4114800"/>
          </a:xfrm>
          <a:prstGeom prst="rect">
            <a:avLst/>
          </a:prstGeom>
          <a:noFill/>
          <a:ln>
            <a:noFill/>
          </a:ln>
        </p:spPr>
      </p:sp>
      <p:sp>
        <p:nvSpPr>
          <p:cNvPr id="156" name="CustomShape 2"/>
          <p:cNvSpPr/>
          <p:nvPr/>
        </p:nvSpPr>
        <p:spPr>
          <a:xfrm>
            <a:off x="3884760" y="8685360"/>
            <a:ext cx="2971800" cy="457200"/>
          </a:xfrm>
          <a:noFill/>
          <a:ln>
            <a:noFill/>
          </a:ln>
        </p:spPr>
        <p:style>
          <a:lnRef idx="0">
            <a:scrgbClr r="0" g="0" b="0"/>
          </a:lnRef>
          <a:fillRef idx="0">
            <a:scrgbClr r="0" g="0" b="0"/>
          </a:fillRef>
          <a:effectRef idx="0">
            <a:scrgbClr r="0" g="0" b="0"/>
          </a:effectRef>
          <a:fontRef idx="minor"/>
        </p:style>
        <p:txBody>
          <a:bodyPr lIns="89997" tIns="46798" rIns="89997" bIns="46798" anchor="b"/>
          <a:lstStyle/>
          <a:p>
            <a:pPr marL="0" marR="0" lvl="0" indent="0" algn="r" defTabSz="914400" rtl="0" eaLnBrk="1" fontAlgn="auto" latinLnBrk="0" hangingPunct="1">
              <a:lnSpc>
                <a:spcPct val="100000"/>
              </a:lnSpc>
              <a:spcBef>
                <a:spcPts val="0"/>
              </a:spcBef>
              <a:spcAft>
                <a:spcPts val="0"/>
              </a:spcAft>
              <a:buClrTx/>
              <a:buSzTx/>
              <a:buFontTx/>
              <a:buNone/>
              <a:tabLst/>
              <a:defRPr/>
            </a:pPr>
            <a:fld id="{2BF4C38F-350D-4F27-90DB-48D8DDCA7592}" type="slidenum">
              <a:rPr kumimoji="0" lang="pl-PL" sz="1200" b="0" i="0" u="none" strike="noStrike" kern="1200" cap="none" spc="-1"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Symbol zastępczy notatek 1"/>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49429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p:cNvSpPr>
            <a:spLocks noGrp="1"/>
          </p:cNvSpPr>
          <p:nvPr>
            <p:ph type="dt" sz="half" idx="10"/>
          </p:nvPr>
        </p:nvSpPr>
        <p:spPr/>
        <p:txBody>
          <a:bodyPr/>
          <a:lstStyle/>
          <a:p>
            <a:fld id="{2B4B97BF-AA4A-4A39-9B49-88839391B1DB}" type="datetimeFigureOut">
              <a:rPr lang="pl-PL" smtClean="0"/>
              <a:t>12.12.2025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1794840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2B4B97BF-AA4A-4A39-9B49-88839391B1DB}" type="datetimeFigureOut">
              <a:rPr lang="pl-PL" smtClean="0"/>
              <a:t>12.12.2025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2773916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p>
            <a:fld id="{2B4B97BF-AA4A-4A39-9B49-88839391B1DB}" type="datetimeFigureOut">
              <a:rPr lang="pl-PL" smtClean="0"/>
              <a:t>12.12.2025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2947017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2B4B97BF-AA4A-4A39-9B49-88839391B1DB}" type="datetimeFigureOut">
              <a:rPr lang="pl-PL" smtClean="0"/>
              <a:t>12.12.2025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1657772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2B4B97BF-AA4A-4A39-9B49-88839391B1DB}" type="datetimeFigureOut">
              <a:rPr lang="pl-PL" smtClean="0"/>
              <a:t>12.12.2025</a:t>
            </a:fld>
            <a:endParaRPr lang="pl-PL"/>
          </a:p>
        </p:txBody>
      </p:sp>
      <p:sp>
        <p:nvSpPr>
          <p:cNvPr id="8" name="Symbol zastępczy stopki 7"/>
          <p:cNvSpPr>
            <a:spLocks noGrp="1"/>
          </p:cNvSpPr>
          <p:nvPr>
            <p:ph type="ftr" sz="quarter" idx="11"/>
          </p:nvPr>
        </p:nvSpPr>
        <p:spPr/>
        <p:txBody>
          <a:bodyPr/>
          <a:lstStyle/>
          <a:p>
            <a:endParaRPr lang="pl-PL"/>
          </a:p>
        </p:txBody>
      </p:sp>
      <p:sp>
        <p:nvSpPr>
          <p:cNvPr id="9" name="Symbol zastępczy numeru slajdu 8"/>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1775797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2B4B97BF-AA4A-4A39-9B49-88839391B1DB}" type="datetimeFigureOut">
              <a:rPr lang="pl-PL" smtClean="0"/>
              <a:t>12.12.2025</a:t>
            </a:fld>
            <a:endParaRPr lang="pl-PL"/>
          </a:p>
        </p:txBody>
      </p:sp>
      <p:sp>
        <p:nvSpPr>
          <p:cNvPr id="4" name="Symbol zastępczy stopki 3"/>
          <p:cNvSpPr>
            <a:spLocks noGrp="1"/>
          </p:cNvSpPr>
          <p:nvPr>
            <p:ph type="ftr" sz="quarter" idx="11"/>
          </p:nvPr>
        </p:nvSpPr>
        <p:spPr/>
        <p:txBody>
          <a:bodyPr/>
          <a:lstStyle/>
          <a:p>
            <a:endParaRPr lang="pl-PL"/>
          </a:p>
        </p:txBody>
      </p:sp>
      <p:sp>
        <p:nvSpPr>
          <p:cNvPr id="5" name="Symbol zastępczy numeru slajdu 4"/>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2829352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2B4B97BF-AA4A-4A39-9B49-88839391B1DB}" type="datetimeFigureOut">
              <a:rPr lang="pl-PL" smtClean="0"/>
              <a:t>12.12.2025</a:t>
            </a:fld>
            <a:endParaRPr lang="pl-PL"/>
          </a:p>
        </p:txBody>
      </p:sp>
      <p:sp>
        <p:nvSpPr>
          <p:cNvPr id="3" name="Symbol zastępczy stopki 2"/>
          <p:cNvSpPr>
            <a:spLocks noGrp="1"/>
          </p:cNvSpPr>
          <p:nvPr>
            <p:ph type="ftr" sz="quarter" idx="11"/>
          </p:nvPr>
        </p:nvSpPr>
        <p:spPr/>
        <p:txBody>
          <a:bodyPr/>
          <a:lstStyle/>
          <a:p>
            <a:endParaRPr lang="pl-PL"/>
          </a:p>
        </p:txBody>
      </p:sp>
      <p:sp>
        <p:nvSpPr>
          <p:cNvPr id="4" name="Symbol zastępczy numeru slajdu 3"/>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2742768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2B4B97BF-AA4A-4A39-9B49-88839391B1DB}" type="datetimeFigureOut">
              <a:rPr lang="pl-PL" smtClean="0"/>
              <a:t>12.12.2025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2174791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p:cNvSpPr>
            <a:spLocks noGrp="1"/>
          </p:cNvSpPr>
          <p:nvPr>
            <p:ph type="dt" sz="half" idx="10"/>
          </p:nvPr>
        </p:nvSpPr>
        <p:spPr/>
        <p:txBody>
          <a:bodyPr/>
          <a:lstStyle/>
          <a:p>
            <a:fld id="{2B4B97BF-AA4A-4A39-9B49-88839391B1DB}" type="datetimeFigureOut">
              <a:rPr lang="pl-PL" smtClean="0"/>
              <a:t>12.12.2025</a:t>
            </a:fld>
            <a:endParaRPr lang="pl-PL"/>
          </a:p>
        </p:txBody>
      </p:sp>
      <p:sp>
        <p:nvSpPr>
          <p:cNvPr id="6" name="Symbol zastępczy stopki 5"/>
          <p:cNvSpPr>
            <a:spLocks noGrp="1"/>
          </p:cNvSpPr>
          <p:nvPr>
            <p:ph type="ftr" sz="quarter" idx="11"/>
          </p:nvPr>
        </p:nvSpPr>
        <p:spPr/>
        <p:txBody>
          <a:bodyPr/>
          <a:lstStyle/>
          <a:p>
            <a:endParaRPr lang="pl-PL"/>
          </a:p>
        </p:txBody>
      </p:sp>
      <p:sp>
        <p:nvSpPr>
          <p:cNvPr id="7" name="Symbol zastępczy numeru slajdu 6"/>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3402763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2B4B97BF-AA4A-4A39-9B49-88839391B1DB}" type="datetimeFigureOut">
              <a:rPr lang="pl-PL" smtClean="0"/>
              <a:t>12.12.2025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1428469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2B4B97BF-AA4A-4A39-9B49-88839391B1DB}" type="datetimeFigureOut">
              <a:rPr lang="pl-PL" smtClean="0"/>
              <a:t>12.12.2025</a:t>
            </a:fld>
            <a:endParaRPr lang="pl-PL"/>
          </a:p>
        </p:txBody>
      </p:sp>
      <p:sp>
        <p:nvSpPr>
          <p:cNvPr id="5" name="Symbol zastępczy stopki 4"/>
          <p:cNvSpPr>
            <a:spLocks noGrp="1"/>
          </p:cNvSpPr>
          <p:nvPr>
            <p:ph type="ftr" sz="quarter" idx="11"/>
          </p:nvPr>
        </p:nvSpPr>
        <p:spPr/>
        <p:txBody>
          <a:bodyPr/>
          <a:lstStyle/>
          <a:p>
            <a:endParaRPr lang="pl-PL"/>
          </a:p>
        </p:txBody>
      </p:sp>
      <p:sp>
        <p:nvSpPr>
          <p:cNvPr id="6" name="Symbol zastępczy numeru slajdu 5"/>
          <p:cNvSpPr>
            <a:spLocks noGrp="1"/>
          </p:cNvSpPr>
          <p:nvPr>
            <p:ph type="sldNum" sz="quarter" idx="12"/>
          </p:nvPr>
        </p:nvSpPr>
        <p:spPr/>
        <p:txBody>
          <a:bodyPr/>
          <a:lstStyle/>
          <a:p>
            <a:fld id="{3A3F5B55-2DE6-425E-A390-B1E421DBF3FD}" type="slidenum">
              <a:rPr lang="pl-PL" smtClean="0"/>
              <a:t>‹#›</a:t>
            </a:fld>
            <a:endParaRPr lang="pl-PL"/>
          </a:p>
        </p:txBody>
      </p:sp>
    </p:spTree>
    <p:extLst>
      <p:ext uri="{BB962C8B-B14F-4D97-AF65-F5344CB8AC3E}">
        <p14:creationId xmlns:p14="http://schemas.microsoft.com/office/powerpoint/2010/main" val="3393978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endParaRPr lang="en-GB"/>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GB"/>
          </a:p>
        </p:txBody>
      </p:sp>
      <p:sp>
        <p:nvSpPr>
          <p:cNvPr id="4" name="Symbol zastępczy daty 3"/>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1811327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8199593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endParaRPr lang="en-GB"/>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1254753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034713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endParaRPr lang="en-GB"/>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8" name="Symbol zastępczy stopki 7"/>
          <p:cNvSpPr>
            <a:spLocks noGrp="1"/>
          </p:cNvSpPr>
          <p:nvPr>
            <p:ph type="ftr" sz="quarter" idx="11"/>
          </p:nvPr>
        </p:nvSpPr>
        <p:spPr/>
        <p:txBody>
          <a:bodyPr/>
          <a:lstStyle/>
          <a:p>
            <a:endParaRPr lang="en-GB">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732150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daty 2"/>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4" name="Symbol zastępczy stopki 3"/>
          <p:cNvSpPr>
            <a:spLocks noGrp="1"/>
          </p:cNvSpPr>
          <p:nvPr>
            <p:ph type="ftr" sz="quarter" idx="11"/>
          </p:nvPr>
        </p:nvSpPr>
        <p:spPr/>
        <p:txBody>
          <a:bodyPr/>
          <a:lstStyle/>
          <a:p>
            <a:endParaRPr lang="en-GB">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779467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3" name="Symbol zastępczy stopki 2"/>
          <p:cNvSpPr>
            <a:spLocks noGrp="1"/>
          </p:cNvSpPr>
          <p:nvPr>
            <p:ph type="ftr" sz="quarter" idx="11"/>
          </p:nvPr>
        </p:nvSpPr>
        <p:spPr/>
        <p:txBody>
          <a:bodyPr/>
          <a:lstStyle/>
          <a:p>
            <a:endParaRPr lang="en-GB">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703388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endParaRPr lang="en-GB"/>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951400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endParaRPr lang="en-GB"/>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6" name="Symbol zastępczy stopki 5"/>
          <p:cNvSpPr>
            <a:spLocks noGrp="1"/>
          </p:cNvSpPr>
          <p:nvPr>
            <p:ph type="ftr" sz="quarter" idx="11"/>
          </p:nvPr>
        </p:nvSpPr>
        <p:spPr/>
        <p:txBody>
          <a:bodyPr/>
          <a:lstStyle/>
          <a:p>
            <a:endParaRPr lang="en-GB">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348769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331393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endParaRPr lang="en-GB"/>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5" name="Symbol zastępczy stopki 4"/>
          <p:cNvSpPr>
            <a:spLocks noGrp="1"/>
          </p:cNvSpPr>
          <p:nvPr>
            <p:ph type="ftr" sz="quarter" idx="11"/>
          </p:nvPr>
        </p:nvSpPr>
        <p:spPr/>
        <p:txBody>
          <a:bodyPr/>
          <a:lstStyle/>
          <a:p>
            <a:endParaRPr lang="en-GB">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697319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4B97BF-AA4A-4A39-9B49-88839391B1DB}" type="datetimeFigureOut">
              <a:rPr lang="pl-PL" smtClean="0"/>
              <a:t>12.12.2025</a:t>
            </a:fld>
            <a:endParaRPr lang="pl-PL"/>
          </a:p>
        </p:txBody>
      </p:sp>
      <p:sp>
        <p:nvSpPr>
          <p:cNvPr id="5" name="Symbol zastępczy stopki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ymbol zastępczy numeru slajd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F5B55-2DE6-425E-A390-B1E421DBF3FD}" type="slidenum">
              <a:rPr lang="pl-PL" smtClean="0"/>
              <a:t>‹#›</a:t>
            </a:fld>
            <a:endParaRPr lang="pl-PL"/>
          </a:p>
        </p:txBody>
      </p:sp>
    </p:spTree>
    <p:extLst>
      <p:ext uri="{BB962C8B-B14F-4D97-AF65-F5344CB8AC3E}">
        <p14:creationId xmlns:p14="http://schemas.microsoft.com/office/powerpoint/2010/main" val="468272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0C877B-43D9-455E-957D-0B2E9A7AD74F}" type="datetimeFigureOut">
              <a:rPr lang="en-GB" smtClean="0">
                <a:solidFill>
                  <a:prstClr val="black">
                    <a:tint val="75000"/>
                  </a:prstClr>
                </a:solidFill>
              </a:rPr>
              <a:pPr/>
              <a:t>12/12/2025</a:t>
            </a:fld>
            <a:endParaRPr lang="en-GB">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5EAA52-DF87-4C2C-8580-DFD7B42B9767}"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823498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CustomShape 1"/>
          <p:cNvSpPr/>
          <p:nvPr/>
        </p:nvSpPr>
        <p:spPr>
          <a:xfrm>
            <a:off x="1299411" y="2146320"/>
            <a:ext cx="10202779" cy="3984859"/>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algn="ctr"/>
            <a:r>
              <a:rPr lang="en-US" sz="4400" b="1" i="1" spc="-1" dirty="0">
                <a:solidFill>
                  <a:srgbClr val="215968"/>
                </a:solidFill>
                <a:latin typeface="Calibri"/>
              </a:rPr>
              <a:t>Applied microeconomics – experimental and computational approach</a:t>
            </a:r>
            <a:endParaRPr dirty="0">
              <a:solidFill>
                <a:prstClr val="black"/>
              </a:solidFill>
              <a:latin typeface="Calibri"/>
            </a:endParaRPr>
          </a:p>
          <a:p>
            <a:pPr algn="ctr"/>
            <a:r>
              <a:rPr lang="pl-PL" sz="4400" b="1" i="1" spc="-1" dirty="0">
                <a:solidFill>
                  <a:srgbClr val="215968"/>
                </a:solidFill>
                <a:latin typeface="Calibri"/>
              </a:rPr>
              <a:t> </a:t>
            </a:r>
          </a:p>
          <a:p>
            <a:pPr algn="ctr"/>
            <a:r>
              <a:rPr lang="pl-PL" sz="4400" b="1" i="1" spc="-1" dirty="0" err="1">
                <a:solidFill>
                  <a:srgbClr val="215968"/>
                </a:solidFill>
              </a:rPr>
              <a:t>Risk</a:t>
            </a:r>
            <a:r>
              <a:rPr lang="pl-PL" sz="4400" b="1" i="1" spc="-1" dirty="0">
                <a:solidFill>
                  <a:srgbClr val="215968"/>
                </a:solidFill>
              </a:rPr>
              <a:t> , </a:t>
            </a:r>
            <a:r>
              <a:rPr lang="pl-PL" sz="4400" b="1" i="1" spc="-1" dirty="0" err="1">
                <a:solidFill>
                  <a:srgbClr val="215968"/>
                </a:solidFill>
              </a:rPr>
              <a:t>uncertainty</a:t>
            </a:r>
            <a:r>
              <a:rPr lang="pl-PL" sz="4400" b="1" i="1" spc="-1" dirty="0">
                <a:solidFill>
                  <a:srgbClr val="215968"/>
                </a:solidFill>
              </a:rPr>
              <a:t>, </a:t>
            </a:r>
            <a:r>
              <a:rPr lang="pl-PL" sz="4400" b="1" i="1" spc="-1" dirty="0" err="1">
                <a:solidFill>
                  <a:srgbClr val="215968"/>
                </a:solidFill>
              </a:rPr>
              <a:t>randomness</a:t>
            </a:r>
            <a:endParaRPr lang="pl-PL" sz="4400" b="1" i="1" spc="-1" dirty="0">
              <a:solidFill>
                <a:srgbClr val="215968"/>
              </a:solidFill>
            </a:endParaRPr>
          </a:p>
          <a:p>
            <a:pPr algn="ctr"/>
            <a:r>
              <a:rPr lang="pl-PL" sz="4400" b="1" i="1" spc="-1" dirty="0">
                <a:solidFill>
                  <a:srgbClr val="215968"/>
                </a:solidFill>
                <a:latin typeface="Calibri"/>
              </a:rPr>
              <a:t>INTRO</a:t>
            </a:r>
          </a:p>
        </p:txBody>
      </p:sp>
      <p:sp>
        <p:nvSpPr>
          <p:cNvPr id="46" name="CustomShape 2"/>
          <p:cNvSpPr/>
          <p:nvPr/>
        </p:nvSpPr>
        <p:spPr>
          <a:xfrm>
            <a:off x="1716240" y="696960"/>
            <a:ext cx="8616960" cy="72072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r>
              <a:rPr lang="pl-PL" sz="3200" b="1" spc="-1">
                <a:solidFill>
                  <a:srgbClr val="FFFFFF"/>
                </a:solidFill>
                <a:latin typeface="Calibri"/>
              </a:rPr>
              <a:t>WNE UW</a:t>
            </a:r>
            <a:endParaRPr>
              <a:solidFill>
                <a:prstClr val="black"/>
              </a:solidFill>
              <a:latin typeface="Calibri"/>
            </a:endParaRPr>
          </a:p>
        </p:txBody>
      </p:sp>
      <p:pic>
        <p:nvPicPr>
          <p:cNvPr id="47" name="Picture 3"/>
          <p:cNvPicPr/>
          <p:nvPr/>
        </p:nvPicPr>
        <p:blipFill>
          <a:blip r:embed="rId3"/>
          <a:stretch/>
        </p:blipFill>
        <p:spPr>
          <a:xfrm>
            <a:off x="7536000" y="247680"/>
            <a:ext cx="2338200" cy="1898640"/>
          </a:xfrm>
          <a:prstGeom prst="rect">
            <a:avLst/>
          </a:prstGeom>
          <a:ln>
            <a:noFill/>
          </a:ln>
          <a:effectLst>
            <a:outerShdw dist="139498" dir="2700000">
              <a:srgbClr val="333333">
                <a:alpha val="65000"/>
              </a:srgbClr>
            </a:outerShdw>
          </a:effectLst>
        </p:spPr>
      </p:pic>
    </p:spTree>
    <p:extLst>
      <p:ext uri="{BB962C8B-B14F-4D97-AF65-F5344CB8AC3E}">
        <p14:creationId xmlns:p14="http://schemas.microsoft.com/office/powerpoint/2010/main" val="137745392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564682" y="1790660"/>
            <a:ext cx="11062636" cy="3970318"/>
          </a:xfrm>
          <a:prstGeom prst="rect">
            <a:avLst/>
          </a:prstGeom>
        </p:spPr>
        <p:txBody>
          <a:bodyPr wrap="square">
            <a:spAutoFit/>
          </a:bodyPr>
          <a:lstStyle/>
          <a:p>
            <a:pPr algn="just"/>
            <a:r>
              <a:rPr lang="en-GB" sz="3600" dirty="0">
                <a:solidFill>
                  <a:schemeClr val="accent5">
                    <a:lumMod val="50000"/>
                  </a:schemeClr>
                </a:solidFill>
              </a:rPr>
              <a:t>We are living in a very uncertain world. For us, the problem how to deal with uncertainty is the most important economic issue of our time. </a:t>
            </a:r>
          </a:p>
          <a:p>
            <a:pPr algn="just"/>
            <a:endParaRPr lang="en-GB" sz="3600" dirty="0">
              <a:solidFill>
                <a:schemeClr val="accent5">
                  <a:lumMod val="50000"/>
                </a:schemeClr>
              </a:solidFill>
            </a:endParaRPr>
          </a:p>
          <a:p>
            <a:pPr algn="just"/>
            <a:r>
              <a:rPr lang="en-GB" sz="3600" dirty="0">
                <a:solidFill>
                  <a:schemeClr val="accent5">
                    <a:lumMod val="50000"/>
                  </a:schemeClr>
                </a:solidFill>
              </a:rPr>
              <a:t>Economists, instead to try to understand the problem widely, are so convicted that they found the tools to avoid the risk that ….. they create more uncertainty.</a:t>
            </a: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310681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250257" y="1140962"/>
            <a:ext cx="11694695" cy="5632311"/>
          </a:xfrm>
          <a:prstGeom prst="rect">
            <a:avLst/>
          </a:prstGeom>
        </p:spPr>
        <p:txBody>
          <a:bodyPr wrap="square">
            <a:spAutoFit/>
          </a:bodyPr>
          <a:lstStyle/>
          <a:p>
            <a:pPr algn="just"/>
            <a:r>
              <a:rPr lang="en-GB" sz="3600" dirty="0">
                <a:solidFill>
                  <a:schemeClr val="accent5">
                    <a:lumMod val="50000"/>
                  </a:schemeClr>
                </a:solidFill>
              </a:rPr>
              <a:t>Examples: </a:t>
            </a:r>
          </a:p>
          <a:p>
            <a:pPr algn="just"/>
            <a:r>
              <a:rPr lang="en-GB" sz="3600" dirty="0">
                <a:solidFill>
                  <a:schemeClr val="accent5">
                    <a:lumMod val="50000"/>
                  </a:schemeClr>
                </a:solidFill>
              </a:rPr>
              <a:t>Just before the last crisis</a:t>
            </a:r>
            <a:r>
              <a:rPr lang="pl-PL" sz="3600" dirty="0">
                <a:solidFill>
                  <a:schemeClr val="accent5">
                    <a:lumMod val="50000"/>
                  </a:schemeClr>
                </a:solidFill>
              </a:rPr>
              <a:t> (2008)</a:t>
            </a:r>
            <a:r>
              <a:rPr lang="en-GB" sz="3600" dirty="0">
                <a:solidFill>
                  <a:schemeClr val="accent5">
                    <a:lumMod val="50000"/>
                  </a:schemeClr>
                </a:solidFill>
              </a:rPr>
              <a:t>, Alan Greenspan</a:t>
            </a:r>
            <a:r>
              <a:rPr lang="pl-PL" sz="3600" dirty="0">
                <a:solidFill>
                  <a:schemeClr val="accent5">
                    <a:lumMod val="50000"/>
                  </a:schemeClr>
                </a:solidFill>
              </a:rPr>
              <a:t>,</a:t>
            </a:r>
            <a:r>
              <a:rPr lang="en-GB" sz="3600" dirty="0">
                <a:solidFill>
                  <a:schemeClr val="accent5">
                    <a:lumMod val="50000"/>
                  </a:schemeClr>
                </a:solidFill>
              </a:rPr>
              <a:t> Chairman of the Federal Reserve of the United States</a:t>
            </a:r>
            <a:r>
              <a:rPr lang="pl-PL" sz="3600" dirty="0">
                <a:solidFill>
                  <a:schemeClr val="accent5">
                    <a:lumMod val="50000"/>
                  </a:schemeClr>
                </a:solidFill>
              </a:rPr>
              <a:t>,</a:t>
            </a:r>
            <a:r>
              <a:rPr lang="en-GB" sz="3600" dirty="0">
                <a:solidFill>
                  <a:schemeClr val="accent5">
                    <a:lumMod val="50000"/>
                  </a:schemeClr>
                </a:solidFill>
              </a:rPr>
              <a:t> said:  </a:t>
            </a:r>
            <a:endParaRPr lang="pl-PL" sz="3600" dirty="0">
              <a:solidFill>
                <a:schemeClr val="accent5">
                  <a:lumMod val="50000"/>
                </a:schemeClr>
              </a:solidFill>
            </a:endParaRPr>
          </a:p>
          <a:p>
            <a:pPr algn="just"/>
            <a:endParaRPr lang="en-GB" sz="3600" dirty="0">
              <a:solidFill>
                <a:schemeClr val="accent5">
                  <a:lumMod val="50000"/>
                </a:schemeClr>
              </a:solidFill>
            </a:endParaRPr>
          </a:p>
          <a:p>
            <a:pPr algn="just"/>
            <a:r>
              <a:rPr lang="pl-PL" sz="3600" i="1" dirty="0">
                <a:solidFill>
                  <a:schemeClr val="accent5">
                    <a:lumMod val="50000"/>
                  </a:schemeClr>
                </a:solidFill>
              </a:rPr>
              <a:t>…. </a:t>
            </a:r>
            <a:r>
              <a:rPr lang="en-GB" sz="3600" i="1" dirty="0">
                <a:solidFill>
                  <a:schemeClr val="accent5">
                    <a:lumMod val="50000"/>
                  </a:schemeClr>
                </a:solidFill>
              </a:rPr>
              <a:t>complex financial instruments have contributed to the development of a far more flexible, efficient, and hence resilient financial system than the one that existed just a quarter-century ago</a:t>
            </a:r>
            <a:r>
              <a:rPr lang="en-GB" sz="3600" dirty="0">
                <a:solidFill>
                  <a:schemeClr val="accent5">
                    <a:lumMod val="50000"/>
                  </a:schemeClr>
                </a:solidFill>
              </a:rPr>
              <a:t> (Greenspan 2005).</a:t>
            </a:r>
          </a:p>
          <a:p>
            <a:pPr algn="just"/>
            <a:endParaRPr lang="en-GB" sz="3600" dirty="0">
              <a:solidFill>
                <a:schemeClr val="accent5">
                  <a:lumMod val="50000"/>
                </a:schemeClr>
              </a:solidFill>
            </a:endParaRPr>
          </a:p>
          <a:p>
            <a:pPr algn="just"/>
            <a:r>
              <a:rPr lang="en-GB" sz="3600" dirty="0">
                <a:solidFill>
                  <a:schemeClr val="accent5">
                    <a:lumMod val="50000"/>
                  </a:schemeClr>
                </a:solidFill>
              </a:rPr>
              <a:t>But </a:t>
            </a:r>
            <a:r>
              <a:rPr lang="pl-PL" sz="3600" dirty="0">
                <a:solidFill>
                  <a:schemeClr val="accent5">
                    <a:lumMod val="50000"/>
                  </a:schemeClr>
                </a:solidFill>
              </a:rPr>
              <a:t>….. </a:t>
            </a:r>
            <a:r>
              <a:rPr lang="en-GB" sz="3600" dirty="0">
                <a:solidFill>
                  <a:schemeClr val="accent5">
                    <a:lumMod val="50000"/>
                  </a:schemeClr>
                </a:solidFill>
              </a:rPr>
              <a:t> </a:t>
            </a:r>
            <a:endParaRPr lang="en-US" sz="3600" dirty="0">
              <a:solidFill>
                <a:schemeClr val="accent5">
                  <a:lumMod val="50000"/>
                </a:schemeClr>
              </a:solidFill>
            </a:endParaRP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4204598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253465" y="1140962"/>
            <a:ext cx="11685069" cy="5355312"/>
          </a:xfrm>
          <a:prstGeom prst="rect">
            <a:avLst/>
          </a:prstGeom>
        </p:spPr>
        <p:txBody>
          <a:bodyPr wrap="square">
            <a:spAutoFit/>
          </a:bodyPr>
          <a:lstStyle/>
          <a:p>
            <a:pPr algn="just"/>
            <a:r>
              <a:rPr lang="pl-PL" sz="3200" dirty="0">
                <a:solidFill>
                  <a:schemeClr val="accent5">
                    <a:lumMod val="50000"/>
                  </a:schemeClr>
                </a:solidFill>
              </a:rPr>
              <a:t>…. </a:t>
            </a:r>
            <a:r>
              <a:rPr lang="en-GB" sz="3200" dirty="0">
                <a:solidFill>
                  <a:schemeClr val="accent5">
                    <a:lumMod val="50000"/>
                  </a:schemeClr>
                </a:solidFill>
              </a:rPr>
              <a:t>he should </a:t>
            </a:r>
            <a:r>
              <a:rPr lang="pl-PL" sz="3200" dirty="0">
                <a:solidFill>
                  <a:schemeClr val="accent5">
                    <a:lumMod val="50000"/>
                  </a:schemeClr>
                </a:solidFill>
              </a:rPr>
              <a:t>…. </a:t>
            </a:r>
            <a:r>
              <a:rPr lang="en-GB" sz="3200" i="1" dirty="0">
                <a:solidFill>
                  <a:schemeClr val="accent5">
                    <a:lumMod val="50000"/>
                  </a:schemeClr>
                </a:solidFill>
              </a:rPr>
              <a:t>consider the fate of Long-Term Capital Management, a hedge fund set up by, among others, the economists </a:t>
            </a:r>
            <a:r>
              <a:rPr lang="en-GB" sz="3200" b="1" i="1" dirty="0">
                <a:solidFill>
                  <a:schemeClr val="accent5">
                    <a:lumMod val="50000"/>
                  </a:schemeClr>
                </a:solidFill>
              </a:rPr>
              <a:t>Myron Scholes </a:t>
            </a:r>
            <a:r>
              <a:rPr lang="en-GB" sz="3200" i="1" dirty="0">
                <a:solidFill>
                  <a:schemeClr val="accent5">
                    <a:lumMod val="50000"/>
                  </a:schemeClr>
                </a:solidFill>
              </a:rPr>
              <a:t>and </a:t>
            </a:r>
            <a:r>
              <a:rPr lang="en-GB" sz="3200" b="1" i="1" dirty="0">
                <a:solidFill>
                  <a:schemeClr val="accent5">
                    <a:lumMod val="50000"/>
                  </a:schemeClr>
                </a:solidFill>
              </a:rPr>
              <a:t>Robert Merton </a:t>
            </a:r>
            <a:r>
              <a:rPr lang="en-GB" sz="3200" i="1" dirty="0">
                <a:solidFill>
                  <a:schemeClr val="accent5">
                    <a:lumMod val="50000"/>
                  </a:schemeClr>
                </a:solidFill>
              </a:rPr>
              <a:t>in 1994. With their work on derivatives, Scholes and Merton seemed to have hit on a formula that yielded a safe but lucrative trading strategy. In 1997 they were awarded the Nobel prize. A year later, Long-Term Capital Management lost $4.6bn (£3bn)in less than four months; a bailout was required to avert the threat to the global financial system. Markets, it seemed, didn’t always behave like scientific models.</a:t>
            </a:r>
            <a:endParaRPr lang="pl-PL" sz="3200" i="1" dirty="0">
              <a:solidFill>
                <a:schemeClr val="accent5">
                  <a:lumMod val="50000"/>
                </a:schemeClr>
              </a:solidFill>
            </a:endParaRPr>
          </a:p>
          <a:p>
            <a:pPr algn="just"/>
            <a:r>
              <a:rPr lang="en-GB" sz="3600" dirty="0">
                <a:solidFill>
                  <a:schemeClr val="accent5">
                    <a:lumMod val="50000"/>
                  </a:schemeClr>
                </a:solidFill>
              </a:rPr>
              <a:t> </a:t>
            </a:r>
            <a:endParaRPr lang="pl-PL" sz="3600" dirty="0">
              <a:solidFill>
                <a:schemeClr val="accent5">
                  <a:lumMod val="50000"/>
                </a:schemeClr>
              </a:solidFill>
            </a:endParaRPr>
          </a:p>
          <a:p>
            <a:pPr algn="just"/>
            <a:r>
              <a:rPr lang="en-GB" dirty="0">
                <a:solidFill>
                  <a:schemeClr val="accent5">
                    <a:lumMod val="50000"/>
                  </a:schemeClr>
                </a:solidFill>
              </a:rPr>
              <a:t>https://www.theguardian.com/commentisfree/2015/oct/11/nobel-prize-economics-not-science-hubris-disaster</a:t>
            </a:r>
            <a:endParaRPr lang="en-US" dirty="0">
              <a:solidFill>
                <a:schemeClr val="accent5">
                  <a:lumMod val="50000"/>
                </a:schemeClr>
              </a:solidFill>
            </a:endParaRP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3117637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243840" y="1283387"/>
            <a:ext cx="11704320" cy="5078313"/>
          </a:xfrm>
          <a:prstGeom prst="rect">
            <a:avLst/>
          </a:prstGeom>
        </p:spPr>
        <p:txBody>
          <a:bodyPr wrap="square">
            <a:spAutoFit/>
          </a:bodyPr>
          <a:lstStyle/>
          <a:p>
            <a:pPr algn="just"/>
            <a:r>
              <a:rPr lang="pl-PL" sz="3600" dirty="0">
                <a:solidFill>
                  <a:schemeClr val="accent5">
                    <a:lumMod val="50000"/>
                  </a:schemeClr>
                </a:solidFill>
              </a:rPr>
              <a:t>b</a:t>
            </a:r>
            <a:r>
              <a:rPr lang="en-GB" sz="3600" dirty="0" err="1">
                <a:solidFill>
                  <a:schemeClr val="accent5">
                    <a:lumMod val="50000"/>
                  </a:schemeClr>
                </a:solidFill>
              </a:rPr>
              <a:t>ut</a:t>
            </a:r>
            <a:r>
              <a:rPr lang="pl-PL" sz="3600" dirty="0">
                <a:solidFill>
                  <a:schemeClr val="accent5">
                    <a:lumMod val="50000"/>
                  </a:schemeClr>
                </a:solidFill>
              </a:rPr>
              <a:t> …</a:t>
            </a:r>
            <a:r>
              <a:rPr lang="en-GB" sz="3600" dirty="0">
                <a:solidFill>
                  <a:schemeClr val="accent5">
                    <a:lumMod val="50000"/>
                  </a:schemeClr>
                </a:solidFill>
              </a:rPr>
              <a:t> </a:t>
            </a:r>
            <a:r>
              <a:rPr lang="en-GB" sz="3600" b="1" dirty="0">
                <a:solidFill>
                  <a:schemeClr val="accent5">
                    <a:lumMod val="50000"/>
                  </a:schemeClr>
                </a:solidFill>
              </a:rPr>
              <a:t>Myron Scholes </a:t>
            </a:r>
            <a:r>
              <a:rPr lang="en-GB" sz="3600" dirty="0">
                <a:solidFill>
                  <a:schemeClr val="accent5">
                    <a:lumMod val="50000"/>
                  </a:schemeClr>
                </a:solidFill>
              </a:rPr>
              <a:t>and </a:t>
            </a:r>
            <a:r>
              <a:rPr lang="en-GB" sz="3600" b="1" dirty="0">
                <a:solidFill>
                  <a:schemeClr val="accent5">
                    <a:lumMod val="50000"/>
                  </a:schemeClr>
                </a:solidFill>
              </a:rPr>
              <a:t>Robert Merton </a:t>
            </a:r>
            <a:r>
              <a:rPr lang="en-GB" sz="3600" dirty="0">
                <a:solidFill>
                  <a:schemeClr val="accent5">
                    <a:lumMod val="50000"/>
                  </a:schemeClr>
                </a:solidFill>
              </a:rPr>
              <a:t>should remember the story of </a:t>
            </a:r>
            <a:r>
              <a:rPr lang="en-GB" sz="3600" b="1" dirty="0">
                <a:solidFill>
                  <a:schemeClr val="accent5">
                    <a:lumMod val="50000"/>
                  </a:schemeClr>
                </a:solidFill>
              </a:rPr>
              <a:t>Irving Fisher</a:t>
            </a:r>
            <a:r>
              <a:rPr lang="en-GB" sz="3600" dirty="0">
                <a:solidFill>
                  <a:schemeClr val="accent5">
                    <a:lumMod val="50000"/>
                  </a:schemeClr>
                </a:solidFill>
              </a:rPr>
              <a:t> the father of the modern investment theory who is remembered </a:t>
            </a:r>
            <a:r>
              <a:rPr lang="en-GB" sz="3600" i="1" dirty="0">
                <a:solidFill>
                  <a:schemeClr val="accent5">
                    <a:lumMod val="50000"/>
                  </a:schemeClr>
                </a:solidFill>
              </a:rPr>
              <a:t>.... for the worst stock market call in history. </a:t>
            </a:r>
            <a:r>
              <a:rPr lang="en-GB" sz="3600" dirty="0">
                <a:solidFill>
                  <a:schemeClr val="accent5">
                    <a:lumMod val="50000"/>
                  </a:schemeClr>
                </a:solidFill>
              </a:rPr>
              <a:t>Just before the Great Depression</a:t>
            </a:r>
            <a:r>
              <a:rPr lang="pl-PL" sz="3600" dirty="0">
                <a:solidFill>
                  <a:schemeClr val="accent5">
                    <a:lumMod val="50000"/>
                  </a:schemeClr>
                </a:solidFill>
              </a:rPr>
              <a:t>, </a:t>
            </a:r>
            <a:r>
              <a:rPr lang="en-GB" sz="3600" i="1" dirty="0">
                <a:solidFill>
                  <a:schemeClr val="accent5">
                    <a:lumMod val="50000"/>
                  </a:schemeClr>
                </a:solidFill>
              </a:rPr>
              <a:t>he declared that stocks had reached a “permanently high plateau”.</a:t>
            </a:r>
            <a:r>
              <a:rPr lang="en-GB" sz="3600" dirty="0">
                <a:solidFill>
                  <a:schemeClr val="accent5">
                    <a:lumMod val="50000"/>
                  </a:schemeClr>
                </a:solidFill>
              </a:rPr>
              <a:t> …</a:t>
            </a:r>
            <a:r>
              <a:rPr lang="pl-PL" sz="3600" dirty="0">
                <a:solidFill>
                  <a:schemeClr val="accent5">
                    <a:lumMod val="50000"/>
                  </a:schemeClr>
                </a:solidFill>
              </a:rPr>
              <a:t>.</a:t>
            </a:r>
            <a:r>
              <a:rPr lang="pl-PL" sz="3600" i="1" dirty="0">
                <a:solidFill>
                  <a:schemeClr val="accent5">
                    <a:lumMod val="50000"/>
                  </a:schemeClr>
                </a:solidFill>
              </a:rPr>
              <a:t> </a:t>
            </a:r>
          </a:p>
          <a:p>
            <a:pPr algn="just"/>
            <a:endParaRPr lang="pl-PL" sz="3600" i="1" dirty="0">
              <a:solidFill>
                <a:schemeClr val="accent5">
                  <a:lumMod val="50000"/>
                </a:schemeClr>
              </a:solidFill>
            </a:endParaRPr>
          </a:p>
          <a:p>
            <a:pPr algn="just"/>
            <a:r>
              <a:rPr lang="en-GB" sz="3600" i="1" dirty="0">
                <a:solidFill>
                  <a:schemeClr val="accent5">
                    <a:lumMod val="50000"/>
                  </a:schemeClr>
                </a:solidFill>
              </a:rPr>
              <a:t>The main problem is that we (economist) believe that we can deal with uncertainty. But we can deal only with the risk. We mix the model with the reality - it is the definition problem. </a:t>
            </a: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864663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7937"/>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190902" y="1150937"/>
            <a:ext cx="11810196" cy="5509200"/>
          </a:xfrm>
          <a:prstGeom prst="rect">
            <a:avLst/>
          </a:prstGeom>
        </p:spPr>
        <p:txBody>
          <a:bodyPr wrap="square">
            <a:spAutoFit/>
          </a:bodyPr>
          <a:lstStyle/>
          <a:p>
            <a:pPr algn="just"/>
            <a:r>
              <a:rPr lang="en-US" sz="3200" dirty="0">
                <a:solidFill>
                  <a:schemeClr val="accent5">
                    <a:lumMod val="50000"/>
                  </a:schemeClr>
                </a:solidFill>
              </a:rPr>
              <a:t>Our world is </a:t>
            </a:r>
            <a:r>
              <a:rPr lang="en-US" sz="3200" b="1" dirty="0">
                <a:solidFill>
                  <a:schemeClr val="accent5">
                    <a:lumMod val="50000"/>
                  </a:schemeClr>
                </a:solidFill>
              </a:rPr>
              <a:t>uncertain </a:t>
            </a:r>
            <a:r>
              <a:rPr lang="en-US" sz="3200" dirty="0">
                <a:solidFill>
                  <a:schemeClr val="accent5">
                    <a:lumMod val="50000"/>
                  </a:schemeClr>
                </a:solidFill>
              </a:rPr>
              <a:t>in different ways. We do not know the lotteries we play. We only guess the probability of the events and values of the losses and prizes. </a:t>
            </a:r>
            <a:r>
              <a:rPr lang="en-US" sz="3200" dirty="0" err="1">
                <a:solidFill>
                  <a:schemeClr val="accent5">
                    <a:lumMod val="50000"/>
                  </a:schemeClr>
                </a:solidFill>
              </a:rPr>
              <a:t>Behavioural</a:t>
            </a:r>
            <a:r>
              <a:rPr lang="en-US" sz="3200" dirty="0">
                <a:solidFill>
                  <a:schemeClr val="accent5">
                    <a:lumMod val="50000"/>
                  </a:schemeClr>
                </a:solidFill>
              </a:rPr>
              <a:t> economics try to find how we deal with the situation. But in finance and investment, we use a model</a:t>
            </a:r>
            <a:r>
              <a:rPr lang="pl-PL" sz="3200" dirty="0">
                <a:solidFill>
                  <a:schemeClr val="accent5">
                    <a:lumMod val="50000"/>
                  </a:schemeClr>
                </a:solidFill>
              </a:rPr>
              <a:t> of </a:t>
            </a:r>
            <a:r>
              <a:rPr lang="en-US" sz="3200" b="1" dirty="0">
                <a:solidFill>
                  <a:schemeClr val="accent5">
                    <a:lumMod val="50000"/>
                  </a:schemeClr>
                </a:solidFill>
              </a:rPr>
              <a:t>risk</a:t>
            </a:r>
            <a:r>
              <a:rPr lang="en-US" sz="3200" dirty="0">
                <a:solidFill>
                  <a:schemeClr val="accent5">
                    <a:lumMod val="50000"/>
                  </a:schemeClr>
                </a:solidFill>
              </a:rPr>
              <a:t> in which: </a:t>
            </a:r>
          </a:p>
          <a:p>
            <a:pPr marL="457200" indent="-457200" algn="just">
              <a:buFont typeface="Arial" panose="020B0604020202020204" pitchFamily="34" charset="0"/>
              <a:buChar char="•"/>
            </a:pPr>
            <a:r>
              <a:rPr lang="en-US" sz="3200" dirty="0">
                <a:solidFill>
                  <a:schemeClr val="accent5">
                    <a:lumMod val="50000"/>
                  </a:schemeClr>
                </a:solidFill>
              </a:rPr>
              <a:t>(discrete version) We know finite numbers of known events</a:t>
            </a:r>
            <a:r>
              <a:rPr lang="pl-PL" sz="3200" dirty="0">
                <a:solidFill>
                  <a:schemeClr val="accent5">
                    <a:lumMod val="50000"/>
                  </a:schemeClr>
                </a:solidFill>
              </a:rPr>
              <a:t> and </a:t>
            </a:r>
            <a:r>
              <a:rPr lang="en-US" sz="3200" dirty="0">
                <a:solidFill>
                  <a:schemeClr val="accent5">
                    <a:lumMod val="50000"/>
                  </a:schemeClr>
                </a:solidFill>
              </a:rPr>
              <a:t>probabilities</a:t>
            </a:r>
            <a:r>
              <a:rPr lang="pl-PL" sz="3200" dirty="0">
                <a:solidFill>
                  <a:schemeClr val="accent5">
                    <a:lumMod val="50000"/>
                  </a:schemeClr>
                </a:solidFill>
              </a:rPr>
              <a:t> of </a:t>
            </a:r>
            <a:r>
              <a:rPr lang="pl-PL" sz="3200" dirty="0" err="1">
                <a:solidFill>
                  <a:schemeClr val="accent5">
                    <a:lumMod val="50000"/>
                  </a:schemeClr>
                </a:solidFill>
              </a:rPr>
              <a:t>their</a:t>
            </a:r>
            <a:r>
              <a:rPr lang="pl-PL" sz="3200" dirty="0">
                <a:solidFill>
                  <a:schemeClr val="accent5">
                    <a:lumMod val="50000"/>
                  </a:schemeClr>
                </a:solidFill>
              </a:rPr>
              <a:t> </a:t>
            </a:r>
            <a:r>
              <a:rPr lang="pl-PL" sz="3200" dirty="0" err="1">
                <a:solidFill>
                  <a:schemeClr val="accent5">
                    <a:lumMod val="50000"/>
                  </a:schemeClr>
                </a:solidFill>
              </a:rPr>
              <a:t>appearance</a:t>
            </a:r>
            <a:r>
              <a:rPr lang="en-US" sz="3200" dirty="0">
                <a:solidFill>
                  <a:schemeClr val="accent5">
                    <a:lumMod val="50000"/>
                  </a:schemeClr>
                </a:solidFill>
              </a:rPr>
              <a:t>. We know the values of outcomes of the lottery.</a:t>
            </a:r>
            <a:endParaRPr lang="pl-PL" sz="3200" dirty="0">
              <a:solidFill>
                <a:schemeClr val="accent5">
                  <a:lumMod val="50000"/>
                </a:schemeClr>
              </a:solidFill>
            </a:endParaRPr>
          </a:p>
          <a:p>
            <a:pPr marL="457200" indent="-457200" algn="just">
              <a:buFont typeface="Arial" panose="020B0604020202020204" pitchFamily="34" charset="0"/>
              <a:buChar char="•"/>
            </a:pPr>
            <a:r>
              <a:rPr lang="en-US" sz="3200" dirty="0">
                <a:solidFill>
                  <a:schemeClr val="accent5">
                    <a:lumMod val="50000"/>
                  </a:schemeClr>
                </a:solidFill>
              </a:rPr>
              <a:t>(continuous version) We know the distribution of outcomes</a:t>
            </a:r>
          </a:p>
          <a:p>
            <a:pPr algn="just"/>
            <a:r>
              <a:rPr lang="en-US" sz="3200" dirty="0">
                <a:solidFill>
                  <a:schemeClr val="accent5">
                    <a:lumMod val="50000"/>
                  </a:schemeClr>
                </a:solidFill>
              </a:rPr>
              <a:t>The modern finance is based on the assumption that we live in the TV show Let’s Make a Deal.</a:t>
            </a:r>
            <a:r>
              <a:rPr lang="pl-PL" sz="3200" dirty="0">
                <a:solidFill>
                  <a:schemeClr val="accent5">
                    <a:lumMod val="50000"/>
                  </a:schemeClr>
                </a:solidFill>
              </a:rPr>
              <a:t> </a:t>
            </a:r>
            <a:r>
              <a:rPr lang="en-US" sz="3200" dirty="0">
                <a:solidFill>
                  <a:schemeClr val="accent5">
                    <a:lumMod val="50000"/>
                  </a:schemeClr>
                </a:solidFill>
              </a:rPr>
              <a:t>(</a:t>
            </a:r>
            <a:r>
              <a:rPr lang="en-US" sz="2400" dirty="0">
                <a:solidFill>
                  <a:schemeClr val="accent5">
                    <a:lumMod val="50000"/>
                  </a:schemeClr>
                </a:solidFill>
              </a:rPr>
              <a:t>https://www.youtube.com/watch?v=T5QYTrDReTo</a:t>
            </a:r>
            <a:r>
              <a:rPr lang="en-US" sz="3200" dirty="0">
                <a:solidFill>
                  <a:schemeClr val="accent5">
                    <a:lumMod val="50000"/>
                  </a:schemeClr>
                </a:solidFill>
              </a:rPr>
              <a:t>) </a:t>
            </a: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3117248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354531" y="1383537"/>
            <a:ext cx="11328934" cy="5078313"/>
          </a:xfrm>
          <a:prstGeom prst="rect">
            <a:avLst/>
          </a:prstGeom>
        </p:spPr>
        <p:txBody>
          <a:bodyPr wrap="square">
            <a:spAutoFit/>
          </a:bodyPr>
          <a:lstStyle/>
          <a:p>
            <a:pPr algn="just"/>
            <a:r>
              <a:rPr lang="en-GB" sz="3600" dirty="0">
                <a:solidFill>
                  <a:schemeClr val="accent5">
                    <a:lumMod val="50000"/>
                  </a:schemeClr>
                </a:solidFill>
              </a:rPr>
              <a:t>When we can evaluate the lottery(risk) we can treat risk as a "tradable good". W</a:t>
            </a:r>
            <a:r>
              <a:rPr lang="pl-PL" sz="3600" dirty="0">
                <a:solidFill>
                  <a:schemeClr val="accent5">
                    <a:lumMod val="50000"/>
                  </a:schemeClr>
                </a:solidFill>
              </a:rPr>
              <a:t>e</a:t>
            </a:r>
            <a:r>
              <a:rPr lang="en-GB" sz="3600" dirty="0">
                <a:solidFill>
                  <a:schemeClr val="accent5">
                    <a:lumMod val="50000"/>
                  </a:schemeClr>
                </a:solidFill>
              </a:rPr>
              <a:t> can sell and buy risk. The more a person is risk averse the more money he/she pays for reduction of the risk. </a:t>
            </a:r>
          </a:p>
          <a:p>
            <a:pPr algn="just"/>
            <a:endParaRPr lang="en-GB" sz="3600" dirty="0">
              <a:solidFill>
                <a:schemeClr val="accent5">
                  <a:lumMod val="50000"/>
                </a:schemeClr>
              </a:solidFill>
            </a:endParaRPr>
          </a:p>
          <a:p>
            <a:pPr algn="just"/>
            <a:r>
              <a:rPr lang="en-GB" sz="3600" dirty="0">
                <a:solidFill>
                  <a:schemeClr val="accent5">
                    <a:lumMod val="50000"/>
                  </a:schemeClr>
                </a:solidFill>
              </a:rPr>
              <a:t>But the idea that risk trading will efficiently reduce uncertainty was wrong. The trade was like </a:t>
            </a:r>
            <a:r>
              <a:rPr lang="pl-PL" sz="3600" dirty="0">
                <a:solidFill>
                  <a:schemeClr val="accent5">
                    <a:lumMod val="50000"/>
                  </a:schemeClr>
                </a:solidFill>
              </a:rPr>
              <a:t>the</a:t>
            </a:r>
            <a:r>
              <a:rPr lang="en-GB" sz="3600" dirty="0">
                <a:solidFill>
                  <a:schemeClr val="accent5">
                    <a:lumMod val="50000"/>
                  </a:schemeClr>
                </a:solidFill>
              </a:rPr>
              <a:t> hot potato game. The player who </a:t>
            </a:r>
            <a:r>
              <a:rPr lang="pl-PL" sz="3600" dirty="0" err="1">
                <a:solidFill>
                  <a:schemeClr val="accent5">
                    <a:lumMod val="50000"/>
                  </a:schemeClr>
                </a:solidFill>
              </a:rPr>
              <a:t>is</a:t>
            </a:r>
            <a:r>
              <a:rPr lang="en-GB" sz="3600" dirty="0">
                <a:solidFill>
                  <a:schemeClr val="accent5">
                    <a:lumMod val="50000"/>
                  </a:schemeClr>
                </a:solidFill>
              </a:rPr>
              <a:t> holding the risk when the illusion end</a:t>
            </a:r>
            <a:r>
              <a:rPr lang="pl-PL" sz="3600" dirty="0">
                <a:solidFill>
                  <a:schemeClr val="accent5">
                    <a:lumMod val="50000"/>
                  </a:schemeClr>
                </a:solidFill>
              </a:rPr>
              <a:t>s</a:t>
            </a:r>
            <a:r>
              <a:rPr lang="en-GB" sz="3600" dirty="0">
                <a:solidFill>
                  <a:schemeClr val="accent5">
                    <a:lumMod val="50000"/>
                  </a:schemeClr>
                </a:solidFill>
              </a:rPr>
              <a:t> </a:t>
            </a:r>
            <a:r>
              <a:rPr lang="pl-PL" sz="3600" dirty="0" err="1">
                <a:solidFill>
                  <a:schemeClr val="accent5">
                    <a:lumMod val="50000"/>
                  </a:schemeClr>
                </a:solidFill>
              </a:rPr>
              <a:t>will</a:t>
            </a:r>
            <a:r>
              <a:rPr lang="pl-PL" sz="3600" dirty="0">
                <a:solidFill>
                  <a:schemeClr val="accent5">
                    <a:lumMod val="50000"/>
                  </a:schemeClr>
                </a:solidFill>
              </a:rPr>
              <a:t> be</a:t>
            </a:r>
            <a:r>
              <a:rPr lang="en-GB" sz="3600" dirty="0">
                <a:solidFill>
                  <a:schemeClr val="accent5">
                    <a:lumMod val="50000"/>
                  </a:schemeClr>
                </a:solidFill>
              </a:rPr>
              <a:t> eliminated</a:t>
            </a:r>
            <a:r>
              <a:rPr lang="pl-PL" sz="3600" dirty="0">
                <a:solidFill>
                  <a:schemeClr val="accent5">
                    <a:lumMod val="50000"/>
                  </a:schemeClr>
                </a:solidFill>
              </a:rPr>
              <a:t> from the </a:t>
            </a:r>
            <a:r>
              <a:rPr lang="pl-PL" sz="3600" dirty="0" err="1">
                <a:solidFill>
                  <a:schemeClr val="accent5">
                    <a:lumMod val="50000"/>
                  </a:schemeClr>
                </a:solidFill>
              </a:rPr>
              <a:t>play</a:t>
            </a:r>
            <a:r>
              <a:rPr lang="en-GB" sz="3600" dirty="0">
                <a:solidFill>
                  <a:schemeClr val="accent5">
                    <a:lumMod val="50000"/>
                  </a:schemeClr>
                </a:solidFill>
              </a:rPr>
              <a:t>.</a:t>
            </a:r>
            <a:r>
              <a:rPr lang="pl-PL" sz="3600" dirty="0">
                <a:solidFill>
                  <a:schemeClr val="accent5">
                    <a:lumMod val="50000"/>
                  </a:schemeClr>
                </a:solidFill>
              </a:rPr>
              <a:t> </a:t>
            </a:r>
            <a:endParaRPr lang="en-GB" sz="3600" dirty="0">
              <a:solidFill>
                <a:schemeClr val="accent5">
                  <a:lumMod val="50000"/>
                </a:schemeClr>
              </a:solidFill>
            </a:endParaRP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336352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248652" y="1140962"/>
            <a:ext cx="11694695" cy="5509200"/>
          </a:xfrm>
          <a:prstGeom prst="rect">
            <a:avLst/>
          </a:prstGeom>
        </p:spPr>
        <p:txBody>
          <a:bodyPr wrap="square">
            <a:spAutoFit/>
          </a:bodyPr>
          <a:lstStyle/>
          <a:p>
            <a:pPr algn="just"/>
            <a:r>
              <a:rPr lang="en-US" sz="3200" dirty="0">
                <a:solidFill>
                  <a:schemeClr val="accent5">
                    <a:lumMod val="50000"/>
                  </a:schemeClr>
                </a:solidFill>
              </a:rPr>
              <a:t>In our microscale [Know thyself], you should know that some institutions play with us and are using our cognitive biases. They are using our perception of probability/risk and our attitude towards risk to achieve their goals.</a:t>
            </a:r>
          </a:p>
          <a:p>
            <a:pPr algn="just"/>
            <a:endParaRPr lang="en-US" sz="3200" dirty="0">
              <a:solidFill>
                <a:schemeClr val="accent5">
                  <a:lumMod val="50000"/>
                </a:schemeClr>
              </a:solidFill>
            </a:endParaRPr>
          </a:p>
          <a:p>
            <a:pPr algn="just"/>
            <a:r>
              <a:rPr lang="en-US" sz="3200" dirty="0">
                <a:solidFill>
                  <a:schemeClr val="accent5">
                    <a:lumMod val="50000"/>
                  </a:schemeClr>
                </a:solidFill>
              </a:rPr>
              <a:t>- insurance companies try to increase our risk aversion --&gt; we will pay more for insurance.</a:t>
            </a:r>
          </a:p>
          <a:p>
            <a:pPr algn="just"/>
            <a:r>
              <a:rPr lang="en-US" sz="3200" dirty="0">
                <a:solidFill>
                  <a:schemeClr val="accent5">
                    <a:lumMod val="50000"/>
                  </a:schemeClr>
                </a:solidFill>
              </a:rPr>
              <a:t>- investment companies try to increase our risk tolerance --&gt; we will receive less income for the risk taken. </a:t>
            </a:r>
          </a:p>
          <a:p>
            <a:pPr algn="just"/>
            <a:r>
              <a:rPr lang="en-US" sz="3200" dirty="0">
                <a:solidFill>
                  <a:schemeClr val="accent5">
                    <a:lumMod val="50000"/>
                  </a:schemeClr>
                </a:solidFill>
              </a:rPr>
              <a:t>- politicians and terrorists like management by fear</a:t>
            </a:r>
          </a:p>
          <a:p>
            <a:pPr algn="just"/>
            <a:r>
              <a:rPr lang="en-US" sz="3200" dirty="0">
                <a:solidFill>
                  <a:schemeClr val="accent5">
                    <a:lumMod val="50000"/>
                  </a:schemeClr>
                </a:solidFill>
              </a:rPr>
              <a:t>- add your example .............. teachers like management by fear too :) </a:t>
            </a:r>
            <a:endParaRPr lang="en-GB" sz="3200" dirty="0">
              <a:solidFill>
                <a:schemeClr val="accent5">
                  <a:lumMod val="50000"/>
                </a:schemeClr>
              </a:solidFill>
            </a:endParaRP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43346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2038"/>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163629" y="1164135"/>
            <a:ext cx="11810198" cy="5693866"/>
          </a:xfrm>
          <a:prstGeom prst="rect">
            <a:avLst/>
          </a:prstGeom>
        </p:spPr>
        <p:txBody>
          <a:bodyPr wrap="square">
            <a:spAutoFit/>
          </a:bodyPr>
          <a:lstStyle/>
          <a:p>
            <a:pPr algn="just"/>
            <a:r>
              <a:rPr lang="pl-PL" sz="2800" dirty="0">
                <a:solidFill>
                  <a:schemeClr val="accent5">
                    <a:lumMod val="50000"/>
                  </a:schemeClr>
                </a:solidFill>
              </a:rPr>
              <a:t>My </a:t>
            </a:r>
            <a:r>
              <a:rPr lang="pl-PL" sz="2800" dirty="0" err="1">
                <a:solidFill>
                  <a:schemeClr val="accent5">
                    <a:lumMod val="50000"/>
                  </a:schemeClr>
                </a:solidFill>
              </a:rPr>
              <a:t>storyteing</a:t>
            </a:r>
            <a:r>
              <a:rPr lang="pl-PL" sz="2800" dirty="0">
                <a:solidFill>
                  <a:schemeClr val="accent5">
                    <a:lumMod val="50000"/>
                  </a:schemeClr>
                </a:solidFill>
              </a:rPr>
              <a:t> </a:t>
            </a:r>
            <a:r>
              <a:rPr lang="pl-PL" sz="2800" dirty="0" err="1">
                <a:solidFill>
                  <a:schemeClr val="accent5">
                    <a:lumMod val="50000"/>
                  </a:schemeClr>
                </a:solidFill>
              </a:rPr>
              <a:t>which</a:t>
            </a:r>
            <a:r>
              <a:rPr lang="pl-PL" sz="2800" dirty="0">
                <a:solidFill>
                  <a:schemeClr val="accent5">
                    <a:lumMod val="50000"/>
                  </a:schemeClr>
                </a:solidFill>
              </a:rPr>
              <a:t> I </a:t>
            </a:r>
            <a:r>
              <a:rPr lang="pl-PL" sz="2800" dirty="0" err="1">
                <a:solidFill>
                  <a:schemeClr val="accent5">
                    <a:lumMod val="50000"/>
                  </a:schemeClr>
                </a:solidFill>
              </a:rPr>
              <a:t>would</a:t>
            </a:r>
            <a:r>
              <a:rPr lang="pl-PL" sz="2800" dirty="0">
                <a:solidFill>
                  <a:schemeClr val="accent5">
                    <a:lumMod val="50000"/>
                  </a:schemeClr>
                </a:solidFill>
              </a:rPr>
              <a:t> </a:t>
            </a:r>
            <a:r>
              <a:rPr lang="pl-PL" sz="2800" dirty="0" err="1">
                <a:solidFill>
                  <a:schemeClr val="accent5">
                    <a:lumMod val="50000"/>
                  </a:schemeClr>
                </a:solidFill>
              </a:rPr>
              <a:t>like</a:t>
            </a:r>
            <a:r>
              <a:rPr lang="pl-PL" sz="2800" dirty="0">
                <a:solidFill>
                  <a:schemeClr val="accent5">
                    <a:lumMod val="50000"/>
                  </a:schemeClr>
                </a:solidFill>
              </a:rPr>
              <a:t> to </a:t>
            </a:r>
            <a:r>
              <a:rPr lang="pl-PL" sz="2800" dirty="0" err="1">
                <a:solidFill>
                  <a:schemeClr val="accent5">
                    <a:lumMod val="50000"/>
                  </a:schemeClr>
                </a:solidFill>
              </a:rPr>
              <a:t>tell</a:t>
            </a:r>
            <a:r>
              <a:rPr lang="pl-PL" sz="2800" dirty="0">
                <a:solidFill>
                  <a:schemeClr val="accent5">
                    <a:lumMod val="50000"/>
                  </a:schemeClr>
                </a:solidFill>
              </a:rPr>
              <a:t> </a:t>
            </a:r>
            <a:r>
              <a:rPr lang="pl-PL" sz="2800" dirty="0" err="1">
                <a:solidFill>
                  <a:schemeClr val="accent5">
                    <a:lumMod val="50000"/>
                  </a:schemeClr>
                </a:solidFill>
              </a:rPr>
              <a:t>you</a:t>
            </a:r>
            <a:r>
              <a:rPr lang="pl-PL" sz="2800" dirty="0">
                <a:solidFill>
                  <a:schemeClr val="accent5">
                    <a:lumMod val="50000"/>
                  </a:schemeClr>
                </a:solidFill>
              </a:rPr>
              <a:t> </a:t>
            </a:r>
            <a:r>
              <a:rPr lang="pl-PL" sz="2800" dirty="0" err="1">
                <a:solidFill>
                  <a:schemeClr val="accent5">
                    <a:lumMod val="50000"/>
                  </a:schemeClr>
                </a:solidFill>
              </a:rPr>
              <a:t>is</a:t>
            </a:r>
            <a:r>
              <a:rPr lang="pl-PL" sz="2800" dirty="0">
                <a:solidFill>
                  <a:schemeClr val="accent5">
                    <a:lumMod val="50000"/>
                  </a:schemeClr>
                </a:solidFill>
              </a:rPr>
              <a:t> Gerd </a:t>
            </a:r>
            <a:r>
              <a:rPr lang="pl-PL" sz="2800" dirty="0" err="1">
                <a:solidFill>
                  <a:schemeClr val="accent5">
                    <a:lumMod val="50000"/>
                  </a:schemeClr>
                </a:solidFill>
              </a:rPr>
              <a:t>Gigerenzer’s</a:t>
            </a:r>
            <a:r>
              <a:rPr lang="pl-PL" sz="2800" dirty="0">
                <a:solidFill>
                  <a:schemeClr val="accent5">
                    <a:lumMod val="50000"/>
                  </a:schemeClr>
                </a:solidFill>
              </a:rPr>
              <a:t> idea:</a:t>
            </a:r>
          </a:p>
          <a:p>
            <a:pPr algn="just"/>
            <a:endParaRPr lang="pl-PL" sz="2800" i="1" dirty="0">
              <a:solidFill>
                <a:schemeClr val="accent5">
                  <a:lumMod val="50000"/>
                </a:schemeClr>
              </a:solidFill>
            </a:endParaRPr>
          </a:p>
          <a:p>
            <a:pPr algn="just"/>
            <a:r>
              <a:rPr lang="en-GB" sz="2800" i="1" dirty="0">
                <a:solidFill>
                  <a:schemeClr val="accent5">
                    <a:lumMod val="50000"/>
                  </a:schemeClr>
                </a:solidFill>
              </a:rPr>
              <a:t>In an uncertain world, it is impossible to determine the optimal course of action by calculating the exact risks. We have to deal with "unknown unknowns." Surprises happen. Even when calculation does not provide a clear answer, however, we have to make decisions</a:t>
            </a:r>
            <a:r>
              <a:rPr lang="pl-PL" sz="2800" i="1" dirty="0">
                <a:solidFill>
                  <a:schemeClr val="accent5">
                    <a:lumMod val="50000"/>
                  </a:schemeClr>
                </a:solidFill>
              </a:rPr>
              <a:t> ….. </a:t>
            </a:r>
            <a:r>
              <a:rPr lang="en-GB" sz="2800" i="1" dirty="0">
                <a:solidFill>
                  <a:schemeClr val="accent5">
                    <a:lumMod val="50000"/>
                  </a:schemeClr>
                </a:solidFill>
              </a:rPr>
              <a:t>When making decisions, the two sets of mental tools are required:</a:t>
            </a:r>
            <a:endParaRPr lang="pl-PL" sz="2800" i="1" dirty="0">
              <a:solidFill>
                <a:schemeClr val="accent5">
                  <a:lumMod val="50000"/>
                </a:schemeClr>
              </a:solidFill>
            </a:endParaRPr>
          </a:p>
          <a:p>
            <a:pPr marL="457200" indent="-457200" algn="just">
              <a:buFont typeface="Arial" panose="020B0604020202020204" pitchFamily="34" charset="0"/>
              <a:buChar char="•"/>
            </a:pPr>
            <a:r>
              <a:rPr lang="en-GB" sz="2800" i="1" dirty="0">
                <a:solidFill>
                  <a:schemeClr val="accent5">
                    <a:lumMod val="50000"/>
                  </a:schemeClr>
                </a:solidFill>
              </a:rPr>
              <a:t>RISK: If risks are known, good decisions require logic and statistical thinking.</a:t>
            </a:r>
          </a:p>
          <a:p>
            <a:pPr marL="457200" indent="-457200" algn="just">
              <a:buFont typeface="Arial" panose="020B0604020202020204" pitchFamily="34" charset="0"/>
              <a:buChar char="•"/>
            </a:pPr>
            <a:r>
              <a:rPr lang="en-GB" sz="2800" i="1" dirty="0">
                <a:solidFill>
                  <a:schemeClr val="accent5">
                    <a:lumMod val="50000"/>
                  </a:schemeClr>
                </a:solidFill>
              </a:rPr>
              <a:t>UNCERTAINTY: If some risks are unknown, good decisions also require intuition and smart rules of thumb.</a:t>
            </a:r>
            <a:endParaRPr lang="pl-PL" sz="2800" i="1" dirty="0">
              <a:solidFill>
                <a:schemeClr val="accent5">
                  <a:lumMod val="50000"/>
                </a:schemeClr>
              </a:solidFill>
            </a:endParaRPr>
          </a:p>
          <a:p>
            <a:pPr algn="just"/>
            <a:r>
              <a:rPr lang="en-GB" sz="2800" i="1" dirty="0">
                <a:solidFill>
                  <a:schemeClr val="accent5">
                    <a:lumMod val="50000"/>
                  </a:schemeClr>
                </a:solidFill>
              </a:rPr>
              <a:t>Most of the time, a combination of both is needed. Some things can be calculated, others not, and what can be calculated is often only a crude estimate. </a:t>
            </a:r>
            <a:endParaRPr lang="en-GB" sz="2400" i="1" dirty="0">
              <a:solidFill>
                <a:schemeClr val="accent5">
                  <a:lumMod val="50000"/>
                </a:schemeClr>
              </a:solidFill>
            </a:endParaRP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3985428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143000"/>
          </a:xfrm>
          <a:solidFill>
            <a:schemeClr val="accent5">
              <a:lumMod val="20000"/>
              <a:lumOff val="80000"/>
            </a:schemeClr>
          </a:solidFill>
        </p:spPr>
        <p:txBody>
          <a:bodyPr>
            <a:normAutofit/>
          </a:bodyPr>
          <a:lstStyle/>
          <a:p>
            <a:r>
              <a:rPr lang="pl-PL" sz="3600" b="1" i="1" dirty="0" err="1">
                <a:solidFill>
                  <a:schemeClr val="accent5">
                    <a:lumMod val="50000"/>
                  </a:schemeClr>
                </a:solidFill>
              </a:rPr>
              <a:t>Logic</a:t>
            </a:r>
            <a:r>
              <a:rPr lang="pl-PL" sz="3600" b="1" i="1" dirty="0">
                <a:solidFill>
                  <a:schemeClr val="accent5">
                    <a:lumMod val="50000"/>
                  </a:schemeClr>
                </a:solidFill>
              </a:rPr>
              <a:t> and </a:t>
            </a:r>
            <a:r>
              <a:rPr lang="pl-PL" sz="3600" b="1" i="1" dirty="0" err="1">
                <a:solidFill>
                  <a:schemeClr val="accent5">
                    <a:lumMod val="50000"/>
                  </a:schemeClr>
                </a:solidFill>
              </a:rPr>
              <a:t>statistical</a:t>
            </a:r>
            <a:r>
              <a:rPr lang="pl-PL" sz="3600" b="1" i="1" dirty="0">
                <a:solidFill>
                  <a:schemeClr val="accent5">
                    <a:lumMod val="50000"/>
                  </a:schemeClr>
                </a:solidFill>
              </a:rPr>
              <a:t> </a:t>
            </a:r>
            <a:r>
              <a:rPr lang="pl-PL" sz="3600" b="1" i="1" dirty="0" err="1">
                <a:solidFill>
                  <a:schemeClr val="accent5">
                    <a:lumMod val="50000"/>
                  </a:schemeClr>
                </a:solidFill>
              </a:rPr>
              <a:t>thinking</a:t>
            </a:r>
            <a:endParaRPr lang="en-US" sz="3600" b="1" i="1" dirty="0">
              <a:solidFill>
                <a:schemeClr val="accent5">
                  <a:lumMod val="50000"/>
                </a:schemeClr>
              </a:solidFill>
            </a:endParaRPr>
          </a:p>
        </p:txBody>
      </p:sp>
      <p:sp>
        <p:nvSpPr>
          <p:cNvPr id="3" name="Prostokąt 2"/>
          <p:cNvSpPr/>
          <p:nvPr/>
        </p:nvSpPr>
        <p:spPr>
          <a:xfrm>
            <a:off x="558265" y="1196753"/>
            <a:ext cx="11434813" cy="5509200"/>
          </a:xfrm>
          <a:prstGeom prst="rect">
            <a:avLst/>
          </a:prstGeom>
        </p:spPr>
        <p:txBody>
          <a:bodyPr wrap="square">
            <a:spAutoFit/>
          </a:bodyPr>
          <a:lstStyle/>
          <a:p>
            <a:pPr algn="just"/>
            <a:r>
              <a:rPr lang="en-US" sz="3200" dirty="0">
                <a:solidFill>
                  <a:schemeClr val="accent5">
                    <a:lumMod val="50000"/>
                  </a:schemeClr>
                </a:solidFill>
              </a:rPr>
              <a:t>Do not worry. You are in a better situation then ordinary people. You only need to combine your statistical knowledge with applications of everyday life. I recommend you one of the books:</a:t>
            </a:r>
            <a:endParaRPr lang="pl-PL" sz="3200" dirty="0">
              <a:solidFill>
                <a:schemeClr val="accent5">
                  <a:lumMod val="50000"/>
                </a:schemeClr>
              </a:solidFill>
            </a:endParaRPr>
          </a:p>
          <a:p>
            <a:pPr algn="just"/>
            <a:endParaRPr lang="pl-PL" sz="3200" dirty="0">
              <a:solidFill>
                <a:schemeClr val="accent5">
                  <a:lumMod val="50000"/>
                </a:schemeClr>
              </a:solidFill>
            </a:endParaRPr>
          </a:p>
          <a:p>
            <a:pPr algn="just"/>
            <a:endParaRPr lang="pl-PL" sz="3200" dirty="0">
              <a:solidFill>
                <a:schemeClr val="accent5">
                  <a:lumMod val="50000"/>
                </a:schemeClr>
              </a:solidFill>
            </a:endParaRPr>
          </a:p>
          <a:p>
            <a:pPr algn="just"/>
            <a:endParaRPr lang="pl-PL" sz="3200" dirty="0">
              <a:solidFill>
                <a:schemeClr val="accent5">
                  <a:lumMod val="50000"/>
                </a:schemeClr>
              </a:solidFill>
            </a:endParaRPr>
          </a:p>
          <a:p>
            <a:pPr algn="just"/>
            <a:endParaRPr lang="pl-PL" sz="3200" dirty="0">
              <a:solidFill>
                <a:schemeClr val="accent5">
                  <a:lumMod val="50000"/>
                </a:schemeClr>
              </a:solidFill>
            </a:endParaRPr>
          </a:p>
          <a:p>
            <a:pPr algn="just"/>
            <a:endParaRPr lang="en-GB" sz="3200" dirty="0">
              <a:solidFill>
                <a:schemeClr val="accent5">
                  <a:lumMod val="50000"/>
                </a:schemeClr>
              </a:solidFill>
            </a:endParaRPr>
          </a:p>
          <a:p>
            <a:pPr algn="just"/>
            <a:r>
              <a:rPr lang="en-GB" sz="3200" dirty="0">
                <a:solidFill>
                  <a:schemeClr val="accent5">
                    <a:lumMod val="50000"/>
                  </a:schemeClr>
                </a:solidFill>
              </a:rPr>
              <a:t>and an old Kahneman and Tversky article (file:</a:t>
            </a:r>
            <a:r>
              <a:rPr lang="pl-PL" sz="3200" dirty="0">
                <a:solidFill>
                  <a:schemeClr val="accent5">
                    <a:lumMod val="50000"/>
                  </a:schemeClr>
                </a:solidFill>
              </a:rPr>
              <a:t> </a:t>
            </a:r>
            <a:r>
              <a:rPr lang="en-GB" sz="3200" dirty="0">
                <a:solidFill>
                  <a:schemeClr val="accent5">
                    <a:lumMod val="50000"/>
                  </a:schemeClr>
                </a:solidFill>
              </a:rPr>
              <a:t>Kahneman</a:t>
            </a:r>
            <a:r>
              <a:rPr lang="pl-PL" sz="3200" dirty="0">
                <a:solidFill>
                  <a:schemeClr val="accent5">
                    <a:lumMod val="50000"/>
                  </a:schemeClr>
                </a:solidFill>
              </a:rPr>
              <a:t>-</a:t>
            </a:r>
            <a:r>
              <a:rPr lang="en-GB" sz="3200" dirty="0" err="1">
                <a:solidFill>
                  <a:schemeClr val="accent5">
                    <a:lumMod val="50000"/>
                  </a:schemeClr>
                </a:solidFill>
              </a:rPr>
              <a:t>Tversky</a:t>
            </a:r>
            <a:r>
              <a:rPr lang="pl-PL" sz="3200" dirty="0">
                <a:solidFill>
                  <a:schemeClr val="accent5">
                    <a:lumMod val="50000"/>
                  </a:schemeClr>
                </a:solidFill>
              </a:rPr>
              <a:t>-1972</a:t>
            </a:r>
            <a:r>
              <a:rPr lang="en-GB" sz="3200" dirty="0">
                <a:solidFill>
                  <a:schemeClr val="accent5">
                    <a:lumMod val="50000"/>
                  </a:schemeClr>
                </a:solidFill>
              </a:rPr>
              <a:t>.pdf) showing how researchers</a:t>
            </a:r>
            <a:r>
              <a:rPr lang="pl-PL" sz="3200" dirty="0">
                <a:solidFill>
                  <a:schemeClr val="accent5">
                    <a:lumMod val="50000"/>
                  </a:schemeClr>
                </a:solidFill>
              </a:rPr>
              <a:t> </a:t>
            </a:r>
            <a:r>
              <a:rPr lang="en-GB" sz="3200" dirty="0">
                <a:solidFill>
                  <a:schemeClr val="accent5">
                    <a:lumMod val="50000"/>
                  </a:schemeClr>
                </a:solidFill>
              </a:rPr>
              <a:t>have problems to understand statistical problems.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1247" y="2943241"/>
            <a:ext cx="2016224" cy="20162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9667" y="2916429"/>
            <a:ext cx="1367483" cy="20430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4124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0" y="0"/>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p:cNvSpPr/>
          <p:nvPr/>
        </p:nvSpPr>
        <p:spPr>
          <a:xfrm>
            <a:off x="95597" y="1240145"/>
            <a:ext cx="12000806" cy="2062103"/>
          </a:xfrm>
          <a:prstGeom prst="rect">
            <a:avLst/>
          </a:prstGeom>
        </p:spPr>
        <p:txBody>
          <a:bodyPr wrap="square">
            <a:spAutoFit/>
          </a:bodyPr>
          <a:lstStyle/>
          <a:p>
            <a:pPr algn="just"/>
            <a:r>
              <a:rPr lang="pl-PL" sz="3200" dirty="0">
                <a:solidFill>
                  <a:schemeClr val="accent5">
                    <a:lumMod val="50000"/>
                  </a:schemeClr>
                </a:solidFill>
              </a:rPr>
              <a:t>In </a:t>
            </a:r>
            <a:r>
              <a:rPr lang="pl-PL" sz="3200" dirty="0" err="1">
                <a:solidFill>
                  <a:schemeClr val="accent5">
                    <a:lumMod val="50000"/>
                  </a:schemeClr>
                </a:solidFill>
              </a:rPr>
              <a:t>macroscacle</a:t>
            </a:r>
            <a:r>
              <a:rPr lang="pl-PL" sz="3200" dirty="0">
                <a:solidFill>
                  <a:schemeClr val="accent5">
                    <a:lumMod val="50000"/>
                  </a:schemeClr>
                </a:solidFill>
              </a:rPr>
              <a:t> (</a:t>
            </a:r>
            <a:r>
              <a:rPr lang="pl-PL" sz="3200" dirty="0" err="1">
                <a:solidFill>
                  <a:schemeClr val="accent5">
                    <a:lumMod val="50000"/>
                  </a:schemeClr>
                </a:solidFill>
              </a:rPr>
              <a:t>finacial</a:t>
            </a:r>
            <a:r>
              <a:rPr lang="pl-PL" sz="3200" dirty="0">
                <a:solidFill>
                  <a:schemeClr val="accent5">
                    <a:lumMod val="50000"/>
                  </a:schemeClr>
                </a:solidFill>
              </a:rPr>
              <a:t> </a:t>
            </a:r>
            <a:r>
              <a:rPr lang="pl-PL" sz="3200" dirty="0" err="1">
                <a:solidFill>
                  <a:schemeClr val="accent5">
                    <a:lumMod val="50000"/>
                  </a:schemeClr>
                </a:solidFill>
              </a:rPr>
              <a:t>markets</a:t>
            </a:r>
            <a:r>
              <a:rPr lang="pl-PL" sz="3200" dirty="0">
                <a:solidFill>
                  <a:schemeClr val="accent5">
                    <a:lumMod val="50000"/>
                  </a:schemeClr>
                </a:solidFill>
              </a:rPr>
              <a:t>) </a:t>
            </a:r>
            <a:r>
              <a:rPr lang="pl-PL" sz="3200" dirty="0" err="1">
                <a:solidFill>
                  <a:schemeClr val="accent5">
                    <a:lumMod val="50000"/>
                  </a:schemeClr>
                </a:solidFill>
              </a:rPr>
              <a:t>Please</a:t>
            </a:r>
            <a:r>
              <a:rPr lang="pl-PL" sz="3200" dirty="0">
                <a:solidFill>
                  <a:schemeClr val="accent5">
                    <a:lumMod val="50000"/>
                  </a:schemeClr>
                </a:solidFill>
              </a:rPr>
              <a:t> !!! </a:t>
            </a:r>
            <a:r>
              <a:rPr lang="pl-PL" sz="3200" dirty="0" err="1">
                <a:solidFill>
                  <a:schemeClr val="accent5">
                    <a:lumMod val="50000"/>
                  </a:schemeClr>
                </a:solidFill>
              </a:rPr>
              <a:t>read</a:t>
            </a:r>
            <a:r>
              <a:rPr lang="pl-PL" sz="3200" dirty="0">
                <a:solidFill>
                  <a:schemeClr val="accent5">
                    <a:lumMod val="50000"/>
                  </a:schemeClr>
                </a:solidFill>
              </a:rPr>
              <a:t> one of the </a:t>
            </a:r>
            <a:r>
              <a:rPr lang="pl-PL" sz="3200" dirty="0" err="1">
                <a:solidFill>
                  <a:schemeClr val="accent5">
                    <a:lumMod val="50000"/>
                  </a:schemeClr>
                </a:solidFill>
              </a:rPr>
              <a:t>Nassim</a:t>
            </a:r>
            <a:r>
              <a:rPr lang="pl-PL" sz="3200" dirty="0">
                <a:solidFill>
                  <a:schemeClr val="accent5">
                    <a:lumMod val="50000"/>
                  </a:schemeClr>
                </a:solidFill>
              </a:rPr>
              <a:t> Nicholas </a:t>
            </a:r>
            <a:r>
              <a:rPr lang="pl-PL" sz="3200" dirty="0" err="1">
                <a:solidFill>
                  <a:schemeClr val="accent5">
                    <a:lumMod val="50000"/>
                  </a:schemeClr>
                </a:solidFill>
              </a:rPr>
              <a:t>Taleb’s</a:t>
            </a:r>
            <a:r>
              <a:rPr lang="pl-PL" sz="3200" dirty="0">
                <a:solidFill>
                  <a:schemeClr val="accent5">
                    <a:lumMod val="50000"/>
                  </a:schemeClr>
                </a:solidFill>
              </a:rPr>
              <a:t> </a:t>
            </a:r>
            <a:r>
              <a:rPr lang="pl-PL" sz="3200" dirty="0" err="1">
                <a:solidFill>
                  <a:schemeClr val="accent5">
                    <a:lumMod val="50000"/>
                  </a:schemeClr>
                </a:solidFill>
              </a:rPr>
              <a:t>series</a:t>
            </a:r>
            <a:r>
              <a:rPr lang="pl-PL" sz="3200" dirty="0">
                <a:solidFill>
                  <a:schemeClr val="accent5">
                    <a:lumMod val="50000"/>
                  </a:schemeClr>
                </a:solidFill>
              </a:rPr>
              <a:t> of </a:t>
            </a:r>
            <a:r>
              <a:rPr lang="pl-PL" sz="3200" dirty="0" err="1">
                <a:solidFill>
                  <a:schemeClr val="accent5">
                    <a:lumMod val="50000"/>
                  </a:schemeClr>
                </a:solidFill>
              </a:rPr>
              <a:t>books</a:t>
            </a:r>
            <a:r>
              <a:rPr lang="pl-PL" sz="3200" dirty="0">
                <a:solidFill>
                  <a:schemeClr val="accent5">
                    <a:lumMod val="50000"/>
                  </a:schemeClr>
                </a:solidFill>
              </a:rPr>
              <a:t>, in </a:t>
            </a:r>
            <a:r>
              <a:rPr lang="pl-PL" sz="3200" dirty="0" err="1">
                <a:solidFill>
                  <a:schemeClr val="accent5">
                    <a:lumMod val="50000"/>
                  </a:schemeClr>
                </a:solidFill>
              </a:rPr>
              <a:t>which</a:t>
            </a:r>
            <a:r>
              <a:rPr lang="pl-PL" sz="3200" dirty="0">
                <a:solidFill>
                  <a:schemeClr val="accent5">
                    <a:lumMod val="50000"/>
                  </a:schemeClr>
                </a:solidFill>
              </a:rPr>
              <a:t> he </a:t>
            </a:r>
            <a:r>
              <a:rPr lang="pl-PL" sz="3200" dirty="0" err="1">
                <a:solidFill>
                  <a:schemeClr val="accent5">
                    <a:lumMod val="50000"/>
                  </a:schemeClr>
                </a:solidFill>
              </a:rPr>
              <a:t>showed</a:t>
            </a:r>
            <a:r>
              <a:rPr lang="pl-PL" sz="3200" dirty="0">
                <a:solidFill>
                  <a:schemeClr val="accent5">
                    <a:lumMod val="50000"/>
                  </a:schemeClr>
                </a:solidFill>
              </a:rPr>
              <a:t> the problem of </a:t>
            </a:r>
            <a:r>
              <a:rPr lang="pl-PL" sz="3200" dirty="0" err="1">
                <a:solidFill>
                  <a:schemeClr val="accent5">
                    <a:lumMod val="50000"/>
                  </a:schemeClr>
                </a:solidFill>
              </a:rPr>
              <a:t>risk</a:t>
            </a:r>
            <a:r>
              <a:rPr lang="pl-PL" sz="3200" dirty="0">
                <a:solidFill>
                  <a:schemeClr val="accent5">
                    <a:lumMod val="50000"/>
                  </a:schemeClr>
                </a:solidFill>
              </a:rPr>
              <a:t> and </a:t>
            </a:r>
            <a:r>
              <a:rPr lang="pl-PL" sz="3200" dirty="0" err="1">
                <a:solidFill>
                  <a:schemeClr val="accent5">
                    <a:lumMod val="50000"/>
                  </a:schemeClr>
                </a:solidFill>
              </a:rPr>
              <a:t>ucertentity</a:t>
            </a:r>
            <a:r>
              <a:rPr lang="pl-PL" sz="3200" dirty="0">
                <a:solidFill>
                  <a:schemeClr val="accent5">
                    <a:lumMod val="50000"/>
                  </a:schemeClr>
                </a:solidFill>
              </a:rPr>
              <a:t> in </a:t>
            </a:r>
            <a:r>
              <a:rPr lang="pl-PL" sz="3200" dirty="0" err="1">
                <a:solidFill>
                  <a:schemeClr val="accent5">
                    <a:lumMod val="50000"/>
                  </a:schemeClr>
                </a:solidFill>
              </a:rPr>
              <a:t>our</a:t>
            </a:r>
            <a:r>
              <a:rPr lang="pl-PL" sz="3200" dirty="0">
                <a:solidFill>
                  <a:schemeClr val="accent5">
                    <a:lumMod val="50000"/>
                  </a:schemeClr>
                </a:solidFill>
              </a:rPr>
              <a:t> </a:t>
            </a:r>
            <a:r>
              <a:rPr lang="pl-PL" sz="3200" dirty="0" err="1">
                <a:solidFill>
                  <a:schemeClr val="accent5">
                    <a:lumMod val="50000"/>
                  </a:schemeClr>
                </a:solidFill>
              </a:rPr>
              <a:t>time</a:t>
            </a:r>
            <a:r>
              <a:rPr lang="pl-PL" sz="3200" dirty="0">
                <a:solidFill>
                  <a:schemeClr val="accent5">
                    <a:lumMod val="50000"/>
                  </a:schemeClr>
                </a:solidFill>
              </a:rPr>
              <a:t>. I </a:t>
            </a:r>
            <a:r>
              <a:rPr lang="pl-PL" sz="3200" dirty="0" err="1">
                <a:solidFill>
                  <a:schemeClr val="accent5">
                    <a:lumMod val="50000"/>
                  </a:schemeClr>
                </a:solidFill>
              </a:rPr>
              <a:t>recomend</a:t>
            </a:r>
            <a:r>
              <a:rPr lang="pl-PL" sz="3200" dirty="0">
                <a:solidFill>
                  <a:schemeClr val="accent5">
                    <a:lumMod val="50000"/>
                  </a:schemeClr>
                </a:solidFill>
              </a:rPr>
              <a:t> </a:t>
            </a:r>
            <a:r>
              <a:rPr lang="pl-PL" sz="3200" dirty="0" err="1">
                <a:solidFill>
                  <a:schemeClr val="accent5">
                    <a:lumMod val="50000"/>
                  </a:schemeClr>
                </a:solidFill>
              </a:rPr>
              <a:t>you</a:t>
            </a:r>
            <a:r>
              <a:rPr lang="pl-PL" sz="3200" dirty="0">
                <a:solidFill>
                  <a:schemeClr val="accent5">
                    <a:lumMod val="50000"/>
                  </a:schemeClr>
                </a:solidFill>
              </a:rPr>
              <a:t> </a:t>
            </a:r>
            <a:r>
              <a:rPr lang="pl-PL" sz="3200" dirty="0" err="1">
                <a:solidFill>
                  <a:schemeClr val="accent5">
                    <a:lumMod val="50000"/>
                  </a:schemeClr>
                </a:solidFill>
              </a:rPr>
              <a:t>two</a:t>
            </a:r>
            <a:r>
              <a:rPr lang="pl-PL" sz="3200" dirty="0">
                <a:solidFill>
                  <a:schemeClr val="accent5">
                    <a:lumMod val="50000"/>
                  </a:schemeClr>
                </a:solidFill>
              </a:rPr>
              <a:t> </a:t>
            </a:r>
            <a:r>
              <a:rPr lang="pl-PL" sz="3200" dirty="0" err="1">
                <a:solidFill>
                  <a:schemeClr val="accent5">
                    <a:lumMod val="50000"/>
                  </a:schemeClr>
                </a:solidFill>
              </a:rPr>
              <a:t>moust</a:t>
            </a:r>
            <a:r>
              <a:rPr lang="pl-PL" sz="3200" dirty="0">
                <a:solidFill>
                  <a:schemeClr val="accent5">
                    <a:lumMod val="50000"/>
                  </a:schemeClr>
                </a:solidFill>
              </a:rPr>
              <a:t> </a:t>
            </a:r>
            <a:r>
              <a:rPr lang="pl-PL" sz="3200" dirty="0" err="1">
                <a:solidFill>
                  <a:schemeClr val="accent5">
                    <a:lumMod val="50000"/>
                  </a:schemeClr>
                </a:solidFill>
              </a:rPr>
              <a:t>influential</a:t>
            </a:r>
            <a:r>
              <a:rPr lang="pl-PL" sz="3200" dirty="0">
                <a:solidFill>
                  <a:schemeClr val="accent5">
                    <a:lumMod val="50000"/>
                  </a:schemeClr>
                </a:solidFill>
              </a:rPr>
              <a:t> </a:t>
            </a:r>
            <a:r>
              <a:rPr lang="pl-PL" sz="3200" dirty="0" err="1">
                <a:solidFill>
                  <a:schemeClr val="accent5">
                    <a:lumMod val="50000"/>
                  </a:schemeClr>
                </a:solidFill>
              </a:rPr>
              <a:t>books</a:t>
            </a:r>
            <a:r>
              <a:rPr lang="pl-PL" sz="3200" dirty="0">
                <a:solidFill>
                  <a:schemeClr val="accent5">
                    <a:lumMod val="50000"/>
                  </a:schemeClr>
                </a:solidFill>
              </a:rPr>
              <a:t>: </a:t>
            </a:r>
            <a:endParaRPr lang="en-GB" sz="3200" dirty="0">
              <a:solidFill>
                <a:schemeClr val="accent5">
                  <a:lumMod val="50000"/>
                </a:schemeClr>
              </a:solidFill>
            </a:endParaRPr>
          </a:p>
        </p:txBody>
      </p:sp>
      <p:sp>
        <p:nvSpPr>
          <p:cNvPr id="4" name="AutoShape 2" descr="\Pr(A\land B)\leq \Pr(A)"/>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2715" y="3178548"/>
            <a:ext cx="1014390" cy="156327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32715" y="5013176"/>
            <a:ext cx="1015732" cy="15441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Prostokąt 6"/>
          <p:cNvSpPr/>
          <p:nvPr/>
        </p:nvSpPr>
        <p:spPr>
          <a:xfrm>
            <a:off x="3354704" y="3399393"/>
            <a:ext cx="8368867" cy="3108543"/>
          </a:xfrm>
          <a:prstGeom prst="rect">
            <a:avLst/>
          </a:prstGeom>
        </p:spPr>
        <p:txBody>
          <a:bodyPr wrap="square">
            <a:spAutoFit/>
          </a:bodyPr>
          <a:lstStyle/>
          <a:p>
            <a:pPr algn="just"/>
            <a:r>
              <a:rPr lang="en-GB" sz="2800" dirty="0">
                <a:solidFill>
                  <a:srgbClr val="C00000"/>
                </a:solidFill>
              </a:rPr>
              <a:t>And you should know the concept of fundamental uncertainty which was introduced in economics by Keynes (1921) and Knight (1921). They stressed that we should make a distinction between risk and uncertainty. And you should not assume that the economic processes are ergodic. There is path dependence. </a:t>
            </a:r>
            <a:r>
              <a:rPr lang="pl-PL" sz="2800" dirty="0">
                <a:solidFill>
                  <a:srgbClr val="C00000"/>
                </a:solidFill>
              </a:rPr>
              <a:t>(</a:t>
            </a:r>
            <a:r>
              <a:rPr lang="en-GB" sz="2800" dirty="0">
                <a:solidFill>
                  <a:srgbClr val="C00000"/>
                </a:solidFill>
              </a:rPr>
              <a:t>Experiment </a:t>
            </a:r>
            <a:r>
              <a:rPr lang="pl-PL" sz="2800" dirty="0">
                <a:solidFill>
                  <a:srgbClr val="C00000"/>
                </a:solidFill>
              </a:rPr>
              <a:t>4)</a:t>
            </a:r>
            <a:endParaRPr lang="en-GB" sz="2800" dirty="0">
              <a:solidFill>
                <a:srgbClr val="C00000"/>
              </a:solidFill>
            </a:endParaRPr>
          </a:p>
        </p:txBody>
      </p:sp>
    </p:spTree>
    <p:extLst>
      <p:ext uri="{BB962C8B-B14F-4D97-AF65-F5344CB8AC3E}">
        <p14:creationId xmlns:p14="http://schemas.microsoft.com/office/powerpoint/2010/main" val="3615616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F9A7-1105-D593-8A20-913FF2F2ACF2}"/>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5C1E6B3C-866B-B367-8BC3-C1647BE2924E}"/>
              </a:ext>
            </a:extLst>
          </p:cNvPr>
          <p:cNvSpPr>
            <a:spLocks noGrp="1"/>
          </p:cNvSpPr>
          <p:nvPr>
            <p:ph type="title"/>
          </p:nvPr>
        </p:nvSpPr>
        <p:spPr>
          <a:xfrm>
            <a:off x="0" y="0"/>
            <a:ext cx="12192000" cy="1143000"/>
          </a:xfrm>
          <a:solidFill>
            <a:schemeClr val="accent5">
              <a:lumMod val="20000"/>
              <a:lumOff val="80000"/>
            </a:schemeClr>
          </a:solidFill>
        </p:spPr>
        <p:txBody>
          <a:bodyPr>
            <a:normAutofit/>
          </a:bodyPr>
          <a:lstStyle/>
          <a:p>
            <a:r>
              <a:rPr lang="pl-PL" b="1" i="1" dirty="0" err="1">
                <a:solidFill>
                  <a:schemeClr val="accent5">
                    <a:lumMod val="50000"/>
                  </a:schemeClr>
                </a:solidFill>
              </a:rPr>
              <a:t>Risk</a:t>
            </a:r>
            <a:r>
              <a:rPr lang="pl-PL" b="1" i="1" dirty="0">
                <a:solidFill>
                  <a:schemeClr val="accent5">
                    <a:lumMod val="50000"/>
                  </a:schemeClr>
                </a:solidFill>
              </a:rPr>
              <a:t> , </a:t>
            </a:r>
            <a:r>
              <a:rPr lang="pl-PL" b="1" i="1" dirty="0" err="1">
                <a:solidFill>
                  <a:schemeClr val="accent5">
                    <a:lumMod val="50000"/>
                  </a:schemeClr>
                </a:solidFill>
              </a:rPr>
              <a:t>uncertainty</a:t>
            </a:r>
            <a:r>
              <a:rPr lang="pl-PL" b="1" i="1" dirty="0">
                <a:solidFill>
                  <a:schemeClr val="accent5">
                    <a:lumMod val="50000"/>
                  </a:schemeClr>
                </a:solidFill>
              </a:rPr>
              <a:t>, </a:t>
            </a:r>
            <a:r>
              <a:rPr lang="pl-PL" b="1" i="1" dirty="0" err="1">
                <a:solidFill>
                  <a:schemeClr val="accent5">
                    <a:lumMod val="50000"/>
                  </a:schemeClr>
                </a:solidFill>
              </a:rPr>
              <a:t>randomness</a:t>
            </a:r>
            <a:endParaRPr lang="en-US" b="1" i="1" dirty="0">
              <a:solidFill>
                <a:schemeClr val="accent5">
                  <a:lumMod val="50000"/>
                </a:schemeClr>
              </a:solidFill>
            </a:endParaRPr>
          </a:p>
        </p:txBody>
      </p:sp>
      <p:sp>
        <p:nvSpPr>
          <p:cNvPr id="3" name="Prostokąt 2">
            <a:extLst>
              <a:ext uri="{FF2B5EF4-FFF2-40B4-BE49-F238E27FC236}">
                <a16:creationId xmlns:a16="http://schemas.microsoft.com/office/drawing/2014/main" id="{85DCEDBC-3237-E281-F2E2-5A5402C2B919}"/>
              </a:ext>
            </a:extLst>
          </p:cNvPr>
          <p:cNvSpPr/>
          <p:nvPr/>
        </p:nvSpPr>
        <p:spPr>
          <a:xfrm>
            <a:off x="243840" y="1143000"/>
            <a:ext cx="11704320" cy="5570756"/>
          </a:xfrm>
          <a:prstGeom prst="rect">
            <a:avLst/>
          </a:prstGeom>
        </p:spPr>
        <p:txBody>
          <a:bodyPr wrap="square">
            <a:spAutoFit/>
          </a:bodyPr>
          <a:lstStyle/>
          <a:p>
            <a:pPr algn="just"/>
            <a:r>
              <a:rPr lang="en-US" sz="3600" dirty="0">
                <a:solidFill>
                  <a:schemeClr val="accent5">
                    <a:lumMod val="50000"/>
                  </a:schemeClr>
                </a:solidFill>
              </a:rPr>
              <a:t>To achieve the goals, I divided the lecture into four parts:</a:t>
            </a:r>
          </a:p>
          <a:p>
            <a:pPr marL="742950" indent="-742950" algn="just">
              <a:buFont typeface="+mj-lt"/>
              <a:buAutoNum type="arabicPeriod"/>
            </a:pPr>
            <a:r>
              <a:rPr lang="en-US" sz="3200" dirty="0">
                <a:solidFill>
                  <a:schemeClr val="accent5">
                    <a:lumMod val="50000"/>
                  </a:schemeClr>
                </a:solidFill>
              </a:rPr>
              <a:t>Microeconomic theory vs experimental results: </a:t>
            </a:r>
            <a:r>
              <a:rPr lang="en-US" sz="3200" dirty="0" err="1">
                <a:solidFill>
                  <a:schemeClr val="accent5">
                    <a:lumMod val="50000"/>
                  </a:schemeClr>
                </a:solidFill>
              </a:rPr>
              <a:t>i</a:t>
            </a:r>
            <a:r>
              <a:rPr lang="en-US" sz="3200" dirty="0">
                <a:solidFill>
                  <a:schemeClr val="accent5">
                    <a:lumMod val="50000"/>
                  </a:schemeClr>
                </a:solidFill>
              </a:rPr>
              <a:t>) how can we play with your perception of probability and risk, ii) are you really a risk-averse person? </a:t>
            </a:r>
          </a:p>
          <a:p>
            <a:pPr marL="742950" indent="-742950" algn="just">
              <a:buFont typeface="+mj-lt"/>
              <a:buAutoNum type="arabicPeriod"/>
            </a:pPr>
            <a:r>
              <a:rPr lang="en-US" sz="3200" dirty="0">
                <a:solidFill>
                  <a:schemeClr val="accent5">
                    <a:lumMod val="50000"/>
                  </a:schemeClr>
                </a:solidFill>
              </a:rPr>
              <a:t>How we deal with time and risk; My feeling: a new approach, </a:t>
            </a:r>
            <a:r>
              <a:rPr lang="pl-PL" sz="3200" dirty="0">
                <a:solidFill>
                  <a:schemeClr val="accent5">
                    <a:lumMod val="50000"/>
                  </a:schemeClr>
                </a:solidFill>
              </a:rPr>
              <a:t>n</a:t>
            </a:r>
            <a:r>
              <a:rPr lang="en-US" sz="3200" dirty="0">
                <a:solidFill>
                  <a:schemeClr val="accent5">
                    <a:lumMod val="50000"/>
                  </a:schemeClr>
                </a:solidFill>
              </a:rPr>
              <a:t>on</a:t>
            </a:r>
            <a:r>
              <a:rPr lang="pl-PL" sz="3200" dirty="0">
                <a:solidFill>
                  <a:schemeClr val="accent5">
                    <a:lumMod val="50000"/>
                  </a:schemeClr>
                </a:solidFill>
              </a:rPr>
              <a:t>-e</a:t>
            </a:r>
            <a:r>
              <a:rPr lang="en-US" sz="3200" dirty="0" err="1">
                <a:solidFill>
                  <a:schemeClr val="accent5">
                    <a:lumMod val="50000"/>
                  </a:schemeClr>
                </a:solidFill>
              </a:rPr>
              <a:t>rgodic</a:t>
            </a:r>
            <a:r>
              <a:rPr lang="en-US" sz="3200" dirty="0">
                <a:solidFill>
                  <a:schemeClr val="accent5">
                    <a:lumMod val="50000"/>
                  </a:schemeClr>
                </a:solidFill>
              </a:rPr>
              <a:t> revolution is coming. </a:t>
            </a:r>
          </a:p>
          <a:p>
            <a:pPr marL="742950" indent="-742950" algn="just">
              <a:buFont typeface="+mj-lt"/>
              <a:buAutoNum type="arabicPeriod"/>
            </a:pPr>
            <a:r>
              <a:rPr lang="en-US" sz="3200" dirty="0">
                <a:solidFill>
                  <a:schemeClr val="accent5">
                    <a:lumMod val="50000"/>
                  </a:schemeClr>
                </a:solidFill>
              </a:rPr>
              <a:t>How to deal with risk and  [uncertainty] Monte Carlo simulation, Value at Risk, different measures of risk</a:t>
            </a:r>
            <a:r>
              <a:rPr lang="pl-PL" sz="3200" dirty="0">
                <a:solidFill>
                  <a:schemeClr val="accent5">
                    <a:lumMod val="50000"/>
                  </a:schemeClr>
                </a:solidFill>
              </a:rPr>
              <a:t> </a:t>
            </a:r>
            <a:r>
              <a:rPr lang="pl-PL" sz="3200" dirty="0" err="1">
                <a:solidFill>
                  <a:schemeClr val="accent5">
                    <a:lumMod val="50000"/>
                  </a:schemeClr>
                </a:solidFill>
              </a:rPr>
              <a:t>entropy</a:t>
            </a:r>
            <a:r>
              <a:rPr lang="pl-PL" sz="3200" dirty="0">
                <a:solidFill>
                  <a:schemeClr val="accent5">
                    <a:lumMod val="50000"/>
                  </a:schemeClr>
                </a:solidFill>
              </a:rPr>
              <a:t> </a:t>
            </a:r>
            <a:r>
              <a:rPr lang="en-US" sz="3200" dirty="0">
                <a:solidFill>
                  <a:schemeClr val="accent5">
                    <a:lumMod val="50000"/>
                  </a:schemeClr>
                </a:solidFill>
              </a:rPr>
              <a:t>/ Bootstrap / Markov Chains, Models, and their applications. </a:t>
            </a:r>
          </a:p>
          <a:p>
            <a:pPr marL="742950" indent="-742950" algn="just">
              <a:buFont typeface="+mj-lt"/>
              <a:buAutoNum type="arabicPeriod"/>
            </a:pPr>
            <a:r>
              <a:rPr lang="en-US" sz="3200" dirty="0">
                <a:solidFill>
                  <a:schemeClr val="accent5">
                    <a:lumMod val="50000"/>
                  </a:schemeClr>
                </a:solidFill>
              </a:rPr>
              <a:t>System Dynamics and Agent-based Computational Economics  Between Deterministic Chaos and Real Modelling of Uncertainty.</a:t>
            </a:r>
            <a:endParaRPr lang="pl-PL" sz="2800" dirty="0">
              <a:solidFill>
                <a:schemeClr val="accent5">
                  <a:lumMod val="50000"/>
                </a:schemeClr>
              </a:solidFill>
            </a:endParaRPr>
          </a:p>
        </p:txBody>
      </p:sp>
      <p:sp>
        <p:nvSpPr>
          <p:cNvPr id="4" name="AutoShape 2" descr="\Pr(A\land B)\leq \Pr(A)">
            <a:extLst>
              <a:ext uri="{FF2B5EF4-FFF2-40B4-BE49-F238E27FC236}">
                <a16:creationId xmlns:a16="http://schemas.microsoft.com/office/drawing/2014/main" id="{F269199C-1728-3452-82D4-C4052F121FDC}"/>
              </a:ext>
            </a:extLst>
          </p:cNvPr>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Tree>
    <p:extLst>
      <p:ext uri="{BB962C8B-B14F-4D97-AF65-F5344CB8AC3E}">
        <p14:creationId xmlns:p14="http://schemas.microsoft.com/office/powerpoint/2010/main" val="219752674"/>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796</TotalTime>
  <Words>1157</Words>
  <Application>Microsoft Office PowerPoint</Application>
  <PresentationFormat>Widescreen</PresentationFormat>
  <Paragraphs>65</Paragraphs>
  <Slides>12</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Motyw pakietu Office</vt:lpstr>
      <vt:lpstr>1_Motyw pakietu Office</vt:lpstr>
      <vt:lpstr>PowerPoint Presentation</vt:lpstr>
      <vt:lpstr>Risk , uncertainty, randomness</vt:lpstr>
      <vt:lpstr>Risk , uncertainty, randomness</vt:lpstr>
      <vt:lpstr>Risk , uncertainty, randomness</vt:lpstr>
      <vt:lpstr>Risk , uncertainty, randomness</vt:lpstr>
      <vt:lpstr>Risk , uncertainty, randomness</vt:lpstr>
      <vt:lpstr>Risk , uncertainty, randomness</vt:lpstr>
      <vt:lpstr>Risk , uncertainty, randomness</vt:lpstr>
      <vt:lpstr>Risk , uncertainty, randomness</vt:lpstr>
      <vt:lpstr>Logic and statistical thinking</vt:lpstr>
      <vt:lpstr>Risk , uncertainty, randomness</vt:lpstr>
      <vt:lpstr>Risk , uncertainty, randomness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Tomasz Kopczewski</dc:creator>
  <cp:lastModifiedBy>Tomasz Kopczewski</cp:lastModifiedBy>
  <cp:revision>27</cp:revision>
  <dcterms:created xsi:type="dcterms:W3CDTF">2020-01-16T08:23:33Z</dcterms:created>
  <dcterms:modified xsi:type="dcterms:W3CDTF">2025-12-12T15:38:50Z</dcterms:modified>
</cp:coreProperties>
</file>