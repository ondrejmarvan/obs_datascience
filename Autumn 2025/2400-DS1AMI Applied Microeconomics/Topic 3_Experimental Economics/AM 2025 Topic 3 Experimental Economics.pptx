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7"/>
  </p:notesMasterIdLst>
  <p:sldIdLst>
    <p:sldId id="260" r:id="rId3"/>
    <p:sldId id="261" r:id="rId4"/>
    <p:sldId id="262" r:id="rId5"/>
    <p:sldId id="264" r:id="rId6"/>
    <p:sldId id="265" r:id="rId7"/>
    <p:sldId id="273" r:id="rId8"/>
    <p:sldId id="267" r:id="rId9"/>
    <p:sldId id="274" r:id="rId10"/>
    <p:sldId id="269" r:id="rId11"/>
    <p:sldId id="270" r:id="rId12"/>
    <p:sldId id="271" r:id="rId13"/>
    <p:sldId id="395" r:id="rId14"/>
    <p:sldId id="258" r:id="rId15"/>
    <p:sldId id="332" r:id="rId16"/>
    <p:sldId id="333" r:id="rId17"/>
    <p:sldId id="334" r:id="rId18"/>
    <p:sldId id="400" r:id="rId19"/>
    <p:sldId id="385" r:id="rId20"/>
    <p:sldId id="300" r:id="rId21"/>
    <p:sldId id="302" r:id="rId22"/>
    <p:sldId id="305" r:id="rId23"/>
    <p:sldId id="413" r:id="rId24"/>
    <p:sldId id="259" r:id="rId25"/>
    <p:sldId id="287" r:id="rId26"/>
    <p:sldId id="288" r:id="rId27"/>
    <p:sldId id="401" r:id="rId28"/>
    <p:sldId id="402" r:id="rId29"/>
    <p:sldId id="403" r:id="rId30"/>
    <p:sldId id="404" r:id="rId31"/>
    <p:sldId id="405" r:id="rId32"/>
    <p:sldId id="266" r:id="rId33"/>
    <p:sldId id="289" r:id="rId34"/>
    <p:sldId id="314" r:id="rId35"/>
    <p:sldId id="406" r:id="rId36"/>
    <p:sldId id="407" r:id="rId37"/>
    <p:sldId id="290" r:id="rId38"/>
    <p:sldId id="291" r:id="rId39"/>
    <p:sldId id="292" r:id="rId40"/>
    <p:sldId id="317" r:id="rId41"/>
    <p:sldId id="293" r:id="rId42"/>
    <p:sldId id="408" r:id="rId43"/>
    <p:sldId id="409" r:id="rId44"/>
    <p:sldId id="272" r:id="rId45"/>
    <p:sldId id="296" r:id="rId46"/>
    <p:sldId id="410" r:id="rId47"/>
    <p:sldId id="346" r:id="rId48"/>
    <p:sldId id="411" r:id="rId49"/>
    <p:sldId id="275" r:id="rId50"/>
    <p:sldId id="276" r:id="rId51"/>
    <p:sldId id="277" r:id="rId52"/>
    <p:sldId id="278" r:id="rId53"/>
    <p:sldId id="280" r:id="rId54"/>
    <p:sldId id="281" r:id="rId55"/>
    <p:sldId id="282" r:id="rId56"/>
    <p:sldId id="294" r:id="rId57"/>
    <p:sldId id="284" r:id="rId58"/>
    <p:sldId id="412" r:id="rId59"/>
    <p:sldId id="414" r:id="rId60"/>
    <p:sldId id="415" r:id="rId61"/>
    <p:sldId id="335" r:id="rId62"/>
    <p:sldId id="389" r:id="rId63"/>
    <p:sldId id="336" r:id="rId64"/>
    <p:sldId id="343" r:id="rId65"/>
    <p:sldId id="342" r:id="rId66"/>
    <p:sldId id="338" r:id="rId67"/>
    <p:sldId id="355" r:id="rId68"/>
    <p:sldId id="340" r:id="rId69"/>
    <p:sldId id="344" r:id="rId70"/>
    <p:sldId id="394" r:id="rId71"/>
    <p:sldId id="388" r:id="rId72"/>
    <p:sldId id="339" r:id="rId73"/>
    <p:sldId id="387" r:id="rId74"/>
    <p:sldId id="341" r:id="rId75"/>
    <p:sldId id="295" r:id="rId7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Styl pośredni 4 — Ak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94660"/>
  </p:normalViewPr>
  <p:slideViewPr>
    <p:cSldViewPr snapToGrid="0">
      <p:cViewPr varScale="1">
        <p:scale>
          <a:sx n="79" d="100"/>
          <a:sy n="79"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D8144-41C2-4574-B65C-374755D499C6}" type="datetimeFigureOut">
              <a:rPr lang="pl-PL" smtClean="0"/>
              <a:t>06.11.2025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9844C9-D159-4AB4-960E-3D5D8C0C18AB}" type="slidenum">
              <a:rPr lang="pl-PL" smtClean="0"/>
              <a:t>‹#›</a:t>
            </a:fld>
            <a:endParaRPr lang="pl-PL"/>
          </a:p>
        </p:txBody>
      </p:sp>
    </p:spTree>
    <p:extLst>
      <p:ext uri="{BB962C8B-B14F-4D97-AF65-F5344CB8AC3E}">
        <p14:creationId xmlns:p14="http://schemas.microsoft.com/office/powerpoint/2010/main" val="1456788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710407" y="4861441"/>
            <a:ext cx="5683250" cy="4605576"/>
          </a:xfrm>
          <a:prstGeom prst="rect">
            <a:avLst/>
          </a:prstGeom>
          <a:noFill/>
          <a:ln>
            <a:noFill/>
          </a:ln>
        </p:spPr>
      </p:sp>
      <p:sp>
        <p:nvSpPr>
          <p:cNvPr id="156" name="CustomShape 2"/>
          <p:cNvSpPr/>
          <p:nvPr/>
        </p:nvSpPr>
        <p:spPr>
          <a:xfrm>
            <a:off x="4024144" y="9721270"/>
            <a:ext cx="3078427" cy="511731"/>
          </a:xfrm>
          <a:noFill/>
          <a:ln>
            <a:noFill/>
          </a:ln>
        </p:spPr>
        <p:style>
          <a:lnRef idx="0">
            <a:scrgbClr r="0" g="0" b="0"/>
          </a:lnRef>
          <a:fillRef idx="0">
            <a:scrgbClr r="0" g="0" b="0"/>
          </a:fillRef>
          <a:effectRef idx="0">
            <a:scrgbClr r="0" g="0" b="0"/>
          </a:effectRef>
          <a:fontRef idx="minor"/>
        </p:style>
        <p:txBody>
          <a:bodyPr lIns="97515" tIns="50708" rIns="97515" bIns="50708" anchor="b"/>
          <a:lstStyle/>
          <a:p>
            <a:pPr algn="r"/>
            <a:fld id="{2BF4C38F-350D-4F27-90DB-48D8DDCA7592}" type="slidenum">
              <a:rPr lang="pl-PL" sz="1300" spc="-1">
                <a:latin typeface="Calibri"/>
              </a:rPr>
              <a:t>1</a:t>
            </a:fld>
            <a:endParaRPr/>
          </a:p>
        </p:txBody>
      </p:sp>
    </p:spTree>
    <p:extLst>
      <p:ext uri="{BB962C8B-B14F-4D97-AF65-F5344CB8AC3E}">
        <p14:creationId xmlns:p14="http://schemas.microsoft.com/office/powerpoint/2010/main" val="3541796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068070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Symbol zastępczy notatek 2"/>
          <p:cNvSpPr>
            <a:spLocks noGrp="1"/>
          </p:cNvSpPr>
          <p:nvPr>
            <p:ph type="body" idx="1"/>
          </p:nvPr>
        </p:nvSpPr>
        <p:spPr bwMode="auto">
          <a:xfrm>
            <a:off x="685962" y="4343510"/>
            <a:ext cx="5486078" cy="411428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1531497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ymbol zastępczy obrazu slajdu 1"/>
          <p:cNvSpPr>
            <a:spLocks noGrp="1" noRot="1" noChangeAspect="1"/>
          </p:cNvSpPr>
          <p:nvPr>
            <p:ph type="sldImg"/>
          </p:nvPr>
        </p:nvSpPr>
        <p:spPr bwMode="auto">
          <a:xfrm>
            <a:off x="381000" y="685800"/>
            <a:ext cx="6096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Symbol zastępczy notatek 2"/>
          <p:cNvSpPr>
            <a:spLocks noGrp="1"/>
          </p:cNvSpPr>
          <p:nvPr>
            <p:ph type="body" idx="1"/>
          </p:nvPr>
        </p:nvSpPr>
        <p:spPr bwMode="auto">
          <a:xfrm>
            <a:off x="685962" y="4343510"/>
            <a:ext cx="5486078" cy="411428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pl-PL" altLang="pl-PL"/>
          </a:p>
        </p:txBody>
      </p:sp>
    </p:spTree>
    <p:extLst>
      <p:ext uri="{BB962C8B-B14F-4D97-AF65-F5344CB8AC3E}">
        <p14:creationId xmlns:p14="http://schemas.microsoft.com/office/powerpoint/2010/main" val="256339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567223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923532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3335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8210528F-C2B8-4CC0-A1C9-6AB5A610CA72}" type="datetimeFigureOut">
              <a:rPr lang="pl-PL" smtClean="0"/>
              <a:t>06.11.2025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7052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210528F-C2B8-4CC0-A1C9-6AB5A610CA72}" type="datetimeFigureOut">
              <a:rPr lang="pl-PL" smtClean="0"/>
              <a:t>06.11.2025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619017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8210528F-C2B8-4CC0-A1C9-6AB5A610CA72}" type="datetimeFigureOut">
              <a:rPr lang="pl-PL" smtClean="0"/>
              <a:t>06.11.2025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3497154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8210528F-C2B8-4CC0-A1C9-6AB5A610CA72}" type="datetimeFigureOut">
              <a:rPr lang="pl-PL" smtClean="0"/>
              <a:t>06.11.2025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38175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8210528F-C2B8-4CC0-A1C9-6AB5A610CA72}" type="datetimeFigureOut">
              <a:rPr lang="pl-PL" smtClean="0"/>
              <a:t>06.11.2025</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78390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8210528F-C2B8-4CC0-A1C9-6AB5A610CA72}" type="datetimeFigureOut">
              <a:rPr lang="pl-PL" smtClean="0"/>
              <a:t>06.11.2025</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821639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8210528F-C2B8-4CC0-A1C9-6AB5A610CA72}" type="datetimeFigureOut">
              <a:rPr lang="pl-PL" smtClean="0"/>
              <a:t>06.11.2025</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401715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8210528F-C2B8-4CC0-A1C9-6AB5A610CA72}" type="datetimeFigureOut">
              <a:rPr lang="pl-PL" smtClean="0"/>
              <a:t>06.11.2025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3657798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8210528F-C2B8-4CC0-A1C9-6AB5A610CA72}" type="datetimeFigureOut">
              <a:rPr lang="pl-PL" smtClean="0"/>
              <a:t>06.11.2025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3786388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210528F-C2B8-4CC0-A1C9-6AB5A610CA72}" type="datetimeFigureOut">
              <a:rPr lang="pl-PL" smtClean="0"/>
              <a:t>06.11.2025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1339359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210528F-C2B8-4CC0-A1C9-6AB5A610CA72}" type="datetimeFigureOut">
              <a:rPr lang="pl-PL" smtClean="0"/>
              <a:t>06.11.2025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AE1F09BB-4355-43C0-8949-BA43BBCAB38F}" type="slidenum">
              <a:rPr lang="pl-PL" smtClean="0"/>
              <a:t>‹#›</a:t>
            </a:fld>
            <a:endParaRPr lang="pl-PL"/>
          </a:p>
        </p:txBody>
      </p:sp>
    </p:spTree>
    <p:extLst>
      <p:ext uri="{BB962C8B-B14F-4D97-AF65-F5344CB8AC3E}">
        <p14:creationId xmlns:p14="http://schemas.microsoft.com/office/powerpoint/2010/main" val="8147470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endParaRPr lang="en-GB"/>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GB"/>
          </a:p>
        </p:txBody>
      </p:sp>
      <p:sp>
        <p:nvSpPr>
          <p:cNvPr id="4" name="Symbol zastępczy daty 3"/>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334841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04662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endParaRPr lang="en-GB"/>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39641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51851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endParaRPr lang="en-GB"/>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8" name="Symbol zastępczy stopki 7"/>
          <p:cNvSpPr>
            <a:spLocks noGrp="1"/>
          </p:cNvSpPr>
          <p:nvPr>
            <p:ph type="ftr" sz="quarter" idx="11"/>
          </p:nvPr>
        </p:nvSpPr>
        <p:spPr/>
        <p:txBody>
          <a:bodyPr/>
          <a:lstStyle/>
          <a:p>
            <a:endParaRPr lang="en-GB">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753528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daty 2"/>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4" name="Symbol zastępczy stopki 3"/>
          <p:cNvSpPr>
            <a:spLocks noGrp="1"/>
          </p:cNvSpPr>
          <p:nvPr>
            <p:ph type="ftr" sz="quarter" idx="11"/>
          </p:nvPr>
        </p:nvSpPr>
        <p:spPr/>
        <p:txBody>
          <a:bodyPr/>
          <a:lstStyle/>
          <a:p>
            <a:endParaRPr lang="en-GB">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2140075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3" name="Symbol zastępczy stopki 2"/>
          <p:cNvSpPr>
            <a:spLocks noGrp="1"/>
          </p:cNvSpPr>
          <p:nvPr>
            <p:ph type="ftr" sz="quarter" idx="11"/>
          </p:nvPr>
        </p:nvSpPr>
        <p:spPr/>
        <p:txBody>
          <a:bodyPr/>
          <a:lstStyle/>
          <a:p>
            <a:endParaRPr lang="en-GB">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208773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endParaRPr lang="en-GB"/>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62711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endParaRPr lang="en-GB"/>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580364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952387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endParaRPr lang="en-GB"/>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43874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10528F-C2B8-4CC0-A1C9-6AB5A610CA72}" type="datetimeFigureOut">
              <a:rPr lang="pl-PL" smtClean="0"/>
              <a:t>06.11.2025</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1F09BB-4355-43C0-8949-BA43BBCAB38F}" type="slidenum">
              <a:rPr lang="pl-PL" smtClean="0"/>
              <a:t>‹#›</a:t>
            </a:fld>
            <a:endParaRPr lang="pl-PL"/>
          </a:p>
        </p:txBody>
      </p:sp>
    </p:spTree>
    <p:extLst>
      <p:ext uri="{BB962C8B-B14F-4D97-AF65-F5344CB8AC3E}">
        <p14:creationId xmlns:p14="http://schemas.microsoft.com/office/powerpoint/2010/main" val="631188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6FF5EB-43CC-4AD0-A9EF-C27F2E66BC6F}" type="datetimeFigureOut">
              <a:rPr lang="en-GB" smtClean="0">
                <a:solidFill>
                  <a:prstClr val="black">
                    <a:tint val="75000"/>
                  </a:prstClr>
                </a:solidFill>
              </a:rPr>
              <a:pPr/>
              <a:t>06/11/2025</a:t>
            </a:fld>
            <a:endParaRPr lang="en-GB">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A92738-707C-4930-8CA8-5A41DB750CD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806796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economics.stanford.edu/sites/default/files/eerp_sci_camerer_published_mainplussom_2016-1.pdf"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hyperlink" Target="http://ccl.northwestern.edu/netlogo/models/run.cgi?PDN-PersonIterated.759.578" TargetMode="External"/><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0.png"/><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64.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image" Target="../media/image360.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stomShape 1"/>
          <p:cNvSpPr/>
          <p:nvPr/>
        </p:nvSpPr>
        <p:spPr>
          <a:xfrm>
            <a:off x="1989120" y="1989000"/>
            <a:ext cx="8101080" cy="411588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algn="ctr"/>
            <a:r>
              <a:rPr lang="en-US" sz="4400" b="1" i="1" spc="-1" dirty="0">
                <a:solidFill>
                  <a:srgbClr val="215968"/>
                </a:solidFill>
                <a:latin typeface="Calibri"/>
              </a:rPr>
              <a:t>Applied</a:t>
            </a:r>
            <a:r>
              <a:rPr lang="pl-PL" sz="4400" b="1" i="1" spc="-1" dirty="0">
                <a:solidFill>
                  <a:srgbClr val="215968"/>
                </a:solidFill>
                <a:latin typeface="Calibri"/>
              </a:rPr>
              <a:t>/Advanced</a:t>
            </a:r>
            <a:r>
              <a:rPr lang="en-US" sz="4400" b="1" i="1" spc="-1" dirty="0">
                <a:solidFill>
                  <a:srgbClr val="215968"/>
                </a:solidFill>
                <a:latin typeface="Calibri"/>
              </a:rPr>
              <a:t> microeconomics – experimental and computational approach</a:t>
            </a:r>
            <a:endParaRPr dirty="0"/>
          </a:p>
          <a:p>
            <a:pPr algn="ctr"/>
            <a:r>
              <a:rPr lang="pl-PL" sz="4400" b="1" i="1" spc="-1" dirty="0">
                <a:solidFill>
                  <a:srgbClr val="215968"/>
                </a:solidFill>
                <a:latin typeface="Calibri"/>
              </a:rPr>
              <a:t> </a:t>
            </a:r>
            <a:endParaRPr dirty="0"/>
          </a:p>
          <a:p>
            <a:pPr algn="ctr"/>
            <a:r>
              <a:rPr lang="en-US" sz="4400" b="1" i="1" spc="-1" dirty="0">
                <a:solidFill>
                  <a:srgbClr val="215968"/>
                </a:solidFill>
                <a:latin typeface="Calibri"/>
              </a:rPr>
              <a:t>Topic </a:t>
            </a:r>
            <a:r>
              <a:rPr lang="pl-PL" sz="4400" b="1" i="1" spc="-1" dirty="0">
                <a:solidFill>
                  <a:srgbClr val="215968"/>
                </a:solidFill>
                <a:latin typeface="Calibri"/>
              </a:rPr>
              <a:t>3</a:t>
            </a:r>
            <a:r>
              <a:rPr lang="en-US" sz="4400" b="1" i="1" spc="-1" dirty="0">
                <a:solidFill>
                  <a:srgbClr val="215968"/>
                </a:solidFill>
                <a:latin typeface="Calibri"/>
              </a:rPr>
              <a:t> </a:t>
            </a:r>
            <a:endParaRPr dirty="0"/>
          </a:p>
          <a:p>
            <a:pPr algn="ctr"/>
            <a:r>
              <a:rPr lang="pl-PL" sz="4400" b="1" i="1" spc="-1" dirty="0" err="1">
                <a:solidFill>
                  <a:srgbClr val="215968"/>
                </a:solidFill>
                <a:latin typeface="Calibri"/>
              </a:rPr>
              <a:t>Experimental</a:t>
            </a:r>
            <a:r>
              <a:rPr lang="pl-PL" sz="4400" b="1" i="1" spc="-1" dirty="0">
                <a:solidFill>
                  <a:srgbClr val="215968"/>
                </a:solidFill>
                <a:latin typeface="Calibri"/>
              </a:rPr>
              <a:t> </a:t>
            </a:r>
            <a:r>
              <a:rPr lang="pl-PL" sz="4400" b="1" i="1" spc="-1" dirty="0" err="1">
                <a:solidFill>
                  <a:srgbClr val="215968"/>
                </a:solidFill>
                <a:latin typeface="Calibri"/>
              </a:rPr>
              <a:t>economics</a:t>
            </a:r>
            <a:r>
              <a:rPr lang="pl-PL" sz="4400" b="1" i="1" spc="-1" dirty="0">
                <a:solidFill>
                  <a:srgbClr val="215968"/>
                </a:solidFill>
                <a:latin typeface="Calibri"/>
              </a:rPr>
              <a:t> </a:t>
            </a:r>
            <a:endParaRPr dirty="0"/>
          </a:p>
        </p:txBody>
      </p:sp>
      <p:sp>
        <p:nvSpPr>
          <p:cNvPr id="46" name="CustomShape 2"/>
          <p:cNvSpPr/>
          <p:nvPr/>
        </p:nvSpPr>
        <p:spPr>
          <a:xfrm>
            <a:off x="1716240" y="696960"/>
            <a:ext cx="8616960" cy="72072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r>
              <a:rPr lang="pl-PL" sz="3200" b="1" spc="-1">
                <a:solidFill>
                  <a:srgbClr val="FFFFFF"/>
                </a:solidFill>
                <a:latin typeface="Calibri"/>
              </a:rPr>
              <a:t>WNE UW</a:t>
            </a:r>
            <a:endParaRPr/>
          </a:p>
        </p:txBody>
      </p:sp>
      <p:pic>
        <p:nvPicPr>
          <p:cNvPr id="47" name="Picture 3"/>
          <p:cNvPicPr/>
          <p:nvPr/>
        </p:nvPicPr>
        <p:blipFill>
          <a:blip r:embed="rId3"/>
          <a:stretch/>
        </p:blipFill>
        <p:spPr>
          <a:xfrm>
            <a:off x="7536000" y="247680"/>
            <a:ext cx="2338200" cy="189864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828435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latin typeface="Calibri"/>
              </a:rPr>
              <a:t>Why</a:t>
            </a:r>
            <a:r>
              <a:rPr lang="pl-PL" sz="4400" b="1" i="1" spc="-1" dirty="0">
                <a:solidFill>
                  <a:srgbClr val="215968"/>
                </a:solidFill>
                <a:latin typeface="Calibri"/>
              </a:rPr>
              <a:t> </a:t>
            </a:r>
            <a:r>
              <a:rPr lang="pl-PL" sz="4400" b="1" i="1" spc="-1" dirty="0" err="1">
                <a:solidFill>
                  <a:srgbClr val="215968"/>
                </a:solidFill>
                <a:latin typeface="Calibri"/>
              </a:rPr>
              <a:t>experiemental</a:t>
            </a:r>
            <a:r>
              <a:rPr lang="pl-PL" sz="4400" b="1" i="1" spc="-1" dirty="0">
                <a:solidFill>
                  <a:srgbClr val="215968"/>
                </a:solidFill>
                <a:latin typeface="Calibri"/>
              </a:rPr>
              <a:t> </a:t>
            </a:r>
            <a:r>
              <a:rPr lang="pl-PL" sz="4400" b="1" i="1" spc="-1" dirty="0" err="1">
                <a:solidFill>
                  <a:srgbClr val="215968"/>
                </a:solidFill>
                <a:latin typeface="Calibri"/>
              </a:rPr>
              <a:t>economics</a:t>
            </a:r>
            <a:r>
              <a:rPr lang="pl-PL" sz="4400" b="1" i="1" spc="-1" dirty="0">
                <a:solidFill>
                  <a:srgbClr val="215968"/>
                </a:solidFill>
                <a:latin typeface="Calibri"/>
              </a:rPr>
              <a:t>?</a:t>
            </a:r>
            <a:endParaRPr lang="en-GB" sz="3200" b="1" i="1" dirty="0"/>
          </a:p>
        </p:txBody>
      </p:sp>
      <p:sp>
        <p:nvSpPr>
          <p:cNvPr id="49" name="TextShape 2"/>
          <p:cNvSpPr txBox="1"/>
          <p:nvPr/>
        </p:nvSpPr>
        <p:spPr>
          <a:xfrm>
            <a:off x="129308" y="1670421"/>
            <a:ext cx="11933382" cy="4586000"/>
          </a:xfrm>
          <a:prstGeom prst="rect">
            <a:avLst/>
          </a:prstGeom>
          <a:noFill/>
          <a:ln>
            <a:noFill/>
          </a:ln>
        </p:spPr>
        <p:txBody>
          <a:bodyPr/>
          <a:lstStyle/>
          <a:p>
            <a:pPr algn="ctr"/>
            <a:r>
              <a:rPr lang="en-US" sz="3200" spc="-1" dirty="0">
                <a:solidFill>
                  <a:srgbClr val="215968"/>
                </a:solidFill>
                <a:latin typeface="Calibri" panose="020F0502020204030204" pitchFamily="34" charset="0"/>
                <a:cs typeface="Calibri" panose="020F0502020204030204" pitchFamily="34" charset="0"/>
              </a:rPr>
              <a:t>Answer 1: There is a lot of fun to conduct experiments - for students and researchers. </a:t>
            </a:r>
          </a:p>
          <a:p>
            <a:pPr algn="ctr"/>
            <a:endParaRPr lang="en-US" sz="3200" spc="-1" dirty="0">
              <a:solidFill>
                <a:srgbClr val="215968"/>
              </a:solidFill>
              <a:latin typeface="Calibri" panose="020F0502020204030204" pitchFamily="34" charset="0"/>
              <a:cs typeface="Calibri" panose="020F0502020204030204" pitchFamily="34" charset="0"/>
            </a:endParaRPr>
          </a:p>
          <a:p>
            <a:pPr algn="ctr"/>
            <a:r>
              <a:rPr lang="en-US" sz="3200" spc="-1" dirty="0">
                <a:solidFill>
                  <a:srgbClr val="215968"/>
                </a:solidFill>
                <a:latin typeface="Calibri" panose="020F0502020204030204" pitchFamily="34" charset="0"/>
                <a:cs typeface="Calibri" panose="020F0502020204030204" pitchFamily="34" charset="0"/>
              </a:rPr>
              <a:t>„Taking a course in experimental economics is a little like going to dinner at a cannibal's house. Sometimes you will be the diner; sometimes you will be part of the dinner, sometimes both.” </a:t>
            </a:r>
          </a:p>
          <a:p>
            <a:pPr algn="ctr"/>
            <a:r>
              <a:rPr lang="en-US" sz="3200" spc="-1" dirty="0">
                <a:solidFill>
                  <a:srgbClr val="215968"/>
                </a:solidFill>
                <a:latin typeface="Calibri" panose="020F0502020204030204" pitchFamily="34" charset="0"/>
                <a:cs typeface="Calibri" panose="020F0502020204030204" pitchFamily="34" charset="0"/>
              </a:rPr>
              <a:t>(Bergstrom &amp; Miller, Experiments with Economic Principles)</a:t>
            </a:r>
          </a:p>
          <a:p>
            <a:pPr algn="ctr"/>
            <a:endParaRPr lang="en-US" sz="3200" spc="-1" dirty="0">
              <a:solidFill>
                <a:srgbClr val="215968"/>
              </a:solidFill>
              <a:latin typeface="Calibri" panose="020F0502020204030204" pitchFamily="34" charset="0"/>
              <a:cs typeface="Calibri" panose="020F0502020204030204" pitchFamily="34" charset="0"/>
            </a:endParaRPr>
          </a:p>
          <a:p>
            <a:pPr algn="ctr"/>
            <a:r>
              <a:rPr lang="en-US" sz="3200" spc="-1" dirty="0">
                <a:solidFill>
                  <a:srgbClr val="215968"/>
                </a:solidFill>
                <a:latin typeface="Calibri" panose="020F0502020204030204" pitchFamily="34" charset="0"/>
                <a:cs typeface="Calibri" panose="020F0502020204030204" pitchFamily="34" charset="0"/>
              </a:rPr>
              <a:t>Answer 2: Economists desire doing science not pseudoscience </a:t>
            </a:r>
            <a:endParaRPr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722623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1"/>
            <a:ext cx="12192001" cy="1405289"/>
          </a:xfrm>
          <a:prstGeom prst="rect">
            <a:avLst/>
          </a:prstGeom>
          <a:solidFill>
            <a:srgbClr val="DBEEF4"/>
          </a:solidFill>
          <a:ln>
            <a:noFill/>
          </a:ln>
        </p:spPr>
        <p:txBody>
          <a:bodyPr anchor="ctr"/>
          <a:lstStyle/>
          <a:p>
            <a:pPr algn="ctr"/>
            <a:r>
              <a:rPr lang="pl-PL" sz="4400" b="1" i="1" spc="-1" dirty="0" err="1">
                <a:solidFill>
                  <a:srgbClr val="215968"/>
                </a:solidFill>
              </a:rPr>
              <a:t>Why</a:t>
            </a:r>
            <a:r>
              <a:rPr lang="pl-PL" sz="4400" b="1" i="1" spc="-1" dirty="0">
                <a:solidFill>
                  <a:srgbClr val="215968"/>
                </a:solidFill>
              </a:rPr>
              <a:t> </a:t>
            </a:r>
            <a:r>
              <a:rPr lang="pl-PL" sz="4400" b="1" i="1" spc="-1" dirty="0" err="1">
                <a:solidFill>
                  <a:srgbClr val="215968"/>
                </a:solidFill>
              </a:rPr>
              <a:t>experiemental</a:t>
            </a:r>
            <a:r>
              <a:rPr lang="pl-PL" sz="4400" b="1" i="1" spc="-1" dirty="0">
                <a:solidFill>
                  <a:srgbClr val="215968"/>
                </a:solidFill>
              </a:rPr>
              <a:t> </a:t>
            </a:r>
            <a:r>
              <a:rPr lang="pl-PL" sz="4400" b="1" i="1" spc="-1" dirty="0" err="1">
                <a:solidFill>
                  <a:srgbClr val="215968"/>
                </a:solidFill>
              </a:rPr>
              <a:t>economics</a:t>
            </a:r>
            <a:r>
              <a:rPr lang="pl-PL" sz="4400" b="1" i="1" spc="-1" dirty="0">
                <a:solidFill>
                  <a:srgbClr val="215968"/>
                </a:solidFill>
              </a:rPr>
              <a:t>? </a:t>
            </a:r>
            <a:r>
              <a:rPr lang="en-US" sz="4400" b="1" i="1" spc="-1" dirty="0">
                <a:solidFill>
                  <a:srgbClr val="215968"/>
                </a:solidFill>
              </a:rPr>
              <a:t>The desire of doing science </a:t>
            </a:r>
          </a:p>
        </p:txBody>
      </p:sp>
      <p:sp>
        <p:nvSpPr>
          <p:cNvPr id="49" name="TextShape 2"/>
          <p:cNvSpPr txBox="1"/>
          <p:nvPr/>
        </p:nvSpPr>
        <p:spPr>
          <a:xfrm>
            <a:off x="182878" y="1620531"/>
            <a:ext cx="11425867" cy="4963150"/>
          </a:xfrm>
          <a:prstGeom prst="rect">
            <a:avLst/>
          </a:prstGeom>
          <a:noFill/>
          <a:ln>
            <a:noFill/>
          </a:ln>
        </p:spPr>
        <p:txBody>
          <a:bodyPr/>
          <a:lstStyle/>
          <a:p>
            <a:pPr algn="just"/>
            <a:r>
              <a:rPr lang="en-US" sz="3200" spc="-1" dirty="0">
                <a:solidFill>
                  <a:srgbClr val="215968"/>
                </a:solidFill>
                <a:latin typeface="Calibri" panose="020F0502020204030204" pitchFamily="34" charset="0"/>
                <a:cs typeface="Calibri" panose="020F0502020204030204" pitchFamily="34" charset="0"/>
              </a:rPr>
              <a:t>Economics has been regarded as a non-experimental science, and you can find this type of thinking in old economic textbooks:</a:t>
            </a:r>
            <a:endParaRPr lang="pl-PL" sz="3200" spc="-1" dirty="0">
              <a:solidFill>
                <a:srgbClr val="215968"/>
              </a:solidFill>
              <a:latin typeface="Calibri" panose="020F0502020204030204" pitchFamily="34" charset="0"/>
              <a:cs typeface="Calibri" panose="020F0502020204030204" pitchFamily="34" charset="0"/>
            </a:endParaRPr>
          </a:p>
          <a:p>
            <a:pPr algn="just"/>
            <a:endParaRPr lang="pl-PL" sz="3200" b="1" spc="-1" dirty="0">
              <a:solidFill>
                <a:srgbClr val="215968"/>
              </a:solidFill>
              <a:latin typeface="Calibri" panose="020F0502020204030204" pitchFamily="34" charset="0"/>
              <a:cs typeface="Calibri" panose="020F0502020204030204" pitchFamily="34" charset="0"/>
            </a:endParaRPr>
          </a:p>
          <a:p>
            <a:pPr algn="just"/>
            <a:r>
              <a:rPr lang="en-US" sz="3200" i="1" spc="-1" dirty="0">
                <a:solidFill>
                  <a:srgbClr val="215968"/>
                </a:solidFill>
                <a:latin typeface="Calibri" panose="020F0502020204030204" pitchFamily="34" charset="0"/>
                <a:cs typeface="Calibri" panose="020F0502020204030204" pitchFamily="34" charset="0"/>
              </a:rPr>
              <a:t>One possible way of figuring out economic laws ... is by controlled experiments. ... Economists (unfortunately )... cannot perform the</a:t>
            </a:r>
            <a:r>
              <a:rPr lang="pl-PL" sz="3200" i="1" spc="-1" dirty="0">
                <a:solidFill>
                  <a:srgbClr val="215968"/>
                </a:solidFill>
                <a:latin typeface="Calibri" panose="020F0502020204030204" pitchFamily="34" charset="0"/>
                <a:cs typeface="Calibri" panose="020F0502020204030204" pitchFamily="34" charset="0"/>
              </a:rPr>
              <a:t> </a:t>
            </a:r>
            <a:r>
              <a:rPr lang="en-US" sz="3200" i="1" spc="-1" dirty="0">
                <a:solidFill>
                  <a:srgbClr val="215968"/>
                </a:solidFill>
                <a:latin typeface="Calibri" panose="020F0502020204030204" pitchFamily="34" charset="0"/>
                <a:cs typeface="Calibri" panose="020F0502020204030204" pitchFamily="34" charset="0"/>
              </a:rPr>
              <a:t>controlled experiments of chemists or biologists because they cannot easily control other important factors. Like meteorologists,</a:t>
            </a:r>
            <a:r>
              <a:rPr lang="pl-PL" sz="3200" i="1" spc="-1" dirty="0">
                <a:solidFill>
                  <a:srgbClr val="215968"/>
                </a:solidFill>
                <a:latin typeface="Calibri" panose="020F0502020204030204" pitchFamily="34" charset="0"/>
                <a:cs typeface="Calibri" panose="020F0502020204030204" pitchFamily="34" charset="0"/>
              </a:rPr>
              <a:t> </a:t>
            </a:r>
            <a:r>
              <a:rPr lang="en-US" sz="3200" i="1" spc="-1" dirty="0">
                <a:solidFill>
                  <a:srgbClr val="215968"/>
                </a:solidFill>
                <a:latin typeface="Calibri" panose="020F0502020204030204" pitchFamily="34" charset="0"/>
                <a:cs typeface="Calibri" panose="020F0502020204030204" pitchFamily="34" charset="0"/>
              </a:rPr>
              <a:t>they generally must be content largely to observe.</a:t>
            </a:r>
            <a:endParaRPr lang="pl-PL" sz="3200" i="1" spc="-1" dirty="0">
              <a:solidFill>
                <a:srgbClr val="215968"/>
              </a:solidFill>
              <a:latin typeface="Calibri" panose="020F0502020204030204" pitchFamily="34" charset="0"/>
              <a:cs typeface="Calibri" panose="020F0502020204030204" pitchFamily="34" charset="0"/>
            </a:endParaRPr>
          </a:p>
          <a:p>
            <a:pPr algn="just"/>
            <a:endParaRPr lang="pl-PL" sz="3200" i="1" spc="-1" dirty="0">
              <a:solidFill>
                <a:srgbClr val="215968"/>
              </a:solidFill>
              <a:latin typeface="Calibri" panose="020F0502020204030204" pitchFamily="34" charset="0"/>
              <a:cs typeface="Calibri" panose="020F0502020204030204" pitchFamily="34" charset="0"/>
            </a:endParaRPr>
          </a:p>
          <a:p>
            <a:pPr algn="just"/>
            <a:r>
              <a:rPr lang="en-US" sz="2400" i="1" spc="-1" dirty="0">
                <a:solidFill>
                  <a:srgbClr val="215968"/>
                </a:solidFill>
                <a:latin typeface="Calibri" panose="020F0502020204030204" pitchFamily="34" charset="0"/>
                <a:cs typeface="Calibri" panose="020F0502020204030204" pitchFamily="34" charset="0"/>
              </a:rPr>
              <a:t>(Samuelson and Nordhaus, 1985, p. 8)</a:t>
            </a:r>
            <a:endParaRPr lang="pl-PL" sz="2400" i="1" spc="-1" dirty="0">
              <a:solidFill>
                <a:srgbClr val="21596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709060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Why</a:t>
            </a:r>
            <a:r>
              <a:rPr lang="pl-PL" sz="4400" b="1" i="1" spc="-1" dirty="0">
                <a:solidFill>
                  <a:srgbClr val="215968"/>
                </a:solidFill>
              </a:rPr>
              <a:t> </a:t>
            </a:r>
            <a:r>
              <a:rPr lang="pl-PL" sz="4400" b="1" i="1" spc="-1" dirty="0" err="1">
                <a:solidFill>
                  <a:srgbClr val="215968"/>
                </a:solidFill>
              </a:rPr>
              <a:t>experimental</a:t>
            </a:r>
            <a:r>
              <a:rPr lang="pl-PL" sz="4400" b="1" i="1" spc="-1" dirty="0">
                <a:solidFill>
                  <a:srgbClr val="215968"/>
                </a:solidFill>
              </a:rPr>
              <a:t> </a:t>
            </a:r>
            <a:r>
              <a:rPr lang="pl-PL" sz="4400" b="1" i="1" spc="-1" dirty="0" err="1">
                <a:solidFill>
                  <a:srgbClr val="215968"/>
                </a:solidFill>
              </a:rPr>
              <a:t>economics</a:t>
            </a:r>
            <a:r>
              <a:rPr lang="pl-PL" sz="4400" b="1" i="1" spc="-1" dirty="0">
                <a:solidFill>
                  <a:srgbClr val="215968"/>
                </a:solidFill>
              </a:rPr>
              <a:t>?</a:t>
            </a:r>
            <a:endParaRPr lang="en-GB" sz="3200" b="1" i="1" dirty="0"/>
          </a:p>
        </p:txBody>
      </p:sp>
      <p:sp>
        <p:nvSpPr>
          <p:cNvPr id="49" name="TextShape 2"/>
          <p:cNvSpPr txBox="1"/>
          <p:nvPr/>
        </p:nvSpPr>
        <p:spPr>
          <a:xfrm>
            <a:off x="105879" y="1168142"/>
            <a:ext cx="12086121" cy="5502165"/>
          </a:xfrm>
          <a:prstGeom prst="rect">
            <a:avLst/>
          </a:prstGeom>
          <a:noFill/>
          <a:ln>
            <a:noFill/>
          </a:ln>
        </p:spPr>
        <p:txBody>
          <a:bodyPr/>
          <a:lstStyle/>
          <a:p>
            <a:pPr algn="just"/>
            <a:r>
              <a:rPr lang="en-US" sz="2800" spc="-1" dirty="0">
                <a:solidFill>
                  <a:srgbClr val="215968"/>
                </a:solidFill>
                <a:latin typeface="Calibri" panose="020F0502020204030204" pitchFamily="34" charset="0"/>
                <a:cs typeface="Calibri" panose="020F0502020204030204" pitchFamily="34" charset="0"/>
              </a:rPr>
              <a:t>Economists create a model of reality and, based on logical </a:t>
            </a:r>
            <a:r>
              <a:rPr lang="en-US" sz="2800" b="1" spc="-1" dirty="0">
                <a:solidFill>
                  <a:srgbClr val="215968"/>
                </a:solidFill>
                <a:latin typeface="Calibri" panose="020F0502020204030204" pitchFamily="34" charset="0"/>
                <a:cs typeface="Calibri" panose="020F0502020204030204" pitchFamily="34" charset="0"/>
              </a:rPr>
              <a:t>inference </a:t>
            </a:r>
            <a:r>
              <a:rPr lang="en-US" sz="2800" spc="-1" dirty="0">
                <a:solidFill>
                  <a:srgbClr val="215968"/>
                </a:solidFill>
                <a:latin typeface="Calibri" panose="020F0502020204030204" pitchFamily="34" charset="0"/>
                <a:cs typeface="Calibri" panose="020F0502020204030204" pitchFamily="34" charset="0"/>
              </a:rPr>
              <a:t>(theory and models), obtain causal relationships between economic variables. Sometimes, we call these relationships laws - like in physics. In my opinion, there are no laws in economics</a:t>
            </a:r>
            <a:r>
              <a:rPr lang="pl-PL" sz="2800" spc="-1" dirty="0">
                <a:solidFill>
                  <a:srgbClr val="215968"/>
                </a:solidFill>
                <a:latin typeface="Calibri" panose="020F0502020204030204" pitchFamily="34" charset="0"/>
                <a:cs typeface="Calibri" panose="020F0502020204030204" pitchFamily="34" charset="0"/>
              </a:rPr>
              <a:t> - i</a:t>
            </a:r>
            <a:r>
              <a:rPr lang="en-US" sz="2800" spc="-1" dirty="0">
                <a:solidFill>
                  <a:srgbClr val="215968"/>
                </a:solidFill>
                <a:latin typeface="Calibri" panose="020F0502020204030204" pitchFamily="34" charset="0"/>
                <a:cs typeface="Calibri" panose="020F0502020204030204" pitchFamily="34" charset="0"/>
              </a:rPr>
              <a:t>t is easy to find exceptions. </a:t>
            </a:r>
            <a:endParaRPr lang="pl-PL" sz="2800"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Econometrics is a set of tools to conclude whether this relationship is true or not. Researchers cannot control the environment of economic activities, and some factors are not included in the data sets. The quality of the data is still poor to test economic theory without any doubts. There is a lot of mistakes and fakes. (I will teach you how to test the fraud in a data set). Results -&gt; we do nothing: Thousands of papers challenge the PPP (purchasing power parity) principle, and thousands of papers support it.</a:t>
            </a:r>
            <a:endParaRPr lang="pl-PL" sz="2800" spc="-1" dirty="0">
              <a:solidFill>
                <a:srgbClr val="215968"/>
              </a:solidFill>
              <a:latin typeface="Calibri" panose="020F0502020204030204" pitchFamily="34" charset="0"/>
              <a:cs typeface="Calibri" panose="020F0502020204030204" pitchFamily="34" charset="0"/>
            </a:endParaRPr>
          </a:p>
          <a:p>
            <a:pPr algn="just"/>
            <a:r>
              <a:rPr lang="en-US" sz="1200" i="1" spc="-1" dirty="0">
                <a:solidFill>
                  <a:srgbClr val="215968"/>
                </a:solidFill>
                <a:latin typeface="Calibri" panose="020F0502020204030204" pitchFamily="34" charset="0"/>
                <a:cs typeface="Calibri" panose="020F0502020204030204" pitchFamily="34" charset="0"/>
              </a:rPr>
              <a:t>Economic Theory, through a formal deductive system, provides the</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basis for experimental abstraction and the experimental design, but</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society in most cases carries out the experiment, .... Therefore, the</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economic researcher observes the outcome of society’s experiment or</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performance but has little or no impact on the experimental design and</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the observations generated. Thus, by the passive nature of the data,</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economic researchers are, to a large extent, restricted in their knowledge</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search to the process of </a:t>
            </a:r>
            <a:r>
              <a:rPr lang="en-US" sz="1200" b="1" i="1" spc="-1" dirty="0" err="1">
                <a:solidFill>
                  <a:srgbClr val="215968"/>
                </a:solidFill>
                <a:latin typeface="Calibri" panose="020F0502020204030204" pitchFamily="34" charset="0"/>
                <a:cs typeface="Calibri" panose="020F0502020204030204" pitchFamily="34" charset="0"/>
              </a:rPr>
              <a:t>nonexperimental</a:t>
            </a:r>
            <a:r>
              <a:rPr lang="en-US" sz="1200" b="1" i="1" spc="-1" dirty="0">
                <a:solidFill>
                  <a:srgbClr val="215968"/>
                </a:solidFill>
                <a:latin typeface="Calibri" panose="020F0502020204030204" pitchFamily="34" charset="0"/>
                <a:cs typeface="Calibri" panose="020F0502020204030204" pitchFamily="34" charset="0"/>
              </a:rPr>
              <a:t> model building</a:t>
            </a:r>
            <a:r>
              <a:rPr lang="en-US" sz="1200" i="1" spc="-1" dirty="0">
                <a:solidFill>
                  <a:srgbClr val="215968"/>
                </a:solidFill>
                <a:latin typeface="Calibri" panose="020F0502020204030204" pitchFamily="34" charset="0"/>
                <a:cs typeface="Calibri" panose="020F0502020204030204" pitchFamily="34" charset="0"/>
              </a:rPr>
              <a:t>. ... the experiment</a:t>
            </a:r>
            <a:r>
              <a:rPr lang="pl-PL" sz="1200" i="1" spc="-1" dirty="0">
                <a:solidFill>
                  <a:srgbClr val="215968"/>
                </a:solidFill>
                <a:latin typeface="Calibri" panose="020F0502020204030204" pitchFamily="34" charset="0"/>
                <a:cs typeface="Calibri" panose="020F0502020204030204" pitchFamily="34" charset="0"/>
              </a:rPr>
              <a:t> </a:t>
            </a:r>
            <a:r>
              <a:rPr lang="en-US" sz="1200" i="1" spc="-1" dirty="0">
                <a:solidFill>
                  <a:srgbClr val="215968"/>
                </a:solidFill>
                <a:latin typeface="Calibri" panose="020F0502020204030204" pitchFamily="34" charset="0"/>
                <a:cs typeface="Calibri" panose="020F0502020204030204" pitchFamily="34" charset="0"/>
              </a:rPr>
              <a:t>is outside the researcher’s control.</a:t>
            </a:r>
            <a:r>
              <a:rPr lang="pl-PL" sz="1200" i="1" spc="-1" dirty="0">
                <a:solidFill>
                  <a:srgbClr val="215968"/>
                </a:solidFill>
                <a:latin typeface="Calibri" panose="020F0502020204030204" pitchFamily="34" charset="0"/>
                <a:cs typeface="Calibri" panose="020F0502020204030204" pitchFamily="34" charset="0"/>
              </a:rPr>
              <a:t> </a:t>
            </a:r>
            <a:r>
              <a:rPr lang="en-US" sz="1600" b="1" spc="-1" dirty="0">
                <a:solidFill>
                  <a:srgbClr val="215968"/>
                </a:solidFill>
                <a:latin typeface="Calibri" panose="020F0502020204030204" pitchFamily="34" charset="0"/>
                <a:cs typeface="Calibri" panose="020F0502020204030204" pitchFamily="34" charset="0"/>
              </a:rPr>
              <a:t>( “The </a:t>
            </a:r>
            <a:r>
              <a:rPr lang="en-US" sz="1600" b="1" spc="-1" dirty="0" err="1">
                <a:solidFill>
                  <a:srgbClr val="215968"/>
                </a:solidFill>
                <a:latin typeface="Calibri" panose="020F0502020204030204" pitchFamily="34" charset="0"/>
                <a:cs typeface="Calibri" panose="020F0502020204030204" pitchFamily="34" charset="0"/>
              </a:rPr>
              <a:t>Nonexperimental</a:t>
            </a:r>
            <a:r>
              <a:rPr lang="en-US" sz="1600" b="1" spc="-1" dirty="0">
                <a:solidFill>
                  <a:srgbClr val="215968"/>
                </a:solidFill>
                <a:latin typeface="Calibri" panose="020F0502020204030204" pitchFamily="34" charset="0"/>
                <a:cs typeface="Calibri" panose="020F0502020204030204" pitchFamily="34" charset="0"/>
              </a:rPr>
              <a:t> Model-Building Restriction” in Judge et al. (1988))</a:t>
            </a:r>
          </a:p>
          <a:p>
            <a:pPr algn="just"/>
            <a:endParaRPr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97353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0"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Why</a:t>
            </a:r>
            <a:r>
              <a:rPr lang="pl-PL" sz="4400" b="1" i="1" spc="-1" dirty="0">
                <a:solidFill>
                  <a:srgbClr val="215968"/>
                </a:solidFill>
              </a:rPr>
              <a:t> </a:t>
            </a:r>
            <a:r>
              <a:rPr lang="pl-PL" sz="4400" b="1" i="1" spc="-1" dirty="0" err="1">
                <a:solidFill>
                  <a:srgbClr val="215968"/>
                </a:solidFill>
              </a:rPr>
              <a:t>experimental</a:t>
            </a:r>
            <a:r>
              <a:rPr lang="pl-PL" sz="4400" b="1" i="1" spc="-1" dirty="0">
                <a:solidFill>
                  <a:srgbClr val="215968"/>
                </a:solidFill>
              </a:rPr>
              <a:t> </a:t>
            </a:r>
            <a:r>
              <a:rPr lang="pl-PL" sz="4400" b="1" i="1" spc="-1" dirty="0" err="1">
                <a:solidFill>
                  <a:srgbClr val="215968"/>
                </a:solidFill>
              </a:rPr>
              <a:t>economics</a:t>
            </a:r>
            <a:r>
              <a:rPr lang="pl-PL" sz="4400" b="1" i="1" spc="-1" dirty="0">
                <a:solidFill>
                  <a:srgbClr val="215968"/>
                </a:solidFill>
              </a:rPr>
              <a:t>?</a:t>
            </a:r>
            <a:endParaRPr lang="en-GB" sz="3200" b="1" i="1" dirty="0"/>
          </a:p>
        </p:txBody>
      </p:sp>
      <p:sp>
        <p:nvSpPr>
          <p:cNvPr id="49" name="TextShape 2"/>
          <p:cNvSpPr txBox="1"/>
          <p:nvPr/>
        </p:nvSpPr>
        <p:spPr>
          <a:xfrm>
            <a:off x="0" y="1168142"/>
            <a:ext cx="12192000" cy="5588793"/>
          </a:xfrm>
          <a:prstGeom prst="rect">
            <a:avLst/>
          </a:prstGeom>
          <a:noFill/>
          <a:ln>
            <a:noFill/>
          </a:ln>
        </p:spPr>
        <p:txBody>
          <a:bodyPr/>
          <a:lstStyle/>
          <a:p>
            <a:pPr algn="just"/>
            <a:r>
              <a:rPr lang="en-US" sz="2800" spc="-1" dirty="0">
                <a:solidFill>
                  <a:srgbClr val="215968"/>
                </a:solidFill>
                <a:latin typeface="Calibri" panose="020F0502020204030204" pitchFamily="34" charset="0"/>
                <a:cs typeface="Calibri" panose="020F0502020204030204" pitchFamily="34" charset="0"/>
              </a:rPr>
              <a:t>The desire for reproducing the research pattern of natural sciences is so strong that we sometimes fall into the </a:t>
            </a:r>
            <a:r>
              <a:rPr lang="en-US" sz="2800" i="1" spc="-1" dirty="0">
                <a:solidFill>
                  <a:srgbClr val="215968"/>
                </a:solidFill>
                <a:latin typeface="Calibri" panose="020F0502020204030204" pitchFamily="34" charset="0"/>
                <a:cs typeface="Calibri" panose="020F0502020204030204" pitchFamily="34" charset="0"/>
              </a:rPr>
              <a:t>cargo cult </a:t>
            </a:r>
            <a:r>
              <a:rPr lang="en-US" sz="2800" spc="-1" dirty="0">
                <a:solidFill>
                  <a:srgbClr val="215968"/>
                </a:solidFill>
                <a:latin typeface="Calibri" panose="020F0502020204030204" pitchFamily="34" charset="0"/>
                <a:cs typeface="Calibri" panose="020F0502020204030204" pitchFamily="34" charset="0"/>
              </a:rPr>
              <a:t>in which mathematics is treated an instrument of faith - the more math, the more scientific our work is. </a:t>
            </a:r>
            <a:endParaRPr lang="pl-PL" sz="2800"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[Richard Feynman on Pseudoscience </a:t>
            </a:r>
            <a:r>
              <a:rPr lang="en-US" sz="2400" spc="-1" dirty="0">
                <a:solidFill>
                  <a:srgbClr val="215968"/>
                </a:solidFill>
                <a:latin typeface="Calibri" panose="020F0502020204030204" pitchFamily="34" charset="0"/>
                <a:cs typeface="Calibri" panose="020F0502020204030204" pitchFamily="34" charset="0"/>
              </a:rPr>
              <a:t>https://www.youtube.com/watch?v=tWr39Q9vBgo</a:t>
            </a:r>
            <a:r>
              <a:rPr lang="en-US" sz="2800" spc="-1" dirty="0">
                <a:solidFill>
                  <a:srgbClr val="215968"/>
                </a:solidFill>
                <a:latin typeface="Calibri" panose="020F0502020204030204" pitchFamily="34" charset="0"/>
                <a:cs typeface="Calibri" panose="020F0502020204030204" pitchFamily="34" charset="0"/>
              </a:rPr>
              <a:t>]</a:t>
            </a:r>
          </a:p>
          <a:p>
            <a:pPr algn="just"/>
            <a:endParaRPr lang="en-US" sz="2800"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The desire is evident not only in scientific articles. I was not surprised that book </a:t>
            </a:r>
            <a:r>
              <a:rPr lang="en-US" sz="2800" i="1" spc="-1" dirty="0">
                <a:solidFill>
                  <a:srgbClr val="215968"/>
                </a:solidFill>
                <a:latin typeface="Calibri" panose="020F0502020204030204" pitchFamily="34" charset="0"/>
                <a:cs typeface="Calibri" panose="020F0502020204030204" pitchFamily="34" charset="0"/>
              </a:rPr>
              <a:t>Zen and the Art of Motorcycle Maintenance</a:t>
            </a:r>
            <a:r>
              <a:rPr lang="en-US" sz="2800" spc="-1" dirty="0">
                <a:solidFill>
                  <a:srgbClr val="215968"/>
                </a:solidFill>
                <a:latin typeface="Calibri" panose="020F0502020204030204" pitchFamily="34" charset="0"/>
                <a:cs typeface="Calibri" panose="020F0502020204030204" pitchFamily="34" charset="0"/>
              </a:rPr>
              <a:t> by Robert M. </a:t>
            </a:r>
            <a:r>
              <a:rPr lang="en-US" sz="2800" spc="-1" dirty="0" err="1">
                <a:solidFill>
                  <a:srgbClr val="215968"/>
                </a:solidFill>
                <a:latin typeface="Calibri" panose="020F0502020204030204" pitchFamily="34" charset="0"/>
                <a:cs typeface="Calibri" panose="020F0502020204030204" pitchFamily="34" charset="0"/>
              </a:rPr>
              <a:t>Pirsig</a:t>
            </a:r>
            <a:r>
              <a:rPr lang="en-US" sz="2800" spc="-1" dirty="0">
                <a:solidFill>
                  <a:srgbClr val="215968"/>
                </a:solidFill>
                <a:latin typeface="Calibri" panose="020F0502020204030204" pitchFamily="34" charset="0"/>
                <a:cs typeface="Calibri" panose="020F0502020204030204" pitchFamily="34" charset="0"/>
              </a:rPr>
              <a:t> is the most influential non-scientific book for several Nobel prize winners in economics. It is my </a:t>
            </a:r>
            <a:r>
              <a:rPr lang="en-US" sz="2800" spc="-1" dirty="0" err="1">
                <a:solidFill>
                  <a:srgbClr val="215968"/>
                </a:solidFill>
                <a:latin typeface="Calibri" panose="020F0502020204030204" pitchFamily="34" charset="0"/>
                <a:cs typeface="Calibri" panose="020F0502020204030204" pitchFamily="34" charset="0"/>
              </a:rPr>
              <a:t>favourite</a:t>
            </a:r>
            <a:r>
              <a:rPr lang="en-US" sz="2800" spc="-1" dirty="0">
                <a:solidFill>
                  <a:srgbClr val="215968"/>
                </a:solidFill>
                <a:latin typeface="Calibri" panose="020F0502020204030204" pitchFamily="34" charset="0"/>
                <a:cs typeface="Calibri" panose="020F0502020204030204" pitchFamily="34" charset="0"/>
              </a:rPr>
              <a:t> book too – </a:t>
            </a:r>
            <a:r>
              <a:rPr lang="pl-PL" sz="2800" spc="-1" dirty="0" err="1">
                <a:solidFill>
                  <a:srgbClr val="215968"/>
                </a:solidFill>
                <a:latin typeface="Calibri" panose="020F0502020204030204" pitchFamily="34" charset="0"/>
                <a:cs typeface="Calibri" panose="020F0502020204030204" pitchFamily="34" charset="0"/>
              </a:rPr>
              <a:t>it</a:t>
            </a:r>
            <a:r>
              <a:rPr lang="pl-PL" sz="2800" spc="-1" dirty="0">
                <a:solidFill>
                  <a:srgbClr val="215968"/>
                </a:solidFill>
                <a:latin typeface="Calibri" panose="020F0502020204030204" pitchFamily="34" charset="0"/>
                <a:cs typeface="Calibri" panose="020F0502020204030204" pitchFamily="34" charset="0"/>
              </a:rPr>
              <a:t> </a:t>
            </a:r>
            <a:r>
              <a:rPr lang="pl-PL" sz="2800" spc="-1" dirty="0" err="1">
                <a:solidFill>
                  <a:srgbClr val="215968"/>
                </a:solidFill>
                <a:latin typeface="Calibri" panose="020F0502020204030204" pitchFamily="34" charset="0"/>
                <a:cs typeface="Calibri" panose="020F0502020204030204" pitchFamily="34" charset="0"/>
              </a:rPr>
              <a:t>presents</a:t>
            </a:r>
            <a:r>
              <a:rPr lang="en-US" sz="2800" spc="-1" dirty="0">
                <a:solidFill>
                  <a:srgbClr val="215968"/>
                </a:solidFill>
                <a:latin typeface="Calibri" panose="020F0502020204030204" pitchFamily="34" charset="0"/>
                <a:cs typeface="Calibri" panose="020F0502020204030204" pitchFamily="34" charset="0"/>
              </a:rPr>
              <a:t> </a:t>
            </a:r>
            <a:r>
              <a:rPr lang="en-US" sz="2800" b="1" spc="-1" dirty="0">
                <a:solidFill>
                  <a:srgbClr val="215968"/>
                </a:solidFill>
                <a:latin typeface="Calibri" panose="020F0502020204030204" pitchFamily="34" charset="0"/>
                <a:cs typeface="Calibri" panose="020F0502020204030204" pitchFamily="34" charset="0"/>
              </a:rPr>
              <a:t>the essence of the scientific method</a:t>
            </a:r>
            <a:r>
              <a:rPr lang="en-US" sz="2800" spc="-1" dirty="0">
                <a:solidFill>
                  <a:srgbClr val="215968"/>
                </a:solidFill>
                <a:latin typeface="Calibri" panose="020F0502020204030204" pitchFamily="34" charset="0"/>
                <a:cs typeface="Calibri" panose="020F0502020204030204" pitchFamily="34" charset="0"/>
              </a:rPr>
              <a:t> and its power. I recommend you to read a </a:t>
            </a:r>
            <a:r>
              <a:rPr lang="pl-PL" sz="2800" spc="-1" dirty="0" err="1">
                <a:solidFill>
                  <a:srgbClr val="215968"/>
                </a:solidFill>
                <a:latin typeface="Calibri" panose="020F0502020204030204" pitchFamily="34" charset="0"/>
                <a:cs typeface="Calibri" panose="020F0502020204030204" pitchFamily="34" charset="0"/>
              </a:rPr>
              <a:t>short</a:t>
            </a:r>
            <a:r>
              <a:rPr lang="pl-PL" sz="2800"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fragment of the book [Moodle]</a:t>
            </a:r>
            <a:endParaRPr lang="pl-PL" sz="2800" spc="-1" dirty="0">
              <a:solidFill>
                <a:srgbClr val="215968"/>
              </a:solidFill>
              <a:latin typeface="Calibri" panose="020F0502020204030204" pitchFamily="34" charset="0"/>
              <a:cs typeface="Calibri" panose="020F0502020204030204" pitchFamily="34" charset="0"/>
            </a:endParaRPr>
          </a:p>
          <a:p>
            <a:pPr algn="just"/>
            <a:endParaRPr lang="en-US" sz="2800"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The desire for a new scientific method forced some economist to experiment. The beginning was a little bit anarchistic but very innovative.</a:t>
            </a:r>
            <a:endParaRP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961349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latin typeface="Calibri"/>
              </a:rPr>
              <a:t>Why</a:t>
            </a:r>
            <a:r>
              <a:rPr lang="pl-PL" sz="4400" b="1" i="1" spc="-1" dirty="0">
                <a:solidFill>
                  <a:srgbClr val="215968"/>
                </a:solidFill>
                <a:latin typeface="Calibri"/>
              </a:rPr>
              <a:t> </a:t>
            </a:r>
            <a:r>
              <a:rPr lang="pl-PL" sz="4400" b="1" i="1" spc="-1" dirty="0" err="1">
                <a:solidFill>
                  <a:srgbClr val="215968"/>
                </a:solidFill>
                <a:latin typeface="Calibri"/>
              </a:rPr>
              <a:t>experiments</a:t>
            </a:r>
            <a:r>
              <a:rPr lang="pl-PL" sz="4400" b="1" i="1" spc="-1" dirty="0">
                <a:solidFill>
                  <a:srgbClr val="215968"/>
                </a:solidFill>
                <a:latin typeface="Calibri"/>
              </a:rPr>
              <a:t>?</a:t>
            </a:r>
            <a:endParaRPr lang="en-GB" sz="3200" b="1" i="1" dirty="0"/>
          </a:p>
        </p:txBody>
      </p:sp>
      <p:sp>
        <p:nvSpPr>
          <p:cNvPr id="49" name="TextShape 2"/>
          <p:cNvSpPr txBox="1"/>
          <p:nvPr/>
        </p:nvSpPr>
        <p:spPr>
          <a:xfrm>
            <a:off x="175491" y="1246910"/>
            <a:ext cx="11767127" cy="5347854"/>
          </a:xfrm>
          <a:prstGeom prst="rect">
            <a:avLst/>
          </a:prstGeom>
          <a:noFill/>
          <a:ln>
            <a:noFill/>
          </a:ln>
        </p:spPr>
        <p:txBody>
          <a:bodyPr/>
          <a:lstStyle/>
          <a:p>
            <a:pPr marL="457200" indent="-457200" algn="just">
              <a:buFont typeface="Arial" panose="020B0604020202020204" pitchFamily="34" charset="0"/>
              <a:buChar char="•"/>
            </a:pPr>
            <a:r>
              <a:rPr lang="en-US" sz="2800" spc="-1" dirty="0">
                <a:solidFill>
                  <a:srgbClr val="215968"/>
                </a:solidFill>
                <a:latin typeface="Calibri" panose="020F0502020204030204" pitchFamily="34" charset="0"/>
                <a:cs typeface="Calibri" panose="020F0502020204030204" pitchFamily="34" charset="0"/>
              </a:rPr>
              <a:t>Thurston (1931) tested the indifference curve as a representation of preferences, later psychologists attacked rational choice paradigm</a:t>
            </a:r>
            <a:endParaRPr lang="pl-PL" sz="2800" spc="-1" dirty="0">
              <a:solidFill>
                <a:srgbClr val="215968"/>
              </a:solidFill>
              <a:latin typeface="Calibri" panose="020F0502020204030204" pitchFamily="34" charset="0"/>
              <a:cs typeface="Calibri" panose="020F0502020204030204" pitchFamily="34" charset="0"/>
            </a:endParaRPr>
          </a:p>
          <a:p>
            <a:pPr algn="just"/>
            <a:endParaRPr lang="en-US" sz="2800" spc="-1" dirty="0">
              <a:solidFill>
                <a:srgbClr val="215968"/>
              </a:solidFill>
              <a:latin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spc="-1" dirty="0">
                <a:solidFill>
                  <a:srgbClr val="215968"/>
                </a:solidFill>
                <a:latin typeface="Calibri" panose="020F0502020204030204" pitchFamily="34" charset="0"/>
                <a:cs typeface="Calibri" panose="020F0502020204030204" pitchFamily="34" charset="0"/>
              </a:rPr>
              <a:t>Expected utility theory was challenged by Allais (1953)‚ Savage(1954), Ellsberg(1961)</a:t>
            </a:r>
            <a:r>
              <a:rPr lang="pl-PL" sz="2800" spc="-1" dirty="0">
                <a:solidFill>
                  <a:srgbClr val="215968"/>
                </a:solidFill>
                <a:latin typeface="Calibri" panose="020F0502020204030204" pitchFamily="34" charset="0"/>
                <a:cs typeface="Calibri" panose="020F0502020204030204" pitchFamily="34" charset="0"/>
              </a:rPr>
              <a:t>,</a:t>
            </a:r>
            <a:r>
              <a:rPr lang="en-US" sz="2800" spc="-1" dirty="0">
                <a:solidFill>
                  <a:srgbClr val="215968"/>
                </a:solidFill>
                <a:latin typeface="Calibri" panose="020F0502020204030204" pitchFamily="34" charset="0"/>
                <a:cs typeface="Calibri" panose="020F0502020204030204" pitchFamily="34" charset="0"/>
              </a:rPr>
              <a:t> Kahneman</a:t>
            </a:r>
            <a:r>
              <a:rPr lang="pl-PL" sz="2800"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&amp;</a:t>
            </a:r>
            <a:r>
              <a:rPr lang="pl-PL" sz="2800"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Tversky (1979)</a:t>
            </a:r>
            <a:endParaRPr lang="pl-PL" sz="2800" spc="-1" dirty="0">
              <a:solidFill>
                <a:srgbClr val="215968"/>
              </a:solidFill>
              <a:latin typeface="Calibri" panose="020F0502020204030204" pitchFamily="34" charset="0"/>
              <a:cs typeface="Calibri" panose="020F0502020204030204" pitchFamily="34" charset="0"/>
            </a:endParaRPr>
          </a:p>
          <a:p>
            <a:pPr algn="just"/>
            <a:endParaRPr lang="en-US" sz="2800" spc="-1" dirty="0">
              <a:solidFill>
                <a:srgbClr val="215968"/>
              </a:solidFill>
              <a:latin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spc="-1" dirty="0">
                <a:solidFill>
                  <a:srgbClr val="215968"/>
                </a:solidFill>
                <a:latin typeface="Calibri" panose="020F0502020204030204" pitchFamily="34" charset="0"/>
                <a:cs typeface="Calibri" panose="020F0502020204030204" pitchFamily="34" charset="0"/>
              </a:rPr>
              <a:t>Chamberlin (1948), Smith (1968) tested market competitive equilibrium using induced values.</a:t>
            </a:r>
          </a:p>
          <a:p>
            <a:pPr marL="457200" indent="-457200" algn="just">
              <a:buFont typeface="Arial" panose="020B0604020202020204" pitchFamily="34" charset="0"/>
              <a:buChar char="•"/>
            </a:pPr>
            <a:endParaRPr lang="en-US" sz="2800" spc="-1" dirty="0">
              <a:solidFill>
                <a:srgbClr val="215968"/>
              </a:solidFill>
              <a:latin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800" spc="-1" dirty="0">
                <a:solidFill>
                  <a:srgbClr val="215968"/>
                </a:solidFill>
                <a:latin typeface="Calibri" panose="020F0502020204030204" pitchFamily="34" charset="0"/>
                <a:cs typeface="Calibri" panose="020F0502020204030204" pitchFamily="34" charset="0"/>
              </a:rPr>
              <a:t>Nash and other mathematicians played games </a:t>
            </a:r>
            <a:r>
              <a:rPr lang="pl-PL" sz="2800" spc="-1" dirty="0" err="1">
                <a:solidFill>
                  <a:srgbClr val="215968"/>
                </a:solidFill>
                <a:latin typeface="Calibri" panose="020F0502020204030204" pitchFamily="34" charset="0"/>
                <a:cs typeface="Calibri" panose="020F0502020204030204" pitchFamily="34" charset="0"/>
              </a:rPr>
              <a:t>at</a:t>
            </a:r>
            <a:r>
              <a:rPr lang="en-US" sz="2800" spc="-1" dirty="0">
                <a:solidFill>
                  <a:srgbClr val="215968"/>
                </a:solidFill>
                <a:latin typeface="Calibri" panose="020F0502020204030204" pitchFamily="34" charset="0"/>
                <a:cs typeface="Calibri" panose="020F0502020204030204" pitchFamily="34" charset="0"/>
              </a:rPr>
              <a:t> the RAND seminars </a:t>
            </a:r>
            <a:r>
              <a:rPr lang="pl-PL" sz="2800" spc="-1" dirty="0">
                <a:solidFill>
                  <a:srgbClr val="215968"/>
                </a:solidFill>
                <a:latin typeface="Calibri" panose="020F0502020204030204" pitchFamily="34" charset="0"/>
                <a:cs typeface="Calibri" panose="020F0502020204030204" pitchFamily="34" charset="0"/>
              </a:rPr>
              <a:t>and </a:t>
            </a:r>
            <a:r>
              <a:rPr lang="en-US" sz="2800" spc="-1" dirty="0">
                <a:solidFill>
                  <a:srgbClr val="215968"/>
                </a:solidFill>
                <a:latin typeface="Calibri" panose="020F0502020204030204" pitchFamily="34" charset="0"/>
                <a:cs typeface="Calibri" panose="020F0502020204030204" pitchFamily="34" charset="0"/>
              </a:rPr>
              <a:t>at </a:t>
            </a:r>
            <a:r>
              <a:rPr lang="pl-PL" sz="2800" spc="-1" dirty="0">
                <a:solidFill>
                  <a:srgbClr val="215968"/>
                </a:solidFill>
                <a:latin typeface="Calibri" panose="020F0502020204030204" pitchFamily="34" charset="0"/>
                <a:cs typeface="Calibri" panose="020F0502020204030204" pitchFamily="34" charset="0"/>
              </a:rPr>
              <a:t>g</a:t>
            </a:r>
            <a:r>
              <a:rPr lang="en-US" sz="2800" spc="-1" dirty="0" err="1">
                <a:solidFill>
                  <a:srgbClr val="215968"/>
                </a:solidFill>
                <a:latin typeface="Calibri" panose="020F0502020204030204" pitchFamily="34" charset="0"/>
                <a:cs typeface="Calibri" panose="020F0502020204030204" pitchFamily="34" charset="0"/>
              </a:rPr>
              <a:t>ame</a:t>
            </a:r>
            <a:r>
              <a:rPr lang="en-US" sz="2800" spc="-1" dirty="0">
                <a:solidFill>
                  <a:srgbClr val="215968"/>
                </a:solidFill>
                <a:latin typeface="Calibri" panose="020F0502020204030204" pitchFamily="34" charset="0"/>
                <a:cs typeface="Calibri" panose="020F0502020204030204" pitchFamily="34" charset="0"/>
              </a:rPr>
              <a:t> theory lectures. </a:t>
            </a:r>
            <a:endParaRP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2426723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Why</a:t>
            </a:r>
            <a:r>
              <a:rPr lang="pl-PL" sz="4400" b="1" i="1" spc="-1" dirty="0">
                <a:solidFill>
                  <a:srgbClr val="215968"/>
                </a:solidFill>
              </a:rPr>
              <a:t> </a:t>
            </a:r>
            <a:r>
              <a:rPr lang="pl-PL" sz="4400" b="1" i="1" spc="-1" dirty="0" err="1">
                <a:solidFill>
                  <a:srgbClr val="215968"/>
                </a:solidFill>
              </a:rPr>
              <a:t>experiments</a:t>
            </a:r>
            <a:r>
              <a:rPr lang="pl-PL" sz="4400" b="1" i="1" spc="-1" dirty="0">
                <a:solidFill>
                  <a:srgbClr val="215968"/>
                </a:solidFill>
              </a:rPr>
              <a:t>?</a:t>
            </a:r>
            <a:endParaRPr lang="en-GB" sz="3200" b="1" i="1" dirty="0"/>
          </a:p>
        </p:txBody>
      </p:sp>
      <p:sp>
        <p:nvSpPr>
          <p:cNvPr id="49" name="TextShape 2"/>
          <p:cNvSpPr txBox="1"/>
          <p:nvPr/>
        </p:nvSpPr>
        <p:spPr>
          <a:xfrm>
            <a:off x="112394" y="1062264"/>
            <a:ext cx="11967210" cy="5689858"/>
          </a:xfrm>
          <a:prstGeom prst="rect">
            <a:avLst/>
          </a:prstGeom>
          <a:noFill/>
          <a:ln>
            <a:noFill/>
          </a:ln>
        </p:spPr>
        <p:txBody>
          <a:bodyPr/>
          <a:lstStyle/>
          <a:p>
            <a:pPr algn="just"/>
            <a:r>
              <a:rPr lang="en-US" sz="2800" spc="-1" dirty="0">
                <a:solidFill>
                  <a:srgbClr val="215968"/>
                </a:solidFill>
                <a:latin typeface="Calibri" panose="020F0502020204030204" pitchFamily="34" charset="0"/>
                <a:cs typeface="Calibri" panose="020F0502020204030204" pitchFamily="34" charset="0"/>
              </a:rPr>
              <a:t>Now, experimental economics is not a new niche area of economics. It is successful, fashionable and still a rising field. The </a:t>
            </a:r>
            <a:r>
              <a:rPr lang="en-US" sz="2800" b="1" spc="-1" dirty="0">
                <a:solidFill>
                  <a:srgbClr val="215968"/>
                </a:solidFill>
                <a:latin typeface="Calibri" panose="020F0502020204030204" pitchFamily="34" charset="0"/>
                <a:cs typeface="Calibri" panose="020F0502020204030204" pitchFamily="34" charset="0"/>
              </a:rPr>
              <a:t>success</a:t>
            </a:r>
            <a:r>
              <a:rPr lang="en-US" sz="2800" spc="-1" dirty="0">
                <a:solidFill>
                  <a:srgbClr val="215968"/>
                </a:solidFill>
                <a:latin typeface="Calibri" panose="020F0502020204030204" pitchFamily="34" charset="0"/>
                <a:cs typeface="Calibri" panose="020F0502020204030204" pitchFamily="34" charset="0"/>
              </a:rPr>
              <a:t> over the last 20 years was based on:</a:t>
            </a:r>
          </a:p>
          <a:p>
            <a:pPr marL="571500" indent="-571500" algn="just">
              <a:buFont typeface="Arial" panose="020B0604020202020204" pitchFamily="34" charset="0"/>
              <a:buChar char="•"/>
            </a:pPr>
            <a:r>
              <a:rPr lang="en-US" sz="2800" b="1" spc="-1" dirty="0">
                <a:solidFill>
                  <a:srgbClr val="215968"/>
                </a:solidFill>
                <a:latin typeface="Calibri" panose="020F0502020204030204" pitchFamily="34" charset="0"/>
                <a:cs typeface="Calibri" panose="020F0502020204030204" pitchFamily="34" charset="0"/>
              </a:rPr>
              <a:t>credibility</a:t>
            </a:r>
            <a:r>
              <a:rPr lang="en-US" sz="2800" spc="-1" dirty="0">
                <a:solidFill>
                  <a:srgbClr val="215968"/>
                </a:solidFill>
                <a:latin typeface="Calibri" panose="020F0502020204030204" pitchFamily="34" charset="0"/>
                <a:cs typeface="Calibri" panose="020F0502020204030204" pitchFamily="34" charset="0"/>
              </a:rPr>
              <a:t> as a science</a:t>
            </a:r>
            <a:r>
              <a:rPr lang="pl-PL" sz="2800" spc="-1" dirty="0">
                <a:solidFill>
                  <a:srgbClr val="215968"/>
                </a:solidFill>
                <a:latin typeface="Calibri" panose="020F0502020204030204" pitchFamily="34" charset="0"/>
                <a:cs typeface="Calibri" panose="020F0502020204030204" pitchFamily="34" charset="0"/>
              </a:rPr>
              <a:t> by </a:t>
            </a:r>
            <a:r>
              <a:rPr lang="en-US" sz="2800" spc="-1" dirty="0">
                <a:solidFill>
                  <a:srgbClr val="215968"/>
                </a:solidFill>
                <a:latin typeface="Calibri" panose="020F0502020204030204" pitchFamily="34" charset="0"/>
                <a:cs typeface="Calibri" panose="020F0502020204030204" pitchFamily="34" charset="0"/>
              </a:rPr>
              <a:t>developing very </a:t>
            </a:r>
            <a:r>
              <a:rPr lang="en-US" sz="2800" b="1" spc="-1" dirty="0">
                <a:solidFill>
                  <a:srgbClr val="215968"/>
                </a:solidFill>
                <a:latin typeface="Calibri" panose="020F0502020204030204" pitchFamily="34" charset="0"/>
                <a:cs typeface="Calibri" panose="020F0502020204030204" pitchFamily="34" charset="0"/>
              </a:rPr>
              <a:t>restrictive research procedures </a:t>
            </a:r>
            <a:r>
              <a:rPr lang="en-US" sz="2800" spc="-1" dirty="0">
                <a:solidFill>
                  <a:srgbClr val="215968"/>
                </a:solidFill>
                <a:latin typeface="Calibri" panose="020F0502020204030204" pitchFamily="34" charset="0"/>
                <a:cs typeface="Calibri" panose="020F0502020204030204" pitchFamily="34" charset="0"/>
              </a:rPr>
              <a:t>(especially laboratory experiments) </a:t>
            </a:r>
          </a:p>
          <a:p>
            <a:pPr marL="571500" indent="-571500" algn="just">
              <a:buFont typeface="Arial" panose="020B0604020202020204" pitchFamily="34" charset="0"/>
              <a:buChar char="•"/>
            </a:pPr>
            <a:r>
              <a:rPr lang="en-US" sz="2800" b="1" spc="-1" dirty="0">
                <a:solidFill>
                  <a:srgbClr val="215968"/>
                </a:solidFill>
                <a:latin typeface="Calibri" panose="020F0502020204030204" pitchFamily="34" charset="0"/>
                <a:cs typeface="Calibri" panose="020F0502020204030204" pitchFamily="34" charset="0"/>
              </a:rPr>
              <a:t>challenging</a:t>
            </a:r>
            <a:r>
              <a:rPr lang="en-US" sz="2800" spc="-1" dirty="0">
                <a:solidFill>
                  <a:srgbClr val="215968"/>
                </a:solidFill>
                <a:latin typeface="Calibri" panose="020F0502020204030204" pitchFamily="34" charset="0"/>
                <a:cs typeface="Calibri" panose="020F0502020204030204" pitchFamily="34" charset="0"/>
              </a:rPr>
              <a:t> the neoclassical microeconomic theory (as an infinite source of inspiration) </a:t>
            </a:r>
            <a:endParaRPr lang="pl-PL" sz="2800" spc="-1" dirty="0">
              <a:solidFill>
                <a:srgbClr val="215968"/>
              </a:solidFill>
              <a:latin typeface="Calibri" panose="020F0502020204030204" pitchFamily="34" charset="0"/>
              <a:cs typeface="Calibri" panose="020F0502020204030204" pitchFamily="34" charset="0"/>
            </a:endParaRPr>
          </a:p>
          <a:p>
            <a:pPr marL="571500" indent="-571500" algn="just">
              <a:buFont typeface="Arial" panose="020B0604020202020204" pitchFamily="34" charset="0"/>
              <a:buChar char="•"/>
            </a:pPr>
            <a:r>
              <a:rPr lang="en-US" sz="2800" spc="-1" dirty="0">
                <a:solidFill>
                  <a:srgbClr val="215968"/>
                </a:solidFill>
                <a:latin typeface="Calibri" panose="020F0502020204030204" pitchFamily="34" charset="0"/>
                <a:cs typeface="Calibri" panose="020F0502020204030204" pitchFamily="34" charset="0"/>
              </a:rPr>
              <a:t>creating connections with </a:t>
            </a:r>
            <a:r>
              <a:rPr lang="en-US" sz="2800" b="1" spc="-1" dirty="0">
                <a:solidFill>
                  <a:srgbClr val="215968"/>
                </a:solidFill>
                <a:latin typeface="Calibri" panose="020F0502020204030204" pitchFamily="34" charset="0"/>
                <a:cs typeface="Calibri" panose="020F0502020204030204" pitchFamily="34" charset="0"/>
              </a:rPr>
              <a:t>psychology</a:t>
            </a:r>
            <a:r>
              <a:rPr lang="en-US" sz="2800" spc="-1" dirty="0">
                <a:solidFill>
                  <a:srgbClr val="215968"/>
                </a:solidFill>
                <a:latin typeface="Calibri" panose="020F0502020204030204" pitchFamily="34" charset="0"/>
                <a:cs typeface="Calibri" panose="020F0502020204030204" pitchFamily="34" charset="0"/>
              </a:rPr>
              <a:t>  (love and hate relationship - inspiration and critics) [</a:t>
            </a:r>
            <a:r>
              <a:rPr lang="en-US" sz="2800" b="1" spc="-1" dirty="0">
                <a:solidFill>
                  <a:srgbClr val="215968"/>
                </a:solidFill>
                <a:latin typeface="Calibri" panose="020F0502020204030204" pitchFamily="34" charset="0"/>
                <a:cs typeface="Calibri" panose="020F0502020204030204" pitchFamily="34" charset="0"/>
              </a:rPr>
              <a:t>experimental economics ≠ </a:t>
            </a:r>
            <a:r>
              <a:rPr lang="en-US" sz="2800" b="1" spc="-1" dirty="0" err="1">
                <a:solidFill>
                  <a:srgbClr val="215968"/>
                </a:solidFill>
                <a:latin typeface="Calibri" panose="020F0502020204030204" pitchFamily="34" charset="0"/>
                <a:cs typeface="Calibri" panose="020F0502020204030204" pitchFamily="34" charset="0"/>
              </a:rPr>
              <a:t>behavioural</a:t>
            </a:r>
            <a:r>
              <a:rPr lang="en-US" sz="2800" b="1" spc="-1" dirty="0">
                <a:solidFill>
                  <a:srgbClr val="215968"/>
                </a:solidFill>
                <a:latin typeface="Calibri" panose="020F0502020204030204" pitchFamily="34" charset="0"/>
                <a:cs typeface="Calibri" panose="020F0502020204030204" pitchFamily="34" charset="0"/>
              </a:rPr>
              <a:t> economics ≠ economic psychology</a:t>
            </a:r>
            <a:r>
              <a:rPr lang="pl-PL" sz="2800" b="1"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 </a:t>
            </a:r>
          </a:p>
          <a:p>
            <a:pPr marL="571500" indent="-571500" algn="just">
              <a:buFont typeface="Arial" panose="020B0604020202020204" pitchFamily="34" charset="0"/>
              <a:buChar char="•"/>
            </a:pPr>
            <a:r>
              <a:rPr lang="en-US" sz="2800" b="1" spc="-1" dirty="0">
                <a:solidFill>
                  <a:srgbClr val="215968"/>
                </a:solidFill>
                <a:latin typeface="Calibri" panose="020F0502020204030204" pitchFamily="34" charset="0"/>
                <a:cs typeface="Calibri" panose="020F0502020204030204" pitchFamily="34" charset="0"/>
              </a:rPr>
              <a:t>applications</a:t>
            </a:r>
            <a:r>
              <a:rPr lang="en-US" sz="2800" spc="-1" dirty="0">
                <a:solidFill>
                  <a:srgbClr val="215968"/>
                </a:solidFill>
                <a:latin typeface="Calibri" panose="020F0502020204030204" pitchFamily="34" charset="0"/>
                <a:cs typeface="Calibri" panose="020F0502020204030204" pitchFamily="34" charset="0"/>
              </a:rPr>
              <a:t> </a:t>
            </a:r>
            <a:r>
              <a:rPr lang="en-US" sz="2800" spc="-1" dirty="0" err="1">
                <a:solidFill>
                  <a:srgbClr val="215968"/>
                </a:solidFill>
                <a:latin typeface="Calibri" panose="020F0502020204030204" pitchFamily="34" charset="0"/>
                <a:cs typeface="Calibri" panose="020F0502020204030204" pitchFamily="34" charset="0"/>
              </a:rPr>
              <a:t>i</a:t>
            </a:r>
            <a:r>
              <a:rPr lang="en-US" sz="2800" spc="-1" dirty="0">
                <a:solidFill>
                  <a:srgbClr val="215968"/>
                </a:solidFill>
                <a:latin typeface="Calibri" panose="020F0502020204030204" pitchFamily="34" charset="0"/>
                <a:cs typeface="Calibri" panose="020F0502020204030204" pitchFamily="34" charset="0"/>
              </a:rPr>
              <a:t>) the design and testing of new markets (energy and financial market) </a:t>
            </a:r>
            <a:r>
              <a:rPr lang="pl-PL" sz="2800" spc="-1" dirty="0">
                <a:solidFill>
                  <a:srgbClr val="215968"/>
                </a:solidFill>
                <a:latin typeface="Calibri" panose="020F0502020204030204" pitchFamily="34" charset="0"/>
                <a:cs typeface="Calibri" panose="020F0502020204030204" pitchFamily="34" charset="0"/>
              </a:rPr>
              <a:t>ii) design and </a:t>
            </a:r>
            <a:r>
              <a:rPr lang="pl-PL" sz="2800" spc="-1" dirty="0" err="1">
                <a:solidFill>
                  <a:srgbClr val="215968"/>
                </a:solidFill>
                <a:latin typeface="Calibri" panose="020F0502020204030204" pitchFamily="34" charset="0"/>
                <a:cs typeface="Calibri" panose="020F0502020204030204" pitchFamily="34" charset="0"/>
              </a:rPr>
              <a:t>testing</a:t>
            </a:r>
            <a:r>
              <a:rPr lang="pl-PL" sz="2800" spc="-1" dirty="0">
                <a:solidFill>
                  <a:srgbClr val="215968"/>
                </a:solidFill>
                <a:latin typeface="Calibri" panose="020F0502020204030204" pitchFamily="34" charset="0"/>
                <a:cs typeface="Calibri" panose="020F0502020204030204" pitchFamily="34" charset="0"/>
              </a:rPr>
              <a:t> </a:t>
            </a:r>
            <a:r>
              <a:rPr lang="pl-PL" sz="2800" spc="-1" dirty="0" err="1">
                <a:solidFill>
                  <a:srgbClr val="215968"/>
                </a:solidFill>
                <a:latin typeface="Calibri" panose="020F0502020204030204" pitchFamily="34" charset="0"/>
                <a:cs typeface="Calibri" panose="020F0502020204030204" pitchFamily="34" charset="0"/>
              </a:rPr>
              <a:t>new</a:t>
            </a:r>
            <a:r>
              <a:rPr lang="pl-PL" sz="2800" spc="-1" dirty="0">
                <a:solidFill>
                  <a:srgbClr val="215968"/>
                </a:solidFill>
                <a:latin typeface="Calibri" panose="020F0502020204030204" pitchFamily="34" charset="0"/>
                <a:cs typeface="Calibri" panose="020F0502020204030204" pitchFamily="34" charset="0"/>
              </a:rPr>
              <a:t> </a:t>
            </a:r>
            <a:r>
              <a:rPr lang="pl-PL" sz="2800" spc="-1" dirty="0" err="1">
                <a:solidFill>
                  <a:srgbClr val="215968"/>
                </a:solidFill>
                <a:latin typeface="Calibri" panose="020F0502020204030204" pitchFamily="34" charset="0"/>
                <a:cs typeface="Calibri" panose="020F0502020204030204" pitchFamily="34" charset="0"/>
              </a:rPr>
              <a:t>auction</a:t>
            </a:r>
            <a:r>
              <a:rPr lang="pl-PL" sz="2800" spc="-1" dirty="0">
                <a:solidFill>
                  <a:srgbClr val="215968"/>
                </a:solidFill>
                <a:latin typeface="Calibri" panose="020F0502020204030204" pitchFamily="34" charset="0"/>
                <a:cs typeface="Calibri" panose="020F0502020204030204" pitchFamily="34" charset="0"/>
              </a:rPr>
              <a:t> </a:t>
            </a:r>
            <a:r>
              <a:rPr lang="pl-PL" sz="2800" spc="-1" dirty="0" err="1">
                <a:solidFill>
                  <a:srgbClr val="215968"/>
                </a:solidFill>
                <a:latin typeface="Calibri" panose="020F0502020204030204" pitchFamily="34" charset="0"/>
                <a:cs typeface="Calibri" panose="020F0502020204030204" pitchFamily="34" charset="0"/>
              </a:rPr>
              <a:t>formats</a:t>
            </a:r>
            <a:r>
              <a:rPr lang="pl-PL" sz="2800"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ii) </a:t>
            </a:r>
            <a:r>
              <a:rPr lang="pl-PL" sz="2800" spc="-1" dirty="0" err="1">
                <a:solidFill>
                  <a:srgbClr val="215968"/>
                </a:solidFill>
                <a:latin typeface="Calibri" panose="020F0502020204030204" pitchFamily="34" charset="0"/>
                <a:cs typeface="Calibri" panose="020F0502020204030204" pitchFamily="34" charset="0"/>
              </a:rPr>
              <a:t>create</a:t>
            </a:r>
            <a:r>
              <a:rPr lang="pl-PL" sz="2800" spc="-1" dirty="0">
                <a:solidFill>
                  <a:srgbClr val="215968"/>
                </a:solidFill>
                <a:latin typeface="Calibri" panose="020F0502020204030204" pitchFamily="34" charset="0"/>
                <a:cs typeface="Calibri" panose="020F0502020204030204" pitchFamily="34" charset="0"/>
              </a:rPr>
              <a:t> </a:t>
            </a:r>
            <a:r>
              <a:rPr lang="en-US" sz="2800" spc="-1" dirty="0">
                <a:solidFill>
                  <a:srgbClr val="215968"/>
                </a:solidFill>
                <a:latin typeface="Calibri" panose="020F0502020204030204" pitchFamily="34" charset="0"/>
                <a:cs typeface="Calibri" panose="020F0502020204030204" pitchFamily="34" charset="0"/>
              </a:rPr>
              <a:t>marketing (sales strategies</a:t>
            </a:r>
            <a:r>
              <a:rPr lang="pl-PL" sz="2800" spc="-1" dirty="0">
                <a:solidFill>
                  <a:srgbClr val="215968"/>
                </a:solidFill>
                <a:latin typeface="Calibri" panose="020F0502020204030204" pitchFamily="34" charset="0"/>
                <a:cs typeface="Calibri" panose="020F0502020204030204" pitchFamily="34" charset="0"/>
              </a:rPr>
              <a:t>),  …., </a:t>
            </a:r>
            <a:endParaRPr lang="en-US" sz="2800" spc="-1" dirty="0">
              <a:solidFill>
                <a:srgbClr val="215968"/>
              </a:solidFill>
              <a:latin typeface="Calibri" panose="020F0502020204030204" pitchFamily="34" charset="0"/>
              <a:cs typeface="Calibri" panose="020F0502020204030204" pitchFamily="34" charset="0"/>
            </a:endParaRPr>
          </a:p>
          <a:p>
            <a:pPr algn="just"/>
            <a:endParaRPr lang="en-US" sz="2800" b="1" spc="-1" dirty="0">
              <a:solidFill>
                <a:srgbClr val="21596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25491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Why</a:t>
            </a:r>
            <a:r>
              <a:rPr lang="pl-PL" sz="4400" b="1" i="1" spc="-1" dirty="0">
                <a:solidFill>
                  <a:srgbClr val="215968"/>
                </a:solidFill>
              </a:rPr>
              <a:t> </a:t>
            </a:r>
            <a:r>
              <a:rPr lang="pl-PL" sz="4400" b="1" i="1" spc="-1" dirty="0" err="1">
                <a:solidFill>
                  <a:srgbClr val="215968"/>
                </a:solidFill>
              </a:rPr>
              <a:t>experiments</a:t>
            </a:r>
            <a:r>
              <a:rPr lang="pl-PL" sz="4400" b="1" i="1" spc="-1" dirty="0">
                <a:solidFill>
                  <a:srgbClr val="215968"/>
                </a:solidFill>
              </a:rPr>
              <a:t>?</a:t>
            </a:r>
            <a:endParaRPr lang="en-GB" sz="3200" b="1" i="1" dirty="0"/>
          </a:p>
        </p:txBody>
      </p:sp>
      <p:pic>
        <p:nvPicPr>
          <p:cNvPr id="2" name="Obraz 1"/>
          <p:cNvPicPr>
            <a:picLocks noChangeAspect="1"/>
          </p:cNvPicPr>
          <p:nvPr/>
        </p:nvPicPr>
        <p:blipFill>
          <a:blip r:embed="rId2"/>
          <a:stretch>
            <a:fillRect/>
          </a:stretch>
        </p:blipFill>
        <p:spPr>
          <a:xfrm>
            <a:off x="371771" y="1691640"/>
            <a:ext cx="11448455" cy="4789170"/>
          </a:xfrm>
          <a:prstGeom prst="rect">
            <a:avLst/>
          </a:prstGeom>
        </p:spPr>
      </p:pic>
      <p:sp>
        <p:nvSpPr>
          <p:cNvPr id="3" name="Prostokąt 2"/>
          <p:cNvSpPr/>
          <p:nvPr/>
        </p:nvSpPr>
        <p:spPr>
          <a:xfrm>
            <a:off x="2000250" y="2147233"/>
            <a:ext cx="7303770" cy="2308324"/>
          </a:xfrm>
          <a:prstGeom prst="rect">
            <a:avLst/>
          </a:prstGeom>
        </p:spPr>
        <p:txBody>
          <a:bodyPr wrap="square">
            <a:spAutoFit/>
          </a:bodyPr>
          <a:lstStyle/>
          <a:p>
            <a:r>
              <a:rPr lang="pl-PL" sz="2400" b="1" dirty="0">
                <a:solidFill>
                  <a:srgbClr val="215968"/>
                </a:solidFill>
              </a:rPr>
              <a:t>Nobel </a:t>
            </a:r>
            <a:r>
              <a:rPr lang="pl-PL" sz="2400" b="1" dirty="0" err="1">
                <a:solidFill>
                  <a:srgbClr val="215968"/>
                </a:solidFill>
              </a:rPr>
              <a:t>Prizes</a:t>
            </a:r>
            <a:r>
              <a:rPr lang="pl-PL" sz="2400" b="1" dirty="0">
                <a:solidFill>
                  <a:srgbClr val="215968"/>
                </a:solidFill>
              </a:rPr>
              <a:t> for </a:t>
            </a:r>
            <a:r>
              <a:rPr lang="pl-PL" sz="2400" b="1" dirty="0" err="1">
                <a:solidFill>
                  <a:srgbClr val="215968"/>
                </a:solidFill>
              </a:rPr>
              <a:t>experimental</a:t>
            </a:r>
            <a:r>
              <a:rPr lang="pl-PL" sz="2400" b="1" dirty="0">
                <a:solidFill>
                  <a:srgbClr val="215968"/>
                </a:solidFill>
              </a:rPr>
              <a:t>/</a:t>
            </a:r>
            <a:r>
              <a:rPr lang="pl-PL" sz="2400" b="1" dirty="0" err="1">
                <a:solidFill>
                  <a:srgbClr val="215968"/>
                </a:solidFill>
              </a:rPr>
              <a:t>behavioural</a:t>
            </a:r>
            <a:r>
              <a:rPr lang="pl-PL" sz="2400" b="1" dirty="0">
                <a:solidFill>
                  <a:srgbClr val="215968"/>
                </a:solidFill>
              </a:rPr>
              <a:t> </a:t>
            </a:r>
            <a:r>
              <a:rPr lang="pl-PL" sz="2400" b="1" dirty="0" err="1">
                <a:solidFill>
                  <a:srgbClr val="215968"/>
                </a:solidFill>
              </a:rPr>
              <a:t>economists</a:t>
            </a:r>
            <a:r>
              <a:rPr lang="pl-PL" sz="2400" b="1" dirty="0">
                <a:solidFill>
                  <a:srgbClr val="215968"/>
                </a:solidFill>
              </a:rPr>
              <a:t>:</a:t>
            </a:r>
          </a:p>
          <a:p>
            <a:r>
              <a:rPr lang="pl-PL" sz="2400" b="1" dirty="0">
                <a:solidFill>
                  <a:srgbClr val="215968"/>
                </a:solidFill>
              </a:rPr>
              <a:t>George </a:t>
            </a:r>
            <a:r>
              <a:rPr lang="pl-PL" sz="2400" b="1" dirty="0" err="1">
                <a:solidFill>
                  <a:srgbClr val="215968"/>
                </a:solidFill>
              </a:rPr>
              <a:t>Akerlof</a:t>
            </a:r>
            <a:r>
              <a:rPr lang="pl-PL" sz="2400" b="1" dirty="0">
                <a:solidFill>
                  <a:srgbClr val="215968"/>
                </a:solidFill>
              </a:rPr>
              <a:t> (2001)</a:t>
            </a:r>
          </a:p>
          <a:p>
            <a:r>
              <a:rPr lang="pl-PL" sz="2400" b="1" dirty="0">
                <a:solidFill>
                  <a:srgbClr val="215968"/>
                </a:solidFill>
              </a:rPr>
              <a:t>Daniel </a:t>
            </a:r>
            <a:r>
              <a:rPr lang="pl-PL" sz="2400" b="1" dirty="0" err="1">
                <a:solidFill>
                  <a:srgbClr val="215968"/>
                </a:solidFill>
              </a:rPr>
              <a:t>Kahneman</a:t>
            </a:r>
            <a:r>
              <a:rPr lang="pl-PL" sz="2400" b="1" dirty="0">
                <a:solidFill>
                  <a:srgbClr val="215968"/>
                </a:solidFill>
              </a:rPr>
              <a:t> and </a:t>
            </a:r>
            <a:r>
              <a:rPr lang="pl-PL" sz="2400" b="1" dirty="0" err="1">
                <a:solidFill>
                  <a:srgbClr val="215968"/>
                </a:solidFill>
              </a:rPr>
              <a:t>Vernon</a:t>
            </a:r>
            <a:r>
              <a:rPr lang="pl-PL" sz="2400" b="1" dirty="0">
                <a:solidFill>
                  <a:srgbClr val="215968"/>
                </a:solidFill>
              </a:rPr>
              <a:t> </a:t>
            </a:r>
            <a:r>
              <a:rPr lang="pl-PL" sz="2400" b="1" dirty="0" err="1">
                <a:solidFill>
                  <a:srgbClr val="215968"/>
                </a:solidFill>
              </a:rPr>
              <a:t>Smith</a:t>
            </a:r>
            <a:r>
              <a:rPr lang="pl-PL" sz="2400" b="1" dirty="0">
                <a:solidFill>
                  <a:srgbClr val="215968"/>
                </a:solidFill>
              </a:rPr>
              <a:t> (2002)</a:t>
            </a:r>
          </a:p>
          <a:p>
            <a:r>
              <a:rPr lang="pl-PL" sz="2400" b="1" dirty="0">
                <a:solidFill>
                  <a:srgbClr val="215968"/>
                </a:solidFill>
              </a:rPr>
              <a:t>Robert </a:t>
            </a:r>
            <a:r>
              <a:rPr lang="pl-PL" sz="2400" b="1" dirty="0" err="1">
                <a:solidFill>
                  <a:srgbClr val="215968"/>
                </a:solidFill>
              </a:rPr>
              <a:t>Shiller</a:t>
            </a:r>
            <a:r>
              <a:rPr lang="pl-PL" sz="2400" b="1" dirty="0">
                <a:solidFill>
                  <a:srgbClr val="215968"/>
                </a:solidFill>
              </a:rPr>
              <a:t> (2013)</a:t>
            </a:r>
          </a:p>
          <a:p>
            <a:r>
              <a:rPr lang="pl-PL" sz="2400" b="1" dirty="0">
                <a:solidFill>
                  <a:srgbClr val="215968"/>
                </a:solidFill>
              </a:rPr>
              <a:t>Richard </a:t>
            </a:r>
            <a:r>
              <a:rPr lang="pl-PL" sz="2400" b="1" dirty="0" err="1">
                <a:solidFill>
                  <a:srgbClr val="215968"/>
                </a:solidFill>
              </a:rPr>
              <a:t>Thaler</a:t>
            </a:r>
            <a:r>
              <a:rPr lang="pl-PL" sz="2400" b="1" dirty="0">
                <a:solidFill>
                  <a:srgbClr val="215968"/>
                </a:solidFill>
              </a:rPr>
              <a:t> (2017)</a:t>
            </a:r>
          </a:p>
          <a:p>
            <a:r>
              <a:rPr lang="pl-PL" sz="2400" b="1" dirty="0" err="1">
                <a:solidFill>
                  <a:srgbClr val="215968"/>
                </a:solidFill>
              </a:rPr>
              <a:t>Esther</a:t>
            </a:r>
            <a:r>
              <a:rPr lang="pl-PL" sz="2400" b="1" dirty="0">
                <a:solidFill>
                  <a:srgbClr val="215968"/>
                </a:solidFill>
              </a:rPr>
              <a:t> </a:t>
            </a:r>
            <a:r>
              <a:rPr lang="pl-PL" sz="2400" b="1" dirty="0" err="1">
                <a:solidFill>
                  <a:srgbClr val="215968"/>
                </a:solidFill>
              </a:rPr>
              <a:t>Duflo</a:t>
            </a:r>
            <a:r>
              <a:rPr lang="pl-PL" sz="2400" b="1" dirty="0">
                <a:solidFill>
                  <a:srgbClr val="215968"/>
                </a:solidFill>
              </a:rPr>
              <a:t>, </a:t>
            </a:r>
            <a:r>
              <a:rPr lang="pl-PL" sz="2400" b="1" dirty="0" err="1">
                <a:solidFill>
                  <a:srgbClr val="215968"/>
                </a:solidFill>
              </a:rPr>
              <a:t>Abhijit</a:t>
            </a:r>
            <a:r>
              <a:rPr lang="pl-PL" sz="2400" b="1" dirty="0">
                <a:solidFill>
                  <a:srgbClr val="215968"/>
                </a:solidFill>
              </a:rPr>
              <a:t> </a:t>
            </a:r>
            <a:r>
              <a:rPr lang="pl-PL" sz="2400" b="1" dirty="0" err="1">
                <a:solidFill>
                  <a:srgbClr val="215968"/>
                </a:solidFill>
              </a:rPr>
              <a:t>Banerjee</a:t>
            </a:r>
            <a:r>
              <a:rPr lang="pl-PL" sz="2400" b="1" dirty="0">
                <a:solidFill>
                  <a:srgbClr val="215968"/>
                </a:solidFill>
              </a:rPr>
              <a:t>, Michael Kremer (2019)</a:t>
            </a:r>
          </a:p>
        </p:txBody>
      </p:sp>
    </p:spTree>
    <p:extLst>
      <p:ext uri="{BB962C8B-B14F-4D97-AF65-F5344CB8AC3E}">
        <p14:creationId xmlns:p14="http://schemas.microsoft.com/office/powerpoint/2010/main" val="270977554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4000" b="1" i="1" spc="-1" dirty="0" err="1">
                <a:solidFill>
                  <a:srgbClr val="215968"/>
                </a:solidFill>
              </a:rPr>
              <a:t>Why</a:t>
            </a:r>
            <a:r>
              <a:rPr lang="pl-PL" sz="4000" b="1" i="1" spc="-1" dirty="0">
                <a:solidFill>
                  <a:srgbClr val="215968"/>
                </a:solidFill>
              </a:rPr>
              <a:t> </a:t>
            </a:r>
            <a:r>
              <a:rPr lang="pl-PL" sz="4000" b="1" i="1" spc="-1" dirty="0" err="1">
                <a:solidFill>
                  <a:srgbClr val="215968"/>
                </a:solidFill>
              </a:rPr>
              <a:t>experiments</a:t>
            </a:r>
            <a:r>
              <a:rPr lang="pl-PL" sz="4000" b="1" i="1" spc="-1" dirty="0">
                <a:solidFill>
                  <a:srgbClr val="215968"/>
                </a:solidFill>
              </a:rPr>
              <a:t>?</a:t>
            </a:r>
            <a:endParaRPr lang="en-GB" sz="2800" b="1" i="1" dirty="0"/>
          </a:p>
        </p:txBody>
      </p:sp>
      <p:sp>
        <p:nvSpPr>
          <p:cNvPr id="49" name="TextShape 2"/>
          <p:cNvSpPr txBox="1"/>
          <p:nvPr/>
        </p:nvSpPr>
        <p:spPr>
          <a:xfrm>
            <a:off x="263236" y="1380836"/>
            <a:ext cx="11665526" cy="5440218"/>
          </a:xfrm>
          <a:prstGeom prst="rect">
            <a:avLst/>
          </a:prstGeom>
          <a:noFill/>
          <a:ln>
            <a:noFill/>
          </a:ln>
        </p:spPr>
        <p:txBody>
          <a:bodyPr/>
          <a:lstStyle/>
          <a:p>
            <a:pPr algn="just"/>
            <a:r>
              <a:rPr lang="en-US" sz="2800" spc="-1" dirty="0">
                <a:solidFill>
                  <a:srgbClr val="215968"/>
                </a:solidFill>
                <a:latin typeface="Calibri" panose="020F0502020204030204" pitchFamily="34" charset="0"/>
                <a:cs typeface="Calibri" panose="020F0502020204030204" pitchFamily="34" charset="0"/>
              </a:rPr>
              <a:t>There are different areas of </a:t>
            </a:r>
            <a:r>
              <a:rPr lang="en-US" sz="2800" b="1" spc="-1" dirty="0">
                <a:solidFill>
                  <a:srgbClr val="215968"/>
                </a:solidFill>
                <a:latin typeface="Calibri" panose="020F0502020204030204" pitchFamily="34" charset="0"/>
                <a:cs typeface="Calibri" panose="020F0502020204030204" pitchFamily="34" charset="0"/>
              </a:rPr>
              <a:t>applications</a:t>
            </a:r>
            <a:r>
              <a:rPr lang="en-US" sz="2800" spc="-1" dirty="0">
                <a:solidFill>
                  <a:srgbClr val="215968"/>
                </a:solidFill>
                <a:latin typeface="Calibri" panose="020F0502020204030204" pitchFamily="34" charset="0"/>
                <a:cs typeface="Calibri" panose="020F0502020204030204" pitchFamily="34" charset="0"/>
              </a:rPr>
              <a:t> of experimental economics and different </a:t>
            </a:r>
            <a:r>
              <a:rPr lang="en-US" sz="2800" b="1" spc="-1" dirty="0">
                <a:solidFill>
                  <a:srgbClr val="215968"/>
                </a:solidFill>
                <a:latin typeface="Calibri" panose="020F0502020204030204" pitchFamily="34" charset="0"/>
                <a:cs typeface="Calibri" panose="020F0502020204030204" pitchFamily="34" charset="0"/>
              </a:rPr>
              <a:t>types </a:t>
            </a:r>
            <a:r>
              <a:rPr lang="en-US" sz="2800" spc="-1" dirty="0">
                <a:solidFill>
                  <a:srgbClr val="215968"/>
                </a:solidFill>
                <a:latin typeface="Calibri" panose="020F0502020204030204" pitchFamily="34" charset="0"/>
                <a:cs typeface="Calibri" panose="020F0502020204030204" pitchFamily="34" charset="0"/>
              </a:rPr>
              <a:t>of experiments: </a:t>
            </a:r>
          </a:p>
          <a:p>
            <a:pPr algn="just"/>
            <a:endParaRPr lang="pl-PL" sz="2800" spc="-1" dirty="0">
              <a:solidFill>
                <a:srgbClr val="215968"/>
              </a:solidFill>
              <a:latin typeface="Calibri" panose="020F0502020204030204" pitchFamily="34" charset="0"/>
              <a:cs typeface="Calibri" panose="020F0502020204030204" pitchFamily="34" charset="0"/>
            </a:endParaRPr>
          </a:p>
          <a:p>
            <a:pPr algn="just"/>
            <a:r>
              <a:rPr lang="pl-PL" sz="2800" spc="-1" dirty="0">
                <a:solidFill>
                  <a:srgbClr val="215968"/>
                </a:solidFill>
                <a:latin typeface="Calibri" panose="020F0502020204030204" pitchFamily="34" charset="0"/>
                <a:cs typeface="Calibri" panose="020F0502020204030204" pitchFamily="34" charset="0"/>
              </a:rPr>
              <a:t>A</a:t>
            </a:r>
            <a:r>
              <a:rPr lang="en-US" sz="2800" spc="-1" dirty="0" err="1">
                <a:solidFill>
                  <a:srgbClr val="215968"/>
                </a:solidFill>
                <a:latin typeface="Calibri" panose="020F0502020204030204" pitchFamily="34" charset="0"/>
                <a:cs typeface="Calibri" panose="020F0502020204030204" pitchFamily="34" charset="0"/>
              </a:rPr>
              <a:t>pplications</a:t>
            </a:r>
            <a:r>
              <a:rPr lang="en-US" sz="2800" spc="-1" dirty="0">
                <a:solidFill>
                  <a:srgbClr val="215968"/>
                </a:solidFill>
                <a:latin typeface="Calibri" panose="020F0502020204030204" pitchFamily="34" charset="0"/>
                <a:cs typeface="Calibri" panose="020F0502020204030204" pitchFamily="34" charset="0"/>
              </a:rPr>
              <a:t> of Economic Experiments </a:t>
            </a:r>
          </a:p>
          <a:p>
            <a:pPr marL="457200" indent="-457200" algn="just">
              <a:buFont typeface="Arial" panose="020B0604020202020204" pitchFamily="34" charset="0"/>
              <a:buChar char="•"/>
            </a:pPr>
            <a:r>
              <a:rPr lang="en-US" sz="2400" b="1" spc="-1" dirty="0">
                <a:solidFill>
                  <a:srgbClr val="215968"/>
                </a:solidFill>
                <a:latin typeface="Calibri" panose="020F0502020204030204" pitchFamily="34" charset="0"/>
                <a:cs typeface="Calibri" panose="020F0502020204030204" pitchFamily="34" charset="0"/>
              </a:rPr>
              <a:t>Testing economic theories  </a:t>
            </a:r>
            <a:r>
              <a:rPr lang="pl-PL" sz="2400" spc="-1" dirty="0">
                <a:solidFill>
                  <a:srgbClr val="215968"/>
                </a:solidFill>
                <a:latin typeface="Calibri" panose="020F0502020204030204" pitchFamily="34" charset="0"/>
                <a:cs typeface="Calibri" panose="020F0502020204030204" pitchFamily="34" charset="0"/>
              </a:rPr>
              <a:t>(</a:t>
            </a:r>
            <a:r>
              <a:rPr lang="pl-PL" sz="2400" spc="-1" dirty="0" err="1">
                <a:solidFill>
                  <a:srgbClr val="215968"/>
                </a:solidFill>
                <a:latin typeface="Calibri" panose="020F0502020204030204" pitchFamily="34" charset="0"/>
                <a:cs typeface="Calibri" panose="020F0502020204030204" pitchFamily="34" charset="0"/>
              </a:rPr>
              <a:t>primery</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research</a:t>
            </a:r>
            <a:r>
              <a:rPr lang="pl-PL" sz="2400" spc="-1" dirty="0">
                <a:solidFill>
                  <a:srgbClr val="215968"/>
                </a:solidFill>
                <a:latin typeface="Calibri" panose="020F0502020204030204" pitchFamily="34" charset="0"/>
                <a:cs typeface="Calibri" panose="020F0502020204030204" pitchFamily="34" charset="0"/>
              </a:rPr>
              <a:t>)</a:t>
            </a:r>
            <a:endParaRPr lang="en-US" sz="2400" spc="-1" dirty="0">
              <a:solidFill>
                <a:srgbClr val="215968"/>
              </a:solidFill>
              <a:latin typeface="Calibri" panose="020F0502020204030204" pitchFamily="34" charset="0"/>
              <a:cs typeface="Calibri" panose="020F0502020204030204" pitchFamily="34" charset="0"/>
            </a:endParaRPr>
          </a:p>
          <a:p>
            <a:pPr marL="457200" indent="-4572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Search</a:t>
            </a:r>
            <a:r>
              <a:rPr lang="pl-PL" sz="2400" spc="-1" dirty="0" err="1">
                <a:solidFill>
                  <a:srgbClr val="215968"/>
                </a:solidFill>
                <a:latin typeface="Calibri" panose="020F0502020204030204" pitchFamily="34" charset="0"/>
                <a:cs typeface="Calibri" panose="020F0502020204030204" pitchFamily="34" charset="0"/>
              </a:rPr>
              <a:t>ing</a:t>
            </a:r>
            <a:r>
              <a:rPr lang="en-US" sz="2400" spc="-1" dirty="0">
                <a:solidFill>
                  <a:srgbClr val="215968"/>
                </a:solidFill>
                <a:latin typeface="Calibri" panose="020F0502020204030204" pitchFamily="34" charset="0"/>
                <a:cs typeface="Calibri" panose="020F0502020204030204" pitchFamily="34" charset="0"/>
              </a:rPr>
              <a:t> for </a:t>
            </a:r>
            <a:r>
              <a:rPr lang="en-US" sz="2400" b="1" spc="-1" dirty="0">
                <a:solidFill>
                  <a:srgbClr val="215968"/>
                </a:solidFill>
                <a:latin typeface="Calibri" panose="020F0502020204030204" pitchFamily="34" charset="0"/>
                <a:cs typeface="Calibri" panose="020F0502020204030204" pitchFamily="34" charset="0"/>
              </a:rPr>
              <a:t>unanticipated regularities </a:t>
            </a:r>
            <a:r>
              <a:rPr lang="en-US" sz="2400" spc="-1" dirty="0">
                <a:solidFill>
                  <a:srgbClr val="215968"/>
                </a:solidFill>
                <a:latin typeface="Calibri" panose="020F0502020204030204" pitchFamily="34" charset="0"/>
                <a:cs typeface="Calibri" panose="020F0502020204030204" pitchFamily="34" charset="0"/>
              </a:rPr>
              <a:t>which are not documented and not predicted by theory</a:t>
            </a:r>
          </a:p>
          <a:p>
            <a:pPr marL="457200" indent="-4572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Testing: </a:t>
            </a:r>
            <a:r>
              <a:rPr lang="en-US" sz="2400" b="1" spc="-1" dirty="0">
                <a:solidFill>
                  <a:srgbClr val="215968"/>
                </a:solidFill>
                <a:latin typeface="Calibri" panose="020F0502020204030204" pitchFamily="34" charset="0"/>
                <a:cs typeface="Calibri" panose="020F0502020204030204" pitchFamily="34" charset="0"/>
              </a:rPr>
              <a:t>institutions</a:t>
            </a:r>
            <a:r>
              <a:rPr lang="en-US" sz="2400" spc="-1" dirty="0">
                <a:solidFill>
                  <a:srgbClr val="215968"/>
                </a:solidFill>
                <a:latin typeface="Calibri" panose="020F0502020204030204" pitchFamily="34" charset="0"/>
                <a:cs typeface="Calibri" panose="020F0502020204030204" pitchFamily="34" charset="0"/>
              </a:rPr>
              <a:t>, economic policy tools and a new market design.</a:t>
            </a:r>
          </a:p>
          <a:p>
            <a:pPr marL="457200" indent="-4572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Researching </a:t>
            </a:r>
            <a:r>
              <a:rPr lang="en-US" sz="2400" b="1" spc="-1" dirty="0">
                <a:solidFill>
                  <a:srgbClr val="215968"/>
                </a:solidFill>
                <a:latin typeface="Calibri" panose="020F0502020204030204" pitchFamily="34" charset="0"/>
                <a:cs typeface="Calibri" panose="020F0502020204030204" pitchFamily="34" charset="0"/>
              </a:rPr>
              <a:t>preferences</a:t>
            </a:r>
            <a:r>
              <a:rPr lang="en-US" sz="2400" spc="-1" dirty="0">
                <a:solidFill>
                  <a:srgbClr val="215968"/>
                </a:solidFill>
                <a:latin typeface="Calibri" panose="020F0502020204030204" pitchFamily="34" charset="0"/>
                <a:cs typeface="Calibri" panose="020F0502020204030204" pitchFamily="34" charset="0"/>
              </a:rPr>
              <a:t> such as risk aversion, fairness, time discounting in different socio-demographical groups or in different situations</a:t>
            </a:r>
          </a:p>
          <a:p>
            <a:pPr marL="457200" indent="-457200" algn="just">
              <a:buFont typeface="Arial" panose="020B0604020202020204" pitchFamily="34" charset="0"/>
              <a:buChar char="•"/>
            </a:pPr>
            <a:r>
              <a:rPr lang="en-US" sz="2400" b="1" spc="-1" dirty="0">
                <a:solidFill>
                  <a:srgbClr val="215968"/>
                </a:solidFill>
                <a:latin typeface="Calibri" panose="020F0502020204030204" pitchFamily="34" charset="0"/>
                <a:cs typeface="Calibri" panose="020F0502020204030204" pitchFamily="34" charset="0"/>
              </a:rPr>
              <a:t>Replication</a:t>
            </a:r>
            <a:r>
              <a:rPr lang="en-US" sz="2400" spc="-1" dirty="0">
                <a:solidFill>
                  <a:srgbClr val="215968"/>
                </a:solidFill>
                <a:latin typeface="Calibri" panose="020F0502020204030204" pitchFamily="34" charset="0"/>
                <a:cs typeface="Calibri" panose="020F0502020204030204" pitchFamily="34" charset="0"/>
              </a:rPr>
              <a:t> of previous research and examination of the robustness of previous findings </a:t>
            </a:r>
          </a:p>
          <a:p>
            <a:pPr marL="457200" indent="-4572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Teaching </a:t>
            </a:r>
            <a:r>
              <a:rPr lang="pl-PL" sz="2400" spc="-1" dirty="0">
                <a:solidFill>
                  <a:srgbClr val="215968"/>
                </a:solidFill>
                <a:latin typeface="Calibri" panose="020F0502020204030204" pitchFamily="34" charset="0"/>
                <a:cs typeface="Calibri" panose="020F0502020204030204" pitchFamily="34" charset="0"/>
              </a:rPr>
              <a:t>by</a:t>
            </a:r>
            <a:r>
              <a:rPr lang="en-US" sz="2400" spc="-1" dirty="0">
                <a:solidFill>
                  <a:srgbClr val="215968"/>
                </a:solidFill>
                <a:latin typeface="Calibri" panose="020F0502020204030204" pitchFamily="34" charset="0"/>
                <a:cs typeface="Calibri" panose="020F0502020204030204" pitchFamily="34" charset="0"/>
              </a:rPr>
              <a:t> </a:t>
            </a:r>
            <a:r>
              <a:rPr lang="pl-PL" sz="2400" b="1" spc="-1" dirty="0" err="1">
                <a:solidFill>
                  <a:srgbClr val="215968"/>
                </a:solidFill>
                <a:latin typeface="Calibri" panose="020F0502020204030204" pitchFamily="34" charset="0"/>
                <a:cs typeface="Calibri" panose="020F0502020204030204" pitchFamily="34" charset="0"/>
              </a:rPr>
              <a:t>classroom</a:t>
            </a:r>
            <a:r>
              <a:rPr lang="pl-PL" sz="2400" b="1" spc="-1" dirty="0">
                <a:solidFill>
                  <a:srgbClr val="215968"/>
                </a:solidFill>
                <a:latin typeface="Calibri" panose="020F0502020204030204" pitchFamily="34" charset="0"/>
                <a:cs typeface="Calibri" panose="020F0502020204030204" pitchFamily="34" charset="0"/>
              </a:rPr>
              <a:t> </a:t>
            </a:r>
            <a:r>
              <a:rPr lang="en-US" sz="2400" b="1" spc="-1" dirty="0">
                <a:solidFill>
                  <a:srgbClr val="215968"/>
                </a:solidFill>
                <a:latin typeface="Calibri" panose="020F0502020204030204" pitchFamily="34" charset="0"/>
                <a:cs typeface="Calibri" panose="020F0502020204030204" pitchFamily="34" charset="0"/>
              </a:rPr>
              <a:t>experiments</a:t>
            </a:r>
            <a:r>
              <a:rPr lang="pl-PL" sz="2400" b="1"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which</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are</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demonstrations</a:t>
            </a:r>
            <a:r>
              <a:rPr lang="pl-PL" sz="2400" spc="-1" dirty="0">
                <a:solidFill>
                  <a:srgbClr val="215968"/>
                </a:solidFill>
                <a:latin typeface="Calibri" panose="020F0502020204030204" pitchFamily="34" charset="0"/>
                <a:cs typeface="Calibri" panose="020F0502020204030204" pitchFamily="34" charset="0"/>
              </a:rPr>
              <a:t> of: i) the </a:t>
            </a:r>
            <a:r>
              <a:rPr lang="pl-PL" sz="2400" spc="-1" dirty="0" err="1">
                <a:solidFill>
                  <a:srgbClr val="215968"/>
                </a:solidFill>
                <a:latin typeface="Calibri" panose="020F0502020204030204" pitchFamily="34" charset="0"/>
                <a:cs typeface="Calibri" panose="020F0502020204030204" pitchFamily="34" charset="0"/>
              </a:rPr>
              <a:t>the</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experiemntal</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metodolgy</a:t>
            </a:r>
            <a:r>
              <a:rPr lang="pl-PL" sz="2400" spc="-1" dirty="0">
                <a:solidFill>
                  <a:srgbClr val="215968"/>
                </a:solidFill>
                <a:latin typeface="Calibri" panose="020F0502020204030204" pitchFamily="34" charset="0"/>
                <a:cs typeface="Calibri" panose="020F0502020204030204" pitchFamily="34" charset="0"/>
              </a:rPr>
              <a:t> ii) </a:t>
            </a:r>
            <a:r>
              <a:rPr lang="pl-PL" sz="2400" spc="-1" dirty="0" err="1">
                <a:solidFill>
                  <a:srgbClr val="215968"/>
                </a:solidFill>
                <a:latin typeface="Calibri" panose="020F0502020204030204" pitchFamily="34" charset="0"/>
                <a:cs typeface="Calibri" panose="020F0502020204030204" pitchFamily="34" charset="0"/>
              </a:rPr>
              <a:t>economic</a:t>
            </a:r>
            <a:r>
              <a:rPr lang="pl-PL" sz="2400" spc="-1" dirty="0">
                <a:solidFill>
                  <a:srgbClr val="215968"/>
                </a:solidFill>
                <a:latin typeface="Calibri" panose="020F0502020204030204" pitchFamily="34" charset="0"/>
                <a:cs typeface="Calibri" panose="020F0502020204030204" pitchFamily="34" charset="0"/>
              </a:rPr>
              <a:t> </a:t>
            </a:r>
            <a:r>
              <a:rPr lang="pl-PL" sz="2400" spc="-1" dirty="0" err="1">
                <a:solidFill>
                  <a:srgbClr val="215968"/>
                </a:solidFill>
                <a:latin typeface="Calibri" panose="020F0502020204030204" pitchFamily="34" charset="0"/>
                <a:cs typeface="Calibri" panose="020F0502020204030204" pitchFamily="34" charset="0"/>
              </a:rPr>
              <a:t>theory</a:t>
            </a:r>
            <a:r>
              <a:rPr lang="pl-PL" sz="2400" spc="-1" dirty="0">
                <a:solidFill>
                  <a:srgbClr val="215968"/>
                </a:solidFill>
                <a:latin typeface="Calibri" panose="020F0502020204030204" pitchFamily="34" charset="0"/>
                <a:cs typeface="Calibri" panose="020F0502020204030204" pitchFamily="34" charset="0"/>
              </a:rPr>
              <a:t> </a:t>
            </a:r>
          </a:p>
          <a:p>
            <a:pPr marL="457200" indent="-457200" algn="just">
              <a:buFont typeface="Arial" panose="020B0604020202020204" pitchFamily="34" charset="0"/>
              <a:buChar char="•"/>
            </a:pPr>
            <a:endParaRPr lang="pl-PL" sz="2400" spc="-1" dirty="0">
              <a:solidFill>
                <a:srgbClr val="21596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348377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3600" b="1" i="1" spc="-1" dirty="0" err="1">
                <a:solidFill>
                  <a:srgbClr val="215968"/>
                </a:solidFill>
              </a:rPr>
              <a:t>Why</a:t>
            </a:r>
            <a:r>
              <a:rPr lang="pl-PL" sz="3600" b="1" i="1" spc="-1" dirty="0">
                <a:solidFill>
                  <a:srgbClr val="215968"/>
                </a:solidFill>
              </a:rPr>
              <a:t> </a:t>
            </a:r>
            <a:r>
              <a:rPr lang="pl-PL" sz="3600" b="1" i="1" spc="-1" dirty="0" err="1">
                <a:solidFill>
                  <a:srgbClr val="215968"/>
                </a:solidFill>
              </a:rPr>
              <a:t>experiments</a:t>
            </a:r>
            <a:r>
              <a:rPr lang="pl-PL" sz="3600" b="1" i="1" spc="-1" dirty="0">
                <a:solidFill>
                  <a:srgbClr val="215968"/>
                </a:solidFill>
              </a:rPr>
              <a:t>?</a:t>
            </a:r>
            <a:endParaRPr lang="en-GB" sz="2400" b="1" i="1" dirty="0"/>
          </a:p>
        </p:txBody>
      </p:sp>
      <p:sp>
        <p:nvSpPr>
          <p:cNvPr id="49" name="TextShape 2"/>
          <p:cNvSpPr txBox="1"/>
          <p:nvPr/>
        </p:nvSpPr>
        <p:spPr>
          <a:xfrm>
            <a:off x="6025415" y="1168142"/>
            <a:ext cx="6022206" cy="5689858"/>
          </a:xfrm>
          <a:prstGeom prst="rect">
            <a:avLst/>
          </a:prstGeom>
          <a:noFill/>
          <a:ln>
            <a:noFill/>
          </a:ln>
        </p:spPr>
        <p:txBody>
          <a:bodyPr/>
          <a:lstStyle/>
          <a:p>
            <a:pPr algn="just"/>
            <a:r>
              <a:rPr lang="pl-PL" sz="2000" spc="-1" dirty="0" err="1">
                <a:solidFill>
                  <a:srgbClr val="215968"/>
                </a:solidFill>
                <a:latin typeface="Calibri" panose="020F0502020204030204" pitchFamily="34" charset="0"/>
                <a:cs typeface="Calibri" panose="020F0502020204030204" pitchFamily="34" charset="0"/>
              </a:rPr>
              <a:t>Main</a:t>
            </a:r>
            <a:r>
              <a:rPr lang="pl-PL" sz="2000" spc="-1" dirty="0">
                <a:solidFill>
                  <a:srgbClr val="215968"/>
                </a:solidFill>
                <a:latin typeface="Calibri" panose="020F0502020204030204" pitchFamily="34" charset="0"/>
                <a:cs typeface="Calibri" panose="020F0502020204030204" pitchFamily="34" charset="0"/>
              </a:rPr>
              <a:t> </a:t>
            </a:r>
            <a:r>
              <a:rPr lang="pl-PL" sz="2000" spc="-1" dirty="0" err="1">
                <a:solidFill>
                  <a:srgbClr val="215968"/>
                </a:solidFill>
                <a:latin typeface="Calibri" panose="020F0502020204030204" pitchFamily="34" charset="0"/>
                <a:cs typeface="Calibri" panose="020F0502020204030204" pitchFamily="34" charset="0"/>
              </a:rPr>
              <a:t>types</a:t>
            </a:r>
            <a:r>
              <a:rPr lang="pl-PL" sz="2000" spc="-1" dirty="0">
                <a:solidFill>
                  <a:srgbClr val="215968"/>
                </a:solidFill>
                <a:latin typeface="Calibri" panose="020F0502020204030204" pitchFamily="34" charset="0"/>
                <a:cs typeface="Calibri" panose="020F0502020204030204" pitchFamily="34" charset="0"/>
              </a:rPr>
              <a:t> </a:t>
            </a:r>
            <a:r>
              <a:rPr lang="en-US" sz="2000" spc="-1" dirty="0">
                <a:solidFill>
                  <a:srgbClr val="215968"/>
                </a:solidFill>
                <a:latin typeface="Calibri" panose="020F0502020204030204" pitchFamily="34" charset="0"/>
                <a:cs typeface="Calibri" panose="020F0502020204030204" pitchFamily="34" charset="0"/>
              </a:rPr>
              <a:t>of economic experiments</a:t>
            </a:r>
            <a:r>
              <a:rPr lang="pl-PL" sz="2000" spc="-1" dirty="0">
                <a:solidFill>
                  <a:srgbClr val="215968"/>
                </a:solidFill>
                <a:latin typeface="Calibri" panose="020F0502020204030204" pitchFamily="34" charset="0"/>
                <a:cs typeface="Calibri" panose="020F0502020204030204" pitchFamily="34" charset="0"/>
              </a:rPr>
              <a:t>:</a:t>
            </a:r>
          </a:p>
          <a:p>
            <a:pPr marL="182563" indent="-182563" algn="just">
              <a:buFont typeface="Arial" panose="020B0604020202020204" pitchFamily="34" charset="0"/>
              <a:buChar char="•"/>
            </a:pPr>
            <a:r>
              <a:rPr lang="en-US" b="1" spc="-1" dirty="0">
                <a:solidFill>
                  <a:srgbClr val="215968"/>
                </a:solidFill>
                <a:latin typeface="Calibri" panose="020F0502020204030204" pitchFamily="34" charset="0"/>
                <a:cs typeface="Calibri" panose="020F0502020204030204" pitchFamily="34" charset="0"/>
              </a:rPr>
              <a:t>Conventional lab</a:t>
            </a:r>
            <a:r>
              <a:rPr lang="pl-PL" b="1" spc="-1" dirty="0" err="1">
                <a:solidFill>
                  <a:srgbClr val="215968"/>
                </a:solidFill>
                <a:latin typeface="Calibri" panose="020F0502020204030204" pitchFamily="34" charset="0"/>
                <a:cs typeface="Calibri" panose="020F0502020204030204" pitchFamily="34" charset="0"/>
              </a:rPr>
              <a:t>olatory</a:t>
            </a:r>
            <a:r>
              <a:rPr lang="en-US" b="1" spc="-1" dirty="0">
                <a:solidFill>
                  <a:srgbClr val="215968"/>
                </a:solidFill>
                <a:latin typeface="Calibri" panose="020F0502020204030204" pitchFamily="34" charset="0"/>
                <a:cs typeface="Calibri" panose="020F0502020204030204" pitchFamily="34" charset="0"/>
              </a:rPr>
              <a:t> experiment</a:t>
            </a:r>
            <a:r>
              <a:rPr lang="pl-PL" b="1"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We can treat this type of experiment as a benchmark </a:t>
            </a:r>
            <a:r>
              <a:rPr lang="pl-PL" spc="-1" dirty="0" err="1">
                <a:solidFill>
                  <a:srgbClr val="215968"/>
                </a:solidFill>
                <a:latin typeface="Calibri" panose="020F0502020204030204" pitchFamily="34" charset="0"/>
                <a:cs typeface="Calibri" panose="020F0502020204030204" pitchFamily="34" charset="0"/>
              </a:rPr>
              <a:t>becouse</a:t>
            </a:r>
            <a:r>
              <a:rPr lang="pl-PL" spc="-1" dirty="0">
                <a:solidFill>
                  <a:srgbClr val="215968"/>
                </a:solidFill>
                <a:latin typeface="Calibri" panose="020F0502020204030204" pitchFamily="34" charset="0"/>
                <a:cs typeface="Calibri" panose="020F0502020204030204" pitchFamily="34" charset="0"/>
              </a:rPr>
              <a:t> </a:t>
            </a:r>
            <a:r>
              <a:rPr lang="pl-PL" spc="-1" dirty="0" err="1">
                <a:solidFill>
                  <a:srgbClr val="215968"/>
                </a:solidFill>
                <a:latin typeface="Calibri" panose="020F0502020204030204" pitchFamily="34" charset="0"/>
                <a:cs typeface="Calibri" panose="020F0502020204030204" pitchFamily="34" charset="0"/>
              </a:rPr>
              <a:t>it</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provide</a:t>
            </a:r>
            <a:r>
              <a:rPr lang="pl-PL" spc="-1" dirty="0">
                <a:solidFill>
                  <a:srgbClr val="215968"/>
                </a:solidFill>
                <a:latin typeface="Calibri" panose="020F0502020204030204" pitchFamily="34" charset="0"/>
                <a:cs typeface="Calibri" panose="020F0502020204030204" pitchFamily="34" charset="0"/>
              </a:rPr>
              <a:t>s the </a:t>
            </a:r>
            <a:r>
              <a:rPr lang="pl-PL" spc="-1" dirty="0" err="1">
                <a:solidFill>
                  <a:srgbClr val="215968"/>
                </a:solidFill>
                <a:latin typeface="Calibri" panose="020F0502020204030204" pitchFamily="34" charset="0"/>
                <a:cs typeface="Calibri" panose="020F0502020204030204" pitchFamily="34" charset="0"/>
              </a:rPr>
              <a:t>best</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control</a:t>
            </a:r>
            <a:r>
              <a:rPr lang="pl-PL" spc="-1" dirty="0">
                <a:solidFill>
                  <a:srgbClr val="215968"/>
                </a:solidFill>
                <a:latin typeface="Calibri" panose="020F0502020204030204" pitchFamily="34" charset="0"/>
                <a:cs typeface="Calibri" panose="020F0502020204030204" pitchFamily="34" charset="0"/>
              </a:rPr>
              <a:t> </a:t>
            </a:r>
            <a:r>
              <a:rPr lang="pl-PL" spc="-1" dirty="0" err="1">
                <a:solidFill>
                  <a:srgbClr val="215968"/>
                </a:solidFill>
                <a:latin typeface="Calibri" panose="020F0502020204030204" pitchFamily="34" charset="0"/>
                <a:cs typeface="Calibri" panose="020F0502020204030204" pitchFamily="34" charset="0"/>
              </a:rPr>
              <a:t>conditions</a:t>
            </a:r>
            <a:r>
              <a:rPr lang="en-US" spc="-1" dirty="0">
                <a:solidFill>
                  <a:srgbClr val="215968"/>
                </a:solidFill>
                <a:latin typeface="Calibri" panose="020F0502020204030204" pitchFamily="34" charset="0"/>
                <a:cs typeface="Calibri" panose="020F0502020204030204" pitchFamily="34" charset="0"/>
              </a:rPr>
              <a:t>:</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abstract decision problem</a:t>
            </a:r>
            <a:r>
              <a:rPr lang="pl-PL" spc="-1" dirty="0">
                <a:solidFill>
                  <a:srgbClr val="215968"/>
                </a:solidFill>
                <a:latin typeface="Calibri" panose="020F0502020204030204" pitchFamily="34" charset="0"/>
                <a:cs typeface="Calibri" panose="020F0502020204030204" pitchFamily="34" charset="0"/>
              </a:rPr>
              <a:t>,</a:t>
            </a:r>
            <a:r>
              <a:rPr lang="en-US" spc="-1" dirty="0">
                <a:solidFill>
                  <a:srgbClr val="215968"/>
                </a:solidFill>
                <a:latin typeface="Calibri" panose="020F0502020204030204" pitchFamily="34" charset="0"/>
                <a:cs typeface="Calibri" panose="020F0502020204030204" pitchFamily="34" charset="0"/>
              </a:rPr>
              <a:t>  homogeneity of subject</a:t>
            </a:r>
            <a:r>
              <a:rPr lang="pl-PL" spc="-1" dirty="0">
                <a:solidFill>
                  <a:srgbClr val="215968"/>
                </a:solidFill>
                <a:latin typeface="Calibri" panose="020F0502020204030204" pitchFamily="34" charset="0"/>
                <a:cs typeface="Calibri" panose="020F0502020204030204" pitchFamily="34" charset="0"/>
              </a:rPr>
              <a:t>s </a:t>
            </a:r>
            <a:r>
              <a:rPr lang="en-US" spc="-1" dirty="0">
                <a:solidFill>
                  <a:srgbClr val="215968"/>
                </a:solidFill>
                <a:latin typeface="Calibri" panose="020F0502020204030204" pitchFamily="34" charset="0"/>
                <a:cs typeface="Calibri" panose="020F0502020204030204" pitchFamily="34" charset="0"/>
              </a:rPr>
              <a:t>(students)</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avoiding some self-selection problems by randomization</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setting communication rules and time restriction by using special lab and software,.....</a:t>
            </a:r>
            <a:endParaRPr lang="pl-PL" spc="-1" dirty="0">
              <a:solidFill>
                <a:srgbClr val="215968"/>
              </a:solidFill>
              <a:latin typeface="Calibri" panose="020F0502020204030204" pitchFamily="34" charset="0"/>
              <a:cs typeface="Calibri" panose="020F0502020204030204" pitchFamily="34" charset="0"/>
            </a:endParaRPr>
          </a:p>
          <a:p>
            <a:pPr marL="182563" indent="-182563" algn="just">
              <a:buFont typeface="Arial" panose="020B0604020202020204" pitchFamily="34" charset="0"/>
              <a:buChar char="•"/>
            </a:pPr>
            <a:r>
              <a:rPr lang="en-US" b="1" spc="-1" dirty="0" err="1">
                <a:solidFill>
                  <a:srgbClr val="215968"/>
                </a:solidFill>
                <a:latin typeface="Calibri" panose="020F0502020204030204" pitchFamily="34" charset="0"/>
                <a:cs typeface="Calibri" panose="020F0502020204030204" pitchFamily="34" charset="0"/>
              </a:rPr>
              <a:t>Artefactual</a:t>
            </a:r>
            <a:r>
              <a:rPr lang="en-US" b="1" spc="-1" dirty="0">
                <a:solidFill>
                  <a:srgbClr val="215968"/>
                </a:solidFill>
                <a:latin typeface="Calibri" panose="020F0502020204030204" pitchFamily="34" charset="0"/>
                <a:cs typeface="Calibri" panose="020F0502020204030204" pitchFamily="34" charset="0"/>
              </a:rPr>
              <a:t> field experiment</a:t>
            </a:r>
            <a:r>
              <a:rPr lang="pl-PL" b="1" spc="-1" dirty="0">
                <a:solidFill>
                  <a:srgbClr val="215968"/>
                </a:solidFill>
                <a:latin typeface="Calibri" panose="020F0502020204030204" pitchFamily="34" charset="0"/>
                <a:cs typeface="Calibri" panose="020F0502020204030204" pitchFamily="34" charset="0"/>
              </a:rPr>
              <a:t> </a:t>
            </a:r>
            <a:r>
              <a:rPr lang="pl-PL"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as a laboratory experiment but conducted outside the laboratory on non - student subjects</a:t>
            </a:r>
            <a:r>
              <a:rPr lang="pl-PL" spc="-1" dirty="0">
                <a:solidFill>
                  <a:srgbClr val="215968"/>
                </a:solidFill>
                <a:latin typeface="Calibri" panose="020F0502020204030204" pitchFamily="34" charset="0"/>
                <a:cs typeface="Calibri" panose="020F0502020204030204" pitchFamily="34" charset="0"/>
              </a:rPr>
              <a:t> (</a:t>
            </a:r>
            <a:r>
              <a:rPr lang="pl-PL" spc="-1" dirty="0" err="1">
                <a:solidFill>
                  <a:srgbClr val="215968"/>
                </a:solidFill>
                <a:latin typeface="Calibri" panose="020F0502020204030204" pitchFamily="34" charset="0"/>
                <a:cs typeface="Calibri" panose="020F0502020204030204" pitchFamily="34" charset="0"/>
              </a:rPr>
              <a:t>large</a:t>
            </a:r>
            <a:r>
              <a:rPr lang="pl-PL" spc="-1" dirty="0">
                <a:solidFill>
                  <a:srgbClr val="215968"/>
                </a:solidFill>
                <a:latin typeface="Calibri" panose="020F0502020204030204" pitchFamily="34" charset="0"/>
                <a:cs typeface="Calibri" panose="020F0502020204030204" pitchFamily="34" charset="0"/>
              </a:rPr>
              <a:t> </a:t>
            </a:r>
            <a:r>
              <a:rPr lang="pl-PL" spc="-1" dirty="0" err="1">
                <a:solidFill>
                  <a:srgbClr val="215968"/>
                </a:solidFill>
                <a:latin typeface="Calibri" panose="020F0502020204030204" pitchFamily="34" charset="0"/>
                <a:cs typeface="Calibri" panose="020F0502020204030204" pitchFamily="34" charset="0"/>
              </a:rPr>
              <a:t>scale</a:t>
            </a:r>
            <a:r>
              <a:rPr lang="pl-PL" spc="-1" dirty="0">
                <a:solidFill>
                  <a:srgbClr val="215968"/>
                </a:solidFill>
                <a:latin typeface="Calibri" panose="020F0502020204030204" pitchFamily="34" charset="0"/>
                <a:cs typeface="Calibri" panose="020F0502020204030204" pitchFamily="34" charset="0"/>
              </a:rPr>
              <a:t> on-line </a:t>
            </a:r>
            <a:r>
              <a:rPr lang="pl-PL" spc="-1" dirty="0" err="1">
                <a:solidFill>
                  <a:srgbClr val="215968"/>
                </a:solidFill>
                <a:latin typeface="Calibri" panose="020F0502020204030204" pitchFamily="34" charset="0"/>
                <a:cs typeface="Calibri" panose="020F0502020204030204" pitchFamily="34" charset="0"/>
              </a:rPr>
              <a:t>experiments</a:t>
            </a:r>
            <a:r>
              <a:rPr lang="pl-PL" spc="-1" dirty="0">
                <a:solidFill>
                  <a:srgbClr val="215968"/>
                </a:solidFill>
                <a:latin typeface="Calibri" panose="020F0502020204030204" pitchFamily="34" charset="0"/>
                <a:cs typeface="Calibri" panose="020F0502020204030204" pitchFamily="34" charset="0"/>
              </a:rPr>
              <a:t> </a:t>
            </a:r>
            <a:r>
              <a:rPr lang="pl-PL" spc="-1" dirty="0" err="1">
                <a:solidFill>
                  <a:srgbClr val="215968"/>
                </a:solidFill>
                <a:latin typeface="Calibri" panose="020F0502020204030204" pitchFamily="34" charset="0"/>
                <a:cs typeface="Calibri" panose="020F0502020204030204" pitchFamily="34" charset="0"/>
              </a:rPr>
              <a:t>too</a:t>
            </a:r>
            <a:r>
              <a:rPr lang="pl-PL" spc="-1" dirty="0">
                <a:solidFill>
                  <a:srgbClr val="215968"/>
                </a:solidFill>
                <a:latin typeface="Calibri" panose="020F0502020204030204" pitchFamily="34" charset="0"/>
                <a:cs typeface="Calibri" panose="020F0502020204030204" pitchFamily="34" charset="0"/>
              </a:rPr>
              <a:t>)</a:t>
            </a:r>
            <a:r>
              <a:rPr lang="en-US" spc="-1" dirty="0">
                <a:solidFill>
                  <a:srgbClr val="215968"/>
                </a:solidFill>
                <a:latin typeface="Calibri" panose="020F0502020204030204" pitchFamily="34" charset="0"/>
                <a:cs typeface="Calibri" panose="020F0502020204030204" pitchFamily="34" charset="0"/>
              </a:rPr>
              <a:t>.</a:t>
            </a:r>
            <a:r>
              <a:rPr lang="pl-PL" spc="-1" dirty="0">
                <a:solidFill>
                  <a:srgbClr val="215968"/>
                </a:solidFill>
                <a:latin typeface="Calibri" panose="020F0502020204030204" pitchFamily="34" charset="0"/>
                <a:cs typeface="Calibri" panose="020F0502020204030204" pitchFamily="34" charset="0"/>
              </a:rPr>
              <a:t> </a:t>
            </a:r>
          </a:p>
          <a:p>
            <a:pPr marL="182563" indent="-182563" algn="just">
              <a:buFont typeface="Arial" panose="020B0604020202020204" pitchFamily="34" charset="0"/>
              <a:buChar char="•"/>
            </a:pPr>
            <a:r>
              <a:rPr lang="en-US" b="1" spc="-1" dirty="0">
                <a:solidFill>
                  <a:srgbClr val="215968"/>
                </a:solidFill>
                <a:latin typeface="Calibri" panose="020F0502020204030204" pitchFamily="34" charset="0"/>
                <a:cs typeface="Calibri" panose="020F0502020204030204" pitchFamily="34" charset="0"/>
              </a:rPr>
              <a:t>Framed field experiment</a:t>
            </a:r>
            <a:r>
              <a:rPr lang="pl-PL" b="1"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same as an </a:t>
            </a:r>
            <a:r>
              <a:rPr lang="en-US" spc="-1" dirty="0" err="1">
                <a:solidFill>
                  <a:srgbClr val="215968"/>
                </a:solidFill>
                <a:latin typeface="Calibri" panose="020F0502020204030204" pitchFamily="34" charset="0"/>
                <a:cs typeface="Calibri" panose="020F0502020204030204" pitchFamily="34" charset="0"/>
              </a:rPr>
              <a:t>artefactual</a:t>
            </a:r>
            <a:r>
              <a:rPr lang="en-US" spc="-1" dirty="0">
                <a:solidFill>
                  <a:srgbClr val="215968"/>
                </a:solidFill>
                <a:latin typeface="Calibri" panose="020F0502020204030204" pitchFamily="34" charset="0"/>
                <a:cs typeface="Calibri" panose="020F0502020204030204" pitchFamily="34" charset="0"/>
              </a:rPr>
              <a:t> field experiment, the context (frame) is related to real economic problems not abstract decision problem as in lab experiments</a:t>
            </a:r>
            <a:r>
              <a:rPr lang="pl-PL" spc="-1" dirty="0">
                <a:solidFill>
                  <a:srgbClr val="215968"/>
                </a:solidFill>
                <a:latin typeface="Calibri" panose="020F0502020204030204" pitchFamily="34" charset="0"/>
                <a:cs typeface="Calibri" panose="020F0502020204030204" pitchFamily="34" charset="0"/>
              </a:rPr>
              <a:t>.</a:t>
            </a:r>
          </a:p>
          <a:p>
            <a:pPr marL="182563" indent="-182563" algn="just">
              <a:buFont typeface="Arial" panose="020B0604020202020204" pitchFamily="34" charset="0"/>
              <a:buChar char="•"/>
            </a:pPr>
            <a:r>
              <a:rPr lang="en-US" b="1" spc="-1" dirty="0">
                <a:solidFill>
                  <a:srgbClr val="215968"/>
                </a:solidFill>
                <a:latin typeface="Calibri" panose="020F0502020204030204" pitchFamily="34" charset="0"/>
                <a:cs typeface="Calibri" panose="020F0502020204030204" pitchFamily="34" charset="0"/>
              </a:rPr>
              <a:t>Natural Field Experiment</a:t>
            </a:r>
            <a:r>
              <a:rPr lang="pl-PL" b="1" spc="-1" dirty="0">
                <a:solidFill>
                  <a:srgbClr val="215968"/>
                </a:solidFill>
                <a:latin typeface="Calibri" panose="020F0502020204030204" pitchFamily="34" charset="0"/>
                <a:cs typeface="Calibri" panose="020F0502020204030204" pitchFamily="34" charset="0"/>
              </a:rPr>
              <a:t> </a:t>
            </a:r>
            <a:r>
              <a:rPr lang="en-US" spc="-1" dirty="0">
                <a:solidFill>
                  <a:srgbClr val="215968"/>
                </a:solidFill>
                <a:latin typeface="Calibri" panose="020F0502020204030204" pitchFamily="34" charset="0"/>
                <a:cs typeface="Calibri" panose="020F0502020204030204" pitchFamily="34" charset="0"/>
              </a:rPr>
              <a:t>same as a framed field experiment but subjects do not know that they are in an experiment.</a:t>
            </a:r>
            <a:endParaRPr lang="pl-PL" spc="-1" dirty="0">
              <a:solidFill>
                <a:srgbClr val="215968"/>
              </a:solidFill>
              <a:latin typeface="Calibri" panose="020F0502020204030204" pitchFamily="34" charset="0"/>
              <a:cs typeface="Calibri" panose="020F0502020204030204" pitchFamily="34" charset="0"/>
            </a:endParaRPr>
          </a:p>
          <a:p>
            <a:pPr marL="182563" indent="-182563" algn="just">
              <a:buFont typeface="Arial" panose="020B0604020202020204" pitchFamily="34" charset="0"/>
              <a:buChar char="•"/>
            </a:pPr>
            <a:r>
              <a:rPr lang="en-US" b="1" spc="-1" dirty="0">
                <a:solidFill>
                  <a:schemeClr val="accent6">
                    <a:lumMod val="50000"/>
                  </a:schemeClr>
                </a:solidFill>
                <a:latin typeface="Calibri" panose="020F0502020204030204" pitchFamily="34" charset="0"/>
                <a:cs typeface="Calibri" panose="020F0502020204030204" pitchFamily="34" charset="0"/>
              </a:rPr>
              <a:t>Natural and non-planned experiments;</a:t>
            </a:r>
            <a:r>
              <a:rPr lang="en-US" spc="-1" dirty="0">
                <a:solidFill>
                  <a:schemeClr val="accent6">
                    <a:lumMod val="50000"/>
                  </a:schemeClr>
                </a:solidFill>
                <a:latin typeface="Calibri" panose="020F0502020204030204" pitchFamily="34" charset="0"/>
                <a:cs typeface="Calibri" panose="020F0502020204030204" pitchFamily="34" charset="0"/>
              </a:rPr>
              <a:t> the big data includes the information about the results of </a:t>
            </a:r>
            <a:r>
              <a:rPr lang="pl-PL" spc="-1" dirty="0">
                <a:solidFill>
                  <a:schemeClr val="accent6">
                    <a:lumMod val="50000"/>
                  </a:schemeClr>
                </a:solidFill>
                <a:latin typeface="Calibri" panose="020F0502020204030204" pitchFamily="34" charset="0"/>
                <a:cs typeface="Calibri" panose="020F0502020204030204" pitchFamily="34" charset="0"/>
              </a:rPr>
              <a:t>big data </a:t>
            </a:r>
            <a:r>
              <a:rPr lang="pl-PL" spc="-1" dirty="0" err="1">
                <a:solidFill>
                  <a:schemeClr val="accent6">
                    <a:lumMod val="50000"/>
                  </a:schemeClr>
                </a:solidFill>
                <a:latin typeface="Calibri" panose="020F0502020204030204" pitchFamily="34" charset="0"/>
                <a:cs typeface="Calibri" panose="020F0502020204030204" pitchFamily="34" charset="0"/>
              </a:rPr>
              <a:t>experiments</a:t>
            </a:r>
            <a:r>
              <a:rPr lang="en-US" spc="-1" dirty="0">
                <a:solidFill>
                  <a:schemeClr val="accent6">
                    <a:lumMod val="50000"/>
                  </a:schemeClr>
                </a:solidFill>
                <a:latin typeface="Calibri" panose="020F0502020204030204" pitchFamily="34" charset="0"/>
                <a:cs typeface="Calibri" panose="020F0502020204030204" pitchFamily="34" charset="0"/>
              </a:rPr>
              <a:t>/</a:t>
            </a:r>
            <a:r>
              <a:rPr lang="pl-PL" spc="-1" dirty="0">
                <a:solidFill>
                  <a:schemeClr val="accent6">
                    <a:lumMod val="50000"/>
                  </a:schemeClr>
                </a:solidFill>
                <a:latin typeface="Calibri" panose="020F0502020204030204" pitchFamily="34" charset="0"/>
                <a:cs typeface="Calibri" panose="020F0502020204030204" pitchFamily="34" charset="0"/>
              </a:rPr>
              <a:t> </a:t>
            </a:r>
            <a:r>
              <a:rPr lang="en-US" spc="-1" dirty="0">
                <a:solidFill>
                  <a:schemeClr val="accent6">
                    <a:lumMod val="50000"/>
                  </a:schemeClr>
                </a:solidFill>
                <a:latin typeface="Calibri" panose="020F0502020204030204" pitchFamily="34" charset="0"/>
                <a:cs typeface="Calibri" panose="020F0502020204030204" pitchFamily="34" charset="0"/>
              </a:rPr>
              <a:t>we have to find tools how to extract the results of the </a:t>
            </a:r>
            <a:r>
              <a:rPr lang="pl-PL" spc="-1" dirty="0" err="1">
                <a:solidFill>
                  <a:schemeClr val="accent6">
                    <a:lumMod val="50000"/>
                  </a:schemeClr>
                </a:solidFill>
                <a:latin typeface="Calibri" panose="020F0502020204030204" pitchFamily="34" charset="0"/>
                <a:cs typeface="Calibri" panose="020F0502020204030204" pitchFamily="34" charset="0"/>
              </a:rPr>
              <a:t>them</a:t>
            </a:r>
            <a:r>
              <a:rPr lang="en-US" spc="-1" dirty="0">
                <a:solidFill>
                  <a:schemeClr val="accent6">
                    <a:lumMod val="50000"/>
                  </a:schemeClr>
                </a:solidFill>
                <a:latin typeface="Calibri" panose="020F0502020204030204" pitchFamily="34" charset="0"/>
                <a:cs typeface="Calibri" panose="020F0502020204030204" pitchFamily="34" charset="0"/>
              </a:rPr>
              <a:t>. (my new category)</a:t>
            </a:r>
          </a:p>
        </p:txBody>
      </p:sp>
      <p:sp>
        <p:nvSpPr>
          <p:cNvPr id="5" name="TextShape 2"/>
          <p:cNvSpPr txBox="1"/>
          <p:nvPr/>
        </p:nvSpPr>
        <p:spPr>
          <a:xfrm>
            <a:off x="137962" y="1168142"/>
            <a:ext cx="5887453" cy="5550292"/>
          </a:xfrm>
          <a:prstGeom prst="rect">
            <a:avLst/>
          </a:prstGeom>
          <a:noFill/>
          <a:ln>
            <a:noFill/>
          </a:ln>
        </p:spPr>
        <p:txBody>
          <a:bodyPr/>
          <a:lstStyle/>
          <a:p>
            <a:pPr algn="just"/>
            <a:r>
              <a:rPr lang="en-US" sz="2400" spc="-1" dirty="0">
                <a:solidFill>
                  <a:srgbClr val="215968"/>
                </a:solidFill>
                <a:latin typeface="Calibri" panose="020F0502020204030204" pitchFamily="34" charset="0"/>
                <a:cs typeface="Calibri" panose="020F0502020204030204" pitchFamily="34" charset="0"/>
              </a:rPr>
              <a:t>The classification of experiments can be carried out according to two criteria -&gt; control of the experimental environment and the reflection of real economic processes. There is some tradeoff between these criteria.</a:t>
            </a:r>
          </a:p>
          <a:p>
            <a:pPr marL="342900" indent="-3429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Significant control is achieved during laboratory experiments. These experiments are poorly set in the real social context.</a:t>
            </a:r>
            <a:endParaRPr lang="pl-PL" sz="2400" spc="-1" dirty="0">
              <a:solidFill>
                <a:srgbClr val="215968"/>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400" spc="-1" dirty="0">
                <a:solidFill>
                  <a:srgbClr val="215968"/>
                </a:solidFill>
                <a:latin typeface="Calibri" panose="020F0502020204030204" pitchFamily="34" charset="0"/>
                <a:cs typeface="Calibri" panose="020F0502020204030204" pitchFamily="34" charset="0"/>
              </a:rPr>
              <a:t>In natural experiments, control of the experimental conditions is low, but researchers have the opportunity to observe the participants in their natural environment. It is like an anthropological study. </a:t>
            </a:r>
          </a:p>
        </p:txBody>
      </p:sp>
    </p:spTree>
    <p:extLst>
      <p:ext uri="{BB962C8B-B14F-4D97-AF65-F5344CB8AC3E}">
        <p14:creationId xmlns:p14="http://schemas.microsoft.com/office/powerpoint/2010/main" val="389336747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3600" b="1" i="1" spc="-1" dirty="0">
                <a:solidFill>
                  <a:srgbClr val="215968"/>
                </a:solidFill>
              </a:rPr>
              <a:t>How </a:t>
            </a:r>
            <a:r>
              <a:rPr lang="pl-PL" sz="3600" b="1" i="1" spc="-1" dirty="0" err="1">
                <a:solidFill>
                  <a:srgbClr val="215968"/>
                </a:solidFill>
              </a:rPr>
              <a:t>conduct</a:t>
            </a:r>
            <a:r>
              <a:rPr lang="pl-PL" sz="3600" b="1" i="1" spc="-1" dirty="0">
                <a:solidFill>
                  <a:srgbClr val="215968"/>
                </a:solidFill>
              </a:rPr>
              <a:t> the </a:t>
            </a:r>
            <a:r>
              <a:rPr lang="pl-PL" sz="3600" b="1" i="1" spc="-1" dirty="0" err="1">
                <a:solidFill>
                  <a:srgbClr val="215968"/>
                </a:solidFill>
              </a:rPr>
              <a:t>experiments</a:t>
            </a:r>
            <a:r>
              <a:rPr lang="pl-PL" sz="3600" b="1" i="1" spc="-1" dirty="0">
                <a:solidFill>
                  <a:srgbClr val="215968"/>
                </a:solidFill>
              </a:rPr>
              <a:t>?</a:t>
            </a:r>
            <a:endParaRPr lang="en-GB" sz="2400" b="1" i="1" dirty="0"/>
          </a:p>
        </p:txBody>
      </p:sp>
      <p:sp>
        <p:nvSpPr>
          <p:cNvPr id="49" name="TextShape 2"/>
          <p:cNvSpPr txBox="1"/>
          <p:nvPr/>
        </p:nvSpPr>
        <p:spPr>
          <a:xfrm>
            <a:off x="288654" y="1515121"/>
            <a:ext cx="11385835" cy="4778675"/>
          </a:xfrm>
          <a:prstGeom prst="rect">
            <a:avLst/>
          </a:prstGeom>
          <a:noFill/>
          <a:ln>
            <a:noFill/>
          </a:ln>
        </p:spPr>
        <p:txBody>
          <a:bodyPr/>
          <a:lstStyle/>
          <a:p>
            <a:pPr algn="just"/>
            <a:r>
              <a:rPr lang="en-US" sz="2800" spc="-1" dirty="0">
                <a:solidFill>
                  <a:srgbClr val="215968"/>
                </a:solidFill>
                <a:latin typeface="Calibri" panose="020F0502020204030204" pitchFamily="34" charset="0"/>
                <a:cs typeface="Calibri" panose="020F0502020204030204" pitchFamily="34" charset="0"/>
              </a:rPr>
              <a:t>Conventional </a:t>
            </a:r>
            <a:r>
              <a:rPr lang="en-US" sz="2800" spc="-1" dirty="0" err="1">
                <a:solidFill>
                  <a:srgbClr val="215968"/>
                </a:solidFill>
                <a:latin typeface="Calibri" panose="020F0502020204030204" pitchFamily="34" charset="0"/>
                <a:cs typeface="Calibri" panose="020F0502020204030204" pitchFamily="34" charset="0"/>
              </a:rPr>
              <a:t>labolatory</a:t>
            </a:r>
            <a:r>
              <a:rPr lang="en-US" sz="2800" spc="-1" dirty="0">
                <a:solidFill>
                  <a:srgbClr val="215968"/>
                </a:solidFill>
                <a:latin typeface="Calibri" panose="020F0502020204030204" pitchFamily="34" charset="0"/>
                <a:cs typeface="Calibri" panose="020F0502020204030204" pitchFamily="34" charset="0"/>
              </a:rPr>
              <a:t> experiment. </a:t>
            </a:r>
            <a:endParaRPr lang="pl-PL" sz="2800" spc="-1" dirty="0">
              <a:solidFill>
                <a:srgbClr val="215968"/>
              </a:solidFill>
              <a:latin typeface="Calibri" panose="020F0502020204030204" pitchFamily="34" charset="0"/>
              <a:cs typeface="Calibri" panose="020F0502020204030204" pitchFamily="34" charset="0"/>
            </a:endParaRPr>
          </a:p>
          <a:p>
            <a:pPr algn="just"/>
            <a:endParaRPr lang="pl-PL" sz="2800"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The strict rules of creating laboratory design and protocol of the experiment are the most important factors affecting the creditability of experimental economics. Thanks to them, economic experiments are replicated in about 60%. For social sciences, this result is very good.</a:t>
            </a:r>
            <a:endParaRPr lang="pl-PL" sz="2800" spc="-1" dirty="0">
              <a:solidFill>
                <a:srgbClr val="215968"/>
              </a:solidFill>
              <a:latin typeface="Calibri" panose="020F0502020204030204" pitchFamily="34" charset="0"/>
              <a:cs typeface="Calibri" panose="020F0502020204030204" pitchFamily="34" charset="0"/>
            </a:endParaRPr>
          </a:p>
          <a:p>
            <a:pPr algn="just"/>
            <a:r>
              <a:rPr lang="en-US" b="1" spc="-1" dirty="0">
                <a:solidFill>
                  <a:srgbClr val="215968"/>
                </a:solidFill>
                <a:latin typeface="Calibri" panose="020F0502020204030204" pitchFamily="34" charset="0"/>
                <a:cs typeface="Calibri" panose="020F0502020204030204" pitchFamily="34" charset="0"/>
                <a:hlinkClick r:id="rId2"/>
              </a:rPr>
              <a:t>https://economics.stanford.edu/sites/default/files/eerp_sci_camerer_published_mainplussom_2016-1.pdf</a:t>
            </a:r>
            <a:endParaRPr lang="pl-PL" b="1" spc="-1" dirty="0">
              <a:solidFill>
                <a:srgbClr val="215968"/>
              </a:solidFill>
              <a:latin typeface="Calibri" panose="020F0502020204030204" pitchFamily="34" charset="0"/>
              <a:cs typeface="Calibri" panose="020F0502020204030204" pitchFamily="34" charset="0"/>
            </a:endParaRPr>
          </a:p>
          <a:p>
            <a:pPr algn="just"/>
            <a:endParaRPr lang="en-US" sz="2800" b="1" spc="-1" dirty="0">
              <a:solidFill>
                <a:srgbClr val="215968"/>
              </a:solidFill>
              <a:latin typeface="Calibri" panose="020F0502020204030204" pitchFamily="34" charset="0"/>
              <a:cs typeface="Calibri" panose="020F0502020204030204" pitchFamily="34" charset="0"/>
            </a:endParaRPr>
          </a:p>
          <a:p>
            <a:pPr algn="just"/>
            <a:r>
              <a:rPr lang="en-US" sz="2800" spc="-1" dirty="0">
                <a:solidFill>
                  <a:srgbClr val="215968"/>
                </a:solidFill>
                <a:latin typeface="Calibri" panose="020F0502020204030204" pitchFamily="34" charset="0"/>
                <a:cs typeface="Calibri" panose="020F0502020204030204" pitchFamily="34" charset="0"/>
              </a:rPr>
              <a:t>The type</a:t>
            </a:r>
            <a:r>
              <a:rPr lang="pl-PL" sz="2800" spc="-1" dirty="0">
                <a:solidFill>
                  <a:srgbClr val="215968"/>
                </a:solidFill>
                <a:latin typeface="Calibri" panose="020F0502020204030204" pitchFamily="34" charset="0"/>
                <a:cs typeface="Calibri" panose="020F0502020204030204" pitchFamily="34" charset="0"/>
              </a:rPr>
              <a:t> of </a:t>
            </a:r>
            <a:r>
              <a:rPr lang="en-US" sz="2800" spc="-1" dirty="0">
                <a:solidFill>
                  <a:srgbClr val="215968"/>
                </a:solidFill>
                <a:latin typeface="Calibri" panose="020F0502020204030204" pitchFamily="34" charset="0"/>
                <a:cs typeface="Calibri" panose="020F0502020204030204" pitchFamily="34" charset="0"/>
              </a:rPr>
              <a:t>the experiment and application areas determine the design and protocol (plan)</a:t>
            </a:r>
            <a:r>
              <a:rPr lang="pl-PL" sz="2800" spc="-1" dirty="0">
                <a:solidFill>
                  <a:srgbClr val="215968"/>
                </a:solidFill>
                <a:latin typeface="Calibri" panose="020F0502020204030204" pitchFamily="34" charset="0"/>
                <a:cs typeface="Calibri" panose="020F0502020204030204" pitchFamily="34" charset="0"/>
              </a:rPr>
              <a:t> of the </a:t>
            </a:r>
            <a:r>
              <a:rPr lang="pl-PL" sz="2800" spc="-1" dirty="0" err="1">
                <a:solidFill>
                  <a:srgbClr val="215968"/>
                </a:solidFill>
                <a:latin typeface="Calibri" panose="020F0502020204030204" pitchFamily="34" charset="0"/>
                <a:cs typeface="Calibri" panose="020F0502020204030204" pitchFamily="34" charset="0"/>
              </a:rPr>
              <a:t>research</a:t>
            </a:r>
            <a:r>
              <a:rPr lang="en-US" sz="2800" spc="-1" dirty="0">
                <a:solidFill>
                  <a:srgbClr val="215968"/>
                </a:solidFill>
                <a:latin typeface="Calibri" panose="020F0502020204030204" pitchFamily="34" charset="0"/>
                <a:cs typeface="Calibri" panose="020F0502020204030204" pitchFamily="34" charset="0"/>
              </a:rPr>
              <a:t>. I will present some rules of </a:t>
            </a:r>
            <a:r>
              <a:rPr lang="pl-PL" sz="2800" spc="-1" dirty="0" err="1">
                <a:solidFill>
                  <a:srgbClr val="215968"/>
                </a:solidFill>
                <a:latin typeface="Calibri" panose="020F0502020204030204" pitchFamily="34" charset="0"/>
                <a:cs typeface="Calibri" panose="020F0502020204030204" pitchFamily="34" charset="0"/>
              </a:rPr>
              <a:t>experimental</a:t>
            </a:r>
            <a:endParaRPr lang="pl-PL" sz="2800" spc="-1" dirty="0">
              <a:solidFill>
                <a:srgbClr val="215968"/>
              </a:solidFill>
              <a:latin typeface="Calibri" panose="020F0502020204030204" pitchFamily="34" charset="0"/>
              <a:cs typeface="Calibri" panose="020F0502020204030204" pitchFamily="34" charset="0"/>
            </a:endParaRPr>
          </a:p>
          <a:p>
            <a:pPr algn="just"/>
            <a:r>
              <a:rPr lang="pl-PL" sz="2800" spc="-1" dirty="0">
                <a:solidFill>
                  <a:srgbClr val="215968"/>
                </a:solidFill>
                <a:latin typeface="Calibri" panose="020F0502020204030204" pitchFamily="34" charset="0"/>
                <a:cs typeface="Calibri" panose="020F0502020204030204" pitchFamily="34" charset="0"/>
              </a:rPr>
              <a:t> (lab)</a:t>
            </a:r>
            <a:r>
              <a:rPr lang="en-US" sz="2800" spc="-1" dirty="0">
                <a:solidFill>
                  <a:srgbClr val="215968"/>
                </a:solidFill>
                <a:latin typeface="Calibri" panose="020F0502020204030204" pitchFamily="34" charset="0"/>
                <a:cs typeface="Calibri" panose="020F0502020204030204" pitchFamily="34" charset="0"/>
              </a:rPr>
              <a:t> methodology. </a:t>
            </a:r>
            <a:endParaRPr lang="pl-PL" sz="2800" b="1" spc="-1" dirty="0">
              <a:solidFill>
                <a:srgbClr val="215968"/>
              </a:solidFill>
              <a:latin typeface="Calibri" panose="020F0502020204030204" pitchFamily="34" charset="0"/>
              <a:cs typeface="Calibri" panose="020F0502020204030204" pitchFamily="34" charset="0"/>
            </a:endParaRPr>
          </a:p>
          <a:p>
            <a:pPr algn="just"/>
            <a:endParaRPr lang="pl-PL" sz="2800" b="1" spc="-1" dirty="0">
              <a:solidFill>
                <a:srgbClr val="215968"/>
              </a:solidFill>
              <a:latin typeface="Calibri" panose="020F0502020204030204" pitchFamily="34" charset="0"/>
              <a:cs typeface="Calibri" panose="020F0502020204030204" pitchFamily="34" charset="0"/>
            </a:endParaRPr>
          </a:p>
          <a:p>
            <a:pPr algn="just"/>
            <a:endParaRPr lang="pl-PL" sz="2400" b="1" spc="-1" dirty="0">
              <a:solidFill>
                <a:srgbClr val="21596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146001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p:cNvSpPr/>
          <p:nvPr/>
        </p:nvSpPr>
        <p:spPr>
          <a:xfrm>
            <a:off x="0" y="1385197"/>
            <a:ext cx="12192001" cy="4924425"/>
          </a:xfrm>
          <a:prstGeom prst="rect">
            <a:avLst/>
          </a:prstGeom>
        </p:spPr>
        <p:txBody>
          <a:bodyPr wrap="square">
            <a:spAutoFit/>
          </a:bodyPr>
          <a:lstStyle/>
          <a:p>
            <a:pPr algn="just"/>
            <a:r>
              <a:rPr lang="en-US" sz="2800" dirty="0">
                <a:solidFill>
                  <a:srgbClr val="4BACC6">
                    <a:lumMod val="50000"/>
                  </a:srgbClr>
                </a:solidFill>
                <a:latin typeface="Calibri" pitchFamily="34" charset="0"/>
              </a:rPr>
              <a:t>How to conduct </a:t>
            </a:r>
            <a:r>
              <a:rPr lang="pl-PL" sz="2800" dirty="0" err="1">
                <a:solidFill>
                  <a:srgbClr val="4BACC6">
                    <a:lumMod val="50000"/>
                  </a:srgbClr>
                </a:solidFill>
                <a:latin typeface="Calibri" pitchFamily="34" charset="0"/>
              </a:rPr>
              <a:t>an</a:t>
            </a:r>
            <a:r>
              <a:rPr lang="en-US" sz="2800" dirty="0">
                <a:solidFill>
                  <a:srgbClr val="4BACC6">
                    <a:lumMod val="50000"/>
                  </a:srgbClr>
                </a:solidFill>
                <a:latin typeface="Calibri" pitchFamily="34" charset="0"/>
              </a:rPr>
              <a:t> experiments?</a:t>
            </a:r>
          </a:p>
          <a:p>
            <a:pPr marL="342900" indent="-342900" algn="just">
              <a:buFont typeface="Arial" panose="020B0604020202020204" pitchFamily="34" charset="0"/>
              <a:buChar char="•"/>
            </a:pPr>
            <a:r>
              <a:rPr lang="en-GB" sz="2600" dirty="0">
                <a:solidFill>
                  <a:srgbClr val="4BACC6">
                    <a:lumMod val="50000"/>
                  </a:srgbClr>
                </a:solidFill>
                <a:latin typeface="Calibri" pitchFamily="34" charset="0"/>
              </a:rPr>
              <a:t>The subjects</a:t>
            </a:r>
            <a:r>
              <a:rPr lang="pl-PL" sz="2600" dirty="0">
                <a:solidFill>
                  <a:srgbClr val="4BACC6">
                    <a:lumMod val="50000"/>
                  </a:srgbClr>
                </a:solidFill>
                <a:latin typeface="Calibri" pitchFamily="34" charset="0"/>
              </a:rPr>
              <a:t> </a:t>
            </a:r>
            <a:r>
              <a:rPr lang="en-GB" sz="2600" dirty="0">
                <a:solidFill>
                  <a:srgbClr val="4BACC6">
                    <a:lumMod val="50000"/>
                  </a:srgbClr>
                </a:solidFill>
                <a:latin typeface="Calibri" pitchFamily="34" charset="0"/>
              </a:rPr>
              <a:t>earn </a:t>
            </a:r>
            <a:r>
              <a:rPr lang="en-GB" sz="2600" b="1" dirty="0">
                <a:solidFill>
                  <a:srgbClr val="4BACC6">
                    <a:lumMod val="50000"/>
                  </a:srgbClr>
                </a:solidFill>
                <a:latin typeface="Calibri" pitchFamily="34" charset="0"/>
              </a:rPr>
              <a:t>money</a:t>
            </a:r>
            <a:r>
              <a:rPr lang="en-GB" sz="2600" dirty="0">
                <a:solidFill>
                  <a:srgbClr val="4BACC6">
                    <a:lumMod val="50000"/>
                  </a:srgbClr>
                </a:solidFill>
                <a:latin typeface="Calibri" pitchFamily="34" charset="0"/>
              </a:rPr>
              <a:t>. The monetary reward</a:t>
            </a:r>
            <a:r>
              <a:rPr lang="pl-PL" sz="2600" dirty="0">
                <a:solidFill>
                  <a:srgbClr val="4BACC6">
                    <a:lumMod val="50000"/>
                  </a:srgbClr>
                </a:solidFill>
                <a:latin typeface="Calibri" pitchFamily="34" charset="0"/>
              </a:rPr>
              <a:t>s</a:t>
            </a:r>
            <a:r>
              <a:rPr lang="en-GB" sz="2600" dirty="0">
                <a:solidFill>
                  <a:srgbClr val="4BACC6">
                    <a:lumMod val="50000"/>
                  </a:srgbClr>
                </a:solidFill>
                <a:latin typeface="Calibri" pitchFamily="34" charset="0"/>
              </a:rPr>
              <a:t> depends on the </a:t>
            </a:r>
            <a:r>
              <a:rPr lang="pl-PL" sz="2600" dirty="0" err="1">
                <a:solidFill>
                  <a:srgbClr val="4BACC6">
                    <a:lumMod val="50000"/>
                  </a:srgbClr>
                </a:solidFill>
                <a:latin typeface="Calibri" pitchFamily="34" charset="0"/>
              </a:rPr>
              <a:t>actions</a:t>
            </a:r>
            <a:r>
              <a:rPr lang="pl-PL" sz="2600" dirty="0">
                <a:solidFill>
                  <a:srgbClr val="4BACC6">
                    <a:lumMod val="50000"/>
                  </a:srgbClr>
                </a:solidFill>
                <a:latin typeface="Calibri" pitchFamily="34" charset="0"/>
              </a:rPr>
              <a:t> of </a:t>
            </a:r>
            <a:r>
              <a:rPr lang="en-GB" sz="2600" dirty="0">
                <a:solidFill>
                  <a:srgbClr val="4BACC6">
                    <a:lumMod val="50000"/>
                  </a:srgbClr>
                </a:solidFill>
                <a:latin typeface="Calibri" pitchFamily="34" charset="0"/>
              </a:rPr>
              <a:t>subject</a:t>
            </a:r>
            <a:r>
              <a:rPr lang="pl-PL" sz="2600" dirty="0">
                <a:solidFill>
                  <a:srgbClr val="4BACC6">
                    <a:lumMod val="50000"/>
                  </a:srgbClr>
                </a:solidFill>
                <a:latin typeface="Calibri" pitchFamily="34" charset="0"/>
              </a:rPr>
              <a:t>s</a:t>
            </a:r>
            <a:r>
              <a:rPr lang="en-GB" sz="2600" dirty="0">
                <a:solidFill>
                  <a:srgbClr val="4BACC6">
                    <a:lumMod val="50000"/>
                  </a:srgbClr>
                </a:solidFill>
                <a:latin typeface="Calibri" pitchFamily="34" charset="0"/>
              </a:rPr>
              <a:t>. It is a simple and clear motivating factor. </a:t>
            </a:r>
            <a:endParaRPr lang="pl-PL" sz="2600" dirty="0">
              <a:solidFill>
                <a:srgbClr val="4BACC6">
                  <a:lumMod val="50000"/>
                </a:srgbClr>
              </a:solidFill>
              <a:latin typeface="Calibri" pitchFamily="34" charset="0"/>
            </a:endParaRPr>
          </a:p>
          <a:p>
            <a:pPr marL="342900" indent="-342900" algn="just">
              <a:buFont typeface="Arial" panose="020B0604020202020204" pitchFamily="34" charset="0"/>
              <a:buChar char="•"/>
            </a:pPr>
            <a:r>
              <a:rPr lang="pl-PL" sz="2600" dirty="0">
                <a:solidFill>
                  <a:srgbClr val="4BACC6">
                    <a:lumMod val="50000"/>
                  </a:srgbClr>
                </a:solidFill>
                <a:latin typeface="Calibri" pitchFamily="34" charset="0"/>
              </a:rPr>
              <a:t>The experiment</a:t>
            </a:r>
            <a:r>
              <a:rPr lang="en-GB" sz="2600" dirty="0">
                <a:solidFill>
                  <a:srgbClr val="4BACC6">
                    <a:lumMod val="50000"/>
                  </a:srgbClr>
                </a:solidFill>
                <a:latin typeface="Calibri" pitchFamily="34" charset="0"/>
              </a:rPr>
              <a:t> should </a:t>
            </a:r>
            <a:r>
              <a:rPr lang="en-GB" sz="2600" b="1" dirty="0">
                <a:solidFill>
                  <a:srgbClr val="4BACC6">
                    <a:lumMod val="50000"/>
                  </a:srgbClr>
                </a:solidFill>
                <a:latin typeface="Calibri" pitchFamily="34" charset="0"/>
              </a:rPr>
              <a:t>not </a:t>
            </a:r>
            <a:r>
              <a:rPr lang="en-GB" sz="2600" dirty="0">
                <a:solidFill>
                  <a:srgbClr val="4BACC6">
                    <a:lumMod val="50000"/>
                  </a:srgbClr>
                </a:solidFill>
                <a:latin typeface="Calibri" pitchFamily="34" charset="0"/>
              </a:rPr>
              <a:t>be </a:t>
            </a:r>
            <a:r>
              <a:rPr lang="pl-PL" sz="2600" dirty="0" err="1">
                <a:solidFill>
                  <a:srgbClr val="4BACC6">
                    <a:lumMod val="50000"/>
                  </a:srgbClr>
                </a:solidFill>
                <a:latin typeface="Calibri" pitchFamily="34" charset="0"/>
              </a:rPr>
              <a:t>connected</a:t>
            </a:r>
            <a:r>
              <a:rPr lang="en-GB" sz="2600" dirty="0">
                <a:solidFill>
                  <a:srgbClr val="4BACC6">
                    <a:lumMod val="50000"/>
                  </a:srgbClr>
                </a:solidFill>
                <a:latin typeface="Calibri" pitchFamily="34" charset="0"/>
              </a:rPr>
              <a:t> to </a:t>
            </a:r>
            <a:r>
              <a:rPr lang="en-GB" sz="2600" b="1" dirty="0">
                <a:solidFill>
                  <a:srgbClr val="4BACC6">
                    <a:lumMod val="50000"/>
                  </a:srgbClr>
                </a:solidFill>
                <a:latin typeface="Calibri" pitchFamily="34" charset="0"/>
              </a:rPr>
              <a:t>real</a:t>
            </a:r>
            <a:r>
              <a:rPr lang="en-GB" sz="2600" dirty="0">
                <a:solidFill>
                  <a:srgbClr val="4BACC6">
                    <a:lumMod val="50000"/>
                  </a:srgbClr>
                </a:solidFill>
                <a:latin typeface="Calibri" pitchFamily="34" charset="0"/>
              </a:rPr>
              <a:t> economic processes. The decision should be based only on pure analysis of the presented decision problem. References to real processes can disrupt</a:t>
            </a:r>
            <a:r>
              <a:rPr lang="pl-PL" sz="2600" dirty="0">
                <a:solidFill>
                  <a:srgbClr val="4BACC6">
                    <a:lumMod val="50000"/>
                  </a:srgbClr>
                </a:solidFill>
                <a:latin typeface="Calibri" pitchFamily="34" charset="0"/>
              </a:rPr>
              <a:t> the </a:t>
            </a:r>
            <a:r>
              <a:rPr lang="pl-PL" sz="2600" dirty="0" err="1">
                <a:solidFill>
                  <a:srgbClr val="4BACC6">
                    <a:lumMod val="50000"/>
                  </a:srgbClr>
                </a:solidFill>
                <a:latin typeface="Calibri" pitchFamily="34" charset="0"/>
              </a:rPr>
              <a:t>results</a:t>
            </a:r>
            <a:r>
              <a:rPr lang="en-GB" sz="2600" dirty="0">
                <a:solidFill>
                  <a:srgbClr val="4BACC6">
                    <a:lumMod val="50000"/>
                  </a:srgbClr>
                </a:solidFill>
                <a:latin typeface="Calibri" pitchFamily="34" charset="0"/>
              </a:rPr>
              <a:t>. The level of knowledge about a real problem and the participant's attitudes towards the problem are difficult to control.</a:t>
            </a:r>
            <a:endParaRPr lang="pl-PL" sz="2600" dirty="0">
              <a:solidFill>
                <a:srgbClr val="4BACC6">
                  <a:lumMod val="50000"/>
                </a:srgbClr>
              </a:solidFill>
              <a:latin typeface="Calibri" pitchFamily="34" charset="0"/>
            </a:endParaRPr>
          </a:p>
          <a:p>
            <a:pPr marL="342900" indent="-342900" algn="just">
              <a:buFont typeface="Arial" panose="020B0604020202020204" pitchFamily="34" charset="0"/>
              <a:buChar char="•"/>
            </a:pPr>
            <a:r>
              <a:rPr lang="en-US" sz="2600" dirty="0">
                <a:solidFill>
                  <a:srgbClr val="4BACC6">
                    <a:lumMod val="50000"/>
                  </a:srgbClr>
                </a:solidFill>
                <a:latin typeface="Calibri" pitchFamily="34" charset="0"/>
              </a:rPr>
              <a:t>Experimenter should present full information about the conditions of the experiment and there is </a:t>
            </a:r>
            <a:r>
              <a:rPr lang="en-US" sz="2600" b="1" dirty="0">
                <a:solidFill>
                  <a:srgbClr val="4BACC6">
                    <a:lumMod val="50000"/>
                  </a:srgbClr>
                </a:solidFill>
                <a:latin typeface="Calibri" pitchFamily="34" charset="0"/>
              </a:rPr>
              <a:t>no place for cheating</a:t>
            </a:r>
            <a:r>
              <a:rPr lang="en-US" sz="2600" dirty="0">
                <a:solidFill>
                  <a:srgbClr val="4BACC6">
                    <a:lumMod val="50000"/>
                  </a:srgbClr>
                </a:solidFill>
                <a:latin typeface="Calibri" pitchFamily="34" charset="0"/>
              </a:rPr>
              <a:t>. Persons participating in the experiment should focus on the decision problem rather than on guessing the intention of the researcher.</a:t>
            </a:r>
          </a:p>
          <a:p>
            <a:pPr marL="342900" indent="-342900" algn="just">
              <a:buFont typeface="Arial" panose="020B0604020202020204" pitchFamily="34" charset="0"/>
              <a:buChar char="•"/>
            </a:pPr>
            <a:r>
              <a:rPr lang="en-US" sz="2600" dirty="0">
                <a:solidFill>
                  <a:srgbClr val="4BACC6">
                    <a:lumMod val="50000"/>
                  </a:srgbClr>
                </a:solidFill>
                <a:latin typeface="Calibri" pitchFamily="34" charset="0"/>
              </a:rPr>
              <a:t>The </a:t>
            </a:r>
            <a:r>
              <a:rPr lang="en-US" sz="2600" b="1" dirty="0">
                <a:solidFill>
                  <a:srgbClr val="4BACC6">
                    <a:lumMod val="50000"/>
                  </a:srgbClr>
                </a:solidFill>
                <a:latin typeface="Calibri" pitchFamily="34" charset="0"/>
              </a:rPr>
              <a:t>anonymity</a:t>
            </a:r>
            <a:r>
              <a:rPr lang="en-US" sz="2600" dirty="0">
                <a:solidFill>
                  <a:srgbClr val="4BACC6">
                    <a:lumMod val="50000"/>
                  </a:srgbClr>
                </a:solidFill>
                <a:latin typeface="Calibri" pitchFamily="34" charset="0"/>
              </a:rPr>
              <a:t> of the participant decision usually is guaranteed by the procedure of the experiment. The anonymity of payments is a rule. </a:t>
            </a:r>
            <a:endParaRPr lang="en-GB" sz="2600" dirty="0">
              <a:solidFill>
                <a:srgbClr val="4BACC6">
                  <a:lumMod val="50000"/>
                </a:srgbClr>
              </a:solidFill>
              <a:latin typeface="Calibri" pitchFamily="34" charset="0"/>
            </a:endParaRPr>
          </a:p>
        </p:txBody>
      </p:sp>
      <p:sp>
        <p:nvSpPr>
          <p:cNvPr id="3" name="Prostokąt 2"/>
          <p:cNvSpPr/>
          <p:nvPr/>
        </p:nvSpPr>
        <p:spPr>
          <a:xfrm>
            <a:off x="3048000" y="2828836"/>
            <a:ext cx="6096000" cy="646331"/>
          </a:xfrm>
          <a:prstGeom prst="rect">
            <a:avLst/>
          </a:prstGeom>
        </p:spPr>
        <p:txBody>
          <a:bodyPr>
            <a:spAutoFit/>
          </a:bodyPr>
          <a:lstStyle/>
          <a:p>
            <a:r>
              <a:rPr lang="en-US" dirty="0"/>
              <a:t>. </a:t>
            </a:r>
          </a:p>
          <a:p>
            <a:endParaRPr lang="en-US" dirty="0"/>
          </a:p>
        </p:txBody>
      </p:sp>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3600" b="1" i="1" spc="-1" dirty="0">
                <a:solidFill>
                  <a:srgbClr val="215968"/>
                </a:solidFill>
              </a:rPr>
              <a:t>How </a:t>
            </a:r>
            <a:r>
              <a:rPr lang="pl-PL" sz="3600" b="1" i="1" spc="-1" dirty="0" err="1">
                <a:solidFill>
                  <a:srgbClr val="215968"/>
                </a:solidFill>
              </a:rPr>
              <a:t>conduct</a:t>
            </a:r>
            <a:r>
              <a:rPr lang="pl-PL" sz="3600" b="1" i="1" spc="-1" dirty="0">
                <a:solidFill>
                  <a:srgbClr val="215968"/>
                </a:solidFill>
              </a:rPr>
              <a:t> </a:t>
            </a:r>
            <a:r>
              <a:rPr lang="pl-PL" sz="3600" b="1" i="1" spc="-1" dirty="0" err="1">
                <a:solidFill>
                  <a:srgbClr val="215968"/>
                </a:solidFill>
              </a:rPr>
              <a:t>labolatory</a:t>
            </a:r>
            <a:r>
              <a:rPr lang="pl-PL" sz="3600" b="1" i="1" spc="-1" dirty="0">
                <a:solidFill>
                  <a:srgbClr val="215968"/>
                </a:solidFill>
              </a:rPr>
              <a:t> </a:t>
            </a:r>
            <a:r>
              <a:rPr lang="pl-PL" sz="3600" b="1" i="1" spc="-1" dirty="0" err="1">
                <a:solidFill>
                  <a:srgbClr val="215968"/>
                </a:solidFill>
              </a:rPr>
              <a:t>experiemnts</a:t>
            </a:r>
            <a:r>
              <a:rPr lang="pl-PL" sz="3600" b="1" i="1" spc="-1" dirty="0">
                <a:solidFill>
                  <a:srgbClr val="215968"/>
                </a:solidFill>
              </a:rPr>
              <a:t>?</a:t>
            </a:r>
            <a:endParaRPr lang="en-GB" sz="2400" b="1" i="1" dirty="0"/>
          </a:p>
        </p:txBody>
      </p:sp>
    </p:spTree>
    <p:extLst>
      <p:ext uri="{BB962C8B-B14F-4D97-AF65-F5344CB8AC3E}">
        <p14:creationId xmlns:p14="http://schemas.microsoft.com/office/powerpoint/2010/main" val="2956830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rostokąt 4"/>
          <p:cNvSpPr/>
          <p:nvPr/>
        </p:nvSpPr>
        <p:spPr>
          <a:xfrm>
            <a:off x="147781" y="1382286"/>
            <a:ext cx="11637820" cy="5262979"/>
          </a:xfrm>
          <a:prstGeom prst="rect">
            <a:avLst/>
          </a:prstGeom>
        </p:spPr>
        <p:txBody>
          <a:bodyPr wrap="square">
            <a:spAutoFit/>
          </a:bodyPr>
          <a:lstStyle/>
          <a:p>
            <a:pPr algn="just"/>
            <a:r>
              <a:rPr lang="pl-PL" sz="2800" dirty="0" err="1">
                <a:solidFill>
                  <a:srgbClr val="4BACC6">
                    <a:lumMod val="50000"/>
                  </a:srgbClr>
                </a:solidFill>
                <a:latin typeface="Calibri" pitchFamily="34" charset="0"/>
              </a:rPr>
              <a:t>Use</a:t>
            </a:r>
            <a:r>
              <a:rPr lang="pl-PL" sz="2800" dirty="0">
                <a:solidFill>
                  <a:srgbClr val="4BACC6">
                    <a:lumMod val="50000"/>
                  </a:srgbClr>
                </a:solidFill>
                <a:latin typeface="Calibri" pitchFamily="34" charset="0"/>
              </a:rPr>
              <a:t> </a:t>
            </a:r>
            <a:r>
              <a:rPr lang="pl-PL" sz="2800" b="1" dirty="0" err="1">
                <a:solidFill>
                  <a:srgbClr val="4BACC6">
                    <a:lumMod val="50000"/>
                  </a:srgbClr>
                </a:solidFill>
                <a:latin typeface="Calibri" pitchFamily="34" charset="0"/>
              </a:rPr>
              <a:t>scientific</a:t>
            </a:r>
            <a:r>
              <a:rPr lang="pl-PL" sz="2800" b="1" dirty="0">
                <a:solidFill>
                  <a:srgbClr val="4BACC6">
                    <a:lumMod val="50000"/>
                  </a:srgbClr>
                </a:solidFill>
                <a:latin typeface="Calibri" pitchFamily="34" charset="0"/>
              </a:rPr>
              <a:t> </a:t>
            </a:r>
            <a:r>
              <a:rPr lang="pl-PL" sz="2800" b="1" dirty="0" err="1">
                <a:solidFill>
                  <a:srgbClr val="4BACC6">
                    <a:lumMod val="50000"/>
                  </a:srgbClr>
                </a:solidFill>
                <a:latin typeface="Calibri" pitchFamily="34" charset="0"/>
              </a:rPr>
              <a:t>method</a:t>
            </a:r>
            <a:r>
              <a:rPr lang="pl-PL" sz="2800" b="1" dirty="0">
                <a:solidFill>
                  <a:srgbClr val="4BACC6">
                    <a:lumMod val="50000"/>
                  </a:srgbClr>
                </a:solidFill>
                <a:latin typeface="Calibri" pitchFamily="34" charset="0"/>
              </a:rPr>
              <a:t> </a:t>
            </a:r>
            <a:r>
              <a:rPr lang="pl-PL" sz="2800" dirty="0">
                <a:solidFill>
                  <a:srgbClr val="4BACC6">
                    <a:lumMod val="50000"/>
                  </a:srgbClr>
                </a:solidFill>
                <a:latin typeface="Calibri" pitchFamily="34" charset="0"/>
              </a:rPr>
              <a:t>( </a:t>
            </a:r>
            <a:r>
              <a:rPr lang="pl-PL" sz="2800" dirty="0" err="1">
                <a:solidFill>
                  <a:srgbClr val="4BACC6">
                    <a:lumMod val="50000"/>
                  </a:srgbClr>
                </a:solidFill>
                <a:latin typeface="Calibri" pitchFamily="34" charset="0"/>
              </a:rPr>
              <a:t>read</a:t>
            </a:r>
            <a:r>
              <a:rPr lang="pl-PL" sz="2800" dirty="0">
                <a:solidFill>
                  <a:srgbClr val="4BACC6">
                    <a:lumMod val="50000"/>
                  </a:srgbClr>
                </a:solidFill>
                <a:latin typeface="Calibri" pitchFamily="34" charset="0"/>
              </a:rPr>
              <a:t> the Zen of …..!) </a:t>
            </a:r>
          </a:p>
          <a:p>
            <a:pPr algn="just"/>
            <a:endParaRPr lang="en-GB" sz="2800" dirty="0">
              <a:solidFill>
                <a:srgbClr val="4BACC6">
                  <a:lumMod val="50000"/>
                </a:srgbClr>
              </a:solidFill>
              <a:latin typeface="Calibri" pitchFamily="34" charset="0"/>
            </a:endParaRPr>
          </a:p>
          <a:p>
            <a:pPr marL="457200" indent="-457200" algn="just">
              <a:buFontTx/>
              <a:buChar char="-"/>
            </a:pPr>
            <a:r>
              <a:rPr lang="en-US" sz="2800" dirty="0">
                <a:solidFill>
                  <a:srgbClr val="4BACC6">
                    <a:lumMod val="50000"/>
                  </a:srgbClr>
                </a:solidFill>
                <a:latin typeface="Calibri" pitchFamily="34" charset="0"/>
              </a:rPr>
              <a:t>The experimenter should have a well-specified </a:t>
            </a:r>
            <a:r>
              <a:rPr lang="en-US" sz="2800" i="1" dirty="0">
                <a:solidFill>
                  <a:srgbClr val="4BACC6">
                    <a:lumMod val="50000"/>
                  </a:srgbClr>
                </a:solidFill>
                <a:latin typeface="Calibri" pitchFamily="34" charset="0"/>
              </a:rPr>
              <a:t>hypothesis</a:t>
            </a:r>
            <a:r>
              <a:rPr lang="en-US" sz="2800" dirty="0">
                <a:solidFill>
                  <a:srgbClr val="4BACC6">
                    <a:lumMod val="50000"/>
                  </a:srgbClr>
                </a:solidFill>
                <a:latin typeface="Calibri" pitchFamily="34" charset="0"/>
              </a:rPr>
              <a:t> </a:t>
            </a:r>
            <a:endParaRPr lang="pl-PL" sz="2800" dirty="0">
              <a:solidFill>
                <a:srgbClr val="4BACC6">
                  <a:lumMod val="50000"/>
                </a:srgbClr>
              </a:solidFill>
              <a:latin typeface="Calibri" pitchFamily="34" charset="0"/>
            </a:endParaRPr>
          </a:p>
          <a:p>
            <a:pPr marL="457200" indent="-457200" algn="just">
              <a:buFontTx/>
              <a:buChar char="-"/>
            </a:pPr>
            <a:r>
              <a:rPr lang="pl-PL" sz="2800" dirty="0">
                <a:solidFill>
                  <a:srgbClr val="4BACC6">
                    <a:lumMod val="50000"/>
                  </a:srgbClr>
                </a:solidFill>
                <a:latin typeface="Calibri" pitchFamily="34" charset="0"/>
              </a:rPr>
              <a:t>D</a:t>
            </a:r>
            <a:r>
              <a:rPr lang="en-US" sz="2800" dirty="0" err="1">
                <a:solidFill>
                  <a:srgbClr val="4BACC6">
                    <a:lumMod val="50000"/>
                  </a:srgbClr>
                </a:solidFill>
                <a:latin typeface="Calibri" pitchFamily="34" charset="0"/>
              </a:rPr>
              <a:t>uring</a:t>
            </a:r>
            <a:r>
              <a:rPr lang="en-US" sz="2800" dirty="0">
                <a:solidFill>
                  <a:srgbClr val="4BACC6">
                    <a:lumMod val="50000"/>
                  </a:srgbClr>
                </a:solidFill>
                <a:latin typeface="Calibri" pitchFamily="34" charset="0"/>
              </a:rPr>
              <a:t> the experiment</a:t>
            </a:r>
            <a:r>
              <a:rPr lang="pl-PL" sz="2800" dirty="0">
                <a:solidFill>
                  <a:srgbClr val="4BACC6">
                    <a:lumMod val="50000"/>
                  </a:srgbClr>
                </a:solidFill>
                <a:latin typeface="Calibri" pitchFamily="34" charset="0"/>
              </a:rPr>
              <a:t>,</a:t>
            </a:r>
            <a:r>
              <a:rPr lang="en-US" sz="2800" dirty="0">
                <a:solidFill>
                  <a:srgbClr val="4BACC6">
                    <a:lumMod val="50000"/>
                  </a:srgbClr>
                </a:solidFill>
                <a:latin typeface="Calibri" pitchFamily="34" charset="0"/>
              </a:rPr>
              <a:t> </a:t>
            </a:r>
            <a:r>
              <a:rPr lang="pl-PL" sz="2800" dirty="0" err="1">
                <a:solidFill>
                  <a:srgbClr val="4BACC6">
                    <a:lumMod val="50000"/>
                  </a:srgbClr>
                </a:solidFill>
                <a:latin typeface="Calibri" pitchFamily="34" charset="0"/>
              </a:rPr>
              <a:t>resercher</a:t>
            </a:r>
            <a:r>
              <a:rPr lang="pl-PL" sz="2800" dirty="0">
                <a:solidFill>
                  <a:srgbClr val="4BACC6">
                    <a:lumMod val="50000"/>
                  </a:srgbClr>
                </a:solidFill>
                <a:latin typeface="Calibri" pitchFamily="34" charset="0"/>
              </a:rPr>
              <a:t> </a:t>
            </a:r>
            <a:r>
              <a:rPr lang="en-US" sz="2800" dirty="0">
                <a:solidFill>
                  <a:srgbClr val="4BACC6">
                    <a:lumMod val="50000"/>
                  </a:srgbClr>
                </a:solidFill>
                <a:latin typeface="Calibri" pitchFamily="34" charset="0"/>
              </a:rPr>
              <a:t>should manipulate only one factor at once</a:t>
            </a:r>
            <a:r>
              <a:rPr lang="pl-PL" sz="2800" dirty="0">
                <a:solidFill>
                  <a:srgbClr val="4BACC6">
                    <a:lumMod val="50000"/>
                  </a:srgbClr>
                </a:solidFill>
                <a:latin typeface="Calibri" pitchFamily="34" charset="0"/>
              </a:rPr>
              <a:t> (</a:t>
            </a:r>
            <a:r>
              <a:rPr lang="en-US" sz="2800" dirty="0">
                <a:solidFill>
                  <a:srgbClr val="4BACC6">
                    <a:lumMod val="50000"/>
                  </a:srgbClr>
                </a:solidFill>
                <a:latin typeface="Calibri" pitchFamily="34" charset="0"/>
              </a:rPr>
              <a:t>treatment effect</a:t>
            </a:r>
            <a:r>
              <a:rPr lang="pl-PL" sz="2800" dirty="0">
                <a:solidFill>
                  <a:srgbClr val="4BACC6">
                    <a:lumMod val="50000"/>
                  </a:srgbClr>
                </a:solidFill>
                <a:latin typeface="Calibri" pitchFamily="34" charset="0"/>
              </a:rPr>
              <a:t>)</a:t>
            </a:r>
            <a:r>
              <a:rPr lang="en-US" sz="2800" dirty="0">
                <a:solidFill>
                  <a:srgbClr val="4BACC6">
                    <a:lumMod val="50000"/>
                  </a:srgbClr>
                </a:solidFill>
                <a:latin typeface="Calibri" pitchFamily="34" charset="0"/>
              </a:rPr>
              <a:t>  </a:t>
            </a:r>
          </a:p>
          <a:p>
            <a:pPr marL="457200" indent="-457200" algn="just">
              <a:buFontTx/>
              <a:buChar char="-"/>
            </a:pPr>
            <a:r>
              <a:rPr lang="en-US" sz="2800" dirty="0">
                <a:solidFill>
                  <a:srgbClr val="4BACC6">
                    <a:lumMod val="50000"/>
                  </a:srgbClr>
                </a:solidFill>
                <a:latin typeface="Calibri" pitchFamily="34" charset="0"/>
              </a:rPr>
              <a:t>The design of the experiment should utilize </a:t>
            </a:r>
            <a:r>
              <a:rPr lang="en-US" sz="2800" b="1" dirty="0">
                <a:solidFill>
                  <a:srgbClr val="4BACC6">
                    <a:lumMod val="50000"/>
                  </a:srgbClr>
                </a:solidFill>
                <a:latin typeface="Calibri" pitchFamily="34" charset="0"/>
              </a:rPr>
              <a:t>randomization</a:t>
            </a:r>
            <a:r>
              <a:rPr lang="en-US" sz="2800" dirty="0">
                <a:solidFill>
                  <a:srgbClr val="4BACC6">
                    <a:lumMod val="50000"/>
                  </a:srgbClr>
                </a:solidFill>
                <a:latin typeface="Calibri" pitchFamily="34" charset="0"/>
              </a:rPr>
              <a:t> to estimate the treatment effect which has to be closely connected with the main hypothesis of the research. </a:t>
            </a:r>
            <a:endParaRPr lang="pl-PL" sz="2800" dirty="0">
              <a:solidFill>
                <a:srgbClr val="4BACC6">
                  <a:lumMod val="50000"/>
                </a:srgbClr>
              </a:solidFill>
              <a:latin typeface="Calibri" pitchFamily="34" charset="0"/>
            </a:endParaRPr>
          </a:p>
          <a:p>
            <a:pPr marL="457200" indent="-457200" algn="just">
              <a:buFontTx/>
              <a:buChar char="-"/>
            </a:pPr>
            <a:endParaRPr lang="pl-PL" sz="2800" dirty="0">
              <a:solidFill>
                <a:srgbClr val="4BACC6">
                  <a:lumMod val="50000"/>
                </a:srgbClr>
              </a:solidFill>
              <a:latin typeface="Calibri" pitchFamily="34" charset="0"/>
            </a:endParaRPr>
          </a:p>
          <a:p>
            <a:pPr algn="just"/>
            <a:r>
              <a:rPr lang="en-US" sz="2800" dirty="0">
                <a:solidFill>
                  <a:srgbClr val="4BACC6">
                    <a:lumMod val="50000"/>
                  </a:srgbClr>
                </a:solidFill>
                <a:latin typeface="Calibri" pitchFamily="34" charset="0"/>
              </a:rPr>
              <a:t>But what is </a:t>
            </a:r>
            <a:r>
              <a:rPr lang="en-US" sz="2800" b="1" dirty="0">
                <a:solidFill>
                  <a:srgbClr val="4BACC6">
                    <a:lumMod val="50000"/>
                  </a:srgbClr>
                </a:solidFill>
                <a:latin typeface="Calibri" pitchFamily="34" charset="0"/>
              </a:rPr>
              <a:t>randomization</a:t>
            </a:r>
            <a:r>
              <a:rPr lang="en-US" sz="2800" dirty="0">
                <a:solidFill>
                  <a:srgbClr val="4BACC6">
                    <a:lumMod val="50000"/>
                  </a:srgbClr>
                </a:solidFill>
                <a:latin typeface="Calibri" pitchFamily="34" charset="0"/>
              </a:rPr>
              <a:t>? And why such a simple method is such a powerful research tool. Why it can be useful to you when you use</a:t>
            </a:r>
            <a:r>
              <a:rPr lang="pl-PL" sz="2800" dirty="0">
                <a:solidFill>
                  <a:srgbClr val="4BACC6">
                    <a:lumMod val="50000"/>
                  </a:srgbClr>
                </a:solidFill>
                <a:latin typeface="Calibri" pitchFamily="34" charset="0"/>
              </a:rPr>
              <a:t> </a:t>
            </a:r>
            <a:r>
              <a:rPr lang="pl-PL" sz="2800" dirty="0" err="1">
                <a:solidFill>
                  <a:srgbClr val="4BACC6">
                    <a:lumMod val="50000"/>
                  </a:srgbClr>
                </a:solidFill>
                <a:latin typeface="Calibri" pitchFamily="34" charset="0"/>
              </a:rPr>
              <a:t>econometrics</a:t>
            </a:r>
            <a:r>
              <a:rPr lang="pl-PL" sz="2800" dirty="0">
                <a:solidFill>
                  <a:srgbClr val="4BACC6">
                    <a:lumMod val="50000"/>
                  </a:srgbClr>
                </a:solidFill>
                <a:latin typeface="Calibri" pitchFamily="34" charset="0"/>
              </a:rPr>
              <a:t> </a:t>
            </a:r>
            <a:r>
              <a:rPr lang="en-US" sz="2800" dirty="0">
                <a:solidFill>
                  <a:srgbClr val="4BACC6">
                    <a:lumMod val="50000"/>
                  </a:srgbClr>
                </a:solidFill>
                <a:latin typeface="Calibri" pitchFamily="34" charset="0"/>
              </a:rPr>
              <a:t> </a:t>
            </a:r>
            <a:r>
              <a:rPr lang="pl-PL" sz="2800" dirty="0" err="1">
                <a:solidFill>
                  <a:srgbClr val="4BACC6">
                    <a:lumMod val="50000"/>
                  </a:srgbClr>
                </a:solidFill>
                <a:latin typeface="Calibri" pitchFamily="34" charset="0"/>
              </a:rPr>
              <a:t>or</a:t>
            </a:r>
            <a:r>
              <a:rPr lang="pl-PL" sz="2800" dirty="0">
                <a:solidFill>
                  <a:srgbClr val="4BACC6">
                    <a:lumMod val="50000"/>
                  </a:srgbClr>
                </a:solidFill>
                <a:latin typeface="Calibri" pitchFamily="34" charset="0"/>
              </a:rPr>
              <a:t> </a:t>
            </a:r>
            <a:r>
              <a:rPr lang="en-US" sz="2800" dirty="0">
                <a:solidFill>
                  <a:srgbClr val="4BACC6">
                    <a:lumMod val="50000"/>
                  </a:srgbClr>
                </a:solidFill>
                <a:latin typeface="Calibri" pitchFamily="34" charset="0"/>
              </a:rPr>
              <a:t>machine learning algorithms.</a:t>
            </a:r>
          </a:p>
        </p:txBody>
      </p:sp>
      <p:sp>
        <p:nvSpPr>
          <p:cNvPr id="3" name="Prostokąt 2"/>
          <p:cNvSpPr/>
          <p:nvPr/>
        </p:nvSpPr>
        <p:spPr>
          <a:xfrm>
            <a:off x="3048000" y="2828836"/>
            <a:ext cx="6096000" cy="646331"/>
          </a:xfrm>
          <a:prstGeom prst="rect">
            <a:avLst/>
          </a:prstGeom>
        </p:spPr>
        <p:txBody>
          <a:bodyPr>
            <a:spAutoFit/>
          </a:bodyPr>
          <a:lstStyle/>
          <a:p>
            <a:r>
              <a:rPr lang="en-US" dirty="0"/>
              <a:t>. </a:t>
            </a:r>
          </a:p>
          <a:p>
            <a:endParaRPr lang="en-US" dirty="0"/>
          </a:p>
        </p:txBody>
      </p:sp>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3600" b="1" i="1" spc="-1" dirty="0">
                <a:solidFill>
                  <a:srgbClr val="215968"/>
                </a:solidFill>
              </a:rPr>
              <a:t>How </a:t>
            </a:r>
            <a:r>
              <a:rPr lang="pl-PL" sz="3600" b="1" i="1" spc="-1" dirty="0" err="1">
                <a:solidFill>
                  <a:srgbClr val="215968"/>
                </a:solidFill>
              </a:rPr>
              <a:t>conduct</a:t>
            </a:r>
            <a:r>
              <a:rPr lang="pl-PL" sz="3600" b="1" i="1" spc="-1" dirty="0">
                <a:solidFill>
                  <a:srgbClr val="215968"/>
                </a:solidFill>
              </a:rPr>
              <a:t> the </a:t>
            </a:r>
            <a:r>
              <a:rPr lang="pl-PL" sz="3600" b="1" i="1" spc="-1" dirty="0" err="1">
                <a:solidFill>
                  <a:srgbClr val="215968"/>
                </a:solidFill>
              </a:rPr>
              <a:t>experiments</a:t>
            </a:r>
            <a:r>
              <a:rPr lang="pl-PL" sz="3600" b="1" i="1" spc="-1" dirty="0">
                <a:solidFill>
                  <a:srgbClr val="215968"/>
                </a:solidFill>
              </a:rPr>
              <a:t>?</a:t>
            </a:r>
            <a:endParaRPr lang="en-GB" sz="2400" b="1" i="1" dirty="0"/>
          </a:p>
        </p:txBody>
      </p:sp>
    </p:spTree>
    <p:extLst>
      <p:ext uri="{BB962C8B-B14F-4D97-AF65-F5344CB8AC3E}">
        <p14:creationId xmlns:p14="http://schemas.microsoft.com/office/powerpoint/2010/main" val="3681374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Randomization</a:t>
            </a:r>
            <a:r>
              <a:rPr lang="pl-PL" sz="4400" b="1" i="1" spc="-1" dirty="0">
                <a:solidFill>
                  <a:srgbClr val="215968"/>
                </a:solidFill>
              </a:rPr>
              <a:t> </a:t>
            </a:r>
            <a:endParaRPr lang="en-GB" sz="3200" b="1" i="1" dirty="0"/>
          </a:p>
        </p:txBody>
      </p:sp>
      <p:sp>
        <p:nvSpPr>
          <p:cNvPr id="3" name="Prostokąt 2"/>
          <p:cNvSpPr/>
          <p:nvPr/>
        </p:nvSpPr>
        <p:spPr>
          <a:xfrm>
            <a:off x="0" y="1168142"/>
            <a:ext cx="12192001" cy="5632311"/>
          </a:xfrm>
          <a:prstGeom prst="rect">
            <a:avLst/>
          </a:prstGeom>
        </p:spPr>
        <p:txBody>
          <a:bodyPr wrap="square">
            <a:spAutoFit/>
          </a:bodyPr>
          <a:lstStyle/>
          <a:p>
            <a:pPr algn="just"/>
            <a:r>
              <a:rPr lang="en-US" sz="2400" dirty="0">
                <a:solidFill>
                  <a:srgbClr val="215968"/>
                </a:solidFill>
              </a:rPr>
              <a:t>The randomized experiment you know it from biology and medicine (testing a new drug). In the Randomized experiment ( the ideal one) :</a:t>
            </a:r>
          </a:p>
          <a:p>
            <a:pPr marL="457200" indent="-457200" algn="just">
              <a:buFont typeface="Arial" panose="020B0604020202020204" pitchFamily="34" charset="0"/>
              <a:buChar char="•"/>
            </a:pPr>
            <a:r>
              <a:rPr lang="en-US" sz="2400" dirty="0">
                <a:solidFill>
                  <a:srgbClr val="215968"/>
                </a:solidFill>
              </a:rPr>
              <a:t>Take </a:t>
            </a:r>
            <a:r>
              <a:rPr lang="en-US" sz="2400" b="1" dirty="0">
                <a:solidFill>
                  <a:srgbClr val="215968"/>
                </a:solidFill>
              </a:rPr>
              <a:t>a lot of subjects </a:t>
            </a:r>
            <a:r>
              <a:rPr lang="pl-PL" sz="2400" dirty="0">
                <a:solidFill>
                  <a:srgbClr val="215968"/>
                </a:solidFill>
              </a:rPr>
              <a:t>/ </a:t>
            </a:r>
            <a:r>
              <a:rPr lang="en-US" sz="2400" dirty="0">
                <a:solidFill>
                  <a:srgbClr val="215968"/>
                </a:solidFill>
              </a:rPr>
              <a:t>the more diverse the population is the more subject we have to take </a:t>
            </a:r>
          </a:p>
          <a:p>
            <a:pPr marL="457200" indent="-457200" algn="just">
              <a:buFont typeface="Arial" panose="020B0604020202020204" pitchFamily="34" charset="0"/>
              <a:buChar char="•"/>
            </a:pPr>
            <a:r>
              <a:rPr lang="pl-PL" sz="2400" b="1" dirty="0">
                <a:solidFill>
                  <a:srgbClr val="215968"/>
                </a:solidFill>
              </a:rPr>
              <a:t>R</a:t>
            </a:r>
            <a:r>
              <a:rPr lang="en-US" sz="2400" b="1" dirty="0" err="1">
                <a:solidFill>
                  <a:srgbClr val="215968"/>
                </a:solidFill>
              </a:rPr>
              <a:t>andomly</a:t>
            </a:r>
            <a:r>
              <a:rPr lang="en-US" sz="2400" b="1" dirty="0">
                <a:solidFill>
                  <a:srgbClr val="215968"/>
                </a:solidFill>
              </a:rPr>
              <a:t> </a:t>
            </a:r>
            <a:r>
              <a:rPr lang="en-US" sz="2400" dirty="0">
                <a:solidFill>
                  <a:srgbClr val="215968"/>
                </a:solidFill>
              </a:rPr>
              <a:t>put them into two groups:</a:t>
            </a:r>
          </a:p>
          <a:p>
            <a:pPr lvl="2" algn="just"/>
            <a:r>
              <a:rPr lang="pl-PL" sz="2400" dirty="0">
                <a:solidFill>
                  <a:srgbClr val="215968"/>
                </a:solidFill>
              </a:rPr>
              <a:t>- </a:t>
            </a:r>
            <a:r>
              <a:rPr lang="en-US" sz="2400" b="1" dirty="0">
                <a:solidFill>
                  <a:srgbClr val="215968"/>
                </a:solidFill>
              </a:rPr>
              <a:t>The treatment group </a:t>
            </a:r>
            <a:r>
              <a:rPr lang="en-US" sz="2400" dirty="0">
                <a:solidFill>
                  <a:srgbClr val="215968"/>
                </a:solidFill>
              </a:rPr>
              <a:t>in which we use a procedure(treatment) which we test  (</a:t>
            </a:r>
            <a:r>
              <a:rPr lang="pl-PL" sz="2400" dirty="0" err="1">
                <a:solidFill>
                  <a:srgbClr val="215968"/>
                </a:solidFill>
              </a:rPr>
              <a:t>introduce</a:t>
            </a:r>
            <a:r>
              <a:rPr lang="pl-PL" sz="2400" dirty="0">
                <a:solidFill>
                  <a:srgbClr val="215968"/>
                </a:solidFill>
              </a:rPr>
              <a:t> a </a:t>
            </a:r>
            <a:r>
              <a:rPr lang="en-US" sz="2400" dirty="0">
                <a:solidFill>
                  <a:srgbClr val="215968"/>
                </a:solidFill>
              </a:rPr>
              <a:t>new drug)  </a:t>
            </a:r>
          </a:p>
          <a:p>
            <a:pPr lvl="2" algn="just"/>
            <a:r>
              <a:rPr lang="pl-PL" sz="2400" dirty="0">
                <a:solidFill>
                  <a:srgbClr val="215968"/>
                </a:solidFill>
              </a:rPr>
              <a:t>- </a:t>
            </a:r>
            <a:r>
              <a:rPr lang="en-US" sz="2400" b="1" dirty="0">
                <a:solidFill>
                  <a:srgbClr val="215968"/>
                </a:solidFill>
              </a:rPr>
              <a:t>The control group </a:t>
            </a:r>
            <a:r>
              <a:rPr lang="en-US" sz="2400" dirty="0">
                <a:solidFill>
                  <a:srgbClr val="215968"/>
                </a:solidFill>
              </a:rPr>
              <a:t>were the procedure is not applied(they receive a placebo or old drug) </a:t>
            </a:r>
          </a:p>
          <a:p>
            <a:pPr lvl="1" algn="just"/>
            <a:r>
              <a:rPr lang="en-US" sz="2400" dirty="0">
                <a:solidFill>
                  <a:srgbClr val="215968"/>
                </a:solidFill>
              </a:rPr>
              <a:t>To ensure the robustness of results, the researcher can use the </a:t>
            </a:r>
            <a:r>
              <a:rPr lang="en-US" sz="2400" b="1" dirty="0">
                <a:solidFill>
                  <a:srgbClr val="215968"/>
                </a:solidFill>
              </a:rPr>
              <a:t>double-blind trial </a:t>
            </a:r>
            <a:r>
              <a:rPr lang="en-US" sz="2400" dirty="0">
                <a:solidFill>
                  <a:srgbClr val="215968"/>
                </a:solidFill>
              </a:rPr>
              <a:t>where</a:t>
            </a:r>
            <a:r>
              <a:rPr lang="pl-PL" sz="2400" dirty="0">
                <a:solidFill>
                  <a:srgbClr val="215968"/>
                </a:solidFill>
              </a:rPr>
              <a:t> </a:t>
            </a:r>
            <a:r>
              <a:rPr lang="en-US" sz="2400" dirty="0">
                <a:solidFill>
                  <a:srgbClr val="215968"/>
                </a:solidFill>
              </a:rPr>
              <a:t>neither subject nor the researchers know who is in the control group or in the treatment group.</a:t>
            </a:r>
            <a:endParaRPr lang="pl-PL" sz="2400" dirty="0">
              <a:solidFill>
                <a:srgbClr val="215968"/>
              </a:solidFill>
            </a:endParaRPr>
          </a:p>
          <a:p>
            <a:pPr algn="just"/>
            <a:r>
              <a:rPr lang="en-US" sz="2400" dirty="0">
                <a:solidFill>
                  <a:srgbClr val="215968"/>
                </a:solidFill>
              </a:rPr>
              <a:t> </a:t>
            </a:r>
            <a:endParaRPr lang="pl-PL" sz="2400" dirty="0">
              <a:solidFill>
                <a:srgbClr val="215968"/>
              </a:solidFill>
            </a:endParaRPr>
          </a:p>
          <a:p>
            <a:pPr marL="457200" indent="-457200" algn="just">
              <a:buFont typeface="Arial" panose="020B0604020202020204" pitchFamily="34" charset="0"/>
              <a:buChar char="•"/>
            </a:pPr>
            <a:r>
              <a:rPr lang="en-US" sz="2400" dirty="0">
                <a:solidFill>
                  <a:srgbClr val="215968"/>
                </a:solidFill>
              </a:rPr>
              <a:t>The researcher collects data, analyses them during (after) the experiment. Observable </a:t>
            </a:r>
            <a:r>
              <a:rPr lang="en-US" sz="2400" b="1" dirty="0">
                <a:solidFill>
                  <a:srgbClr val="215968"/>
                </a:solidFill>
              </a:rPr>
              <a:t>differences</a:t>
            </a:r>
            <a:r>
              <a:rPr lang="en-US" sz="2400" dirty="0">
                <a:solidFill>
                  <a:srgbClr val="215968"/>
                </a:solidFill>
              </a:rPr>
              <a:t> in the outcomes ( health indicators) between the two groups can be used to conclude how the new procedure influences health. The inference can be based on differences in </a:t>
            </a:r>
            <a:r>
              <a:rPr lang="en-US" sz="2400" b="1" dirty="0">
                <a:solidFill>
                  <a:srgbClr val="215968"/>
                </a:solidFill>
              </a:rPr>
              <a:t>means</a:t>
            </a:r>
            <a:r>
              <a:rPr lang="en-US" sz="2400" dirty="0">
                <a:solidFill>
                  <a:srgbClr val="215968"/>
                </a:solidFill>
              </a:rPr>
              <a:t> between the two groups. </a:t>
            </a:r>
            <a:endParaRPr lang="en-US" sz="2800" b="1" dirty="0">
              <a:solidFill>
                <a:srgbClr val="215968"/>
              </a:solidFill>
            </a:endParaRPr>
          </a:p>
        </p:txBody>
      </p:sp>
    </p:spTree>
    <p:extLst>
      <p:ext uri="{BB962C8B-B14F-4D97-AF65-F5344CB8AC3E}">
        <p14:creationId xmlns:p14="http://schemas.microsoft.com/office/powerpoint/2010/main" val="1066756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Randomization</a:t>
            </a:r>
            <a:r>
              <a:rPr lang="pl-PL" sz="4400" b="1" i="1" spc="-1" dirty="0">
                <a:solidFill>
                  <a:srgbClr val="215968"/>
                </a:solidFill>
              </a:rPr>
              <a:t> </a:t>
            </a:r>
            <a:endParaRPr lang="en-GB" sz="3200" b="1" i="1" dirty="0"/>
          </a:p>
        </p:txBody>
      </p:sp>
      <mc:AlternateContent xmlns:mc="http://schemas.openxmlformats.org/markup-compatibility/2006" xmlns:a14="http://schemas.microsoft.com/office/drawing/2010/main">
        <mc:Choice Requires="a14">
          <p:sp>
            <p:nvSpPr>
              <p:cNvPr id="3" name="Prostokąt 2"/>
              <p:cNvSpPr/>
              <p:nvPr/>
            </p:nvSpPr>
            <p:spPr>
              <a:xfrm>
                <a:off x="76469" y="1319425"/>
                <a:ext cx="8756073" cy="5274136"/>
              </a:xfrm>
              <a:prstGeom prst="rect">
                <a:avLst/>
              </a:prstGeom>
            </p:spPr>
            <p:txBody>
              <a:bodyPr wrap="square">
                <a:spAutoFit/>
              </a:bodyPr>
              <a:lstStyle/>
              <a:p>
                <a:pPr algn="just"/>
                <a:r>
                  <a:rPr lang="en-US" sz="2400" dirty="0">
                    <a:solidFill>
                      <a:srgbClr val="215968"/>
                    </a:solidFill>
                  </a:rPr>
                  <a:t>By </a:t>
                </a:r>
                <a:r>
                  <a:rPr lang="en-US" sz="2400" dirty="0" err="1">
                    <a:solidFill>
                      <a:srgbClr val="215968"/>
                    </a:solidFill>
                  </a:rPr>
                  <a:t>randomisation</a:t>
                </a:r>
                <a:r>
                  <a:rPr lang="en-US" sz="2400" dirty="0">
                    <a:solidFill>
                      <a:srgbClr val="215968"/>
                    </a:solidFill>
                  </a:rPr>
                  <a:t>, we get two </a:t>
                </a:r>
                <a:r>
                  <a:rPr lang="en-US" sz="2400" b="1" dirty="0">
                    <a:solidFill>
                      <a:srgbClr val="215968"/>
                    </a:solidFill>
                  </a:rPr>
                  <a:t>identical</a:t>
                </a:r>
                <a:r>
                  <a:rPr lang="en-US" sz="2400" dirty="0">
                    <a:solidFill>
                      <a:srgbClr val="215968"/>
                    </a:solidFill>
                  </a:rPr>
                  <a:t> (statistically) </a:t>
                </a:r>
                <a:r>
                  <a:rPr lang="en-US" sz="2400" b="1" dirty="0">
                    <a:solidFill>
                      <a:srgbClr val="215968"/>
                    </a:solidFill>
                  </a:rPr>
                  <a:t>groups </a:t>
                </a:r>
                <a:r>
                  <a:rPr lang="en-US" sz="2400" dirty="0">
                    <a:solidFill>
                      <a:srgbClr val="215968"/>
                    </a:solidFill>
                  </a:rPr>
                  <a:t>in which factors that could affect our output are equally mixed. Before the experiment, the average values of the examined variable (blood pressure) in groups should be statistically equal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i="1" kern="0">
                            <a:solidFill>
                              <a:srgbClr val="5B9BD5">
                                <a:lumMod val="50000"/>
                              </a:srgbClr>
                            </a:solidFill>
                            <a:latin typeface="Cambria Math" panose="02040503050406030204" pitchFamily="18" charset="0"/>
                            <a:ea typeface="Cambria Math" panose="02040503050406030204" pitchFamily="18" charset="0"/>
                          </a:rPr>
                          <m:t>𝑡</m:t>
                        </m:r>
                      </m:sub>
                      <m:sup>
                        <m:r>
                          <a:rPr lang="pl-PL" sz="2400" i="1" kern="0">
                            <a:solidFill>
                              <a:srgbClr val="5B9BD5">
                                <a:lumMod val="50000"/>
                              </a:srgbClr>
                            </a:solidFill>
                            <a:latin typeface="Cambria Math" panose="02040503050406030204" pitchFamily="18" charset="0"/>
                            <a:ea typeface="Cambria Math" panose="02040503050406030204" pitchFamily="18" charset="0"/>
                          </a:rPr>
                          <m:t>0</m:t>
                        </m:r>
                      </m:sup>
                    </m:sSubSup>
                  </m:oMath>
                </a14:m>
                <a:r>
                  <a:rPr lang="pl-PL" sz="2400" dirty="0">
                    <a:solidFill>
                      <a:srgbClr val="215968"/>
                    </a:solidFill>
                  </a:rPr>
                  <a:t> =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i="1" kern="0">
                            <a:solidFill>
                              <a:srgbClr val="5B9BD5">
                                <a:lumMod val="50000"/>
                              </a:srgbClr>
                            </a:solidFill>
                            <a:latin typeface="Cambria Math" panose="02040503050406030204" pitchFamily="18" charset="0"/>
                            <a:ea typeface="Cambria Math" panose="02040503050406030204" pitchFamily="18" charset="0"/>
                          </a:rPr>
                          <m:t>𝑡</m:t>
                        </m:r>
                      </m:sub>
                      <m:sup>
                        <m:r>
                          <a:rPr lang="pl-PL" sz="2400" i="1" kern="0">
                            <a:solidFill>
                              <a:srgbClr val="5B9BD5">
                                <a:lumMod val="50000"/>
                              </a:srgbClr>
                            </a:solidFill>
                            <a:latin typeface="Cambria Math" panose="02040503050406030204" pitchFamily="18" charset="0"/>
                            <a:ea typeface="Cambria Math" panose="02040503050406030204" pitchFamily="18" charset="0"/>
                          </a:rPr>
                          <m:t>0</m:t>
                        </m:r>
                      </m:sup>
                    </m:sSubSup>
                  </m:oMath>
                </a14:m>
                <a:r>
                  <a:rPr lang="pl-PL" sz="2400" dirty="0">
                    <a:solidFill>
                      <a:srgbClr val="215968"/>
                    </a:solidFill>
                  </a:rPr>
                  <a:t>. </a:t>
                </a:r>
                <a:endParaRPr lang="en-US" sz="2400" dirty="0">
                  <a:solidFill>
                    <a:srgbClr val="215968"/>
                  </a:solidFill>
                </a:endParaRPr>
              </a:p>
              <a:p>
                <a:pPr algn="just"/>
                <a:endParaRPr lang="pl-PL" sz="2400" dirty="0">
                  <a:solidFill>
                    <a:srgbClr val="215968"/>
                  </a:solidFill>
                </a:endParaRPr>
              </a:p>
              <a:p>
                <a:pPr algn="just"/>
                <a:r>
                  <a:rPr lang="en-US" sz="2400" dirty="0">
                    <a:solidFill>
                      <a:srgbClr val="215968"/>
                    </a:solidFill>
                  </a:rPr>
                  <a:t>During the experiment, the treatment can influence only the treatment group's characteristic ( averages of health indicators). There isn't any cause (only randomness) which changes the control group's characteristic.  The </a:t>
                </a:r>
                <a:r>
                  <a:rPr lang="en-US" sz="2400" b="1" dirty="0">
                    <a:solidFill>
                      <a:srgbClr val="215968"/>
                    </a:solidFill>
                  </a:rPr>
                  <a:t>difference</a:t>
                </a:r>
                <a:r>
                  <a:rPr lang="en-US" sz="2400" dirty="0">
                    <a:solidFill>
                      <a:srgbClr val="215968"/>
                    </a:solidFill>
                  </a:rPr>
                  <a:t> between the </a:t>
                </a:r>
                <a:r>
                  <a:rPr lang="en-US" sz="2400" b="1" dirty="0">
                    <a:solidFill>
                      <a:srgbClr val="215968"/>
                    </a:solidFill>
                  </a:rPr>
                  <a:t>means</a:t>
                </a:r>
                <a:r>
                  <a:rPr lang="en-US" sz="2400" dirty="0">
                    <a:solidFill>
                      <a:srgbClr val="215968"/>
                    </a:solidFill>
                  </a:rPr>
                  <a:t> of characteristics of the two groups shows the influence of treatment on the subjects.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i="1" kern="0">
                            <a:solidFill>
                              <a:srgbClr val="5B9BD5">
                                <a:lumMod val="50000"/>
                              </a:srgbClr>
                            </a:solidFill>
                            <a:latin typeface="Cambria Math" panose="02040503050406030204" pitchFamily="18" charset="0"/>
                            <a:ea typeface="Cambria Math" panose="02040503050406030204" pitchFamily="18" charset="0"/>
                          </a:rPr>
                          <m:t>𝑡</m:t>
                        </m:r>
                      </m:sub>
                      <m:sup>
                        <m:r>
                          <a:rPr lang="pl-PL" sz="2400" i="1" kern="0">
                            <a:solidFill>
                              <a:srgbClr val="5B9BD5">
                                <a:lumMod val="50000"/>
                              </a:srgbClr>
                            </a:solidFill>
                            <a:latin typeface="Cambria Math" panose="02040503050406030204" pitchFamily="18" charset="0"/>
                            <a:ea typeface="Cambria Math" panose="02040503050406030204" pitchFamily="18" charset="0"/>
                          </a:rPr>
                          <m:t>0</m:t>
                        </m:r>
                      </m:sup>
                    </m:sSubSup>
                  </m:oMath>
                </a14:m>
                <a:r>
                  <a:rPr lang="pl-PL" sz="2400" dirty="0">
                    <a:solidFill>
                      <a:srgbClr val="215968"/>
                    </a:solidFill>
                  </a:rPr>
                  <a:t> </a:t>
                </a:r>
                <a:r>
                  <a:rPr lang="pl-PL" sz="2400" dirty="0">
                    <a:solidFill>
                      <a:srgbClr val="C00000"/>
                    </a:solidFill>
                  </a:rPr>
                  <a:t>?</a:t>
                </a:r>
                <a:r>
                  <a:rPr lang="pl-PL" sz="2400" dirty="0">
                    <a:solidFill>
                      <a:srgbClr val="215968"/>
                    </a:solidFill>
                  </a:rPr>
                  <a:t>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i="1" kern="0">
                            <a:solidFill>
                              <a:srgbClr val="5B9BD5">
                                <a:lumMod val="50000"/>
                              </a:srgbClr>
                            </a:solidFill>
                            <a:latin typeface="Cambria Math" panose="02040503050406030204" pitchFamily="18" charset="0"/>
                            <a:ea typeface="Cambria Math" panose="02040503050406030204" pitchFamily="18" charset="0"/>
                          </a:rPr>
                          <m:t>𝑡</m:t>
                        </m:r>
                      </m:sub>
                      <m:sup>
                        <m:r>
                          <a:rPr lang="pl-PL" sz="2400" b="0" i="1" kern="0" smtClean="0">
                            <a:solidFill>
                              <a:srgbClr val="5B9BD5">
                                <a:lumMod val="50000"/>
                              </a:srgbClr>
                            </a:solidFill>
                            <a:latin typeface="Cambria Math" panose="02040503050406030204" pitchFamily="18" charset="0"/>
                            <a:ea typeface="Cambria Math" panose="02040503050406030204" pitchFamily="18" charset="0"/>
                          </a:rPr>
                          <m:t>1</m:t>
                        </m:r>
                      </m:sup>
                    </m:sSubSup>
                  </m:oMath>
                </a14:m>
                <a:r>
                  <a:rPr lang="pl-PL" sz="2400" dirty="0">
                    <a:solidFill>
                      <a:srgbClr val="215968"/>
                    </a:solidFill>
                  </a:rPr>
                  <a:t> and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b="0" i="1" kern="0" smtClean="0">
                            <a:solidFill>
                              <a:srgbClr val="5B9BD5">
                                <a:lumMod val="50000"/>
                              </a:srgbClr>
                            </a:solidFill>
                            <a:latin typeface="Cambria Math" panose="02040503050406030204" pitchFamily="18" charset="0"/>
                            <a:ea typeface="Cambria Math" panose="02040503050406030204" pitchFamily="18" charset="0"/>
                          </a:rPr>
                          <m:t>𝑐</m:t>
                        </m:r>
                      </m:sub>
                      <m:sup>
                        <m:r>
                          <a:rPr lang="pl-PL" sz="2400" b="0" i="1" kern="0" smtClean="0">
                            <a:solidFill>
                              <a:srgbClr val="5B9BD5">
                                <a:lumMod val="50000"/>
                              </a:srgbClr>
                            </a:solidFill>
                            <a:latin typeface="Cambria Math" panose="02040503050406030204" pitchFamily="18" charset="0"/>
                            <a:ea typeface="Cambria Math" panose="02040503050406030204" pitchFamily="18" charset="0"/>
                          </a:rPr>
                          <m:t>0</m:t>
                        </m:r>
                      </m:sup>
                    </m:sSubSup>
                  </m:oMath>
                </a14:m>
                <a:r>
                  <a:rPr lang="pl-PL" sz="2400" dirty="0">
                    <a:solidFill>
                      <a:srgbClr val="215968"/>
                    </a:solidFill>
                  </a:rPr>
                  <a:t> = </a:t>
                </a:r>
                <a14:m>
                  <m:oMath xmlns:m="http://schemas.openxmlformats.org/officeDocument/2006/math">
                    <m:sSubSup>
                      <m:sSubSupPr>
                        <m:ctrlPr>
                          <a:rPr lang="pl-PL" sz="2400" i="1" kern="0">
                            <a:solidFill>
                              <a:srgbClr val="5B9BD5">
                                <a:lumMod val="50000"/>
                              </a:srgbClr>
                            </a:solidFill>
                            <a:latin typeface="Cambria Math" panose="02040503050406030204" pitchFamily="18" charset="0"/>
                            <a:ea typeface="Cambria Math" panose="02040503050406030204" pitchFamily="18" charset="0"/>
                          </a:rPr>
                        </m:ctrlPr>
                      </m:sSubSupPr>
                      <m:e>
                        <m:r>
                          <a:rPr lang="pl-PL" sz="2400" i="1" kern="0">
                            <a:solidFill>
                              <a:srgbClr val="5B9BD5">
                                <a:lumMod val="50000"/>
                              </a:srgbClr>
                            </a:solidFill>
                            <a:latin typeface="Cambria Math" panose="02040503050406030204" pitchFamily="18" charset="0"/>
                            <a:ea typeface="Cambria Math" panose="02040503050406030204" pitchFamily="18" charset="0"/>
                          </a:rPr>
                          <m:t>𝜇</m:t>
                        </m:r>
                      </m:e>
                      <m:sub>
                        <m:r>
                          <a:rPr lang="pl-PL" sz="2400" b="0" i="1" kern="0" smtClean="0">
                            <a:solidFill>
                              <a:srgbClr val="5B9BD5">
                                <a:lumMod val="50000"/>
                              </a:srgbClr>
                            </a:solidFill>
                            <a:latin typeface="Cambria Math" panose="02040503050406030204" pitchFamily="18" charset="0"/>
                            <a:ea typeface="Cambria Math" panose="02040503050406030204" pitchFamily="18" charset="0"/>
                          </a:rPr>
                          <m:t>𝑐</m:t>
                        </m:r>
                      </m:sub>
                      <m:sup>
                        <m:r>
                          <a:rPr lang="pl-PL" sz="2400" b="0" i="1" kern="0" smtClean="0">
                            <a:solidFill>
                              <a:srgbClr val="5B9BD5">
                                <a:lumMod val="50000"/>
                              </a:srgbClr>
                            </a:solidFill>
                            <a:latin typeface="Cambria Math" panose="02040503050406030204" pitchFamily="18" charset="0"/>
                            <a:ea typeface="Cambria Math" panose="02040503050406030204" pitchFamily="18" charset="0"/>
                          </a:rPr>
                          <m:t>1</m:t>
                        </m:r>
                      </m:sup>
                    </m:sSubSup>
                  </m:oMath>
                </a14:m>
                <a:r>
                  <a:rPr lang="pl-PL" sz="2400" dirty="0">
                    <a:solidFill>
                      <a:srgbClr val="215968"/>
                    </a:solidFill>
                  </a:rPr>
                  <a:t>. </a:t>
                </a:r>
                <a:endParaRPr lang="en-US" sz="2400" dirty="0">
                  <a:solidFill>
                    <a:srgbClr val="215968"/>
                  </a:solidFill>
                </a:endParaRPr>
              </a:p>
              <a:p>
                <a:pPr algn="just"/>
                <a:endParaRPr lang="en-US" sz="2400" dirty="0">
                  <a:solidFill>
                    <a:srgbClr val="215968"/>
                  </a:solidFill>
                </a:endParaRPr>
              </a:p>
              <a:p>
                <a:pPr algn="just"/>
                <a:r>
                  <a:rPr lang="en-US" sz="2400" dirty="0">
                    <a:solidFill>
                      <a:srgbClr val="215968"/>
                    </a:solidFill>
                  </a:rPr>
                  <a:t>We can conclude about </a:t>
                </a:r>
                <a:r>
                  <a:rPr lang="en-US" sz="2400" b="1" dirty="0">
                    <a:solidFill>
                      <a:srgbClr val="215968"/>
                    </a:solidFill>
                  </a:rPr>
                  <a:t>causality</a:t>
                </a:r>
                <a:r>
                  <a:rPr lang="en-US" sz="2400" dirty="0">
                    <a:solidFill>
                      <a:srgbClr val="215968"/>
                    </a:solidFill>
                  </a:rPr>
                  <a:t> relationship.  The application of the treatment was the cause of the observable subjects change. </a:t>
                </a:r>
                <a:endParaRPr lang="en-US" sz="2800" b="1" dirty="0">
                  <a:solidFill>
                    <a:srgbClr val="215968"/>
                  </a:solidFill>
                </a:endParaRPr>
              </a:p>
            </p:txBody>
          </p:sp>
        </mc:Choice>
        <mc:Fallback xmlns="">
          <p:sp>
            <p:nvSpPr>
              <p:cNvPr id="3" name="Prostokąt 2"/>
              <p:cNvSpPr>
                <a:spLocks noRot="1" noChangeAspect="1" noMove="1" noResize="1" noEditPoints="1" noAdjustHandles="1" noChangeArrowheads="1" noChangeShapeType="1" noTextEdit="1"/>
              </p:cNvSpPr>
              <p:nvPr/>
            </p:nvSpPr>
            <p:spPr>
              <a:xfrm>
                <a:off x="76469" y="1319425"/>
                <a:ext cx="8756073" cy="5274136"/>
              </a:xfrm>
              <a:prstGeom prst="rect">
                <a:avLst/>
              </a:prstGeom>
              <a:blipFill>
                <a:blip r:embed="rId2"/>
                <a:stretch>
                  <a:fillRect l="-1114" t="-924" r="-1045" b="-1501"/>
                </a:stretch>
              </a:blipFill>
            </p:spPr>
            <p:txBody>
              <a:bodyPr/>
              <a:lstStyle/>
              <a:p>
                <a:r>
                  <a:rPr lang="pl-PL">
                    <a:noFill/>
                  </a:rPr>
                  <a:t> </a:t>
                </a:r>
              </a:p>
            </p:txBody>
          </p:sp>
        </mc:Fallback>
      </mc:AlternateContent>
      <p:pic>
        <p:nvPicPr>
          <p:cNvPr id="161" name="Obraz 160"/>
          <p:cNvPicPr>
            <a:picLocks noChangeAspect="1"/>
          </p:cNvPicPr>
          <p:nvPr/>
        </p:nvPicPr>
        <p:blipFill>
          <a:blip r:embed="rId3"/>
          <a:stretch>
            <a:fillRect/>
          </a:stretch>
        </p:blipFill>
        <p:spPr>
          <a:xfrm>
            <a:off x="8832542" y="2850707"/>
            <a:ext cx="3005470" cy="2211572"/>
          </a:xfrm>
          <a:prstGeom prst="rect">
            <a:avLst/>
          </a:prstGeom>
        </p:spPr>
      </p:pic>
    </p:spTree>
    <p:extLst>
      <p:ext uri="{BB962C8B-B14F-4D97-AF65-F5344CB8AC3E}">
        <p14:creationId xmlns:p14="http://schemas.microsoft.com/office/powerpoint/2010/main" val="3882344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Randomization</a:t>
            </a:r>
            <a:r>
              <a:rPr lang="pl-PL" sz="4400" b="1" i="1" spc="-1" dirty="0">
                <a:solidFill>
                  <a:srgbClr val="215968"/>
                </a:solidFill>
              </a:rPr>
              <a:t> </a:t>
            </a:r>
            <a:endParaRPr lang="en-GB" sz="3200" b="1" i="1" dirty="0"/>
          </a:p>
        </p:txBody>
      </p:sp>
      <p:sp>
        <p:nvSpPr>
          <p:cNvPr id="3" name="Prostokąt 2"/>
          <p:cNvSpPr/>
          <p:nvPr/>
        </p:nvSpPr>
        <p:spPr>
          <a:xfrm>
            <a:off x="434108" y="1276124"/>
            <a:ext cx="10917383" cy="1200329"/>
          </a:xfrm>
          <a:prstGeom prst="rect">
            <a:avLst/>
          </a:prstGeom>
        </p:spPr>
        <p:txBody>
          <a:bodyPr wrap="square">
            <a:spAutoFit/>
          </a:bodyPr>
          <a:lstStyle/>
          <a:p>
            <a:pPr algn="just"/>
            <a:r>
              <a:rPr lang="en-US" sz="2400" b="1" dirty="0">
                <a:solidFill>
                  <a:srgbClr val="215968"/>
                </a:solidFill>
              </a:rPr>
              <a:t>Randomization</a:t>
            </a:r>
            <a:r>
              <a:rPr lang="en-US" sz="2400" dirty="0">
                <a:solidFill>
                  <a:srgbClr val="215968"/>
                </a:solidFill>
              </a:rPr>
              <a:t> can even be used in </a:t>
            </a:r>
            <a:r>
              <a:rPr lang="en-US" sz="2400" b="1" dirty="0">
                <a:solidFill>
                  <a:srgbClr val="215968"/>
                </a:solidFill>
              </a:rPr>
              <a:t>field experiments</a:t>
            </a:r>
            <a:r>
              <a:rPr lang="en-US" sz="2400" dirty="0">
                <a:solidFill>
                  <a:srgbClr val="215968"/>
                </a:solidFill>
              </a:rPr>
              <a:t>. Nobel prize winners</a:t>
            </a:r>
            <a:r>
              <a:rPr lang="pl-PL" sz="2400" dirty="0">
                <a:solidFill>
                  <a:srgbClr val="215968"/>
                </a:solidFill>
              </a:rPr>
              <a:t> </a:t>
            </a:r>
            <a:r>
              <a:rPr lang="en-US" sz="2400" dirty="0">
                <a:solidFill>
                  <a:srgbClr val="215968"/>
                </a:solidFill>
              </a:rPr>
              <a:t>(2019)</a:t>
            </a:r>
            <a:r>
              <a:rPr lang="pl-PL" sz="2400" dirty="0">
                <a:solidFill>
                  <a:srgbClr val="215968"/>
                </a:solidFill>
              </a:rPr>
              <a:t> </a:t>
            </a:r>
            <a:r>
              <a:rPr lang="en-US" sz="2400" dirty="0">
                <a:solidFill>
                  <a:srgbClr val="215968"/>
                </a:solidFill>
              </a:rPr>
              <a:t>have conducted this type of research in developing countries. For example, they studied how to motivate people to vaccination. </a:t>
            </a:r>
            <a:endParaRPr lang="en-US" sz="2800" dirty="0">
              <a:solidFill>
                <a:srgbClr val="215968"/>
              </a:solidFill>
            </a:endParaRPr>
          </a:p>
        </p:txBody>
      </p:sp>
      <p:pic>
        <p:nvPicPr>
          <p:cNvPr id="2" name="Obraz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5817" y="2584436"/>
            <a:ext cx="8572500" cy="39909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032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Shape 1"/>
          <p:cNvSpPr txBox="1"/>
          <p:nvPr/>
        </p:nvSpPr>
        <p:spPr>
          <a:xfrm>
            <a:off x="-1" y="0"/>
            <a:ext cx="12192001" cy="1168142"/>
          </a:xfrm>
          <a:prstGeom prst="rect">
            <a:avLst/>
          </a:prstGeom>
          <a:solidFill>
            <a:srgbClr val="DBEEF4"/>
          </a:solidFill>
          <a:ln>
            <a:noFill/>
          </a:ln>
        </p:spPr>
        <p:txBody>
          <a:bodyPr anchor="ctr"/>
          <a:lstStyle/>
          <a:p>
            <a:pPr algn="ctr"/>
            <a:r>
              <a:rPr lang="pl-PL" sz="3600" b="1" i="1" spc="-1" dirty="0">
                <a:solidFill>
                  <a:srgbClr val="C00000"/>
                </a:solidFill>
                <a:latin typeface="Calibri"/>
              </a:rPr>
              <a:t>Watch </a:t>
            </a:r>
            <a:r>
              <a:rPr lang="pl-PL" sz="3600" b="1" i="1" spc="-1" dirty="0" err="1">
                <a:solidFill>
                  <a:srgbClr val="C00000"/>
                </a:solidFill>
                <a:latin typeface="Calibri"/>
              </a:rPr>
              <a:t>this</a:t>
            </a:r>
            <a:r>
              <a:rPr lang="pl-PL" sz="3600" b="1" i="1" spc="-1" dirty="0">
                <a:solidFill>
                  <a:srgbClr val="C00000"/>
                </a:solidFill>
                <a:latin typeface="Calibri"/>
              </a:rPr>
              <a:t> !!!!!!!!!!! </a:t>
            </a:r>
            <a:endParaRPr lang="en-GB" sz="2400" b="1" i="1" dirty="0">
              <a:solidFill>
                <a:srgbClr val="C00000"/>
              </a:solidFill>
            </a:endParaRPr>
          </a:p>
        </p:txBody>
      </p:sp>
      <p:sp>
        <p:nvSpPr>
          <p:cNvPr id="49" name="TextShape 2"/>
          <p:cNvSpPr txBox="1"/>
          <p:nvPr/>
        </p:nvSpPr>
        <p:spPr>
          <a:xfrm>
            <a:off x="237572" y="1480930"/>
            <a:ext cx="6068591" cy="2276060"/>
          </a:xfrm>
          <a:prstGeom prst="rect">
            <a:avLst/>
          </a:prstGeom>
          <a:noFill/>
          <a:ln>
            <a:noFill/>
          </a:ln>
        </p:spPr>
        <p:txBody>
          <a:bodyPr/>
          <a:lstStyle/>
          <a:p>
            <a:pPr algn="just"/>
            <a:r>
              <a:rPr lang="en-US" sz="2800" b="1" spc="-1" dirty="0">
                <a:solidFill>
                  <a:srgbClr val="215968"/>
                </a:solidFill>
                <a:latin typeface="Calibri" panose="020F0502020204030204" pitchFamily="34" charset="0"/>
                <a:cs typeface="Calibri" panose="020F0502020204030204" pitchFamily="34" charset="0"/>
              </a:rPr>
              <a:t>Natural and </a:t>
            </a:r>
            <a:r>
              <a:rPr lang="en-US" sz="2800" b="1" spc="-1" dirty="0">
                <a:solidFill>
                  <a:srgbClr val="C00000"/>
                </a:solidFill>
                <a:latin typeface="Calibri" panose="020F0502020204030204" pitchFamily="34" charset="0"/>
                <a:cs typeface="Calibri" panose="020F0502020204030204" pitchFamily="34" charset="0"/>
              </a:rPr>
              <a:t>non-planned</a:t>
            </a:r>
            <a:r>
              <a:rPr lang="en-US" sz="2800" b="1" spc="-1" dirty="0">
                <a:solidFill>
                  <a:srgbClr val="215968"/>
                </a:solidFill>
                <a:latin typeface="Calibri" panose="020F0502020204030204" pitchFamily="34" charset="0"/>
                <a:cs typeface="Calibri" panose="020F0502020204030204" pitchFamily="34" charset="0"/>
              </a:rPr>
              <a:t> experiments; the </a:t>
            </a:r>
            <a:r>
              <a:rPr lang="en-US" sz="2800" b="1" spc="-1" dirty="0">
                <a:solidFill>
                  <a:srgbClr val="C00000"/>
                </a:solidFill>
                <a:latin typeface="Calibri" panose="020F0502020204030204" pitchFamily="34" charset="0"/>
                <a:cs typeface="Calibri" panose="020F0502020204030204" pitchFamily="34" charset="0"/>
              </a:rPr>
              <a:t>big data </a:t>
            </a:r>
            <a:r>
              <a:rPr lang="en-US" sz="2800" b="1" spc="-1" dirty="0">
                <a:solidFill>
                  <a:srgbClr val="215968"/>
                </a:solidFill>
                <a:latin typeface="Calibri" panose="020F0502020204030204" pitchFamily="34" charset="0"/>
                <a:cs typeface="Calibri" panose="020F0502020204030204" pitchFamily="34" charset="0"/>
              </a:rPr>
              <a:t>includes information about </a:t>
            </a:r>
            <a:r>
              <a:rPr lang="pl-PL" sz="2800" b="1" spc="-1" dirty="0" err="1">
                <a:solidFill>
                  <a:srgbClr val="215968"/>
                </a:solidFill>
                <a:latin typeface="Calibri" panose="020F0502020204030204" pitchFamily="34" charset="0"/>
                <a:cs typeface="Calibri" panose="020F0502020204030204" pitchFamily="34" charset="0"/>
              </a:rPr>
              <a:t>their</a:t>
            </a:r>
            <a:r>
              <a:rPr lang="pl-PL" sz="2800" b="1" spc="-1" dirty="0">
                <a:solidFill>
                  <a:srgbClr val="215968"/>
                </a:solidFill>
                <a:latin typeface="Calibri" panose="020F0502020204030204" pitchFamily="34" charset="0"/>
                <a:cs typeface="Calibri" panose="020F0502020204030204" pitchFamily="34" charset="0"/>
              </a:rPr>
              <a:t> </a:t>
            </a:r>
            <a:r>
              <a:rPr lang="pl-PL" sz="2800" b="1" spc="-1" dirty="0" err="1">
                <a:solidFill>
                  <a:srgbClr val="215968"/>
                </a:solidFill>
                <a:latin typeface="Calibri" panose="020F0502020204030204" pitchFamily="34" charset="0"/>
                <a:cs typeface="Calibri" panose="020F0502020204030204" pitchFamily="34" charset="0"/>
              </a:rPr>
              <a:t>results</a:t>
            </a:r>
            <a:r>
              <a:rPr lang="pl-PL" sz="2800" b="1" spc="-1" dirty="0">
                <a:solidFill>
                  <a:srgbClr val="215968"/>
                </a:solidFill>
                <a:latin typeface="Calibri" panose="020F0502020204030204" pitchFamily="34" charset="0"/>
                <a:cs typeface="Calibri" panose="020F0502020204030204" pitchFamily="34" charset="0"/>
              </a:rPr>
              <a:t>/we </a:t>
            </a:r>
            <a:r>
              <a:rPr lang="pl-PL" sz="2800" b="1" spc="-1" dirty="0" err="1">
                <a:solidFill>
                  <a:srgbClr val="215968"/>
                </a:solidFill>
                <a:latin typeface="Calibri" panose="020F0502020204030204" pitchFamily="34" charset="0"/>
                <a:cs typeface="Calibri" panose="020F0502020204030204" pitchFamily="34" charset="0"/>
              </a:rPr>
              <a:t>have</a:t>
            </a:r>
            <a:r>
              <a:rPr lang="pl-PL" sz="2800" b="1" spc="-1" dirty="0">
                <a:solidFill>
                  <a:srgbClr val="215968"/>
                </a:solidFill>
                <a:latin typeface="Calibri" panose="020F0502020204030204" pitchFamily="34" charset="0"/>
                <a:cs typeface="Calibri" panose="020F0502020204030204" pitchFamily="34" charset="0"/>
              </a:rPr>
              <a:t> to </a:t>
            </a:r>
            <a:r>
              <a:rPr lang="pl-PL" sz="2800" b="1" spc="-1" dirty="0" err="1">
                <a:solidFill>
                  <a:srgbClr val="215968"/>
                </a:solidFill>
                <a:latin typeface="Calibri" panose="020F0502020204030204" pitchFamily="34" charset="0"/>
                <a:cs typeface="Calibri" panose="020F0502020204030204" pitchFamily="34" charset="0"/>
              </a:rPr>
              <a:t>find</a:t>
            </a:r>
            <a:r>
              <a:rPr lang="pl-PL" sz="2800" b="1" spc="-1" dirty="0">
                <a:solidFill>
                  <a:srgbClr val="215968"/>
                </a:solidFill>
                <a:latin typeface="Calibri" panose="020F0502020204030204" pitchFamily="34" charset="0"/>
                <a:cs typeface="Calibri" panose="020F0502020204030204" pitchFamily="34" charset="0"/>
              </a:rPr>
              <a:t> </a:t>
            </a:r>
            <a:r>
              <a:rPr lang="pl-PL" sz="2800" b="1" spc="-1" dirty="0" err="1">
                <a:solidFill>
                  <a:srgbClr val="215968"/>
                </a:solidFill>
                <a:latin typeface="Calibri" panose="020F0502020204030204" pitchFamily="34" charset="0"/>
                <a:cs typeface="Calibri" panose="020F0502020204030204" pitchFamily="34" charset="0"/>
              </a:rPr>
              <a:t>tools</a:t>
            </a:r>
            <a:r>
              <a:rPr lang="pl-PL" sz="2800" b="1" spc="-1" dirty="0">
                <a:solidFill>
                  <a:srgbClr val="215968"/>
                </a:solidFill>
                <a:latin typeface="Calibri" panose="020F0502020204030204" pitchFamily="34" charset="0"/>
                <a:cs typeface="Calibri" panose="020F0502020204030204" pitchFamily="34" charset="0"/>
              </a:rPr>
              <a:t> </a:t>
            </a:r>
            <a:r>
              <a:rPr lang="en-US" sz="2800" b="1" spc="-1" dirty="0">
                <a:solidFill>
                  <a:srgbClr val="215968"/>
                </a:solidFill>
                <a:latin typeface="Calibri" panose="020F0502020204030204" pitchFamily="34" charset="0"/>
                <a:cs typeface="Calibri" panose="020F0502020204030204" pitchFamily="34" charset="0"/>
              </a:rPr>
              <a:t>to extract the results of the experiments. (my new category)</a:t>
            </a:r>
            <a:endParaRPr lang="en-US" sz="2800" spc="-1" dirty="0">
              <a:solidFill>
                <a:srgbClr val="215968"/>
              </a:solidFill>
              <a:latin typeface="Calibri" panose="020F0502020204030204" pitchFamily="34" charset="0"/>
              <a:cs typeface="Calibri" panose="020F0502020204030204" pitchFamily="34" charset="0"/>
            </a:endParaRPr>
          </a:p>
        </p:txBody>
      </p:sp>
      <p:pic>
        <p:nvPicPr>
          <p:cNvPr id="2" name="Obraz 1"/>
          <p:cNvPicPr>
            <a:picLocks noChangeAspect="1"/>
          </p:cNvPicPr>
          <p:nvPr/>
        </p:nvPicPr>
        <p:blipFill>
          <a:blip r:embed="rId2"/>
          <a:stretch>
            <a:fillRect/>
          </a:stretch>
        </p:blipFill>
        <p:spPr>
          <a:xfrm>
            <a:off x="6462339" y="1331221"/>
            <a:ext cx="5320748" cy="2992921"/>
          </a:xfrm>
          <a:prstGeom prst="rect">
            <a:avLst/>
          </a:prstGeom>
        </p:spPr>
      </p:pic>
      <p:sp>
        <p:nvSpPr>
          <p:cNvPr id="3" name="Prostokąt 2"/>
          <p:cNvSpPr/>
          <p:nvPr/>
        </p:nvSpPr>
        <p:spPr>
          <a:xfrm>
            <a:off x="237572" y="4487221"/>
            <a:ext cx="7349704" cy="707886"/>
          </a:xfrm>
          <a:prstGeom prst="rect">
            <a:avLst/>
          </a:prstGeom>
        </p:spPr>
        <p:txBody>
          <a:bodyPr wrap="none">
            <a:spAutoFit/>
          </a:bodyPr>
          <a:lstStyle/>
          <a:p>
            <a:r>
              <a:rPr lang="pl-PL" sz="2000" dirty="0">
                <a:solidFill>
                  <a:srgbClr val="C00000"/>
                </a:solidFill>
              </a:rPr>
              <a:t>Hal </a:t>
            </a:r>
            <a:r>
              <a:rPr lang="pl-PL" sz="2000" dirty="0" err="1">
                <a:solidFill>
                  <a:srgbClr val="C00000"/>
                </a:solidFill>
              </a:rPr>
              <a:t>Varian</a:t>
            </a:r>
            <a:r>
              <a:rPr lang="pl-PL" sz="2000" dirty="0">
                <a:solidFill>
                  <a:srgbClr val="C00000"/>
                </a:solidFill>
              </a:rPr>
              <a:t> (https://pubs.aeaweb.org/doi/pdf/10.1257%2Fjep.28.2.3)</a:t>
            </a:r>
          </a:p>
          <a:p>
            <a:r>
              <a:rPr lang="pl-PL" sz="2000" dirty="0">
                <a:solidFill>
                  <a:srgbClr val="C00000"/>
                </a:solidFill>
              </a:rPr>
              <a:t>https://www.youtube.com/watch?v=N89BnWUAAWU</a:t>
            </a:r>
          </a:p>
        </p:txBody>
      </p:sp>
    </p:spTree>
    <p:extLst>
      <p:ext uri="{BB962C8B-B14F-4D97-AF65-F5344CB8AC3E}">
        <p14:creationId xmlns:p14="http://schemas.microsoft.com/office/powerpoint/2010/main" val="413802512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3">
            <a:extLst>
              <a:ext uri="{FF2B5EF4-FFF2-40B4-BE49-F238E27FC236}">
                <a16:creationId xmlns:a16="http://schemas.microsoft.com/office/drawing/2014/main" id="{291845CE-4637-D844-E7FB-9F6FF899918C}"/>
              </a:ext>
            </a:extLst>
          </p:cNvPr>
          <p:cNvSpPr/>
          <p:nvPr/>
        </p:nvSpPr>
        <p:spPr>
          <a:xfrm>
            <a:off x="702060" y="1379519"/>
            <a:ext cx="10377743" cy="3539430"/>
          </a:xfrm>
          <a:prstGeom prst="rect">
            <a:avLst/>
          </a:prstGeom>
        </p:spPr>
        <p:txBody>
          <a:bodyPr wrap="square">
            <a:spAutoFit/>
          </a:bodyPr>
          <a:lstStyle/>
          <a:p>
            <a:pPr algn="just"/>
            <a:endParaRPr lang="en-US" sz="3200" b="1" dirty="0">
              <a:solidFill>
                <a:schemeClr val="accent5">
                  <a:lumMod val="50000"/>
                </a:schemeClr>
              </a:solidFill>
            </a:endParaRPr>
          </a:p>
          <a:p>
            <a:pPr algn="just"/>
            <a:r>
              <a:rPr lang="pl-PL" sz="3200" b="1" dirty="0">
                <a:solidFill>
                  <a:schemeClr val="accent5">
                    <a:lumMod val="50000"/>
                  </a:schemeClr>
                </a:solidFill>
              </a:rPr>
              <a:t>A</a:t>
            </a:r>
            <a:r>
              <a:rPr lang="en-US" sz="3200" b="1" dirty="0">
                <a:solidFill>
                  <a:schemeClr val="accent5">
                    <a:lumMod val="50000"/>
                  </a:schemeClr>
                </a:solidFill>
              </a:rPr>
              <a:t> very simple experiment. </a:t>
            </a:r>
          </a:p>
          <a:p>
            <a:pPr algn="just"/>
            <a:r>
              <a:rPr lang="pl-PL" sz="3200" b="1" dirty="0">
                <a:solidFill>
                  <a:schemeClr val="accent5">
                    <a:lumMod val="50000"/>
                  </a:schemeClr>
                </a:solidFill>
              </a:rPr>
              <a:t>A </a:t>
            </a:r>
            <a:r>
              <a:rPr lang="en-US" sz="3200" b="1" dirty="0">
                <a:solidFill>
                  <a:schemeClr val="accent5">
                    <a:lumMod val="50000"/>
                  </a:schemeClr>
                </a:solidFill>
              </a:rPr>
              <a:t>replication of the canonical study </a:t>
            </a:r>
          </a:p>
          <a:p>
            <a:pPr algn="just"/>
            <a:r>
              <a:rPr lang="pl-PL" sz="3200" b="1" dirty="0">
                <a:solidFill>
                  <a:schemeClr val="accent5">
                    <a:lumMod val="50000"/>
                  </a:schemeClr>
                </a:solidFill>
              </a:rPr>
              <a:t>N</a:t>
            </a:r>
            <a:r>
              <a:rPr lang="en-US" sz="3200" b="1" dirty="0" err="1">
                <a:solidFill>
                  <a:schemeClr val="accent5">
                    <a:lumMod val="50000"/>
                  </a:schemeClr>
                </a:solidFill>
              </a:rPr>
              <a:t>ot</a:t>
            </a:r>
            <a:r>
              <a:rPr lang="en-US" sz="3200" b="1" dirty="0">
                <a:solidFill>
                  <a:schemeClr val="accent5">
                    <a:lumMod val="50000"/>
                  </a:schemeClr>
                </a:solidFill>
              </a:rPr>
              <a:t> based on randomization </a:t>
            </a:r>
          </a:p>
          <a:p>
            <a:pPr algn="just"/>
            <a:r>
              <a:rPr lang="pl-PL" sz="3200" b="1" dirty="0">
                <a:solidFill>
                  <a:schemeClr val="accent5">
                    <a:lumMod val="50000"/>
                  </a:schemeClr>
                </a:solidFill>
              </a:rPr>
              <a:t>A </a:t>
            </a:r>
            <a:r>
              <a:rPr lang="en-US" sz="3200" b="1" dirty="0">
                <a:solidFill>
                  <a:schemeClr val="accent5">
                    <a:lumMod val="50000"/>
                  </a:schemeClr>
                </a:solidFill>
              </a:rPr>
              <a:t>verification of economic theory.</a:t>
            </a:r>
            <a:endParaRPr lang="pl-PL" sz="3200" b="1" dirty="0">
              <a:solidFill>
                <a:schemeClr val="accent5">
                  <a:lumMod val="50000"/>
                </a:schemeClr>
              </a:solidFill>
            </a:endParaRPr>
          </a:p>
          <a:p>
            <a:pPr algn="just"/>
            <a:endParaRPr lang="pl-PL" sz="3200" b="1" dirty="0">
              <a:solidFill>
                <a:schemeClr val="accent5">
                  <a:lumMod val="50000"/>
                </a:schemeClr>
              </a:solidFill>
            </a:endParaRPr>
          </a:p>
          <a:p>
            <a:pPr algn="just"/>
            <a:endParaRPr lang="pl-PL" sz="3200" b="1" dirty="0">
              <a:solidFill>
                <a:schemeClr val="accent5">
                  <a:lumMod val="50000"/>
                </a:schemeClr>
              </a:solidFill>
            </a:endParaRPr>
          </a:p>
        </p:txBody>
      </p:sp>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en-US" sz="4400" b="1" i="1" spc="-1" dirty="0">
                <a:solidFill>
                  <a:srgbClr val="215968"/>
                </a:solidFill>
              </a:rPr>
              <a:t>Now it's time for the experiment</a:t>
            </a:r>
            <a:endParaRPr lang="en-GB" sz="3200" b="1" i="1" dirty="0"/>
          </a:p>
        </p:txBody>
      </p:sp>
    </p:spTree>
    <p:extLst>
      <p:ext uri="{BB962C8B-B14F-4D97-AF65-F5344CB8AC3E}">
        <p14:creationId xmlns:p14="http://schemas.microsoft.com/office/powerpoint/2010/main" val="1795211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Intro</a:t>
            </a:r>
            <a:r>
              <a:rPr lang="pl-PL" b="1" i="1" dirty="0">
                <a:solidFill>
                  <a:schemeClr val="accent5">
                    <a:lumMod val="50000"/>
                  </a:schemeClr>
                </a:solidFill>
              </a:rPr>
              <a:t> to </a:t>
            </a:r>
            <a:r>
              <a:rPr lang="pl-PL" b="1" i="1" dirty="0" err="1">
                <a:solidFill>
                  <a:schemeClr val="accent5">
                    <a:lumMod val="50000"/>
                  </a:schemeClr>
                </a:solidFill>
              </a:rPr>
              <a:t>consumer</a:t>
            </a:r>
            <a:r>
              <a:rPr lang="pl-PL" b="1" i="1" dirty="0">
                <a:solidFill>
                  <a:schemeClr val="accent5">
                    <a:lumMod val="50000"/>
                  </a:schemeClr>
                </a:solidFill>
              </a:rPr>
              <a:t> </a:t>
            </a:r>
            <a:r>
              <a:rPr lang="pl-PL" b="1" i="1" dirty="0" err="1">
                <a:solidFill>
                  <a:schemeClr val="accent5">
                    <a:lumMod val="50000"/>
                  </a:schemeClr>
                </a:solidFill>
              </a:rPr>
              <a:t>theory</a:t>
            </a:r>
            <a:r>
              <a:rPr lang="pl-PL" b="1" i="1" dirty="0">
                <a:solidFill>
                  <a:schemeClr val="accent5">
                    <a:lumMod val="50000"/>
                  </a:schemeClr>
                </a:solidFill>
              </a:rPr>
              <a:t> </a:t>
            </a:r>
            <a:r>
              <a:rPr lang="pl-PL" b="1" i="1" dirty="0">
                <a:solidFill>
                  <a:schemeClr val="accent5">
                    <a:lumMod val="50000"/>
                  </a:schemeClr>
                </a:solidFill>
                <a:sym typeface="Wingdings" panose="05000000000000000000" pitchFamily="2" charset="2"/>
              </a:rPr>
              <a:t> </a:t>
            </a:r>
            <a:r>
              <a:rPr lang="pl-PL" b="1" i="1" dirty="0">
                <a:solidFill>
                  <a:schemeClr val="accent5">
                    <a:lumMod val="50000"/>
                  </a:schemeClr>
                </a:solidFill>
              </a:rPr>
              <a:t>The </a:t>
            </a:r>
            <a:r>
              <a:rPr lang="pl-PL" b="1" i="1" dirty="0" err="1">
                <a:solidFill>
                  <a:schemeClr val="accent5">
                    <a:lumMod val="50000"/>
                  </a:schemeClr>
                </a:solidFill>
              </a:rPr>
              <a:t>preferences</a:t>
            </a:r>
            <a:endParaRPr lang="en-GB" b="1" i="1" dirty="0">
              <a:solidFill>
                <a:schemeClr val="accent5">
                  <a:lumMod val="50000"/>
                </a:schemeClr>
              </a:solidFill>
            </a:endParaRPr>
          </a:p>
        </p:txBody>
      </p:sp>
      <p:sp>
        <p:nvSpPr>
          <p:cNvPr id="3" name="Prostokąt 2"/>
          <p:cNvSpPr/>
          <p:nvPr/>
        </p:nvSpPr>
        <p:spPr>
          <a:xfrm>
            <a:off x="71375" y="1173138"/>
            <a:ext cx="12049247" cy="526297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Rational choice theory makes some basic assumptions (axioms) about the preferences of homo </a:t>
            </a:r>
            <a:r>
              <a:rPr kumimoji="0" lang="en-GB" sz="2800" b="0" i="0" u="none" strike="noStrike" kern="1200" cap="none" spc="0" normalizeH="0" baseline="0" noProof="0" dirty="0" err="1">
                <a:ln>
                  <a:noFill/>
                </a:ln>
                <a:solidFill>
                  <a:srgbClr val="4BACC6">
                    <a:lumMod val="50000"/>
                  </a:srgbClr>
                </a:solidFill>
                <a:effectLst/>
                <a:uLnTx/>
                <a:uFillTx/>
                <a:latin typeface="Calibri"/>
                <a:ea typeface="+mn-ea"/>
                <a:cs typeface="+mn-cs"/>
              </a:rPr>
              <a:t>economicus</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1" i="0" u="none" strike="noStrike" kern="1200" cap="none" spc="0" normalizeH="0" baseline="0" noProof="0" dirty="0">
                <a:ln>
                  <a:noFill/>
                </a:ln>
                <a:solidFill>
                  <a:srgbClr val="4BACC6">
                    <a:lumMod val="50000"/>
                  </a:srgbClr>
                </a:solidFill>
                <a:effectLst/>
                <a:uLnTx/>
                <a:uFillTx/>
                <a:latin typeface="Calibri"/>
                <a:ea typeface="+mn-ea"/>
                <a:cs typeface="+mn-cs"/>
              </a:rPr>
              <a:t>Completeness</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 - all alternatives can be ranked. If A and B are any two alternatives, an individual can always specify exactly one of these possibilities:</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 is preferred to B</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B is preferred to A</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iii)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 and B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are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indifferent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1" i="0" u="none" strike="noStrike" kern="1200" cap="none" spc="0" normalizeH="0" baseline="0" noProof="0" dirty="0">
                <a:ln>
                  <a:noFill/>
                </a:ln>
                <a:solidFill>
                  <a:srgbClr val="4BACC6">
                    <a:lumMod val="50000"/>
                  </a:srgbClr>
                </a:solidFill>
                <a:effectLst/>
                <a:uLnTx/>
                <a:uFillTx/>
                <a:latin typeface="Calibri"/>
                <a:ea typeface="+mn-ea"/>
                <a:cs typeface="+mn-cs"/>
              </a:rPr>
              <a:t>Transitivity</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 - if alternative A is preferred to B, and alternative B is preferred to C, then A is preferred to C. </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We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can</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add</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som</a:t>
            </a:r>
            <a:r>
              <a:rPr kumimoji="0" lang="en-CA" sz="2800" b="0" i="0" u="none" strike="noStrike" kern="1200" cap="none" spc="0" normalizeH="0" baseline="0" noProof="0" dirty="0">
                <a:ln>
                  <a:noFill/>
                </a:ln>
                <a:solidFill>
                  <a:srgbClr val="4BACC6">
                    <a:lumMod val="50000"/>
                  </a:srgbClr>
                </a:solidFill>
                <a:effectLst/>
                <a:uLnTx/>
                <a:uFillTx/>
                <a:latin typeface="Calibri"/>
                <a:ea typeface="+mn-ea"/>
                <a:cs typeface="+mn-cs"/>
              </a:rPr>
              <a:t>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more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axioms</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but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they</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have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technical</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implication</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not for the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rationality</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Together these assumptions ensure that preferences are </a:t>
            </a:r>
            <a:r>
              <a:rPr kumimoji="0" lang="en-GB" sz="2800" b="1" i="0" u="none" strike="noStrike" kern="1200" cap="none" spc="0" normalizeH="0" baseline="0" noProof="0" dirty="0">
                <a:ln>
                  <a:noFill/>
                </a:ln>
                <a:solidFill>
                  <a:srgbClr val="4BACC6">
                    <a:lumMod val="50000"/>
                  </a:srgbClr>
                </a:solidFill>
                <a:effectLst/>
                <a:uLnTx/>
                <a:uFillTx/>
                <a:latin typeface="Calibri"/>
                <a:ea typeface="+mn-ea"/>
                <a:cs typeface="+mn-cs"/>
              </a:rPr>
              <a:t>consistent</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 --&gt; we can predict the behaviour of homo </a:t>
            </a:r>
            <a:r>
              <a:rPr kumimoji="0" lang="en-GB" sz="2800" b="0" i="0" u="none" strike="noStrike" kern="1200" cap="none" spc="0" normalizeH="0" baseline="0" noProof="0" dirty="0" err="1">
                <a:ln>
                  <a:noFill/>
                </a:ln>
                <a:solidFill>
                  <a:srgbClr val="4BACC6">
                    <a:lumMod val="50000"/>
                  </a:srgbClr>
                </a:solidFill>
                <a:effectLst/>
                <a:uLnTx/>
                <a:uFillTx/>
                <a:latin typeface="Calibri"/>
                <a:ea typeface="+mn-ea"/>
                <a:cs typeface="+mn-cs"/>
              </a:rPr>
              <a:t>economicus</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69168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dirty="0">
                <a:solidFill>
                  <a:schemeClr val="accent5">
                    <a:lumMod val="50000"/>
                  </a:schemeClr>
                </a:solidFill>
              </a:rPr>
              <a:t>The </a:t>
            </a:r>
            <a:r>
              <a:rPr lang="pl-PL" b="1" dirty="0" err="1">
                <a:solidFill>
                  <a:schemeClr val="accent5">
                    <a:lumMod val="50000"/>
                  </a:schemeClr>
                </a:solidFill>
              </a:rPr>
              <a:t>budget</a:t>
            </a:r>
            <a:r>
              <a:rPr lang="pl-PL" b="1" dirty="0">
                <a:solidFill>
                  <a:schemeClr val="accent5">
                    <a:lumMod val="50000"/>
                  </a:schemeClr>
                </a:solidFill>
              </a:rPr>
              <a:t> </a:t>
            </a:r>
            <a:r>
              <a:rPr lang="pl-PL" b="1" dirty="0" err="1">
                <a:solidFill>
                  <a:schemeClr val="accent5">
                    <a:lumMod val="50000"/>
                  </a:schemeClr>
                </a:solidFill>
              </a:rPr>
              <a:t>constraint</a:t>
            </a:r>
            <a:endParaRPr lang="en-GB" b="1" dirty="0">
              <a:solidFill>
                <a:schemeClr val="accent5">
                  <a:lumMod val="50000"/>
                </a:schemeClr>
              </a:solidFill>
            </a:endParaRPr>
          </a:p>
        </p:txBody>
      </p:sp>
      <p:sp>
        <p:nvSpPr>
          <p:cNvPr id="20" name="Prostokąt 19"/>
          <p:cNvSpPr/>
          <p:nvPr/>
        </p:nvSpPr>
        <p:spPr>
          <a:xfrm>
            <a:off x="159794" y="1173138"/>
            <a:ext cx="11872410" cy="550920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cs typeface="+mn-cs"/>
              </a:rPr>
              <a:t>The consumers have finite resources. </a:t>
            </a:r>
            <a:endParaRPr kumimoji="0" lang="pl-PL" sz="3200" b="0" i="0" u="none" strike="noStrike" kern="1200" cap="none" spc="0" normalizeH="0" baseline="0" noProof="0" dirty="0">
              <a:ln>
                <a:noFill/>
              </a:ln>
              <a:solidFill>
                <a:srgbClr val="4BACC6">
                  <a:lumMod val="50000"/>
                </a:srgbClr>
              </a:solidFill>
              <a:effectLst/>
              <a:uLnTx/>
              <a:uFillTx/>
              <a:latin typeface="Calibri"/>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cs typeface="+mn-cs"/>
              </a:rPr>
              <a:t>We assume that consumers spend all their income (there are no savings in this model; if we want to allow for savings, we treat them as an additional variable).</a:t>
            </a:r>
            <a:r>
              <a:rPr kumimoji="0" lang="pl-PL" sz="3200" b="0" i="0" u="none" strike="noStrike" kern="1200" cap="none" spc="0" normalizeH="0" baseline="0" noProof="0" dirty="0">
                <a:ln>
                  <a:noFill/>
                </a:ln>
                <a:solidFill>
                  <a:srgbClr val="4BACC6">
                    <a:lumMod val="50000"/>
                  </a:srgbClr>
                </a:solidFill>
                <a:effectLst/>
                <a:uLnTx/>
                <a:uFillTx/>
                <a:latin typeface="Calibri"/>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200" b="0" i="0" u="none" strike="noStrike" kern="1200" cap="none" spc="0" normalizeH="0" baseline="0" noProof="0" dirty="0">
              <a:ln>
                <a:noFill/>
              </a:ln>
              <a:solidFill>
                <a:srgbClr val="4BACC6">
                  <a:lumMod val="50000"/>
                </a:srgbClr>
              </a:solidFill>
              <a:effectLst/>
              <a:uLnTx/>
              <a:uFillTx/>
              <a:latin typeface="Calibri"/>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cs typeface="+mn-cs"/>
              </a:rPr>
              <a:t>Therefore, consumer spending can be represented by budget constraint</a:t>
            </a:r>
            <a:r>
              <a:rPr kumimoji="0" lang="pl-PL" sz="3200" b="0" i="0" u="none" strike="noStrike" kern="1200" cap="none" spc="0" normalizeH="0" baseline="0" noProof="0" dirty="0">
                <a:ln>
                  <a:noFill/>
                </a:ln>
                <a:solidFill>
                  <a:srgbClr val="4BACC6">
                    <a:lumMod val="50000"/>
                  </a:srgbClr>
                </a:solidFill>
                <a:effectLst/>
                <a:uLnTx/>
                <a:uFillTx/>
                <a:latin typeface="Calibri"/>
                <a:cs typeface="+mn-cs"/>
              </a:rPr>
              <a:t> of the form</a:t>
            </a:r>
            <a:r>
              <a:rPr kumimoji="0" lang="en-US" sz="3200" b="0" i="0" u="none" strike="noStrike" kern="1200" cap="none" spc="0" normalizeH="0" baseline="0" noProof="0" dirty="0">
                <a:ln>
                  <a:noFill/>
                </a:ln>
                <a:solidFill>
                  <a:srgbClr val="4BACC6">
                    <a:lumMod val="50000"/>
                  </a:srgbClr>
                </a:solidFill>
                <a:effectLst/>
                <a:uLnTx/>
                <a:uFillTx/>
                <a:latin typeface="Calibri"/>
                <a:cs typeface="+mn-cs"/>
              </a:rPr>
              <a:t>:</a:t>
            </a:r>
            <a:r>
              <a:rPr kumimoji="0" lang="pl-PL" sz="3200" b="0" i="0" u="none" strike="noStrike" kern="1200" cap="none" spc="0" normalizeH="0" baseline="0" noProof="0" dirty="0">
                <a:ln>
                  <a:noFill/>
                </a:ln>
                <a:solidFill>
                  <a:srgbClr val="4BACC6">
                    <a:lumMod val="50000"/>
                  </a:srgbClr>
                </a:solidFill>
                <a:effectLst/>
                <a:uLnTx/>
                <a:uFillTx/>
                <a:latin typeface="Calibri"/>
                <a:cs typeface="+mn-cs"/>
              </a:rPr>
              <a:t>  </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p</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p</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a:t>
            </a:r>
            <a:r>
              <a:rPr kumimoji="0" lang="pl-PL" sz="32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p</a:t>
            </a:r>
            <a:r>
              <a:rPr kumimoji="0" lang="pl-PL" sz="3200" b="1"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2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a:t>
            </a:r>
            <a:r>
              <a:rPr kumimoji="0" lang="pl-PL" sz="3200" b="1" i="0" u="none" strike="noStrike" kern="1200" cap="none" spc="-1" normalizeH="0" baseline="0" noProof="0" dirty="0">
                <a:ln>
                  <a:noFill/>
                </a:ln>
                <a:solidFill>
                  <a:srgbClr val="215968"/>
                </a:solidFill>
                <a:effectLst/>
                <a:uLnTx/>
                <a:uFill>
                  <a:solidFill>
                    <a:srgbClr val="FFFFFF"/>
                  </a:solidFill>
                </a:uFill>
                <a:latin typeface="Symbol"/>
                <a:ea typeface="DejaVu Sans"/>
                <a:cs typeface="+mn-cs"/>
              </a:rPr>
              <a:t>£</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M.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The budget constraint is defined by the market: M and prices p1, p2 are given ... The external world defines his/her possibility of consumption. </a:t>
            </a:r>
            <a:endParaRPr kumimoji="0" lang="en-GB" sz="3200" b="0" i="0" u="none" strike="noStrike" kern="1200" cap="none" spc="0" normalizeH="0" baseline="0" noProof="0" dirty="0">
              <a:ln>
                <a:noFill/>
              </a:ln>
              <a:solidFill>
                <a:srgbClr val="4BACC6">
                  <a:lumMod val="50000"/>
                </a:srgbClr>
              </a:solidFill>
              <a:effectLst/>
              <a:uLnTx/>
              <a:uFillTx/>
              <a:latin typeface="Calibri"/>
              <a:cs typeface="+mn-cs"/>
            </a:endParaRPr>
          </a:p>
        </p:txBody>
      </p:sp>
    </p:spTree>
    <p:extLst>
      <p:ext uri="{BB962C8B-B14F-4D97-AF65-F5344CB8AC3E}">
        <p14:creationId xmlns:p14="http://schemas.microsoft.com/office/powerpoint/2010/main" val="2367596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4000" b="1" dirty="0">
                <a:solidFill>
                  <a:schemeClr val="accent5">
                    <a:lumMod val="50000"/>
                  </a:schemeClr>
                </a:solidFill>
              </a:rPr>
              <a:t>Play with the </a:t>
            </a:r>
            <a:r>
              <a:rPr kumimoji="0" lang="en-US" sz="4000" b="1" u="none" strike="noStrike" kern="1200" cap="none" spc="0" normalizeH="0" baseline="0" noProof="0" dirty="0">
                <a:ln>
                  <a:noFill/>
                </a:ln>
                <a:solidFill>
                  <a:srgbClr val="4BACC6">
                    <a:lumMod val="50000"/>
                  </a:srgbClr>
                </a:solidFill>
                <a:effectLst/>
                <a:uLnTx/>
                <a:uFillTx/>
                <a:latin typeface="Calibri"/>
                <a:ea typeface="+mn-ea"/>
                <a:cs typeface="+mn-cs"/>
              </a:rPr>
              <a:t>model of consumer choice </a:t>
            </a:r>
            <a:endParaRPr lang="en-GB" sz="4000" b="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981777" y="2547348"/>
            <a:ext cx="10260529" cy="2308324"/>
          </a:xfrm>
          <a:prstGeom prst="rect">
            <a:avLst/>
          </a:prstGeom>
        </p:spPr>
        <p:txBody>
          <a:bodyPr wrap="square">
            <a:spAutoFit/>
          </a:bodyPr>
          <a:lstStyle/>
          <a:p>
            <a:pPr lvl="0" algn="just">
              <a:defRPr/>
            </a:pPr>
            <a:r>
              <a:rPr kumimoji="0" lang="en-US" sz="3600" b="0" i="0" u="none" strike="noStrike" kern="1200" cap="none" spc="0" normalizeH="0" baseline="0" noProof="0" dirty="0">
                <a:ln>
                  <a:noFill/>
                </a:ln>
                <a:solidFill>
                  <a:srgbClr val="4BACC6">
                    <a:lumMod val="50000"/>
                  </a:srgbClr>
                </a:solidFill>
                <a:effectLst/>
                <a:uLnTx/>
                <a:uFillTx/>
                <a:latin typeface="Calibri"/>
                <a:ea typeface="+mn-ea"/>
                <a:cs typeface="+mn-cs"/>
              </a:rPr>
              <a:t>The present model of consumer choice you </a:t>
            </a:r>
            <a:r>
              <a:rPr lang="en-US" sz="3600" dirty="0">
                <a:solidFill>
                  <a:srgbClr val="4BACC6">
                    <a:lumMod val="50000"/>
                  </a:srgbClr>
                </a:solidFill>
              </a:rPr>
              <a:t>will know better the model</a:t>
            </a:r>
            <a:r>
              <a:rPr lang="pl-PL" sz="3600" dirty="0">
                <a:solidFill>
                  <a:srgbClr val="4BACC6">
                    <a:lumMod val="50000"/>
                  </a:srgbClr>
                </a:solidFill>
              </a:rPr>
              <a:t> </a:t>
            </a:r>
            <a:r>
              <a:rPr lang="en-US" sz="3600" dirty="0">
                <a:solidFill>
                  <a:srgbClr val="4BACC6">
                    <a:lumMod val="50000"/>
                  </a:srgbClr>
                </a:solidFill>
              </a:rPr>
              <a:t>but </a:t>
            </a:r>
            <a:r>
              <a:rPr kumimoji="0" lang="en-US" sz="3600" b="0" i="0" u="none" strike="noStrike" kern="1200" cap="none" spc="0" normalizeH="0" baseline="0" noProof="0" dirty="0">
                <a:ln>
                  <a:noFill/>
                </a:ln>
                <a:solidFill>
                  <a:srgbClr val="4BACC6">
                    <a:lumMod val="50000"/>
                  </a:srgbClr>
                </a:solidFill>
                <a:effectLst/>
                <a:uLnTx/>
                <a:uFillTx/>
                <a:latin typeface="Calibri"/>
                <a:ea typeface="+mn-ea"/>
                <a:cs typeface="+mn-cs"/>
              </a:rPr>
              <a:t>let's play with the </a:t>
            </a:r>
            <a:r>
              <a:rPr kumimoji="0" lang="pl-PL" sz="3600" b="0" i="0" u="none" strike="noStrike" kern="1200" cap="none" spc="0" normalizeH="0" baseline="0" noProof="0" dirty="0" err="1">
                <a:ln>
                  <a:noFill/>
                </a:ln>
                <a:solidFill>
                  <a:srgbClr val="4BACC6">
                    <a:lumMod val="50000"/>
                  </a:srgbClr>
                </a:solidFill>
                <a:effectLst/>
                <a:uLnTx/>
                <a:uFillTx/>
                <a:latin typeface="Calibri"/>
                <a:ea typeface="+mn-ea"/>
                <a:cs typeface="+mn-cs"/>
              </a:rPr>
              <a:t>assumptions</a:t>
            </a:r>
            <a:r>
              <a:rPr kumimoji="0" lang="pl-PL" sz="3600" b="0" i="0" u="none" strike="noStrike" kern="1200" cap="none" spc="0" normalizeH="0" baseline="0" noProof="0" dirty="0">
                <a:ln>
                  <a:noFill/>
                </a:ln>
                <a:solidFill>
                  <a:srgbClr val="4BACC6">
                    <a:lumMod val="50000"/>
                  </a:srgbClr>
                </a:solidFill>
                <a:effectLst/>
                <a:uLnTx/>
                <a:uFillTx/>
                <a:latin typeface="Calibri"/>
                <a:ea typeface="+mn-ea"/>
                <a:cs typeface="+mn-cs"/>
              </a:rPr>
              <a:t> of the </a:t>
            </a:r>
            <a:r>
              <a:rPr kumimoji="0" lang="en-US" sz="3600" b="0" i="0" u="none" strike="noStrike" kern="1200" cap="none" spc="0" normalizeH="0" baseline="0" noProof="0" dirty="0">
                <a:ln>
                  <a:noFill/>
                </a:ln>
                <a:solidFill>
                  <a:srgbClr val="4BACC6">
                    <a:lumMod val="50000"/>
                  </a:srgbClr>
                </a:solidFill>
                <a:effectLst/>
                <a:uLnTx/>
                <a:uFillTx/>
                <a:latin typeface="Calibri"/>
                <a:ea typeface="+mn-ea"/>
                <a:cs typeface="+mn-cs"/>
              </a:rPr>
              <a:t>model. We will start with the simplest element - </a:t>
            </a:r>
            <a:r>
              <a:rPr kumimoji="0" lang="en-US" sz="3600" b="1" i="0" u="none" strike="noStrike" kern="1200" cap="none" spc="0" normalizeH="0" baseline="0" noProof="0" dirty="0">
                <a:ln>
                  <a:noFill/>
                </a:ln>
                <a:solidFill>
                  <a:srgbClr val="4BACC6">
                    <a:lumMod val="50000"/>
                  </a:srgbClr>
                </a:solidFill>
                <a:effectLst/>
                <a:uLnTx/>
                <a:uFillTx/>
                <a:latin typeface="Calibri"/>
                <a:ea typeface="+mn-ea"/>
                <a:cs typeface="+mn-cs"/>
              </a:rPr>
              <a:t>budget constraint</a:t>
            </a:r>
            <a:r>
              <a:rPr kumimoji="0" lang="pl-PL" sz="36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600" b="0" i="0" u="none" strike="noStrike" kern="1200" cap="none" spc="0" normalizeH="0" baseline="0" noProof="0" dirty="0">
                <a:ln>
                  <a:noFill/>
                </a:ln>
                <a:solidFill>
                  <a:srgbClr val="4BACC6">
                    <a:lumMod val="50000"/>
                  </a:srgbClr>
                </a:solidFill>
                <a:effectLst/>
                <a:uLnTx/>
                <a:uFillTx/>
                <a:latin typeface="Calibri"/>
                <a:ea typeface="+mn-ea"/>
                <a:cs typeface="+mn-cs"/>
              </a:rPr>
              <a:t>and </a:t>
            </a:r>
            <a:r>
              <a:rPr kumimoji="0" lang="pl-PL" sz="3600" b="1" i="0" u="none" strike="noStrike" kern="1200" cap="none" spc="0" normalizeH="0" baseline="0" noProof="0" dirty="0" err="1">
                <a:ln>
                  <a:noFill/>
                </a:ln>
                <a:solidFill>
                  <a:srgbClr val="4BACC6">
                    <a:lumMod val="50000"/>
                  </a:srgbClr>
                </a:solidFill>
                <a:effectLst/>
                <a:uLnTx/>
                <a:uFillTx/>
                <a:latin typeface="Calibri"/>
                <a:ea typeface="+mn-ea"/>
                <a:cs typeface="+mn-cs"/>
              </a:rPr>
              <a:t>observable</a:t>
            </a:r>
            <a:r>
              <a:rPr kumimoji="0" lang="pl-PL" sz="36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600" b="1" i="0" u="none" strike="noStrike" kern="1200" cap="none" spc="0" normalizeH="0" baseline="0" noProof="0" dirty="0" err="1">
                <a:ln>
                  <a:noFill/>
                </a:ln>
                <a:solidFill>
                  <a:srgbClr val="4BACC6">
                    <a:lumMod val="50000"/>
                  </a:srgbClr>
                </a:solidFill>
                <a:effectLst/>
                <a:uLnTx/>
                <a:uFillTx/>
                <a:latin typeface="Calibri"/>
                <a:ea typeface="+mn-ea"/>
                <a:cs typeface="+mn-cs"/>
              </a:rPr>
              <a:t>choices</a:t>
            </a:r>
            <a:r>
              <a:rPr kumimoji="0" lang="en-US" sz="3600" b="0" i="0" u="none" strike="noStrike" kern="1200" cap="none" spc="0" normalizeH="0" baseline="0" noProof="0" dirty="0">
                <a:ln>
                  <a:noFill/>
                </a:ln>
                <a:solidFill>
                  <a:srgbClr val="4BACC6">
                    <a:lumMod val="50000"/>
                  </a:srgbClr>
                </a:solidFill>
                <a:effectLst/>
                <a:uLnTx/>
                <a:uFillTx/>
                <a:latin typeface="Calibri"/>
                <a:ea typeface="+mn-ea"/>
                <a:cs typeface="+mn-cs"/>
              </a:rPr>
              <a:t>. </a:t>
            </a:r>
          </a:p>
        </p:txBody>
      </p:sp>
    </p:spTree>
    <p:extLst>
      <p:ext uri="{BB962C8B-B14F-4D97-AF65-F5344CB8AC3E}">
        <p14:creationId xmlns:p14="http://schemas.microsoft.com/office/powerpoint/2010/main" val="4270881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ytuł 1"/>
          <p:cNvSpPr txBox="1">
            <a:spLocks/>
          </p:cNvSpPr>
          <p:nvPr/>
        </p:nvSpPr>
        <p:spPr>
          <a:xfrm>
            <a:off x="0" y="-13886"/>
            <a:ext cx="12192000" cy="1145808"/>
          </a:xfrm>
          <a:prstGeom prst="rect">
            <a:avLst/>
          </a:prstGeom>
          <a:solidFill>
            <a:srgbClr val="4BACC6">
              <a:lumMod val="20000"/>
              <a:lumOff val="80000"/>
            </a:srgb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br>
              <a:rPr kumimoji="0" lang="pl-PL" sz="4000" b="1" i="1" u="none" strike="noStrike" kern="1200" cap="none" spc="0" normalizeH="0" baseline="0" noProof="0" dirty="0">
                <a:ln>
                  <a:noFill/>
                </a:ln>
                <a:solidFill>
                  <a:srgbClr val="4BACC6">
                    <a:lumMod val="50000"/>
                  </a:srgbClr>
                </a:solidFill>
                <a:effectLst/>
                <a:uLnTx/>
                <a:uFillTx/>
                <a:latin typeface="Calibri"/>
                <a:ea typeface="+mj-ea"/>
                <a:cs typeface="+mj-cs"/>
              </a:rPr>
            </a:br>
            <a:r>
              <a:rPr lang="pl-PL" sz="4000" b="1" i="1" noProof="0" dirty="0" err="1">
                <a:solidFill>
                  <a:srgbClr val="4BACC6">
                    <a:lumMod val="50000"/>
                  </a:srgbClr>
                </a:solidFill>
                <a:latin typeface="Calibri"/>
              </a:rPr>
              <a:t>Results</a:t>
            </a:r>
            <a:endParaRPr kumimoji="0" lang="pl-PL" sz="4000" b="1" i="1" u="none" strike="noStrike" kern="1200" cap="none" spc="0" normalizeH="0" baseline="0" noProof="0" dirty="0">
              <a:ln>
                <a:noFill/>
              </a:ln>
              <a:solidFill>
                <a:srgbClr val="4BACC6">
                  <a:lumMod val="50000"/>
                </a:srgbClr>
              </a:solidFill>
              <a:effectLst/>
              <a:uLnTx/>
              <a:uFillTx/>
              <a:latin typeface="Calibri"/>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4000" b="1" i="1" u="none" strike="noStrike" kern="1200" cap="none" spc="0" normalizeH="0" baseline="0" noProof="0" dirty="0">
              <a:ln>
                <a:noFill/>
              </a:ln>
              <a:solidFill>
                <a:srgbClr val="4BACC6">
                  <a:lumMod val="50000"/>
                </a:srgbClr>
              </a:solidFill>
              <a:effectLst/>
              <a:uLnTx/>
              <a:uFillTx/>
              <a:latin typeface="Calibri"/>
              <a:ea typeface="+mj-ea"/>
              <a:cs typeface="+mj-cs"/>
            </a:endParaRPr>
          </a:p>
        </p:txBody>
      </p:sp>
      <p:sp>
        <p:nvSpPr>
          <p:cNvPr id="115" name="Prostokąt 114"/>
          <p:cNvSpPr/>
          <p:nvPr/>
        </p:nvSpPr>
        <p:spPr>
          <a:xfrm>
            <a:off x="4817887" y="2267792"/>
            <a:ext cx="7293696" cy="2554545"/>
          </a:xfrm>
          <a:prstGeom prst="rect">
            <a:avLst/>
          </a:prstGeom>
          <a:solidFill>
            <a:schemeClr val="bg1"/>
          </a:solidFill>
        </p:spPr>
        <p:txBody>
          <a:bodyPr wrap="square">
            <a:spAutoFit/>
          </a:bodyPr>
          <a:lstStyle/>
          <a:p>
            <a:pPr algn="just"/>
            <a:r>
              <a:rPr lang="pl-PL" sz="3200" b="1" dirty="0" err="1">
                <a:solidFill>
                  <a:schemeClr val="accent5">
                    <a:lumMod val="50000"/>
                  </a:schemeClr>
                </a:solidFill>
                <a:sym typeface="Wingdings" panose="05000000000000000000" pitchFamily="2" charset="2"/>
              </a:rPr>
              <a:t>Your</a:t>
            </a:r>
            <a:r>
              <a:rPr lang="pl-PL" sz="3200" b="1" dirty="0">
                <a:solidFill>
                  <a:schemeClr val="accent5">
                    <a:lumMod val="50000"/>
                  </a:schemeClr>
                </a:solidFill>
                <a:sym typeface="Wingdings" panose="05000000000000000000" pitchFamily="2" charset="2"/>
              </a:rPr>
              <a:t> </a:t>
            </a:r>
            <a:r>
              <a:rPr lang="pl-PL" sz="3200" b="1" dirty="0" err="1">
                <a:solidFill>
                  <a:schemeClr val="accent5">
                    <a:lumMod val="50000"/>
                  </a:schemeClr>
                </a:solidFill>
                <a:sym typeface="Wingdings" panose="05000000000000000000" pitchFamily="2" charset="2"/>
              </a:rPr>
              <a:t>results</a:t>
            </a:r>
            <a:r>
              <a:rPr lang="pl-PL" sz="3200" b="1" dirty="0">
                <a:solidFill>
                  <a:schemeClr val="accent5">
                    <a:lumMod val="50000"/>
                  </a:schemeClr>
                </a:solidFill>
                <a:sym typeface="Wingdings" panose="05000000000000000000" pitchFamily="2" charset="2"/>
              </a:rPr>
              <a:t>: </a:t>
            </a:r>
          </a:p>
          <a:p>
            <a:pPr algn="just"/>
            <a:endParaRPr lang="pl-PL" sz="3200" b="1" dirty="0">
              <a:solidFill>
                <a:schemeClr val="accent5">
                  <a:lumMod val="50000"/>
                </a:schemeClr>
              </a:solidFill>
              <a:sym typeface="Wingdings" panose="05000000000000000000" pitchFamily="2" charset="2"/>
            </a:endParaRPr>
          </a:p>
          <a:p>
            <a:pPr algn="just"/>
            <a:endParaRPr lang="pl-PL" sz="3200" b="1" dirty="0">
              <a:solidFill>
                <a:schemeClr val="accent5">
                  <a:lumMod val="50000"/>
                </a:schemeClr>
              </a:solidFill>
              <a:sym typeface="Wingdings" panose="05000000000000000000" pitchFamily="2" charset="2"/>
            </a:endParaRPr>
          </a:p>
          <a:p>
            <a:pPr algn="just"/>
            <a:r>
              <a:rPr lang="pl-PL" sz="3200" b="1" dirty="0">
                <a:solidFill>
                  <a:schemeClr val="accent5">
                    <a:lumMod val="50000"/>
                  </a:schemeClr>
                </a:solidFill>
                <a:sym typeface="Wingdings" panose="05000000000000000000" pitchFamily="2" charset="2"/>
              </a:rPr>
              <a:t>https://microeconomics.shinyapps.io/altruism_simulation/</a:t>
            </a:r>
          </a:p>
        </p:txBody>
      </p:sp>
      <p:pic>
        <p:nvPicPr>
          <p:cNvPr id="2" name="Obraz 1"/>
          <p:cNvPicPr>
            <a:picLocks noChangeAspect="1"/>
          </p:cNvPicPr>
          <p:nvPr/>
        </p:nvPicPr>
        <p:blipFill>
          <a:blip r:embed="rId2"/>
          <a:stretch>
            <a:fillRect/>
          </a:stretch>
        </p:blipFill>
        <p:spPr>
          <a:xfrm>
            <a:off x="426368" y="1689684"/>
            <a:ext cx="4093495" cy="4093495"/>
          </a:xfrm>
          <a:prstGeom prst="rect">
            <a:avLst/>
          </a:prstGeom>
        </p:spPr>
      </p:pic>
    </p:spTree>
    <p:extLst>
      <p:ext uri="{BB962C8B-B14F-4D97-AF65-F5344CB8AC3E}">
        <p14:creationId xmlns:p14="http://schemas.microsoft.com/office/powerpoint/2010/main" val="3613211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ole tekstowe 10"/>
          <p:cNvSpPr txBox="1"/>
          <p:nvPr/>
        </p:nvSpPr>
        <p:spPr>
          <a:xfrm>
            <a:off x="606391" y="1711768"/>
            <a:ext cx="7055318" cy="3180730"/>
          </a:xfrm>
          <a:prstGeom prst="rect">
            <a:avLst/>
          </a:prstGeom>
          <a:noFill/>
        </p:spPr>
        <p:txBody>
          <a:bodyPr wrap="square">
            <a:spAutoFit/>
          </a:bodyPr>
          <a:lstStyle/>
          <a:p>
            <a:pPr algn="just">
              <a:defRPr/>
            </a:pPr>
            <a:r>
              <a:rPr lang="pl-PL" sz="2800" dirty="0">
                <a:solidFill>
                  <a:srgbClr val="4BACC6">
                    <a:lumMod val="50000"/>
                  </a:srgbClr>
                </a:solidFill>
                <a:latin typeface="Calibri"/>
              </a:rPr>
              <a:t>T</a:t>
            </a:r>
            <a:r>
              <a:rPr lang="en-US" sz="2800" dirty="0">
                <a:solidFill>
                  <a:srgbClr val="4BACC6">
                    <a:lumMod val="50000"/>
                  </a:srgbClr>
                </a:solidFill>
                <a:latin typeface="Calibri"/>
              </a:rPr>
              <a:t>here is difficult to find a story about homo </a:t>
            </a:r>
            <a:r>
              <a:rPr lang="en-US" sz="2800" dirty="0" err="1">
                <a:solidFill>
                  <a:srgbClr val="4BACC6">
                    <a:lumMod val="50000"/>
                  </a:srgbClr>
                </a:solidFill>
                <a:latin typeface="Calibri"/>
              </a:rPr>
              <a:t>economicus</a:t>
            </a:r>
            <a:r>
              <a:rPr lang="en-US" sz="2800" dirty="0">
                <a:solidFill>
                  <a:srgbClr val="4BACC6">
                    <a:lumMod val="50000"/>
                  </a:srgbClr>
                </a:solidFill>
                <a:latin typeface="Calibri"/>
              </a:rPr>
              <a:t> as an abstract concept</a:t>
            </a:r>
            <a:r>
              <a:rPr lang="pl-PL" sz="2800" dirty="0">
                <a:solidFill>
                  <a:srgbClr val="4BACC6">
                    <a:lumMod val="50000"/>
                  </a:srgbClr>
                </a:solidFill>
              </a:rPr>
              <a:t>*. In </a:t>
            </a:r>
            <a:r>
              <a:rPr lang="pl-PL" sz="2800" dirty="0" err="1">
                <a:solidFill>
                  <a:srgbClr val="4BACC6">
                    <a:lumMod val="50000"/>
                  </a:srgbClr>
                </a:solidFill>
              </a:rPr>
              <a:t>microeconomic</a:t>
            </a:r>
            <a:r>
              <a:rPr lang="pl-PL" sz="2800" dirty="0">
                <a:solidFill>
                  <a:srgbClr val="4BACC6">
                    <a:lumMod val="50000"/>
                  </a:srgbClr>
                </a:solidFill>
              </a:rPr>
              <a:t> </a:t>
            </a:r>
            <a:r>
              <a:rPr lang="pl-PL" sz="2800" dirty="0" err="1">
                <a:solidFill>
                  <a:srgbClr val="4BACC6">
                    <a:lumMod val="50000"/>
                  </a:srgbClr>
                </a:solidFill>
              </a:rPr>
              <a:t>textbooks</a:t>
            </a:r>
            <a:r>
              <a:rPr lang="en-US" sz="2800" dirty="0">
                <a:solidFill>
                  <a:srgbClr val="4BACC6">
                    <a:lumMod val="50000"/>
                  </a:srgbClr>
                </a:solidFill>
                <a:latin typeface="Calibri"/>
              </a:rPr>
              <a:t>. By the lack of it, </a:t>
            </a:r>
            <a:r>
              <a:rPr lang="pl-PL" sz="2800" dirty="0" err="1">
                <a:solidFill>
                  <a:srgbClr val="4BACC6">
                    <a:lumMod val="50000"/>
                  </a:srgbClr>
                </a:solidFill>
                <a:latin typeface="Calibri"/>
              </a:rPr>
              <a:t>you</a:t>
            </a:r>
            <a:r>
              <a:rPr lang="pl-PL" sz="2800" dirty="0">
                <a:solidFill>
                  <a:srgbClr val="4BACC6">
                    <a:lumMod val="50000"/>
                  </a:srgbClr>
                </a:solidFill>
                <a:latin typeface="Calibri"/>
              </a:rPr>
              <a:t> </a:t>
            </a:r>
            <a:r>
              <a:rPr lang="en-US" sz="2800" dirty="0">
                <a:solidFill>
                  <a:srgbClr val="4BACC6">
                    <a:lumMod val="50000"/>
                  </a:srgbClr>
                </a:solidFill>
                <a:latin typeface="Calibri"/>
              </a:rPr>
              <a:t>create own vision of the economic man –</a:t>
            </a:r>
            <a:r>
              <a:rPr lang="pl-PL" sz="2800" dirty="0">
                <a:solidFill>
                  <a:srgbClr val="4BACC6">
                    <a:lumMod val="50000"/>
                  </a:srgbClr>
                </a:solidFill>
                <a:latin typeface="Calibri"/>
              </a:rPr>
              <a:t> </a:t>
            </a:r>
            <a:r>
              <a:rPr lang="en-US" sz="2800" dirty="0">
                <a:solidFill>
                  <a:srgbClr val="4BACC6">
                    <a:lumMod val="50000"/>
                  </a:srgbClr>
                </a:solidFill>
                <a:latin typeface="Calibri"/>
              </a:rPr>
              <a:t>own story. For </a:t>
            </a:r>
            <a:r>
              <a:rPr lang="pl-PL" sz="2800" dirty="0" err="1">
                <a:solidFill>
                  <a:srgbClr val="4BACC6">
                    <a:lumMod val="50000"/>
                  </a:srgbClr>
                </a:solidFill>
                <a:latin typeface="Calibri"/>
              </a:rPr>
              <a:t>you</a:t>
            </a:r>
            <a:r>
              <a:rPr lang="en-US" sz="2800" dirty="0">
                <a:solidFill>
                  <a:srgbClr val="4BACC6">
                    <a:lumMod val="50000"/>
                  </a:srgbClr>
                </a:solidFill>
                <a:latin typeface="Calibri"/>
              </a:rPr>
              <a:t>, </a:t>
            </a:r>
            <a:r>
              <a:rPr lang="en-US" sz="2800" b="1" dirty="0">
                <a:solidFill>
                  <a:srgbClr val="4BACC6">
                    <a:lumMod val="50000"/>
                  </a:srgbClr>
                </a:solidFill>
                <a:latin typeface="Calibri"/>
              </a:rPr>
              <a:t>homo </a:t>
            </a:r>
            <a:r>
              <a:rPr lang="en-US" sz="2800" b="1" dirty="0" err="1">
                <a:solidFill>
                  <a:srgbClr val="4BACC6">
                    <a:lumMod val="50000"/>
                  </a:srgbClr>
                </a:solidFill>
                <a:latin typeface="Calibri"/>
              </a:rPr>
              <a:t>economicus</a:t>
            </a:r>
            <a:r>
              <a:rPr lang="en-US" sz="2800" b="1" dirty="0">
                <a:solidFill>
                  <a:srgbClr val="4BACC6">
                    <a:lumMod val="50000"/>
                  </a:srgbClr>
                </a:solidFill>
                <a:latin typeface="Calibri"/>
              </a:rPr>
              <a:t> </a:t>
            </a:r>
            <a:r>
              <a:rPr lang="en-US" sz="2800" dirty="0">
                <a:solidFill>
                  <a:srgbClr val="4BACC6">
                    <a:lumMod val="50000"/>
                  </a:srgbClr>
                </a:solidFill>
                <a:latin typeface="Calibri"/>
              </a:rPr>
              <a:t>is </a:t>
            </a:r>
            <a:r>
              <a:rPr lang="en-US" sz="2800" b="1" dirty="0">
                <a:solidFill>
                  <a:srgbClr val="4BACC6">
                    <a:lumMod val="50000"/>
                  </a:srgbClr>
                </a:solidFill>
                <a:latin typeface="Calibri"/>
              </a:rPr>
              <a:t>Scrooge </a:t>
            </a:r>
            <a:r>
              <a:rPr lang="en-US" sz="2800" dirty="0">
                <a:solidFill>
                  <a:srgbClr val="4BACC6">
                    <a:lumMod val="50000"/>
                  </a:srgbClr>
                </a:solidFill>
                <a:latin typeface="Calibri"/>
              </a:rPr>
              <a:t>or even worse it is </a:t>
            </a:r>
            <a:r>
              <a:rPr lang="pl-PL" sz="2800" dirty="0" err="1">
                <a:solidFill>
                  <a:srgbClr val="4BACC6">
                    <a:lumMod val="50000"/>
                  </a:srgbClr>
                </a:solidFill>
                <a:latin typeface="Calibri"/>
              </a:rPr>
              <a:t>his</a:t>
            </a:r>
            <a:r>
              <a:rPr lang="en-US" sz="2800" dirty="0">
                <a:solidFill>
                  <a:srgbClr val="4BACC6">
                    <a:lumMod val="50000"/>
                  </a:srgbClr>
                </a:solidFill>
                <a:latin typeface="Calibri"/>
              </a:rPr>
              <a:t> caricature </a:t>
            </a:r>
            <a:r>
              <a:rPr lang="pl-PL" sz="2800" dirty="0">
                <a:solidFill>
                  <a:srgbClr val="4BACC6">
                    <a:lumMod val="50000"/>
                  </a:srgbClr>
                </a:solidFill>
                <a:latin typeface="Calibri"/>
              </a:rPr>
              <a:t>- </a:t>
            </a:r>
            <a:r>
              <a:rPr lang="en-US" sz="2800" dirty="0">
                <a:solidFill>
                  <a:srgbClr val="4BACC6">
                    <a:lumMod val="50000"/>
                  </a:srgbClr>
                </a:solidFill>
                <a:latin typeface="Calibri"/>
              </a:rPr>
              <a:t>Scrooge </a:t>
            </a:r>
            <a:r>
              <a:rPr lang="en-US" sz="2800" dirty="0" err="1">
                <a:solidFill>
                  <a:srgbClr val="4BACC6">
                    <a:lumMod val="50000"/>
                  </a:srgbClr>
                </a:solidFill>
                <a:latin typeface="Calibri"/>
              </a:rPr>
              <a:t>McDuck</a:t>
            </a:r>
            <a:r>
              <a:rPr lang="pl-PL" sz="2800" dirty="0">
                <a:solidFill>
                  <a:srgbClr val="4BACC6">
                    <a:lumMod val="50000"/>
                  </a:srgbClr>
                </a:solidFill>
                <a:latin typeface="Calibri"/>
              </a:rPr>
              <a:t>**</a:t>
            </a:r>
          </a:p>
        </p:txBody>
      </p:sp>
      <p:sp>
        <p:nvSpPr>
          <p:cNvPr id="12" name="Tytuł 1"/>
          <p:cNvSpPr>
            <a:spLocks noGrp="1"/>
          </p:cNvSpPr>
          <p:nvPr>
            <p:ph type="title"/>
          </p:nvPr>
        </p:nvSpPr>
        <p:spPr>
          <a:xfrm>
            <a:off x="0" y="2957"/>
            <a:ext cx="12192000" cy="1124744"/>
          </a:xfrm>
          <a:solidFill>
            <a:schemeClr val="accent5">
              <a:lumMod val="20000"/>
              <a:lumOff val="80000"/>
            </a:schemeClr>
          </a:solidFill>
        </p:spPr>
        <p:txBody>
          <a:bodyPr>
            <a:noAutofit/>
          </a:bodyPr>
          <a:lstStyle/>
          <a:p>
            <a:r>
              <a:rPr lang="pl-PL" b="1" dirty="0">
                <a:solidFill>
                  <a:schemeClr val="accent5">
                    <a:lumMod val="50000"/>
                  </a:schemeClr>
                </a:solidFill>
              </a:rPr>
              <a:t>T</a:t>
            </a:r>
            <a:r>
              <a:rPr lang="en-US" b="1" dirty="0">
                <a:solidFill>
                  <a:schemeClr val="accent5">
                    <a:lumMod val="50000"/>
                  </a:schemeClr>
                </a:solidFill>
              </a:rPr>
              <a:t>he </a:t>
            </a:r>
            <a:r>
              <a:rPr lang="en-US" b="1" dirty="0" err="1">
                <a:solidFill>
                  <a:schemeClr val="accent5">
                    <a:lumMod val="50000"/>
                  </a:schemeClr>
                </a:solidFill>
              </a:rPr>
              <a:t>st</a:t>
            </a:r>
            <a:r>
              <a:rPr lang="pl-PL" b="1" dirty="0">
                <a:solidFill>
                  <a:schemeClr val="accent5">
                    <a:lumMod val="50000"/>
                  </a:schemeClr>
                </a:solidFill>
              </a:rPr>
              <a:t>o</a:t>
            </a:r>
            <a:r>
              <a:rPr lang="en-US" b="1" dirty="0" err="1">
                <a:solidFill>
                  <a:schemeClr val="accent5">
                    <a:lumMod val="50000"/>
                  </a:schemeClr>
                </a:solidFill>
              </a:rPr>
              <a:t>rytelling</a:t>
            </a:r>
            <a:r>
              <a:rPr lang="en-US" b="1" dirty="0">
                <a:solidFill>
                  <a:schemeClr val="accent5">
                    <a:lumMod val="50000"/>
                  </a:schemeClr>
                </a:solidFill>
              </a:rPr>
              <a:t> </a:t>
            </a:r>
            <a:r>
              <a:rPr lang="pl-PL" b="1" dirty="0">
                <a:solidFill>
                  <a:schemeClr val="accent5">
                    <a:lumMod val="50000"/>
                  </a:schemeClr>
                </a:solidFill>
              </a:rPr>
              <a:t> </a:t>
            </a:r>
            <a:endParaRPr lang="en-GB" b="1" dirty="0">
              <a:solidFill>
                <a:schemeClr val="accent5">
                  <a:lumMod val="50000"/>
                </a:schemeClr>
              </a:solidFill>
            </a:endParaRPr>
          </a:p>
        </p:txBody>
      </p:sp>
      <p:pic>
        <p:nvPicPr>
          <p:cNvPr id="9" name="Picture 5" descr="Znalezione obrazy dla zapytania scroo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7668" y="1711768"/>
            <a:ext cx="2736304" cy="34374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Prostokąt 2"/>
          <p:cNvSpPr/>
          <p:nvPr/>
        </p:nvSpPr>
        <p:spPr>
          <a:xfrm>
            <a:off x="606391" y="5476565"/>
            <a:ext cx="8396729" cy="830997"/>
          </a:xfrm>
          <a:prstGeom prst="rect">
            <a:avLst/>
          </a:prstGeom>
        </p:spPr>
        <p:txBody>
          <a:bodyPr wrap="square">
            <a:spAutoFit/>
          </a:bodyPr>
          <a:lstStyle/>
          <a:p>
            <a:pPr algn="just">
              <a:defRPr/>
            </a:pPr>
            <a:r>
              <a:rPr lang="pl-PL" sz="2000" b="1" dirty="0">
                <a:solidFill>
                  <a:srgbClr val="4BACC6">
                    <a:lumMod val="50000"/>
                  </a:srgbClr>
                </a:solidFill>
                <a:latin typeface="Calibri"/>
              </a:rPr>
              <a:t>*,** </a:t>
            </a:r>
            <a:r>
              <a:rPr lang="en-US" sz="2400" dirty="0">
                <a:solidFill>
                  <a:srgbClr val="4BACC6">
                    <a:lumMod val="50000"/>
                  </a:srgbClr>
                </a:solidFill>
                <a:latin typeface="Calibri"/>
              </a:rPr>
              <a:t>The statements are based on text-mining analysis of microeconomic textbook and student comments on the forum.</a:t>
            </a:r>
            <a:endParaRPr lang="pl-PL" sz="2400" dirty="0">
              <a:solidFill>
                <a:srgbClr val="4BACC6">
                  <a:lumMod val="50000"/>
                </a:srgbClr>
              </a:solidFill>
              <a:latin typeface="Calibri"/>
            </a:endParaRPr>
          </a:p>
        </p:txBody>
      </p:sp>
    </p:spTree>
    <p:extLst>
      <p:ext uri="{BB962C8B-B14F-4D97-AF65-F5344CB8AC3E}">
        <p14:creationId xmlns:p14="http://schemas.microsoft.com/office/powerpoint/2010/main" val="372911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1"/>
          <p:cNvSpPr>
            <a:spLocks noGrp="1"/>
          </p:cNvSpPr>
          <p:nvPr>
            <p:ph type="title"/>
          </p:nvPr>
        </p:nvSpPr>
        <p:spPr>
          <a:xfrm>
            <a:off x="0" y="0"/>
            <a:ext cx="12192000" cy="980728"/>
          </a:xfrm>
          <a:solidFill>
            <a:schemeClr val="accent5">
              <a:lumMod val="20000"/>
              <a:lumOff val="80000"/>
            </a:schemeClr>
          </a:solidFill>
        </p:spPr>
        <p:txBody>
          <a:bodyPr>
            <a:noAutofit/>
          </a:bodyPr>
          <a:lstStyle/>
          <a:p>
            <a:r>
              <a:rPr lang="pl-PL" b="1" dirty="0">
                <a:solidFill>
                  <a:schemeClr val="accent5">
                    <a:lumMod val="50000"/>
                  </a:schemeClr>
                </a:solidFill>
              </a:rPr>
              <a:t>The </a:t>
            </a:r>
            <a:r>
              <a:rPr lang="pl-PL" b="1" dirty="0" err="1">
                <a:solidFill>
                  <a:schemeClr val="accent5">
                    <a:lumMod val="50000"/>
                  </a:schemeClr>
                </a:solidFill>
              </a:rPr>
              <a:t>storytelling</a:t>
            </a:r>
            <a:r>
              <a:rPr lang="pl-PL" b="1" dirty="0">
                <a:solidFill>
                  <a:schemeClr val="accent5">
                    <a:lumMod val="50000"/>
                  </a:schemeClr>
                </a:solidFill>
              </a:rPr>
              <a:t> (</a:t>
            </a:r>
            <a:r>
              <a:rPr lang="en-GB" b="1" dirty="0">
                <a:solidFill>
                  <a:srgbClr val="C00000"/>
                </a:solidFill>
              </a:rPr>
              <a:t>ice </a:t>
            </a:r>
            <a:r>
              <a:rPr lang="pl-PL" b="1" dirty="0" err="1">
                <a:solidFill>
                  <a:srgbClr val="C00000"/>
                </a:solidFill>
              </a:rPr>
              <a:t>cream</a:t>
            </a:r>
            <a:r>
              <a:rPr lang="pl-PL" b="1" dirty="0">
                <a:solidFill>
                  <a:srgbClr val="C00000"/>
                </a:solidFill>
              </a:rPr>
              <a:t> </a:t>
            </a:r>
            <a:r>
              <a:rPr lang="en-GB" b="1" dirty="0">
                <a:solidFill>
                  <a:srgbClr val="C00000"/>
                </a:solidFill>
              </a:rPr>
              <a:t>n=250</a:t>
            </a:r>
            <a:r>
              <a:rPr lang="en-GB" b="1" dirty="0">
                <a:solidFill>
                  <a:schemeClr val="accent5">
                    <a:lumMod val="50000"/>
                  </a:schemeClr>
                </a:solidFill>
              </a:rPr>
              <a:t>) </a:t>
            </a:r>
            <a:endParaRPr lang="pl-PL" b="1" dirty="0">
              <a:solidFill>
                <a:schemeClr val="accent5">
                  <a:lumMod val="50000"/>
                </a:schemeClr>
              </a:solidFill>
            </a:endParaRPr>
          </a:p>
        </p:txBody>
      </p:sp>
      <p:graphicFrame>
        <p:nvGraphicFramePr>
          <p:cNvPr id="3" name="Tabela 2"/>
          <p:cNvGraphicFramePr>
            <a:graphicFrameLocks noGrp="1"/>
          </p:cNvGraphicFramePr>
          <p:nvPr/>
        </p:nvGraphicFramePr>
        <p:xfrm>
          <a:off x="1631505" y="1052729"/>
          <a:ext cx="8856983" cy="5692890"/>
        </p:xfrm>
        <a:graphic>
          <a:graphicData uri="http://schemas.openxmlformats.org/drawingml/2006/table">
            <a:tbl>
              <a:tblPr firstRow="1" firstCol="1" bandRow="1"/>
              <a:tblGrid>
                <a:gridCol w="2460274">
                  <a:extLst>
                    <a:ext uri="{9D8B030D-6E8A-4147-A177-3AD203B41FA5}">
                      <a16:colId xmlns:a16="http://schemas.microsoft.com/office/drawing/2014/main" val="20000"/>
                    </a:ext>
                  </a:extLst>
                </a:gridCol>
                <a:gridCol w="656366">
                  <a:extLst>
                    <a:ext uri="{9D8B030D-6E8A-4147-A177-3AD203B41FA5}">
                      <a16:colId xmlns:a16="http://schemas.microsoft.com/office/drawing/2014/main" val="20001"/>
                    </a:ext>
                  </a:extLst>
                </a:gridCol>
                <a:gridCol w="5740343">
                  <a:extLst>
                    <a:ext uri="{9D8B030D-6E8A-4147-A177-3AD203B41FA5}">
                      <a16:colId xmlns:a16="http://schemas.microsoft.com/office/drawing/2014/main" val="20002"/>
                    </a:ext>
                  </a:extLst>
                </a:gridCol>
              </a:tblGrid>
              <a:tr h="253608">
                <a:tc>
                  <a:txBody>
                    <a:bodyPr/>
                    <a:lstStyle/>
                    <a:p>
                      <a:pPr algn="ctr">
                        <a:lnSpc>
                          <a:spcPct val="115000"/>
                        </a:lnSpc>
                        <a:spcAft>
                          <a:spcPts val="800"/>
                        </a:spcAft>
                        <a:tabLst>
                          <a:tab pos="1028700" algn="l"/>
                        </a:tabLst>
                      </a:pPr>
                      <a:r>
                        <a:rPr lang="en-GB" sz="1100" dirty="0">
                          <a:effectLst/>
                          <a:latin typeface="Times New Roman"/>
                          <a:ea typeface="Calibri"/>
                          <a:cs typeface="Times New Roman"/>
                        </a:rPr>
                        <a:t>Term</a:t>
                      </a:r>
                      <a:endParaRPr lang="en-GB" sz="1200" dirty="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en-GB" sz="1100">
                          <a:effectLst/>
                          <a:latin typeface="Times New Roman"/>
                          <a:ea typeface="Calibri"/>
                          <a:cs typeface="Times New Roman"/>
                        </a:rPr>
                        <a:t>n</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en-GB" sz="1100">
                          <a:effectLst/>
                          <a:latin typeface="Times New Roman"/>
                          <a:ea typeface="Calibri"/>
                          <a:cs typeface="Times New Roman"/>
                        </a:rPr>
                        <a:t>Remarks</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3608">
                <a:tc>
                  <a:txBody>
                    <a:bodyPr/>
                    <a:lstStyle/>
                    <a:p>
                      <a:pPr algn="ctr">
                        <a:lnSpc>
                          <a:spcPct val="115000"/>
                        </a:lnSpc>
                        <a:spcAft>
                          <a:spcPts val="800"/>
                        </a:spcAft>
                        <a:tabLst>
                          <a:tab pos="1028700" algn="l"/>
                        </a:tabLst>
                      </a:pPr>
                      <a:r>
                        <a:rPr lang="pl-PL" sz="1100" i="1">
                          <a:effectLst/>
                          <a:latin typeface="Times New Roman"/>
                          <a:ea typeface="Calibri"/>
                          <a:cs typeface="Times New Roman"/>
                        </a:rPr>
                        <a:t>property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245</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Propety rights </a:t>
                      </a:r>
                      <a:r>
                        <a:rPr lang="en-US" sz="1100">
                          <a:effectLst/>
                          <a:latin typeface="Times New Roman"/>
                          <a:ea typeface="Calibri"/>
                          <a:cs typeface="Times New Roman"/>
                        </a:rPr>
                        <a:t>are mentioned 86 times.</a:t>
                      </a:r>
                      <a:r>
                        <a:rPr lang="en-US" sz="1100" i="1">
                          <a:effectLst/>
                          <a:latin typeface="Times New Roman"/>
                          <a:ea typeface="Calibri"/>
                          <a:cs typeface="Times New Roman"/>
                        </a:rPr>
                        <a:t>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6834">
                <a:tc>
                  <a:txBody>
                    <a:bodyPr/>
                    <a:lstStyle/>
                    <a:p>
                      <a:pPr algn="ctr">
                        <a:lnSpc>
                          <a:spcPct val="115000"/>
                        </a:lnSpc>
                        <a:spcAft>
                          <a:spcPts val="800"/>
                        </a:spcAft>
                        <a:tabLst>
                          <a:tab pos="1028700" algn="l"/>
                        </a:tabLst>
                      </a:pPr>
                      <a:r>
                        <a:rPr lang="pl-PL" sz="1100" i="1">
                          <a:effectLst/>
                          <a:latin typeface="Times New Roman"/>
                          <a:ea typeface="Calibri"/>
                          <a:cs typeface="Times New Roman"/>
                        </a:rPr>
                        <a:t>freedom</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2</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Personal freedom</a:t>
                      </a:r>
                      <a:r>
                        <a:rPr lang="en-US" sz="1100">
                          <a:effectLst/>
                          <a:latin typeface="Times New Roman"/>
                          <a:ea typeface="Calibri"/>
                          <a:cs typeface="Times New Roman"/>
                        </a:rPr>
                        <a:t> and </a:t>
                      </a:r>
                      <a:r>
                        <a:rPr lang="en-US" sz="1100" i="1">
                          <a:effectLst/>
                          <a:latin typeface="Times New Roman"/>
                          <a:ea typeface="Calibri"/>
                          <a:cs typeface="Times New Roman"/>
                        </a:rPr>
                        <a:t>proclaiming freedom</a:t>
                      </a:r>
                      <a:r>
                        <a:rPr lang="en-US" sz="1100">
                          <a:effectLst/>
                          <a:latin typeface="Times New Roman"/>
                          <a:ea typeface="Calibri"/>
                          <a:cs typeface="Times New Roman"/>
                        </a:rPr>
                        <a:t> are both mentioned one time.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44636">
                <a:tc>
                  <a:txBody>
                    <a:bodyPr/>
                    <a:lstStyle/>
                    <a:p>
                      <a:pPr algn="ctr">
                        <a:lnSpc>
                          <a:spcPct val="115000"/>
                        </a:lnSpc>
                        <a:spcAft>
                          <a:spcPts val="800"/>
                        </a:spcAft>
                        <a:tabLst>
                          <a:tab pos="1028700" algn="l"/>
                        </a:tabLst>
                      </a:pPr>
                      <a:r>
                        <a:rPr lang="pl-PL" sz="1100" i="1">
                          <a:effectLst/>
                          <a:latin typeface="Times New Roman"/>
                          <a:ea typeface="Calibri"/>
                          <a:cs typeface="Times New Roman"/>
                        </a:rPr>
                        <a:t>institution (-s;-al)</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70</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Social institutions</a:t>
                      </a:r>
                      <a:r>
                        <a:rPr lang="en-US" sz="1100">
                          <a:effectLst/>
                          <a:latin typeface="Times New Roman"/>
                          <a:ea typeface="Calibri"/>
                          <a:cs typeface="Times New Roman"/>
                        </a:rPr>
                        <a:t> are mentioned five times; </a:t>
                      </a:r>
                      <a:r>
                        <a:rPr lang="en-US" sz="1100" i="1">
                          <a:effectLst/>
                          <a:latin typeface="Times New Roman"/>
                          <a:ea typeface="Calibri"/>
                          <a:cs typeface="Times New Roman"/>
                        </a:rPr>
                        <a:t>democratic institutions</a:t>
                      </a:r>
                      <a:r>
                        <a:rPr lang="en-US" sz="1100">
                          <a:effectLst/>
                          <a:latin typeface="Times New Roman"/>
                          <a:ea typeface="Calibri"/>
                          <a:cs typeface="Times New Roman"/>
                        </a:rPr>
                        <a:t> are mentioned one time. In the rest of the cases, the terms are applied to economic, financial, political, monetary, and market institutions. The terms </a:t>
                      </a:r>
                      <a:r>
                        <a:rPr lang="en-US" sz="1100" i="1">
                          <a:effectLst/>
                          <a:latin typeface="Times New Roman"/>
                          <a:ea typeface="Calibri"/>
                          <a:cs typeface="Times New Roman"/>
                        </a:rPr>
                        <a:t>institutional economics </a:t>
                      </a:r>
                      <a:r>
                        <a:rPr lang="en-US" sz="1100">
                          <a:effectLst/>
                          <a:latin typeface="Times New Roman"/>
                          <a:ea typeface="Calibri"/>
                          <a:cs typeface="Times New Roman"/>
                        </a:rPr>
                        <a:t>does not appear in any textbook.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3608">
                <a:tc>
                  <a:txBody>
                    <a:bodyPr/>
                    <a:lstStyle/>
                    <a:p>
                      <a:pPr algn="ctr">
                        <a:lnSpc>
                          <a:spcPct val="115000"/>
                        </a:lnSpc>
                        <a:spcAft>
                          <a:spcPts val="800"/>
                        </a:spcAft>
                        <a:tabLst>
                          <a:tab pos="1028700" algn="l"/>
                        </a:tabLst>
                      </a:pPr>
                      <a:r>
                        <a:rPr lang="pl-PL" sz="1100" i="1">
                          <a:effectLst/>
                          <a:latin typeface="Times New Roman"/>
                          <a:ea typeface="Calibri"/>
                          <a:cs typeface="Times New Roman"/>
                        </a:rPr>
                        <a:t>(ir-) rational(-ity)</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152</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800"/>
                        </a:spcAft>
                        <a:tabLst>
                          <a:tab pos="1028700" algn="l"/>
                        </a:tabLst>
                      </a:pPr>
                      <a:r>
                        <a:rPr lang="en-US" sz="1100">
                          <a:effectLst/>
                          <a:latin typeface="Times New Roman"/>
                          <a:ea typeface="Calibri"/>
                          <a:cs typeface="Times New Roman"/>
                        </a:rPr>
                        <a:t>The phrase </a:t>
                      </a:r>
                      <a:r>
                        <a:rPr lang="en-US" sz="1100" i="1">
                          <a:effectLst/>
                          <a:latin typeface="Times New Roman"/>
                          <a:ea typeface="Calibri"/>
                          <a:cs typeface="Times New Roman"/>
                        </a:rPr>
                        <a:t>bounded rationality </a:t>
                      </a:r>
                      <a:r>
                        <a:rPr lang="en-US" sz="1100">
                          <a:effectLst/>
                          <a:latin typeface="Times New Roman"/>
                          <a:ea typeface="Calibri"/>
                          <a:cs typeface="Times New Roman"/>
                        </a:rPr>
                        <a:t>appears 2 times.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834">
                <a:tc>
                  <a:txBody>
                    <a:bodyPr/>
                    <a:lstStyle/>
                    <a:p>
                      <a:pPr algn="ctr">
                        <a:lnSpc>
                          <a:spcPct val="115000"/>
                        </a:lnSpc>
                        <a:spcAft>
                          <a:spcPts val="800"/>
                        </a:spcAft>
                        <a:tabLst>
                          <a:tab pos="1028700" algn="l"/>
                        </a:tabLst>
                      </a:pPr>
                      <a:r>
                        <a:rPr lang="pl-PL" sz="1100" i="1">
                          <a:effectLst/>
                          <a:latin typeface="Times New Roman"/>
                          <a:ea typeface="Calibri"/>
                          <a:cs typeface="Times New Roman"/>
                        </a:rPr>
                        <a:t>entrepreneur (-all; -ship)</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16</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a:effectLst/>
                          <a:latin typeface="Times New Roman"/>
                          <a:ea typeface="Calibri"/>
                          <a:cs typeface="Times New Roman"/>
                        </a:rPr>
                        <a:t>The number of entries also includes the derivatives (such as entrepreneurial).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2317">
                <a:tc>
                  <a:txBody>
                    <a:bodyPr/>
                    <a:lstStyle/>
                    <a:p>
                      <a:pPr algn="ctr">
                        <a:lnSpc>
                          <a:spcPct val="115000"/>
                        </a:lnSpc>
                        <a:spcAft>
                          <a:spcPts val="800"/>
                        </a:spcAft>
                        <a:tabLst>
                          <a:tab pos="1028700" algn="l"/>
                        </a:tabLst>
                      </a:pPr>
                      <a:r>
                        <a:rPr lang="pl-PL" sz="1100" i="1">
                          <a:effectLst/>
                          <a:latin typeface="Times New Roman"/>
                          <a:ea typeface="Calibri"/>
                          <a:cs typeface="Times New Roman"/>
                        </a:rPr>
                        <a:t>innovation (-tive;-ing)</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dirty="0">
                          <a:effectLst/>
                          <a:latin typeface="Times New Roman"/>
                          <a:ea typeface="Calibri"/>
                          <a:cs typeface="Times New Roman"/>
                        </a:rPr>
                        <a:t>30</a:t>
                      </a:r>
                      <a:endParaRPr lang="en-GB" sz="1200" dirty="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dirty="0">
                          <a:effectLst/>
                          <a:latin typeface="Times New Roman"/>
                          <a:ea typeface="Calibri"/>
                          <a:cs typeface="Times New Roman"/>
                        </a:rPr>
                        <a:t>The word most often appears in phrases such as </a:t>
                      </a:r>
                      <a:r>
                        <a:rPr lang="en-US" sz="1100" i="1" dirty="0">
                          <a:effectLst/>
                          <a:latin typeface="Times New Roman"/>
                          <a:ea typeface="Calibri"/>
                          <a:cs typeface="Times New Roman"/>
                        </a:rPr>
                        <a:t>global innovation, innovative programs, major innovation, reducing innovation.</a:t>
                      </a:r>
                      <a:r>
                        <a:rPr lang="en-US" sz="1100" dirty="0">
                          <a:effectLst/>
                          <a:latin typeface="Times New Roman"/>
                          <a:ea typeface="Calibri"/>
                          <a:cs typeface="Times New Roman"/>
                        </a:rPr>
                        <a:t> </a:t>
                      </a:r>
                      <a:endParaRPr lang="en-GB" sz="1200" dirty="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3608">
                <a:tc>
                  <a:txBody>
                    <a:bodyPr/>
                    <a:lstStyle/>
                    <a:p>
                      <a:pPr algn="ctr">
                        <a:lnSpc>
                          <a:spcPct val="115000"/>
                        </a:lnSpc>
                        <a:spcAft>
                          <a:spcPts val="800"/>
                        </a:spcAft>
                        <a:tabLst>
                          <a:tab pos="1028700" algn="l"/>
                        </a:tabLst>
                      </a:pPr>
                      <a:r>
                        <a:rPr lang="pl-PL" sz="1100" i="1">
                          <a:effectLst/>
                          <a:latin typeface="Times New Roman"/>
                          <a:ea typeface="Calibri"/>
                          <a:cs typeface="Times New Roman"/>
                        </a:rPr>
                        <a:t>invention (-or; -ing)</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16</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2317">
                <a:tc>
                  <a:txBody>
                    <a:bodyPr/>
                    <a:lstStyle/>
                    <a:p>
                      <a:pPr algn="ctr">
                        <a:lnSpc>
                          <a:spcPct val="115000"/>
                        </a:lnSpc>
                        <a:spcAft>
                          <a:spcPts val="800"/>
                        </a:spcAft>
                        <a:tabLst>
                          <a:tab pos="1028700" algn="l"/>
                        </a:tabLst>
                      </a:pPr>
                      <a:r>
                        <a:rPr lang="pl-PL" sz="1100" i="1">
                          <a:effectLst/>
                          <a:latin typeface="Times New Roman"/>
                          <a:ea typeface="Calibri"/>
                          <a:cs typeface="Times New Roman"/>
                        </a:rPr>
                        <a:t>knowledge</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44</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a:effectLst/>
                          <a:latin typeface="Times New Roman"/>
                          <a:ea typeface="Calibri"/>
                          <a:cs typeface="Times New Roman"/>
                        </a:rPr>
                        <a:t>One of the most common phrases is </a:t>
                      </a:r>
                      <a:r>
                        <a:rPr lang="en-US" sz="1100" i="1">
                          <a:effectLst/>
                          <a:latin typeface="Times New Roman"/>
                          <a:ea typeface="Calibri"/>
                          <a:cs typeface="Times New Roman"/>
                        </a:rPr>
                        <a:t>technological knowledge</a:t>
                      </a:r>
                      <a:r>
                        <a:rPr lang="en-US" sz="1100">
                          <a:effectLst/>
                          <a:latin typeface="Times New Roman"/>
                          <a:ea typeface="Calibri"/>
                          <a:cs typeface="Times New Roman"/>
                        </a:rPr>
                        <a:t>.  The phrase </a:t>
                      </a:r>
                      <a:r>
                        <a:rPr lang="en-US" sz="1100" i="1">
                          <a:effectLst/>
                          <a:latin typeface="Times New Roman"/>
                          <a:ea typeface="Calibri"/>
                          <a:cs typeface="Times New Roman"/>
                        </a:rPr>
                        <a:t>tacit knowledge </a:t>
                      </a:r>
                      <a:r>
                        <a:rPr lang="en-US" sz="1100">
                          <a:effectLst/>
                          <a:latin typeface="Times New Roman"/>
                          <a:ea typeface="Calibri"/>
                          <a:cs typeface="Times New Roman"/>
                        </a:rPr>
                        <a:t>does not appear in any textbook.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558476">
                <a:tc>
                  <a:txBody>
                    <a:bodyPr/>
                    <a:lstStyle/>
                    <a:p>
                      <a:pPr algn="ctr">
                        <a:lnSpc>
                          <a:spcPct val="115000"/>
                        </a:lnSpc>
                        <a:spcAft>
                          <a:spcPts val="800"/>
                        </a:spcAft>
                        <a:tabLst>
                          <a:tab pos="1028700" algn="l"/>
                        </a:tabLst>
                      </a:pPr>
                      <a:r>
                        <a:rPr lang="pl-PL" sz="1100" i="1">
                          <a:effectLst/>
                          <a:latin typeface="Times New Roman"/>
                          <a:ea typeface="Calibri"/>
                          <a:cs typeface="Times New Roman"/>
                        </a:rPr>
                        <a:t>network (-s; -ing)</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195</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Social networks </a:t>
                      </a:r>
                      <a:r>
                        <a:rPr lang="en-US" sz="1100">
                          <a:effectLst/>
                          <a:latin typeface="Times New Roman"/>
                          <a:ea typeface="Calibri"/>
                          <a:cs typeface="Times New Roman"/>
                        </a:rPr>
                        <a:t>and</a:t>
                      </a:r>
                      <a:r>
                        <a:rPr lang="en-US" sz="1100" i="1">
                          <a:effectLst/>
                          <a:latin typeface="Times New Roman"/>
                          <a:ea typeface="Calibri"/>
                          <a:cs typeface="Times New Roman"/>
                        </a:rPr>
                        <a:t> social networking </a:t>
                      </a:r>
                      <a:r>
                        <a:rPr lang="en-US" sz="1100">
                          <a:effectLst/>
                          <a:latin typeface="Times New Roman"/>
                          <a:ea typeface="Calibri"/>
                          <a:cs typeface="Times New Roman"/>
                        </a:rPr>
                        <a:t>are mentioned six times together. In the rest of cases, the word appears in phrases such as </a:t>
                      </a:r>
                      <a:r>
                        <a:rPr lang="en-US" sz="1100" i="1">
                          <a:effectLst/>
                          <a:latin typeface="Times New Roman"/>
                          <a:ea typeface="Calibri"/>
                          <a:cs typeface="Times New Roman"/>
                        </a:rPr>
                        <a:t>computer network, network effect, network externalities</a:t>
                      </a:r>
                      <a:r>
                        <a:rPr lang="en-US" sz="1100">
                          <a:effectLst/>
                          <a:latin typeface="Times New Roman"/>
                          <a:ea typeface="Calibri"/>
                          <a:cs typeface="Times New Roman"/>
                        </a:rPr>
                        <a:t>, etc.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72317">
                <a:tc>
                  <a:txBody>
                    <a:bodyPr/>
                    <a:lstStyle/>
                    <a:p>
                      <a:pPr algn="ctr">
                        <a:lnSpc>
                          <a:spcPct val="115000"/>
                        </a:lnSpc>
                        <a:spcAft>
                          <a:spcPts val="800"/>
                        </a:spcAft>
                        <a:tabLst>
                          <a:tab pos="1028700" algn="l"/>
                        </a:tabLst>
                      </a:pPr>
                      <a:r>
                        <a:rPr lang="pl-PL" sz="1100" i="1">
                          <a:effectLst/>
                          <a:latin typeface="Times New Roman"/>
                          <a:ea typeface="Calibri"/>
                          <a:cs typeface="Times New Roman"/>
                        </a:rPr>
                        <a:t>(im-) moral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132</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Moral hazard</a:t>
                      </a:r>
                      <a:r>
                        <a:rPr lang="en-US" sz="1100">
                          <a:effectLst/>
                          <a:latin typeface="Times New Roman"/>
                          <a:ea typeface="Calibri"/>
                          <a:cs typeface="Times New Roman"/>
                        </a:rPr>
                        <a:t> appears 81 time; 9 times the term refers to judgment, codes, behavior, instincts, and philosophy.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558476">
                <a:tc>
                  <a:txBody>
                    <a:bodyPr/>
                    <a:lstStyle/>
                    <a:p>
                      <a:pPr algn="ctr">
                        <a:lnSpc>
                          <a:spcPct val="115000"/>
                        </a:lnSpc>
                        <a:spcAft>
                          <a:spcPts val="800"/>
                        </a:spcAft>
                        <a:tabLst>
                          <a:tab pos="1028700" algn="l"/>
                        </a:tabLst>
                      </a:pPr>
                      <a:r>
                        <a:rPr lang="en-US" sz="1100" i="1">
                          <a:effectLst/>
                          <a:latin typeface="Times New Roman"/>
                          <a:ea typeface="Calibri"/>
                          <a:cs typeface="Times New Roman"/>
                        </a:rPr>
                        <a:t>society (-al.;-alizing;-alism;-ology)</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en-US" sz="1100">
                          <a:effectLst/>
                          <a:latin typeface="Times New Roman"/>
                          <a:ea typeface="Calibri"/>
                          <a:cs typeface="Times New Roman"/>
                        </a:rPr>
                        <a:t>319</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i="1">
                          <a:effectLst/>
                          <a:latin typeface="Times New Roman"/>
                          <a:ea typeface="Calibri"/>
                          <a:cs typeface="Times New Roman"/>
                        </a:rPr>
                        <a:t>Social norms </a:t>
                      </a:r>
                      <a:r>
                        <a:rPr lang="en-US" sz="1100">
                          <a:effectLst/>
                          <a:latin typeface="Times New Roman"/>
                          <a:ea typeface="Calibri"/>
                          <a:cs typeface="Times New Roman"/>
                        </a:rPr>
                        <a:t>are mentioned seven times. </a:t>
                      </a:r>
                      <a:r>
                        <a:rPr lang="en-US" sz="1100" i="1">
                          <a:effectLst/>
                          <a:latin typeface="Times New Roman"/>
                          <a:ea typeface="Calibri"/>
                          <a:cs typeface="Times New Roman"/>
                        </a:rPr>
                        <a:t>Social behavior</a:t>
                      </a:r>
                      <a:r>
                        <a:rPr lang="en-US" sz="1100">
                          <a:effectLst/>
                          <a:latin typeface="Times New Roman"/>
                          <a:ea typeface="Calibri"/>
                          <a:cs typeface="Times New Roman"/>
                        </a:rPr>
                        <a:t> is specified one time. The word </a:t>
                      </a:r>
                      <a:r>
                        <a:rPr lang="en-US" sz="1100" i="1">
                          <a:effectLst/>
                          <a:latin typeface="Times New Roman"/>
                          <a:ea typeface="Calibri"/>
                          <a:cs typeface="Times New Roman"/>
                        </a:rPr>
                        <a:t>socializing</a:t>
                      </a:r>
                      <a:r>
                        <a:rPr lang="en-US" sz="1100">
                          <a:effectLst/>
                          <a:latin typeface="Times New Roman"/>
                          <a:ea typeface="Calibri"/>
                          <a:cs typeface="Times New Roman"/>
                        </a:rPr>
                        <a:t> and phrase </a:t>
                      </a:r>
                      <a:r>
                        <a:rPr lang="en-US" sz="1100" i="1">
                          <a:effectLst/>
                          <a:latin typeface="Times New Roman"/>
                          <a:ea typeface="Calibri"/>
                          <a:cs typeface="Times New Roman"/>
                        </a:rPr>
                        <a:t>social environment, </a:t>
                      </a:r>
                      <a:r>
                        <a:rPr lang="en-US" sz="1100">
                          <a:effectLst/>
                          <a:latin typeface="Times New Roman"/>
                          <a:ea typeface="Calibri"/>
                          <a:cs typeface="Times New Roman"/>
                        </a:rPr>
                        <a:t>and</a:t>
                      </a:r>
                      <a:r>
                        <a:rPr lang="en-US" sz="1100" i="1">
                          <a:effectLst/>
                          <a:latin typeface="Times New Roman"/>
                          <a:ea typeface="Calibri"/>
                          <a:cs typeface="Times New Roman"/>
                        </a:rPr>
                        <a:t> social norms </a:t>
                      </a:r>
                      <a:r>
                        <a:rPr lang="en-US" sz="1100">
                          <a:effectLst/>
                          <a:latin typeface="Times New Roman"/>
                          <a:ea typeface="Calibri"/>
                          <a:cs typeface="Times New Roman"/>
                        </a:rPr>
                        <a:t>appear one time each.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72317">
                <a:tc>
                  <a:txBody>
                    <a:bodyPr/>
                    <a:lstStyle/>
                    <a:p>
                      <a:pPr algn="ctr">
                        <a:lnSpc>
                          <a:spcPct val="115000"/>
                        </a:lnSpc>
                        <a:spcAft>
                          <a:spcPts val="800"/>
                        </a:spcAft>
                        <a:tabLst>
                          <a:tab pos="1028700" algn="l"/>
                        </a:tabLst>
                      </a:pPr>
                      <a:r>
                        <a:rPr lang="pl-PL" sz="1100" i="1">
                          <a:effectLst/>
                          <a:latin typeface="Times New Roman"/>
                          <a:ea typeface="Calibri"/>
                          <a:cs typeface="Times New Roman"/>
                        </a:rPr>
                        <a:t>ethics (-al)</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10</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a:effectLst/>
                          <a:latin typeface="Times New Roman"/>
                          <a:ea typeface="Calibri"/>
                          <a:cs typeface="Times New Roman"/>
                        </a:rPr>
                        <a:t>The word appears in phrases, such as </a:t>
                      </a:r>
                      <a:r>
                        <a:rPr lang="en-US" sz="1100" i="1">
                          <a:effectLst/>
                          <a:latin typeface="Times New Roman"/>
                          <a:ea typeface="Calibri"/>
                          <a:cs typeface="Times New Roman"/>
                        </a:rPr>
                        <a:t>ethical judgments </a:t>
                      </a:r>
                      <a:r>
                        <a:rPr lang="en-US" sz="1100">
                          <a:effectLst/>
                          <a:latin typeface="Times New Roman"/>
                          <a:ea typeface="Calibri"/>
                          <a:cs typeface="Times New Roman"/>
                        </a:rPr>
                        <a:t>(2 times),</a:t>
                      </a:r>
                      <a:r>
                        <a:rPr lang="en-US" sz="1100" i="1">
                          <a:effectLst/>
                          <a:latin typeface="Times New Roman"/>
                          <a:ea typeface="Calibri"/>
                          <a:cs typeface="Times New Roman"/>
                        </a:rPr>
                        <a:t> ethically unacceptable </a:t>
                      </a:r>
                      <a:r>
                        <a:rPr lang="en-US" sz="1100">
                          <a:effectLst/>
                          <a:latin typeface="Times New Roman"/>
                          <a:ea typeface="Calibri"/>
                          <a:cs typeface="Times New Roman"/>
                        </a:rPr>
                        <a:t>(2 times),</a:t>
                      </a:r>
                      <a:r>
                        <a:rPr lang="en-US" sz="1100" i="1">
                          <a:effectLst/>
                          <a:latin typeface="Times New Roman"/>
                          <a:ea typeface="Calibri"/>
                          <a:cs typeface="Times New Roman"/>
                        </a:rPr>
                        <a:t> ethical principle </a:t>
                      </a:r>
                      <a:r>
                        <a:rPr lang="en-US" sz="1100">
                          <a:effectLst/>
                          <a:latin typeface="Times New Roman"/>
                          <a:ea typeface="Calibri"/>
                          <a:cs typeface="Times New Roman"/>
                        </a:rPr>
                        <a:t>(1 time).</a:t>
                      </a:r>
                      <a:r>
                        <a:rPr lang="en-US" sz="1100" i="1">
                          <a:effectLst/>
                          <a:latin typeface="Times New Roman"/>
                          <a:ea typeface="Calibri"/>
                          <a:cs typeface="Times New Roman"/>
                        </a:rPr>
                        <a:t>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44841">
                <a:tc>
                  <a:txBody>
                    <a:bodyPr/>
                    <a:lstStyle/>
                    <a:p>
                      <a:pPr algn="ctr">
                        <a:lnSpc>
                          <a:spcPct val="115000"/>
                        </a:lnSpc>
                        <a:spcAft>
                          <a:spcPts val="800"/>
                        </a:spcAft>
                        <a:tabLst>
                          <a:tab pos="1028700" algn="l"/>
                        </a:tabLst>
                      </a:pPr>
                      <a:r>
                        <a:rPr lang="pl-PL" sz="1100" i="1">
                          <a:effectLst/>
                          <a:latin typeface="Times New Roman"/>
                          <a:ea typeface="Calibri"/>
                          <a:cs typeface="Times New Roman"/>
                        </a:rPr>
                        <a:t>altruism (-tic)</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a:effectLst/>
                          <a:latin typeface="Times New Roman"/>
                          <a:ea typeface="Calibri"/>
                          <a:cs typeface="Times New Roman"/>
                        </a:rPr>
                        <a:t>1</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a:effectLst/>
                          <a:latin typeface="Times New Roman"/>
                          <a:ea typeface="Calibri"/>
                          <a:cs typeface="Times New Roman"/>
                        </a:rPr>
                        <a:t>The word appears one time in the phrase </a:t>
                      </a:r>
                      <a:r>
                        <a:rPr lang="en-US" sz="1100" i="1">
                          <a:effectLst/>
                          <a:latin typeface="Times New Roman"/>
                          <a:ea typeface="Calibri"/>
                          <a:cs typeface="Times New Roman"/>
                        </a:rPr>
                        <a:t>altruistic desire. </a:t>
                      </a:r>
                      <a:endParaRPr lang="en-GB" sz="1200">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44841">
                <a:tc>
                  <a:txBody>
                    <a:bodyPr/>
                    <a:lstStyle/>
                    <a:p>
                      <a:pPr algn="ctr">
                        <a:lnSpc>
                          <a:spcPct val="115000"/>
                        </a:lnSpc>
                        <a:spcAft>
                          <a:spcPts val="800"/>
                        </a:spcAft>
                        <a:tabLst>
                          <a:tab pos="1028700" algn="l"/>
                        </a:tabLst>
                      </a:pPr>
                      <a:r>
                        <a:rPr lang="pl-PL" sz="1100" i="1" dirty="0">
                          <a:solidFill>
                            <a:srgbClr val="FF0000"/>
                          </a:solidFill>
                          <a:effectLst/>
                          <a:latin typeface="Times New Roman"/>
                          <a:ea typeface="Calibri"/>
                          <a:cs typeface="Times New Roman"/>
                        </a:rPr>
                        <a:t>homo </a:t>
                      </a:r>
                      <a:r>
                        <a:rPr lang="pl-PL" sz="1100" i="1" dirty="0" err="1">
                          <a:solidFill>
                            <a:srgbClr val="FF0000"/>
                          </a:solidFill>
                          <a:effectLst/>
                          <a:latin typeface="Times New Roman"/>
                          <a:ea typeface="Calibri"/>
                          <a:cs typeface="Times New Roman"/>
                        </a:rPr>
                        <a:t>economicus</a:t>
                      </a:r>
                      <a:endParaRPr lang="en-GB" sz="1200" dirty="0">
                        <a:solidFill>
                          <a:srgbClr val="FF0000"/>
                        </a:solidFill>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800"/>
                        </a:spcAft>
                        <a:tabLst>
                          <a:tab pos="1028700" algn="l"/>
                        </a:tabLst>
                      </a:pPr>
                      <a:r>
                        <a:rPr lang="pl-PL" sz="1100" dirty="0">
                          <a:solidFill>
                            <a:srgbClr val="FF0000"/>
                          </a:solidFill>
                          <a:effectLst/>
                          <a:latin typeface="Times New Roman"/>
                          <a:ea typeface="Calibri"/>
                          <a:cs typeface="Times New Roman"/>
                        </a:rPr>
                        <a:t>1</a:t>
                      </a:r>
                      <a:endParaRPr lang="en-GB" sz="1200" dirty="0">
                        <a:solidFill>
                          <a:srgbClr val="FF0000"/>
                        </a:solidFill>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800"/>
                        </a:spcAft>
                        <a:tabLst>
                          <a:tab pos="1028700" algn="l"/>
                        </a:tabLst>
                      </a:pPr>
                      <a:r>
                        <a:rPr lang="en-US" sz="1100" dirty="0">
                          <a:solidFill>
                            <a:srgbClr val="FF0000"/>
                          </a:solidFill>
                          <a:effectLst/>
                          <a:latin typeface="Times New Roman"/>
                          <a:ea typeface="Calibri"/>
                          <a:cs typeface="Times New Roman"/>
                        </a:rPr>
                        <a:t> </a:t>
                      </a:r>
                      <a:endParaRPr lang="en-GB" sz="1200" dirty="0">
                        <a:solidFill>
                          <a:srgbClr val="FF0000"/>
                        </a:solidFill>
                        <a:effectLst/>
                        <a:latin typeface="Calibri"/>
                        <a:ea typeface="Calibri"/>
                        <a:cs typeface="Times New Roman"/>
                      </a:endParaRPr>
                    </a:p>
                  </a:txBody>
                  <a:tcPr marL="57956" marR="579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827066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ytuł 1"/>
          <p:cNvSpPr>
            <a:spLocks noGrp="1"/>
          </p:cNvSpPr>
          <p:nvPr>
            <p:ph type="title"/>
          </p:nvPr>
        </p:nvSpPr>
        <p:spPr>
          <a:xfrm>
            <a:off x="0" y="0"/>
            <a:ext cx="12192000" cy="980728"/>
          </a:xfrm>
          <a:solidFill>
            <a:schemeClr val="accent5">
              <a:lumMod val="20000"/>
              <a:lumOff val="80000"/>
            </a:schemeClr>
          </a:solidFill>
        </p:spPr>
        <p:txBody>
          <a:bodyPr>
            <a:noAutofit/>
          </a:bodyPr>
          <a:lstStyle/>
          <a:p>
            <a:r>
              <a:rPr lang="pl-PL" b="1" dirty="0">
                <a:solidFill>
                  <a:schemeClr val="accent5">
                    <a:lumMod val="50000"/>
                  </a:schemeClr>
                </a:solidFill>
              </a:rPr>
              <a:t>The </a:t>
            </a:r>
            <a:r>
              <a:rPr lang="pl-PL" b="1" dirty="0" err="1">
                <a:solidFill>
                  <a:schemeClr val="accent5">
                    <a:lumMod val="50000"/>
                  </a:schemeClr>
                </a:solidFill>
              </a:rPr>
              <a:t>storytelling</a:t>
            </a:r>
            <a:r>
              <a:rPr lang="pl-PL" b="1" dirty="0">
                <a:solidFill>
                  <a:schemeClr val="accent5">
                    <a:lumMod val="50000"/>
                  </a:schemeClr>
                </a:solidFill>
              </a:rPr>
              <a:t> </a:t>
            </a:r>
          </a:p>
        </p:txBody>
      </p:sp>
      <p:pic>
        <p:nvPicPr>
          <p:cNvPr id="9" name="Obraz 8"/>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2292" y="1674796"/>
            <a:ext cx="8428890" cy="4966636"/>
          </a:xfrm>
          <a:prstGeom prst="rect">
            <a:avLst/>
          </a:prstGeom>
          <a:noFill/>
        </p:spPr>
      </p:pic>
    </p:spTree>
    <p:extLst>
      <p:ext uri="{BB962C8B-B14F-4D97-AF65-F5344CB8AC3E}">
        <p14:creationId xmlns:p14="http://schemas.microsoft.com/office/powerpoint/2010/main" val="1692138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ole tekstowe 10"/>
          <p:cNvSpPr txBox="1"/>
          <p:nvPr/>
        </p:nvSpPr>
        <p:spPr>
          <a:xfrm>
            <a:off x="782855" y="1687278"/>
            <a:ext cx="10626290" cy="4401205"/>
          </a:xfrm>
          <a:prstGeom prst="rect">
            <a:avLst/>
          </a:prstGeom>
          <a:noFill/>
        </p:spPr>
        <p:txBody>
          <a:bodyPr wrap="square">
            <a:spAutoFit/>
          </a:bodyPr>
          <a:lstStyle/>
          <a:p>
            <a:pPr algn="just">
              <a:defRPr/>
            </a:pPr>
            <a:r>
              <a:rPr lang="pl-PL" sz="2800" dirty="0" err="1">
                <a:solidFill>
                  <a:srgbClr val="4BACC6">
                    <a:lumMod val="50000"/>
                  </a:srgbClr>
                </a:solidFill>
                <a:latin typeface="Calibri"/>
              </a:rPr>
              <a:t>Economicsts</a:t>
            </a:r>
            <a:r>
              <a:rPr lang="en-US" sz="2800" dirty="0">
                <a:solidFill>
                  <a:srgbClr val="4BACC6">
                    <a:lumMod val="50000"/>
                  </a:srgbClr>
                </a:solidFill>
                <a:latin typeface="Calibri"/>
              </a:rPr>
              <a:t> have difficult to combine </a:t>
            </a:r>
            <a:r>
              <a:rPr lang="en-US" sz="2800" b="1" dirty="0">
                <a:solidFill>
                  <a:srgbClr val="4BACC6">
                    <a:lumMod val="50000"/>
                  </a:srgbClr>
                </a:solidFill>
                <a:latin typeface="Calibri"/>
              </a:rPr>
              <a:t>altruism</a:t>
            </a:r>
            <a:r>
              <a:rPr lang="en-US" sz="2800" dirty="0">
                <a:solidFill>
                  <a:srgbClr val="4BACC6">
                    <a:lumMod val="50000"/>
                  </a:srgbClr>
                </a:solidFill>
                <a:latin typeface="Calibri"/>
              </a:rPr>
              <a:t> and </a:t>
            </a:r>
            <a:r>
              <a:rPr lang="en-US" sz="2800" b="1" dirty="0">
                <a:solidFill>
                  <a:srgbClr val="4BACC6">
                    <a:lumMod val="50000"/>
                  </a:srgbClr>
                </a:solidFill>
                <a:latin typeface="Calibri"/>
              </a:rPr>
              <a:t>pro-social </a:t>
            </a:r>
            <a:r>
              <a:rPr lang="en-US" sz="2800" dirty="0">
                <a:solidFill>
                  <a:srgbClr val="4BACC6">
                    <a:lumMod val="50000"/>
                  </a:srgbClr>
                </a:solidFill>
                <a:latin typeface="Calibri"/>
              </a:rPr>
              <a:t>activities with the </a:t>
            </a:r>
            <a:r>
              <a:rPr lang="pl-PL" sz="2800" b="1" dirty="0">
                <a:solidFill>
                  <a:srgbClr val="4BACC6">
                    <a:lumMod val="50000"/>
                  </a:srgbClr>
                </a:solidFill>
                <a:latin typeface="Calibri"/>
              </a:rPr>
              <a:t>H</a:t>
            </a:r>
            <a:r>
              <a:rPr lang="en-US" sz="2800" b="1" dirty="0" err="1">
                <a:solidFill>
                  <a:srgbClr val="4BACC6">
                    <a:lumMod val="50000"/>
                  </a:srgbClr>
                </a:solidFill>
                <a:latin typeface="Calibri"/>
              </a:rPr>
              <a:t>omo</a:t>
            </a:r>
            <a:r>
              <a:rPr lang="en-US" sz="2800" b="1" dirty="0">
                <a:solidFill>
                  <a:srgbClr val="4BACC6">
                    <a:lumMod val="50000"/>
                  </a:srgbClr>
                </a:solidFill>
                <a:latin typeface="Calibri"/>
              </a:rPr>
              <a:t> </a:t>
            </a:r>
            <a:r>
              <a:rPr lang="en-US" sz="2800" b="1" dirty="0" err="1">
                <a:solidFill>
                  <a:srgbClr val="4BACC6">
                    <a:lumMod val="50000"/>
                  </a:srgbClr>
                </a:solidFill>
                <a:latin typeface="Calibri"/>
              </a:rPr>
              <a:t>economicus</a:t>
            </a:r>
            <a:r>
              <a:rPr lang="en-US" sz="2800" b="1" dirty="0">
                <a:solidFill>
                  <a:srgbClr val="4BACC6">
                    <a:lumMod val="50000"/>
                  </a:srgbClr>
                </a:solidFill>
                <a:latin typeface="Calibri"/>
              </a:rPr>
              <a:t> </a:t>
            </a:r>
            <a:r>
              <a:rPr lang="en-US" sz="2800" dirty="0">
                <a:solidFill>
                  <a:srgbClr val="4BACC6">
                    <a:lumMod val="50000"/>
                  </a:srgbClr>
                </a:solidFill>
                <a:latin typeface="Calibri"/>
              </a:rPr>
              <a:t>model. We do not know for sure how the narration influences </a:t>
            </a:r>
            <a:r>
              <a:rPr lang="pl-PL" sz="2800" dirty="0" err="1">
                <a:solidFill>
                  <a:srgbClr val="4BACC6">
                    <a:lumMod val="50000"/>
                  </a:srgbClr>
                </a:solidFill>
                <a:latin typeface="Calibri"/>
              </a:rPr>
              <a:t>economicst</a:t>
            </a:r>
            <a:r>
              <a:rPr lang="pl-PL" sz="2800" dirty="0">
                <a:solidFill>
                  <a:srgbClr val="4BACC6">
                    <a:lumMod val="50000"/>
                  </a:srgbClr>
                </a:solidFill>
                <a:latin typeface="Calibri"/>
              </a:rPr>
              <a:t> </a:t>
            </a:r>
            <a:r>
              <a:rPr lang="en-US" sz="2800" dirty="0" err="1">
                <a:solidFill>
                  <a:srgbClr val="4BACC6">
                    <a:lumMod val="50000"/>
                  </a:srgbClr>
                </a:solidFill>
                <a:latin typeface="Calibri"/>
              </a:rPr>
              <a:t>behaviour</a:t>
            </a:r>
            <a:r>
              <a:rPr lang="en-US" sz="2800" dirty="0">
                <a:solidFill>
                  <a:srgbClr val="4BACC6">
                    <a:lumMod val="50000"/>
                  </a:srgbClr>
                </a:solidFill>
                <a:latin typeface="Calibri"/>
              </a:rPr>
              <a:t>. There are many conflicting results of research which investigated the impact of economic education on student </a:t>
            </a:r>
            <a:r>
              <a:rPr lang="en-US" sz="2800" dirty="0" err="1">
                <a:solidFill>
                  <a:srgbClr val="4BACC6">
                    <a:lumMod val="50000"/>
                  </a:srgbClr>
                </a:solidFill>
                <a:latin typeface="Calibri"/>
              </a:rPr>
              <a:t>behaviour</a:t>
            </a:r>
            <a:r>
              <a:rPr lang="pl-PL" sz="2800" dirty="0">
                <a:solidFill>
                  <a:srgbClr val="4BACC6">
                    <a:lumMod val="50000"/>
                  </a:srgbClr>
                </a:solidFill>
                <a:latin typeface="Calibri"/>
              </a:rPr>
              <a:t>.</a:t>
            </a:r>
            <a:r>
              <a:rPr lang="en-US" sz="2800" dirty="0">
                <a:solidFill>
                  <a:srgbClr val="4BACC6">
                    <a:lumMod val="50000"/>
                  </a:srgbClr>
                </a:solidFill>
                <a:latin typeface="Calibri"/>
              </a:rPr>
              <a:t> But we can create own narration</a:t>
            </a:r>
            <a:r>
              <a:rPr lang="pl-PL" sz="2800" dirty="0">
                <a:solidFill>
                  <a:srgbClr val="4BACC6">
                    <a:lumMod val="50000"/>
                  </a:srgbClr>
                </a:solidFill>
                <a:latin typeface="Calibri"/>
              </a:rPr>
              <a:t>,</a:t>
            </a:r>
            <a:r>
              <a:rPr lang="en-US" sz="2800" dirty="0">
                <a:solidFill>
                  <a:srgbClr val="4BACC6">
                    <a:lumMod val="50000"/>
                  </a:srgbClr>
                </a:solidFill>
                <a:latin typeface="Calibri"/>
              </a:rPr>
              <a:t> which prevents the potential unwanted effects - such as the popularity of "Greed is OK" slogan. </a:t>
            </a:r>
          </a:p>
          <a:p>
            <a:pPr algn="just">
              <a:defRPr/>
            </a:pPr>
            <a:endParaRPr lang="en-US" sz="2800" dirty="0">
              <a:solidFill>
                <a:srgbClr val="4BACC6">
                  <a:lumMod val="50000"/>
                </a:srgbClr>
              </a:solidFill>
              <a:latin typeface="Calibri"/>
            </a:endParaRPr>
          </a:p>
          <a:p>
            <a:pPr algn="just">
              <a:defRPr/>
            </a:pPr>
            <a:r>
              <a:rPr lang="en-US" sz="2800" dirty="0">
                <a:solidFill>
                  <a:srgbClr val="4BACC6">
                    <a:lumMod val="50000"/>
                  </a:srgbClr>
                </a:solidFill>
                <a:latin typeface="Calibri"/>
              </a:rPr>
              <a:t>The solution how to create the storytelling is in the definition of </a:t>
            </a:r>
            <a:r>
              <a:rPr lang="pl-PL" sz="2800" b="1" dirty="0">
                <a:solidFill>
                  <a:srgbClr val="4BACC6">
                    <a:lumMod val="50000"/>
                  </a:srgbClr>
                </a:solidFill>
                <a:latin typeface="Calibri"/>
              </a:rPr>
              <a:t>H</a:t>
            </a:r>
            <a:r>
              <a:rPr lang="en-US" sz="2800" b="1" dirty="0" err="1">
                <a:solidFill>
                  <a:srgbClr val="4BACC6">
                    <a:lumMod val="50000"/>
                  </a:srgbClr>
                </a:solidFill>
                <a:latin typeface="Calibri"/>
              </a:rPr>
              <a:t>omo</a:t>
            </a:r>
            <a:r>
              <a:rPr lang="en-US" sz="2800" b="1" dirty="0">
                <a:solidFill>
                  <a:srgbClr val="4BACC6">
                    <a:lumMod val="50000"/>
                  </a:srgbClr>
                </a:solidFill>
                <a:latin typeface="Calibri"/>
              </a:rPr>
              <a:t> </a:t>
            </a:r>
            <a:r>
              <a:rPr lang="en-US" sz="2800" b="1" dirty="0" err="1">
                <a:solidFill>
                  <a:srgbClr val="4BACC6">
                    <a:lumMod val="50000"/>
                  </a:srgbClr>
                </a:solidFill>
                <a:latin typeface="Calibri"/>
              </a:rPr>
              <a:t>economicus</a:t>
            </a:r>
            <a:r>
              <a:rPr lang="en-US" sz="2800" dirty="0">
                <a:solidFill>
                  <a:srgbClr val="4BACC6">
                    <a:lumMod val="50000"/>
                  </a:srgbClr>
                </a:solidFill>
                <a:latin typeface="Calibri"/>
              </a:rPr>
              <a:t>. </a:t>
            </a:r>
            <a:endParaRPr lang="pl-PL" sz="2800" dirty="0">
              <a:solidFill>
                <a:srgbClr val="4BACC6">
                  <a:lumMod val="50000"/>
                </a:srgbClr>
              </a:solidFill>
              <a:latin typeface="Calibri"/>
            </a:endParaRPr>
          </a:p>
        </p:txBody>
      </p:sp>
      <p:sp>
        <p:nvSpPr>
          <p:cNvPr id="12" name="Tytuł 1"/>
          <p:cNvSpPr>
            <a:spLocks noGrp="1"/>
          </p:cNvSpPr>
          <p:nvPr>
            <p:ph type="title"/>
          </p:nvPr>
        </p:nvSpPr>
        <p:spPr>
          <a:xfrm>
            <a:off x="0" y="0"/>
            <a:ext cx="12192000" cy="1124744"/>
          </a:xfrm>
          <a:solidFill>
            <a:schemeClr val="accent5">
              <a:lumMod val="20000"/>
              <a:lumOff val="80000"/>
            </a:schemeClr>
          </a:solidFill>
        </p:spPr>
        <p:txBody>
          <a:bodyPr>
            <a:noAutofit/>
          </a:bodyPr>
          <a:lstStyle/>
          <a:p>
            <a:r>
              <a:rPr lang="pl-PL" b="1" dirty="0">
                <a:solidFill>
                  <a:schemeClr val="accent5">
                    <a:lumMod val="50000"/>
                  </a:schemeClr>
                </a:solidFill>
              </a:rPr>
              <a:t>T</a:t>
            </a:r>
            <a:r>
              <a:rPr lang="en-US" b="1" dirty="0">
                <a:solidFill>
                  <a:schemeClr val="accent5">
                    <a:lumMod val="50000"/>
                  </a:schemeClr>
                </a:solidFill>
              </a:rPr>
              <a:t>he </a:t>
            </a:r>
            <a:r>
              <a:rPr lang="en-US" b="1" dirty="0" err="1">
                <a:solidFill>
                  <a:schemeClr val="accent5">
                    <a:lumMod val="50000"/>
                  </a:schemeClr>
                </a:solidFill>
              </a:rPr>
              <a:t>st</a:t>
            </a:r>
            <a:r>
              <a:rPr lang="pl-PL" b="1" dirty="0">
                <a:solidFill>
                  <a:schemeClr val="accent5">
                    <a:lumMod val="50000"/>
                  </a:schemeClr>
                </a:solidFill>
              </a:rPr>
              <a:t>o</a:t>
            </a:r>
            <a:r>
              <a:rPr lang="en-US" b="1" dirty="0" err="1">
                <a:solidFill>
                  <a:schemeClr val="accent5">
                    <a:lumMod val="50000"/>
                  </a:schemeClr>
                </a:solidFill>
              </a:rPr>
              <a:t>rytelling</a:t>
            </a:r>
            <a:r>
              <a:rPr lang="en-US" b="1" dirty="0">
                <a:solidFill>
                  <a:schemeClr val="accent5">
                    <a:lumMod val="50000"/>
                  </a:schemeClr>
                </a:solidFill>
              </a:rPr>
              <a:t> </a:t>
            </a:r>
            <a:r>
              <a:rPr lang="pl-PL" b="1" dirty="0">
                <a:solidFill>
                  <a:schemeClr val="accent5">
                    <a:lumMod val="50000"/>
                  </a:schemeClr>
                </a:solidFill>
              </a:rPr>
              <a:t> </a:t>
            </a:r>
            <a:endParaRPr lang="en-GB" b="1" dirty="0">
              <a:solidFill>
                <a:schemeClr val="accent5">
                  <a:lumMod val="50000"/>
                </a:schemeClr>
              </a:solidFill>
            </a:endParaRPr>
          </a:p>
        </p:txBody>
      </p:sp>
    </p:spTree>
    <p:extLst>
      <p:ext uri="{BB962C8B-B14F-4D97-AF65-F5344CB8AC3E}">
        <p14:creationId xmlns:p14="http://schemas.microsoft.com/office/powerpoint/2010/main" val="2633483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2000" cy="1124744"/>
          </a:xfrm>
          <a:solidFill>
            <a:schemeClr val="accent5">
              <a:lumMod val="20000"/>
              <a:lumOff val="80000"/>
            </a:schemeClr>
          </a:solidFill>
        </p:spPr>
        <p:txBody>
          <a:bodyPr>
            <a:noAutofit/>
          </a:bodyPr>
          <a:lstStyle/>
          <a:p>
            <a:r>
              <a:rPr lang="pl-PL" b="1" dirty="0">
                <a:solidFill>
                  <a:schemeClr val="accent5">
                    <a:lumMod val="50000"/>
                  </a:schemeClr>
                </a:solidFill>
              </a:rPr>
              <a:t>The </a:t>
            </a:r>
            <a:r>
              <a:rPr lang="en-US" b="1" dirty="0" err="1">
                <a:solidFill>
                  <a:schemeClr val="accent5">
                    <a:lumMod val="50000"/>
                  </a:schemeClr>
                </a:solidFill>
              </a:rPr>
              <a:t>st</a:t>
            </a:r>
            <a:r>
              <a:rPr lang="pl-PL" b="1" dirty="0">
                <a:solidFill>
                  <a:schemeClr val="accent5">
                    <a:lumMod val="50000"/>
                  </a:schemeClr>
                </a:solidFill>
              </a:rPr>
              <a:t>o</a:t>
            </a:r>
            <a:r>
              <a:rPr lang="en-US" b="1" dirty="0" err="1">
                <a:solidFill>
                  <a:schemeClr val="accent5">
                    <a:lumMod val="50000"/>
                  </a:schemeClr>
                </a:solidFill>
              </a:rPr>
              <a:t>rytelling</a:t>
            </a:r>
            <a:r>
              <a:rPr lang="en-US" b="1" dirty="0">
                <a:solidFill>
                  <a:schemeClr val="accent5">
                    <a:lumMod val="50000"/>
                  </a:schemeClr>
                </a:solidFill>
              </a:rPr>
              <a:t> </a:t>
            </a:r>
            <a:r>
              <a:rPr lang="pl-PL" b="1" dirty="0">
                <a:solidFill>
                  <a:schemeClr val="accent5">
                    <a:lumMod val="50000"/>
                  </a:schemeClr>
                </a:solidFill>
              </a:rPr>
              <a:t> </a:t>
            </a:r>
            <a:endParaRPr lang="en-GB" b="1" dirty="0">
              <a:solidFill>
                <a:schemeClr val="accent5">
                  <a:lumMod val="50000"/>
                </a:schemeClr>
              </a:solidFill>
            </a:endParaRPr>
          </a:p>
        </p:txBody>
      </p:sp>
      <p:sp>
        <p:nvSpPr>
          <p:cNvPr id="4" name="pole tekstowe 3"/>
          <p:cNvSpPr txBox="1"/>
          <p:nvPr/>
        </p:nvSpPr>
        <p:spPr>
          <a:xfrm>
            <a:off x="606392" y="1268760"/>
            <a:ext cx="10085908" cy="1938992"/>
          </a:xfrm>
          <a:prstGeom prst="rect">
            <a:avLst/>
          </a:prstGeom>
          <a:noFill/>
        </p:spPr>
        <p:txBody>
          <a:bodyPr wrap="square">
            <a:spAutoFit/>
          </a:bodyPr>
          <a:lstStyle/>
          <a:p>
            <a:pPr algn="just">
              <a:defRPr/>
            </a:pPr>
            <a:r>
              <a:rPr lang="en-GB" sz="2400" b="1" dirty="0">
                <a:solidFill>
                  <a:srgbClr val="4BACC6">
                    <a:lumMod val="50000"/>
                  </a:srgbClr>
                </a:solidFill>
                <a:latin typeface="Calibri"/>
              </a:rPr>
              <a:t>Levitt and List (2008):</a:t>
            </a:r>
          </a:p>
          <a:p>
            <a:pPr algn="just">
              <a:defRPr/>
            </a:pPr>
            <a:r>
              <a:rPr lang="en-GB" sz="2400" b="1" i="1" dirty="0">
                <a:solidFill>
                  <a:srgbClr val="4BACC6">
                    <a:lumMod val="50000"/>
                  </a:srgbClr>
                </a:solidFill>
                <a:latin typeface="Calibri"/>
              </a:rPr>
              <a:t>...the discipline of economics is built on the shoulders of the mythical species Homo </a:t>
            </a:r>
            <a:r>
              <a:rPr lang="en-GB" sz="2400" b="1" i="1" dirty="0" err="1">
                <a:solidFill>
                  <a:srgbClr val="4BACC6">
                    <a:lumMod val="50000"/>
                  </a:srgbClr>
                </a:solidFill>
                <a:latin typeface="Calibri"/>
              </a:rPr>
              <a:t>economicus</a:t>
            </a:r>
            <a:r>
              <a:rPr lang="en-GB" sz="2400" b="1" i="1" dirty="0">
                <a:solidFill>
                  <a:srgbClr val="4BACC6">
                    <a:lumMod val="50000"/>
                  </a:srgbClr>
                </a:solidFill>
                <a:latin typeface="Calibri"/>
              </a:rPr>
              <a:t>. Unlike his uncle, Homo sapiens, H. </a:t>
            </a:r>
            <a:r>
              <a:rPr lang="en-GB" sz="2400" b="1" i="1" dirty="0" err="1">
                <a:solidFill>
                  <a:srgbClr val="4BACC6">
                    <a:lumMod val="50000"/>
                  </a:srgbClr>
                </a:solidFill>
                <a:latin typeface="Calibri"/>
              </a:rPr>
              <a:t>economicus</a:t>
            </a:r>
            <a:r>
              <a:rPr lang="en-GB" sz="2400" b="1" i="1" dirty="0">
                <a:solidFill>
                  <a:srgbClr val="4BACC6">
                    <a:lumMod val="50000"/>
                  </a:srgbClr>
                </a:solidFill>
                <a:latin typeface="Calibri"/>
              </a:rPr>
              <a:t> is unswervingly </a:t>
            </a:r>
            <a:r>
              <a:rPr lang="en-GB" sz="2400" b="1" i="1" dirty="0">
                <a:solidFill>
                  <a:srgbClr val="C00000"/>
                </a:solidFill>
                <a:latin typeface="Calibri"/>
              </a:rPr>
              <a:t>rational</a:t>
            </a:r>
            <a:r>
              <a:rPr lang="en-GB" sz="2400" b="1" i="1" dirty="0">
                <a:solidFill>
                  <a:srgbClr val="4BACC6">
                    <a:lumMod val="50000"/>
                  </a:srgbClr>
                </a:solidFill>
                <a:latin typeface="Calibri"/>
              </a:rPr>
              <a:t>, utterly</a:t>
            </a:r>
            <a:r>
              <a:rPr lang="en-GB" sz="2400" b="1" i="1" dirty="0">
                <a:solidFill>
                  <a:srgbClr val="00B050"/>
                </a:solidFill>
                <a:latin typeface="Calibri"/>
              </a:rPr>
              <a:t> selfish</a:t>
            </a:r>
            <a:r>
              <a:rPr lang="en-GB" sz="2400" b="1" i="1" dirty="0">
                <a:solidFill>
                  <a:srgbClr val="4BACC6">
                    <a:lumMod val="50000"/>
                  </a:srgbClr>
                </a:solidFill>
                <a:latin typeface="Calibri"/>
              </a:rPr>
              <a:t>, and can effortlessly solve even the most challenging optimization problems.</a:t>
            </a:r>
            <a:endParaRPr lang="pl-PL" sz="2400" b="1" i="1" dirty="0">
              <a:solidFill>
                <a:srgbClr val="4BACC6">
                  <a:lumMod val="50000"/>
                </a:srgbClr>
              </a:solidFill>
              <a:latin typeface="Calibri"/>
            </a:endParaRPr>
          </a:p>
        </p:txBody>
      </p:sp>
      <p:cxnSp>
        <p:nvCxnSpPr>
          <p:cNvPr id="5" name="Łącznik prosty ze strzałką 4"/>
          <p:cNvCxnSpPr>
            <a:endCxn id="6" idx="0"/>
          </p:cNvCxnSpPr>
          <p:nvPr/>
        </p:nvCxnSpPr>
        <p:spPr>
          <a:xfrm flipH="1">
            <a:off x="2136808" y="2774283"/>
            <a:ext cx="548642" cy="50938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 name="pole tekstowe 5"/>
          <p:cNvSpPr txBox="1"/>
          <p:nvPr/>
        </p:nvSpPr>
        <p:spPr>
          <a:xfrm>
            <a:off x="250256" y="3283665"/>
            <a:ext cx="3773103" cy="3108543"/>
          </a:xfrm>
          <a:prstGeom prst="rect">
            <a:avLst/>
          </a:prstGeom>
          <a:noFill/>
        </p:spPr>
        <p:txBody>
          <a:bodyPr wrap="square">
            <a:spAutoFit/>
          </a:bodyPr>
          <a:lstStyle/>
          <a:p>
            <a:pPr algn="just"/>
            <a:r>
              <a:rPr lang="en-US" sz="2800" dirty="0">
                <a:solidFill>
                  <a:srgbClr val="C00000"/>
                </a:solidFill>
                <a:latin typeface="Calibri"/>
              </a:rPr>
              <a:t>In the textbooks, rational </a:t>
            </a:r>
            <a:r>
              <a:rPr lang="en-US" sz="2800" dirty="0" err="1">
                <a:solidFill>
                  <a:srgbClr val="C00000"/>
                </a:solidFill>
                <a:latin typeface="Calibri"/>
              </a:rPr>
              <a:t>behaviour</a:t>
            </a:r>
            <a:r>
              <a:rPr lang="en-US" sz="2800" dirty="0">
                <a:solidFill>
                  <a:srgbClr val="C00000"/>
                </a:solidFill>
                <a:latin typeface="Calibri"/>
              </a:rPr>
              <a:t> is defined as consistent with the axioms of rational choice. </a:t>
            </a:r>
            <a:r>
              <a:rPr lang="en-US" sz="2800" b="1" dirty="0">
                <a:solidFill>
                  <a:srgbClr val="C00000"/>
                </a:solidFill>
                <a:latin typeface="Calibri"/>
              </a:rPr>
              <a:t>Rational preferences should be complete and transitive. </a:t>
            </a:r>
            <a:endParaRPr lang="pl-PL" sz="3600" b="1" i="1" dirty="0">
              <a:solidFill>
                <a:srgbClr val="C00000"/>
              </a:solidFill>
              <a:latin typeface="Calibri"/>
            </a:endParaRPr>
          </a:p>
        </p:txBody>
      </p:sp>
      <p:sp>
        <p:nvSpPr>
          <p:cNvPr id="7" name="pole tekstowe 6"/>
          <p:cNvSpPr txBox="1"/>
          <p:nvPr/>
        </p:nvSpPr>
        <p:spPr>
          <a:xfrm>
            <a:off x="4403303" y="3351768"/>
            <a:ext cx="7503147" cy="3046988"/>
          </a:xfrm>
          <a:prstGeom prst="rect">
            <a:avLst/>
          </a:prstGeom>
          <a:noFill/>
        </p:spPr>
        <p:txBody>
          <a:bodyPr wrap="square">
            <a:spAutoFit/>
          </a:bodyPr>
          <a:lstStyle/>
          <a:p>
            <a:pPr algn="just">
              <a:defRPr/>
            </a:pPr>
            <a:r>
              <a:rPr lang="pl-PL" sz="2400" b="1" i="1" dirty="0">
                <a:solidFill>
                  <a:srgbClr val="00B050"/>
                </a:solidFill>
              </a:rPr>
              <a:t>The e</a:t>
            </a:r>
            <a:r>
              <a:rPr lang="en-US" sz="2400" b="1" i="1" dirty="0" err="1">
                <a:solidFill>
                  <a:srgbClr val="00B050"/>
                </a:solidFill>
              </a:rPr>
              <a:t>conomic</a:t>
            </a:r>
            <a:r>
              <a:rPr lang="en-US" sz="2400" b="1" i="1" dirty="0">
                <a:solidFill>
                  <a:srgbClr val="00B050"/>
                </a:solidFill>
              </a:rPr>
              <a:t> agent</a:t>
            </a:r>
            <a:r>
              <a:rPr lang="pl-PL" sz="2400" b="1" i="1" dirty="0">
                <a:solidFill>
                  <a:srgbClr val="00B050"/>
                </a:solidFill>
              </a:rPr>
              <a:t> </a:t>
            </a:r>
            <a:r>
              <a:rPr lang="pl-PL" sz="2400" b="1" i="1" dirty="0" err="1">
                <a:solidFill>
                  <a:srgbClr val="00B050"/>
                </a:solidFill>
              </a:rPr>
              <a:t>is</a:t>
            </a:r>
            <a:r>
              <a:rPr lang="pl-PL" sz="2400" b="1" i="1" dirty="0">
                <a:solidFill>
                  <a:srgbClr val="00B050"/>
                </a:solidFill>
              </a:rPr>
              <a:t> </a:t>
            </a:r>
            <a:r>
              <a:rPr lang="en-US" sz="2400" b="1" i="1" dirty="0" err="1">
                <a:solidFill>
                  <a:srgbClr val="00B050"/>
                </a:solidFill>
              </a:rPr>
              <a:t>characterise</a:t>
            </a:r>
            <a:r>
              <a:rPr lang="pl-PL" sz="2400" b="1" i="1" dirty="0">
                <a:solidFill>
                  <a:srgbClr val="00B050"/>
                </a:solidFill>
              </a:rPr>
              <a:t>d by </a:t>
            </a:r>
            <a:r>
              <a:rPr lang="pl-PL" sz="2400" b="1" i="1" dirty="0">
                <a:solidFill>
                  <a:schemeClr val="accent3">
                    <a:lumMod val="50000"/>
                  </a:schemeClr>
                </a:solidFill>
              </a:rPr>
              <a:t>s</a:t>
            </a:r>
            <a:r>
              <a:rPr lang="en-US" sz="2400" b="1" i="1" dirty="0">
                <a:solidFill>
                  <a:schemeClr val="accent3">
                    <a:lumMod val="50000"/>
                  </a:schemeClr>
                </a:solidFill>
              </a:rPr>
              <a:t>elf-regarding preferences</a:t>
            </a:r>
            <a:r>
              <a:rPr lang="pl-PL" sz="2400" b="1" i="1" dirty="0">
                <a:solidFill>
                  <a:schemeClr val="accent3">
                    <a:lumMod val="50000"/>
                  </a:schemeClr>
                </a:solidFill>
              </a:rPr>
              <a:t>*</a:t>
            </a:r>
            <a:r>
              <a:rPr lang="en-US" sz="2400" b="1" i="1" dirty="0">
                <a:solidFill>
                  <a:srgbClr val="00B050"/>
                </a:solidFill>
              </a:rPr>
              <a:t> and thanks to this </a:t>
            </a:r>
            <a:r>
              <a:rPr lang="pl-PL" sz="2400" b="1" i="1" dirty="0" err="1">
                <a:solidFill>
                  <a:srgbClr val="00B050"/>
                </a:solidFill>
              </a:rPr>
              <a:t>her</a:t>
            </a:r>
            <a:r>
              <a:rPr lang="pl-PL" sz="2400" b="1" i="1" dirty="0">
                <a:solidFill>
                  <a:srgbClr val="00B050"/>
                </a:solidFill>
              </a:rPr>
              <a:t>/</a:t>
            </a:r>
            <a:r>
              <a:rPr lang="pl-PL" sz="2400" b="1" i="1" dirty="0" err="1">
                <a:solidFill>
                  <a:srgbClr val="00B050"/>
                </a:solidFill>
              </a:rPr>
              <a:t>his</a:t>
            </a:r>
            <a:r>
              <a:rPr lang="pl-PL" sz="2400" b="1" i="1" dirty="0">
                <a:solidFill>
                  <a:srgbClr val="00B050"/>
                </a:solidFill>
              </a:rPr>
              <a:t> </a:t>
            </a:r>
            <a:r>
              <a:rPr lang="en-US" sz="2400" b="1" i="1" dirty="0">
                <a:solidFill>
                  <a:srgbClr val="00B050"/>
                </a:solidFill>
              </a:rPr>
              <a:t>decision-making can be interpreted as the process of </a:t>
            </a:r>
            <a:r>
              <a:rPr lang="en-US" sz="2400" b="1" i="1" dirty="0" err="1">
                <a:solidFill>
                  <a:srgbClr val="00B050"/>
                </a:solidFill>
              </a:rPr>
              <a:t>maximising</a:t>
            </a:r>
            <a:r>
              <a:rPr lang="en-US" sz="2400" b="1" i="1" dirty="0">
                <a:solidFill>
                  <a:srgbClr val="00B050"/>
                </a:solidFill>
              </a:rPr>
              <a:t> their utility, independent from the others’ utility. For </a:t>
            </a:r>
            <a:r>
              <a:rPr lang="pl-PL" sz="2400" b="1" i="1" dirty="0">
                <a:solidFill>
                  <a:srgbClr val="00B050"/>
                </a:solidFill>
              </a:rPr>
              <a:t>H</a:t>
            </a:r>
            <a:r>
              <a:rPr lang="en-US" sz="2400" b="1" i="1" dirty="0" err="1">
                <a:solidFill>
                  <a:srgbClr val="00B050"/>
                </a:solidFill>
              </a:rPr>
              <a:t>omo</a:t>
            </a:r>
            <a:r>
              <a:rPr lang="en-US" sz="2400" b="1" i="1" dirty="0">
                <a:solidFill>
                  <a:srgbClr val="00B050"/>
                </a:solidFill>
              </a:rPr>
              <a:t> </a:t>
            </a:r>
            <a:r>
              <a:rPr lang="en-US" sz="2400" b="1" i="1" dirty="0" err="1">
                <a:solidFill>
                  <a:srgbClr val="00B050"/>
                </a:solidFill>
              </a:rPr>
              <a:t>economicus</a:t>
            </a:r>
            <a:r>
              <a:rPr lang="en-US" sz="2400" b="1" i="1" dirty="0">
                <a:solidFill>
                  <a:srgbClr val="00B050"/>
                </a:solidFill>
              </a:rPr>
              <a:t>, </a:t>
            </a:r>
            <a:r>
              <a:rPr lang="pl-PL" sz="2400" b="1" i="1" dirty="0">
                <a:solidFill>
                  <a:srgbClr val="00B050"/>
                </a:solidFill>
              </a:rPr>
              <a:t>a </a:t>
            </a:r>
            <a:r>
              <a:rPr lang="en-US" sz="2400" b="1" i="1" dirty="0">
                <a:solidFill>
                  <a:srgbClr val="00B050"/>
                </a:solidFill>
              </a:rPr>
              <a:t>good is everything</a:t>
            </a:r>
            <a:r>
              <a:rPr lang="pl-PL" sz="2400" b="1" i="1" dirty="0">
                <a:solidFill>
                  <a:srgbClr val="00B050"/>
                </a:solidFill>
              </a:rPr>
              <a:t> </a:t>
            </a:r>
            <a:r>
              <a:rPr lang="en-US" sz="2400" b="1" i="1" dirty="0">
                <a:solidFill>
                  <a:srgbClr val="00B050"/>
                </a:solidFill>
              </a:rPr>
              <a:t>he/she is willing to pay for: ice-cream, chocolate</a:t>
            </a:r>
            <a:r>
              <a:rPr lang="pl-PL" sz="2400" b="1" i="1" dirty="0">
                <a:solidFill>
                  <a:srgbClr val="00B050"/>
                </a:solidFill>
              </a:rPr>
              <a:t>, </a:t>
            </a:r>
            <a:r>
              <a:rPr lang="en-US" sz="2400" b="1" i="1" dirty="0">
                <a:solidFill>
                  <a:srgbClr val="00B050"/>
                </a:solidFill>
              </a:rPr>
              <a:t>as well as the drug, or the abstract good </a:t>
            </a:r>
            <a:r>
              <a:rPr lang="pl-PL" sz="2400" b="1" i="1" dirty="0">
                <a:solidFill>
                  <a:srgbClr val="00B050"/>
                </a:solidFill>
              </a:rPr>
              <a:t>- </a:t>
            </a:r>
            <a:r>
              <a:rPr lang="en-US" sz="2400" b="1" i="1" dirty="0">
                <a:solidFill>
                  <a:srgbClr val="00B050"/>
                </a:solidFill>
              </a:rPr>
              <a:t>such as altruism.</a:t>
            </a:r>
            <a:r>
              <a:rPr lang="pl-PL" sz="2400" b="1" i="1" dirty="0">
                <a:solidFill>
                  <a:srgbClr val="00B050"/>
                </a:solidFill>
              </a:rPr>
              <a:t> </a:t>
            </a:r>
            <a:r>
              <a:rPr lang="pl-PL" sz="2400" b="1" i="1" dirty="0">
                <a:solidFill>
                  <a:schemeClr val="accent3">
                    <a:lumMod val="50000"/>
                  </a:schemeClr>
                </a:solidFill>
              </a:rPr>
              <a:t>*we </a:t>
            </a:r>
            <a:r>
              <a:rPr lang="pl-PL" sz="2400" b="1" i="1" dirty="0" err="1">
                <a:solidFill>
                  <a:schemeClr val="accent3">
                    <a:lumMod val="50000"/>
                  </a:schemeClr>
                </a:solidFill>
              </a:rPr>
              <a:t>need</a:t>
            </a:r>
            <a:r>
              <a:rPr lang="pl-PL" sz="2400" b="1" i="1" dirty="0">
                <a:solidFill>
                  <a:schemeClr val="accent3">
                    <a:lumMod val="50000"/>
                  </a:schemeClr>
                </a:solidFill>
              </a:rPr>
              <a:t> </a:t>
            </a:r>
            <a:r>
              <a:rPr lang="pl-PL" sz="2400" b="1" i="1" dirty="0" err="1">
                <a:solidFill>
                  <a:schemeClr val="accent3">
                    <a:lumMod val="50000"/>
                  </a:schemeClr>
                </a:solidFill>
              </a:rPr>
              <a:t>it</a:t>
            </a:r>
            <a:r>
              <a:rPr lang="pl-PL" sz="2400" b="1" i="1" dirty="0">
                <a:solidFill>
                  <a:schemeClr val="accent3">
                    <a:lumMod val="50000"/>
                  </a:schemeClr>
                </a:solidFill>
              </a:rPr>
              <a:t> for GE model </a:t>
            </a:r>
          </a:p>
        </p:txBody>
      </p:sp>
      <p:cxnSp>
        <p:nvCxnSpPr>
          <p:cNvPr id="8" name="Łącznik prosty ze strzałką 7"/>
          <p:cNvCxnSpPr/>
          <p:nvPr/>
        </p:nvCxnSpPr>
        <p:spPr>
          <a:xfrm>
            <a:off x="5034013" y="2774283"/>
            <a:ext cx="3078211" cy="648072"/>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562832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ole tekstowe 10"/>
          <p:cNvSpPr txBox="1"/>
          <p:nvPr/>
        </p:nvSpPr>
        <p:spPr>
          <a:xfrm>
            <a:off x="125127" y="1124744"/>
            <a:ext cx="9394258" cy="5693866"/>
          </a:xfrm>
          <a:prstGeom prst="rect">
            <a:avLst/>
          </a:prstGeom>
          <a:noFill/>
        </p:spPr>
        <p:txBody>
          <a:bodyPr wrap="square">
            <a:spAutoFit/>
          </a:bodyPr>
          <a:lstStyle/>
          <a:p>
            <a:pPr algn="just">
              <a:defRPr/>
            </a:pPr>
            <a:r>
              <a:rPr lang="en-US" sz="2800" dirty="0">
                <a:solidFill>
                  <a:srgbClr val="4BACC6">
                    <a:lumMod val="50000"/>
                  </a:srgbClr>
                </a:solidFill>
              </a:rPr>
              <a:t>When we treat altruism as an economic good which we can put on consumer choice space then:</a:t>
            </a:r>
          </a:p>
          <a:p>
            <a:pPr marL="342900" indent="-342900" algn="just">
              <a:buFont typeface="Arial" panose="020B0604020202020204" pitchFamily="34" charset="0"/>
              <a:buChar char="•"/>
              <a:defRPr/>
            </a:pPr>
            <a:r>
              <a:rPr lang="en-US" sz="2800" b="1" dirty="0">
                <a:solidFill>
                  <a:srgbClr val="4BACC6">
                    <a:lumMod val="50000"/>
                  </a:srgbClr>
                </a:solidFill>
              </a:rPr>
              <a:t>Egoist Scrooge </a:t>
            </a:r>
            <a:r>
              <a:rPr lang="en-US" sz="2800" dirty="0">
                <a:solidFill>
                  <a:srgbClr val="4BACC6">
                    <a:lumMod val="50000"/>
                  </a:srgbClr>
                </a:solidFill>
              </a:rPr>
              <a:t>(before his transformation) can be described by the homo </a:t>
            </a:r>
            <a:r>
              <a:rPr lang="en-US" sz="2800" dirty="0" err="1">
                <a:solidFill>
                  <a:srgbClr val="4BACC6">
                    <a:lumMod val="50000"/>
                  </a:srgbClr>
                </a:solidFill>
              </a:rPr>
              <a:t>economicus</a:t>
            </a:r>
            <a:r>
              <a:rPr lang="en-US" sz="2800" dirty="0">
                <a:solidFill>
                  <a:srgbClr val="4BACC6">
                    <a:lumMod val="50000"/>
                  </a:srgbClr>
                </a:solidFill>
              </a:rPr>
              <a:t> model. </a:t>
            </a:r>
          </a:p>
          <a:p>
            <a:pPr marL="342900" indent="-342900" algn="just">
              <a:buFont typeface="Arial" panose="020B0604020202020204" pitchFamily="34" charset="0"/>
              <a:buChar char="•"/>
              <a:defRPr/>
            </a:pPr>
            <a:r>
              <a:rPr lang="en-US" sz="2800" b="1" dirty="0">
                <a:solidFill>
                  <a:srgbClr val="4BACC6">
                    <a:lumMod val="50000"/>
                  </a:srgbClr>
                </a:solidFill>
              </a:rPr>
              <a:t>Altruist Scrooge </a:t>
            </a:r>
            <a:r>
              <a:rPr lang="en-US" sz="2800" dirty="0">
                <a:solidFill>
                  <a:srgbClr val="4BACC6">
                    <a:lumMod val="50000"/>
                  </a:srgbClr>
                </a:solidFill>
              </a:rPr>
              <a:t>(after the transformation) can be described by the same model too. </a:t>
            </a:r>
            <a:endParaRPr lang="pl-PL" sz="2800" dirty="0">
              <a:solidFill>
                <a:srgbClr val="4BACC6">
                  <a:lumMod val="50000"/>
                </a:srgbClr>
              </a:solidFill>
            </a:endParaRPr>
          </a:p>
          <a:p>
            <a:pPr marL="342900" indent="-342900" algn="just">
              <a:buFont typeface="Arial" panose="020B0604020202020204" pitchFamily="34" charset="0"/>
              <a:buChar char="•"/>
              <a:defRPr/>
            </a:pPr>
            <a:r>
              <a:rPr lang="en-US" sz="2800" dirty="0">
                <a:solidFill>
                  <a:srgbClr val="4BACC6">
                    <a:lumMod val="50000"/>
                  </a:srgbClr>
                </a:solidFill>
              </a:rPr>
              <a:t>The whole life of Scrooge is not rational because his preferences are </a:t>
            </a:r>
            <a:r>
              <a:rPr lang="en-US" sz="2800" b="1" dirty="0">
                <a:solidFill>
                  <a:srgbClr val="4BACC6">
                    <a:lumMod val="50000"/>
                  </a:srgbClr>
                </a:solidFill>
              </a:rPr>
              <a:t>not consistent </a:t>
            </a:r>
            <a:r>
              <a:rPr lang="en-US" sz="2800" dirty="0">
                <a:solidFill>
                  <a:srgbClr val="4BACC6">
                    <a:lumMod val="50000"/>
                  </a:srgbClr>
                </a:solidFill>
              </a:rPr>
              <a:t>- before the transformation, he preferred egoistic </a:t>
            </a:r>
            <a:r>
              <a:rPr lang="en-US" sz="2800" dirty="0" err="1">
                <a:solidFill>
                  <a:srgbClr val="4BACC6">
                    <a:lumMod val="50000"/>
                  </a:srgbClr>
                </a:solidFill>
              </a:rPr>
              <a:t>behaviours</a:t>
            </a:r>
            <a:r>
              <a:rPr lang="en-US" sz="2800" dirty="0">
                <a:solidFill>
                  <a:srgbClr val="4BACC6">
                    <a:lumMod val="50000"/>
                  </a:srgbClr>
                </a:solidFill>
              </a:rPr>
              <a:t>, after he preferred altruistic.</a:t>
            </a:r>
            <a:endParaRPr lang="pl-PL" sz="2800" dirty="0">
              <a:solidFill>
                <a:srgbClr val="4BACC6">
                  <a:lumMod val="50000"/>
                </a:srgbClr>
              </a:solidFill>
            </a:endParaRPr>
          </a:p>
          <a:p>
            <a:pPr algn="just">
              <a:defRPr/>
            </a:pPr>
            <a:r>
              <a:rPr lang="en-US" sz="2800" dirty="0">
                <a:solidFill>
                  <a:srgbClr val="4BACC6">
                    <a:lumMod val="50000"/>
                  </a:srgbClr>
                </a:solidFill>
              </a:rPr>
              <a:t>In the second case, he can have complete and transitive preferences - he can maximize his utility by consuming altruism as</a:t>
            </a:r>
            <a:r>
              <a:rPr lang="pl-PL" sz="2800" dirty="0">
                <a:solidFill>
                  <a:srgbClr val="4BACC6">
                    <a:lumMod val="50000"/>
                  </a:srgbClr>
                </a:solidFill>
              </a:rPr>
              <a:t> </a:t>
            </a:r>
            <a:r>
              <a:rPr lang="pl-PL" sz="2800" dirty="0" err="1">
                <a:solidFill>
                  <a:srgbClr val="4BACC6">
                    <a:lumMod val="50000"/>
                  </a:srgbClr>
                </a:solidFill>
              </a:rPr>
              <a:t>an</a:t>
            </a:r>
            <a:r>
              <a:rPr lang="en-US" sz="2800" dirty="0">
                <a:solidFill>
                  <a:srgbClr val="4BACC6">
                    <a:lumMod val="50000"/>
                  </a:srgbClr>
                </a:solidFill>
              </a:rPr>
              <a:t> economic good but his transformation changed </a:t>
            </a:r>
            <a:r>
              <a:rPr lang="en-US" sz="2800" b="1" dirty="0">
                <a:solidFill>
                  <a:srgbClr val="4BACC6">
                    <a:lumMod val="50000"/>
                  </a:srgbClr>
                </a:solidFill>
              </a:rPr>
              <a:t>society welfare</a:t>
            </a:r>
            <a:r>
              <a:rPr lang="en-US" sz="2800" dirty="0">
                <a:solidFill>
                  <a:srgbClr val="4BACC6">
                    <a:lumMod val="50000"/>
                  </a:srgbClr>
                </a:solidFill>
              </a:rPr>
              <a:t>.</a:t>
            </a:r>
          </a:p>
        </p:txBody>
      </p:sp>
      <p:sp>
        <p:nvSpPr>
          <p:cNvPr id="12" name="Tytuł 1"/>
          <p:cNvSpPr>
            <a:spLocks noGrp="1"/>
          </p:cNvSpPr>
          <p:nvPr>
            <p:ph type="title"/>
          </p:nvPr>
        </p:nvSpPr>
        <p:spPr>
          <a:xfrm>
            <a:off x="0" y="0"/>
            <a:ext cx="12192000" cy="1124744"/>
          </a:xfrm>
          <a:solidFill>
            <a:schemeClr val="accent5">
              <a:lumMod val="20000"/>
              <a:lumOff val="80000"/>
            </a:schemeClr>
          </a:solidFill>
        </p:spPr>
        <p:txBody>
          <a:bodyPr>
            <a:noAutofit/>
          </a:bodyPr>
          <a:lstStyle/>
          <a:p>
            <a:r>
              <a:rPr lang="pl-PL" sz="3200" b="1" dirty="0">
                <a:solidFill>
                  <a:schemeClr val="accent5">
                    <a:lumMod val="50000"/>
                  </a:schemeClr>
                </a:solidFill>
              </a:rPr>
              <a:t>T</a:t>
            </a:r>
            <a:r>
              <a:rPr lang="en-US" sz="3200" b="1" dirty="0">
                <a:solidFill>
                  <a:schemeClr val="accent5">
                    <a:lumMod val="50000"/>
                  </a:schemeClr>
                </a:solidFill>
              </a:rPr>
              <a:t>he </a:t>
            </a:r>
            <a:r>
              <a:rPr lang="en-US" sz="3200" b="1" dirty="0" err="1">
                <a:solidFill>
                  <a:schemeClr val="accent5">
                    <a:lumMod val="50000"/>
                  </a:schemeClr>
                </a:solidFill>
              </a:rPr>
              <a:t>st</a:t>
            </a:r>
            <a:r>
              <a:rPr lang="pl-PL" sz="3200" b="1" dirty="0">
                <a:solidFill>
                  <a:schemeClr val="accent5">
                    <a:lumMod val="50000"/>
                  </a:schemeClr>
                </a:solidFill>
              </a:rPr>
              <a:t>o</a:t>
            </a:r>
            <a:r>
              <a:rPr lang="en-US" sz="3200" b="1" dirty="0" err="1">
                <a:solidFill>
                  <a:schemeClr val="accent5">
                    <a:lumMod val="50000"/>
                  </a:schemeClr>
                </a:solidFill>
              </a:rPr>
              <a:t>rytelling</a:t>
            </a:r>
            <a:r>
              <a:rPr lang="en-US" sz="3200" b="1" dirty="0">
                <a:solidFill>
                  <a:schemeClr val="accent5">
                    <a:lumMod val="50000"/>
                  </a:schemeClr>
                </a:solidFill>
              </a:rPr>
              <a:t> </a:t>
            </a:r>
            <a:r>
              <a:rPr lang="pl-PL" sz="3200" b="1" dirty="0">
                <a:solidFill>
                  <a:schemeClr val="accent5">
                    <a:lumMod val="50000"/>
                  </a:schemeClr>
                </a:solidFill>
              </a:rPr>
              <a:t> </a:t>
            </a:r>
            <a:endParaRPr lang="en-GB" sz="3200" b="1" dirty="0">
              <a:solidFill>
                <a:schemeClr val="accent5">
                  <a:lumMod val="50000"/>
                </a:schemeClr>
              </a:solidFill>
            </a:endParaRPr>
          </a:p>
        </p:txBody>
      </p:sp>
      <p:pic>
        <p:nvPicPr>
          <p:cNvPr id="4" name="Picture 5" descr="Znalezione obrazy dla zapytania scroo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78710" y="1124744"/>
            <a:ext cx="2150469" cy="25702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7" descr="Podobny obraz"/>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9646" y="3956485"/>
            <a:ext cx="2128595" cy="25240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493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3" name="Symbol zastępczy zawartości 2"/>
          <p:cNvSpPr>
            <a:spLocks noGrp="1"/>
          </p:cNvSpPr>
          <p:nvPr>
            <p:ph idx="1"/>
          </p:nvPr>
        </p:nvSpPr>
        <p:spPr>
          <a:xfrm>
            <a:off x="240631" y="1417378"/>
            <a:ext cx="11713946" cy="3809140"/>
          </a:xfrm>
        </p:spPr>
        <p:txBody>
          <a:bodyPr>
            <a:noAutofit/>
          </a:bodyPr>
          <a:lstStyle/>
          <a:p>
            <a:pPr marL="0" indent="0" algn="just">
              <a:buNone/>
            </a:pPr>
            <a:r>
              <a:rPr lang="en-US" dirty="0">
                <a:solidFill>
                  <a:schemeClr val="accent5">
                    <a:lumMod val="50000"/>
                  </a:schemeClr>
                </a:solidFill>
              </a:rPr>
              <a:t>This experiment seems to be a good introduction to the Ultimate Game at the experimental economics lecture. But the </a:t>
            </a:r>
            <a:r>
              <a:rPr lang="en-US" dirty="0" err="1">
                <a:solidFill>
                  <a:schemeClr val="accent5">
                    <a:lumMod val="50000"/>
                  </a:schemeClr>
                </a:solidFill>
              </a:rPr>
              <a:t>Andreoni</a:t>
            </a:r>
            <a:r>
              <a:rPr lang="pl-PL" dirty="0">
                <a:solidFill>
                  <a:schemeClr val="accent5">
                    <a:lumMod val="50000"/>
                  </a:schemeClr>
                </a:solidFill>
              </a:rPr>
              <a:t> </a:t>
            </a:r>
            <a:r>
              <a:rPr lang="en-US" dirty="0">
                <a:solidFill>
                  <a:schemeClr val="accent5">
                    <a:lumMod val="50000"/>
                  </a:schemeClr>
                </a:solidFill>
              </a:rPr>
              <a:t>&amp;</a:t>
            </a:r>
            <a:r>
              <a:rPr lang="pl-PL" dirty="0">
                <a:solidFill>
                  <a:schemeClr val="accent5">
                    <a:lumMod val="50000"/>
                  </a:schemeClr>
                </a:solidFill>
              </a:rPr>
              <a:t> </a:t>
            </a:r>
            <a:r>
              <a:rPr lang="en-US" dirty="0">
                <a:solidFill>
                  <a:schemeClr val="accent5">
                    <a:lumMod val="50000"/>
                  </a:schemeClr>
                </a:solidFill>
              </a:rPr>
              <a:t>Miller* approach gives us the opportunity to re-define choice space. </a:t>
            </a:r>
            <a:endParaRPr lang="pl-PL" dirty="0">
              <a:solidFill>
                <a:schemeClr val="accent5">
                  <a:lumMod val="50000"/>
                </a:schemeClr>
              </a:solidFill>
            </a:endParaRPr>
          </a:p>
          <a:p>
            <a:pPr marL="0" indent="0" algn="just">
              <a:buNone/>
            </a:pPr>
            <a:endParaRPr lang="en-US" dirty="0">
              <a:solidFill>
                <a:schemeClr val="accent5">
                  <a:lumMod val="50000"/>
                </a:schemeClr>
              </a:solidFill>
            </a:endParaRPr>
          </a:p>
          <a:p>
            <a:pPr marL="0" indent="0" algn="just">
              <a:buNone/>
            </a:pPr>
            <a:r>
              <a:rPr lang="en-US" dirty="0">
                <a:solidFill>
                  <a:schemeClr val="accent5">
                    <a:lumMod val="50000"/>
                  </a:schemeClr>
                </a:solidFill>
              </a:rPr>
              <a:t>First step: at the beginning forget of </a:t>
            </a:r>
            <a:r>
              <a:rPr lang="en-US" b="1" strike="sngStrike" dirty="0">
                <a:solidFill>
                  <a:schemeClr val="accent5">
                    <a:lumMod val="50000"/>
                  </a:schemeClr>
                </a:solidFill>
              </a:rPr>
              <a:t>game theory</a:t>
            </a:r>
            <a:r>
              <a:rPr lang="pl-PL" dirty="0">
                <a:solidFill>
                  <a:schemeClr val="accent5">
                    <a:lumMod val="50000"/>
                  </a:schemeClr>
                </a:solidFill>
              </a:rPr>
              <a:t> a</a:t>
            </a:r>
            <a:r>
              <a:rPr lang="en-US" dirty="0" err="1">
                <a:solidFill>
                  <a:schemeClr val="accent5">
                    <a:lumMod val="50000"/>
                  </a:schemeClr>
                </a:solidFill>
              </a:rPr>
              <a:t>nd</a:t>
            </a:r>
            <a:r>
              <a:rPr lang="en-US" dirty="0">
                <a:solidFill>
                  <a:schemeClr val="accent5">
                    <a:lumMod val="50000"/>
                  </a:schemeClr>
                </a:solidFill>
              </a:rPr>
              <a:t> treat the </a:t>
            </a:r>
            <a:r>
              <a:rPr lang="pl-PL" dirty="0" err="1">
                <a:solidFill>
                  <a:schemeClr val="accent5">
                    <a:lumMod val="50000"/>
                  </a:schemeClr>
                </a:solidFill>
              </a:rPr>
              <a:t>decisions</a:t>
            </a:r>
            <a:r>
              <a:rPr lang="en-US" dirty="0">
                <a:solidFill>
                  <a:schemeClr val="accent5">
                    <a:lumMod val="50000"/>
                  </a:schemeClr>
                </a:solidFill>
              </a:rPr>
              <a:t> as a simple consumer choice problem. </a:t>
            </a:r>
            <a:endParaRPr lang="pl-PL" dirty="0">
              <a:solidFill>
                <a:schemeClr val="accent5">
                  <a:lumMod val="50000"/>
                </a:schemeClr>
              </a:solidFill>
            </a:endParaRPr>
          </a:p>
        </p:txBody>
      </p:sp>
      <p:sp>
        <p:nvSpPr>
          <p:cNvPr id="17" name="Prostokąt 16"/>
          <p:cNvSpPr/>
          <p:nvPr/>
        </p:nvSpPr>
        <p:spPr>
          <a:xfrm>
            <a:off x="301591" y="5296356"/>
            <a:ext cx="11588817" cy="830997"/>
          </a:xfrm>
          <a:prstGeom prst="rect">
            <a:avLst/>
          </a:prstGeom>
        </p:spPr>
        <p:txBody>
          <a:bodyPr wrap="square">
            <a:spAutoFit/>
          </a:bodyPr>
          <a:lstStyle/>
          <a:p>
            <a:pPr algn="just"/>
            <a:r>
              <a:rPr lang="pl-PL" sz="2400" b="1" dirty="0">
                <a:solidFill>
                  <a:schemeClr val="accent5">
                    <a:lumMod val="50000"/>
                  </a:schemeClr>
                </a:solidFill>
                <a:latin typeface="Calibri"/>
              </a:rPr>
              <a:t>*</a:t>
            </a:r>
            <a:r>
              <a:rPr lang="en-US" sz="2400" b="1" dirty="0" err="1">
                <a:solidFill>
                  <a:schemeClr val="accent5">
                    <a:lumMod val="50000"/>
                  </a:schemeClr>
                </a:solidFill>
                <a:latin typeface="Calibri"/>
              </a:rPr>
              <a:t>Andreoni</a:t>
            </a:r>
            <a:r>
              <a:rPr lang="en-US" sz="2400" b="1" dirty="0">
                <a:solidFill>
                  <a:schemeClr val="accent5">
                    <a:lumMod val="50000"/>
                  </a:schemeClr>
                </a:solidFill>
                <a:latin typeface="Calibri"/>
              </a:rPr>
              <a:t>, J., &amp; Miller, J. (2002). Giving according to GARP: An experimental test of the consistency of preferences for altruism. </a:t>
            </a:r>
            <a:r>
              <a:rPr lang="en-US" sz="2400" b="1" i="1" dirty="0" err="1">
                <a:solidFill>
                  <a:schemeClr val="accent5">
                    <a:lumMod val="50000"/>
                  </a:schemeClr>
                </a:solidFill>
                <a:latin typeface="Calibri"/>
              </a:rPr>
              <a:t>Econometrica</a:t>
            </a:r>
            <a:r>
              <a:rPr lang="en-US" sz="2400" b="1" dirty="0">
                <a:solidFill>
                  <a:schemeClr val="accent5">
                    <a:lumMod val="50000"/>
                  </a:schemeClr>
                </a:solidFill>
                <a:latin typeface="Calibri"/>
              </a:rPr>
              <a:t>, </a:t>
            </a:r>
            <a:r>
              <a:rPr lang="en-US" sz="2400" b="1" i="1" dirty="0">
                <a:solidFill>
                  <a:schemeClr val="accent5">
                    <a:lumMod val="50000"/>
                  </a:schemeClr>
                </a:solidFill>
                <a:latin typeface="Calibri"/>
              </a:rPr>
              <a:t>70</a:t>
            </a:r>
            <a:r>
              <a:rPr lang="en-US" sz="2400" b="1" dirty="0">
                <a:solidFill>
                  <a:schemeClr val="accent5">
                    <a:lumMod val="50000"/>
                  </a:schemeClr>
                </a:solidFill>
                <a:latin typeface="Calibri"/>
              </a:rPr>
              <a:t>(2), 737-753.</a:t>
            </a:r>
            <a:endParaRPr lang="pl-PL" sz="2400" b="1" dirty="0">
              <a:solidFill>
                <a:schemeClr val="accent5">
                  <a:lumMod val="50000"/>
                </a:schemeClr>
              </a:solidFill>
              <a:latin typeface="Calibri"/>
            </a:endParaRPr>
          </a:p>
        </p:txBody>
      </p:sp>
    </p:spTree>
    <p:extLst>
      <p:ext uri="{BB962C8B-B14F-4D97-AF65-F5344CB8AC3E}">
        <p14:creationId xmlns:p14="http://schemas.microsoft.com/office/powerpoint/2010/main" val="2465946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3" name="Symbol zastępczy zawartości 2"/>
          <p:cNvSpPr>
            <a:spLocks noGrp="1"/>
          </p:cNvSpPr>
          <p:nvPr>
            <p:ph idx="1"/>
          </p:nvPr>
        </p:nvSpPr>
        <p:spPr>
          <a:xfrm>
            <a:off x="258278" y="1219545"/>
            <a:ext cx="11675444" cy="5277508"/>
          </a:xfrm>
        </p:spPr>
        <p:txBody>
          <a:bodyPr>
            <a:noAutofit/>
          </a:bodyPr>
          <a:lstStyle/>
          <a:p>
            <a:pPr marL="0" indent="0" algn="just">
              <a:buNone/>
            </a:pPr>
            <a:r>
              <a:rPr lang="pl-PL" sz="2800" b="1" dirty="0" err="1">
                <a:solidFill>
                  <a:schemeClr val="accent5">
                    <a:lumMod val="50000"/>
                  </a:schemeClr>
                </a:solidFill>
              </a:rPr>
              <a:t>Introducing</a:t>
            </a:r>
            <a:r>
              <a:rPr lang="pl-PL" sz="2800" b="1" dirty="0">
                <a:solidFill>
                  <a:schemeClr val="accent5">
                    <a:lumMod val="50000"/>
                  </a:schemeClr>
                </a:solidFill>
              </a:rPr>
              <a:t> </a:t>
            </a:r>
            <a:r>
              <a:rPr lang="pl-PL" sz="2800" b="1" dirty="0" err="1">
                <a:solidFill>
                  <a:schemeClr val="accent5">
                    <a:lumMod val="50000"/>
                  </a:schemeClr>
                </a:solidFill>
              </a:rPr>
              <a:t>untypical</a:t>
            </a:r>
            <a:r>
              <a:rPr lang="pl-PL" sz="2800" b="1" dirty="0">
                <a:solidFill>
                  <a:schemeClr val="accent5">
                    <a:lumMod val="50000"/>
                  </a:schemeClr>
                </a:solidFill>
              </a:rPr>
              <a:t> </a:t>
            </a:r>
            <a:r>
              <a:rPr lang="pl-PL" sz="2800" b="1" dirty="0" err="1">
                <a:solidFill>
                  <a:schemeClr val="accent5">
                    <a:lumMod val="50000"/>
                  </a:schemeClr>
                </a:solidFill>
              </a:rPr>
              <a:t>budget</a:t>
            </a:r>
            <a:r>
              <a:rPr lang="pl-PL" sz="2800" b="1" dirty="0">
                <a:solidFill>
                  <a:schemeClr val="accent5">
                    <a:lumMod val="50000"/>
                  </a:schemeClr>
                </a:solidFill>
              </a:rPr>
              <a:t> </a:t>
            </a:r>
            <a:r>
              <a:rPr lang="pl-PL" sz="2800" b="1" dirty="0" err="1">
                <a:solidFill>
                  <a:schemeClr val="accent5">
                    <a:lumMod val="50000"/>
                  </a:schemeClr>
                </a:solidFill>
              </a:rPr>
              <a:t>constraints</a:t>
            </a:r>
            <a:endParaRPr lang="pl-PL" sz="2800" b="1" dirty="0">
              <a:solidFill>
                <a:schemeClr val="accent5">
                  <a:lumMod val="50000"/>
                </a:schemeClr>
              </a:solidFill>
            </a:endParaRPr>
          </a:p>
          <a:p>
            <a:pPr marL="0" lvl="0" indent="0" algn="just">
              <a:buNone/>
            </a:pPr>
            <a:r>
              <a:rPr lang="en-US" sz="2800" dirty="0">
                <a:solidFill>
                  <a:schemeClr val="accent5">
                    <a:lumMod val="50000"/>
                  </a:schemeClr>
                </a:solidFill>
              </a:rPr>
              <a:t>Transforming the dilemmas presented in the experiment into the consumer’s choice problem can be a useful tool for</a:t>
            </a:r>
            <a:r>
              <a:rPr lang="pl-PL" sz="2800" dirty="0">
                <a:solidFill>
                  <a:schemeClr val="accent5">
                    <a:lumMod val="50000"/>
                  </a:schemeClr>
                </a:solidFill>
              </a:rPr>
              <a:t>: </a:t>
            </a:r>
          </a:p>
          <a:p>
            <a:pPr marL="0" lvl="0" indent="0" algn="just">
              <a:buNone/>
            </a:pPr>
            <a:r>
              <a:rPr lang="pl-PL" sz="2800" b="1" dirty="0" err="1">
                <a:solidFill>
                  <a:srgbClr val="4BACC6">
                    <a:lumMod val="50000"/>
                  </a:srgbClr>
                </a:solidFill>
              </a:rPr>
              <a:t>Create</a:t>
            </a:r>
            <a:r>
              <a:rPr lang="pl-PL" sz="2800" b="1" dirty="0">
                <a:solidFill>
                  <a:srgbClr val="4BACC6">
                    <a:lumMod val="50000"/>
                  </a:srgbClr>
                </a:solidFill>
              </a:rPr>
              <a:t> a</a:t>
            </a:r>
            <a:r>
              <a:rPr lang="en-US" sz="2800" b="1" dirty="0" err="1">
                <a:solidFill>
                  <a:srgbClr val="4BACC6">
                    <a:lumMod val="50000"/>
                  </a:srgbClr>
                </a:solidFill>
              </a:rPr>
              <a:t>bstract</a:t>
            </a:r>
            <a:r>
              <a:rPr lang="en-US" sz="2800" b="1" dirty="0">
                <a:solidFill>
                  <a:srgbClr val="4BACC6">
                    <a:lumMod val="50000"/>
                  </a:srgbClr>
                </a:solidFill>
              </a:rPr>
              <a:t> goods bundles</a:t>
            </a:r>
          </a:p>
          <a:p>
            <a:pPr marL="0" lvl="0" indent="0" algn="just">
              <a:buNone/>
            </a:pPr>
            <a:r>
              <a:rPr lang="en-US" sz="2800" dirty="0">
                <a:solidFill>
                  <a:srgbClr val="4BACC6">
                    <a:lumMod val="50000"/>
                  </a:srgbClr>
                </a:solidFill>
              </a:rPr>
              <a:t>In microeconomic textbooks, there are almost no problems related to choosing between </a:t>
            </a:r>
            <a:r>
              <a:rPr lang="en-US" sz="2800" b="1" dirty="0">
                <a:solidFill>
                  <a:srgbClr val="4BACC6">
                    <a:lumMod val="50000"/>
                  </a:srgbClr>
                </a:solidFill>
              </a:rPr>
              <a:t>abstract goods</a:t>
            </a:r>
            <a:r>
              <a:rPr lang="en-US" sz="2800" dirty="0">
                <a:solidFill>
                  <a:srgbClr val="4BACC6">
                    <a:lumMod val="50000"/>
                  </a:srgbClr>
                </a:solidFill>
              </a:rPr>
              <a:t>. Instead, “real life problems” (ice cream versus chocolate, apples versus bananas, etc.) appear quite often. </a:t>
            </a:r>
            <a:endParaRPr lang="pl-PL" sz="2800" dirty="0">
              <a:solidFill>
                <a:srgbClr val="4BACC6">
                  <a:lumMod val="50000"/>
                </a:srgbClr>
              </a:solidFill>
            </a:endParaRPr>
          </a:p>
          <a:p>
            <a:pPr marL="0" lvl="0" indent="0" algn="just">
              <a:buNone/>
            </a:pPr>
            <a:r>
              <a:rPr lang="pl-PL" sz="2800" b="1" dirty="0" err="1">
                <a:solidFill>
                  <a:srgbClr val="4BACC6">
                    <a:lumMod val="50000"/>
                  </a:srgbClr>
                </a:solidFill>
              </a:rPr>
              <a:t>Experience</a:t>
            </a:r>
            <a:r>
              <a:rPr lang="pl-PL" sz="2800" b="1" dirty="0">
                <a:solidFill>
                  <a:srgbClr val="4BACC6">
                    <a:lumMod val="50000"/>
                  </a:srgbClr>
                </a:solidFill>
              </a:rPr>
              <a:t> the </a:t>
            </a:r>
            <a:r>
              <a:rPr lang="pl-PL" sz="2800" b="1" dirty="0" err="1">
                <a:solidFill>
                  <a:srgbClr val="4BACC6">
                    <a:lumMod val="50000"/>
                  </a:srgbClr>
                </a:solidFill>
              </a:rPr>
              <a:t>consequences</a:t>
            </a:r>
            <a:r>
              <a:rPr lang="pl-PL" sz="2800" b="1" dirty="0">
                <a:solidFill>
                  <a:srgbClr val="4BACC6">
                    <a:lumMod val="50000"/>
                  </a:srgbClr>
                </a:solidFill>
              </a:rPr>
              <a:t> (real life problem)</a:t>
            </a:r>
          </a:p>
          <a:p>
            <a:pPr marL="0" lvl="0" indent="0" algn="just">
              <a:buNone/>
            </a:pPr>
            <a:r>
              <a:rPr lang="pl-PL" sz="2800" dirty="0" err="1">
                <a:solidFill>
                  <a:srgbClr val="4BACC6">
                    <a:lumMod val="50000"/>
                  </a:srgbClr>
                </a:solidFill>
              </a:rPr>
              <a:t>You</a:t>
            </a:r>
            <a:r>
              <a:rPr lang="en-US" sz="2800" dirty="0">
                <a:solidFill>
                  <a:srgbClr val="4BACC6">
                    <a:lumMod val="50000"/>
                  </a:srgbClr>
                </a:solidFill>
              </a:rPr>
              <a:t> experience the immediate consequences of </a:t>
            </a:r>
            <a:r>
              <a:rPr lang="pl-PL" sz="2800" dirty="0" err="1">
                <a:solidFill>
                  <a:srgbClr val="4BACC6">
                    <a:lumMod val="50000"/>
                  </a:srgbClr>
                </a:solidFill>
              </a:rPr>
              <a:t>your</a:t>
            </a:r>
            <a:r>
              <a:rPr lang="en-US" sz="2800" dirty="0">
                <a:solidFill>
                  <a:srgbClr val="4BACC6">
                    <a:lumMod val="50000"/>
                  </a:srgbClr>
                </a:solidFill>
              </a:rPr>
              <a:t>r decisions by combining the results of the experiment with the</a:t>
            </a:r>
            <a:r>
              <a:rPr lang="pl-PL" sz="2800" dirty="0">
                <a:solidFill>
                  <a:srgbClr val="4BACC6">
                    <a:lumMod val="50000"/>
                  </a:srgbClr>
                </a:solidFill>
              </a:rPr>
              <a:t> </a:t>
            </a:r>
            <a:r>
              <a:rPr lang="en-US" sz="2800" dirty="0">
                <a:solidFill>
                  <a:srgbClr val="4BACC6">
                    <a:lumMod val="50000"/>
                  </a:srgbClr>
                </a:solidFill>
              </a:rPr>
              <a:t>course score. It is a real-life dilemma related to the choice between abstract goods, such as altruism</a:t>
            </a:r>
            <a:r>
              <a:rPr lang="pl-PL" sz="2800" dirty="0">
                <a:solidFill>
                  <a:srgbClr val="4BACC6">
                    <a:lumMod val="50000"/>
                  </a:srgbClr>
                </a:solidFill>
              </a:rPr>
              <a:t>.</a:t>
            </a:r>
            <a:endParaRPr lang="en-US" sz="2800" dirty="0">
              <a:solidFill>
                <a:srgbClr val="4BACC6">
                  <a:lumMod val="50000"/>
                </a:srgbClr>
              </a:solidFill>
            </a:endParaRPr>
          </a:p>
          <a:p>
            <a:pPr marL="0" indent="0" algn="just">
              <a:buNone/>
            </a:pPr>
            <a:endParaRPr lang="pl-PL" sz="2800" dirty="0">
              <a:solidFill>
                <a:schemeClr val="accent5">
                  <a:lumMod val="50000"/>
                </a:schemeClr>
              </a:solidFill>
            </a:endParaRPr>
          </a:p>
          <a:p>
            <a:pPr marL="0" indent="0" algn="just">
              <a:buNone/>
            </a:pPr>
            <a:endParaRPr lang="pl-PL" sz="2800" dirty="0">
              <a:solidFill>
                <a:schemeClr val="accent5">
                  <a:lumMod val="50000"/>
                </a:schemeClr>
              </a:solidFill>
            </a:endParaRPr>
          </a:p>
          <a:p>
            <a:pPr marL="0" indent="0" algn="just">
              <a:buNone/>
            </a:pPr>
            <a:endParaRPr lang="pl-PL" sz="2800" dirty="0">
              <a:solidFill>
                <a:schemeClr val="accent5">
                  <a:lumMod val="50000"/>
                </a:schemeClr>
              </a:solidFill>
            </a:endParaRPr>
          </a:p>
          <a:p>
            <a:pPr marL="0" indent="0" algn="just">
              <a:buNone/>
            </a:pPr>
            <a:r>
              <a:rPr lang="pl-PL" sz="2800" dirty="0">
                <a:solidFill>
                  <a:schemeClr val="accent5">
                    <a:lumMod val="50000"/>
                  </a:schemeClr>
                </a:solidFill>
              </a:rPr>
              <a:t> </a:t>
            </a:r>
            <a:endParaRPr lang="en-US" sz="2800" dirty="0">
              <a:solidFill>
                <a:schemeClr val="accent5">
                  <a:lumMod val="50000"/>
                </a:schemeClr>
              </a:solidFill>
            </a:endParaRPr>
          </a:p>
        </p:txBody>
      </p:sp>
    </p:spTree>
    <p:extLst>
      <p:ext uri="{BB962C8B-B14F-4D97-AF65-F5344CB8AC3E}">
        <p14:creationId xmlns:p14="http://schemas.microsoft.com/office/powerpoint/2010/main" val="3229507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rostokąt 8"/>
          <p:cNvSpPr/>
          <p:nvPr/>
        </p:nvSpPr>
        <p:spPr>
          <a:xfrm>
            <a:off x="271112" y="1739657"/>
            <a:ext cx="11649776" cy="4893647"/>
          </a:xfrm>
          <a:prstGeom prst="rect">
            <a:avLst/>
          </a:prstGeom>
        </p:spPr>
        <p:txBody>
          <a:bodyPr wrap="square">
            <a:spAutoFit/>
          </a:bodyPr>
          <a:lstStyle/>
          <a:p>
            <a:pPr algn="just"/>
            <a:r>
              <a:rPr lang="en-US" sz="2400" dirty="0">
                <a:solidFill>
                  <a:srgbClr val="4BACC6">
                    <a:lumMod val="50000"/>
                  </a:srgbClr>
                </a:solidFill>
                <a:latin typeface="Calibri"/>
              </a:rPr>
              <a:t>Initial endowment M = 40 tokens. </a:t>
            </a:r>
            <a:r>
              <a:rPr lang="pl-PL" sz="2400" dirty="0">
                <a:solidFill>
                  <a:srgbClr val="4BACC6">
                    <a:lumMod val="50000"/>
                  </a:srgbClr>
                </a:solidFill>
                <a:latin typeface="Calibri"/>
              </a:rPr>
              <a:t>T</a:t>
            </a:r>
            <a:r>
              <a:rPr lang="en-US" sz="2400" dirty="0" err="1">
                <a:solidFill>
                  <a:srgbClr val="4BACC6">
                    <a:lumMod val="50000"/>
                  </a:srgbClr>
                </a:solidFill>
                <a:latin typeface="Calibri"/>
              </a:rPr>
              <a:t>oke</a:t>
            </a:r>
            <a:r>
              <a:rPr lang="pl-PL" sz="2400" dirty="0" err="1">
                <a:solidFill>
                  <a:srgbClr val="4BACC6">
                    <a:lumMod val="50000"/>
                  </a:srgbClr>
                </a:solidFill>
                <a:latin typeface="Calibri"/>
              </a:rPr>
              <a:t>ns</a:t>
            </a:r>
            <a:r>
              <a:rPr lang="pl-PL" sz="2400" dirty="0">
                <a:solidFill>
                  <a:srgbClr val="4BACC6">
                    <a:lumMod val="50000"/>
                  </a:srgbClr>
                </a:solidFill>
                <a:latin typeface="Calibri"/>
              </a:rPr>
              <a:t> </a:t>
            </a:r>
            <a:r>
              <a:rPr lang="pl-PL" sz="2400" dirty="0" err="1">
                <a:solidFill>
                  <a:srgbClr val="4BACC6">
                    <a:lumMod val="50000"/>
                  </a:srgbClr>
                </a:solidFill>
                <a:latin typeface="Calibri"/>
              </a:rPr>
              <a:t>can</a:t>
            </a:r>
            <a:r>
              <a:rPr lang="pl-PL" sz="2400" dirty="0">
                <a:solidFill>
                  <a:srgbClr val="4BACC6">
                    <a:lumMod val="50000"/>
                  </a:srgbClr>
                </a:solidFill>
                <a:latin typeface="Calibri"/>
              </a:rPr>
              <a:t> be </a:t>
            </a:r>
            <a:r>
              <a:rPr lang="pl-PL" sz="2400" dirty="0" err="1">
                <a:solidFill>
                  <a:srgbClr val="4BACC6">
                    <a:lumMod val="50000"/>
                  </a:srgbClr>
                </a:solidFill>
                <a:latin typeface="Calibri"/>
              </a:rPr>
              <a:t>any</a:t>
            </a:r>
            <a:r>
              <a:rPr lang="pl-PL" sz="2400" dirty="0">
                <a:solidFill>
                  <a:srgbClr val="4BACC6">
                    <a:lumMod val="50000"/>
                  </a:srgbClr>
                </a:solidFill>
                <a:latin typeface="Calibri"/>
              </a:rPr>
              <a:t> </a:t>
            </a:r>
            <a:r>
              <a:rPr lang="en-US" sz="2400" dirty="0">
                <a:solidFill>
                  <a:srgbClr val="4BACC6">
                    <a:lumMod val="50000"/>
                  </a:srgbClr>
                </a:solidFill>
                <a:latin typeface="Calibri"/>
              </a:rPr>
              <a:t>abstract</a:t>
            </a:r>
            <a:r>
              <a:rPr lang="pl-PL" sz="2400" dirty="0">
                <a:solidFill>
                  <a:srgbClr val="4BACC6">
                    <a:lumMod val="50000"/>
                  </a:srgbClr>
                </a:solidFill>
                <a:latin typeface="Calibri"/>
              </a:rPr>
              <a:t> </a:t>
            </a:r>
            <a:r>
              <a:rPr lang="en-US" sz="2400" dirty="0">
                <a:solidFill>
                  <a:srgbClr val="4BACC6">
                    <a:lumMod val="50000"/>
                  </a:srgbClr>
                </a:solidFill>
                <a:latin typeface="Calibri"/>
              </a:rPr>
              <a:t>resources</a:t>
            </a:r>
            <a:r>
              <a:rPr lang="pl-PL" sz="2400" dirty="0">
                <a:solidFill>
                  <a:srgbClr val="4BACC6">
                    <a:lumMod val="50000"/>
                  </a:srgbClr>
                </a:solidFill>
                <a:latin typeface="Calibri"/>
              </a:rPr>
              <a:t> </a:t>
            </a:r>
            <a:r>
              <a:rPr lang="pl-PL" sz="2400" dirty="0" err="1">
                <a:solidFill>
                  <a:srgbClr val="4BACC6">
                    <a:lumMod val="50000"/>
                  </a:srgbClr>
                </a:solidFill>
                <a:latin typeface="Calibri"/>
              </a:rPr>
              <a:t>such</a:t>
            </a:r>
            <a:r>
              <a:rPr lang="pl-PL" sz="2400" dirty="0">
                <a:solidFill>
                  <a:srgbClr val="4BACC6">
                    <a:lumMod val="50000"/>
                  </a:srgbClr>
                </a:solidFill>
                <a:latin typeface="Calibri"/>
              </a:rPr>
              <a:t> as </a:t>
            </a:r>
            <a:r>
              <a:rPr lang="en-US" sz="2400" dirty="0">
                <a:solidFill>
                  <a:srgbClr val="4BACC6">
                    <a:lumMod val="50000"/>
                  </a:srgbClr>
                </a:solidFill>
                <a:latin typeface="Calibri"/>
              </a:rPr>
              <a:t>time, skills</a:t>
            </a:r>
            <a:r>
              <a:rPr lang="pl-PL" sz="2400" dirty="0">
                <a:solidFill>
                  <a:srgbClr val="4BACC6">
                    <a:lumMod val="50000"/>
                  </a:srgbClr>
                </a:solidFill>
                <a:latin typeface="Calibri"/>
              </a:rPr>
              <a:t>. </a:t>
            </a:r>
            <a:r>
              <a:rPr lang="en-US" sz="2400" dirty="0">
                <a:solidFill>
                  <a:srgbClr val="4BACC6">
                    <a:lumMod val="50000"/>
                  </a:srgbClr>
                </a:solidFill>
                <a:latin typeface="Calibri"/>
              </a:rPr>
              <a:t>The value of this resource depends on who receives it.</a:t>
            </a:r>
            <a:endParaRPr lang="pl-PL" sz="2400" dirty="0">
              <a:solidFill>
                <a:srgbClr val="4BACC6">
                  <a:lumMod val="50000"/>
                </a:srgbClr>
              </a:solidFill>
              <a:latin typeface="Calibri"/>
            </a:endParaRPr>
          </a:p>
          <a:p>
            <a:pPr algn="just"/>
            <a:endParaRPr lang="en-US" sz="2400" dirty="0">
              <a:solidFill>
                <a:srgbClr val="4BACC6">
                  <a:lumMod val="50000"/>
                </a:srgbClr>
              </a:solidFill>
              <a:latin typeface="Calibri"/>
            </a:endParaRPr>
          </a:p>
          <a:p>
            <a:pPr marL="342900" indent="-342900" algn="just">
              <a:buFont typeface="Arial" panose="020B0604020202020204" pitchFamily="34" charset="0"/>
              <a:buChar char="•"/>
            </a:pPr>
            <a:r>
              <a:rPr lang="en-US" sz="2400" dirty="0">
                <a:solidFill>
                  <a:srgbClr val="4BACC6">
                    <a:lumMod val="50000"/>
                  </a:srgbClr>
                </a:solidFill>
                <a:latin typeface="Calibri"/>
              </a:rPr>
              <a:t>  </a:t>
            </a:r>
            <a:r>
              <a:rPr lang="en-US" sz="2400" dirty="0" err="1">
                <a:solidFill>
                  <a:srgbClr val="4BACC6">
                    <a:lumMod val="50000"/>
                  </a:srgbClr>
                </a:solidFill>
                <a:latin typeface="Calibri"/>
              </a:rPr>
              <a:t>v</a:t>
            </a:r>
            <a:r>
              <a:rPr lang="en-US" sz="2400" baseline="-25000" dirty="0" err="1">
                <a:solidFill>
                  <a:srgbClr val="4BACC6">
                    <a:lumMod val="50000"/>
                  </a:srgbClr>
                </a:solidFill>
                <a:latin typeface="Calibri"/>
              </a:rPr>
              <a:t>S</a:t>
            </a:r>
            <a:r>
              <a:rPr lang="en-US" sz="2400" dirty="0">
                <a:solidFill>
                  <a:srgbClr val="4BACC6">
                    <a:lumMod val="50000"/>
                  </a:srgbClr>
                </a:solidFill>
                <a:latin typeface="Calibri"/>
              </a:rPr>
              <a:t> = 1 value of the unit "</a:t>
            </a:r>
            <a:r>
              <a:rPr lang="en-US" sz="2400" b="1" dirty="0">
                <a:solidFill>
                  <a:srgbClr val="4BACC6">
                    <a:lumMod val="50000"/>
                  </a:srgbClr>
                </a:solidFill>
                <a:latin typeface="Calibri"/>
              </a:rPr>
              <a:t>Payment to self</a:t>
            </a:r>
            <a:r>
              <a:rPr lang="en-US" sz="2400" dirty="0">
                <a:solidFill>
                  <a:srgbClr val="4BACC6">
                    <a:lumMod val="50000"/>
                  </a:srgbClr>
                </a:solidFill>
                <a:latin typeface="Calibri"/>
              </a:rPr>
              <a:t>" (how much is the token worth if I leave it to myself)</a:t>
            </a:r>
          </a:p>
          <a:p>
            <a:pPr marL="342900" indent="-342900" algn="just">
              <a:buFont typeface="Arial" panose="020B0604020202020204" pitchFamily="34" charset="0"/>
              <a:buChar char="•"/>
            </a:pPr>
            <a:r>
              <a:rPr lang="en-US" sz="2400" dirty="0">
                <a:solidFill>
                  <a:srgbClr val="4BACC6">
                    <a:lumMod val="50000"/>
                  </a:srgbClr>
                </a:solidFill>
                <a:latin typeface="Calibri"/>
              </a:rPr>
              <a:t>  </a:t>
            </a:r>
            <a:r>
              <a:rPr lang="en-US" sz="2400" dirty="0" err="1">
                <a:solidFill>
                  <a:srgbClr val="4BACC6">
                    <a:lumMod val="50000"/>
                  </a:srgbClr>
                </a:solidFill>
                <a:latin typeface="Calibri"/>
              </a:rPr>
              <a:t>v</a:t>
            </a:r>
            <a:r>
              <a:rPr lang="en-US" sz="2400" baseline="-25000" dirty="0" err="1">
                <a:solidFill>
                  <a:srgbClr val="4BACC6">
                    <a:lumMod val="50000"/>
                  </a:srgbClr>
                </a:solidFill>
                <a:latin typeface="Calibri"/>
              </a:rPr>
              <a:t>O</a:t>
            </a:r>
            <a:r>
              <a:rPr lang="en-US" sz="2400" dirty="0">
                <a:solidFill>
                  <a:srgbClr val="4BACC6">
                    <a:lumMod val="50000"/>
                  </a:srgbClr>
                </a:solidFill>
                <a:latin typeface="Calibri"/>
              </a:rPr>
              <a:t> = 3 value of the unit </a:t>
            </a:r>
            <a:r>
              <a:rPr lang="en-US" sz="2400" b="1" dirty="0">
                <a:solidFill>
                  <a:srgbClr val="4BACC6">
                    <a:lumMod val="50000"/>
                  </a:srgbClr>
                </a:solidFill>
                <a:latin typeface="Calibri"/>
              </a:rPr>
              <a:t>'Payment to other</a:t>
            </a:r>
            <a:r>
              <a:rPr lang="en-US" sz="2400" dirty="0">
                <a:solidFill>
                  <a:srgbClr val="4BACC6">
                    <a:lumMod val="50000"/>
                  </a:srgbClr>
                </a:solidFill>
                <a:latin typeface="Calibri"/>
              </a:rPr>
              <a:t>' (how much is the token worth when it passes to another)</a:t>
            </a:r>
            <a:endParaRPr lang="pl-PL" sz="2400" dirty="0">
              <a:solidFill>
                <a:srgbClr val="4BACC6">
                  <a:lumMod val="50000"/>
                </a:srgbClr>
              </a:solidFill>
              <a:latin typeface="Calibri"/>
            </a:endParaRPr>
          </a:p>
          <a:p>
            <a:pPr algn="just"/>
            <a:endParaRPr lang="pl-PL" sz="2400" dirty="0">
              <a:solidFill>
                <a:srgbClr val="4BACC6">
                  <a:lumMod val="50000"/>
                </a:srgbClr>
              </a:solidFill>
              <a:latin typeface="Calibri"/>
            </a:endParaRPr>
          </a:p>
          <a:p>
            <a:pPr algn="just"/>
            <a:r>
              <a:rPr lang="en-US" sz="2400" dirty="0">
                <a:solidFill>
                  <a:srgbClr val="4BACC6">
                    <a:lumMod val="50000"/>
                  </a:srgbClr>
                </a:solidFill>
                <a:latin typeface="Calibri"/>
              </a:rPr>
              <a:t>Reference to reality:</a:t>
            </a:r>
          </a:p>
          <a:p>
            <a:pPr algn="just"/>
            <a:r>
              <a:rPr lang="en-US" sz="2400" dirty="0">
                <a:solidFill>
                  <a:srgbClr val="4BACC6">
                    <a:lumMod val="50000"/>
                  </a:srgbClr>
                </a:solidFill>
                <a:latin typeface="Calibri"/>
              </a:rPr>
              <a:t>I devote my time to a colleague. I am preparing </a:t>
            </a:r>
            <a:r>
              <a:rPr lang="pl-PL" sz="2400" dirty="0" err="1">
                <a:solidFill>
                  <a:srgbClr val="4BACC6">
                    <a:lumMod val="50000"/>
                  </a:srgbClr>
                </a:solidFill>
              </a:rPr>
              <a:t>her</a:t>
            </a:r>
            <a:r>
              <a:rPr lang="pl-PL" sz="2400" dirty="0">
                <a:solidFill>
                  <a:srgbClr val="4BACC6">
                    <a:lumMod val="50000"/>
                  </a:srgbClr>
                </a:solidFill>
              </a:rPr>
              <a:t>/</a:t>
            </a:r>
            <a:r>
              <a:rPr lang="pl-PL" sz="2400" dirty="0" err="1">
                <a:solidFill>
                  <a:srgbClr val="4BACC6">
                    <a:lumMod val="50000"/>
                  </a:srgbClr>
                </a:solidFill>
              </a:rPr>
              <a:t>him</a:t>
            </a:r>
            <a:r>
              <a:rPr lang="en-US" sz="2400" dirty="0">
                <a:solidFill>
                  <a:srgbClr val="4BACC6">
                    <a:lumMod val="50000"/>
                  </a:srgbClr>
                </a:solidFill>
                <a:latin typeface="Calibri"/>
              </a:rPr>
              <a:t> for the exam. I have mastered the material better and for me, 1 hour's work is worth 3 hours of work for that person. By donating 1 hour of my time I save 3 hours for another person. Value of time can be estimated and convert to $.</a:t>
            </a:r>
            <a:endParaRPr lang="pl-PL" sz="2400" dirty="0">
              <a:solidFill>
                <a:srgbClr val="4BACC6">
                  <a:lumMod val="50000"/>
                </a:srgbClr>
              </a:solidFill>
              <a:latin typeface="Calibri"/>
            </a:endParaRPr>
          </a:p>
        </p:txBody>
      </p:sp>
      <p:sp>
        <p:nvSpPr>
          <p:cNvPr id="10" name="Prostokąt 9"/>
          <p:cNvSpPr/>
          <p:nvPr/>
        </p:nvSpPr>
        <p:spPr>
          <a:xfrm>
            <a:off x="324050" y="1188868"/>
            <a:ext cx="11867950" cy="461665"/>
          </a:xfrm>
          <a:prstGeom prst="rect">
            <a:avLst/>
          </a:prstGeom>
        </p:spPr>
        <p:txBody>
          <a:bodyPr wrap="square">
            <a:spAutoFit/>
          </a:bodyPr>
          <a:lstStyle/>
          <a:p>
            <a:pPr algn="just" fontAlgn="base">
              <a:spcBef>
                <a:spcPct val="0"/>
              </a:spcBef>
              <a:spcAft>
                <a:spcPct val="0"/>
              </a:spcAft>
            </a:pPr>
            <a:r>
              <a:rPr lang="en-GB" sz="2400" b="1" i="1" dirty="0">
                <a:solidFill>
                  <a:srgbClr val="4BACC6">
                    <a:lumMod val="50000"/>
                  </a:srgbClr>
                </a:solidFill>
                <a:latin typeface="Arial" pitchFamily="34" charset="0"/>
                <a:ea typeface="Times New Roman" pitchFamily="18" charset="0"/>
                <a:cs typeface="Times New Roman" pitchFamily="18" charset="0"/>
              </a:rPr>
              <a:t>Divide 40 tokens: Hold X at 1</a:t>
            </a:r>
            <a:r>
              <a:rPr lang="pl-PL" sz="2400" b="1" i="1" dirty="0">
                <a:solidFill>
                  <a:srgbClr val="4BACC6">
                    <a:lumMod val="50000"/>
                  </a:srgbClr>
                </a:solidFill>
                <a:latin typeface="Arial" pitchFamily="34" charset="0"/>
                <a:ea typeface="Times New Roman" pitchFamily="18" charset="0"/>
                <a:cs typeface="Times New Roman" pitchFamily="18" charset="0"/>
              </a:rPr>
              <a:t>$ </a:t>
            </a:r>
            <a:r>
              <a:rPr lang="en-GB" sz="2400" b="1" i="1" dirty="0">
                <a:solidFill>
                  <a:srgbClr val="4BACC6">
                    <a:lumMod val="50000"/>
                  </a:srgbClr>
                </a:solidFill>
                <a:latin typeface="Arial" pitchFamily="34" charset="0"/>
                <a:ea typeface="Times New Roman" pitchFamily="18" charset="0"/>
                <a:cs typeface="Times New Roman" pitchFamily="18" charset="0"/>
              </a:rPr>
              <a:t>each, and Pass the rest of tokens at 3$ each</a:t>
            </a:r>
            <a:endParaRPr lang="pl-PL" sz="2400" b="1" i="1" dirty="0">
              <a:solidFill>
                <a:srgbClr val="4BACC6">
                  <a:lumMod val="50000"/>
                </a:srgbClr>
              </a:solidFill>
              <a:latin typeface="Arial" pitchFamily="34" charset="0"/>
              <a:ea typeface="Times New Roman" pitchFamily="18" charset="0"/>
              <a:cs typeface="Times New Roman" pitchFamily="18" charset="0"/>
            </a:endParaRPr>
          </a:p>
        </p:txBody>
      </p:sp>
      <p:sp>
        <p:nvSpPr>
          <p:cNvPr id="5"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Tree>
    <p:extLst>
      <p:ext uri="{BB962C8B-B14F-4D97-AF65-F5344CB8AC3E}">
        <p14:creationId xmlns:p14="http://schemas.microsoft.com/office/powerpoint/2010/main" val="1491310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rostokąt 8"/>
          <p:cNvSpPr/>
          <p:nvPr/>
        </p:nvSpPr>
        <p:spPr>
          <a:xfrm>
            <a:off x="271112" y="1650533"/>
            <a:ext cx="11649776" cy="5262979"/>
          </a:xfrm>
          <a:prstGeom prst="rect">
            <a:avLst/>
          </a:prstGeom>
        </p:spPr>
        <p:txBody>
          <a:bodyPr wrap="square">
            <a:spAutoFit/>
          </a:bodyPr>
          <a:lstStyle/>
          <a:p>
            <a:pPr lvl="0" algn="just"/>
            <a:r>
              <a:rPr lang="en-US" sz="2400" dirty="0">
                <a:solidFill>
                  <a:srgbClr val="4BACC6">
                    <a:lumMod val="50000"/>
                  </a:srgbClr>
                </a:solidFill>
              </a:rPr>
              <a:t>Initial endowment   M = 40 tokens </a:t>
            </a:r>
            <a:r>
              <a:rPr lang="pl-PL" sz="2400" dirty="0">
                <a:solidFill>
                  <a:srgbClr val="4BACC6">
                    <a:lumMod val="50000"/>
                  </a:srgbClr>
                </a:solidFill>
                <a:sym typeface="Wingdings" panose="05000000000000000000" pitchFamily="2" charset="2"/>
              </a:rPr>
              <a:t> </a:t>
            </a:r>
            <a:r>
              <a:rPr lang="en-US" sz="2400" dirty="0">
                <a:solidFill>
                  <a:srgbClr val="4BACC6">
                    <a:lumMod val="50000"/>
                  </a:srgbClr>
                </a:solidFill>
              </a:rPr>
              <a:t>The relative price of one token for the player (</a:t>
            </a:r>
            <a:r>
              <a:rPr lang="en-US" sz="2400" dirty="0" err="1">
                <a:solidFill>
                  <a:srgbClr val="4BACC6">
                    <a:lumMod val="50000"/>
                  </a:srgbClr>
                </a:solidFill>
              </a:rPr>
              <a:t>ps</a:t>
            </a:r>
            <a:r>
              <a:rPr lang="en-US" sz="2400" dirty="0">
                <a:solidFill>
                  <a:srgbClr val="4BACC6">
                    <a:lumMod val="50000"/>
                  </a:srgbClr>
                </a:solidFill>
              </a:rPr>
              <a:t>) and opponent (</a:t>
            </a:r>
            <a:r>
              <a:rPr lang="en-US" sz="2400" dirty="0" err="1">
                <a:solidFill>
                  <a:srgbClr val="4BACC6">
                    <a:lumMod val="50000"/>
                  </a:srgbClr>
                </a:solidFill>
              </a:rPr>
              <a:t>po</a:t>
            </a:r>
            <a:r>
              <a:rPr lang="en-US" sz="2400" dirty="0">
                <a:solidFill>
                  <a:srgbClr val="4BACC6">
                    <a:lumMod val="50000"/>
                  </a:srgbClr>
                </a:solidFill>
              </a:rPr>
              <a:t>) is defined by the pass and hold values (1, 3) </a:t>
            </a:r>
          </a:p>
          <a:p>
            <a:pPr lvl="0" algn="just"/>
            <a:endParaRPr lang="pl-PL" sz="2400" i="1" dirty="0">
              <a:solidFill>
                <a:srgbClr val="4BACC6">
                  <a:lumMod val="50000"/>
                </a:srgbClr>
              </a:solidFill>
            </a:endParaRPr>
          </a:p>
          <a:p>
            <a:pPr lvl="0" algn="just"/>
            <a:r>
              <a:rPr lang="en-GB" sz="2400" i="1" dirty="0">
                <a:solidFill>
                  <a:srgbClr val="4BACC6">
                    <a:lumMod val="50000"/>
                  </a:srgbClr>
                </a:solidFill>
              </a:rPr>
              <a:t>Consider budget 1.</a:t>
            </a:r>
            <a:r>
              <a:rPr lang="pl-PL" sz="2400" i="1" dirty="0">
                <a:solidFill>
                  <a:srgbClr val="4BACC6">
                    <a:lumMod val="50000"/>
                  </a:srgbClr>
                </a:solidFill>
              </a:rPr>
              <a:t> </a:t>
            </a:r>
            <a:r>
              <a:rPr lang="en-GB" sz="2400" i="1" dirty="0">
                <a:solidFill>
                  <a:srgbClr val="4BACC6">
                    <a:lumMod val="50000"/>
                  </a:srgbClr>
                </a:solidFill>
              </a:rPr>
              <a:t>Here transferring one token raises the other subject’s payoff by 1 point, and reduces one’s</a:t>
            </a:r>
            <a:r>
              <a:rPr lang="pl-PL" sz="2400" i="1" dirty="0">
                <a:solidFill>
                  <a:srgbClr val="4BACC6">
                    <a:lumMod val="50000"/>
                  </a:srgbClr>
                </a:solidFill>
              </a:rPr>
              <a:t> </a:t>
            </a:r>
            <a:r>
              <a:rPr lang="en-GB" sz="2400" i="1" dirty="0">
                <a:solidFill>
                  <a:srgbClr val="4BACC6">
                    <a:lumMod val="50000"/>
                  </a:srgbClr>
                </a:solidFill>
              </a:rPr>
              <a:t>own payoff by 3, implying that the price of the opponent’s payoff is 1 and the price of</a:t>
            </a:r>
            <a:r>
              <a:rPr lang="pl-PL" sz="2400" i="1" dirty="0">
                <a:solidFill>
                  <a:srgbClr val="4BACC6">
                    <a:lumMod val="50000"/>
                  </a:srgbClr>
                </a:solidFill>
              </a:rPr>
              <a:t> </a:t>
            </a:r>
            <a:r>
              <a:rPr lang="en-GB" sz="2400" i="1" dirty="0">
                <a:solidFill>
                  <a:srgbClr val="4BACC6">
                    <a:lumMod val="50000"/>
                  </a:srgbClr>
                </a:solidFill>
              </a:rPr>
              <a:t>self-payoff is 0.33. Hence, the token endowment is an income variable, the inverse of the</a:t>
            </a:r>
            <a:r>
              <a:rPr lang="pl-PL" sz="2400" i="1" dirty="0">
                <a:solidFill>
                  <a:srgbClr val="4BACC6">
                    <a:lumMod val="50000"/>
                  </a:srgbClr>
                </a:solidFill>
              </a:rPr>
              <a:t> </a:t>
            </a:r>
            <a:r>
              <a:rPr lang="en-GB" sz="2400" i="1" dirty="0">
                <a:solidFill>
                  <a:srgbClr val="4BACC6">
                    <a:lumMod val="50000"/>
                  </a:srgbClr>
                </a:solidFill>
              </a:rPr>
              <a:t>hold value is the price of self-payoff </a:t>
            </a:r>
            <a:r>
              <a:rPr lang="pl-PL" sz="2400" i="1" dirty="0">
                <a:solidFill>
                  <a:srgbClr val="4BACC6">
                    <a:lumMod val="50000"/>
                  </a:srgbClr>
                </a:solidFill>
              </a:rPr>
              <a:t>(</a:t>
            </a:r>
            <a:r>
              <a:rPr lang="en-GB" sz="2400" i="1" dirty="0">
                <a:solidFill>
                  <a:srgbClr val="4BACC6">
                    <a:lumMod val="50000"/>
                  </a:srgbClr>
                </a:solidFill>
              </a:rPr>
              <a:t> </a:t>
            </a:r>
            <a:r>
              <a:rPr lang="pl-PL" sz="2400" i="1" dirty="0">
                <a:solidFill>
                  <a:srgbClr val="4BACC6">
                    <a:lumMod val="50000"/>
                  </a:srgbClr>
                </a:solidFill>
              </a:rPr>
              <a:t>S )</a:t>
            </a:r>
            <a:r>
              <a:rPr lang="en-GB" sz="2400" i="1" dirty="0">
                <a:solidFill>
                  <a:srgbClr val="4BACC6">
                    <a:lumMod val="50000"/>
                  </a:srgbClr>
                </a:solidFill>
              </a:rPr>
              <a:t> , and the inverse of the pass value is the price of</a:t>
            </a:r>
            <a:r>
              <a:rPr lang="pl-PL" sz="2400" i="1" dirty="0">
                <a:solidFill>
                  <a:srgbClr val="4BACC6">
                    <a:lumMod val="50000"/>
                  </a:srgbClr>
                </a:solidFill>
              </a:rPr>
              <a:t> </a:t>
            </a:r>
            <a:r>
              <a:rPr lang="en-GB" sz="2400" i="1" dirty="0">
                <a:solidFill>
                  <a:srgbClr val="4BACC6">
                    <a:lumMod val="50000"/>
                  </a:srgbClr>
                </a:solidFill>
              </a:rPr>
              <a:t>other payoff </a:t>
            </a:r>
            <a:r>
              <a:rPr lang="pl-PL" sz="2400" i="1" dirty="0">
                <a:solidFill>
                  <a:srgbClr val="4BACC6">
                    <a:lumMod val="50000"/>
                  </a:srgbClr>
                </a:solidFill>
              </a:rPr>
              <a:t>(O)</a:t>
            </a:r>
            <a:r>
              <a:rPr lang="en-GB" sz="2400" i="1" dirty="0">
                <a:solidFill>
                  <a:srgbClr val="4BACC6">
                    <a:lumMod val="50000"/>
                  </a:srgbClr>
                </a:solidFill>
              </a:rPr>
              <a:t>. </a:t>
            </a:r>
            <a:r>
              <a:rPr lang="pl-PL" sz="2400" i="1" dirty="0">
                <a:solidFill>
                  <a:srgbClr val="4BACC6">
                    <a:lumMod val="50000"/>
                  </a:srgbClr>
                </a:solidFill>
              </a:rPr>
              <a:t> </a:t>
            </a:r>
          </a:p>
          <a:p>
            <a:pPr lvl="0" algn="just"/>
            <a:endParaRPr lang="pl-PL" sz="2400" i="1" dirty="0">
              <a:solidFill>
                <a:srgbClr val="4BACC6">
                  <a:lumMod val="50000"/>
                </a:srgbClr>
              </a:solidFill>
            </a:endParaRPr>
          </a:p>
          <a:p>
            <a:pPr marL="800100" lvl="1" indent="-342900">
              <a:buFont typeface="Arial" panose="020B0604020202020204" pitchFamily="34" charset="0"/>
              <a:buChar char="•"/>
            </a:pPr>
            <a:r>
              <a:rPr lang="en-US" sz="2400" i="1" dirty="0" err="1">
                <a:solidFill>
                  <a:srgbClr val="4BACC6">
                    <a:lumMod val="50000"/>
                  </a:srgbClr>
                </a:solidFill>
              </a:rPr>
              <a:t>p</a:t>
            </a:r>
            <a:r>
              <a:rPr lang="en-US" sz="2400" i="1" baseline="-25000" dirty="0" err="1">
                <a:solidFill>
                  <a:srgbClr val="4BACC6">
                    <a:lumMod val="50000"/>
                  </a:srgbClr>
                </a:solidFill>
              </a:rPr>
              <a:t>S</a:t>
            </a:r>
            <a:r>
              <a:rPr lang="pl-PL" sz="2400" i="1" dirty="0">
                <a:solidFill>
                  <a:srgbClr val="4BACC6">
                    <a:lumMod val="50000"/>
                  </a:srgbClr>
                </a:solidFill>
              </a:rPr>
              <a:t> = 0.33 - p</a:t>
            </a:r>
            <a:r>
              <a:rPr lang="en-US" sz="2400" i="1" dirty="0">
                <a:solidFill>
                  <a:srgbClr val="4BACC6">
                    <a:lumMod val="50000"/>
                  </a:srgbClr>
                </a:solidFill>
              </a:rPr>
              <a:t>rice for one unit </a:t>
            </a:r>
            <a:r>
              <a:rPr lang="pl-PL" sz="2400" i="1" dirty="0">
                <a:solidFill>
                  <a:srgbClr val="4BACC6">
                    <a:lumMod val="50000"/>
                  </a:srgbClr>
                </a:solidFill>
              </a:rPr>
              <a:t>„</a:t>
            </a:r>
            <a:r>
              <a:rPr lang="pl-PL" sz="2400" i="1" dirty="0" err="1">
                <a:solidFill>
                  <a:srgbClr val="4BACC6">
                    <a:lumMod val="50000"/>
                  </a:srgbClr>
                </a:solidFill>
              </a:rPr>
              <a:t>Payment</a:t>
            </a:r>
            <a:r>
              <a:rPr lang="pl-PL" sz="2400" i="1" dirty="0">
                <a:solidFill>
                  <a:srgbClr val="4BACC6">
                    <a:lumMod val="50000"/>
                  </a:srgbClr>
                </a:solidFill>
              </a:rPr>
              <a:t> to </a:t>
            </a:r>
            <a:r>
              <a:rPr lang="pl-PL" sz="2400" i="1" dirty="0" err="1">
                <a:solidFill>
                  <a:srgbClr val="4BACC6">
                    <a:lumMod val="50000"/>
                  </a:srgbClr>
                </a:solidFill>
              </a:rPr>
              <a:t>self</a:t>
            </a:r>
            <a:r>
              <a:rPr lang="pl-PL" sz="2400" i="1" dirty="0">
                <a:solidFill>
                  <a:srgbClr val="4BACC6">
                    <a:lumMod val="50000"/>
                  </a:srgbClr>
                </a:solidFill>
              </a:rPr>
              <a:t>”  </a:t>
            </a:r>
          </a:p>
          <a:p>
            <a:pPr lvl="1">
              <a:buFont typeface="Arial" pitchFamily="34" charset="0"/>
              <a:buChar char="•"/>
            </a:pPr>
            <a:r>
              <a:rPr lang="pl-PL" sz="2400" dirty="0">
                <a:solidFill>
                  <a:srgbClr val="4BACC6">
                    <a:lumMod val="50000"/>
                  </a:srgbClr>
                </a:solidFill>
              </a:rPr>
              <a:t>   </a:t>
            </a:r>
            <a:r>
              <a:rPr lang="en-US" sz="2400" dirty="0">
                <a:solidFill>
                  <a:srgbClr val="4BACC6">
                    <a:lumMod val="50000"/>
                  </a:srgbClr>
                </a:solidFill>
              </a:rPr>
              <a:t>p</a:t>
            </a:r>
            <a:r>
              <a:rPr lang="pl-PL" sz="2400" baseline="-25000" dirty="0">
                <a:solidFill>
                  <a:srgbClr val="4BACC6">
                    <a:lumMod val="50000"/>
                  </a:srgbClr>
                </a:solidFill>
              </a:rPr>
              <a:t>O</a:t>
            </a:r>
            <a:r>
              <a:rPr lang="pl-PL" sz="2400" dirty="0">
                <a:solidFill>
                  <a:srgbClr val="4BACC6">
                    <a:lumMod val="50000"/>
                  </a:srgbClr>
                </a:solidFill>
              </a:rPr>
              <a:t> = 1 - p</a:t>
            </a:r>
            <a:r>
              <a:rPr lang="en-US" sz="2400" dirty="0">
                <a:solidFill>
                  <a:srgbClr val="4BACC6">
                    <a:lumMod val="50000"/>
                  </a:srgbClr>
                </a:solidFill>
              </a:rPr>
              <a:t>rice for one unit </a:t>
            </a:r>
            <a:r>
              <a:rPr lang="pl-PL" sz="2400" dirty="0">
                <a:solidFill>
                  <a:srgbClr val="4BACC6">
                    <a:lumMod val="50000"/>
                  </a:srgbClr>
                </a:solidFill>
              </a:rPr>
              <a:t>„</a:t>
            </a:r>
            <a:r>
              <a:rPr lang="pl-PL" sz="2400" dirty="0" err="1">
                <a:solidFill>
                  <a:srgbClr val="4BACC6">
                    <a:lumMod val="50000"/>
                  </a:srgbClr>
                </a:solidFill>
              </a:rPr>
              <a:t>Payment</a:t>
            </a:r>
            <a:r>
              <a:rPr lang="pl-PL" sz="2400" dirty="0">
                <a:solidFill>
                  <a:srgbClr val="4BACC6">
                    <a:lumMod val="50000"/>
                  </a:srgbClr>
                </a:solidFill>
              </a:rPr>
              <a:t> to </a:t>
            </a:r>
            <a:r>
              <a:rPr lang="pl-PL" sz="2400" dirty="0" err="1">
                <a:solidFill>
                  <a:srgbClr val="4BACC6">
                    <a:lumMod val="50000"/>
                  </a:srgbClr>
                </a:solidFill>
              </a:rPr>
              <a:t>other</a:t>
            </a:r>
            <a:r>
              <a:rPr lang="pl-PL" sz="2400" dirty="0">
                <a:solidFill>
                  <a:srgbClr val="4BACC6">
                    <a:lumMod val="50000"/>
                  </a:srgbClr>
                </a:solidFill>
              </a:rPr>
              <a:t>” </a:t>
            </a:r>
          </a:p>
          <a:p>
            <a:pPr lvl="0"/>
            <a:endParaRPr lang="pl-PL" sz="2400" dirty="0">
              <a:solidFill>
                <a:srgbClr val="4BACC6">
                  <a:lumMod val="50000"/>
                </a:srgbClr>
              </a:solidFill>
            </a:endParaRPr>
          </a:p>
          <a:p>
            <a:pPr lvl="0"/>
            <a:r>
              <a:rPr lang="pl-PL" sz="2400" dirty="0">
                <a:solidFill>
                  <a:srgbClr val="4BACC6">
                    <a:lumMod val="50000"/>
                  </a:srgbClr>
                </a:solidFill>
              </a:rPr>
              <a:t>Budget </a:t>
            </a:r>
            <a:r>
              <a:rPr lang="pl-PL" sz="2400" dirty="0" err="1">
                <a:solidFill>
                  <a:srgbClr val="4BACC6">
                    <a:lumMod val="50000"/>
                  </a:srgbClr>
                </a:solidFill>
              </a:rPr>
              <a:t>constraint</a:t>
            </a:r>
            <a:r>
              <a:rPr lang="pl-PL" sz="2400" dirty="0">
                <a:solidFill>
                  <a:srgbClr val="4BACC6">
                    <a:lumMod val="50000"/>
                  </a:srgbClr>
                </a:solidFill>
              </a:rPr>
              <a:t>:  M = 0.33* </a:t>
            </a:r>
            <a:r>
              <a:rPr lang="pl-PL" sz="2400" dirty="0" err="1">
                <a:solidFill>
                  <a:srgbClr val="4BACC6">
                    <a:lumMod val="50000"/>
                  </a:srgbClr>
                </a:solidFill>
              </a:rPr>
              <a:t>Payment</a:t>
            </a:r>
            <a:r>
              <a:rPr lang="pl-PL" sz="2400" dirty="0">
                <a:solidFill>
                  <a:srgbClr val="4BACC6">
                    <a:lumMod val="50000"/>
                  </a:srgbClr>
                </a:solidFill>
              </a:rPr>
              <a:t> to </a:t>
            </a:r>
            <a:r>
              <a:rPr lang="pl-PL" sz="2400" dirty="0" err="1">
                <a:solidFill>
                  <a:srgbClr val="4BACC6">
                    <a:lumMod val="50000"/>
                  </a:srgbClr>
                </a:solidFill>
              </a:rPr>
              <a:t>self</a:t>
            </a:r>
            <a:r>
              <a:rPr lang="pl-PL" sz="2400" dirty="0">
                <a:solidFill>
                  <a:srgbClr val="4BACC6">
                    <a:lumMod val="50000"/>
                  </a:srgbClr>
                </a:solidFill>
              </a:rPr>
              <a:t>(S) + 1* </a:t>
            </a:r>
            <a:r>
              <a:rPr lang="pl-PL" sz="2400" dirty="0" err="1">
                <a:solidFill>
                  <a:srgbClr val="4BACC6">
                    <a:lumMod val="50000"/>
                  </a:srgbClr>
                </a:solidFill>
              </a:rPr>
              <a:t>Payment</a:t>
            </a:r>
            <a:r>
              <a:rPr lang="pl-PL" sz="2400" dirty="0">
                <a:solidFill>
                  <a:srgbClr val="4BACC6">
                    <a:lumMod val="50000"/>
                  </a:srgbClr>
                </a:solidFill>
              </a:rPr>
              <a:t> to </a:t>
            </a:r>
            <a:r>
              <a:rPr lang="pl-PL" sz="2400" dirty="0" err="1">
                <a:solidFill>
                  <a:srgbClr val="4BACC6">
                    <a:lumMod val="50000"/>
                  </a:srgbClr>
                </a:solidFill>
              </a:rPr>
              <a:t>other</a:t>
            </a:r>
            <a:r>
              <a:rPr lang="pl-PL" sz="2400" dirty="0">
                <a:solidFill>
                  <a:srgbClr val="4BACC6">
                    <a:lumMod val="50000"/>
                  </a:srgbClr>
                </a:solidFill>
              </a:rPr>
              <a:t>(O) </a:t>
            </a:r>
          </a:p>
          <a:p>
            <a:pPr lvl="0" algn="ctr"/>
            <a:r>
              <a:rPr lang="pl-PL" sz="2400" dirty="0">
                <a:solidFill>
                  <a:srgbClr val="4BACC6">
                    <a:lumMod val="50000"/>
                  </a:srgbClr>
                </a:solidFill>
              </a:rPr>
              <a:t>40  =   0.33*S + 1*O</a:t>
            </a:r>
            <a:endParaRPr lang="pl-PL" sz="2400" dirty="0">
              <a:solidFill>
                <a:prstClr val="black"/>
              </a:solidFill>
            </a:endParaRPr>
          </a:p>
        </p:txBody>
      </p:sp>
      <p:sp>
        <p:nvSpPr>
          <p:cNvPr id="10" name="Prostokąt 9"/>
          <p:cNvSpPr/>
          <p:nvPr/>
        </p:nvSpPr>
        <p:spPr>
          <a:xfrm>
            <a:off x="324050" y="1188868"/>
            <a:ext cx="11867950" cy="461665"/>
          </a:xfrm>
          <a:prstGeom prst="rect">
            <a:avLst/>
          </a:prstGeom>
        </p:spPr>
        <p:txBody>
          <a:bodyPr wrap="square">
            <a:spAutoFit/>
          </a:bodyPr>
          <a:lstStyle/>
          <a:p>
            <a:pPr algn="just" fontAlgn="base">
              <a:spcBef>
                <a:spcPct val="0"/>
              </a:spcBef>
              <a:spcAft>
                <a:spcPct val="0"/>
              </a:spcAft>
            </a:pPr>
            <a:r>
              <a:rPr lang="en-GB" sz="2400" b="1" i="1" dirty="0">
                <a:solidFill>
                  <a:srgbClr val="4BACC6">
                    <a:lumMod val="50000"/>
                  </a:srgbClr>
                </a:solidFill>
                <a:latin typeface="Arial" pitchFamily="34" charset="0"/>
                <a:ea typeface="Times New Roman" pitchFamily="18" charset="0"/>
                <a:cs typeface="Times New Roman" pitchFamily="18" charset="0"/>
              </a:rPr>
              <a:t>Divide 40 tokens: Hold X at 1</a:t>
            </a:r>
            <a:r>
              <a:rPr lang="pl-PL" sz="2400" b="1" i="1" dirty="0">
                <a:solidFill>
                  <a:srgbClr val="4BACC6">
                    <a:lumMod val="50000"/>
                  </a:srgbClr>
                </a:solidFill>
                <a:latin typeface="Arial" pitchFamily="34" charset="0"/>
                <a:ea typeface="Times New Roman" pitchFamily="18" charset="0"/>
                <a:cs typeface="Times New Roman" pitchFamily="18" charset="0"/>
              </a:rPr>
              <a:t>$ </a:t>
            </a:r>
            <a:r>
              <a:rPr lang="en-GB" sz="2400" b="1" i="1" dirty="0">
                <a:solidFill>
                  <a:srgbClr val="4BACC6">
                    <a:lumMod val="50000"/>
                  </a:srgbClr>
                </a:solidFill>
                <a:latin typeface="Arial" pitchFamily="34" charset="0"/>
                <a:ea typeface="Times New Roman" pitchFamily="18" charset="0"/>
                <a:cs typeface="Times New Roman" pitchFamily="18" charset="0"/>
              </a:rPr>
              <a:t>each, and Pass the rest of tokens at 3$ each</a:t>
            </a:r>
            <a:endParaRPr lang="pl-PL" sz="2400" b="1" i="1" dirty="0">
              <a:solidFill>
                <a:srgbClr val="4BACC6">
                  <a:lumMod val="50000"/>
                </a:srgbClr>
              </a:solidFill>
              <a:latin typeface="Arial" pitchFamily="34" charset="0"/>
              <a:ea typeface="Times New Roman" pitchFamily="18" charset="0"/>
              <a:cs typeface="Times New Roman" pitchFamily="18" charset="0"/>
            </a:endParaRPr>
          </a:p>
        </p:txBody>
      </p:sp>
      <p:sp>
        <p:nvSpPr>
          <p:cNvPr id="5"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Tree>
    <p:extLst>
      <p:ext uri="{BB962C8B-B14F-4D97-AF65-F5344CB8AC3E}">
        <p14:creationId xmlns:p14="http://schemas.microsoft.com/office/powerpoint/2010/main" val="3838631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Prostokąt 29"/>
          <p:cNvSpPr/>
          <p:nvPr/>
        </p:nvSpPr>
        <p:spPr>
          <a:xfrm>
            <a:off x="6088180" y="6091028"/>
            <a:ext cx="601447" cy="584775"/>
          </a:xfrm>
          <a:prstGeom prst="rect">
            <a:avLst/>
          </a:prstGeom>
        </p:spPr>
        <p:txBody>
          <a:bodyPr wrap="none">
            <a:spAutoFit/>
          </a:bodyPr>
          <a:lstStyle/>
          <a:p>
            <a:r>
              <a:rPr lang="pl-PL" sz="3200" b="1" i="1" dirty="0">
                <a:solidFill>
                  <a:srgbClr val="C00000"/>
                </a:solidFill>
              </a:rPr>
              <a:t>40</a:t>
            </a:r>
            <a:endParaRPr lang="en-GB" sz="3200" dirty="0">
              <a:solidFill>
                <a:srgbClr val="C00000"/>
              </a:solidFill>
            </a:endParaRPr>
          </a:p>
        </p:txBody>
      </p:sp>
      <p:grpSp>
        <p:nvGrpSpPr>
          <p:cNvPr id="5" name="Grupa 4"/>
          <p:cNvGrpSpPr/>
          <p:nvPr/>
        </p:nvGrpSpPr>
        <p:grpSpPr>
          <a:xfrm>
            <a:off x="352337" y="51337"/>
            <a:ext cx="10208159" cy="6480236"/>
            <a:chOff x="352337" y="51337"/>
            <a:chExt cx="10208159" cy="6480236"/>
          </a:xfrm>
        </p:grpSpPr>
        <p:sp>
          <p:nvSpPr>
            <p:cNvPr id="7" name="Prostokąt 6"/>
            <p:cNvSpPr/>
            <p:nvPr/>
          </p:nvSpPr>
          <p:spPr>
            <a:xfrm>
              <a:off x="352337" y="428346"/>
              <a:ext cx="1835696" cy="523220"/>
            </a:xfrm>
            <a:prstGeom prst="rect">
              <a:avLst/>
            </a:prstGeom>
          </p:spPr>
          <p:txBody>
            <a:bodyPr wrap="square">
              <a:spAutoFit/>
            </a:bodyPr>
            <a:lstStyle/>
            <a:p>
              <a:pPr lvl="1"/>
              <a:r>
                <a:rPr lang="pl-PL" sz="2800" b="1" dirty="0">
                  <a:solidFill>
                    <a:schemeClr val="accent5">
                      <a:lumMod val="50000"/>
                    </a:schemeClr>
                  </a:solidFill>
                </a:rPr>
                <a:t>Choice</a:t>
              </a:r>
            </a:p>
          </p:txBody>
        </p:sp>
        <p:sp>
          <p:nvSpPr>
            <p:cNvPr id="10" name="Prostokąt 9"/>
            <p:cNvSpPr/>
            <p:nvPr/>
          </p:nvSpPr>
          <p:spPr>
            <a:xfrm>
              <a:off x="3359696" y="51337"/>
              <a:ext cx="5544616" cy="830997"/>
            </a:xfrm>
            <a:prstGeom prst="rect">
              <a:avLst/>
            </a:prstGeom>
          </p:spPr>
          <p:txBody>
            <a:bodyPr wrap="square">
              <a:spAutoFit/>
            </a:bodyPr>
            <a:lstStyle/>
            <a:p>
              <a:pPr lvl="0" algn="just" fontAlgn="base">
                <a:spcBef>
                  <a:spcPct val="0"/>
                </a:spcBef>
                <a:spcAft>
                  <a:spcPct val="0"/>
                </a:spcAft>
              </a:pPr>
              <a:r>
                <a:rPr lang="en-GB" sz="1600" b="1" dirty="0">
                  <a:solidFill>
                    <a:schemeClr val="accent5">
                      <a:lumMod val="50000"/>
                    </a:schemeClr>
                  </a:solidFill>
                  <a:latin typeface="Arial" pitchFamily="34" charset="0"/>
                  <a:ea typeface="Times New Roman" pitchFamily="18" charset="0"/>
                  <a:cs typeface="Times New Roman" pitchFamily="18" charset="0"/>
                </a:rPr>
                <a:t>Divide 40 tokens: </a:t>
              </a:r>
              <a:endParaRPr lang="pl-PL" sz="1600" b="1" dirty="0">
                <a:solidFill>
                  <a:schemeClr val="accent5">
                    <a:lumMod val="50000"/>
                  </a:schemeClr>
                </a:solidFill>
                <a:latin typeface="Arial" pitchFamily="34" charset="0"/>
                <a:ea typeface="Times New Roman" pitchFamily="18" charset="0"/>
                <a:cs typeface="Times New Roman" pitchFamily="18" charset="0"/>
              </a:endParaRPr>
            </a:p>
            <a:p>
              <a:pPr lvl="0" algn="just" fontAlgn="base">
                <a:spcBef>
                  <a:spcPct val="0"/>
                </a:spcBef>
                <a:spcAft>
                  <a:spcPct val="0"/>
                </a:spcAft>
              </a:pPr>
              <a:r>
                <a:rPr lang="en-GB" sz="1600" b="1" dirty="0">
                  <a:solidFill>
                    <a:schemeClr val="accent5">
                      <a:lumMod val="50000"/>
                    </a:schemeClr>
                  </a:solidFill>
                  <a:latin typeface="Arial" pitchFamily="34" charset="0"/>
                  <a:ea typeface="Times New Roman" pitchFamily="18" charset="0"/>
                  <a:cs typeface="Times New Roman" pitchFamily="18" charset="0"/>
                </a:rPr>
                <a:t>Hold X at 1 </a:t>
              </a:r>
              <a:r>
                <a:rPr lang="pl-PL" sz="1600" b="1" dirty="0">
                  <a:solidFill>
                    <a:schemeClr val="accent5">
                      <a:lumMod val="50000"/>
                    </a:schemeClr>
                  </a:solidFill>
                  <a:latin typeface="Arial" pitchFamily="34" charset="0"/>
                  <a:ea typeface="Times New Roman" pitchFamily="18" charset="0"/>
                  <a:cs typeface="Times New Roman" pitchFamily="18" charset="0"/>
                </a:rPr>
                <a:t>$</a:t>
              </a:r>
              <a:r>
                <a:rPr lang="en-GB" sz="1600" b="1" dirty="0">
                  <a:solidFill>
                    <a:schemeClr val="accent5">
                      <a:lumMod val="50000"/>
                    </a:schemeClr>
                  </a:solidFill>
                  <a:latin typeface="Arial" pitchFamily="34" charset="0"/>
                  <a:ea typeface="Times New Roman" pitchFamily="18" charset="0"/>
                  <a:cs typeface="Times New Roman" pitchFamily="18" charset="0"/>
                </a:rPr>
                <a:t> each, and Pass the rest of tokens at 3 $ each</a:t>
              </a:r>
              <a:endParaRPr lang="pl-PL" sz="1600" b="1" dirty="0">
                <a:solidFill>
                  <a:schemeClr val="accent5">
                    <a:lumMod val="50000"/>
                  </a:schemeClr>
                </a:solidFill>
                <a:latin typeface="Arial" pitchFamily="34" charset="0"/>
                <a:ea typeface="Times New Roman" pitchFamily="18" charset="0"/>
                <a:cs typeface="Times New Roman" pitchFamily="18" charset="0"/>
              </a:endParaRPr>
            </a:p>
          </p:txBody>
        </p:sp>
        <p:sp>
          <p:nvSpPr>
            <p:cNvPr id="2" name="Prostokąt 1"/>
            <p:cNvSpPr/>
            <p:nvPr/>
          </p:nvSpPr>
          <p:spPr>
            <a:xfrm>
              <a:off x="5465800" y="2862751"/>
              <a:ext cx="3488584" cy="646331"/>
            </a:xfrm>
            <a:prstGeom prst="rect">
              <a:avLst/>
            </a:prstGeom>
          </p:spPr>
          <p:txBody>
            <a:bodyPr wrap="none">
              <a:spAutoFit/>
            </a:bodyPr>
            <a:lstStyle/>
            <a:p>
              <a:r>
                <a:rPr lang="pl-PL" sz="3600" b="1" i="1" dirty="0">
                  <a:solidFill>
                    <a:srgbClr val="C00000"/>
                  </a:solidFill>
                </a:rPr>
                <a:t>40 = 1p</a:t>
              </a:r>
              <a:r>
                <a:rPr lang="pl-PL" sz="3600" b="1" i="1" baseline="-25000" dirty="0">
                  <a:solidFill>
                    <a:srgbClr val="C00000"/>
                  </a:solidFill>
                </a:rPr>
                <a:t>S</a:t>
              </a:r>
              <a:r>
                <a:rPr lang="pl-PL" sz="3600" b="1" i="1" dirty="0">
                  <a:solidFill>
                    <a:srgbClr val="C00000"/>
                  </a:solidFill>
                </a:rPr>
                <a:t> + 1/3p</a:t>
              </a:r>
              <a:r>
                <a:rPr lang="pl-PL" sz="3600" b="1" i="1" baseline="-25000" dirty="0">
                  <a:solidFill>
                    <a:srgbClr val="C00000"/>
                  </a:solidFill>
                </a:rPr>
                <a:t>O</a:t>
              </a:r>
              <a:r>
                <a:rPr lang="pl-PL" sz="3600" b="1" i="1" dirty="0">
                  <a:solidFill>
                    <a:srgbClr val="C00000"/>
                  </a:solidFill>
                </a:rPr>
                <a:t> </a:t>
              </a:r>
              <a:endParaRPr lang="en-GB" sz="3600" dirty="0">
                <a:solidFill>
                  <a:srgbClr val="C00000"/>
                </a:solidFill>
              </a:endParaRPr>
            </a:p>
          </p:txBody>
        </p:sp>
        <p:sp>
          <p:nvSpPr>
            <p:cNvPr id="12" name="Dowolny kształt 11"/>
            <p:cNvSpPr/>
            <p:nvPr/>
          </p:nvSpPr>
          <p:spPr>
            <a:xfrm>
              <a:off x="4181731" y="1999279"/>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grpSp>
          <p:nvGrpSpPr>
            <p:cNvPr id="14" name="Grupa 81"/>
            <p:cNvGrpSpPr/>
            <p:nvPr/>
          </p:nvGrpSpPr>
          <p:grpSpPr>
            <a:xfrm>
              <a:off x="3809616" y="1265697"/>
              <a:ext cx="4752528" cy="4825330"/>
              <a:chOff x="3995936" y="836712"/>
              <a:chExt cx="4752528" cy="4825330"/>
            </a:xfrm>
          </p:grpSpPr>
          <p:cxnSp>
            <p:nvCxnSpPr>
              <p:cNvPr id="15" name="Łącznik prosty ze strzałką 14"/>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Łącznik prosty ze strzałką 15"/>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7" name="Łącznik prosty 22"/>
              <p:cNvCxnSpPr/>
              <p:nvPr/>
            </p:nvCxnSpPr>
            <p:spPr>
              <a:xfrm rot="16200000" flipH="1">
                <a:off x="3491880" y="2420888"/>
                <a:ext cx="3960440" cy="2232248"/>
              </a:xfrm>
              <a:prstGeom prst="line">
                <a:avLst/>
              </a:prstGeom>
            </p:spPr>
            <p:style>
              <a:lnRef idx="3">
                <a:schemeClr val="accent3"/>
              </a:lnRef>
              <a:fillRef idx="0">
                <a:schemeClr val="accent3"/>
              </a:fillRef>
              <a:effectRef idx="2">
                <a:schemeClr val="accent3"/>
              </a:effectRef>
              <a:fontRef idx="minor">
                <a:schemeClr val="tx1"/>
              </a:fontRef>
            </p:style>
          </p:cxnSp>
        </p:grpSp>
        <p:sp>
          <p:nvSpPr>
            <p:cNvPr id="22" name="Prostokąt 21"/>
            <p:cNvSpPr/>
            <p:nvPr/>
          </p:nvSpPr>
          <p:spPr>
            <a:xfrm>
              <a:off x="5465800" y="1377643"/>
              <a:ext cx="4374616" cy="1015663"/>
            </a:xfrm>
            <a:prstGeom prst="rect">
              <a:avLst/>
            </a:prstGeom>
          </p:spPr>
          <p:txBody>
            <a:bodyPr wrap="square">
              <a:spAutoFit/>
            </a:bodyPr>
            <a:lstStyle/>
            <a:p>
              <a:pPr algn="just"/>
              <a:r>
                <a:rPr lang="en-US" sz="2000" b="1" dirty="0">
                  <a:solidFill>
                    <a:schemeClr val="accent5">
                      <a:lumMod val="50000"/>
                    </a:schemeClr>
                  </a:solidFill>
                </a:rPr>
                <a:t>I give everything to another player </a:t>
              </a:r>
              <a:r>
                <a:rPr lang="pl-PL" sz="2000" b="1" dirty="0">
                  <a:solidFill>
                    <a:schemeClr val="accent5">
                      <a:lumMod val="50000"/>
                    </a:schemeClr>
                  </a:solidFill>
                  <a:sym typeface="Wingdings" panose="05000000000000000000" pitchFamily="2" charset="2"/>
                </a:rPr>
                <a:t></a:t>
              </a:r>
              <a:r>
                <a:rPr lang="en-US" sz="2000" b="1" dirty="0">
                  <a:solidFill>
                    <a:schemeClr val="accent5">
                      <a:lumMod val="50000"/>
                    </a:schemeClr>
                  </a:solidFill>
                </a:rPr>
                <a:t> </a:t>
              </a:r>
              <a:r>
                <a:rPr lang="pl-PL" sz="2000" b="1" dirty="0" err="1">
                  <a:solidFill>
                    <a:schemeClr val="accent5">
                      <a:lumMod val="50000"/>
                    </a:schemeClr>
                  </a:solidFill>
                </a:rPr>
                <a:t>she</a:t>
              </a:r>
              <a:r>
                <a:rPr lang="pl-PL" sz="2000" b="1" dirty="0">
                  <a:solidFill>
                    <a:schemeClr val="accent5">
                      <a:lumMod val="50000"/>
                    </a:schemeClr>
                  </a:solidFill>
                </a:rPr>
                <a:t>/</a:t>
              </a:r>
              <a:r>
                <a:rPr lang="en-US" sz="2000" b="1" dirty="0">
                  <a:solidFill>
                    <a:schemeClr val="accent5">
                      <a:lumMod val="50000"/>
                    </a:schemeClr>
                  </a:solidFill>
                </a:rPr>
                <a:t>he will receive 40 tokens worth 3, so </a:t>
              </a:r>
              <a:r>
                <a:rPr lang="pl-PL" sz="2000" b="1" dirty="0" err="1">
                  <a:solidFill>
                    <a:schemeClr val="accent5">
                      <a:lumMod val="50000"/>
                    </a:schemeClr>
                  </a:solidFill>
                </a:rPr>
                <a:t>her</a:t>
              </a:r>
              <a:r>
                <a:rPr lang="pl-PL" sz="2000" b="1" dirty="0">
                  <a:solidFill>
                    <a:schemeClr val="accent5">
                      <a:lumMod val="50000"/>
                    </a:schemeClr>
                  </a:solidFill>
                </a:rPr>
                <a:t>/</a:t>
              </a:r>
              <a:r>
                <a:rPr lang="en-US" sz="2000" b="1" dirty="0">
                  <a:solidFill>
                    <a:schemeClr val="accent5">
                      <a:lumMod val="50000"/>
                    </a:schemeClr>
                  </a:solidFill>
                </a:rPr>
                <a:t>his income will be 120</a:t>
              </a:r>
              <a:endParaRPr lang="pl-PL" sz="2000" b="1" dirty="0">
                <a:solidFill>
                  <a:schemeClr val="accent5">
                    <a:lumMod val="50000"/>
                  </a:schemeClr>
                </a:solidFill>
              </a:endParaRPr>
            </a:p>
          </p:txBody>
        </p:sp>
        <p:sp>
          <p:nvSpPr>
            <p:cNvPr id="24" name="Prostokąt 23"/>
            <p:cNvSpPr/>
            <p:nvPr/>
          </p:nvSpPr>
          <p:spPr>
            <a:xfrm>
              <a:off x="6891688" y="6162241"/>
              <a:ext cx="1670457" cy="369332"/>
            </a:xfrm>
            <a:prstGeom prst="rect">
              <a:avLst/>
            </a:prstGeom>
          </p:spPr>
          <p:txBody>
            <a:bodyPr wrap="none">
              <a:spAutoFit/>
            </a:bodyPr>
            <a:lstStyle/>
            <a:p>
              <a:r>
                <a:rPr lang="pl-PL" b="1" dirty="0" err="1">
                  <a:solidFill>
                    <a:schemeClr val="accent5">
                      <a:lumMod val="50000"/>
                    </a:schemeClr>
                  </a:solidFill>
                </a:rPr>
                <a:t>Payment</a:t>
              </a:r>
              <a:r>
                <a:rPr lang="pl-PL" b="1" dirty="0">
                  <a:solidFill>
                    <a:schemeClr val="accent5">
                      <a:lumMod val="50000"/>
                    </a:schemeClr>
                  </a:solidFill>
                </a:rPr>
                <a:t> to </a:t>
              </a:r>
              <a:r>
                <a:rPr lang="pl-PL" b="1" dirty="0" err="1">
                  <a:solidFill>
                    <a:schemeClr val="accent5">
                      <a:lumMod val="50000"/>
                    </a:schemeClr>
                  </a:solidFill>
                </a:rPr>
                <a:t>self</a:t>
              </a:r>
              <a:endParaRPr lang="pl-PL" dirty="0"/>
            </a:p>
          </p:txBody>
        </p:sp>
        <p:sp>
          <p:nvSpPr>
            <p:cNvPr id="26" name="Strzałka w dół 25"/>
            <p:cNvSpPr/>
            <p:nvPr/>
          </p:nvSpPr>
          <p:spPr>
            <a:xfrm rot="2034249">
              <a:off x="6329205" y="4972710"/>
              <a:ext cx="864096" cy="9361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7" name="Strzałka w dół 26"/>
            <p:cNvSpPr/>
            <p:nvPr/>
          </p:nvSpPr>
          <p:spPr>
            <a:xfrm rot="3896941">
              <a:off x="4356647" y="1407518"/>
              <a:ext cx="864096" cy="9361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Elipsa 27"/>
            <p:cNvSpPr/>
            <p:nvPr/>
          </p:nvSpPr>
          <p:spPr>
            <a:xfrm>
              <a:off x="4097647" y="1999279"/>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Elipsa 28"/>
            <p:cNvSpPr/>
            <p:nvPr/>
          </p:nvSpPr>
          <p:spPr>
            <a:xfrm>
              <a:off x="6329896" y="5851374"/>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 name="Prostokąt 2"/>
            <p:cNvSpPr/>
            <p:nvPr/>
          </p:nvSpPr>
          <p:spPr>
            <a:xfrm>
              <a:off x="3274568" y="1850907"/>
              <a:ext cx="732893" cy="523220"/>
            </a:xfrm>
            <a:prstGeom prst="rect">
              <a:avLst/>
            </a:prstGeom>
          </p:spPr>
          <p:txBody>
            <a:bodyPr wrap="none">
              <a:spAutoFit/>
            </a:bodyPr>
            <a:lstStyle/>
            <a:p>
              <a:r>
                <a:rPr lang="pl-PL" sz="2800" b="1" i="1" dirty="0">
                  <a:solidFill>
                    <a:srgbClr val="C00000"/>
                  </a:solidFill>
                </a:rPr>
                <a:t>120</a:t>
              </a:r>
              <a:endParaRPr lang="en-GB" sz="2800" dirty="0">
                <a:solidFill>
                  <a:srgbClr val="C00000"/>
                </a:solidFill>
              </a:endParaRPr>
            </a:p>
          </p:txBody>
        </p:sp>
        <p:sp>
          <p:nvSpPr>
            <p:cNvPr id="4" name="Prostokąt 3"/>
            <p:cNvSpPr/>
            <p:nvPr/>
          </p:nvSpPr>
          <p:spPr>
            <a:xfrm>
              <a:off x="2132012" y="1544018"/>
              <a:ext cx="1858009" cy="369332"/>
            </a:xfrm>
            <a:prstGeom prst="rect">
              <a:avLst/>
            </a:prstGeom>
          </p:spPr>
          <p:txBody>
            <a:bodyPr wrap="none">
              <a:spAutoFit/>
            </a:bodyPr>
            <a:lstStyle/>
            <a:p>
              <a:r>
                <a:rPr lang="pl-PL" b="1" dirty="0" err="1">
                  <a:solidFill>
                    <a:schemeClr val="accent5">
                      <a:lumMod val="50000"/>
                    </a:schemeClr>
                  </a:solidFill>
                </a:rPr>
                <a:t>Payment</a:t>
              </a:r>
              <a:r>
                <a:rPr lang="pl-PL" b="1" dirty="0">
                  <a:solidFill>
                    <a:schemeClr val="accent5">
                      <a:lumMod val="50000"/>
                    </a:schemeClr>
                  </a:solidFill>
                </a:rPr>
                <a:t> to </a:t>
              </a:r>
              <a:r>
                <a:rPr lang="pl-PL" b="1" dirty="0" err="1">
                  <a:solidFill>
                    <a:schemeClr val="accent5">
                      <a:lumMod val="50000"/>
                    </a:schemeClr>
                  </a:solidFill>
                </a:rPr>
                <a:t>other</a:t>
              </a:r>
              <a:endParaRPr lang="en-GB" dirty="0"/>
            </a:p>
          </p:txBody>
        </p:sp>
        <p:sp>
          <p:nvSpPr>
            <p:cNvPr id="19" name="Prostokąt 18"/>
            <p:cNvSpPr/>
            <p:nvPr/>
          </p:nvSpPr>
          <p:spPr>
            <a:xfrm>
              <a:off x="6185880" y="3628343"/>
              <a:ext cx="4374616" cy="1015663"/>
            </a:xfrm>
            <a:prstGeom prst="rect">
              <a:avLst/>
            </a:prstGeom>
          </p:spPr>
          <p:txBody>
            <a:bodyPr wrap="square">
              <a:spAutoFit/>
            </a:bodyPr>
            <a:lstStyle/>
            <a:p>
              <a:pPr algn="just"/>
              <a:r>
                <a:rPr lang="en-US" sz="2000" b="1" dirty="0">
                  <a:solidFill>
                    <a:schemeClr val="accent5">
                      <a:lumMod val="50000"/>
                    </a:schemeClr>
                  </a:solidFill>
                </a:rPr>
                <a:t>I leave everything to myself --&gt; I will have 40 tokens worth 1, so my income will be 40</a:t>
              </a:r>
              <a:endParaRPr lang="pl-PL" sz="2000" b="1" dirty="0">
                <a:solidFill>
                  <a:schemeClr val="accent5">
                    <a:lumMod val="50000"/>
                  </a:schemeClr>
                </a:solidFill>
              </a:endParaRPr>
            </a:p>
          </p:txBody>
        </p:sp>
        <p:sp>
          <p:nvSpPr>
            <p:cNvPr id="20" name="Strzałka w dół 19"/>
            <p:cNvSpPr/>
            <p:nvPr/>
          </p:nvSpPr>
          <p:spPr>
            <a:xfrm rot="14587299">
              <a:off x="3556064" y="3090989"/>
              <a:ext cx="322872" cy="33642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Prostokąt 20"/>
            <p:cNvSpPr/>
            <p:nvPr/>
          </p:nvSpPr>
          <p:spPr>
            <a:xfrm>
              <a:off x="352337" y="3543970"/>
              <a:ext cx="3457279" cy="1323439"/>
            </a:xfrm>
            <a:prstGeom prst="rect">
              <a:avLst/>
            </a:prstGeom>
          </p:spPr>
          <p:txBody>
            <a:bodyPr wrap="square">
              <a:spAutoFit/>
            </a:bodyPr>
            <a:lstStyle/>
            <a:p>
              <a:pPr algn="just"/>
              <a:r>
                <a:rPr lang="en-US" sz="2000" b="1" dirty="0">
                  <a:solidFill>
                    <a:schemeClr val="accent5">
                      <a:lumMod val="50000"/>
                    </a:schemeClr>
                  </a:solidFill>
                </a:rPr>
                <a:t>Intermediate combinations of token distribution are possible - I'll leave some for myself / I'll give some to someone else</a:t>
              </a:r>
              <a:endParaRPr lang="pl-PL" sz="2000" b="1" dirty="0">
                <a:solidFill>
                  <a:schemeClr val="accent5">
                    <a:lumMod val="50000"/>
                  </a:schemeClr>
                </a:solidFill>
              </a:endParaRPr>
            </a:p>
          </p:txBody>
        </p:sp>
      </p:grpSp>
    </p:spTree>
    <p:extLst>
      <p:ext uri="{BB962C8B-B14F-4D97-AF65-F5344CB8AC3E}">
        <p14:creationId xmlns:p14="http://schemas.microsoft.com/office/powerpoint/2010/main" val="999924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mc:AlternateContent xmlns:mc="http://schemas.openxmlformats.org/markup-compatibility/2006" xmlns:a14="http://schemas.microsoft.com/office/drawing/2010/main">
        <mc:Choice Requires="a14">
          <p:graphicFrame>
            <p:nvGraphicFramePr>
              <p:cNvPr id="5" name="Tabela 4"/>
              <p:cNvGraphicFramePr>
                <a:graphicFrameLocks noGrp="1"/>
              </p:cNvGraphicFramePr>
              <p:nvPr/>
            </p:nvGraphicFramePr>
            <p:xfrm>
              <a:off x="1003853" y="1268760"/>
              <a:ext cx="5740221" cy="4229610"/>
            </p:xfrm>
            <a:graphic>
              <a:graphicData uri="http://schemas.openxmlformats.org/drawingml/2006/table">
                <a:tbl>
                  <a:tblPr firstRow="1" firstCol="1" bandRow="1">
                    <a:tableStyleId>{5940675A-B579-460E-94D1-54222C63F5DA}</a:tableStyleId>
                  </a:tblPr>
                  <a:tblGrid>
                    <a:gridCol w="725556">
                      <a:extLst>
                        <a:ext uri="{9D8B030D-6E8A-4147-A177-3AD203B41FA5}">
                          <a16:colId xmlns:a16="http://schemas.microsoft.com/office/drawing/2014/main" val="20000"/>
                        </a:ext>
                      </a:extLst>
                    </a:gridCol>
                    <a:gridCol w="1054225">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198">
                      <a:extLst>
                        <a:ext uri="{9D8B030D-6E8A-4147-A177-3AD203B41FA5}">
                          <a16:colId xmlns:a16="http://schemas.microsoft.com/office/drawing/2014/main" val="20003"/>
                        </a:ext>
                      </a:extLst>
                    </a:gridCol>
                    <a:gridCol w="501880">
                      <a:extLst>
                        <a:ext uri="{9D8B030D-6E8A-4147-A177-3AD203B41FA5}">
                          <a16:colId xmlns:a16="http://schemas.microsoft.com/office/drawing/2014/main" val="20004"/>
                        </a:ext>
                      </a:extLst>
                    </a:gridCol>
                    <a:gridCol w="486562">
                      <a:extLst>
                        <a:ext uri="{9D8B030D-6E8A-4147-A177-3AD203B41FA5}">
                          <a16:colId xmlns:a16="http://schemas.microsoft.com/office/drawing/2014/main" val="20005"/>
                        </a:ext>
                      </a:extLst>
                    </a:gridCol>
                    <a:gridCol w="1819736">
                      <a:extLst>
                        <a:ext uri="{9D8B030D-6E8A-4147-A177-3AD203B41FA5}">
                          <a16:colId xmlns:a16="http://schemas.microsoft.com/office/drawing/2014/main" val="20006"/>
                        </a:ext>
                      </a:extLst>
                    </a:gridCol>
                  </a:tblGrid>
                  <a:tr h="640080">
                    <a:tc>
                      <a:txBody>
                        <a:bodyPr/>
                        <a:lstStyle/>
                        <a:p>
                          <a:pPr algn="ctr">
                            <a:spcAft>
                              <a:spcPts val="0"/>
                            </a:spcAft>
                          </a:pPr>
                          <a:r>
                            <a:rPr lang="en-CA" sz="1400" b="1" dirty="0">
                              <a:effectLst/>
                            </a:rPr>
                            <a:t>Round</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Token endowment</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a:effectLst/>
                            </a:rPr>
                            <a:t>Hold value</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Pass value</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err="1">
                              <a:effectLst/>
                            </a:rPr>
                            <a:t>p</a:t>
                          </a:r>
                          <a:r>
                            <a:rPr lang="en-CA" sz="1400" b="1" baseline="-25000" dirty="0" err="1">
                              <a:effectLst/>
                            </a:rPr>
                            <a:t>s</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p</a:t>
                          </a:r>
                          <a:r>
                            <a:rPr lang="en-CA" sz="1400" b="1" baseline="-25000">
                              <a:effectLst/>
                            </a:rPr>
                            <a:t>o</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US" sz="1400" b="1">
                              <a:effectLst/>
                            </a:rPr>
                            <a:t>Budget constraints</a:t>
                          </a:r>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453786">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40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0.33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𝟒𝟎</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𝟑𝟑𝐬</m:t>
                                </m:r>
                                <m:r>
                                  <a:rPr lang="pl-PL" sz="1400" b="1">
                                    <a:effectLst/>
                                    <a:latin typeface="Cambria Math"/>
                                  </a:rPr>
                                  <m:t> + </m:t>
                                </m:r>
                                <m:r>
                                  <a:rPr lang="pl-PL" sz="1400" b="1" i="1">
                                    <a:effectLst/>
                                    <a:latin typeface="Cambria Math"/>
                                  </a:rPr>
                                  <m:t>𝟏𝐨</m:t>
                                </m:r>
                              </m:oMath>
                            </m:oMathPara>
                          </a14:m>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440200">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pl-PL" sz="1400" b="1" dirty="0">
                              <a:effectLst/>
                            </a:rPr>
                            <a:t>4</a:t>
                          </a:r>
                          <a:r>
                            <a:rPr lang="en-CA" sz="1400" b="1" dirty="0">
                              <a:effectLst/>
                            </a:rPr>
                            <a:t>0</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0.33</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𝟒𝟎</m:t>
                                </m:r>
                                <m:r>
                                  <a:rPr lang="pl-PL" sz="1400" b="1">
                                    <a:effectLst/>
                                    <a:latin typeface="Cambria Math"/>
                                  </a:rPr>
                                  <m:t> = </m:t>
                                </m:r>
                                <m:r>
                                  <a:rPr lang="pl-PL" sz="1400" b="1" i="1">
                                    <a:effectLst/>
                                    <a:latin typeface="Cambria Math"/>
                                  </a:rPr>
                                  <m:t>𝟏𝐬</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𝟑𝟑𝐨</m:t>
                                </m:r>
                              </m:oMath>
                            </m:oMathPara>
                          </a14:m>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453786">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𝟔𝟎</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𝟓𝐬</m:t>
                                </m:r>
                                <m:r>
                                  <a:rPr lang="pl-PL" sz="1400" b="1">
                                    <a:effectLst/>
                                    <a:latin typeface="Cambria Math"/>
                                  </a:rPr>
                                  <m:t> + </m:t>
                                </m:r>
                                <m:r>
                                  <a:rPr lang="pl-PL" sz="1400" b="1" i="1">
                                    <a:effectLst/>
                                    <a:latin typeface="Cambria Math"/>
                                  </a:rPr>
                                  <m:t>𝟏𝐨</m:t>
                                </m:r>
                              </m:oMath>
                            </m:oMathPara>
                          </a14:m>
                          <a:endParaRPr lang="pl-PL" sz="2000" b="1"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r h="453786">
                    <a:tc>
                      <a:txBody>
                        <a:bodyPr/>
                        <a:lstStyle/>
                        <a:p>
                          <a:pPr algn="ctr">
                            <a:spcAft>
                              <a:spcPts val="0"/>
                            </a:spcAft>
                          </a:pPr>
                          <a:r>
                            <a:rPr lang="en-CA" sz="1400" b="1">
                              <a:effectLst/>
                            </a:rPr>
                            <a:t>4</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a:effectLst/>
                            </a:rPr>
                            <a:t>2</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𝟔𝟎</m:t>
                                </m:r>
                                <m:r>
                                  <a:rPr lang="pl-PL" sz="1400" b="1">
                                    <a:effectLst/>
                                    <a:latin typeface="Cambria Math"/>
                                  </a:rPr>
                                  <m:t> = </m:t>
                                </m:r>
                                <m:r>
                                  <a:rPr lang="pl-PL" sz="1400" b="1" i="1">
                                    <a:effectLst/>
                                    <a:latin typeface="Cambria Math"/>
                                  </a:rPr>
                                  <m:t>𝟏𝐬</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𝟓𝐨</m:t>
                                </m:r>
                              </m:oMath>
                            </m:oMathPara>
                          </a14:m>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4"/>
                      </a:ext>
                    </a:extLst>
                  </a:tr>
                  <a:tr h="440200">
                    <a:tc>
                      <a:txBody>
                        <a:bodyPr/>
                        <a:lstStyle/>
                        <a:p>
                          <a:pPr algn="ctr">
                            <a:spcAft>
                              <a:spcPts val="0"/>
                            </a:spcAft>
                          </a:pPr>
                          <a:r>
                            <a:rPr lang="en-CA" sz="1400" b="1">
                              <a:effectLst/>
                            </a:rPr>
                            <a:t>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75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𝟕𝟓</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𝟓𝐬</m:t>
                                </m:r>
                                <m:r>
                                  <a:rPr lang="pl-PL" sz="1400" b="1">
                                    <a:effectLst/>
                                    <a:latin typeface="Cambria Math"/>
                                  </a:rPr>
                                  <m:t> + </m:t>
                                </m:r>
                                <m:r>
                                  <a:rPr lang="pl-PL" sz="1400" b="1" i="1">
                                    <a:effectLst/>
                                    <a:latin typeface="Cambria Math"/>
                                  </a:rPr>
                                  <m:t>𝟏𝐨</m:t>
                                </m:r>
                              </m:oMath>
                            </m:oMathPara>
                          </a14:m>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5"/>
                      </a:ext>
                    </a:extLst>
                  </a:tr>
                  <a:tr h="453786">
                    <a:tc>
                      <a:txBody>
                        <a:bodyPr/>
                        <a:lstStyle/>
                        <a:p>
                          <a:pPr algn="ctr">
                            <a:spcAft>
                              <a:spcPts val="0"/>
                            </a:spcAft>
                          </a:pPr>
                          <a:r>
                            <a:rPr lang="en-CA" sz="1400" b="1">
                              <a:effectLst/>
                            </a:rPr>
                            <a:t>6</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75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a:effectLst/>
                            </a:rPr>
                            <a:t>1</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𝟕𝟓</m:t>
                                </m:r>
                                <m:r>
                                  <a:rPr lang="pl-PL" sz="1400" b="1">
                                    <a:effectLst/>
                                    <a:latin typeface="Cambria Math"/>
                                  </a:rPr>
                                  <m:t> = </m:t>
                                </m:r>
                                <m:r>
                                  <a:rPr lang="pl-PL" sz="1400" b="1" i="1">
                                    <a:effectLst/>
                                    <a:latin typeface="Cambria Math"/>
                                  </a:rPr>
                                  <m:t>𝟏𝐬</m:t>
                                </m:r>
                                <m:r>
                                  <a:rPr lang="pl-PL" sz="1400" b="1">
                                    <a:effectLst/>
                                    <a:latin typeface="Cambria Math"/>
                                  </a:rPr>
                                  <m:t> + </m:t>
                                </m:r>
                                <m:r>
                                  <a:rPr lang="pl-PL" sz="1400" b="1" i="1">
                                    <a:effectLst/>
                                    <a:latin typeface="Cambria Math"/>
                                  </a:rPr>
                                  <m:t>𝟎</m:t>
                                </m:r>
                                <m:r>
                                  <a:rPr lang="pl-PL" sz="1400" b="1">
                                    <a:effectLst/>
                                    <a:latin typeface="Cambria Math"/>
                                  </a:rPr>
                                  <m:t>.</m:t>
                                </m:r>
                                <m:r>
                                  <a:rPr lang="pl-PL" sz="1400" b="1" i="1">
                                    <a:effectLst/>
                                    <a:latin typeface="Cambria Math"/>
                                  </a:rPr>
                                  <m:t>𝟓𝐨</m:t>
                                </m:r>
                              </m:oMath>
                            </m:oMathPara>
                          </a14:m>
                          <a:endParaRPr lang="pl-PL" sz="2000" b="1"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6"/>
                      </a:ext>
                    </a:extLst>
                  </a:tr>
                  <a:tr h="440200">
                    <a:tc>
                      <a:txBody>
                        <a:bodyPr/>
                        <a:lstStyle/>
                        <a:p>
                          <a:pPr algn="ctr">
                            <a:spcAft>
                              <a:spcPts val="0"/>
                            </a:spcAft>
                          </a:pPr>
                          <a:r>
                            <a:rPr lang="en-CA" sz="1400" b="1">
                              <a:effectLst/>
                            </a:rPr>
                            <a:t>7</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𝟔𝟎</m:t>
                                </m:r>
                                <m:r>
                                  <a:rPr lang="pl-PL" sz="1400" b="1">
                                    <a:effectLst/>
                                    <a:latin typeface="Cambria Math"/>
                                  </a:rPr>
                                  <m:t> = </m:t>
                                </m:r>
                                <m:r>
                                  <a:rPr lang="pl-PL" sz="1400" b="1" i="1">
                                    <a:effectLst/>
                                    <a:latin typeface="Cambria Math"/>
                                  </a:rPr>
                                  <m:t>𝟏𝐬</m:t>
                                </m:r>
                                <m:r>
                                  <a:rPr lang="pl-PL" sz="1400" b="1">
                                    <a:effectLst/>
                                    <a:latin typeface="Cambria Math"/>
                                  </a:rPr>
                                  <m:t> + </m:t>
                                </m:r>
                                <m:r>
                                  <a:rPr lang="pl-PL" sz="1400" b="1" i="1">
                                    <a:effectLst/>
                                    <a:latin typeface="Cambria Math"/>
                                  </a:rPr>
                                  <m:t>𝟏𝐨</m:t>
                                </m:r>
                              </m:oMath>
                            </m:oMathPara>
                          </a14:m>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7"/>
                      </a:ext>
                    </a:extLst>
                  </a:tr>
                  <a:tr h="453786">
                    <a:tc>
                      <a:txBody>
                        <a:bodyPr/>
                        <a:lstStyle/>
                        <a:p>
                          <a:pPr algn="ctr">
                            <a:spcAft>
                              <a:spcPts val="0"/>
                            </a:spcAft>
                          </a:pPr>
                          <a:r>
                            <a:rPr lang="en-CA" sz="1400" b="1">
                              <a:effectLst/>
                            </a:rPr>
                            <a:t>8</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100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pl-PL" sz="1400" b="1" i="1">
                                    <a:effectLst/>
                                    <a:latin typeface="Cambria Math"/>
                                  </a:rPr>
                                  <m:t>𝟏𝟎𝟎</m:t>
                                </m:r>
                                <m:r>
                                  <a:rPr lang="pl-PL" sz="1400" b="1">
                                    <a:effectLst/>
                                    <a:latin typeface="Cambria Math"/>
                                  </a:rPr>
                                  <m:t> = </m:t>
                                </m:r>
                                <m:r>
                                  <a:rPr lang="pl-PL" sz="1400" b="1" i="1">
                                    <a:effectLst/>
                                    <a:latin typeface="Cambria Math"/>
                                  </a:rPr>
                                  <m:t>𝟏𝐬</m:t>
                                </m:r>
                                <m:r>
                                  <a:rPr lang="pl-PL" sz="1400" b="1">
                                    <a:effectLst/>
                                    <a:latin typeface="Cambria Math"/>
                                  </a:rPr>
                                  <m:t> + </m:t>
                                </m:r>
                                <m:r>
                                  <a:rPr lang="pl-PL" sz="1400" b="1" i="1">
                                    <a:effectLst/>
                                    <a:latin typeface="Cambria Math"/>
                                  </a:rPr>
                                  <m:t>𝟏𝐨</m:t>
                                </m:r>
                              </m:oMath>
                            </m:oMathPara>
                          </a14:m>
                          <a:endParaRPr lang="pl-PL" sz="2000" b="1" dirty="0">
                            <a:effectLst/>
                            <a:latin typeface="Calibri"/>
                            <a:ea typeface="Calibri"/>
                            <a:cs typeface="Times New Roman"/>
                          </a:endParaRPr>
                        </a:p>
                      </a:txBody>
                      <a:tcPr marL="68580" marR="68580" marT="0" marB="0" anchor="ctr"/>
                    </a:tc>
                    <a:extLst>
                      <a:ext uri="{0D108BD9-81ED-4DB2-BD59-A6C34878D82A}">
                        <a16:rowId xmlns:a16="http://schemas.microsoft.com/office/drawing/2014/main" val="10008"/>
                      </a:ext>
                    </a:extLst>
                  </a:tr>
                </a:tbl>
              </a:graphicData>
            </a:graphic>
          </p:graphicFrame>
        </mc:Choice>
        <mc:Fallback xmlns="">
          <p:graphicFrame>
            <p:nvGraphicFramePr>
              <p:cNvPr id="5" name="Tabela 4"/>
              <p:cNvGraphicFramePr>
                <a:graphicFrameLocks noGrp="1"/>
              </p:cNvGraphicFramePr>
              <p:nvPr>
                <p:extLst>
                  <p:ext uri="{D42A27DB-BD31-4B8C-83A1-F6EECF244321}">
                    <p14:modId xmlns:p14="http://schemas.microsoft.com/office/powerpoint/2010/main" val="1391603886"/>
                  </p:ext>
                </p:extLst>
              </p:nvPr>
            </p:nvGraphicFramePr>
            <p:xfrm>
              <a:off x="1003853" y="1268760"/>
              <a:ext cx="5740221" cy="4229610"/>
            </p:xfrm>
            <a:graphic>
              <a:graphicData uri="http://schemas.openxmlformats.org/drawingml/2006/table">
                <a:tbl>
                  <a:tblPr firstRow="1" firstCol="1" bandRow="1">
                    <a:tableStyleId>{5940675A-B579-460E-94D1-54222C63F5DA}</a:tableStyleId>
                  </a:tblPr>
                  <a:tblGrid>
                    <a:gridCol w="725556">
                      <a:extLst>
                        <a:ext uri="{9D8B030D-6E8A-4147-A177-3AD203B41FA5}">
                          <a16:colId xmlns:a16="http://schemas.microsoft.com/office/drawing/2014/main" val="20000"/>
                        </a:ext>
                      </a:extLst>
                    </a:gridCol>
                    <a:gridCol w="1054225">
                      <a:extLst>
                        <a:ext uri="{9D8B030D-6E8A-4147-A177-3AD203B41FA5}">
                          <a16:colId xmlns:a16="http://schemas.microsoft.com/office/drawing/2014/main" val="20001"/>
                        </a:ext>
                      </a:extLst>
                    </a:gridCol>
                    <a:gridCol w="576064">
                      <a:extLst>
                        <a:ext uri="{9D8B030D-6E8A-4147-A177-3AD203B41FA5}">
                          <a16:colId xmlns:a16="http://schemas.microsoft.com/office/drawing/2014/main" val="20002"/>
                        </a:ext>
                      </a:extLst>
                    </a:gridCol>
                    <a:gridCol w="576198">
                      <a:extLst>
                        <a:ext uri="{9D8B030D-6E8A-4147-A177-3AD203B41FA5}">
                          <a16:colId xmlns:a16="http://schemas.microsoft.com/office/drawing/2014/main" val="20003"/>
                        </a:ext>
                      </a:extLst>
                    </a:gridCol>
                    <a:gridCol w="501880">
                      <a:extLst>
                        <a:ext uri="{9D8B030D-6E8A-4147-A177-3AD203B41FA5}">
                          <a16:colId xmlns:a16="http://schemas.microsoft.com/office/drawing/2014/main" val="20004"/>
                        </a:ext>
                      </a:extLst>
                    </a:gridCol>
                    <a:gridCol w="486562">
                      <a:extLst>
                        <a:ext uri="{9D8B030D-6E8A-4147-A177-3AD203B41FA5}">
                          <a16:colId xmlns:a16="http://schemas.microsoft.com/office/drawing/2014/main" val="20005"/>
                        </a:ext>
                      </a:extLst>
                    </a:gridCol>
                    <a:gridCol w="1819736">
                      <a:extLst>
                        <a:ext uri="{9D8B030D-6E8A-4147-A177-3AD203B41FA5}">
                          <a16:colId xmlns:a16="http://schemas.microsoft.com/office/drawing/2014/main" val="20006"/>
                        </a:ext>
                      </a:extLst>
                    </a:gridCol>
                  </a:tblGrid>
                  <a:tr h="640080">
                    <a:tc>
                      <a:txBody>
                        <a:bodyPr/>
                        <a:lstStyle/>
                        <a:p>
                          <a:pPr algn="ctr">
                            <a:spcAft>
                              <a:spcPts val="0"/>
                            </a:spcAft>
                          </a:pPr>
                          <a:r>
                            <a:rPr lang="en-CA" sz="1400" b="1" dirty="0">
                              <a:effectLst/>
                            </a:rPr>
                            <a:t>Round</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Token endowment</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a:effectLst/>
                            </a:rPr>
                            <a:t>Hold value</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Pass value</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err="1">
                              <a:effectLst/>
                            </a:rPr>
                            <a:t>p</a:t>
                          </a:r>
                          <a:r>
                            <a:rPr lang="en-CA" sz="1400" b="1" baseline="-25000" dirty="0" err="1">
                              <a:effectLst/>
                            </a:rPr>
                            <a:t>s</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p</a:t>
                          </a:r>
                          <a:r>
                            <a:rPr lang="en-CA" sz="1400" b="1" baseline="-25000">
                              <a:effectLst/>
                            </a:rPr>
                            <a:t>o</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US" sz="1400" b="1">
                              <a:effectLst/>
                            </a:rPr>
                            <a:t>Budget constraints</a:t>
                          </a:r>
                          <a:endParaRPr lang="pl-PL" sz="2000" b="1">
                            <a:effectLst/>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453786">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40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0.33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143243" r="-669" b="-700000"/>
                          </a:stretch>
                        </a:blipFill>
                      </a:tcPr>
                    </a:tc>
                    <a:extLst>
                      <a:ext uri="{0D108BD9-81ED-4DB2-BD59-A6C34878D82A}">
                        <a16:rowId xmlns:a16="http://schemas.microsoft.com/office/drawing/2014/main" val="10001"/>
                      </a:ext>
                    </a:extLst>
                  </a:tr>
                  <a:tr h="440200">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pl-PL" sz="1400" b="1" dirty="0" smtClean="0">
                              <a:effectLst/>
                            </a:rPr>
                            <a:t>4</a:t>
                          </a:r>
                          <a:r>
                            <a:rPr lang="en-CA" sz="1400" b="1" dirty="0" smtClean="0">
                              <a:effectLst/>
                            </a:rPr>
                            <a:t>0</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0.33</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246575" r="-669" b="-609589"/>
                          </a:stretch>
                        </a:blipFill>
                      </a:tcPr>
                    </a:tc>
                    <a:extLst>
                      <a:ext uri="{0D108BD9-81ED-4DB2-BD59-A6C34878D82A}">
                        <a16:rowId xmlns:a16="http://schemas.microsoft.com/office/drawing/2014/main" val="10002"/>
                      </a:ext>
                    </a:extLst>
                  </a:tr>
                  <a:tr h="453786">
                    <a:tc>
                      <a:txBody>
                        <a:bodyPr/>
                        <a:lstStyle/>
                        <a:p>
                          <a:pPr algn="ctr">
                            <a:spcAft>
                              <a:spcPts val="0"/>
                            </a:spcAft>
                          </a:pPr>
                          <a:r>
                            <a:rPr lang="en-CA" sz="1400" b="1">
                              <a:effectLst/>
                            </a:rPr>
                            <a:t>3</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341892" r="-669" b="-501351"/>
                          </a:stretch>
                        </a:blipFill>
                      </a:tcPr>
                    </a:tc>
                    <a:extLst>
                      <a:ext uri="{0D108BD9-81ED-4DB2-BD59-A6C34878D82A}">
                        <a16:rowId xmlns:a16="http://schemas.microsoft.com/office/drawing/2014/main" val="10003"/>
                      </a:ext>
                    </a:extLst>
                  </a:tr>
                  <a:tr h="453786">
                    <a:tc>
                      <a:txBody>
                        <a:bodyPr/>
                        <a:lstStyle/>
                        <a:p>
                          <a:pPr algn="ctr">
                            <a:spcAft>
                              <a:spcPts val="0"/>
                            </a:spcAft>
                          </a:pPr>
                          <a:r>
                            <a:rPr lang="en-CA" sz="1400" b="1">
                              <a:effectLst/>
                            </a:rPr>
                            <a:t>4</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436000" r="-669" b="-394667"/>
                          </a:stretch>
                        </a:blipFill>
                      </a:tcPr>
                    </a:tc>
                    <a:extLst>
                      <a:ext uri="{0D108BD9-81ED-4DB2-BD59-A6C34878D82A}">
                        <a16:rowId xmlns:a16="http://schemas.microsoft.com/office/drawing/2014/main" val="10004"/>
                      </a:ext>
                    </a:extLst>
                  </a:tr>
                  <a:tr h="440200">
                    <a:tc>
                      <a:txBody>
                        <a:bodyPr/>
                        <a:lstStyle/>
                        <a:p>
                          <a:pPr algn="ctr">
                            <a:spcAft>
                              <a:spcPts val="0"/>
                            </a:spcAft>
                          </a:pPr>
                          <a:r>
                            <a:rPr lang="en-CA" sz="1400" b="1">
                              <a:effectLst/>
                            </a:rPr>
                            <a:t>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75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558333" r="-669" b="-311111"/>
                          </a:stretch>
                        </a:blipFill>
                      </a:tcPr>
                    </a:tc>
                    <a:extLst>
                      <a:ext uri="{0D108BD9-81ED-4DB2-BD59-A6C34878D82A}">
                        <a16:rowId xmlns:a16="http://schemas.microsoft.com/office/drawing/2014/main" val="10005"/>
                      </a:ext>
                    </a:extLst>
                  </a:tr>
                  <a:tr h="453786">
                    <a:tc>
                      <a:txBody>
                        <a:bodyPr/>
                        <a:lstStyle/>
                        <a:p>
                          <a:pPr algn="ctr">
                            <a:spcAft>
                              <a:spcPts val="0"/>
                            </a:spcAft>
                          </a:pPr>
                          <a:r>
                            <a:rPr lang="en-CA" sz="1400" b="1">
                              <a:effectLst/>
                            </a:rPr>
                            <a:t>6</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75</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2</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dirty="0">
                              <a:effectLst/>
                            </a:rPr>
                            <a:t>1</a:t>
                          </a:r>
                          <a:endParaRPr lang="pl-PL" sz="2000" b="1" dirty="0">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0.5</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640541" r="-669" b="-202703"/>
                          </a:stretch>
                        </a:blipFill>
                      </a:tcPr>
                    </a:tc>
                    <a:extLst>
                      <a:ext uri="{0D108BD9-81ED-4DB2-BD59-A6C34878D82A}">
                        <a16:rowId xmlns:a16="http://schemas.microsoft.com/office/drawing/2014/main" val="10006"/>
                      </a:ext>
                    </a:extLst>
                  </a:tr>
                  <a:tr h="440200">
                    <a:tc>
                      <a:txBody>
                        <a:bodyPr/>
                        <a:lstStyle/>
                        <a:p>
                          <a:pPr algn="ctr">
                            <a:spcAft>
                              <a:spcPts val="0"/>
                            </a:spcAft>
                          </a:pPr>
                          <a:r>
                            <a:rPr lang="en-CA" sz="1400" b="1">
                              <a:effectLst/>
                            </a:rPr>
                            <a:t>7</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60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750685" r="-669" b="-105479"/>
                          </a:stretch>
                        </a:blipFill>
                      </a:tcPr>
                    </a:tc>
                    <a:extLst>
                      <a:ext uri="{0D108BD9-81ED-4DB2-BD59-A6C34878D82A}">
                        <a16:rowId xmlns:a16="http://schemas.microsoft.com/office/drawing/2014/main" val="10007"/>
                      </a:ext>
                    </a:extLst>
                  </a:tr>
                  <a:tr h="453786">
                    <a:tc>
                      <a:txBody>
                        <a:bodyPr/>
                        <a:lstStyle/>
                        <a:p>
                          <a:pPr algn="ctr">
                            <a:spcAft>
                              <a:spcPts val="0"/>
                            </a:spcAft>
                          </a:pPr>
                          <a:r>
                            <a:rPr lang="en-CA" sz="1400" b="1">
                              <a:effectLst/>
                            </a:rPr>
                            <a:t>8</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100</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pPr algn="ctr">
                            <a:spcAft>
                              <a:spcPts val="0"/>
                            </a:spcAft>
                          </a:pPr>
                          <a:r>
                            <a:rPr lang="en-CA" sz="1400" b="1">
                              <a:effectLst/>
                            </a:rPr>
                            <a:t>1</a:t>
                          </a:r>
                          <a:endParaRPr lang="pl-PL" sz="2000" b="1">
                            <a:effectLst/>
                            <a:latin typeface="Calibri"/>
                            <a:ea typeface="Calibri"/>
                            <a:cs typeface="Times New Roman"/>
                          </a:endParaRPr>
                        </a:p>
                      </a:txBody>
                      <a:tcPr marL="68580" marR="68580" marT="0" marB="0" anchor="ctr"/>
                    </a:tc>
                    <a:tc>
                      <a:txBody>
                        <a:bodyPr/>
                        <a:lstStyle/>
                        <a:p>
                          <a:endParaRPr lang="pl-PL"/>
                        </a:p>
                      </a:txBody>
                      <a:tcPr marL="68580" marR="68580" marT="0" marB="0" anchor="ctr">
                        <a:blipFill>
                          <a:blip r:embed="rId2"/>
                          <a:stretch>
                            <a:fillRect l="-215719" t="-839189" r="-669" b="-4054"/>
                          </a:stretch>
                        </a:blipFill>
                      </a:tcPr>
                    </a:tc>
                    <a:extLst>
                      <a:ext uri="{0D108BD9-81ED-4DB2-BD59-A6C34878D82A}">
                        <a16:rowId xmlns:a16="http://schemas.microsoft.com/office/drawing/2014/main" val="10008"/>
                      </a:ext>
                    </a:extLst>
                  </a:tr>
                </a:tbl>
              </a:graphicData>
            </a:graphic>
          </p:graphicFrame>
        </mc:Fallback>
      </mc:AlternateContent>
      <p:sp>
        <p:nvSpPr>
          <p:cNvPr id="6"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sp>
        <p:nvSpPr>
          <p:cNvPr id="8"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l-PL">
              <a:solidFill>
                <a:prstClr val="black"/>
              </a:solidFill>
              <a:latin typeface="Calibri"/>
            </a:endParaRPr>
          </a:p>
        </p:txBody>
      </p:sp>
      <p:sp>
        <p:nvSpPr>
          <p:cNvPr id="10" name="Prostokąt 9"/>
          <p:cNvSpPr/>
          <p:nvPr/>
        </p:nvSpPr>
        <p:spPr>
          <a:xfrm>
            <a:off x="133149" y="5584246"/>
            <a:ext cx="11925701" cy="1015663"/>
          </a:xfrm>
          <a:prstGeom prst="rect">
            <a:avLst/>
          </a:prstGeom>
        </p:spPr>
        <p:txBody>
          <a:bodyPr wrap="square">
            <a:spAutoFit/>
          </a:bodyPr>
          <a:lstStyle/>
          <a:p>
            <a:pPr algn="just"/>
            <a:r>
              <a:rPr lang="en-US" sz="2000" dirty="0">
                <a:solidFill>
                  <a:srgbClr val="4BACC6">
                    <a:lumMod val="50000"/>
                  </a:srgbClr>
                </a:solidFill>
                <a:latin typeface="Calibri"/>
              </a:rPr>
              <a:t>Our choice between two goods:  „Payment to self” (S) /  „Payment to other” (O) is constrained by the </a:t>
            </a:r>
            <a:endParaRPr lang="pl-PL" sz="2000" dirty="0">
              <a:solidFill>
                <a:srgbClr val="4BACC6">
                  <a:lumMod val="50000"/>
                </a:srgbClr>
              </a:solidFill>
              <a:latin typeface="Calibri"/>
            </a:endParaRPr>
          </a:p>
          <a:p>
            <a:pPr marL="514350" indent="-514350" algn="just">
              <a:buAutoNum type="romanLcParenR"/>
            </a:pPr>
            <a:r>
              <a:rPr lang="en-US" sz="2000" dirty="0">
                <a:solidFill>
                  <a:srgbClr val="4BACC6">
                    <a:lumMod val="50000"/>
                  </a:srgbClr>
                </a:solidFill>
                <a:latin typeface="Calibri"/>
              </a:rPr>
              <a:t>endowment of tokens and </a:t>
            </a:r>
            <a:endParaRPr lang="pl-PL" sz="2000" dirty="0">
              <a:solidFill>
                <a:srgbClr val="4BACC6">
                  <a:lumMod val="50000"/>
                </a:srgbClr>
              </a:solidFill>
              <a:latin typeface="Calibri"/>
            </a:endParaRPr>
          </a:p>
          <a:p>
            <a:pPr marL="514350" indent="-514350" algn="just">
              <a:buAutoNum type="romanLcParenR"/>
            </a:pPr>
            <a:r>
              <a:rPr lang="en-US" sz="2000" dirty="0">
                <a:solidFill>
                  <a:srgbClr val="4BACC6">
                    <a:lumMod val="50000"/>
                  </a:srgbClr>
                </a:solidFill>
                <a:latin typeface="Calibri"/>
              </a:rPr>
              <a:t>ii) the prices / relative value of the two goods -&gt; we can construct </a:t>
            </a:r>
            <a:r>
              <a:rPr lang="en-US" sz="2000" b="1" i="1" dirty="0">
                <a:solidFill>
                  <a:srgbClr val="4BACC6">
                    <a:lumMod val="50000"/>
                  </a:srgbClr>
                </a:solidFill>
                <a:latin typeface="Calibri"/>
              </a:rPr>
              <a:t>the budget </a:t>
            </a:r>
            <a:r>
              <a:rPr lang="en-US" sz="2000" b="1" i="1" dirty="0" err="1">
                <a:solidFill>
                  <a:srgbClr val="4BACC6">
                    <a:lumMod val="50000"/>
                  </a:srgbClr>
                </a:solidFill>
                <a:latin typeface="Calibri"/>
              </a:rPr>
              <a:t>constr</a:t>
            </a:r>
            <a:r>
              <a:rPr lang="pl-PL" sz="2000" b="1" i="1" dirty="0">
                <a:solidFill>
                  <a:srgbClr val="4BACC6">
                    <a:lumMod val="50000"/>
                  </a:srgbClr>
                </a:solidFill>
                <a:latin typeface="Calibri"/>
              </a:rPr>
              <a:t>a</a:t>
            </a:r>
            <a:r>
              <a:rPr lang="en-US" sz="2000" b="1" i="1" dirty="0">
                <a:solidFill>
                  <a:srgbClr val="4BACC6">
                    <a:lumMod val="50000"/>
                  </a:srgbClr>
                </a:solidFill>
                <a:latin typeface="Calibri"/>
              </a:rPr>
              <a:t>in</a:t>
            </a:r>
            <a:r>
              <a:rPr lang="pl-PL" sz="2000" b="1" i="1" dirty="0">
                <a:solidFill>
                  <a:srgbClr val="4BACC6">
                    <a:lumMod val="50000"/>
                  </a:srgbClr>
                </a:solidFill>
                <a:latin typeface="Calibri"/>
              </a:rPr>
              <a:t> </a:t>
            </a:r>
            <a:r>
              <a:rPr lang="pl-PL" sz="2000" i="1" dirty="0">
                <a:solidFill>
                  <a:srgbClr val="4BACC6">
                    <a:lumMod val="50000"/>
                  </a:srgbClr>
                </a:solidFill>
                <a:latin typeface="Calibri"/>
              </a:rPr>
              <a:t>for </a:t>
            </a:r>
            <a:r>
              <a:rPr lang="pl-PL" sz="2000" i="1" dirty="0" err="1">
                <a:solidFill>
                  <a:srgbClr val="4BACC6">
                    <a:lumMod val="50000"/>
                  </a:srgbClr>
                </a:solidFill>
                <a:latin typeface="Calibri"/>
              </a:rPr>
              <a:t>each</a:t>
            </a:r>
            <a:r>
              <a:rPr lang="pl-PL" sz="2000" i="1" dirty="0">
                <a:solidFill>
                  <a:srgbClr val="4BACC6">
                    <a:lumMod val="50000"/>
                  </a:srgbClr>
                </a:solidFill>
                <a:latin typeface="Calibri"/>
              </a:rPr>
              <a:t> </a:t>
            </a:r>
            <a:r>
              <a:rPr lang="pl-PL" sz="2000" i="1" dirty="0" err="1">
                <a:solidFill>
                  <a:srgbClr val="4BACC6">
                    <a:lumMod val="50000"/>
                  </a:srgbClr>
                </a:solidFill>
                <a:latin typeface="Calibri"/>
              </a:rPr>
              <a:t>round</a:t>
            </a:r>
            <a:r>
              <a:rPr lang="en-US" sz="2000" dirty="0">
                <a:solidFill>
                  <a:srgbClr val="4BACC6">
                    <a:lumMod val="50000"/>
                  </a:srgbClr>
                </a:solidFill>
                <a:latin typeface="Calibri"/>
              </a:rPr>
              <a:t>. </a:t>
            </a:r>
            <a:endParaRPr lang="pl-PL" sz="2000" dirty="0">
              <a:solidFill>
                <a:prstClr val="black"/>
              </a:solidFill>
              <a:latin typeface="Calibri"/>
            </a:endParaRPr>
          </a:p>
        </p:txBody>
      </p:sp>
      <p:pic>
        <p:nvPicPr>
          <p:cNvPr id="7" name="Obraz 6"/>
          <p:cNvPicPr>
            <a:picLocks noChangeAspect="1"/>
          </p:cNvPicPr>
          <p:nvPr/>
        </p:nvPicPr>
        <p:blipFill rotWithShape="1">
          <a:blip r:embed="rId3"/>
          <a:srcRect t="14741" b="5113"/>
          <a:stretch/>
        </p:blipFill>
        <p:spPr>
          <a:xfrm>
            <a:off x="6841958" y="1268760"/>
            <a:ext cx="5216892" cy="4229610"/>
          </a:xfrm>
          <a:prstGeom prst="rect">
            <a:avLst/>
          </a:prstGeom>
        </p:spPr>
      </p:pic>
    </p:spTree>
    <p:extLst>
      <p:ext uri="{BB962C8B-B14F-4D97-AF65-F5344CB8AC3E}">
        <p14:creationId xmlns:p14="http://schemas.microsoft.com/office/powerpoint/2010/main" val="2613174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3" name="Symbol zastępczy zawartości 2"/>
          <p:cNvSpPr>
            <a:spLocks noGrp="1"/>
          </p:cNvSpPr>
          <p:nvPr>
            <p:ph idx="1"/>
          </p:nvPr>
        </p:nvSpPr>
        <p:spPr>
          <a:xfrm>
            <a:off x="424474" y="2011050"/>
            <a:ext cx="11088303" cy="3503745"/>
          </a:xfrm>
        </p:spPr>
        <p:txBody>
          <a:bodyPr>
            <a:noAutofit/>
          </a:bodyPr>
          <a:lstStyle/>
          <a:p>
            <a:pPr marL="0" indent="0" algn="just">
              <a:buNone/>
            </a:pPr>
            <a:r>
              <a:rPr lang="pl-PL" sz="2800" b="1" dirty="0" err="1">
                <a:solidFill>
                  <a:schemeClr val="accent5">
                    <a:lumMod val="50000"/>
                  </a:schemeClr>
                </a:solidFill>
              </a:rPr>
              <a:t>Testing</a:t>
            </a:r>
            <a:r>
              <a:rPr lang="pl-PL" sz="2800" b="1" dirty="0">
                <a:solidFill>
                  <a:schemeClr val="accent5">
                    <a:lumMod val="50000"/>
                  </a:schemeClr>
                </a:solidFill>
              </a:rPr>
              <a:t> „</a:t>
            </a:r>
            <a:r>
              <a:rPr lang="pl-PL" sz="2800" b="1" dirty="0" err="1">
                <a:solidFill>
                  <a:schemeClr val="accent5">
                    <a:lumMod val="50000"/>
                  </a:schemeClr>
                </a:solidFill>
              </a:rPr>
              <a:t>rationality</a:t>
            </a:r>
            <a:r>
              <a:rPr lang="pl-PL" sz="2800" b="1" dirty="0">
                <a:solidFill>
                  <a:schemeClr val="accent5">
                    <a:lumMod val="50000"/>
                  </a:schemeClr>
                </a:solidFill>
              </a:rPr>
              <a:t>” </a:t>
            </a:r>
          </a:p>
          <a:p>
            <a:pPr marL="0" indent="0" algn="just">
              <a:buNone/>
            </a:pPr>
            <a:r>
              <a:rPr lang="pl-PL" sz="2800" dirty="0">
                <a:solidFill>
                  <a:schemeClr val="accent5">
                    <a:lumMod val="50000"/>
                  </a:schemeClr>
                </a:solidFill>
              </a:rPr>
              <a:t>We </a:t>
            </a:r>
            <a:r>
              <a:rPr lang="pl-PL" sz="2800" dirty="0" err="1">
                <a:solidFill>
                  <a:schemeClr val="accent5">
                    <a:lumMod val="50000"/>
                  </a:schemeClr>
                </a:solidFill>
              </a:rPr>
              <a:t>can</a:t>
            </a:r>
            <a:r>
              <a:rPr lang="pl-PL" sz="2800" dirty="0">
                <a:solidFill>
                  <a:schemeClr val="accent5">
                    <a:lumMod val="50000"/>
                  </a:schemeClr>
                </a:solidFill>
              </a:rPr>
              <a:t> test: W</a:t>
            </a:r>
            <a:r>
              <a:rPr lang="en-US" sz="2800" dirty="0" err="1">
                <a:solidFill>
                  <a:schemeClr val="accent5">
                    <a:lumMod val="50000"/>
                  </a:schemeClr>
                </a:solidFill>
              </a:rPr>
              <a:t>eak</a:t>
            </a:r>
            <a:r>
              <a:rPr lang="en-US" sz="2800" dirty="0">
                <a:solidFill>
                  <a:schemeClr val="accent5">
                    <a:lumMod val="50000"/>
                  </a:schemeClr>
                </a:solidFill>
              </a:rPr>
              <a:t> Axiom of Revealed Preference (WARP)</a:t>
            </a:r>
            <a:r>
              <a:rPr lang="pl-PL" sz="2800" dirty="0">
                <a:solidFill>
                  <a:schemeClr val="accent5">
                    <a:lumMod val="50000"/>
                  </a:schemeClr>
                </a:solidFill>
              </a:rPr>
              <a:t> and </a:t>
            </a:r>
            <a:r>
              <a:rPr lang="en-US" sz="2800" dirty="0">
                <a:solidFill>
                  <a:schemeClr val="accent5">
                    <a:lumMod val="50000"/>
                  </a:schemeClr>
                </a:solidFill>
              </a:rPr>
              <a:t>Strong Axiom of Revealed Preference (SARP)</a:t>
            </a:r>
            <a:r>
              <a:rPr lang="pl-PL" sz="2800" dirty="0">
                <a:solidFill>
                  <a:schemeClr val="accent5">
                    <a:lumMod val="50000"/>
                  </a:schemeClr>
                </a:solidFill>
              </a:rPr>
              <a:t>. </a:t>
            </a:r>
            <a:r>
              <a:rPr lang="pl-PL" sz="2800" dirty="0" err="1">
                <a:solidFill>
                  <a:schemeClr val="accent5">
                    <a:lumMod val="50000"/>
                  </a:schemeClr>
                </a:solidFill>
              </a:rPr>
              <a:t>These</a:t>
            </a:r>
            <a:r>
              <a:rPr lang="pl-PL" sz="2800" dirty="0">
                <a:solidFill>
                  <a:schemeClr val="accent5">
                    <a:lumMod val="50000"/>
                  </a:schemeClr>
                </a:solidFill>
              </a:rPr>
              <a:t> </a:t>
            </a:r>
            <a:r>
              <a:rPr lang="pl-PL" sz="2800" dirty="0" err="1">
                <a:solidFill>
                  <a:schemeClr val="accent5">
                    <a:lumMod val="50000"/>
                  </a:schemeClr>
                </a:solidFill>
              </a:rPr>
              <a:t>tests</a:t>
            </a:r>
            <a:r>
              <a:rPr lang="pl-PL" sz="2800" dirty="0">
                <a:solidFill>
                  <a:schemeClr val="accent5">
                    <a:lumMod val="50000"/>
                  </a:schemeClr>
                </a:solidFill>
              </a:rPr>
              <a:t> </a:t>
            </a:r>
            <a:r>
              <a:rPr lang="pl-PL" sz="2800" dirty="0" err="1">
                <a:solidFill>
                  <a:schemeClr val="accent5">
                    <a:lumMod val="50000"/>
                  </a:schemeClr>
                </a:solidFill>
              </a:rPr>
              <a:t>indicate</a:t>
            </a:r>
            <a:r>
              <a:rPr lang="pl-PL" sz="2800" dirty="0">
                <a:solidFill>
                  <a:schemeClr val="accent5">
                    <a:lumMod val="50000"/>
                  </a:schemeClr>
                </a:solidFill>
              </a:rPr>
              <a:t> </a:t>
            </a:r>
            <a:r>
              <a:rPr lang="pl-PL" sz="2800" dirty="0" err="1">
                <a:solidFill>
                  <a:schemeClr val="accent5">
                    <a:lumMod val="50000"/>
                  </a:schemeClr>
                </a:solidFill>
              </a:rPr>
              <a:t>when</a:t>
            </a:r>
            <a:r>
              <a:rPr lang="pl-PL" sz="2800" dirty="0">
                <a:solidFill>
                  <a:schemeClr val="accent5">
                    <a:lumMod val="50000"/>
                  </a:schemeClr>
                </a:solidFill>
              </a:rPr>
              <a:t> </a:t>
            </a:r>
            <a:r>
              <a:rPr lang="pl-PL" sz="2800" dirty="0" err="1">
                <a:solidFill>
                  <a:schemeClr val="accent5">
                    <a:lumMod val="50000"/>
                  </a:schemeClr>
                </a:solidFill>
              </a:rPr>
              <a:t>our</a:t>
            </a:r>
            <a:r>
              <a:rPr lang="pl-PL" sz="2800" dirty="0">
                <a:solidFill>
                  <a:schemeClr val="accent5">
                    <a:lumMod val="50000"/>
                  </a:schemeClr>
                </a:solidFill>
              </a:rPr>
              <a:t> </a:t>
            </a:r>
            <a:r>
              <a:rPr lang="pl-PL" sz="2800" dirty="0" err="1">
                <a:solidFill>
                  <a:schemeClr val="accent5">
                    <a:lumMod val="50000"/>
                  </a:schemeClr>
                </a:solidFill>
              </a:rPr>
              <a:t>choices</a:t>
            </a:r>
            <a:r>
              <a:rPr lang="pl-PL" sz="2800" dirty="0">
                <a:solidFill>
                  <a:schemeClr val="accent5">
                    <a:lumMod val="50000"/>
                  </a:schemeClr>
                </a:solidFill>
              </a:rPr>
              <a:t> </a:t>
            </a:r>
            <a:r>
              <a:rPr lang="pl-PL" sz="2800" dirty="0" err="1">
                <a:solidFill>
                  <a:schemeClr val="accent5">
                    <a:lumMod val="50000"/>
                  </a:schemeClr>
                </a:solidFill>
              </a:rPr>
              <a:t>are</a:t>
            </a:r>
            <a:r>
              <a:rPr lang="pl-PL" sz="2800" dirty="0">
                <a:solidFill>
                  <a:schemeClr val="accent5">
                    <a:lumMod val="50000"/>
                  </a:schemeClr>
                </a:solidFill>
              </a:rPr>
              <a:t> </a:t>
            </a:r>
            <a:r>
              <a:rPr lang="pl-PL" sz="2800" dirty="0" err="1">
                <a:solidFill>
                  <a:schemeClr val="accent5">
                    <a:lumMod val="50000"/>
                  </a:schemeClr>
                </a:solidFill>
              </a:rPr>
              <a:t>inconsistent</a:t>
            </a:r>
            <a:r>
              <a:rPr lang="pl-PL" sz="2800" dirty="0">
                <a:solidFill>
                  <a:schemeClr val="accent5">
                    <a:lumMod val="50000"/>
                  </a:schemeClr>
                </a:solidFill>
              </a:rPr>
              <a:t>.</a:t>
            </a:r>
          </a:p>
          <a:p>
            <a:pPr marL="0" indent="0" algn="just">
              <a:buNone/>
            </a:pPr>
            <a:endParaRPr lang="pl-PL" sz="2800" b="1" dirty="0">
              <a:solidFill>
                <a:srgbClr val="4BACC6">
                  <a:lumMod val="50000"/>
                </a:srgbClr>
              </a:solidFill>
            </a:endParaRPr>
          </a:p>
          <a:p>
            <a:pPr marL="0" indent="0" algn="just">
              <a:buNone/>
            </a:pPr>
            <a:r>
              <a:rPr lang="pl-PL" sz="2800" b="1" dirty="0">
                <a:solidFill>
                  <a:srgbClr val="4BACC6">
                    <a:lumMod val="50000"/>
                  </a:srgbClr>
                </a:solidFill>
              </a:rPr>
              <a:t>A</a:t>
            </a:r>
            <a:r>
              <a:rPr lang="en-US" sz="2800" b="1" dirty="0" err="1">
                <a:solidFill>
                  <a:srgbClr val="4BACC6">
                    <a:lumMod val="50000"/>
                  </a:srgbClr>
                </a:solidFill>
              </a:rPr>
              <a:t>xioms</a:t>
            </a:r>
            <a:r>
              <a:rPr lang="en-US" sz="2800" b="1" dirty="0">
                <a:solidFill>
                  <a:srgbClr val="4BACC6">
                    <a:lumMod val="50000"/>
                  </a:srgbClr>
                </a:solidFill>
              </a:rPr>
              <a:t> of </a:t>
            </a:r>
            <a:r>
              <a:rPr lang="pl-PL" sz="2800" b="1" dirty="0" err="1">
                <a:solidFill>
                  <a:srgbClr val="4BACC6">
                    <a:lumMod val="50000"/>
                  </a:srgbClr>
                </a:solidFill>
              </a:rPr>
              <a:t>rational</a:t>
            </a:r>
            <a:r>
              <a:rPr lang="pl-PL" sz="2800" b="1" dirty="0">
                <a:solidFill>
                  <a:srgbClr val="4BACC6">
                    <a:lumMod val="50000"/>
                  </a:srgbClr>
                </a:solidFill>
              </a:rPr>
              <a:t> </a:t>
            </a:r>
            <a:r>
              <a:rPr lang="en-US" sz="2800" b="1" dirty="0">
                <a:solidFill>
                  <a:srgbClr val="4BACC6">
                    <a:lumMod val="50000"/>
                  </a:srgbClr>
                </a:solidFill>
              </a:rPr>
              <a:t>choice:</a:t>
            </a:r>
            <a:endParaRPr lang="pl-PL" sz="2800" b="1" dirty="0">
              <a:solidFill>
                <a:srgbClr val="4BACC6">
                  <a:lumMod val="50000"/>
                </a:srgbClr>
              </a:solidFill>
            </a:endParaRPr>
          </a:p>
          <a:p>
            <a:pPr marL="0" indent="0" algn="just">
              <a:buNone/>
            </a:pPr>
            <a:r>
              <a:rPr lang="en-US" sz="2800" dirty="0">
                <a:solidFill>
                  <a:srgbClr val="4BACC6">
                    <a:lumMod val="50000"/>
                  </a:srgbClr>
                </a:solidFill>
              </a:rPr>
              <a:t>A preference ordering is</a:t>
            </a:r>
            <a:r>
              <a:rPr lang="pl-PL" sz="2800" dirty="0">
                <a:solidFill>
                  <a:srgbClr val="4BACC6">
                    <a:lumMod val="50000"/>
                  </a:srgbClr>
                </a:solidFill>
              </a:rPr>
              <a:t> </a:t>
            </a:r>
            <a:r>
              <a:rPr lang="en-US" sz="2800" dirty="0">
                <a:solidFill>
                  <a:srgbClr val="4BACC6">
                    <a:lumMod val="50000"/>
                  </a:srgbClr>
                </a:solidFill>
              </a:rPr>
              <a:t>complete, and transitive. </a:t>
            </a:r>
            <a:endParaRPr lang="pl-PL" sz="2800" dirty="0">
              <a:solidFill>
                <a:srgbClr val="4BACC6">
                  <a:lumMod val="50000"/>
                </a:srgbClr>
              </a:solidFill>
            </a:endParaRPr>
          </a:p>
          <a:p>
            <a:pPr marL="0" indent="0" algn="just">
              <a:buNone/>
            </a:pPr>
            <a:endParaRPr lang="pl-PL" sz="2800" dirty="0">
              <a:solidFill>
                <a:schemeClr val="accent5">
                  <a:lumMod val="50000"/>
                </a:schemeClr>
              </a:solidFill>
            </a:endParaRPr>
          </a:p>
          <a:p>
            <a:pPr marL="0" indent="0" algn="just">
              <a:buNone/>
            </a:pPr>
            <a:endParaRPr lang="pl-PL" sz="2800" dirty="0">
              <a:solidFill>
                <a:schemeClr val="accent5">
                  <a:lumMod val="50000"/>
                </a:schemeClr>
              </a:solidFill>
            </a:endParaRPr>
          </a:p>
          <a:p>
            <a:pPr marL="0" indent="0" algn="just">
              <a:buNone/>
            </a:pPr>
            <a:endParaRPr lang="pl-PL" sz="2800" dirty="0">
              <a:solidFill>
                <a:schemeClr val="accent5">
                  <a:lumMod val="50000"/>
                </a:schemeClr>
              </a:solidFill>
            </a:endParaRPr>
          </a:p>
          <a:p>
            <a:pPr marL="0" indent="0" algn="just">
              <a:buNone/>
            </a:pPr>
            <a:r>
              <a:rPr lang="pl-PL" sz="2800" dirty="0">
                <a:solidFill>
                  <a:schemeClr val="accent5">
                    <a:lumMod val="50000"/>
                  </a:schemeClr>
                </a:solidFill>
              </a:rPr>
              <a:t> </a:t>
            </a:r>
          </a:p>
        </p:txBody>
      </p:sp>
    </p:spTree>
    <p:extLst>
      <p:ext uri="{BB962C8B-B14F-4D97-AF65-F5344CB8AC3E}">
        <p14:creationId xmlns:p14="http://schemas.microsoft.com/office/powerpoint/2010/main" val="1906270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rostokąt 12"/>
          <p:cNvSpPr/>
          <p:nvPr/>
        </p:nvSpPr>
        <p:spPr>
          <a:xfrm>
            <a:off x="552671" y="840530"/>
            <a:ext cx="3354565" cy="523220"/>
          </a:xfrm>
          <a:prstGeom prst="rect">
            <a:avLst/>
          </a:prstGeom>
        </p:spPr>
        <p:txBody>
          <a:bodyPr wrap="square">
            <a:spAutoFit/>
          </a:bodyPr>
          <a:lstStyle/>
          <a:p>
            <a:r>
              <a:rPr lang="pl-PL" sz="2800" b="1" dirty="0" err="1">
                <a:solidFill>
                  <a:srgbClr val="4BACC6">
                    <a:lumMod val="50000"/>
                  </a:srgbClr>
                </a:solidFill>
                <a:latin typeface="Calibri"/>
              </a:rPr>
              <a:t>Rational</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choice</a:t>
            </a:r>
            <a:endParaRPr lang="pl-PL" sz="2800" dirty="0">
              <a:solidFill>
                <a:prstClr val="black"/>
              </a:solidFill>
              <a:latin typeface="Calibri"/>
            </a:endParaRPr>
          </a:p>
        </p:txBody>
      </p:sp>
      <p:sp>
        <p:nvSpPr>
          <p:cNvPr id="46" name="Prostokąt 45"/>
          <p:cNvSpPr/>
          <p:nvPr/>
        </p:nvSpPr>
        <p:spPr>
          <a:xfrm>
            <a:off x="1090209" y="3057313"/>
            <a:ext cx="5402510" cy="2246769"/>
          </a:xfrm>
          <a:prstGeom prst="rect">
            <a:avLst/>
          </a:prstGeom>
        </p:spPr>
        <p:txBody>
          <a:bodyPr wrap="square">
            <a:spAutoFit/>
          </a:bodyPr>
          <a:lstStyle/>
          <a:p>
            <a:pPr algn="just"/>
            <a:r>
              <a:rPr lang="en-US" sz="2800" dirty="0">
                <a:solidFill>
                  <a:srgbClr val="4BACC6">
                    <a:lumMod val="50000"/>
                  </a:srgbClr>
                </a:solidFill>
                <a:latin typeface="Calibri"/>
              </a:rPr>
              <a:t>Directly Revealed Prefer</a:t>
            </a:r>
            <a:r>
              <a:rPr lang="pl-PL" sz="2800" dirty="0" err="1">
                <a:solidFill>
                  <a:srgbClr val="4BACC6">
                    <a:lumMod val="50000"/>
                  </a:srgbClr>
                </a:solidFill>
                <a:latin typeface="Calibri"/>
              </a:rPr>
              <a:t>encies</a:t>
            </a:r>
            <a:r>
              <a:rPr lang="en-US" sz="2800" dirty="0">
                <a:solidFill>
                  <a:srgbClr val="4BACC6">
                    <a:lumMod val="50000"/>
                  </a:srgbClr>
                </a:solidFill>
                <a:latin typeface="Calibri"/>
              </a:rPr>
              <a:t>. </a:t>
            </a:r>
            <a:r>
              <a:rPr lang="pl-PL" sz="2800" dirty="0">
                <a:solidFill>
                  <a:srgbClr val="4BACC6">
                    <a:lumMod val="50000"/>
                  </a:srgbClr>
                </a:solidFill>
                <a:latin typeface="Calibri"/>
              </a:rPr>
              <a:t> </a:t>
            </a:r>
          </a:p>
          <a:p>
            <a:pPr algn="just"/>
            <a:endParaRPr lang="pl-PL" sz="2800" dirty="0">
              <a:solidFill>
                <a:srgbClr val="4BACC6">
                  <a:lumMod val="50000"/>
                </a:srgbClr>
              </a:solidFill>
              <a:latin typeface="Calibri"/>
            </a:endParaRPr>
          </a:p>
          <a:p>
            <a:pPr algn="just"/>
            <a:r>
              <a:rPr lang="en-GB" sz="2800" dirty="0">
                <a:solidFill>
                  <a:srgbClr val="4BACC6">
                    <a:lumMod val="50000"/>
                  </a:srgbClr>
                </a:solidFill>
                <a:latin typeface="Calibri"/>
              </a:rPr>
              <a:t>A bundle X is directly preferred to a bundle Y if Y was available when X was chosen.</a:t>
            </a:r>
            <a:endParaRPr lang="pl-PL" sz="2800" dirty="0">
              <a:solidFill>
                <a:srgbClr val="4BACC6">
                  <a:lumMod val="50000"/>
                </a:srgbClr>
              </a:solidFill>
              <a:latin typeface="Calibri"/>
            </a:endParaRPr>
          </a:p>
        </p:txBody>
      </p:sp>
      <p:grpSp>
        <p:nvGrpSpPr>
          <p:cNvPr id="3" name="Grupa 2"/>
          <p:cNvGrpSpPr/>
          <p:nvPr/>
        </p:nvGrpSpPr>
        <p:grpSpPr>
          <a:xfrm>
            <a:off x="4926074" y="1472664"/>
            <a:ext cx="6952191" cy="4948351"/>
            <a:chOff x="4473687" y="977186"/>
            <a:chExt cx="6952191" cy="5291487"/>
          </a:xfrm>
        </p:grpSpPr>
        <p:sp>
          <p:nvSpPr>
            <p:cNvPr id="41" name="Dowolny kształt 40"/>
            <p:cNvSpPr/>
            <p:nvPr/>
          </p:nvSpPr>
          <p:spPr>
            <a:xfrm>
              <a:off x="6393465" y="1710768"/>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solidFill>
                  <a:prstClr val="white"/>
                </a:solidFill>
                <a:latin typeface="Calibri"/>
              </a:endParaRPr>
            </a:p>
          </p:txBody>
        </p:sp>
        <p:grpSp>
          <p:nvGrpSpPr>
            <p:cNvPr id="2" name="Grupa 81"/>
            <p:cNvGrpSpPr/>
            <p:nvPr/>
          </p:nvGrpSpPr>
          <p:grpSpPr>
            <a:xfrm>
              <a:off x="6021350" y="977186"/>
              <a:ext cx="4752528" cy="4825330"/>
              <a:chOff x="3995936" y="836712"/>
              <a:chExt cx="4752528" cy="4825330"/>
            </a:xfrm>
          </p:grpSpPr>
          <p:cxnSp>
            <p:nvCxnSpPr>
              <p:cNvPr id="17" name="Łącznik prosty ze strzałką 16"/>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Łącznik prosty ze strzałką 17"/>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Łącznik prosty 22"/>
              <p:cNvCxnSpPr/>
              <p:nvPr/>
            </p:nvCxnSpPr>
            <p:spPr>
              <a:xfrm rot="16200000" flipH="1">
                <a:off x="3491880" y="2420888"/>
                <a:ext cx="3960440" cy="2232248"/>
              </a:xfrm>
              <a:prstGeom prst="line">
                <a:avLst/>
              </a:prstGeom>
              <a:ln>
                <a:solidFill>
                  <a:schemeClr val="accent3">
                    <a:lumMod val="50000"/>
                  </a:schemeClr>
                </a:solidFill>
              </a:ln>
            </p:spPr>
            <p:style>
              <a:lnRef idx="3">
                <a:schemeClr val="accent2"/>
              </a:lnRef>
              <a:fillRef idx="0">
                <a:schemeClr val="accent2"/>
              </a:fillRef>
              <a:effectRef idx="2">
                <a:schemeClr val="accent2"/>
              </a:effectRef>
              <a:fontRef idx="minor">
                <a:schemeClr val="tx1"/>
              </a:fontRef>
            </p:style>
          </p:cxnSp>
        </p:grpSp>
        <p:sp>
          <p:nvSpPr>
            <p:cNvPr id="35" name="Elipsa 34"/>
            <p:cNvSpPr/>
            <p:nvPr/>
          </p:nvSpPr>
          <p:spPr>
            <a:xfrm>
              <a:off x="7101470" y="2993410"/>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14" name="Prostokąt 13"/>
            <p:cNvSpPr/>
            <p:nvPr/>
          </p:nvSpPr>
          <p:spPr>
            <a:xfrm>
              <a:off x="7821550" y="2561362"/>
              <a:ext cx="1499770" cy="394943"/>
            </a:xfrm>
            <a:prstGeom prst="rect">
              <a:avLst/>
            </a:prstGeom>
          </p:spPr>
          <p:txBody>
            <a:bodyPr wrap="none">
              <a:spAutoFit/>
            </a:bodyPr>
            <a:lstStyle/>
            <a:p>
              <a:r>
                <a:rPr lang="en-US" dirty="0">
                  <a:solidFill>
                    <a:srgbClr val="4BACC6">
                      <a:lumMod val="50000"/>
                    </a:srgbClr>
                  </a:solidFill>
                  <a:latin typeface="Calibri"/>
                </a:rPr>
                <a:t>X was chosen</a:t>
              </a:r>
              <a:r>
                <a:rPr lang="en-US" i="1" dirty="0">
                  <a:solidFill>
                    <a:srgbClr val="4BACC6">
                      <a:lumMod val="50000"/>
                    </a:srgbClr>
                  </a:solidFill>
                  <a:latin typeface="Calibri"/>
                </a:rPr>
                <a:t>.</a:t>
              </a:r>
              <a:endParaRPr lang="pl-PL" dirty="0">
                <a:solidFill>
                  <a:prstClr val="black"/>
                </a:solidFill>
                <a:latin typeface="Calibri"/>
              </a:endParaRPr>
            </a:p>
          </p:txBody>
        </p:sp>
        <p:sp>
          <p:nvSpPr>
            <p:cNvPr id="15" name="Strzałka w dół 14"/>
            <p:cNvSpPr/>
            <p:nvPr/>
          </p:nvSpPr>
          <p:spPr>
            <a:xfrm rot="4075776">
              <a:off x="7193868" y="2693434"/>
              <a:ext cx="57606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19" name="Elipsa 18"/>
            <p:cNvSpPr/>
            <p:nvPr/>
          </p:nvSpPr>
          <p:spPr>
            <a:xfrm>
              <a:off x="7950925" y="4552618"/>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prstClr val="white"/>
                </a:solidFill>
                <a:latin typeface="Calibri"/>
              </a:endParaRPr>
            </a:p>
          </p:txBody>
        </p:sp>
        <p:sp>
          <p:nvSpPr>
            <p:cNvPr id="22" name="Prostokąt 21"/>
            <p:cNvSpPr/>
            <p:nvPr/>
          </p:nvSpPr>
          <p:spPr>
            <a:xfrm>
              <a:off x="7173478" y="1521700"/>
              <a:ext cx="4252400" cy="756973"/>
            </a:xfrm>
            <a:prstGeom prst="rect">
              <a:avLst/>
            </a:prstGeom>
          </p:spPr>
          <p:txBody>
            <a:bodyPr wrap="square">
              <a:spAutoFit/>
            </a:bodyPr>
            <a:lstStyle/>
            <a:p>
              <a:pPr algn="just"/>
              <a:r>
                <a:rPr lang="pl-PL" sz="2000" dirty="0">
                  <a:solidFill>
                    <a:srgbClr val="4BACC6">
                      <a:lumMod val="50000"/>
                    </a:srgbClr>
                  </a:solidFill>
                  <a:latin typeface="Calibri"/>
                </a:rPr>
                <a:t>B</a:t>
              </a:r>
              <a:r>
                <a:rPr lang="en-US" sz="2000" dirty="0" err="1">
                  <a:solidFill>
                    <a:srgbClr val="4BACC6">
                      <a:lumMod val="50000"/>
                    </a:srgbClr>
                  </a:solidFill>
                  <a:latin typeface="Calibri"/>
                </a:rPr>
                <a:t>undle</a:t>
              </a:r>
              <a:r>
                <a:rPr lang="en-US" sz="2000" dirty="0">
                  <a:solidFill>
                    <a:srgbClr val="4BACC6">
                      <a:lumMod val="50000"/>
                    </a:srgbClr>
                  </a:solidFill>
                  <a:latin typeface="Calibri"/>
                </a:rPr>
                <a:t> X was directly preferred to bundle </a:t>
              </a:r>
              <a:r>
                <a:rPr lang="pl-PL" sz="2000" dirty="0">
                  <a:solidFill>
                    <a:srgbClr val="4BACC6">
                      <a:lumMod val="50000"/>
                    </a:srgbClr>
                  </a:solidFill>
                  <a:latin typeface="Calibri"/>
                </a:rPr>
                <a:t>Y</a:t>
              </a:r>
            </a:p>
          </p:txBody>
        </p:sp>
        <p:sp>
          <p:nvSpPr>
            <p:cNvPr id="24" name="Prostokąt 23"/>
            <p:cNvSpPr/>
            <p:nvPr/>
          </p:nvSpPr>
          <p:spPr>
            <a:xfrm>
              <a:off x="8350838" y="4407453"/>
              <a:ext cx="296876" cy="394943"/>
            </a:xfrm>
            <a:prstGeom prst="rect">
              <a:avLst/>
            </a:prstGeom>
          </p:spPr>
          <p:txBody>
            <a:bodyPr wrap="none">
              <a:spAutoFit/>
            </a:bodyPr>
            <a:lstStyle/>
            <a:p>
              <a:r>
                <a:rPr lang="pl-PL" dirty="0">
                  <a:solidFill>
                    <a:srgbClr val="4BACC6">
                      <a:lumMod val="50000"/>
                    </a:srgbClr>
                  </a:solidFill>
                  <a:latin typeface="Calibri"/>
                </a:rPr>
                <a:t>Y</a:t>
              </a:r>
              <a:endParaRPr lang="pl-PL" dirty="0">
                <a:solidFill>
                  <a:prstClr val="black"/>
                </a:solidFill>
                <a:latin typeface="Calibri"/>
              </a:endParaRPr>
            </a:p>
          </p:txBody>
        </p:sp>
        <p:sp>
          <p:nvSpPr>
            <p:cNvPr id="26" name="Prostokąt 25"/>
            <p:cNvSpPr/>
            <p:nvPr/>
          </p:nvSpPr>
          <p:spPr>
            <a:xfrm>
              <a:off x="9103422" y="5873730"/>
              <a:ext cx="1636217" cy="394943"/>
            </a:xfrm>
            <a:prstGeom prst="rect">
              <a:avLst/>
            </a:prstGeom>
          </p:spPr>
          <p:txBody>
            <a:bodyPr wrap="none">
              <a:spAutoFit/>
            </a:bodyPr>
            <a:lstStyle/>
            <a:p>
              <a:r>
                <a:rPr lang="pl-PL" dirty="0" err="1">
                  <a:solidFill>
                    <a:srgbClr val="4BACC6">
                      <a:lumMod val="50000"/>
                    </a:srgbClr>
                  </a:solidFill>
                  <a:latin typeface="Calibri"/>
                </a:rPr>
                <a:t>Payment</a:t>
              </a:r>
              <a:r>
                <a:rPr lang="pl-PL" dirty="0">
                  <a:solidFill>
                    <a:srgbClr val="4BACC6">
                      <a:lumMod val="50000"/>
                    </a:srgbClr>
                  </a:solidFill>
                  <a:latin typeface="Calibri"/>
                </a:rPr>
                <a:t> to </a:t>
              </a:r>
              <a:r>
                <a:rPr lang="pl-PL" dirty="0" err="1">
                  <a:solidFill>
                    <a:srgbClr val="4BACC6">
                      <a:lumMod val="50000"/>
                    </a:srgbClr>
                  </a:solidFill>
                  <a:latin typeface="Calibri"/>
                </a:rPr>
                <a:t>self</a:t>
              </a:r>
              <a:endParaRPr lang="pl-PL" dirty="0">
                <a:solidFill>
                  <a:prstClr val="black"/>
                </a:solidFill>
                <a:latin typeface="Calibri"/>
              </a:endParaRPr>
            </a:p>
          </p:txBody>
        </p:sp>
        <p:sp>
          <p:nvSpPr>
            <p:cNvPr id="27" name="Prostokąt 26"/>
            <p:cNvSpPr/>
            <p:nvPr/>
          </p:nvSpPr>
          <p:spPr>
            <a:xfrm>
              <a:off x="4473687" y="1049195"/>
              <a:ext cx="1823769" cy="394943"/>
            </a:xfrm>
            <a:prstGeom prst="rect">
              <a:avLst/>
            </a:prstGeom>
          </p:spPr>
          <p:txBody>
            <a:bodyPr wrap="none">
              <a:spAutoFit/>
            </a:bodyPr>
            <a:lstStyle/>
            <a:p>
              <a:r>
                <a:rPr lang="pl-PL" dirty="0" err="1">
                  <a:solidFill>
                    <a:srgbClr val="4BACC6">
                      <a:lumMod val="50000"/>
                    </a:srgbClr>
                  </a:solidFill>
                  <a:latin typeface="Calibri"/>
                </a:rPr>
                <a:t>Payment</a:t>
              </a:r>
              <a:r>
                <a:rPr lang="pl-PL" dirty="0">
                  <a:solidFill>
                    <a:srgbClr val="4BACC6">
                      <a:lumMod val="50000"/>
                    </a:srgbClr>
                  </a:solidFill>
                  <a:latin typeface="Calibri"/>
                </a:rPr>
                <a:t> to </a:t>
              </a:r>
              <a:r>
                <a:rPr lang="pl-PL" dirty="0" err="1">
                  <a:solidFill>
                    <a:srgbClr val="4BACC6">
                      <a:lumMod val="50000"/>
                    </a:srgbClr>
                  </a:solidFill>
                  <a:latin typeface="Calibri"/>
                </a:rPr>
                <a:t>other</a:t>
              </a:r>
              <a:endParaRPr lang="pl-PL" dirty="0">
                <a:solidFill>
                  <a:prstClr val="black"/>
                </a:solidFill>
                <a:latin typeface="Calibri"/>
              </a:endParaRPr>
            </a:p>
          </p:txBody>
        </p:sp>
      </p:grpSp>
      <p:sp>
        <p:nvSpPr>
          <p:cNvPr id="20"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Tree>
    <p:extLst>
      <p:ext uri="{BB962C8B-B14F-4D97-AF65-F5344CB8AC3E}">
        <p14:creationId xmlns:p14="http://schemas.microsoft.com/office/powerpoint/2010/main" val="2245896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a 1"/>
          <p:cNvGrpSpPr/>
          <p:nvPr/>
        </p:nvGrpSpPr>
        <p:grpSpPr>
          <a:xfrm>
            <a:off x="509776" y="1110845"/>
            <a:ext cx="11119628" cy="5809143"/>
            <a:chOff x="509776" y="1110845"/>
            <a:chExt cx="11119628" cy="5809143"/>
          </a:xfrm>
        </p:grpSpPr>
        <p:sp>
          <p:nvSpPr>
            <p:cNvPr id="47" name="Prostokąt 46"/>
            <p:cNvSpPr/>
            <p:nvPr/>
          </p:nvSpPr>
          <p:spPr>
            <a:xfrm>
              <a:off x="1693790" y="1110845"/>
              <a:ext cx="5368538" cy="1015663"/>
            </a:xfrm>
            <a:prstGeom prst="rect">
              <a:avLst/>
            </a:prstGeom>
          </p:spPr>
          <p:txBody>
            <a:bodyPr wrap="square">
              <a:spAutoFit/>
            </a:bodyPr>
            <a:lstStyle/>
            <a:p>
              <a:pPr algn="just"/>
              <a:r>
                <a:rPr lang="en-US" sz="2000" b="1" dirty="0">
                  <a:solidFill>
                    <a:srgbClr val="4BACC6">
                      <a:lumMod val="50000"/>
                    </a:srgbClr>
                  </a:solidFill>
                  <a:latin typeface="Calibri"/>
                </a:rPr>
                <a:t>Weak Axiom of Revealed Preference (WARP): </a:t>
              </a:r>
              <a:r>
                <a:rPr lang="en-US" sz="2000" b="1" i="1" dirty="0">
                  <a:solidFill>
                    <a:srgbClr val="4BACC6">
                      <a:lumMod val="50000"/>
                    </a:srgbClr>
                  </a:solidFill>
                  <a:latin typeface="Calibri"/>
                </a:rPr>
                <a:t>If </a:t>
              </a:r>
              <a:r>
                <a:rPr lang="pl-PL" sz="2000" b="1" i="1" dirty="0" err="1">
                  <a:solidFill>
                    <a:srgbClr val="4BACC6">
                      <a:lumMod val="50000"/>
                    </a:srgbClr>
                  </a:solidFill>
                  <a:latin typeface="Calibri"/>
                </a:rPr>
                <a:t>bundle</a:t>
              </a:r>
              <a:r>
                <a:rPr lang="en-US" sz="2000" b="1" i="1" dirty="0">
                  <a:solidFill>
                    <a:srgbClr val="4BACC6">
                      <a:lumMod val="50000"/>
                    </a:srgbClr>
                  </a:solidFill>
                  <a:latin typeface="Calibri"/>
                </a:rPr>
                <a:t> X is directly</a:t>
              </a:r>
              <a:r>
                <a:rPr lang="pl-PL" sz="2000" b="1" i="1" dirty="0">
                  <a:solidFill>
                    <a:srgbClr val="4BACC6">
                      <a:lumMod val="50000"/>
                    </a:srgbClr>
                  </a:solidFill>
                  <a:latin typeface="Calibri"/>
                </a:rPr>
                <a:t> </a:t>
              </a:r>
              <a:r>
                <a:rPr lang="en-US" sz="2000" b="1" i="1" dirty="0">
                  <a:solidFill>
                    <a:srgbClr val="4BACC6">
                      <a:lumMod val="50000"/>
                    </a:srgbClr>
                  </a:solidFill>
                  <a:latin typeface="Calibri"/>
                </a:rPr>
                <a:t>preferred to Y, then Y cannot be directly preferred to X.</a:t>
              </a:r>
              <a:endParaRPr lang="pl-PL" sz="2000" b="1" dirty="0">
                <a:solidFill>
                  <a:srgbClr val="4BACC6">
                    <a:lumMod val="50000"/>
                  </a:srgbClr>
                </a:solidFill>
                <a:latin typeface="Calibri"/>
              </a:endParaRPr>
            </a:p>
          </p:txBody>
        </p:sp>
        <p:grpSp>
          <p:nvGrpSpPr>
            <p:cNvPr id="59" name="Grupa 58"/>
            <p:cNvGrpSpPr/>
            <p:nvPr/>
          </p:nvGrpSpPr>
          <p:grpSpPr>
            <a:xfrm>
              <a:off x="694224" y="1473986"/>
              <a:ext cx="4608512" cy="2880320"/>
              <a:chOff x="323528" y="620688"/>
              <a:chExt cx="7661414" cy="4825330"/>
            </a:xfrm>
          </p:grpSpPr>
          <p:sp>
            <p:nvSpPr>
              <p:cNvPr id="58" name="Dowolny kształt 57"/>
              <p:cNvSpPr/>
              <p:nvPr/>
            </p:nvSpPr>
            <p:spPr>
              <a:xfrm>
                <a:off x="672662" y="3153103"/>
                <a:ext cx="4130566" cy="2133600"/>
              </a:xfrm>
              <a:custGeom>
                <a:avLst/>
                <a:gdLst>
                  <a:gd name="connsiteX0" fmla="*/ 21021 w 4130566"/>
                  <a:gd name="connsiteY0" fmla="*/ 0 h 2133600"/>
                  <a:gd name="connsiteX1" fmla="*/ 4130566 w 4130566"/>
                  <a:gd name="connsiteY1" fmla="*/ 2123090 h 2133600"/>
                  <a:gd name="connsiteX2" fmla="*/ 0 w 4130566"/>
                  <a:gd name="connsiteY2" fmla="*/ 2133600 h 2133600"/>
                  <a:gd name="connsiteX3" fmla="*/ 21021 w 4130566"/>
                  <a:gd name="connsiteY3" fmla="*/ 0 h 2133600"/>
                </a:gdLst>
                <a:ahLst/>
                <a:cxnLst>
                  <a:cxn ang="0">
                    <a:pos x="connsiteX0" y="connsiteY0"/>
                  </a:cxn>
                  <a:cxn ang="0">
                    <a:pos x="connsiteX1" y="connsiteY1"/>
                  </a:cxn>
                  <a:cxn ang="0">
                    <a:pos x="connsiteX2" y="connsiteY2"/>
                  </a:cxn>
                  <a:cxn ang="0">
                    <a:pos x="connsiteX3" y="connsiteY3"/>
                  </a:cxn>
                </a:cxnLst>
                <a:rect l="l" t="t" r="r" b="b"/>
                <a:pathLst>
                  <a:path w="4130566" h="2133600">
                    <a:moveTo>
                      <a:pt x="21021" y="0"/>
                    </a:moveTo>
                    <a:lnTo>
                      <a:pt x="4130566" y="2123090"/>
                    </a:lnTo>
                    <a:lnTo>
                      <a:pt x="0" y="2133600"/>
                    </a:lnTo>
                    <a:cubicBezTo>
                      <a:pt x="3503" y="1418897"/>
                      <a:pt x="7007" y="704193"/>
                      <a:pt x="21021" y="0"/>
                    </a:cubicBezTo>
                    <a:close/>
                  </a:path>
                </a:pathLst>
              </a:custGeom>
              <a:solidFill>
                <a:schemeClr val="accent5">
                  <a:lumMod val="50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nvGrpSpPr>
              <p:cNvPr id="57" name="Grupa 56"/>
              <p:cNvGrpSpPr/>
              <p:nvPr/>
            </p:nvGrpSpPr>
            <p:grpSpPr>
              <a:xfrm>
                <a:off x="323528" y="620688"/>
                <a:ext cx="7661414" cy="4825330"/>
                <a:chOff x="323528" y="620688"/>
                <a:chExt cx="7661414" cy="4825330"/>
              </a:xfrm>
            </p:grpSpPr>
            <p:sp>
              <p:nvSpPr>
                <p:cNvPr id="41" name="Dowolny kształt 40"/>
                <p:cNvSpPr/>
                <p:nvPr/>
              </p:nvSpPr>
              <p:spPr>
                <a:xfrm>
                  <a:off x="695643" y="1354270"/>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nvGrpSpPr>
                <p:cNvPr id="3" name="Grupa 81"/>
                <p:cNvGrpSpPr/>
                <p:nvPr/>
              </p:nvGrpSpPr>
              <p:grpSpPr>
                <a:xfrm>
                  <a:off x="323528" y="620688"/>
                  <a:ext cx="4752528" cy="4825330"/>
                  <a:chOff x="3995936" y="836712"/>
                  <a:chExt cx="4752528" cy="4825330"/>
                </a:xfrm>
              </p:grpSpPr>
              <p:cxnSp>
                <p:nvCxnSpPr>
                  <p:cNvPr id="17" name="Łącznik prosty ze strzałką 16"/>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Łącznik prosty ze strzałką 17"/>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Łącznik prosty 22"/>
                  <p:cNvCxnSpPr/>
                  <p:nvPr/>
                </p:nvCxnSpPr>
                <p:spPr>
                  <a:xfrm rot="16200000" flipH="1">
                    <a:off x="3491880" y="2420888"/>
                    <a:ext cx="3960440" cy="2232248"/>
                  </a:xfrm>
                  <a:prstGeom prst="line">
                    <a:avLst/>
                  </a:prstGeom>
                  <a:ln>
                    <a:solidFill>
                      <a:schemeClr val="accent3">
                        <a:lumMod val="50000"/>
                      </a:schemeClr>
                    </a:solidFill>
                  </a:ln>
                </p:spPr>
                <p:style>
                  <a:lnRef idx="3">
                    <a:schemeClr val="accent2"/>
                  </a:lnRef>
                  <a:fillRef idx="0">
                    <a:schemeClr val="accent2"/>
                  </a:fillRef>
                  <a:effectRef idx="2">
                    <a:schemeClr val="accent2"/>
                  </a:effectRef>
                  <a:fontRef idx="minor">
                    <a:schemeClr val="tx1"/>
                  </a:fontRef>
                </p:style>
              </p:cxnSp>
              <p:cxnSp>
                <p:nvCxnSpPr>
                  <p:cNvPr id="70" name="Łącznik prosty 69"/>
                  <p:cNvCxnSpPr/>
                  <p:nvPr/>
                </p:nvCxnSpPr>
                <p:spPr>
                  <a:xfrm>
                    <a:off x="4355976" y="3356992"/>
                    <a:ext cx="4176464" cy="2160240"/>
                  </a:xfrm>
                  <a:prstGeom prst="line">
                    <a:avLst/>
                  </a:prstGeom>
                </p:spPr>
                <p:style>
                  <a:lnRef idx="3">
                    <a:schemeClr val="accent1"/>
                  </a:lnRef>
                  <a:fillRef idx="0">
                    <a:schemeClr val="accent1"/>
                  </a:fillRef>
                  <a:effectRef idx="2">
                    <a:schemeClr val="accent1"/>
                  </a:effectRef>
                  <a:fontRef idx="minor">
                    <a:schemeClr val="tx1"/>
                  </a:fontRef>
                </p:style>
              </p:cxnSp>
            </p:grpSp>
            <p:sp>
              <p:nvSpPr>
                <p:cNvPr id="35" name="Elipsa 34"/>
                <p:cNvSpPr/>
                <p:nvPr/>
              </p:nvSpPr>
              <p:spPr>
                <a:xfrm>
                  <a:off x="1403648" y="263691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48" name="Elipsa 47"/>
                <p:cNvSpPr/>
                <p:nvPr/>
              </p:nvSpPr>
              <p:spPr>
                <a:xfrm>
                  <a:off x="3275856" y="443711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52" name="Prostokąt 51"/>
                <p:cNvSpPr/>
                <p:nvPr/>
              </p:nvSpPr>
              <p:spPr>
                <a:xfrm>
                  <a:off x="2339752" y="2132855"/>
                  <a:ext cx="4328384" cy="670295"/>
                </a:xfrm>
                <a:prstGeom prst="rect">
                  <a:avLst/>
                </a:prstGeom>
              </p:spPr>
              <p:txBody>
                <a:bodyPr wrap="square">
                  <a:spAutoFit/>
                </a:bodyPr>
                <a:lstStyle/>
                <a:p>
                  <a:r>
                    <a:rPr lang="en-US" sz="2000" dirty="0">
                      <a:solidFill>
                        <a:srgbClr val="4BACC6">
                          <a:lumMod val="50000"/>
                        </a:srgbClr>
                      </a:solidFill>
                      <a:latin typeface="Calibri"/>
                    </a:rPr>
                    <a:t>X was chosen</a:t>
                  </a:r>
                  <a:r>
                    <a:rPr lang="pl-PL" sz="2000" dirty="0">
                      <a:solidFill>
                        <a:srgbClr val="4BACC6">
                          <a:lumMod val="50000"/>
                        </a:srgbClr>
                      </a:solidFill>
                      <a:latin typeface="Calibri"/>
                    </a:rPr>
                    <a:t> </a:t>
                  </a:r>
                  <a:r>
                    <a:rPr lang="pl-PL" sz="2000" dirty="0" err="1">
                      <a:solidFill>
                        <a:srgbClr val="4BACC6">
                          <a:lumMod val="50000"/>
                        </a:srgbClr>
                      </a:solidFill>
                      <a:latin typeface="Calibri"/>
                    </a:rPr>
                    <a:t>in</a:t>
                  </a:r>
                  <a:r>
                    <a:rPr lang="pl-PL" sz="2000" dirty="0">
                      <a:solidFill>
                        <a:srgbClr val="4BACC6">
                          <a:lumMod val="50000"/>
                        </a:srgbClr>
                      </a:solidFill>
                      <a:latin typeface="Calibri"/>
                    </a:rPr>
                    <a:t> rund 1</a:t>
                  </a:r>
                  <a:endParaRPr lang="pl-PL" sz="2000" dirty="0">
                    <a:solidFill>
                      <a:prstClr val="black"/>
                    </a:solidFill>
                    <a:latin typeface="Calibri"/>
                  </a:endParaRPr>
                </a:p>
              </p:txBody>
            </p:sp>
            <p:sp>
              <p:nvSpPr>
                <p:cNvPr id="53" name="Strzałka w dół 52"/>
                <p:cNvSpPr/>
                <p:nvPr/>
              </p:nvSpPr>
              <p:spPr>
                <a:xfrm rot="4075776">
                  <a:off x="1712070" y="2264928"/>
                  <a:ext cx="57606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55" name="Prostokąt 54"/>
                <p:cNvSpPr/>
                <p:nvPr/>
              </p:nvSpPr>
              <p:spPr>
                <a:xfrm>
                  <a:off x="3995935" y="3717030"/>
                  <a:ext cx="3989007" cy="1185904"/>
                </a:xfrm>
                <a:prstGeom prst="rect">
                  <a:avLst/>
                </a:prstGeom>
              </p:spPr>
              <p:txBody>
                <a:bodyPr wrap="square">
                  <a:spAutoFit/>
                </a:bodyPr>
                <a:lstStyle/>
                <a:p>
                  <a:r>
                    <a:rPr lang="pl-PL" sz="2000" dirty="0">
                      <a:solidFill>
                        <a:srgbClr val="4BACC6">
                          <a:lumMod val="50000"/>
                        </a:srgbClr>
                      </a:solidFill>
                      <a:latin typeface="Calibri"/>
                    </a:rPr>
                    <a:t>Y</a:t>
                  </a:r>
                  <a:r>
                    <a:rPr lang="en-US" sz="2000" dirty="0">
                      <a:solidFill>
                        <a:srgbClr val="4BACC6">
                          <a:lumMod val="50000"/>
                        </a:srgbClr>
                      </a:solidFill>
                      <a:latin typeface="Calibri"/>
                    </a:rPr>
                    <a:t> was chosen</a:t>
                  </a:r>
                  <a:r>
                    <a:rPr lang="pl-PL" sz="2000" dirty="0">
                      <a:solidFill>
                        <a:srgbClr val="4BACC6">
                          <a:lumMod val="50000"/>
                        </a:srgbClr>
                      </a:solidFill>
                      <a:latin typeface="Calibri"/>
                    </a:rPr>
                    <a:t> </a:t>
                  </a:r>
                  <a:r>
                    <a:rPr lang="pl-PL" sz="2000" dirty="0" err="1">
                      <a:solidFill>
                        <a:srgbClr val="4BACC6">
                          <a:lumMod val="50000"/>
                        </a:srgbClr>
                      </a:solidFill>
                      <a:latin typeface="Calibri"/>
                    </a:rPr>
                    <a:t>in</a:t>
                  </a:r>
                  <a:r>
                    <a:rPr lang="pl-PL" sz="2000" dirty="0">
                      <a:solidFill>
                        <a:srgbClr val="4BACC6">
                          <a:lumMod val="50000"/>
                        </a:srgbClr>
                      </a:solidFill>
                      <a:latin typeface="Calibri"/>
                    </a:rPr>
                    <a:t> rund 3</a:t>
                  </a:r>
                  <a:endParaRPr lang="pl-PL" sz="2000" dirty="0">
                    <a:solidFill>
                      <a:prstClr val="black"/>
                    </a:solidFill>
                    <a:latin typeface="Calibri"/>
                  </a:endParaRPr>
                </a:p>
              </p:txBody>
            </p:sp>
            <p:sp>
              <p:nvSpPr>
                <p:cNvPr id="56" name="Strzałka w dół 55"/>
                <p:cNvSpPr/>
                <p:nvPr/>
              </p:nvSpPr>
              <p:spPr>
                <a:xfrm rot="2410344">
                  <a:off x="3347266" y="3995896"/>
                  <a:ext cx="57606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grpSp>
        <p:grpSp>
          <p:nvGrpSpPr>
            <p:cNvPr id="60" name="Grupa 59"/>
            <p:cNvGrpSpPr/>
            <p:nvPr/>
          </p:nvGrpSpPr>
          <p:grpSpPr>
            <a:xfrm>
              <a:off x="7146064" y="1649293"/>
              <a:ext cx="4483340" cy="2880320"/>
              <a:chOff x="323528" y="620688"/>
              <a:chExt cx="7453325" cy="4825330"/>
            </a:xfrm>
          </p:grpSpPr>
          <p:sp>
            <p:nvSpPr>
              <p:cNvPr id="61" name="Dowolny kształt 60"/>
              <p:cNvSpPr/>
              <p:nvPr/>
            </p:nvSpPr>
            <p:spPr>
              <a:xfrm>
                <a:off x="672662" y="3153103"/>
                <a:ext cx="4130566" cy="2133600"/>
              </a:xfrm>
              <a:custGeom>
                <a:avLst/>
                <a:gdLst>
                  <a:gd name="connsiteX0" fmla="*/ 21021 w 4130566"/>
                  <a:gd name="connsiteY0" fmla="*/ 0 h 2133600"/>
                  <a:gd name="connsiteX1" fmla="*/ 4130566 w 4130566"/>
                  <a:gd name="connsiteY1" fmla="*/ 2123090 h 2133600"/>
                  <a:gd name="connsiteX2" fmla="*/ 0 w 4130566"/>
                  <a:gd name="connsiteY2" fmla="*/ 2133600 h 2133600"/>
                  <a:gd name="connsiteX3" fmla="*/ 21021 w 4130566"/>
                  <a:gd name="connsiteY3" fmla="*/ 0 h 2133600"/>
                </a:gdLst>
                <a:ahLst/>
                <a:cxnLst>
                  <a:cxn ang="0">
                    <a:pos x="connsiteX0" y="connsiteY0"/>
                  </a:cxn>
                  <a:cxn ang="0">
                    <a:pos x="connsiteX1" y="connsiteY1"/>
                  </a:cxn>
                  <a:cxn ang="0">
                    <a:pos x="connsiteX2" y="connsiteY2"/>
                  </a:cxn>
                  <a:cxn ang="0">
                    <a:pos x="connsiteX3" y="connsiteY3"/>
                  </a:cxn>
                </a:cxnLst>
                <a:rect l="l" t="t" r="r" b="b"/>
                <a:pathLst>
                  <a:path w="4130566" h="2133600">
                    <a:moveTo>
                      <a:pt x="21021" y="0"/>
                    </a:moveTo>
                    <a:lnTo>
                      <a:pt x="4130566" y="2123090"/>
                    </a:lnTo>
                    <a:lnTo>
                      <a:pt x="0" y="2133600"/>
                    </a:lnTo>
                    <a:cubicBezTo>
                      <a:pt x="3503" y="1418897"/>
                      <a:pt x="7007" y="704193"/>
                      <a:pt x="21021" y="0"/>
                    </a:cubicBezTo>
                    <a:close/>
                  </a:path>
                </a:pathLst>
              </a:custGeom>
              <a:solidFill>
                <a:schemeClr val="accent5">
                  <a:lumMod val="50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nvGrpSpPr>
              <p:cNvPr id="62" name="Grupa 56"/>
              <p:cNvGrpSpPr/>
              <p:nvPr/>
            </p:nvGrpSpPr>
            <p:grpSpPr>
              <a:xfrm>
                <a:off x="323528" y="620688"/>
                <a:ext cx="7453325" cy="4825330"/>
                <a:chOff x="323528" y="620688"/>
                <a:chExt cx="7453325" cy="4825330"/>
              </a:xfrm>
            </p:grpSpPr>
            <p:sp>
              <p:nvSpPr>
                <p:cNvPr id="63" name="Dowolny kształt 62"/>
                <p:cNvSpPr/>
                <p:nvPr/>
              </p:nvSpPr>
              <p:spPr>
                <a:xfrm>
                  <a:off x="695643" y="1354270"/>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nvGrpSpPr>
                <p:cNvPr id="66" name="Grupa 81"/>
                <p:cNvGrpSpPr/>
                <p:nvPr/>
              </p:nvGrpSpPr>
              <p:grpSpPr>
                <a:xfrm>
                  <a:off x="323528" y="620688"/>
                  <a:ext cx="4752528" cy="4825330"/>
                  <a:chOff x="3995936" y="836712"/>
                  <a:chExt cx="4752528" cy="4825330"/>
                </a:xfrm>
              </p:grpSpPr>
              <p:cxnSp>
                <p:nvCxnSpPr>
                  <p:cNvPr id="77" name="Łącznik prosty ze strzałką 76"/>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0" name="Łącznik prosty ze strzałką 79"/>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1" name="Łącznik prosty 80"/>
                  <p:cNvCxnSpPr/>
                  <p:nvPr/>
                </p:nvCxnSpPr>
                <p:spPr>
                  <a:xfrm rot="16200000" flipH="1">
                    <a:off x="3491880" y="2420888"/>
                    <a:ext cx="3960440" cy="2232248"/>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82" name="Łącznik prosty 81"/>
                  <p:cNvCxnSpPr/>
                  <p:nvPr/>
                </p:nvCxnSpPr>
                <p:spPr>
                  <a:xfrm>
                    <a:off x="4355976" y="3356992"/>
                    <a:ext cx="4176464" cy="2160240"/>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pSp>
            <p:sp>
              <p:nvSpPr>
                <p:cNvPr id="69" name="Elipsa 68"/>
                <p:cNvSpPr/>
                <p:nvPr/>
              </p:nvSpPr>
              <p:spPr>
                <a:xfrm>
                  <a:off x="2358591" y="4360319"/>
                  <a:ext cx="144016" cy="144017"/>
                </a:xfrm>
                <a:prstGeom prst="ellipse">
                  <a:avLst/>
                </a:prstGeom>
                <a:solidFill>
                  <a:srgbClr val="FF000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71" name="Elipsa 70"/>
                <p:cNvSpPr/>
                <p:nvPr/>
              </p:nvSpPr>
              <p:spPr>
                <a:xfrm>
                  <a:off x="1520624" y="3515886"/>
                  <a:ext cx="144016" cy="144017"/>
                </a:xfrm>
                <a:prstGeom prst="ellipse">
                  <a:avLst/>
                </a:prstGeom>
                <a:solidFill>
                  <a:srgbClr val="FF0000"/>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72" name="Prostokąt 71"/>
                <p:cNvSpPr/>
                <p:nvPr/>
              </p:nvSpPr>
              <p:spPr>
                <a:xfrm>
                  <a:off x="3706725" y="3358145"/>
                  <a:ext cx="4070128" cy="1185904"/>
                </a:xfrm>
                <a:prstGeom prst="rect">
                  <a:avLst/>
                </a:prstGeom>
              </p:spPr>
              <p:txBody>
                <a:bodyPr wrap="square">
                  <a:spAutoFit/>
                </a:bodyPr>
                <a:lstStyle/>
                <a:p>
                  <a:r>
                    <a:rPr lang="pl-PL" sz="2000" dirty="0">
                      <a:solidFill>
                        <a:srgbClr val="4BACC6">
                          <a:lumMod val="50000"/>
                        </a:srgbClr>
                      </a:solidFill>
                      <a:latin typeface="Calibri"/>
                    </a:rPr>
                    <a:t>W</a:t>
                  </a:r>
                  <a:r>
                    <a:rPr lang="en-US" sz="2000" dirty="0">
                      <a:solidFill>
                        <a:srgbClr val="4BACC6">
                          <a:lumMod val="50000"/>
                        </a:srgbClr>
                      </a:solidFill>
                      <a:latin typeface="Calibri"/>
                    </a:rPr>
                    <a:t> was chosen</a:t>
                  </a:r>
                  <a:r>
                    <a:rPr lang="pl-PL" sz="2000" dirty="0">
                      <a:solidFill>
                        <a:srgbClr val="4BACC6">
                          <a:lumMod val="50000"/>
                        </a:srgbClr>
                      </a:solidFill>
                      <a:latin typeface="Calibri"/>
                    </a:rPr>
                    <a:t> </a:t>
                  </a:r>
                  <a:r>
                    <a:rPr lang="pl-PL" sz="2000" dirty="0" err="1">
                      <a:solidFill>
                        <a:srgbClr val="4BACC6">
                          <a:lumMod val="50000"/>
                        </a:srgbClr>
                      </a:solidFill>
                      <a:latin typeface="Calibri"/>
                    </a:rPr>
                    <a:t>in</a:t>
                  </a:r>
                  <a:r>
                    <a:rPr lang="pl-PL" sz="2000" dirty="0">
                      <a:solidFill>
                        <a:srgbClr val="4BACC6">
                          <a:lumMod val="50000"/>
                        </a:srgbClr>
                      </a:solidFill>
                      <a:latin typeface="Calibri"/>
                    </a:rPr>
                    <a:t> rund 1</a:t>
                  </a:r>
                  <a:endParaRPr lang="pl-PL" sz="2000" dirty="0">
                    <a:solidFill>
                      <a:prstClr val="black"/>
                    </a:solidFill>
                    <a:latin typeface="Calibri"/>
                  </a:endParaRPr>
                </a:p>
              </p:txBody>
            </p:sp>
            <p:sp>
              <p:nvSpPr>
                <p:cNvPr id="74" name="Strzałka w dół 73"/>
                <p:cNvSpPr/>
                <p:nvPr/>
              </p:nvSpPr>
              <p:spPr>
                <a:xfrm rot="4075776">
                  <a:off x="2497862" y="4010484"/>
                  <a:ext cx="576064" cy="4320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sp>
              <p:nvSpPr>
                <p:cNvPr id="75" name="Prostokąt 74"/>
                <p:cNvSpPr/>
                <p:nvPr/>
              </p:nvSpPr>
              <p:spPr>
                <a:xfrm>
                  <a:off x="1760044" y="1827021"/>
                  <a:ext cx="3950418" cy="1185904"/>
                </a:xfrm>
                <a:prstGeom prst="rect">
                  <a:avLst/>
                </a:prstGeom>
              </p:spPr>
              <p:txBody>
                <a:bodyPr wrap="square">
                  <a:spAutoFit/>
                </a:bodyPr>
                <a:lstStyle/>
                <a:p>
                  <a:r>
                    <a:rPr lang="pl-PL" sz="2000" dirty="0">
                      <a:solidFill>
                        <a:srgbClr val="4BACC6">
                          <a:lumMod val="50000"/>
                        </a:srgbClr>
                      </a:solidFill>
                      <a:latin typeface="Calibri"/>
                    </a:rPr>
                    <a:t>Z</a:t>
                  </a:r>
                  <a:r>
                    <a:rPr lang="en-US" sz="2000" dirty="0">
                      <a:solidFill>
                        <a:srgbClr val="4BACC6">
                          <a:lumMod val="50000"/>
                        </a:srgbClr>
                      </a:solidFill>
                      <a:latin typeface="Calibri"/>
                    </a:rPr>
                    <a:t> was chosen</a:t>
                  </a:r>
                  <a:r>
                    <a:rPr lang="pl-PL" sz="2000" dirty="0">
                      <a:solidFill>
                        <a:srgbClr val="4BACC6">
                          <a:lumMod val="50000"/>
                        </a:srgbClr>
                      </a:solidFill>
                      <a:latin typeface="Calibri"/>
                    </a:rPr>
                    <a:t> </a:t>
                  </a:r>
                  <a:r>
                    <a:rPr lang="pl-PL" sz="2000" dirty="0" err="1">
                      <a:solidFill>
                        <a:srgbClr val="4BACC6">
                          <a:lumMod val="50000"/>
                        </a:srgbClr>
                      </a:solidFill>
                      <a:latin typeface="Calibri"/>
                    </a:rPr>
                    <a:t>in</a:t>
                  </a:r>
                  <a:r>
                    <a:rPr lang="pl-PL" sz="2000" dirty="0">
                      <a:solidFill>
                        <a:srgbClr val="4BACC6">
                          <a:lumMod val="50000"/>
                        </a:srgbClr>
                      </a:solidFill>
                      <a:latin typeface="Calibri"/>
                    </a:rPr>
                    <a:t> rund 3</a:t>
                  </a:r>
                  <a:endParaRPr lang="pl-PL" sz="2000" dirty="0">
                    <a:solidFill>
                      <a:prstClr val="black"/>
                    </a:solidFill>
                    <a:latin typeface="Calibri"/>
                  </a:endParaRPr>
                </a:p>
              </p:txBody>
            </p:sp>
            <p:sp>
              <p:nvSpPr>
                <p:cNvPr id="76" name="Strzałka w dół 75"/>
                <p:cNvSpPr/>
                <p:nvPr/>
              </p:nvSpPr>
              <p:spPr>
                <a:xfrm rot="2410344">
                  <a:off x="1590967" y="2928368"/>
                  <a:ext cx="576063" cy="4320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2000">
                    <a:solidFill>
                      <a:prstClr val="white"/>
                    </a:solidFill>
                    <a:latin typeface="Calibri"/>
                  </a:endParaRPr>
                </a:p>
              </p:txBody>
            </p:sp>
          </p:grpSp>
        </p:grpSp>
        <p:sp>
          <p:nvSpPr>
            <p:cNvPr id="84" name="Prostokąt 83"/>
            <p:cNvSpPr/>
            <p:nvPr/>
          </p:nvSpPr>
          <p:spPr>
            <a:xfrm>
              <a:off x="509776" y="4529613"/>
              <a:ext cx="5139557" cy="2308324"/>
            </a:xfrm>
            <a:prstGeom prst="rect">
              <a:avLst/>
            </a:prstGeom>
          </p:spPr>
          <p:txBody>
            <a:bodyPr wrap="square">
              <a:spAutoFit/>
            </a:bodyPr>
            <a:lstStyle/>
            <a:p>
              <a:pPr algn="just"/>
              <a:r>
                <a:rPr lang="en-GB" dirty="0">
                  <a:solidFill>
                    <a:srgbClr val="4BACC6">
                      <a:lumMod val="50000"/>
                    </a:srgbClr>
                  </a:solidFill>
                  <a:latin typeface="Calibri"/>
                </a:rPr>
                <a:t>In round 1, bundle X was chosen. Preferences were revealed but not in relation to Y</a:t>
              </a:r>
              <a:r>
                <a:rPr lang="pl-PL" dirty="0">
                  <a:solidFill>
                    <a:srgbClr val="4BACC6">
                      <a:lumMod val="50000"/>
                    </a:srgbClr>
                  </a:solidFill>
                  <a:latin typeface="Calibri"/>
                </a:rPr>
                <a:t> (Y was not </a:t>
              </a:r>
              <a:r>
                <a:rPr lang="pl-PL" dirty="0" err="1">
                  <a:solidFill>
                    <a:srgbClr val="4BACC6">
                      <a:lumMod val="50000"/>
                    </a:srgbClr>
                  </a:solidFill>
                  <a:latin typeface="Calibri"/>
                </a:rPr>
                <a:t>available</a:t>
              </a:r>
              <a:r>
                <a:rPr lang="pl-PL" dirty="0">
                  <a:solidFill>
                    <a:srgbClr val="4BACC6">
                      <a:lumMod val="50000"/>
                    </a:srgbClr>
                  </a:solidFill>
                  <a:latin typeface="Calibri"/>
                </a:rPr>
                <a:t>)</a:t>
              </a:r>
              <a:r>
                <a:rPr lang="en-GB" dirty="0">
                  <a:solidFill>
                    <a:srgbClr val="4BACC6">
                      <a:lumMod val="50000"/>
                    </a:srgbClr>
                  </a:solidFill>
                  <a:latin typeface="Calibri"/>
                </a:rPr>
                <a:t>. </a:t>
              </a:r>
              <a:endParaRPr lang="pl-PL" dirty="0">
                <a:solidFill>
                  <a:srgbClr val="4BACC6">
                    <a:lumMod val="50000"/>
                  </a:srgbClr>
                </a:solidFill>
                <a:latin typeface="Calibri"/>
              </a:endParaRPr>
            </a:p>
            <a:p>
              <a:pPr algn="just"/>
              <a:r>
                <a:rPr lang="en-GB" dirty="0">
                  <a:solidFill>
                    <a:srgbClr val="4BACC6">
                      <a:lumMod val="50000"/>
                    </a:srgbClr>
                  </a:solidFill>
                </a:rPr>
                <a:t>In round 3, bundle Y was chosen. Preferences were revealed but not in relation to X. (</a:t>
              </a:r>
              <a:r>
                <a:rPr lang="pl-PL" dirty="0">
                  <a:solidFill>
                    <a:srgbClr val="4BACC6">
                      <a:lumMod val="50000"/>
                    </a:srgbClr>
                  </a:solidFill>
                </a:rPr>
                <a:t>X</a:t>
              </a:r>
              <a:r>
                <a:rPr lang="en-GB" dirty="0">
                  <a:solidFill>
                    <a:srgbClr val="4BACC6">
                      <a:lumMod val="50000"/>
                    </a:srgbClr>
                  </a:solidFill>
                </a:rPr>
                <a:t> was not available) </a:t>
              </a:r>
              <a:endParaRPr lang="pl-PL" dirty="0">
                <a:solidFill>
                  <a:srgbClr val="4BACC6">
                    <a:lumMod val="50000"/>
                  </a:srgbClr>
                </a:solidFill>
              </a:endParaRPr>
            </a:p>
            <a:p>
              <a:pPr algn="just"/>
              <a:endParaRPr lang="pl-PL" dirty="0">
                <a:solidFill>
                  <a:srgbClr val="4BACC6">
                    <a:lumMod val="50000"/>
                  </a:srgbClr>
                </a:solidFill>
              </a:endParaRPr>
            </a:p>
            <a:p>
              <a:pPr algn="just"/>
              <a:r>
                <a:rPr lang="en-GB" dirty="0">
                  <a:solidFill>
                    <a:srgbClr val="4BACC6">
                      <a:lumMod val="50000"/>
                    </a:srgbClr>
                  </a:solidFill>
                </a:rPr>
                <a:t>Choices in rounds 1 and 3 did not violate WARP</a:t>
              </a:r>
              <a:endParaRPr lang="pl-PL" dirty="0">
                <a:solidFill>
                  <a:srgbClr val="4BACC6">
                    <a:lumMod val="50000"/>
                  </a:srgbClr>
                </a:solidFill>
              </a:endParaRPr>
            </a:p>
          </p:txBody>
        </p:sp>
        <p:sp>
          <p:nvSpPr>
            <p:cNvPr id="87" name="Prostokąt 86"/>
            <p:cNvSpPr/>
            <p:nvPr/>
          </p:nvSpPr>
          <p:spPr>
            <a:xfrm>
              <a:off x="6365111" y="4673219"/>
              <a:ext cx="5225690" cy="2246769"/>
            </a:xfrm>
            <a:prstGeom prst="rect">
              <a:avLst/>
            </a:prstGeom>
          </p:spPr>
          <p:txBody>
            <a:bodyPr wrap="square">
              <a:spAutoFit/>
            </a:bodyPr>
            <a:lstStyle/>
            <a:p>
              <a:pPr algn="just"/>
              <a:r>
                <a:rPr lang="pl-PL" sz="2000" b="1" dirty="0">
                  <a:solidFill>
                    <a:srgbClr val="4BACC6">
                      <a:lumMod val="50000"/>
                    </a:srgbClr>
                  </a:solidFill>
                  <a:latin typeface="Calibri"/>
                </a:rPr>
                <a:t>In rund 1, </a:t>
              </a:r>
              <a:r>
                <a:rPr lang="en-US" sz="2000" b="1" dirty="0">
                  <a:solidFill>
                    <a:srgbClr val="4BACC6">
                      <a:lumMod val="50000"/>
                    </a:srgbClr>
                  </a:solidFill>
                  <a:latin typeface="Calibri"/>
                </a:rPr>
                <a:t>bundle </a:t>
              </a:r>
              <a:r>
                <a:rPr lang="pl-PL" sz="2000" b="1" dirty="0">
                  <a:solidFill>
                    <a:srgbClr val="4BACC6">
                      <a:lumMod val="50000"/>
                    </a:srgbClr>
                  </a:solidFill>
                  <a:latin typeface="Calibri"/>
                </a:rPr>
                <a:t>W</a:t>
              </a:r>
              <a:r>
                <a:rPr lang="en-US" sz="2000" b="1" dirty="0">
                  <a:solidFill>
                    <a:srgbClr val="4BACC6">
                      <a:lumMod val="50000"/>
                    </a:srgbClr>
                  </a:solidFill>
                  <a:latin typeface="Calibri"/>
                </a:rPr>
                <a:t> was directly preferred to bundle </a:t>
              </a:r>
              <a:r>
                <a:rPr lang="pl-PL" sz="2000" b="1" dirty="0">
                  <a:solidFill>
                    <a:srgbClr val="4BACC6">
                      <a:lumMod val="50000"/>
                    </a:srgbClr>
                  </a:solidFill>
                  <a:latin typeface="Calibri"/>
                </a:rPr>
                <a:t>Z. (Z was </a:t>
              </a:r>
              <a:r>
                <a:rPr lang="pl-PL" sz="2000" b="1" dirty="0" err="1">
                  <a:solidFill>
                    <a:srgbClr val="4BACC6">
                      <a:lumMod val="50000"/>
                    </a:srgbClr>
                  </a:solidFill>
                  <a:latin typeface="Calibri"/>
                </a:rPr>
                <a:t>available</a:t>
              </a:r>
              <a:r>
                <a:rPr lang="pl-PL" sz="2000" b="1" dirty="0">
                  <a:solidFill>
                    <a:srgbClr val="4BACC6">
                      <a:lumMod val="50000"/>
                    </a:srgbClr>
                  </a:solidFill>
                  <a:latin typeface="Calibri"/>
                </a:rPr>
                <a:t>) </a:t>
              </a:r>
            </a:p>
            <a:p>
              <a:pPr algn="just"/>
              <a:r>
                <a:rPr lang="pl-PL" sz="2000" b="1" dirty="0">
                  <a:solidFill>
                    <a:srgbClr val="4BACC6">
                      <a:lumMod val="50000"/>
                    </a:srgbClr>
                  </a:solidFill>
                  <a:latin typeface="Calibri"/>
                </a:rPr>
                <a:t>In rund 3, </a:t>
              </a:r>
              <a:r>
                <a:rPr lang="en-US" sz="2000" b="1" dirty="0">
                  <a:solidFill>
                    <a:srgbClr val="4BACC6">
                      <a:lumMod val="50000"/>
                    </a:srgbClr>
                  </a:solidFill>
                  <a:latin typeface="Calibri"/>
                </a:rPr>
                <a:t>bundle </a:t>
              </a:r>
              <a:r>
                <a:rPr lang="pl-PL" sz="2000" b="1" dirty="0">
                  <a:solidFill>
                    <a:srgbClr val="4BACC6">
                      <a:lumMod val="50000"/>
                    </a:srgbClr>
                  </a:solidFill>
                  <a:latin typeface="Calibri"/>
                </a:rPr>
                <a:t>Z</a:t>
              </a:r>
              <a:r>
                <a:rPr lang="en-US" sz="2000" b="1" dirty="0">
                  <a:solidFill>
                    <a:srgbClr val="4BACC6">
                      <a:lumMod val="50000"/>
                    </a:srgbClr>
                  </a:solidFill>
                  <a:latin typeface="Calibri"/>
                </a:rPr>
                <a:t> was directly preferred to bundle </a:t>
              </a:r>
              <a:r>
                <a:rPr lang="pl-PL" sz="2000" b="1" dirty="0">
                  <a:solidFill>
                    <a:srgbClr val="4BACC6">
                      <a:lumMod val="50000"/>
                    </a:srgbClr>
                  </a:solidFill>
                  <a:latin typeface="Calibri"/>
                </a:rPr>
                <a:t>W. (W was </a:t>
              </a:r>
              <a:r>
                <a:rPr lang="pl-PL" sz="2000" b="1" dirty="0" err="1">
                  <a:solidFill>
                    <a:srgbClr val="4BACC6">
                      <a:lumMod val="50000"/>
                    </a:srgbClr>
                  </a:solidFill>
                  <a:latin typeface="Calibri"/>
                </a:rPr>
                <a:t>available</a:t>
              </a:r>
              <a:r>
                <a:rPr lang="pl-PL" sz="2000" b="1" dirty="0">
                  <a:solidFill>
                    <a:srgbClr val="4BACC6">
                      <a:lumMod val="50000"/>
                    </a:srgbClr>
                  </a:solidFill>
                  <a:latin typeface="Calibri"/>
                </a:rPr>
                <a:t>) </a:t>
              </a:r>
            </a:p>
            <a:p>
              <a:pPr algn="just"/>
              <a:endParaRPr lang="pl-PL" sz="2000" b="1" dirty="0">
                <a:solidFill>
                  <a:srgbClr val="4BACC6">
                    <a:lumMod val="50000"/>
                  </a:srgbClr>
                </a:solidFill>
                <a:latin typeface="Calibri"/>
              </a:endParaRPr>
            </a:p>
            <a:p>
              <a:pPr algn="just"/>
              <a:r>
                <a:rPr lang="en-GB" sz="2000" b="1" dirty="0">
                  <a:solidFill>
                    <a:srgbClr val="C00000"/>
                  </a:solidFill>
                </a:rPr>
                <a:t>Choices in rounds 1 and 3 violated WARP</a:t>
              </a:r>
              <a:r>
                <a:rPr lang="pl-PL" sz="2000" b="1" dirty="0">
                  <a:solidFill>
                    <a:srgbClr val="C00000"/>
                  </a:solidFill>
                </a:rPr>
                <a:t> - </a:t>
              </a:r>
              <a:r>
                <a:rPr lang="en-GB" sz="2000" b="1" dirty="0">
                  <a:solidFill>
                    <a:srgbClr val="C00000"/>
                  </a:solidFill>
                </a:rPr>
                <a:t>Non-rational behaviour </a:t>
              </a:r>
              <a:endParaRPr lang="pl-PL" sz="2000" b="1" dirty="0">
                <a:solidFill>
                  <a:srgbClr val="4BACC6">
                    <a:lumMod val="50000"/>
                  </a:srgbClr>
                </a:solidFill>
                <a:latin typeface="Calibri"/>
              </a:endParaRPr>
            </a:p>
          </p:txBody>
        </p:sp>
      </p:grpSp>
      <p:sp>
        <p:nvSpPr>
          <p:cNvPr id="38"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Tree>
    <p:extLst>
      <p:ext uri="{BB962C8B-B14F-4D97-AF65-F5344CB8AC3E}">
        <p14:creationId xmlns:p14="http://schemas.microsoft.com/office/powerpoint/2010/main" val="33947554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a 3"/>
          <p:cNvGrpSpPr/>
          <p:nvPr/>
        </p:nvGrpSpPr>
        <p:grpSpPr>
          <a:xfrm>
            <a:off x="120545" y="1549806"/>
            <a:ext cx="11336846" cy="4453591"/>
            <a:chOff x="120545" y="1549806"/>
            <a:chExt cx="11336846" cy="4453591"/>
          </a:xfrm>
        </p:grpSpPr>
        <p:sp>
          <p:nvSpPr>
            <p:cNvPr id="87" name="Prostokąt 86"/>
            <p:cNvSpPr/>
            <p:nvPr/>
          </p:nvSpPr>
          <p:spPr>
            <a:xfrm>
              <a:off x="5906230" y="2463967"/>
              <a:ext cx="5551161" cy="3539430"/>
            </a:xfrm>
            <a:prstGeom prst="rect">
              <a:avLst/>
            </a:prstGeom>
          </p:spPr>
          <p:txBody>
            <a:bodyPr wrap="square">
              <a:spAutoFit/>
            </a:bodyPr>
            <a:lstStyle/>
            <a:p>
              <a:pPr algn="just"/>
              <a:r>
                <a:rPr lang="pl-PL" sz="2800" dirty="0">
                  <a:solidFill>
                    <a:srgbClr val="4BACC6">
                      <a:lumMod val="50000"/>
                    </a:srgbClr>
                  </a:solidFill>
                </a:rPr>
                <a:t>I</a:t>
              </a:r>
              <a:r>
                <a:rPr lang="en-US" sz="2800" dirty="0" err="1">
                  <a:solidFill>
                    <a:srgbClr val="4BACC6">
                      <a:lumMod val="50000"/>
                    </a:srgbClr>
                  </a:solidFill>
                </a:rPr>
                <a:t>lustrat</a:t>
              </a:r>
              <a:r>
                <a:rPr lang="pl-PL" sz="2800" dirty="0" err="1">
                  <a:solidFill>
                    <a:srgbClr val="4BACC6">
                      <a:lumMod val="50000"/>
                    </a:srgbClr>
                  </a:solidFill>
                </a:rPr>
                <a:t>ion</a:t>
              </a:r>
              <a:r>
                <a:rPr lang="pl-PL" sz="2800" dirty="0">
                  <a:solidFill>
                    <a:srgbClr val="4BACC6">
                      <a:lumMod val="50000"/>
                    </a:srgbClr>
                  </a:solidFill>
                </a:rPr>
                <a:t> of</a:t>
              </a:r>
              <a:r>
                <a:rPr lang="en-US" sz="2800" dirty="0">
                  <a:solidFill>
                    <a:srgbClr val="4BACC6">
                      <a:lumMod val="50000"/>
                    </a:srgbClr>
                  </a:solidFill>
                </a:rPr>
                <a:t> indirectly </a:t>
              </a:r>
              <a:r>
                <a:rPr lang="en-US" sz="2800" dirty="0" err="1">
                  <a:solidFill>
                    <a:srgbClr val="4BACC6">
                      <a:lumMod val="50000"/>
                    </a:srgbClr>
                  </a:solidFill>
                </a:rPr>
                <a:t>prefere</a:t>
              </a:r>
              <a:r>
                <a:rPr lang="pl-PL" sz="2800" dirty="0" err="1">
                  <a:solidFill>
                    <a:srgbClr val="4BACC6">
                      <a:lumMod val="50000"/>
                    </a:srgbClr>
                  </a:solidFill>
                </a:rPr>
                <a:t>nces</a:t>
              </a:r>
              <a:r>
                <a:rPr lang="en-US" sz="2800" dirty="0">
                  <a:solidFill>
                    <a:srgbClr val="4BACC6">
                      <a:lumMod val="50000"/>
                    </a:srgbClr>
                  </a:solidFill>
                </a:rPr>
                <a:t>: when bundles A and B are</a:t>
              </a:r>
              <a:r>
                <a:rPr lang="pl-PL" sz="2800" dirty="0">
                  <a:solidFill>
                    <a:srgbClr val="4BACC6">
                      <a:lumMod val="50000"/>
                    </a:srgbClr>
                  </a:solidFill>
                </a:rPr>
                <a:t> </a:t>
              </a:r>
              <a:r>
                <a:rPr lang="en-US" sz="2800" dirty="0">
                  <a:solidFill>
                    <a:srgbClr val="4BACC6">
                      <a:lumMod val="50000"/>
                    </a:srgbClr>
                  </a:solidFill>
                </a:rPr>
                <a:t>available, bundle A is preferred over bundle B; when bundles B and C are available, bundle B is chosen. Therefore, one can conclude</a:t>
              </a:r>
              <a:r>
                <a:rPr lang="pl-PL" sz="2800" dirty="0">
                  <a:solidFill>
                    <a:srgbClr val="4BACC6">
                      <a:lumMod val="50000"/>
                    </a:srgbClr>
                  </a:solidFill>
                </a:rPr>
                <a:t> </a:t>
              </a:r>
              <a:r>
                <a:rPr lang="en-US" sz="2800" dirty="0">
                  <a:solidFill>
                    <a:srgbClr val="4BACC6">
                      <a:lumMod val="50000"/>
                    </a:srgbClr>
                  </a:solidFill>
                </a:rPr>
                <a:t>that A is indirectly preferred over C.</a:t>
              </a:r>
            </a:p>
            <a:p>
              <a:pPr algn="just"/>
              <a:endParaRPr lang="pl-PL" sz="2800" dirty="0">
                <a:solidFill>
                  <a:srgbClr val="4BACC6">
                    <a:lumMod val="50000"/>
                  </a:srgbClr>
                </a:solidFill>
              </a:endParaRPr>
            </a:p>
          </p:txBody>
        </p:sp>
        <p:grpSp>
          <p:nvGrpSpPr>
            <p:cNvPr id="2" name="Grupa 1"/>
            <p:cNvGrpSpPr/>
            <p:nvPr/>
          </p:nvGrpSpPr>
          <p:grpSpPr>
            <a:xfrm>
              <a:off x="120545" y="1549806"/>
              <a:ext cx="6546069" cy="4255570"/>
              <a:chOff x="986248" y="1594463"/>
              <a:chExt cx="4691679" cy="2880320"/>
            </a:xfrm>
          </p:grpSpPr>
          <p:grpSp>
            <p:nvGrpSpPr>
              <p:cNvPr id="59" name="Grupa 58"/>
              <p:cNvGrpSpPr/>
              <p:nvPr/>
            </p:nvGrpSpPr>
            <p:grpSpPr>
              <a:xfrm>
                <a:off x="986248" y="1594463"/>
                <a:ext cx="3876012" cy="2880320"/>
                <a:chOff x="323528" y="620688"/>
                <a:chExt cx="6443671" cy="4825330"/>
              </a:xfrm>
            </p:grpSpPr>
            <p:sp>
              <p:nvSpPr>
                <p:cNvPr id="58" name="Dowolny kształt 57"/>
                <p:cNvSpPr/>
                <p:nvPr/>
              </p:nvSpPr>
              <p:spPr>
                <a:xfrm>
                  <a:off x="672662" y="3153103"/>
                  <a:ext cx="4130566" cy="2133600"/>
                </a:xfrm>
                <a:custGeom>
                  <a:avLst/>
                  <a:gdLst>
                    <a:gd name="connsiteX0" fmla="*/ 21021 w 4130566"/>
                    <a:gd name="connsiteY0" fmla="*/ 0 h 2133600"/>
                    <a:gd name="connsiteX1" fmla="*/ 4130566 w 4130566"/>
                    <a:gd name="connsiteY1" fmla="*/ 2123090 h 2133600"/>
                    <a:gd name="connsiteX2" fmla="*/ 0 w 4130566"/>
                    <a:gd name="connsiteY2" fmla="*/ 2133600 h 2133600"/>
                    <a:gd name="connsiteX3" fmla="*/ 21021 w 4130566"/>
                    <a:gd name="connsiteY3" fmla="*/ 0 h 2133600"/>
                  </a:gdLst>
                  <a:ahLst/>
                  <a:cxnLst>
                    <a:cxn ang="0">
                      <a:pos x="connsiteX0" y="connsiteY0"/>
                    </a:cxn>
                    <a:cxn ang="0">
                      <a:pos x="connsiteX1" y="connsiteY1"/>
                    </a:cxn>
                    <a:cxn ang="0">
                      <a:pos x="connsiteX2" y="connsiteY2"/>
                    </a:cxn>
                    <a:cxn ang="0">
                      <a:pos x="connsiteX3" y="connsiteY3"/>
                    </a:cxn>
                  </a:cxnLst>
                  <a:rect l="l" t="t" r="r" b="b"/>
                  <a:pathLst>
                    <a:path w="4130566" h="2133600">
                      <a:moveTo>
                        <a:pt x="21021" y="0"/>
                      </a:moveTo>
                      <a:lnTo>
                        <a:pt x="4130566" y="2123090"/>
                      </a:lnTo>
                      <a:lnTo>
                        <a:pt x="0" y="2133600"/>
                      </a:lnTo>
                      <a:cubicBezTo>
                        <a:pt x="3503" y="1418897"/>
                        <a:pt x="7007" y="704193"/>
                        <a:pt x="21021" y="0"/>
                      </a:cubicBezTo>
                      <a:close/>
                    </a:path>
                  </a:pathLst>
                </a:custGeom>
                <a:solidFill>
                  <a:schemeClr val="accent5">
                    <a:lumMod val="50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grpSp>
              <p:nvGrpSpPr>
                <p:cNvPr id="57" name="Grupa 56"/>
                <p:cNvGrpSpPr/>
                <p:nvPr/>
              </p:nvGrpSpPr>
              <p:grpSpPr>
                <a:xfrm>
                  <a:off x="323528" y="620688"/>
                  <a:ext cx="6443671" cy="4825330"/>
                  <a:chOff x="323528" y="620688"/>
                  <a:chExt cx="6443671" cy="4825330"/>
                </a:xfrm>
              </p:grpSpPr>
              <p:sp>
                <p:nvSpPr>
                  <p:cNvPr id="41" name="Dowolny kształt 40"/>
                  <p:cNvSpPr/>
                  <p:nvPr/>
                </p:nvSpPr>
                <p:spPr>
                  <a:xfrm>
                    <a:off x="695643" y="1354270"/>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grpSp>
                <p:nvGrpSpPr>
                  <p:cNvPr id="3" name="Grupa 81"/>
                  <p:cNvGrpSpPr/>
                  <p:nvPr/>
                </p:nvGrpSpPr>
                <p:grpSpPr>
                  <a:xfrm>
                    <a:off x="323528" y="620688"/>
                    <a:ext cx="4752528" cy="4825330"/>
                    <a:chOff x="3995936" y="836712"/>
                    <a:chExt cx="4752528" cy="4825330"/>
                  </a:xfrm>
                </p:grpSpPr>
                <p:cxnSp>
                  <p:nvCxnSpPr>
                    <p:cNvPr id="17" name="Łącznik prosty ze strzałką 16"/>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Łącznik prosty ze strzałką 17"/>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Łącznik prosty 22"/>
                    <p:cNvCxnSpPr/>
                    <p:nvPr/>
                  </p:nvCxnSpPr>
                  <p:spPr>
                    <a:xfrm rot="16200000" flipH="1">
                      <a:off x="3491880" y="2420888"/>
                      <a:ext cx="3960440" cy="2232248"/>
                    </a:xfrm>
                    <a:prstGeom prst="line">
                      <a:avLst/>
                    </a:prstGeom>
                    <a:ln>
                      <a:solidFill>
                        <a:schemeClr val="accent3">
                          <a:lumMod val="75000"/>
                        </a:schemeClr>
                      </a:solidFill>
                    </a:ln>
                  </p:spPr>
                  <p:style>
                    <a:lnRef idx="3">
                      <a:schemeClr val="accent2"/>
                    </a:lnRef>
                    <a:fillRef idx="0">
                      <a:schemeClr val="accent2"/>
                    </a:fillRef>
                    <a:effectRef idx="2">
                      <a:schemeClr val="accent2"/>
                    </a:effectRef>
                    <a:fontRef idx="minor">
                      <a:schemeClr val="tx1"/>
                    </a:fontRef>
                  </p:style>
                </p:cxnSp>
                <p:cxnSp>
                  <p:nvCxnSpPr>
                    <p:cNvPr id="70" name="Łącznik prosty 69"/>
                    <p:cNvCxnSpPr/>
                    <p:nvPr/>
                  </p:nvCxnSpPr>
                  <p:spPr>
                    <a:xfrm>
                      <a:off x="4355976" y="3356992"/>
                      <a:ext cx="4176464" cy="2160240"/>
                    </a:xfrm>
                    <a:prstGeom prst="line">
                      <a:avLst/>
                    </a:prstGeom>
                  </p:spPr>
                  <p:style>
                    <a:lnRef idx="3">
                      <a:schemeClr val="accent1"/>
                    </a:lnRef>
                    <a:fillRef idx="0">
                      <a:schemeClr val="accent1"/>
                    </a:fillRef>
                    <a:effectRef idx="2">
                      <a:schemeClr val="accent1"/>
                    </a:effectRef>
                    <a:fontRef idx="minor">
                      <a:schemeClr val="tx1"/>
                    </a:fontRef>
                  </p:style>
                </p:cxnSp>
              </p:grpSp>
              <p:sp>
                <p:nvSpPr>
                  <p:cNvPr id="35" name="Elipsa 34"/>
                  <p:cNvSpPr/>
                  <p:nvPr/>
                </p:nvSpPr>
                <p:spPr>
                  <a:xfrm>
                    <a:off x="1403648" y="263691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sp>
                <p:nvSpPr>
                  <p:cNvPr id="48" name="Elipsa 47"/>
                  <p:cNvSpPr/>
                  <p:nvPr/>
                </p:nvSpPr>
                <p:spPr>
                  <a:xfrm>
                    <a:off x="3275856" y="4437112"/>
                    <a:ext cx="144016" cy="144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sp>
                <p:nvSpPr>
                  <p:cNvPr id="52" name="Prostokąt 51"/>
                  <p:cNvSpPr/>
                  <p:nvPr/>
                </p:nvSpPr>
                <p:spPr>
                  <a:xfrm>
                    <a:off x="1942869" y="1896872"/>
                    <a:ext cx="4328385" cy="618733"/>
                  </a:xfrm>
                  <a:prstGeom prst="rect">
                    <a:avLst/>
                  </a:prstGeom>
                </p:spPr>
                <p:txBody>
                  <a:bodyPr wrap="square">
                    <a:spAutoFit/>
                  </a:bodyPr>
                  <a:lstStyle/>
                  <a:p>
                    <a:r>
                      <a:rPr lang="pl-PL" b="1" dirty="0">
                        <a:solidFill>
                          <a:srgbClr val="4BACC6">
                            <a:lumMod val="50000"/>
                          </a:srgbClr>
                        </a:solidFill>
                        <a:latin typeface="Calibri"/>
                      </a:rPr>
                      <a:t>A</a:t>
                    </a:r>
                    <a:r>
                      <a:rPr lang="en-US" b="1" dirty="0">
                        <a:solidFill>
                          <a:srgbClr val="4BACC6">
                            <a:lumMod val="50000"/>
                          </a:srgbClr>
                        </a:solidFill>
                        <a:latin typeface="Calibri"/>
                      </a:rPr>
                      <a:t> was chosen</a:t>
                    </a:r>
                    <a:r>
                      <a:rPr lang="pl-PL" b="1" dirty="0">
                        <a:solidFill>
                          <a:srgbClr val="4BACC6">
                            <a:lumMod val="50000"/>
                          </a:srgbClr>
                        </a:solidFill>
                        <a:latin typeface="Calibri"/>
                      </a:rPr>
                      <a:t> </a:t>
                    </a:r>
                    <a:r>
                      <a:rPr lang="pl-PL" b="1" dirty="0" err="1">
                        <a:solidFill>
                          <a:srgbClr val="4BACC6">
                            <a:lumMod val="50000"/>
                          </a:srgbClr>
                        </a:solidFill>
                        <a:latin typeface="Calibri"/>
                      </a:rPr>
                      <a:t>in</a:t>
                    </a:r>
                    <a:r>
                      <a:rPr lang="pl-PL" b="1" dirty="0">
                        <a:solidFill>
                          <a:srgbClr val="4BACC6">
                            <a:lumMod val="50000"/>
                          </a:srgbClr>
                        </a:solidFill>
                        <a:latin typeface="Calibri"/>
                      </a:rPr>
                      <a:t> rund 1</a:t>
                    </a:r>
                    <a:endParaRPr lang="pl-PL" b="1" dirty="0">
                      <a:solidFill>
                        <a:prstClr val="black"/>
                      </a:solidFill>
                      <a:latin typeface="Calibri"/>
                    </a:endParaRPr>
                  </a:p>
                </p:txBody>
              </p:sp>
              <p:sp>
                <p:nvSpPr>
                  <p:cNvPr id="53" name="Strzałka w dół 52"/>
                  <p:cNvSpPr/>
                  <p:nvPr/>
                </p:nvSpPr>
                <p:spPr>
                  <a:xfrm rot="4075776">
                    <a:off x="1561418" y="2325040"/>
                    <a:ext cx="576064" cy="4320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sp>
                <p:nvSpPr>
                  <p:cNvPr id="55" name="Prostokąt 54"/>
                  <p:cNvSpPr/>
                  <p:nvPr/>
                </p:nvSpPr>
                <p:spPr>
                  <a:xfrm>
                    <a:off x="2063868" y="2741438"/>
                    <a:ext cx="4703331" cy="1082784"/>
                  </a:xfrm>
                  <a:prstGeom prst="rect">
                    <a:avLst/>
                  </a:prstGeom>
                </p:spPr>
                <p:txBody>
                  <a:bodyPr wrap="square">
                    <a:spAutoFit/>
                  </a:bodyPr>
                  <a:lstStyle/>
                  <a:p>
                    <a:r>
                      <a:rPr lang="pl-PL" b="1" dirty="0">
                        <a:solidFill>
                          <a:srgbClr val="4BACC6">
                            <a:lumMod val="50000"/>
                          </a:srgbClr>
                        </a:solidFill>
                        <a:latin typeface="Calibri"/>
                      </a:rPr>
                      <a:t>B</a:t>
                    </a:r>
                    <a:r>
                      <a:rPr lang="en-US" b="1" dirty="0">
                        <a:solidFill>
                          <a:srgbClr val="4BACC6">
                            <a:lumMod val="50000"/>
                          </a:srgbClr>
                        </a:solidFill>
                        <a:latin typeface="Calibri"/>
                      </a:rPr>
                      <a:t> was</a:t>
                    </a:r>
                    <a:r>
                      <a:rPr lang="pl-PL" b="1" dirty="0" err="1">
                        <a:solidFill>
                          <a:srgbClr val="4BACC6">
                            <a:lumMod val="50000"/>
                          </a:srgbClr>
                        </a:solidFill>
                        <a:latin typeface="Calibri"/>
                      </a:rPr>
                      <a:t>n’t</a:t>
                    </a:r>
                    <a:r>
                      <a:rPr lang="pl-PL" b="1" dirty="0">
                        <a:solidFill>
                          <a:srgbClr val="4BACC6">
                            <a:lumMod val="50000"/>
                          </a:srgbClr>
                        </a:solidFill>
                        <a:latin typeface="Calibri"/>
                      </a:rPr>
                      <a:t> </a:t>
                    </a:r>
                    <a:r>
                      <a:rPr lang="en-US" b="1" dirty="0">
                        <a:solidFill>
                          <a:srgbClr val="4BACC6">
                            <a:lumMod val="50000"/>
                          </a:srgbClr>
                        </a:solidFill>
                        <a:latin typeface="Calibri"/>
                      </a:rPr>
                      <a:t>chosen</a:t>
                    </a:r>
                    <a:r>
                      <a:rPr lang="pl-PL" b="1" dirty="0">
                        <a:solidFill>
                          <a:srgbClr val="4BACC6">
                            <a:lumMod val="50000"/>
                          </a:srgbClr>
                        </a:solidFill>
                        <a:latin typeface="Calibri"/>
                      </a:rPr>
                      <a:t> in rund 1 and </a:t>
                    </a:r>
                    <a:r>
                      <a:rPr lang="pl-PL" b="1" dirty="0">
                        <a:solidFill>
                          <a:srgbClr val="4BACC6">
                            <a:lumMod val="50000"/>
                          </a:srgbClr>
                        </a:solidFill>
                      </a:rPr>
                      <a:t>was </a:t>
                    </a:r>
                    <a:r>
                      <a:rPr lang="pl-PL" b="1" dirty="0" err="1">
                        <a:solidFill>
                          <a:srgbClr val="4BACC6">
                            <a:lumMod val="50000"/>
                          </a:srgbClr>
                        </a:solidFill>
                      </a:rPr>
                      <a:t>chosen</a:t>
                    </a:r>
                    <a:r>
                      <a:rPr lang="pl-PL" b="1" dirty="0">
                        <a:solidFill>
                          <a:srgbClr val="4BACC6">
                            <a:lumMod val="50000"/>
                          </a:srgbClr>
                        </a:solidFill>
                      </a:rPr>
                      <a:t> </a:t>
                    </a:r>
                    <a:r>
                      <a:rPr lang="pl-PL" b="1" dirty="0">
                        <a:solidFill>
                          <a:srgbClr val="4BACC6">
                            <a:lumMod val="50000"/>
                          </a:srgbClr>
                        </a:solidFill>
                        <a:latin typeface="Calibri"/>
                      </a:rPr>
                      <a:t>in </a:t>
                    </a:r>
                    <a:r>
                      <a:rPr lang="pl-PL" b="1" dirty="0" err="1">
                        <a:solidFill>
                          <a:srgbClr val="4BACC6">
                            <a:lumMod val="50000"/>
                          </a:srgbClr>
                        </a:solidFill>
                        <a:latin typeface="Calibri"/>
                      </a:rPr>
                      <a:t>round</a:t>
                    </a:r>
                    <a:r>
                      <a:rPr lang="pl-PL" b="1" dirty="0">
                        <a:solidFill>
                          <a:srgbClr val="4BACC6">
                            <a:lumMod val="50000"/>
                          </a:srgbClr>
                        </a:solidFill>
                        <a:latin typeface="Calibri"/>
                      </a:rPr>
                      <a:t> 2</a:t>
                    </a:r>
                    <a:endParaRPr lang="pl-PL" b="1" dirty="0">
                      <a:solidFill>
                        <a:prstClr val="black"/>
                      </a:solidFill>
                      <a:latin typeface="Calibri"/>
                    </a:endParaRPr>
                  </a:p>
                </p:txBody>
              </p:sp>
              <p:sp>
                <p:nvSpPr>
                  <p:cNvPr id="56" name="Strzałka w dół 55"/>
                  <p:cNvSpPr/>
                  <p:nvPr/>
                </p:nvSpPr>
                <p:spPr>
                  <a:xfrm rot="2410344">
                    <a:off x="1414176" y="3109796"/>
                    <a:ext cx="576063" cy="4320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grpSp>
          </p:grpSp>
          <p:sp>
            <p:nvSpPr>
              <p:cNvPr id="38" name="Elipsa 34"/>
              <p:cNvSpPr/>
              <p:nvPr/>
            </p:nvSpPr>
            <p:spPr>
              <a:xfrm>
                <a:off x="1675786" y="3325039"/>
                <a:ext cx="86629" cy="859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solidFill>
                    <a:prstClr val="white"/>
                  </a:solidFill>
                  <a:latin typeface="Calibri"/>
                </a:endParaRPr>
              </a:p>
            </p:txBody>
          </p:sp>
          <p:sp>
            <p:nvSpPr>
              <p:cNvPr id="39" name="Prostokąt 38"/>
              <p:cNvSpPr/>
              <p:nvPr/>
            </p:nvSpPr>
            <p:spPr>
              <a:xfrm>
                <a:off x="2848768" y="3666393"/>
                <a:ext cx="2829159" cy="369332"/>
              </a:xfrm>
              <a:prstGeom prst="rect">
                <a:avLst/>
              </a:prstGeom>
            </p:spPr>
            <p:txBody>
              <a:bodyPr wrap="square">
                <a:spAutoFit/>
              </a:bodyPr>
              <a:lstStyle/>
              <a:p>
                <a:r>
                  <a:rPr lang="pl-PL" b="1" dirty="0">
                    <a:solidFill>
                      <a:srgbClr val="4BACC6">
                        <a:lumMod val="50000"/>
                      </a:srgbClr>
                    </a:solidFill>
                    <a:latin typeface="Calibri"/>
                  </a:rPr>
                  <a:t>C</a:t>
                </a:r>
                <a:r>
                  <a:rPr lang="en-US" b="1" dirty="0">
                    <a:solidFill>
                      <a:srgbClr val="4BACC6">
                        <a:lumMod val="50000"/>
                      </a:srgbClr>
                    </a:solidFill>
                    <a:latin typeface="Calibri"/>
                  </a:rPr>
                  <a:t> was</a:t>
                </a:r>
                <a:r>
                  <a:rPr lang="pl-PL" b="1" dirty="0" err="1">
                    <a:solidFill>
                      <a:srgbClr val="4BACC6">
                        <a:lumMod val="50000"/>
                      </a:srgbClr>
                    </a:solidFill>
                    <a:latin typeface="Calibri"/>
                  </a:rPr>
                  <a:t>n’t</a:t>
                </a:r>
                <a:r>
                  <a:rPr lang="pl-PL" b="1" dirty="0">
                    <a:solidFill>
                      <a:srgbClr val="4BACC6">
                        <a:lumMod val="50000"/>
                      </a:srgbClr>
                    </a:solidFill>
                    <a:latin typeface="Calibri"/>
                  </a:rPr>
                  <a:t> </a:t>
                </a:r>
                <a:r>
                  <a:rPr lang="en-US" b="1" dirty="0">
                    <a:solidFill>
                      <a:srgbClr val="4BACC6">
                        <a:lumMod val="50000"/>
                      </a:srgbClr>
                    </a:solidFill>
                    <a:latin typeface="Calibri"/>
                  </a:rPr>
                  <a:t>chosen</a:t>
                </a:r>
                <a:r>
                  <a:rPr lang="pl-PL" b="1" dirty="0">
                    <a:solidFill>
                      <a:srgbClr val="4BACC6">
                        <a:lumMod val="50000"/>
                      </a:srgbClr>
                    </a:solidFill>
                    <a:latin typeface="Calibri"/>
                  </a:rPr>
                  <a:t> in rund 2</a:t>
                </a:r>
                <a:endParaRPr lang="pl-PL" b="1" dirty="0">
                  <a:solidFill>
                    <a:prstClr val="black"/>
                  </a:solidFill>
                  <a:latin typeface="Calibri"/>
                </a:endParaRPr>
              </a:p>
            </p:txBody>
          </p:sp>
        </p:grpSp>
      </p:grpSp>
      <p:sp>
        <p:nvSpPr>
          <p:cNvPr id="4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Tree>
    <p:extLst>
      <p:ext uri="{BB962C8B-B14F-4D97-AF65-F5344CB8AC3E}">
        <p14:creationId xmlns:p14="http://schemas.microsoft.com/office/powerpoint/2010/main" val="424000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Dowolny kształt 31"/>
          <p:cNvSpPr/>
          <p:nvPr/>
        </p:nvSpPr>
        <p:spPr>
          <a:xfrm>
            <a:off x="6287028" y="1708658"/>
            <a:ext cx="2358981" cy="2522625"/>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2">
              <a:lumMod val="60000"/>
              <a:lumOff val="4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 name="Łącznik prosty 6"/>
          <p:cNvCxnSpPr/>
          <p:nvPr/>
        </p:nvCxnSpPr>
        <p:spPr>
          <a:xfrm>
            <a:off x="6287028" y="1666581"/>
            <a:ext cx="2358981" cy="2564702"/>
          </a:xfrm>
          <a:prstGeom prst="line">
            <a:avLst/>
          </a:prstGeom>
        </p:spPr>
        <p:style>
          <a:lnRef idx="3">
            <a:schemeClr val="accent2"/>
          </a:lnRef>
          <a:fillRef idx="0">
            <a:schemeClr val="accent2"/>
          </a:fillRef>
          <a:effectRef idx="2">
            <a:schemeClr val="accent2"/>
          </a:effectRef>
          <a:fontRef idx="minor">
            <a:schemeClr val="tx1"/>
          </a:fontRef>
        </p:style>
      </p:cxnSp>
      <p:sp>
        <p:nvSpPr>
          <p:cNvPr id="2" name="Prostokąt 1"/>
          <p:cNvSpPr/>
          <p:nvPr/>
        </p:nvSpPr>
        <p:spPr>
          <a:xfrm>
            <a:off x="220580" y="175482"/>
            <a:ext cx="5189158" cy="1569660"/>
          </a:xfrm>
          <a:prstGeom prst="rect">
            <a:avLst/>
          </a:prstGeom>
        </p:spPr>
        <p:txBody>
          <a:bodyPr wrap="square">
            <a:spAutoFit/>
          </a:bodyPr>
          <a:lstStyle/>
          <a:p>
            <a:pPr lvl="0" algn="just">
              <a:defRPr/>
            </a:pPr>
            <a:r>
              <a:rPr lang="en-US" sz="2400" b="1" dirty="0">
                <a:solidFill>
                  <a:srgbClr val="4BACC6">
                    <a:lumMod val="50000"/>
                  </a:srgbClr>
                </a:solidFill>
              </a:rPr>
              <a:t>Strong Axiom of Revealed Preference (SARP): If bundle A is directly or indirectly preferred to B, then A cannot be directly or indirectly preferred to B</a:t>
            </a:r>
          </a:p>
        </p:txBody>
      </p:sp>
      <p:grpSp>
        <p:nvGrpSpPr>
          <p:cNvPr id="5" name="Grupa 4"/>
          <p:cNvGrpSpPr/>
          <p:nvPr/>
        </p:nvGrpSpPr>
        <p:grpSpPr>
          <a:xfrm>
            <a:off x="5966900" y="885305"/>
            <a:ext cx="6348624" cy="5158994"/>
            <a:chOff x="5966900" y="885305"/>
            <a:chExt cx="6348624" cy="5158994"/>
          </a:xfrm>
        </p:grpSpPr>
        <p:grpSp>
          <p:nvGrpSpPr>
            <p:cNvPr id="4" name="Grupa 3"/>
            <p:cNvGrpSpPr/>
            <p:nvPr/>
          </p:nvGrpSpPr>
          <p:grpSpPr>
            <a:xfrm>
              <a:off x="5966900" y="885305"/>
              <a:ext cx="6348624" cy="3532196"/>
              <a:chOff x="5966900" y="885305"/>
              <a:chExt cx="6348624" cy="3532196"/>
            </a:xfrm>
          </p:grpSpPr>
          <p:grpSp>
            <p:nvGrpSpPr>
              <p:cNvPr id="59" name="Grupa 58"/>
              <p:cNvGrpSpPr/>
              <p:nvPr/>
            </p:nvGrpSpPr>
            <p:grpSpPr>
              <a:xfrm>
                <a:off x="5966900" y="885305"/>
                <a:ext cx="6348624" cy="3460222"/>
                <a:chOff x="323528" y="620688"/>
                <a:chExt cx="7379605" cy="4825330"/>
              </a:xfrm>
            </p:grpSpPr>
            <p:sp>
              <p:nvSpPr>
                <p:cNvPr id="58" name="Dowolny kształt 57"/>
                <p:cNvSpPr/>
                <p:nvPr/>
              </p:nvSpPr>
              <p:spPr>
                <a:xfrm>
                  <a:off x="672662" y="3153103"/>
                  <a:ext cx="4130566" cy="2133600"/>
                </a:xfrm>
                <a:custGeom>
                  <a:avLst/>
                  <a:gdLst>
                    <a:gd name="connsiteX0" fmla="*/ 21021 w 4130566"/>
                    <a:gd name="connsiteY0" fmla="*/ 0 h 2133600"/>
                    <a:gd name="connsiteX1" fmla="*/ 4130566 w 4130566"/>
                    <a:gd name="connsiteY1" fmla="*/ 2123090 h 2133600"/>
                    <a:gd name="connsiteX2" fmla="*/ 0 w 4130566"/>
                    <a:gd name="connsiteY2" fmla="*/ 2133600 h 2133600"/>
                    <a:gd name="connsiteX3" fmla="*/ 21021 w 4130566"/>
                    <a:gd name="connsiteY3" fmla="*/ 0 h 2133600"/>
                  </a:gdLst>
                  <a:ahLst/>
                  <a:cxnLst>
                    <a:cxn ang="0">
                      <a:pos x="connsiteX0" y="connsiteY0"/>
                    </a:cxn>
                    <a:cxn ang="0">
                      <a:pos x="connsiteX1" y="connsiteY1"/>
                    </a:cxn>
                    <a:cxn ang="0">
                      <a:pos x="connsiteX2" y="connsiteY2"/>
                    </a:cxn>
                    <a:cxn ang="0">
                      <a:pos x="connsiteX3" y="connsiteY3"/>
                    </a:cxn>
                  </a:cxnLst>
                  <a:rect l="l" t="t" r="r" b="b"/>
                  <a:pathLst>
                    <a:path w="4130566" h="2133600">
                      <a:moveTo>
                        <a:pt x="21021" y="0"/>
                      </a:moveTo>
                      <a:lnTo>
                        <a:pt x="4130566" y="2123090"/>
                      </a:lnTo>
                      <a:lnTo>
                        <a:pt x="0" y="2133600"/>
                      </a:lnTo>
                      <a:cubicBezTo>
                        <a:pt x="3503" y="1418897"/>
                        <a:pt x="7007" y="704193"/>
                        <a:pt x="21021" y="0"/>
                      </a:cubicBezTo>
                      <a:close/>
                    </a:path>
                  </a:pathLst>
                </a:custGeom>
                <a:solidFill>
                  <a:schemeClr val="accent5">
                    <a:lumMod val="50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7" name="Grupa 56"/>
                <p:cNvGrpSpPr/>
                <p:nvPr/>
              </p:nvGrpSpPr>
              <p:grpSpPr>
                <a:xfrm>
                  <a:off x="323528" y="620688"/>
                  <a:ext cx="7379605" cy="4825330"/>
                  <a:chOff x="323528" y="620688"/>
                  <a:chExt cx="7379605" cy="4825330"/>
                </a:xfrm>
              </p:grpSpPr>
              <p:sp>
                <p:nvSpPr>
                  <p:cNvPr id="41" name="Dowolny kształt 40"/>
                  <p:cNvSpPr/>
                  <p:nvPr/>
                </p:nvSpPr>
                <p:spPr>
                  <a:xfrm>
                    <a:off x="695643" y="1354270"/>
                    <a:ext cx="2207172" cy="3962400"/>
                  </a:xfrm>
                  <a:custGeom>
                    <a:avLst/>
                    <a:gdLst>
                      <a:gd name="connsiteX0" fmla="*/ 10510 w 2207172"/>
                      <a:gd name="connsiteY0" fmla="*/ 0 h 3962400"/>
                      <a:gd name="connsiteX1" fmla="*/ 2207172 w 2207172"/>
                      <a:gd name="connsiteY1" fmla="*/ 3962400 h 3962400"/>
                      <a:gd name="connsiteX2" fmla="*/ 0 w 2207172"/>
                      <a:gd name="connsiteY2" fmla="*/ 3930869 h 3962400"/>
                      <a:gd name="connsiteX3" fmla="*/ 10510 w 2207172"/>
                      <a:gd name="connsiteY3" fmla="*/ 0 h 3962400"/>
                    </a:gdLst>
                    <a:ahLst/>
                    <a:cxnLst>
                      <a:cxn ang="0">
                        <a:pos x="connsiteX0" y="connsiteY0"/>
                      </a:cxn>
                      <a:cxn ang="0">
                        <a:pos x="connsiteX1" y="connsiteY1"/>
                      </a:cxn>
                      <a:cxn ang="0">
                        <a:pos x="connsiteX2" y="connsiteY2"/>
                      </a:cxn>
                      <a:cxn ang="0">
                        <a:pos x="connsiteX3" y="connsiteY3"/>
                      </a:cxn>
                    </a:cxnLst>
                    <a:rect l="l" t="t" r="r" b="b"/>
                    <a:pathLst>
                      <a:path w="2207172" h="3962400">
                        <a:moveTo>
                          <a:pt x="10510" y="0"/>
                        </a:moveTo>
                        <a:lnTo>
                          <a:pt x="2207172" y="3962400"/>
                        </a:lnTo>
                        <a:lnTo>
                          <a:pt x="0" y="3930869"/>
                        </a:lnTo>
                        <a:cubicBezTo>
                          <a:pt x="3503" y="2620579"/>
                          <a:pt x="7007" y="1310290"/>
                          <a:pt x="10510" y="0"/>
                        </a:cubicBezTo>
                        <a:close/>
                      </a:path>
                    </a:pathLst>
                  </a:custGeom>
                  <a:solidFill>
                    <a:schemeClr val="accent3">
                      <a:lumMod val="5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 name="Grupa 81"/>
                  <p:cNvGrpSpPr/>
                  <p:nvPr/>
                </p:nvGrpSpPr>
                <p:grpSpPr>
                  <a:xfrm>
                    <a:off x="323528" y="620688"/>
                    <a:ext cx="4752528" cy="4825330"/>
                    <a:chOff x="3995936" y="836712"/>
                    <a:chExt cx="4752528" cy="4825330"/>
                  </a:xfrm>
                </p:grpSpPr>
                <p:cxnSp>
                  <p:nvCxnSpPr>
                    <p:cNvPr id="17" name="Łącznik prosty ze strzałką 16"/>
                    <p:cNvCxnSpPr/>
                    <p:nvPr/>
                  </p:nvCxnSpPr>
                  <p:spPr>
                    <a:xfrm rot="5400000" flipH="1" flipV="1">
                      <a:off x="1944105" y="3248583"/>
                      <a:ext cx="482533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Łącznik prosty ze strzałką 17"/>
                    <p:cNvCxnSpPr/>
                    <p:nvPr/>
                  </p:nvCxnSpPr>
                  <p:spPr>
                    <a:xfrm>
                      <a:off x="3995936" y="5517232"/>
                      <a:ext cx="4752528"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Łącznik prosty 22"/>
                    <p:cNvCxnSpPr/>
                    <p:nvPr/>
                  </p:nvCxnSpPr>
                  <p:spPr>
                    <a:xfrm rot="16200000" flipH="1">
                      <a:off x="3491880" y="2420888"/>
                      <a:ext cx="3960440" cy="2232248"/>
                    </a:xfrm>
                    <a:prstGeom prst="line">
                      <a:avLst/>
                    </a:prstGeom>
                  </p:spPr>
                  <p:style>
                    <a:lnRef idx="3">
                      <a:schemeClr val="accent2"/>
                    </a:lnRef>
                    <a:fillRef idx="0">
                      <a:schemeClr val="accent2"/>
                    </a:fillRef>
                    <a:effectRef idx="2">
                      <a:schemeClr val="accent2"/>
                    </a:effectRef>
                    <a:fontRef idx="minor">
                      <a:schemeClr val="tx1"/>
                    </a:fontRef>
                  </p:style>
                </p:cxnSp>
                <p:cxnSp>
                  <p:nvCxnSpPr>
                    <p:cNvPr id="70" name="Łącznik prosty 69"/>
                    <p:cNvCxnSpPr/>
                    <p:nvPr/>
                  </p:nvCxnSpPr>
                  <p:spPr>
                    <a:xfrm>
                      <a:off x="4355976" y="3356992"/>
                      <a:ext cx="4176464" cy="2160240"/>
                    </a:xfrm>
                    <a:prstGeom prst="line">
                      <a:avLst/>
                    </a:prstGeom>
                  </p:spPr>
                  <p:style>
                    <a:lnRef idx="3">
                      <a:schemeClr val="accent2"/>
                    </a:lnRef>
                    <a:fillRef idx="0">
                      <a:schemeClr val="accent2"/>
                    </a:fillRef>
                    <a:effectRef idx="2">
                      <a:schemeClr val="accent2"/>
                    </a:effectRef>
                    <a:fontRef idx="minor">
                      <a:schemeClr val="tx1"/>
                    </a:fontRef>
                  </p:style>
                </p:cxnSp>
              </p:grpSp>
              <p:sp>
                <p:nvSpPr>
                  <p:cNvPr id="35" name="Elipsa 34"/>
                  <p:cNvSpPr/>
                  <p:nvPr/>
                </p:nvSpPr>
                <p:spPr>
                  <a:xfrm>
                    <a:off x="1403648" y="2636912"/>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48" name="Elipsa 47"/>
                  <p:cNvSpPr/>
                  <p:nvPr/>
                </p:nvSpPr>
                <p:spPr>
                  <a:xfrm>
                    <a:off x="1792149" y="3671830"/>
                    <a:ext cx="144016" cy="14401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Prostokąt 51"/>
                  <p:cNvSpPr/>
                  <p:nvPr/>
                </p:nvSpPr>
                <p:spPr>
                  <a:xfrm>
                    <a:off x="3005661" y="1240325"/>
                    <a:ext cx="4521529" cy="5150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Calibri"/>
                        <a:ea typeface="+mn-ea"/>
                        <a:cs typeface="+mn-cs"/>
                      </a:rPr>
                      <a:t>X</a:t>
                    </a:r>
                    <a:r>
                      <a:rPr kumimoji="0" lang="en-US" sz="1800" b="1" i="0" u="none" strike="noStrike" kern="1200" cap="none" spc="0" normalizeH="0" baseline="0" noProof="0" dirty="0">
                        <a:ln>
                          <a:noFill/>
                        </a:ln>
                        <a:solidFill>
                          <a:srgbClr val="4BACC6">
                            <a:lumMod val="50000"/>
                          </a:srgbClr>
                        </a:solidFill>
                        <a:effectLst/>
                        <a:uLnTx/>
                        <a:uFillTx/>
                        <a:latin typeface="Calibri"/>
                        <a:ea typeface="+mn-ea"/>
                        <a:cs typeface="+mn-cs"/>
                      </a:rPr>
                      <a:t> was chosen in </a:t>
                    </a:r>
                    <a:r>
                      <a:rPr kumimoji="0" lang="en-US" sz="1800" b="1" i="0" u="none" strike="noStrike" kern="1200" cap="none" spc="0" normalizeH="0" baseline="0" noProof="0" dirty="0" err="1">
                        <a:ln>
                          <a:noFill/>
                        </a:ln>
                        <a:solidFill>
                          <a:srgbClr val="4BACC6">
                            <a:lumMod val="50000"/>
                          </a:srgbClr>
                        </a:solidFill>
                        <a:effectLst/>
                        <a:uLnTx/>
                        <a:uFillTx/>
                        <a:latin typeface="Calibri"/>
                        <a:ea typeface="+mn-ea"/>
                        <a:cs typeface="+mn-cs"/>
                      </a:rPr>
                      <a:t>rund</a:t>
                    </a:r>
                    <a:r>
                      <a:rPr kumimoji="0" lang="en-US" sz="1800" b="1" i="0" u="none" strike="noStrike" kern="1200" cap="none" spc="0" normalizeH="0" baseline="0" noProof="0" dirty="0">
                        <a:ln>
                          <a:noFill/>
                        </a:ln>
                        <a:solidFill>
                          <a:srgbClr val="4BACC6">
                            <a:lumMod val="50000"/>
                          </a:srgbClr>
                        </a:solidFill>
                        <a:effectLst/>
                        <a:uLnTx/>
                        <a:uFillTx/>
                        <a:latin typeface="Calibri"/>
                        <a:ea typeface="+mn-ea"/>
                        <a:cs typeface="+mn-cs"/>
                      </a:rPr>
                      <a:t> 1</a:t>
                    </a:r>
                  </a:p>
                </p:txBody>
              </p:sp>
              <p:sp>
                <p:nvSpPr>
                  <p:cNvPr id="53" name="Strzałka w dół 52"/>
                  <p:cNvSpPr/>
                  <p:nvPr/>
                </p:nvSpPr>
                <p:spPr>
                  <a:xfrm rot="4075776">
                    <a:off x="2246143" y="1494165"/>
                    <a:ext cx="576064"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Prostokąt 54"/>
                  <p:cNvSpPr/>
                  <p:nvPr/>
                </p:nvSpPr>
                <p:spPr>
                  <a:xfrm>
                    <a:off x="3161781" y="2715564"/>
                    <a:ext cx="4541352" cy="51503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800" b="1" i="0" u="none" strike="noStrike" kern="1200" cap="none" spc="0" normalizeH="0" baseline="0" noProof="0" dirty="0">
                        <a:ln>
                          <a:noFill/>
                        </a:ln>
                        <a:solidFill>
                          <a:srgbClr val="C00000"/>
                        </a:solidFill>
                        <a:effectLst/>
                        <a:uLnTx/>
                        <a:uFillTx/>
                        <a:latin typeface="Calibri"/>
                        <a:ea typeface="+mn-ea"/>
                        <a:cs typeface="+mn-cs"/>
                      </a:rPr>
                      <a:t>Y</a:t>
                    </a:r>
                    <a:r>
                      <a:rPr kumimoji="0" lang="en-US" sz="18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de-DE" sz="1800" b="1" i="0" u="none" strike="noStrike" kern="1200" cap="none" spc="0" normalizeH="0" baseline="0" noProof="0" dirty="0">
                        <a:ln>
                          <a:noFill/>
                        </a:ln>
                        <a:solidFill>
                          <a:srgbClr val="4BACC6">
                            <a:lumMod val="50000"/>
                          </a:srgbClr>
                        </a:solidFill>
                        <a:effectLst/>
                        <a:uLnTx/>
                        <a:uFillTx/>
                        <a:latin typeface="Calibri"/>
                        <a:ea typeface="+mn-ea"/>
                        <a:cs typeface="+mn-cs"/>
                      </a:rPr>
                      <a:t>was </a:t>
                    </a:r>
                    <a:r>
                      <a:rPr kumimoji="0" lang="de-DE" sz="1800" b="1" i="0" u="none" strike="noStrike" kern="1200" cap="none" spc="0" normalizeH="0" baseline="0" noProof="0" dirty="0" err="1">
                        <a:ln>
                          <a:noFill/>
                        </a:ln>
                        <a:solidFill>
                          <a:srgbClr val="4BACC6">
                            <a:lumMod val="50000"/>
                          </a:srgbClr>
                        </a:solidFill>
                        <a:effectLst/>
                        <a:uLnTx/>
                        <a:uFillTx/>
                        <a:latin typeface="Calibri"/>
                        <a:ea typeface="+mn-ea"/>
                        <a:cs typeface="+mn-cs"/>
                      </a:rPr>
                      <a:t>chosen</a:t>
                    </a:r>
                    <a:r>
                      <a:rPr kumimoji="0" lang="de-DE" sz="1800" b="1" i="0" u="none" strike="noStrike" kern="1200" cap="none" spc="0" normalizeH="0" baseline="0" noProof="0" dirty="0">
                        <a:ln>
                          <a:noFill/>
                        </a:ln>
                        <a:solidFill>
                          <a:srgbClr val="4BACC6">
                            <a:lumMod val="50000"/>
                          </a:srgbClr>
                        </a:solidFill>
                        <a:effectLst/>
                        <a:uLnTx/>
                        <a:uFillTx/>
                        <a:latin typeface="Calibri"/>
                        <a:ea typeface="+mn-ea"/>
                        <a:cs typeface="+mn-cs"/>
                      </a:rPr>
                      <a:t> in rund </a:t>
                    </a:r>
                    <a:r>
                      <a:rPr kumimoji="0" lang="pl-PL" sz="1800" b="1" i="0" u="none" strike="noStrike" kern="1200" cap="none" spc="0" normalizeH="0" baseline="0" noProof="0" dirty="0">
                        <a:ln>
                          <a:noFill/>
                        </a:ln>
                        <a:solidFill>
                          <a:srgbClr val="4BACC6">
                            <a:lumMod val="50000"/>
                          </a:srgbClr>
                        </a:solidFill>
                        <a:effectLst/>
                        <a:uLnTx/>
                        <a:uFillTx/>
                        <a:latin typeface="Calibri"/>
                        <a:ea typeface="+mn-ea"/>
                        <a:cs typeface="+mn-cs"/>
                      </a:rPr>
                      <a:t>3</a:t>
                    </a:r>
                    <a:endParaRPr kumimoji="0" lang="pl-PL"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6" name="Strzałka w dół 55"/>
                  <p:cNvSpPr/>
                  <p:nvPr/>
                </p:nvSpPr>
                <p:spPr>
                  <a:xfrm rot="3847578">
                    <a:off x="2394223" y="2587885"/>
                    <a:ext cx="413681" cy="121497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grpSp>
          </p:grpSp>
          <p:sp>
            <p:nvSpPr>
              <p:cNvPr id="38" name="Elipsa 37"/>
              <p:cNvSpPr/>
              <p:nvPr/>
            </p:nvSpPr>
            <p:spPr>
              <a:xfrm>
                <a:off x="8212373" y="3780335"/>
                <a:ext cx="123896" cy="10327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Strzałka w dół 38"/>
              <p:cNvSpPr/>
              <p:nvPr/>
            </p:nvSpPr>
            <p:spPr>
              <a:xfrm rot="13583371">
                <a:off x="7566432" y="3648018"/>
                <a:ext cx="262240" cy="1276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5" name="Prostokąt 24"/>
            <p:cNvSpPr/>
            <p:nvPr/>
          </p:nvSpPr>
          <p:spPr>
            <a:xfrm>
              <a:off x="7027733" y="4843970"/>
              <a:ext cx="4155885" cy="1200329"/>
            </a:xfrm>
            <a:prstGeom prst="rect">
              <a:avLst/>
            </a:prstGeom>
          </p:spPr>
          <p:txBody>
            <a:bodyPr wrap="square">
              <a:spAutoFit/>
            </a:bodyPr>
            <a:lstStyle/>
            <a:p>
              <a:r>
                <a:rPr lang="en-US" b="1" dirty="0">
                  <a:solidFill>
                    <a:schemeClr val="accent5">
                      <a:lumMod val="50000"/>
                    </a:schemeClr>
                  </a:solidFill>
                </a:rPr>
                <a:t>Z was not chosen</a:t>
              </a:r>
              <a:r>
                <a:rPr lang="pl-PL" b="1" dirty="0">
                  <a:solidFill>
                    <a:schemeClr val="accent5">
                      <a:lumMod val="50000"/>
                    </a:schemeClr>
                  </a:solidFill>
                </a:rPr>
                <a:t> </a:t>
              </a:r>
              <a:r>
                <a:rPr lang="en-US" b="1" dirty="0">
                  <a:solidFill>
                    <a:schemeClr val="accent5">
                      <a:lumMod val="50000"/>
                    </a:schemeClr>
                  </a:solidFill>
                </a:rPr>
                <a:t>in Round 1 and was not chosen in Round 3. </a:t>
              </a:r>
              <a:endParaRPr lang="pl-PL" b="1" dirty="0">
                <a:solidFill>
                  <a:schemeClr val="accent5">
                    <a:lumMod val="50000"/>
                  </a:schemeClr>
                </a:solidFill>
              </a:endParaRPr>
            </a:p>
            <a:p>
              <a:endParaRPr lang="pl-PL" b="1" dirty="0">
                <a:solidFill>
                  <a:schemeClr val="accent5">
                    <a:lumMod val="50000"/>
                  </a:schemeClr>
                </a:solidFill>
              </a:endParaRPr>
            </a:p>
            <a:p>
              <a:r>
                <a:rPr lang="en-US" b="1" dirty="0">
                  <a:solidFill>
                    <a:schemeClr val="accent5">
                      <a:lumMod val="50000"/>
                    </a:schemeClr>
                  </a:solidFill>
                </a:rPr>
                <a:t>In Round 5, he was chosen.</a:t>
              </a:r>
              <a:endParaRPr lang="pl-PL" dirty="0">
                <a:solidFill>
                  <a:schemeClr val="accent5">
                    <a:lumMod val="50000"/>
                  </a:schemeClr>
                </a:solidFill>
              </a:endParaRPr>
            </a:p>
          </p:txBody>
        </p:sp>
      </p:grpSp>
      <p:sp>
        <p:nvSpPr>
          <p:cNvPr id="33" name="Prostokąt 32"/>
          <p:cNvSpPr/>
          <p:nvPr/>
        </p:nvSpPr>
        <p:spPr>
          <a:xfrm>
            <a:off x="253555" y="4367459"/>
            <a:ext cx="7045920" cy="163121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BACC6">
                    <a:lumMod val="50000"/>
                  </a:srgbClr>
                </a:solidFill>
                <a:effectLst/>
                <a:uLnTx/>
                <a:uFillTx/>
                <a:latin typeface="Calibri"/>
                <a:ea typeface="+mn-ea"/>
                <a:cs typeface="+mn-cs"/>
              </a:rPr>
              <a:t>Indirectly revealed preferences [Rounds 1, 3]</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BACC6">
                    <a:lumMod val="50000"/>
                  </a:srgbClr>
                </a:solidFill>
                <a:effectLst/>
                <a:uLnTx/>
                <a:uFillTx/>
                <a:latin typeface="Calibri"/>
                <a:ea typeface="+mn-ea"/>
                <a:cs typeface="+mn-cs"/>
              </a:rPr>
              <a:t>X directly preferred to Y</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BACC6">
                    <a:lumMod val="50000"/>
                  </a:srgbClr>
                </a:solidFill>
                <a:effectLst/>
                <a:uLnTx/>
                <a:uFillTx/>
                <a:latin typeface="Calibri"/>
                <a:ea typeface="+mn-ea"/>
                <a:cs typeface="+mn-cs"/>
              </a:rPr>
              <a:t>Y directly preferred to Z</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Calibri"/>
                <a:ea typeface="+mn-ea"/>
                <a:cs typeface="+mn-cs"/>
              </a:rPr>
              <a:t>X is indirectly preferred to Z</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BACC6">
                    <a:lumMod val="50000"/>
                  </a:srgbClr>
                </a:solidFill>
                <a:effectLst/>
                <a:uLnTx/>
                <a:uFillTx/>
                <a:latin typeface="Calibri"/>
                <a:ea typeface="+mn-ea"/>
                <a:cs typeface="+mn-cs"/>
              </a:rPr>
              <a:t>Z directly preferred to X in Round 5</a:t>
            </a:r>
            <a:endParaRPr kumimoji="0" lang="pl-PL" sz="2000" b="1"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8198692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3" name="Symbol zastępczy zawartości 2"/>
          <p:cNvSpPr>
            <a:spLocks noGrp="1"/>
          </p:cNvSpPr>
          <p:nvPr>
            <p:ph idx="1"/>
          </p:nvPr>
        </p:nvSpPr>
        <p:spPr>
          <a:xfrm>
            <a:off x="356441" y="2080125"/>
            <a:ext cx="11088303" cy="3999661"/>
          </a:xfrm>
        </p:spPr>
        <p:txBody>
          <a:bodyPr>
            <a:noAutofit/>
          </a:bodyPr>
          <a:lstStyle/>
          <a:p>
            <a:pPr marL="0" indent="0" algn="just">
              <a:buNone/>
            </a:pPr>
            <a:r>
              <a:rPr lang="pl-PL" sz="2800" dirty="0" err="1">
                <a:solidFill>
                  <a:schemeClr val="accent5">
                    <a:lumMod val="50000"/>
                  </a:schemeClr>
                </a:solidFill>
              </a:rPr>
              <a:t>Testing</a:t>
            </a:r>
            <a:r>
              <a:rPr lang="pl-PL" sz="2800" dirty="0">
                <a:solidFill>
                  <a:schemeClr val="accent5">
                    <a:lumMod val="50000"/>
                  </a:schemeClr>
                </a:solidFill>
              </a:rPr>
              <a:t> WARP, SARP </a:t>
            </a:r>
            <a:r>
              <a:rPr lang="pl-PL" sz="2800" dirty="0" err="1">
                <a:solidFill>
                  <a:schemeClr val="accent5">
                    <a:lumMod val="50000"/>
                  </a:schemeClr>
                </a:solidFill>
              </a:rPr>
              <a:t>is</a:t>
            </a:r>
            <a:r>
              <a:rPr lang="en-US" sz="2800" dirty="0">
                <a:solidFill>
                  <a:schemeClr val="accent5">
                    <a:lumMod val="50000"/>
                  </a:schemeClr>
                </a:solidFill>
              </a:rPr>
              <a:t> quite difficult (especially on the basic course) but:</a:t>
            </a:r>
          </a:p>
          <a:p>
            <a:pPr algn="just"/>
            <a:r>
              <a:rPr lang="pl-PL" sz="2800" dirty="0">
                <a:solidFill>
                  <a:schemeClr val="accent5">
                    <a:lumMod val="50000"/>
                  </a:schemeClr>
                </a:solidFill>
              </a:rPr>
              <a:t>I</a:t>
            </a:r>
            <a:r>
              <a:rPr lang="en-US" sz="2800" dirty="0">
                <a:solidFill>
                  <a:schemeClr val="accent5">
                    <a:lumMod val="50000"/>
                  </a:schemeClr>
                </a:solidFill>
              </a:rPr>
              <a:t>t is relatively easy to explain completeness and </a:t>
            </a:r>
            <a:r>
              <a:rPr lang="pl-PL" sz="2800" dirty="0">
                <a:solidFill>
                  <a:schemeClr val="accent5">
                    <a:lumMod val="50000"/>
                  </a:schemeClr>
                </a:solidFill>
              </a:rPr>
              <a:t>t</a:t>
            </a:r>
            <a:r>
              <a:rPr lang="en-US" sz="2800" dirty="0" err="1">
                <a:solidFill>
                  <a:schemeClr val="accent5">
                    <a:lumMod val="50000"/>
                  </a:schemeClr>
                </a:solidFill>
              </a:rPr>
              <a:t>ransitivity</a:t>
            </a:r>
            <a:r>
              <a:rPr lang="pl-PL" sz="2800" dirty="0">
                <a:solidFill>
                  <a:schemeClr val="accent5">
                    <a:lumMod val="50000"/>
                  </a:schemeClr>
                </a:solidFill>
              </a:rPr>
              <a:t> </a:t>
            </a:r>
            <a:r>
              <a:rPr lang="en-US" sz="2800" dirty="0">
                <a:solidFill>
                  <a:schemeClr val="accent5">
                    <a:lumMod val="50000"/>
                  </a:schemeClr>
                </a:solidFill>
              </a:rPr>
              <a:t>axioms and whether the </a:t>
            </a:r>
            <a:r>
              <a:rPr lang="pl-PL" sz="2800" dirty="0" err="1">
                <a:solidFill>
                  <a:schemeClr val="accent5">
                    <a:lumMod val="50000"/>
                  </a:schemeClr>
                </a:solidFill>
              </a:rPr>
              <a:t>particant</a:t>
            </a:r>
            <a:r>
              <a:rPr lang="en-US" sz="2800" dirty="0">
                <a:solidFill>
                  <a:schemeClr val="accent5">
                    <a:lumMod val="50000"/>
                  </a:schemeClr>
                </a:solidFill>
              </a:rPr>
              <a:t>'s choices meet (or not) </a:t>
            </a:r>
            <a:r>
              <a:rPr lang="pl-PL" sz="2800" dirty="0" err="1">
                <a:solidFill>
                  <a:schemeClr val="accent5">
                    <a:lumMod val="50000"/>
                  </a:schemeClr>
                </a:solidFill>
              </a:rPr>
              <a:t>these</a:t>
            </a:r>
            <a:r>
              <a:rPr lang="en-US" sz="2800" dirty="0">
                <a:solidFill>
                  <a:schemeClr val="accent5">
                    <a:lumMod val="50000"/>
                  </a:schemeClr>
                </a:solidFill>
              </a:rPr>
              <a:t> assumptions</a:t>
            </a:r>
          </a:p>
          <a:p>
            <a:pPr algn="just"/>
            <a:r>
              <a:rPr lang="pl-PL" sz="2800" dirty="0">
                <a:solidFill>
                  <a:schemeClr val="accent5">
                    <a:lumMod val="50000"/>
                  </a:schemeClr>
                </a:solidFill>
              </a:rPr>
              <a:t>U</a:t>
            </a:r>
            <a:r>
              <a:rPr lang="en-US" sz="2800" dirty="0" err="1">
                <a:solidFill>
                  <a:schemeClr val="accent5">
                    <a:lumMod val="50000"/>
                  </a:schemeClr>
                </a:solidFill>
              </a:rPr>
              <a:t>nderstanding</a:t>
            </a:r>
            <a:r>
              <a:rPr lang="en-US" sz="2800" dirty="0">
                <a:solidFill>
                  <a:schemeClr val="accent5">
                    <a:lumMod val="50000"/>
                  </a:schemeClr>
                </a:solidFill>
              </a:rPr>
              <a:t> the algorithm procedures of the tests WARP, SARP themselves is </a:t>
            </a:r>
            <a:r>
              <a:rPr lang="pl-PL" sz="2800" dirty="0" err="1">
                <a:solidFill>
                  <a:schemeClr val="accent5">
                    <a:lumMod val="50000"/>
                  </a:schemeClr>
                </a:solidFill>
              </a:rPr>
              <a:t>quite</a:t>
            </a:r>
            <a:r>
              <a:rPr lang="en-US" sz="2800" dirty="0">
                <a:solidFill>
                  <a:schemeClr val="accent5">
                    <a:lumMod val="50000"/>
                  </a:schemeClr>
                </a:solidFill>
              </a:rPr>
              <a:t> difficult that even they rarely introduced at advanced courses. </a:t>
            </a:r>
            <a:r>
              <a:rPr lang="pl-PL" sz="2800" dirty="0" err="1">
                <a:solidFill>
                  <a:schemeClr val="accent5">
                    <a:lumMod val="50000"/>
                  </a:schemeClr>
                </a:solidFill>
              </a:rPr>
              <a:t>PhD</a:t>
            </a:r>
            <a:r>
              <a:rPr lang="pl-PL" sz="2800" dirty="0">
                <a:solidFill>
                  <a:schemeClr val="accent5">
                    <a:lumMod val="50000"/>
                  </a:schemeClr>
                </a:solidFill>
              </a:rPr>
              <a:t> of </a:t>
            </a:r>
            <a:r>
              <a:rPr lang="pl-PL" sz="2800" dirty="0" err="1">
                <a:solidFill>
                  <a:schemeClr val="accent5">
                    <a:lumMod val="50000"/>
                  </a:schemeClr>
                </a:solidFill>
              </a:rPr>
              <a:t>Varian</a:t>
            </a:r>
            <a:r>
              <a:rPr lang="pl-PL" sz="2800" dirty="0">
                <a:solidFill>
                  <a:schemeClr val="accent5">
                    <a:lumMod val="50000"/>
                  </a:schemeClr>
                </a:solidFill>
              </a:rPr>
              <a:t> </a:t>
            </a:r>
            <a:r>
              <a:rPr lang="pl-PL" sz="2800" dirty="0">
                <a:solidFill>
                  <a:schemeClr val="accent5">
                    <a:lumMod val="50000"/>
                  </a:schemeClr>
                </a:solidFill>
                <a:sym typeface="Wingdings" panose="05000000000000000000" pitchFamily="2" charset="2"/>
              </a:rPr>
              <a:t> </a:t>
            </a:r>
            <a:endParaRPr lang="pl-PL" sz="2800" dirty="0">
              <a:solidFill>
                <a:schemeClr val="accent5">
                  <a:lumMod val="50000"/>
                </a:schemeClr>
              </a:solidFill>
            </a:endParaRPr>
          </a:p>
          <a:p>
            <a:pPr algn="just"/>
            <a:r>
              <a:rPr lang="pl-PL" sz="2800" dirty="0">
                <a:solidFill>
                  <a:schemeClr val="accent5">
                    <a:lumMod val="50000"/>
                  </a:schemeClr>
                </a:solidFill>
              </a:rPr>
              <a:t>We </a:t>
            </a:r>
            <a:r>
              <a:rPr lang="pl-PL" sz="2800" dirty="0" err="1">
                <a:solidFill>
                  <a:schemeClr val="accent5">
                    <a:lumMod val="50000"/>
                  </a:schemeClr>
                </a:solidFill>
              </a:rPr>
              <a:t>we</a:t>
            </a:r>
            <a:r>
              <a:rPr lang="pl-PL" sz="2800" dirty="0">
                <a:solidFill>
                  <a:schemeClr val="accent5">
                    <a:lumMod val="50000"/>
                  </a:schemeClr>
                </a:solidFill>
              </a:rPr>
              <a:t> </a:t>
            </a:r>
            <a:r>
              <a:rPr lang="en-US" sz="2800" dirty="0">
                <a:solidFill>
                  <a:schemeClr val="accent5">
                    <a:lumMod val="50000"/>
                  </a:schemeClr>
                </a:solidFill>
              </a:rPr>
              <a:t>can easily </a:t>
            </a:r>
            <a:r>
              <a:rPr lang="en-US" sz="2800" b="1" dirty="0">
                <a:solidFill>
                  <a:schemeClr val="accent5">
                    <a:lumMod val="50000"/>
                  </a:schemeClr>
                </a:solidFill>
              </a:rPr>
              <a:t>visualize</a:t>
            </a:r>
            <a:r>
              <a:rPr lang="en-US" sz="2800" dirty="0">
                <a:solidFill>
                  <a:schemeClr val="accent5">
                    <a:lumMod val="50000"/>
                  </a:schemeClr>
                </a:solidFill>
              </a:rPr>
              <a:t> choices that do not meet these assumptions</a:t>
            </a:r>
            <a:r>
              <a:rPr lang="pl-PL" sz="2800" dirty="0">
                <a:solidFill>
                  <a:schemeClr val="accent5">
                    <a:lumMod val="50000"/>
                  </a:schemeClr>
                </a:solidFill>
              </a:rPr>
              <a:t> </a:t>
            </a:r>
            <a:r>
              <a:rPr lang="pl-PL" sz="2800" dirty="0" err="1">
                <a:solidFill>
                  <a:schemeClr val="accent5">
                    <a:lumMod val="50000"/>
                  </a:schemeClr>
                </a:solidFill>
              </a:rPr>
              <a:t>using</a:t>
            </a:r>
            <a:r>
              <a:rPr lang="pl-PL" sz="2800" dirty="0">
                <a:solidFill>
                  <a:schemeClr val="accent5">
                    <a:lumMod val="50000"/>
                  </a:schemeClr>
                </a:solidFill>
              </a:rPr>
              <a:t> </a:t>
            </a:r>
            <a:r>
              <a:rPr lang="en-US" sz="2800" dirty="0">
                <a:solidFill>
                  <a:schemeClr val="accent5">
                    <a:lumMod val="50000"/>
                  </a:schemeClr>
                </a:solidFill>
              </a:rPr>
              <a:t>R</a:t>
            </a:r>
            <a:r>
              <a:rPr lang="pl-PL" sz="2800" dirty="0">
                <a:solidFill>
                  <a:schemeClr val="accent5">
                    <a:lumMod val="50000"/>
                  </a:schemeClr>
                </a:solidFill>
              </a:rPr>
              <a:t>_CRAN</a:t>
            </a:r>
            <a:r>
              <a:rPr lang="en-US" sz="2800" dirty="0">
                <a:solidFill>
                  <a:schemeClr val="accent5">
                    <a:lumMod val="50000"/>
                  </a:schemeClr>
                </a:solidFill>
              </a:rPr>
              <a:t> package</a:t>
            </a:r>
            <a:r>
              <a:rPr lang="pl-PL" sz="2800" dirty="0">
                <a:solidFill>
                  <a:schemeClr val="accent5">
                    <a:lumMod val="50000"/>
                  </a:schemeClr>
                </a:solidFill>
              </a:rPr>
              <a:t> (). </a:t>
            </a:r>
          </a:p>
        </p:txBody>
      </p:sp>
    </p:spTree>
    <p:extLst>
      <p:ext uri="{BB962C8B-B14F-4D97-AF65-F5344CB8AC3E}">
        <p14:creationId xmlns:p14="http://schemas.microsoft.com/office/powerpoint/2010/main" val="4064155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3" name="Symbol zastępczy zawartości 2"/>
          <p:cNvSpPr>
            <a:spLocks noGrp="1"/>
          </p:cNvSpPr>
          <p:nvPr>
            <p:ph idx="1"/>
          </p:nvPr>
        </p:nvSpPr>
        <p:spPr>
          <a:xfrm>
            <a:off x="587111" y="1179734"/>
            <a:ext cx="11242307" cy="4706422"/>
          </a:xfrm>
        </p:spPr>
        <p:txBody>
          <a:bodyPr>
            <a:noAutofit/>
          </a:bodyPr>
          <a:lstStyle/>
          <a:p>
            <a:pPr marL="0" indent="0" algn="ctr">
              <a:buNone/>
            </a:pPr>
            <a:r>
              <a:rPr lang="en-US" sz="3600" b="1" dirty="0">
                <a:solidFill>
                  <a:srgbClr val="C00000"/>
                </a:solidFill>
              </a:rPr>
              <a:t>Showing that altruism and rationality are not mutually exclusive</a:t>
            </a:r>
          </a:p>
          <a:p>
            <a:pPr marL="0" indent="0" algn="just">
              <a:buNone/>
            </a:pPr>
            <a:r>
              <a:rPr lang="en-US" sz="2800" dirty="0">
                <a:solidFill>
                  <a:schemeClr val="accent5">
                    <a:lumMod val="50000"/>
                  </a:schemeClr>
                </a:solidFill>
              </a:rPr>
              <a:t>Based on data from ad hoc research we can show that there is no relationship between rationality (results of the test) and type of </a:t>
            </a:r>
            <a:r>
              <a:rPr lang="en-US" sz="2800" dirty="0" err="1">
                <a:solidFill>
                  <a:schemeClr val="accent5">
                    <a:lumMod val="50000"/>
                  </a:schemeClr>
                </a:solidFill>
              </a:rPr>
              <a:t>behaviour</a:t>
            </a:r>
            <a:r>
              <a:rPr lang="en-US" sz="2800" dirty="0">
                <a:solidFill>
                  <a:schemeClr val="accent5">
                    <a:lumMod val="50000"/>
                  </a:schemeClr>
                </a:solidFill>
              </a:rPr>
              <a:t> (altruistic or egoistic). We can show the individual data as well as pooled or even compare experimental groups. </a:t>
            </a:r>
            <a:endParaRPr lang="pl-PL" sz="2800" dirty="0">
              <a:solidFill>
                <a:schemeClr val="accent5">
                  <a:lumMod val="50000"/>
                </a:schemeClr>
              </a:solidFill>
            </a:endParaRPr>
          </a:p>
          <a:p>
            <a:pPr marL="0" indent="0" algn="ctr">
              <a:buNone/>
            </a:pPr>
            <a:endParaRPr lang="pl-PL" sz="2800" b="1" dirty="0">
              <a:solidFill>
                <a:schemeClr val="accent5">
                  <a:lumMod val="50000"/>
                </a:schemeClr>
              </a:solidFill>
            </a:endParaRPr>
          </a:p>
          <a:p>
            <a:pPr marL="0" indent="0" algn="ctr">
              <a:buNone/>
            </a:pPr>
            <a:endParaRPr lang="pl-PL" sz="2800" b="1" dirty="0">
              <a:solidFill>
                <a:schemeClr val="accent5">
                  <a:lumMod val="50000"/>
                </a:schemeClr>
              </a:solidFill>
            </a:endParaRPr>
          </a:p>
          <a:p>
            <a:pPr marL="0" indent="0" algn="ctr">
              <a:buNone/>
            </a:pPr>
            <a:r>
              <a:rPr lang="en-US" sz="3600" b="1" dirty="0">
                <a:solidFill>
                  <a:schemeClr val="accent5">
                    <a:lumMod val="50000"/>
                  </a:schemeClr>
                </a:solidFill>
              </a:rPr>
              <a:t>Is altruism rational?</a:t>
            </a:r>
          </a:p>
          <a:p>
            <a:pPr marL="0" indent="0" algn="ctr">
              <a:buNone/>
            </a:pPr>
            <a:r>
              <a:rPr lang="en-US" sz="3600" b="1" dirty="0">
                <a:solidFill>
                  <a:schemeClr val="accent5">
                    <a:lumMod val="50000"/>
                  </a:schemeClr>
                </a:solidFill>
              </a:rPr>
              <a:t>Yes - if we are consistent in our choices.</a:t>
            </a:r>
            <a:endParaRPr lang="pl-PL" sz="3600" b="1" dirty="0">
              <a:solidFill>
                <a:schemeClr val="accent5">
                  <a:lumMod val="50000"/>
                </a:schemeClr>
              </a:solidFill>
            </a:endParaRPr>
          </a:p>
          <a:p>
            <a:pPr marL="0" indent="0" algn="ctr">
              <a:buNone/>
            </a:pPr>
            <a:endParaRPr lang="pl-PL" sz="2800" dirty="0">
              <a:solidFill>
                <a:schemeClr val="accent5">
                  <a:lumMod val="50000"/>
                </a:schemeClr>
              </a:solidFill>
            </a:endParaRPr>
          </a:p>
        </p:txBody>
      </p:sp>
    </p:spTree>
    <p:extLst>
      <p:ext uri="{BB962C8B-B14F-4D97-AF65-F5344CB8AC3E}">
        <p14:creationId xmlns:p14="http://schemas.microsoft.com/office/powerpoint/2010/main" val="260796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5" name="Prostokąt 4"/>
          <p:cNvSpPr/>
          <p:nvPr/>
        </p:nvSpPr>
        <p:spPr>
          <a:xfrm>
            <a:off x="346509" y="1080740"/>
            <a:ext cx="11752447" cy="830997"/>
          </a:xfrm>
          <a:prstGeom prst="rect">
            <a:avLst/>
          </a:prstGeom>
        </p:spPr>
        <p:txBody>
          <a:bodyPr wrap="square">
            <a:spAutoFit/>
          </a:bodyPr>
          <a:lstStyle/>
          <a:p>
            <a:r>
              <a:rPr lang="en-US" sz="2400" b="1" dirty="0">
                <a:solidFill>
                  <a:srgbClr val="4BACC6">
                    <a:lumMod val="50000"/>
                  </a:srgbClr>
                </a:solidFill>
                <a:latin typeface="Calibri"/>
              </a:rPr>
              <a:t>Checking WARP and SARP ….. example of </a:t>
            </a:r>
            <a:r>
              <a:rPr lang="en-US" sz="2400" b="1" dirty="0">
                <a:solidFill>
                  <a:srgbClr val="C00000"/>
                </a:solidFill>
                <a:latin typeface="Calibri"/>
              </a:rPr>
              <a:t>irrational egoist</a:t>
            </a:r>
            <a:r>
              <a:rPr lang="pl-PL" sz="2400" b="1" dirty="0">
                <a:solidFill>
                  <a:srgbClr val="C00000"/>
                </a:solidFill>
                <a:latin typeface="Calibri"/>
              </a:rPr>
              <a:t> (</a:t>
            </a:r>
            <a:r>
              <a:rPr lang="pl-PL" sz="2400" b="1" dirty="0" err="1">
                <a:solidFill>
                  <a:srgbClr val="C00000"/>
                </a:solidFill>
                <a:latin typeface="Calibri"/>
              </a:rPr>
              <a:t>marked</a:t>
            </a:r>
            <a:r>
              <a:rPr lang="pl-PL" sz="2400" b="1" dirty="0">
                <a:solidFill>
                  <a:srgbClr val="C00000"/>
                </a:solidFill>
                <a:latin typeface="Calibri"/>
              </a:rPr>
              <a:t> in red)</a:t>
            </a:r>
            <a:r>
              <a:rPr lang="en-US" sz="2400" b="1" dirty="0">
                <a:solidFill>
                  <a:srgbClr val="C00000"/>
                </a:solidFill>
                <a:latin typeface="Calibri"/>
              </a:rPr>
              <a:t> </a:t>
            </a:r>
            <a:r>
              <a:rPr lang="en-US" sz="2400" b="1" dirty="0">
                <a:solidFill>
                  <a:srgbClr val="4BACC6">
                    <a:lumMod val="50000"/>
                  </a:srgbClr>
                </a:solidFill>
                <a:latin typeface="Calibri"/>
              </a:rPr>
              <a:t>and rational altruist (from animation)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171" y="2254314"/>
            <a:ext cx="4104456" cy="41044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1335" y="2132856"/>
            <a:ext cx="3600400" cy="41392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1759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Confrontation of the storytelling with the research findings </a:t>
            </a:r>
            <a:endParaRPr lang="en-GB" sz="3600" b="1" dirty="0">
              <a:solidFill>
                <a:schemeClr val="accent5">
                  <a:lumMod val="50000"/>
                </a:schemeClr>
              </a:solidFill>
            </a:endParaRPr>
          </a:p>
        </p:txBody>
      </p:sp>
      <p:sp>
        <p:nvSpPr>
          <p:cNvPr id="5" name="Prostokąt 4"/>
          <p:cNvSpPr/>
          <p:nvPr/>
        </p:nvSpPr>
        <p:spPr>
          <a:xfrm>
            <a:off x="433137" y="1080739"/>
            <a:ext cx="11627318" cy="1569660"/>
          </a:xfrm>
          <a:prstGeom prst="rect">
            <a:avLst/>
          </a:prstGeom>
        </p:spPr>
        <p:txBody>
          <a:bodyPr wrap="square">
            <a:spAutoFit/>
          </a:bodyPr>
          <a:lstStyle/>
          <a:p>
            <a:r>
              <a:rPr lang="en-US" sz="2400" dirty="0">
                <a:solidFill>
                  <a:srgbClr val="4BACC6">
                    <a:lumMod val="50000"/>
                  </a:srgbClr>
                </a:solidFill>
                <a:latin typeface="Calibri"/>
              </a:rPr>
              <a:t>Choices of more than 60% of students are consistent and pass the WARP, SARP tests. </a:t>
            </a:r>
          </a:p>
          <a:p>
            <a:endParaRPr lang="en-US" sz="2400" dirty="0">
              <a:solidFill>
                <a:srgbClr val="4BACC6">
                  <a:lumMod val="50000"/>
                </a:srgbClr>
              </a:solidFill>
              <a:latin typeface="Calibri"/>
            </a:endParaRPr>
          </a:p>
          <a:p>
            <a:r>
              <a:rPr lang="en-US" sz="2400" dirty="0">
                <a:solidFill>
                  <a:srgbClr val="4BACC6">
                    <a:lumMod val="50000"/>
                  </a:srgbClr>
                </a:solidFill>
                <a:latin typeface="Calibri"/>
              </a:rPr>
              <a:t>There is no difference (on average) of passed tokens for "rational" and "non-rational" students.</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7841" y="3175789"/>
            <a:ext cx="4168159" cy="29771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563" y="3175789"/>
            <a:ext cx="4021838" cy="302433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63019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pl-PL" sz="3600" b="1" dirty="0" err="1">
                <a:solidFill>
                  <a:schemeClr val="accent5">
                    <a:lumMod val="50000"/>
                  </a:schemeClr>
                </a:solidFill>
              </a:rPr>
              <a:t>Your</a:t>
            </a:r>
            <a:r>
              <a:rPr lang="pl-PL" sz="3600" b="1" dirty="0">
                <a:solidFill>
                  <a:schemeClr val="accent5">
                    <a:lumMod val="50000"/>
                  </a:schemeClr>
                </a:solidFill>
              </a:rPr>
              <a:t> </a:t>
            </a:r>
            <a:r>
              <a:rPr lang="pl-PL" sz="3600" b="1" dirty="0" err="1">
                <a:solidFill>
                  <a:schemeClr val="accent5">
                    <a:lumMod val="50000"/>
                  </a:schemeClr>
                </a:solidFill>
              </a:rPr>
              <a:t>results</a:t>
            </a:r>
            <a:endParaRPr lang="en-GB" sz="3600" b="1" dirty="0">
              <a:solidFill>
                <a:schemeClr val="accent5">
                  <a:lumMod val="50000"/>
                </a:schemeClr>
              </a:solidFill>
            </a:endParaRPr>
          </a:p>
        </p:txBody>
      </p:sp>
      <p:sp>
        <p:nvSpPr>
          <p:cNvPr id="5" name="Prostokąt 4"/>
          <p:cNvSpPr/>
          <p:nvPr/>
        </p:nvSpPr>
        <p:spPr>
          <a:xfrm>
            <a:off x="4390625" y="2476402"/>
            <a:ext cx="7063438" cy="2554545"/>
          </a:xfrm>
          <a:prstGeom prst="rect">
            <a:avLst/>
          </a:prstGeom>
        </p:spPr>
        <p:txBody>
          <a:bodyPr wrap="square">
            <a:spAutoFit/>
          </a:bodyPr>
          <a:lstStyle/>
          <a:p>
            <a:r>
              <a:rPr lang="en-US" sz="3200" dirty="0">
                <a:solidFill>
                  <a:srgbClr val="4BACC6">
                    <a:lumMod val="50000"/>
                  </a:srgbClr>
                </a:solidFill>
              </a:rPr>
              <a:t>In the </a:t>
            </a:r>
            <a:r>
              <a:rPr lang="en-US" sz="3200" dirty="0" err="1">
                <a:solidFill>
                  <a:srgbClr val="4BACC6">
                    <a:lumMod val="50000"/>
                  </a:srgbClr>
                </a:solidFill>
              </a:rPr>
              <a:t>Test_GARP_s</a:t>
            </a:r>
            <a:r>
              <a:rPr lang="en-US" sz="3200" dirty="0">
                <a:solidFill>
                  <a:srgbClr val="4BACC6">
                    <a:lumMod val="50000"/>
                  </a:srgbClr>
                </a:solidFill>
              </a:rPr>
              <a:t> project folder, you can find your results and the beginning of the experiment analysis. You can discuss these results and develop this analysis in the forum.</a:t>
            </a:r>
            <a:endParaRPr lang="en-US" sz="3200" dirty="0">
              <a:solidFill>
                <a:srgbClr val="4BACC6">
                  <a:lumMod val="50000"/>
                </a:srgbClr>
              </a:solidFill>
              <a:latin typeface="Calibri"/>
            </a:endParaRPr>
          </a:p>
        </p:txBody>
      </p:sp>
      <p:pic>
        <p:nvPicPr>
          <p:cNvPr id="3" name="Obraz 2"/>
          <p:cNvPicPr>
            <a:picLocks noChangeAspect="1"/>
          </p:cNvPicPr>
          <p:nvPr/>
        </p:nvPicPr>
        <p:blipFill>
          <a:blip r:embed="rId2"/>
          <a:stretch>
            <a:fillRect/>
          </a:stretch>
        </p:blipFill>
        <p:spPr>
          <a:xfrm>
            <a:off x="633965" y="1802634"/>
            <a:ext cx="3312393" cy="448988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2090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5" name="Prostokąt 4"/>
          <p:cNvSpPr/>
          <p:nvPr/>
        </p:nvSpPr>
        <p:spPr>
          <a:xfrm>
            <a:off x="229081" y="1291744"/>
            <a:ext cx="11548872" cy="4832092"/>
          </a:xfrm>
          <a:prstGeom prst="rect">
            <a:avLst/>
          </a:prstGeom>
        </p:spPr>
        <p:txBody>
          <a:bodyPr wrap="square">
            <a:spAutoFit/>
          </a:bodyPr>
          <a:lstStyle/>
          <a:p>
            <a:pPr algn="just"/>
            <a:r>
              <a:rPr lang="en-US" sz="2800" dirty="0">
                <a:solidFill>
                  <a:srgbClr val="4BACC6">
                    <a:lumMod val="50000"/>
                  </a:srgbClr>
                </a:solidFill>
                <a:latin typeface="Calibri"/>
              </a:rPr>
              <a:t>Now we will look at the results of the experiment from the point of view of the whole society (experimental group) and we will </a:t>
            </a:r>
            <a:r>
              <a:rPr lang="en-US" sz="2800" b="1" dirty="0">
                <a:solidFill>
                  <a:srgbClr val="4BACC6">
                    <a:lumMod val="50000"/>
                  </a:srgbClr>
                </a:solidFill>
                <a:latin typeface="Calibri"/>
              </a:rPr>
              <a:t>combine all the rounds</a:t>
            </a:r>
            <a:r>
              <a:rPr lang="en-US" sz="2800" dirty="0">
                <a:solidFill>
                  <a:srgbClr val="4BACC6">
                    <a:lumMod val="50000"/>
                  </a:srgbClr>
                </a:solidFill>
                <a:latin typeface="Calibri"/>
              </a:rPr>
              <a:t>.</a:t>
            </a:r>
            <a:r>
              <a:rPr lang="pl-PL" sz="2800" dirty="0">
                <a:solidFill>
                  <a:srgbClr val="4BACC6">
                    <a:lumMod val="50000"/>
                  </a:srgbClr>
                </a:solidFill>
                <a:latin typeface="Calibri"/>
              </a:rPr>
              <a:t> </a:t>
            </a:r>
            <a:r>
              <a:rPr lang="en-US" sz="2800" dirty="0">
                <a:solidFill>
                  <a:srgbClr val="4BACC6">
                    <a:lumMod val="50000"/>
                  </a:srgbClr>
                </a:solidFill>
                <a:latin typeface="Calibri"/>
              </a:rPr>
              <a:t>Is there any social norm that will make our society as wellbeing as possible?</a:t>
            </a:r>
          </a:p>
          <a:p>
            <a:pPr algn="just"/>
            <a:endParaRPr lang="pl-PL" sz="2800" dirty="0">
              <a:solidFill>
                <a:srgbClr val="4BACC6">
                  <a:lumMod val="50000"/>
                </a:srgbClr>
              </a:solidFill>
              <a:latin typeface="Calibri"/>
            </a:endParaRPr>
          </a:p>
          <a:p>
            <a:pPr algn="just"/>
            <a:r>
              <a:rPr lang="en-US" sz="2800" dirty="0">
                <a:solidFill>
                  <a:srgbClr val="4BACC6">
                    <a:lumMod val="50000"/>
                  </a:srgbClr>
                </a:solidFill>
              </a:rPr>
              <a:t>Ethics and morality can be understood as a set of rules, according to which we should act. The results of the experiment can be used to consider ethical dilemmas using the simplified philosophical experiment. </a:t>
            </a:r>
            <a:endParaRPr lang="pl-PL" sz="2800" dirty="0">
              <a:solidFill>
                <a:srgbClr val="4BACC6">
                  <a:lumMod val="50000"/>
                </a:srgbClr>
              </a:solidFill>
            </a:endParaRPr>
          </a:p>
          <a:p>
            <a:pPr algn="just"/>
            <a:endParaRPr lang="pl-PL" sz="2800" dirty="0">
              <a:solidFill>
                <a:srgbClr val="4BACC6">
                  <a:lumMod val="50000"/>
                </a:srgbClr>
              </a:solidFill>
              <a:latin typeface="Calibri"/>
            </a:endParaRPr>
          </a:p>
          <a:p>
            <a:pPr algn="just"/>
            <a:r>
              <a:rPr lang="en-US" sz="2800" dirty="0">
                <a:solidFill>
                  <a:srgbClr val="4BACC6">
                    <a:lumMod val="50000"/>
                  </a:srgbClr>
                </a:solidFill>
                <a:latin typeface="Calibri"/>
              </a:rPr>
              <a:t>The subjects of these discussions are two</a:t>
            </a:r>
            <a:r>
              <a:rPr lang="pl-PL" sz="2800" dirty="0">
                <a:solidFill>
                  <a:srgbClr val="4BACC6">
                    <a:lumMod val="50000"/>
                  </a:srgbClr>
                </a:solidFill>
                <a:latin typeface="Calibri"/>
              </a:rPr>
              <a:t> </a:t>
            </a:r>
            <a:r>
              <a:rPr lang="en-US" sz="2800" dirty="0">
                <a:solidFill>
                  <a:srgbClr val="4BACC6">
                    <a:lumMod val="50000"/>
                  </a:srgbClr>
                </a:solidFill>
                <a:latin typeface="Calibri"/>
              </a:rPr>
              <a:t>types of moral duty arising from two different approaches to ethics: </a:t>
            </a:r>
            <a:r>
              <a:rPr lang="en-US" sz="2800" b="1" dirty="0">
                <a:solidFill>
                  <a:srgbClr val="4BACC6">
                    <a:lumMod val="50000"/>
                  </a:srgbClr>
                </a:solidFill>
                <a:latin typeface="Calibri"/>
              </a:rPr>
              <a:t>deontological </a:t>
            </a:r>
            <a:r>
              <a:rPr lang="en-US" sz="2800" dirty="0">
                <a:solidFill>
                  <a:srgbClr val="4BACC6">
                    <a:lumMod val="50000"/>
                  </a:srgbClr>
                </a:solidFill>
                <a:latin typeface="Calibri"/>
              </a:rPr>
              <a:t>altruism and teleological (</a:t>
            </a:r>
            <a:r>
              <a:rPr lang="en-US" sz="2800" b="1" dirty="0">
                <a:solidFill>
                  <a:srgbClr val="4BACC6">
                    <a:lumMod val="50000"/>
                  </a:srgbClr>
                </a:solidFill>
                <a:latin typeface="Calibri"/>
              </a:rPr>
              <a:t>consequential</a:t>
            </a:r>
            <a:r>
              <a:rPr lang="en-US" sz="2800" dirty="0">
                <a:solidFill>
                  <a:srgbClr val="4BACC6">
                    <a:lumMod val="50000"/>
                  </a:srgbClr>
                </a:solidFill>
                <a:latin typeface="Calibri"/>
              </a:rPr>
              <a:t>) altruism.</a:t>
            </a:r>
          </a:p>
        </p:txBody>
      </p:sp>
    </p:spTree>
    <p:extLst>
      <p:ext uri="{BB962C8B-B14F-4D97-AF65-F5344CB8AC3E}">
        <p14:creationId xmlns:p14="http://schemas.microsoft.com/office/powerpoint/2010/main" val="8613236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C3413-71B6-1FBF-4D96-8BEF83CDA6F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7DF6C07F-7555-A0A8-F3D0-E638E1E8C27A}"/>
              </a:ext>
            </a:extLst>
          </p:cNvPr>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pl-PL" sz="3600" b="1" dirty="0" err="1">
                <a:solidFill>
                  <a:schemeClr val="accent5">
                    <a:lumMod val="50000"/>
                  </a:schemeClr>
                </a:solidFill>
              </a:rPr>
              <a:t>Your</a:t>
            </a:r>
            <a:r>
              <a:rPr lang="pl-PL" sz="3600" b="1" dirty="0">
                <a:solidFill>
                  <a:schemeClr val="accent5">
                    <a:lumMod val="50000"/>
                  </a:schemeClr>
                </a:solidFill>
              </a:rPr>
              <a:t> </a:t>
            </a:r>
            <a:r>
              <a:rPr lang="pl-PL" sz="3600" b="1" dirty="0" err="1">
                <a:solidFill>
                  <a:schemeClr val="accent5">
                    <a:lumMod val="50000"/>
                  </a:schemeClr>
                </a:solidFill>
              </a:rPr>
              <a:t>choices</a:t>
            </a:r>
            <a:r>
              <a:rPr lang="pl-PL" sz="3600" b="1" dirty="0">
                <a:solidFill>
                  <a:schemeClr val="accent5">
                    <a:lumMod val="50000"/>
                  </a:schemeClr>
                </a:solidFill>
              </a:rPr>
              <a:t> </a:t>
            </a:r>
            <a:r>
              <a:rPr lang="pl-PL" sz="3600" b="1" dirty="0">
                <a:solidFill>
                  <a:schemeClr val="accent5">
                    <a:lumMod val="50000"/>
                  </a:schemeClr>
                </a:solidFill>
                <a:sym typeface="Wingdings" panose="05000000000000000000" pitchFamily="2" charset="2"/>
              </a:rPr>
              <a:t></a:t>
            </a:r>
            <a:r>
              <a:rPr lang="pl-PL" sz="3600" b="1" dirty="0">
                <a:solidFill>
                  <a:schemeClr val="accent5">
                    <a:lumMod val="50000"/>
                  </a:schemeClr>
                </a:solidFill>
              </a:rPr>
              <a:t> </a:t>
            </a:r>
            <a:r>
              <a:rPr lang="pl-PL" sz="3600" b="1" dirty="0" err="1">
                <a:solidFill>
                  <a:schemeClr val="accent5">
                    <a:lumMod val="50000"/>
                  </a:schemeClr>
                </a:solidFill>
              </a:rPr>
              <a:t>Ethical</a:t>
            </a:r>
            <a:r>
              <a:rPr lang="pl-PL" sz="3600" b="1" dirty="0">
                <a:solidFill>
                  <a:schemeClr val="accent5">
                    <a:lumMod val="50000"/>
                  </a:schemeClr>
                </a:solidFill>
              </a:rPr>
              <a:t> </a:t>
            </a:r>
            <a:r>
              <a:rPr lang="pl-PL" sz="3600" b="1" dirty="0" err="1">
                <a:solidFill>
                  <a:schemeClr val="accent5">
                    <a:lumMod val="50000"/>
                  </a:schemeClr>
                </a:solidFill>
              </a:rPr>
              <a:t>attitudes</a:t>
            </a:r>
            <a:endParaRPr lang="en-US" sz="3600" b="1" dirty="0">
              <a:solidFill>
                <a:schemeClr val="accent5">
                  <a:lumMod val="50000"/>
                </a:schemeClr>
              </a:solidFill>
            </a:endParaRPr>
          </a:p>
        </p:txBody>
      </p:sp>
      <p:grpSp>
        <p:nvGrpSpPr>
          <p:cNvPr id="4" name="Group 3">
            <a:extLst>
              <a:ext uri="{FF2B5EF4-FFF2-40B4-BE49-F238E27FC236}">
                <a16:creationId xmlns:a16="http://schemas.microsoft.com/office/drawing/2014/main" id="{9173CB13-10DA-906F-6BEC-A80B051CAFB0}"/>
              </a:ext>
            </a:extLst>
          </p:cNvPr>
          <p:cNvGrpSpPr/>
          <p:nvPr/>
        </p:nvGrpSpPr>
        <p:grpSpPr>
          <a:xfrm>
            <a:off x="133421" y="1291487"/>
            <a:ext cx="11505789" cy="5067071"/>
            <a:chOff x="133421" y="1291487"/>
            <a:chExt cx="11505789" cy="5067071"/>
          </a:xfrm>
        </p:grpSpPr>
        <p:pic>
          <p:nvPicPr>
            <p:cNvPr id="3" name="Obraz 2">
              <a:extLst>
                <a:ext uri="{FF2B5EF4-FFF2-40B4-BE49-F238E27FC236}">
                  <a16:creationId xmlns:a16="http://schemas.microsoft.com/office/drawing/2014/main" id="{D87C8183-8E73-636E-E933-36BA6805A84F}"/>
                </a:ext>
              </a:extLst>
            </p:cNvPr>
            <p:cNvPicPr>
              <a:picLocks noChangeAspect="1"/>
            </p:cNvPicPr>
            <p:nvPr/>
          </p:nvPicPr>
          <p:blipFill rotWithShape="1">
            <a:blip r:embed="rId2"/>
            <a:srcRect t="48432" r="7415" b="4197"/>
            <a:stretch/>
          </p:blipFill>
          <p:spPr>
            <a:xfrm>
              <a:off x="182208" y="4150362"/>
              <a:ext cx="3163680" cy="2192702"/>
            </a:xfrm>
            <a:prstGeom prst="rect">
              <a:avLst/>
            </a:prstGeom>
            <a:ln>
              <a:noFill/>
            </a:ln>
            <a:effectLst>
              <a:outerShdw blurRad="292100" dist="139700" dir="2700000" algn="tl" rotWithShape="0">
                <a:srgbClr val="333333">
                  <a:alpha val="65000"/>
                </a:srgbClr>
              </a:outerShdw>
            </a:effectLst>
          </p:spPr>
        </p:pic>
        <p:pic>
          <p:nvPicPr>
            <p:cNvPr id="6" name="Obraz 5">
              <a:extLst>
                <a:ext uri="{FF2B5EF4-FFF2-40B4-BE49-F238E27FC236}">
                  <a16:creationId xmlns:a16="http://schemas.microsoft.com/office/drawing/2014/main" id="{83454E1A-359F-9850-C283-D53565CBA8B2}"/>
                </a:ext>
              </a:extLst>
            </p:cNvPr>
            <p:cNvPicPr>
              <a:picLocks noChangeAspect="1"/>
            </p:cNvPicPr>
            <p:nvPr/>
          </p:nvPicPr>
          <p:blipFill rotWithShape="1">
            <a:blip r:embed="rId3"/>
            <a:srcRect t="48077" r="10009" b="3810"/>
            <a:stretch/>
          </p:blipFill>
          <p:spPr>
            <a:xfrm>
              <a:off x="5720526" y="3949431"/>
              <a:ext cx="3261253" cy="2409127"/>
            </a:xfrm>
            <a:prstGeom prst="rect">
              <a:avLst/>
            </a:prstGeom>
            <a:ln>
              <a:noFill/>
            </a:ln>
            <a:effectLst>
              <a:outerShdw blurRad="292100" dist="139700" dir="2700000" algn="tl" rotWithShape="0">
                <a:srgbClr val="333333">
                  <a:alpha val="65000"/>
                </a:srgbClr>
              </a:outerShdw>
            </a:effectLst>
          </p:spPr>
        </p:pic>
        <p:pic>
          <p:nvPicPr>
            <p:cNvPr id="8" name="Obraz 7">
              <a:extLst>
                <a:ext uri="{FF2B5EF4-FFF2-40B4-BE49-F238E27FC236}">
                  <a16:creationId xmlns:a16="http://schemas.microsoft.com/office/drawing/2014/main" id="{EBC5073A-D3F7-EAC7-533C-0E788921B812}"/>
                </a:ext>
              </a:extLst>
            </p:cNvPr>
            <p:cNvPicPr>
              <a:picLocks noChangeAspect="1"/>
            </p:cNvPicPr>
            <p:nvPr/>
          </p:nvPicPr>
          <p:blipFill rotWithShape="1">
            <a:blip r:embed="rId4"/>
            <a:srcRect l="2425" t="47704" r="8440" b="4014"/>
            <a:stretch/>
          </p:blipFill>
          <p:spPr>
            <a:xfrm>
              <a:off x="133421" y="1295901"/>
              <a:ext cx="3261254" cy="2440830"/>
            </a:xfrm>
            <a:prstGeom prst="rect">
              <a:avLst/>
            </a:prstGeom>
            <a:ln>
              <a:noFill/>
            </a:ln>
            <a:effectLst>
              <a:outerShdw blurRad="292100" dist="139700" dir="2700000" algn="tl" rotWithShape="0">
                <a:srgbClr val="333333">
                  <a:alpha val="65000"/>
                </a:srgbClr>
              </a:outerShdw>
            </a:effectLst>
          </p:spPr>
        </p:pic>
        <p:pic>
          <p:nvPicPr>
            <p:cNvPr id="12" name="Obraz 11">
              <a:extLst>
                <a:ext uri="{FF2B5EF4-FFF2-40B4-BE49-F238E27FC236}">
                  <a16:creationId xmlns:a16="http://schemas.microsoft.com/office/drawing/2014/main" id="{CBC23148-61A8-771F-D796-2D307A876E80}"/>
                </a:ext>
              </a:extLst>
            </p:cNvPr>
            <p:cNvPicPr>
              <a:picLocks noChangeAspect="1"/>
            </p:cNvPicPr>
            <p:nvPr/>
          </p:nvPicPr>
          <p:blipFill rotWithShape="1">
            <a:blip r:embed="rId5"/>
            <a:srcRect t="47775" r="5761" b="4064"/>
            <a:stretch/>
          </p:blipFill>
          <p:spPr>
            <a:xfrm>
              <a:off x="5720526" y="1291487"/>
              <a:ext cx="3261253" cy="2379888"/>
            </a:xfrm>
            <a:prstGeom prst="rect">
              <a:avLst/>
            </a:prstGeom>
            <a:ln>
              <a:noFill/>
            </a:ln>
            <a:effectLst>
              <a:outerShdw blurRad="292100" dist="139700" dir="2700000" algn="tl" rotWithShape="0">
                <a:srgbClr val="333333">
                  <a:alpha val="65000"/>
                </a:srgbClr>
              </a:outerShdw>
            </a:effectLst>
          </p:spPr>
        </p:pic>
        <p:sp>
          <p:nvSpPr>
            <p:cNvPr id="13" name="Prostokąt 12">
              <a:extLst>
                <a:ext uri="{FF2B5EF4-FFF2-40B4-BE49-F238E27FC236}">
                  <a16:creationId xmlns:a16="http://schemas.microsoft.com/office/drawing/2014/main" id="{42888E48-968B-17D6-10F3-15C43DA517F8}"/>
                </a:ext>
              </a:extLst>
            </p:cNvPr>
            <p:cNvSpPr/>
            <p:nvPr/>
          </p:nvSpPr>
          <p:spPr>
            <a:xfrm>
              <a:off x="3792768" y="1894490"/>
              <a:ext cx="1790021" cy="1015663"/>
            </a:xfrm>
            <a:prstGeom prst="rect">
              <a:avLst/>
            </a:prstGeom>
          </p:spPr>
          <p:txBody>
            <a:bodyPr wrap="square">
              <a:spAutoFit/>
            </a:bodyPr>
            <a:lstStyle/>
            <a:p>
              <a:pPr algn="just"/>
              <a:r>
                <a:rPr lang="pl-PL" sz="2000" b="1" dirty="0" err="1">
                  <a:solidFill>
                    <a:schemeClr val="accent5">
                      <a:lumMod val="50000"/>
                    </a:schemeClr>
                  </a:solidFill>
                </a:rPr>
                <a:t>Random</a:t>
              </a:r>
              <a:r>
                <a:rPr lang="pl-PL" sz="2000" b="1" dirty="0">
                  <a:solidFill>
                    <a:schemeClr val="accent5">
                      <a:lumMod val="50000"/>
                    </a:schemeClr>
                  </a:solidFill>
                </a:rPr>
                <a:t> </a:t>
              </a:r>
              <a:r>
                <a:rPr lang="pl-PL" sz="2000" b="1" dirty="0" err="1">
                  <a:solidFill>
                    <a:schemeClr val="accent5">
                      <a:lumMod val="50000"/>
                    </a:schemeClr>
                  </a:solidFill>
                </a:rPr>
                <a:t>selections</a:t>
              </a:r>
              <a:r>
                <a:rPr lang="pl-PL" sz="2000" b="1" dirty="0">
                  <a:solidFill>
                    <a:schemeClr val="accent5">
                      <a:lumMod val="50000"/>
                    </a:schemeClr>
                  </a:solidFill>
                </a:rPr>
                <a:t> ~60%</a:t>
              </a:r>
            </a:p>
          </p:txBody>
        </p:sp>
        <p:sp>
          <p:nvSpPr>
            <p:cNvPr id="14" name="Prostokąt 13">
              <a:extLst>
                <a:ext uri="{FF2B5EF4-FFF2-40B4-BE49-F238E27FC236}">
                  <a16:creationId xmlns:a16="http://schemas.microsoft.com/office/drawing/2014/main" id="{B06294DC-0DDE-5374-6D39-944D45343424}"/>
                </a:ext>
              </a:extLst>
            </p:cNvPr>
            <p:cNvSpPr/>
            <p:nvPr/>
          </p:nvSpPr>
          <p:spPr>
            <a:xfrm>
              <a:off x="3394675" y="4431105"/>
              <a:ext cx="1838233" cy="1631216"/>
            </a:xfrm>
            <a:prstGeom prst="rect">
              <a:avLst/>
            </a:prstGeom>
          </p:spPr>
          <p:txBody>
            <a:bodyPr wrap="square">
              <a:spAutoFit/>
            </a:bodyPr>
            <a:lstStyle/>
            <a:p>
              <a:pPr algn="just"/>
              <a:r>
                <a:rPr lang="en-US" sz="2000" b="1" dirty="0">
                  <a:solidFill>
                    <a:schemeClr val="accent5">
                      <a:lumMod val="50000"/>
                    </a:schemeClr>
                  </a:solidFill>
                </a:rPr>
                <a:t>Duty - I must always give (~10%) - deontological altruism.</a:t>
              </a:r>
              <a:endParaRPr lang="pl-PL" sz="2000" b="1" dirty="0">
                <a:solidFill>
                  <a:schemeClr val="accent5">
                    <a:lumMod val="50000"/>
                  </a:schemeClr>
                </a:solidFill>
              </a:endParaRPr>
            </a:p>
          </p:txBody>
        </p:sp>
        <p:sp>
          <p:nvSpPr>
            <p:cNvPr id="15" name="Prostokąt 14">
              <a:extLst>
                <a:ext uri="{FF2B5EF4-FFF2-40B4-BE49-F238E27FC236}">
                  <a16:creationId xmlns:a16="http://schemas.microsoft.com/office/drawing/2014/main" id="{9C16ABF0-D3AB-C0AA-BBE9-F4C7EBA35AC9}"/>
                </a:ext>
              </a:extLst>
            </p:cNvPr>
            <p:cNvSpPr/>
            <p:nvPr/>
          </p:nvSpPr>
          <p:spPr>
            <a:xfrm>
              <a:off x="9119516" y="1740603"/>
              <a:ext cx="2519694" cy="1323439"/>
            </a:xfrm>
            <a:prstGeom prst="rect">
              <a:avLst/>
            </a:prstGeom>
          </p:spPr>
          <p:txBody>
            <a:bodyPr wrap="square">
              <a:spAutoFit/>
            </a:bodyPr>
            <a:lstStyle/>
            <a:p>
              <a:pPr algn="just"/>
              <a:r>
                <a:rPr lang="en-US" sz="2000" b="1" dirty="0">
                  <a:solidFill>
                    <a:schemeClr val="accent5">
                      <a:lumMod val="50000"/>
                    </a:schemeClr>
                  </a:solidFill>
                </a:rPr>
                <a:t>I don't give anything (~10%) Economics students after game theory</a:t>
              </a:r>
              <a:r>
                <a:rPr lang="pl-PL" sz="2000" b="1" dirty="0">
                  <a:solidFill>
                    <a:schemeClr val="accent5">
                      <a:lumMod val="50000"/>
                    </a:schemeClr>
                  </a:solidFill>
                </a:rPr>
                <a:t> :/ </a:t>
              </a:r>
            </a:p>
          </p:txBody>
        </p:sp>
        <p:sp>
          <p:nvSpPr>
            <p:cNvPr id="16" name="Prostokąt 15">
              <a:extLst>
                <a:ext uri="{FF2B5EF4-FFF2-40B4-BE49-F238E27FC236}">
                  <a16:creationId xmlns:a16="http://schemas.microsoft.com/office/drawing/2014/main" id="{E593B2C5-1F88-946A-6F82-03F4422C25D9}"/>
                </a:ext>
              </a:extLst>
            </p:cNvPr>
            <p:cNvSpPr/>
            <p:nvPr/>
          </p:nvSpPr>
          <p:spPr>
            <a:xfrm>
              <a:off x="9119516" y="4338386"/>
              <a:ext cx="2339667" cy="1631216"/>
            </a:xfrm>
            <a:prstGeom prst="rect">
              <a:avLst/>
            </a:prstGeom>
          </p:spPr>
          <p:txBody>
            <a:bodyPr wrap="square">
              <a:spAutoFit/>
            </a:bodyPr>
            <a:lstStyle/>
            <a:p>
              <a:pPr algn="just"/>
              <a:r>
                <a:rPr lang="en-US" sz="2000" b="1" dirty="0">
                  <a:solidFill>
                    <a:schemeClr val="accent5">
                      <a:lumMod val="50000"/>
                    </a:schemeClr>
                  </a:solidFill>
                </a:rPr>
                <a:t>Gives where there is the greatest benefit to society (&lt;5%) - consequentialist altruism</a:t>
              </a:r>
              <a:endParaRPr lang="pl-PL" sz="2000" b="1" dirty="0">
                <a:solidFill>
                  <a:schemeClr val="accent5">
                    <a:lumMod val="50000"/>
                  </a:schemeClr>
                </a:solidFill>
              </a:endParaRPr>
            </a:p>
          </p:txBody>
        </p:sp>
      </p:grpSp>
    </p:spTree>
    <p:extLst>
      <p:ext uri="{BB962C8B-B14F-4D97-AF65-F5344CB8AC3E}">
        <p14:creationId xmlns:p14="http://schemas.microsoft.com/office/powerpoint/2010/main" val="10643355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5" name="Prostokąt 4"/>
          <p:cNvSpPr/>
          <p:nvPr/>
        </p:nvSpPr>
        <p:spPr>
          <a:xfrm>
            <a:off x="300307" y="1268397"/>
            <a:ext cx="11519515" cy="3539430"/>
          </a:xfrm>
          <a:prstGeom prst="rect">
            <a:avLst/>
          </a:prstGeom>
        </p:spPr>
        <p:txBody>
          <a:bodyPr wrap="square">
            <a:spAutoFit/>
          </a:bodyPr>
          <a:lstStyle/>
          <a:p>
            <a:r>
              <a:rPr lang="pl-PL" sz="2800" b="1" dirty="0" err="1">
                <a:solidFill>
                  <a:srgbClr val="4BACC6">
                    <a:lumMod val="50000"/>
                  </a:srgbClr>
                </a:solidFill>
                <a:latin typeface="Calibri"/>
              </a:rPr>
              <a:t>Deontological</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 </a:t>
            </a:r>
            <a:r>
              <a:rPr lang="pl-PL" sz="2800" b="1" dirty="0" err="1">
                <a:solidFill>
                  <a:srgbClr val="4BACC6">
                    <a:lumMod val="50000"/>
                  </a:srgbClr>
                </a:solidFill>
                <a:latin typeface="Calibri"/>
              </a:rPr>
              <a:t>create</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moral</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duty</a:t>
            </a:r>
            <a:endParaRPr lang="pl-PL" sz="2800" b="1" dirty="0">
              <a:solidFill>
                <a:srgbClr val="4BACC6">
                  <a:lumMod val="50000"/>
                </a:srgbClr>
              </a:solidFill>
              <a:latin typeface="Calibri"/>
            </a:endParaRPr>
          </a:p>
          <a:p>
            <a:pPr algn="just"/>
            <a:r>
              <a:rPr lang="en-US" sz="2800" dirty="0">
                <a:solidFill>
                  <a:srgbClr val="4BACC6">
                    <a:lumMod val="50000"/>
                  </a:srgbClr>
                </a:solidFill>
              </a:rPr>
              <a:t>Let's assume that altruism is a “good” side of human nature. It is difficult to deny that charity, blood donation, and sharing the wealth with others without expecting any reward are morally desirable actions. We should not be selfish, as such </a:t>
            </a:r>
            <a:r>
              <a:rPr lang="en-US" sz="2800" dirty="0" err="1">
                <a:solidFill>
                  <a:srgbClr val="4BACC6">
                    <a:lumMod val="50000"/>
                  </a:srgbClr>
                </a:solidFill>
              </a:rPr>
              <a:t>behaviour</a:t>
            </a:r>
            <a:r>
              <a:rPr lang="en-US" sz="2800" dirty="0">
                <a:solidFill>
                  <a:srgbClr val="4BACC6">
                    <a:lumMod val="50000"/>
                  </a:srgbClr>
                </a:solidFill>
              </a:rPr>
              <a:t> ruins fundamental human values. Therefore, it is possible to formulate a moral duty arising from the belief that the principle of not being selfish is good by itself; such a moral duty can be referred to as </a:t>
            </a:r>
            <a:r>
              <a:rPr lang="en-US" sz="2800" b="1" dirty="0">
                <a:solidFill>
                  <a:srgbClr val="4BACC6">
                    <a:lumMod val="50000"/>
                  </a:srgbClr>
                </a:solidFill>
              </a:rPr>
              <a:t>deontological altruism</a:t>
            </a:r>
            <a:r>
              <a:rPr lang="en-US" sz="2800" dirty="0">
                <a:solidFill>
                  <a:srgbClr val="4BACC6">
                    <a:lumMod val="50000"/>
                  </a:srgbClr>
                </a:solidFill>
              </a:rPr>
              <a:t>.</a:t>
            </a:r>
          </a:p>
        </p:txBody>
      </p:sp>
      <p:sp>
        <p:nvSpPr>
          <p:cNvPr id="6" name="Prostokąt 5"/>
          <p:cNvSpPr/>
          <p:nvPr/>
        </p:nvSpPr>
        <p:spPr>
          <a:xfrm>
            <a:off x="1842534" y="5154235"/>
            <a:ext cx="8352928" cy="1384995"/>
          </a:xfrm>
          <a:prstGeom prst="rect">
            <a:avLst/>
          </a:prstGeom>
        </p:spPr>
        <p:txBody>
          <a:bodyPr wrap="square">
            <a:spAutoFit/>
          </a:bodyPr>
          <a:lstStyle/>
          <a:p>
            <a:pPr algn="ctr"/>
            <a:r>
              <a:rPr lang="en-US" sz="2800" b="1" dirty="0">
                <a:solidFill>
                  <a:srgbClr val="4BACC6">
                    <a:lumMod val="50000"/>
                  </a:srgbClr>
                </a:solidFill>
                <a:latin typeface="Calibri"/>
              </a:rPr>
              <a:t>Altruism is good in itself and we should always be </a:t>
            </a:r>
            <a:r>
              <a:rPr lang="en-US" sz="2800" b="1" dirty="0" err="1">
                <a:solidFill>
                  <a:srgbClr val="4BACC6">
                    <a:lumMod val="50000"/>
                  </a:srgbClr>
                </a:solidFill>
                <a:latin typeface="Calibri"/>
              </a:rPr>
              <a:t>altruis</a:t>
            </a:r>
            <a:r>
              <a:rPr lang="pl-PL" sz="2800" b="1" dirty="0">
                <a:solidFill>
                  <a:srgbClr val="4BACC6">
                    <a:lumMod val="50000"/>
                  </a:srgbClr>
                </a:solidFill>
                <a:latin typeface="Calibri"/>
              </a:rPr>
              <a:t>t</a:t>
            </a:r>
            <a:r>
              <a:rPr lang="en-US" sz="2800" b="1" dirty="0">
                <a:solidFill>
                  <a:srgbClr val="4BACC6">
                    <a:lumMod val="50000"/>
                  </a:srgbClr>
                </a:solidFill>
                <a:latin typeface="Calibri"/>
              </a:rPr>
              <a:t>. And we have a </a:t>
            </a:r>
            <a:r>
              <a:rPr lang="en-US" sz="2800" b="1" dirty="0">
                <a:solidFill>
                  <a:srgbClr val="4BACC6">
                    <a:lumMod val="50000"/>
                  </a:srgbClr>
                </a:solidFill>
              </a:rPr>
              <a:t>duty </a:t>
            </a:r>
            <a:r>
              <a:rPr lang="en-US" sz="2800" b="1" dirty="0">
                <a:solidFill>
                  <a:srgbClr val="4BACC6">
                    <a:lumMod val="50000"/>
                  </a:srgbClr>
                </a:solidFill>
                <a:latin typeface="Calibri"/>
              </a:rPr>
              <a:t>to pass some tokens every round.</a:t>
            </a:r>
            <a:endParaRPr lang="en-GB" sz="2800" b="1" dirty="0">
              <a:solidFill>
                <a:srgbClr val="4BACC6">
                  <a:lumMod val="50000"/>
                </a:srgbClr>
              </a:solidFill>
              <a:latin typeface="Calibri"/>
            </a:endParaRPr>
          </a:p>
        </p:txBody>
      </p:sp>
    </p:spTree>
    <p:extLst>
      <p:ext uri="{BB962C8B-B14F-4D97-AF65-F5344CB8AC3E}">
        <p14:creationId xmlns:p14="http://schemas.microsoft.com/office/powerpoint/2010/main" val="2177351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rostokąt 7"/>
          <p:cNvSpPr/>
          <p:nvPr/>
        </p:nvSpPr>
        <p:spPr>
          <a:xfrm>
            <a:off x="512064" y="1492610"/>
            <a:ext cx="11338560" cy="5201424"/>
          </a:xfrm>
          <a:prstGeom prst="rect">
            <a:avLst/>
          </a:prstGeom>
        </p:spPr>
        <p:txBody>
          <a:bodyPr wrap="square">
            <a:spAutoFit/>
          </a:bodyPr>
          <a:lstStyle/>
          <a:p>
            <a:r>
              <a:rPr lang="pl-PL" sz="2400" i="1" dirty="0" err="1">
                <a:solidFill>
                  <a:srgbClr val="4BACC6">
                    <a:lumMod val="50000"/>
                  </a:srgbClr>
                </a:solidFill>
                <a:latin typeface="Calibri"/>
              </a:rPr>
              <a:t>Round</a:t>
            </a:r>
            <a:r>
              <a:rPr lang="pl-PL" sz="2400" i="1" dirty="0">
                <a:solidFill>
                  <a:srgbClr val="4BACC6">
                    <a:lumMod val="50000"/>
                  </a:srgbClr>
                </a:solidFill>
                <a:latin typeface="Calibri"/>
              </a:rPr>
              <a:t> 2</a:t>
            </a:r>
          </a:p>
          <a:p>
            <a:r>
              <a:rPr lang="en-GB" sz="2400" i="1" dirty="0">
                <a:solidFill>
                  <a:srgbClr val="4BACC6">
                    <a:lumMod val="50000"/>
                  </a:srgbClr>
                </a:solidFill>
                <a:latin typeface="Calibri"/>
              </a:rPr>
              <a:t>Divide 40 tokens: Hold X at 1 </a:t>
            </a:r>
            <a:r>
              <a:rPr lang="pl-PL" sz="2400" i="1" dirty="0">
                <a:solidFill>
                  <a:srgbClr val="4BACC6">
                    <a:lumMod val="50000"/>
                  </a:srgbClr>
                </a:solidFill>
                <a:latin typeface="Calibri"/>
              </a:rPr>
              <a:t>$</a:t>
            </a:r>
            <a:r>
              <a:rPr lang="en-GB" sz="2400" i="1" dirty="0">
                <a:solidFill>
                  <a:srgbClr val="4BACC6">
                    <a:lumMod val="50000"/>
                  </a:srgbClr>
                </a:solidFill>
                <a:latin typeface="Calibri"/>
              </a:rPr>
              <a:t> each, and Pass the rest of tokens at 3 $ each</a:t>
            </a:r>
            <a:endParaRPr lang="pl-PL" sz="2400" i="1" dirty="0">
              <a:solidFill>
                <a:srgbClr val="4BACC6">
                  <a:lumMod val="50000"/>
                </a:srgbClr>
              </a:solidFill>
              <a:latin typeface="Calibri"/>
            </a:endParaRPr>
          </a:p>
          <a:p>
            <a:endParaRPr lang="pl-PL" sz="2000" i="1" dirty="0">
              <a:solidFill>
                <a:srgbClr val="4BACC6">
                  <a:lumMod val="50000"/>
                </a:srgbClr>
              </a:solidFill>
              <a:latin typeface="Calibri"/>
            </a:endParaRPr>
          </a:p>
          <a:p>
            <a:pPr algn="just"/>
            <a:r>
              <a:rPr lang="en-US" sz="2400" dirty="0">
                <a:solidFill>
                  <a:srgbClr val="4BACC6">
                    <a:lumMod val="50000"/>
                  </a:srgbClr>
                </a:solidFill>
              </a:rPr>
              <a:t>The ethical duty to donate several tokens is beneficial for the whole group and for each individual person in the group. For example, each student passes </a:t>
            </a:r>
            <a:r>
              <a:rPr lang="pl-PL" sz="2400" dirty="0">
                <a:solidFill>
                  <a:srgbClr val="4BACC6">
                    <a:lumMod val="50000"/>
                  </a:srgbClr>
                </a:solidFill>
              </a:rPr>
              <a:t>10</a:t>
            </a:r>
            <a:r>
              <a:rPr lang="en-US" sz="2400" dirty="0">
                <a:solidFill>
                  <a:srgbClr val="4BACC6">
                    <a:lumMod val="50000"/>
                  </a:srgbClr>
                </a:solidFill>
              </a:rPr>
              <a:t> tokens worth $1  and received </a:t>
            </a:r>
            <a:r>
              <a:rPr lang="pl-PL" sz="2400" dirty="0">
                <a:solidFill>
                  <a:srgbClr val="4BACC6">
                    <a:lumMod val="50000"/>
                  </a:srgbClr>
                </a:solidFill>
              </a:rPr>
              <a:t>10</a:t>
            </a:r>
            <a:r>
              <a:rPr lang="en-US" sz="2400" dirty="0">
                <a:solidFill>
                  <a:srgbClr val="4BACC6">
                    <a:lumMod val="50000"/>
                  </a:srgbClr>
                </a:solidFill>
              </a:rPr>
              <a:t> tokens worth $3 tokens.</a:t>
            </a:r>
            <a:endParaRPr lang="pl-PL" sz="2400" dirty="0">
              <a:solidFill>
                <a:srgbClr val="4BACC6">
                  <a:lumMod val="50000"/>
                </a:srgbClr>
              </a:solidFill>
            </a:endParaRPr>
          </a:p>
          <a:p>
            <a:pPr algn="just"/>
            <a:endParaRPr lang="pl-PL" sz="2400" dirty="0">
              <a:solidFill>
                <a:srgbClr val="4BACC6">
                  <a:lumMod val="50000"/>
                </a:srgbClr>
              </a:solidFill>
            </a:endParaRPr>
          </a:p>
          <a:p>
            <a:pPr algn="just"/>
            <a:r>
              <a:rPr lang="en-US" sz="2400" dirty="0">
                <a:solidFill>
                  <a:srgbClr val="4BACC6">
                    <a:lumMod val="50000"/>
                  </a:srgbClr>
                </a:solidFill>
              </a:rPr>
              <a:t>Round 2</a:t>
            </a:r>
          </a:p>
          <a:p>
            <a:pPr algn="just"/>
            <a:r>
              <a:rPr lang="en-US" sz="2400" dirty="0">
                <a:solidFill>
                  <a:srgbClr val="4BACC6">
                    <a:lumMod val="50000"/>
                  </a:srgbClr>
                </a:solidFill>
              </a:rPr>
              <a:t>Divide 40 tokens: Hold X at 3 $ each, and Pass the rest of tokens at 1$ each</a:t>
            </a:r>
            <a:endParaRPr lang="pl-PL" sz="2400" dirty="0">
              <a:solidFill>
                <a:srgbClr val="4BACC6">
                  <a:lumMod val="50000"/>
                </a:srgbClr>
              </a:solidFill>
            </a:endParaRPr>
          </a:p>
          <a:p>
            <a:pPr algn="just"/>
            <a:endParaRPr lang="pl-PL" sz="2400" dirty="0">
              <a:solidFill>
                <a:srgbClr val="4BACC6">
                  <a:lumMod val="50000"/>
                </a:srgbClr>
              </a:solidFill>
            </a:endParaRPr>
          </a:p>
          <a:p>
            <a:pPr algn="just"/>
            <a:r>
              <a:rPr lang="en-US" sz="2400" dirty="0">
                <a:solidFill>
                  <a:srgbClr val="4BACC6">
                    <a:lumMod val="50000"/>
                  </a:srgbClr>
                </a:solidFill>
              </a:rPr>
              <a:t>If players follow their moral obligation to transfer ten tokens, each of them gives away 10 tokens worth $3, in return they receive </a:t>
            </a:r>
            <a:r>
              <a:rPr lang="pl-PL" sz="2400" dirty="0">
                <a:solidFill>
                  <a:srgbClr val="4BACC6">
                    <a:lumMod val="50000"/>
                  </a:srgbClr>
                </a:solidFill>
              </a:rPr>
              <a:t>10</a:t>
            </a:r>
            <a:r>
              <a:rPr lang="en-US" sz="2400" dirty="0">
                <a:solidFill>
                  <a:srgbClr val="4BACC6">
                    <a:lumMod val="50000"/>
                  </a:srgbClr>
                </a:solidFill>
              </a:rPr>
              <a:t> tokens worth only $1. </a:t>
            </a:r>
            <a:r>
              <a:rPr lang="en-US" sz="2400" b="1" dirty="0">
                <a:solidFill>
                  <a:srgbClr val="4BACC6">
                    <a:lumMod val="50000"/>
                  </a:srgbClr>
                </a:solidFill>
              </a:rPr>
              <a:t>Everyone lost</a:t>
            </a:r>
            <a:r>
              <a:rPr lang="en-US" sz="2400" dirty="0">
                <a:solidFill>
                  <a:srgbClr val="4BACC6">
                    <a:lumMod val="50000"/>
                  </a:srgbClr>
                </a:solidFill>
              </a:rPr>
              <a:t>, and the deontological duty turns out to be a</a:t>
            </a:r>
            <a:r>
              <a:rPr lang="en-US" sz="2400" b="1" dirty="0">
                <a:solidFill>
                  <a:srgbClr val="4BACC6">
                    <a:lumMod val="50000"/>
                  </a:srgbClr>
                </a:solidFill>
              </a:rPr>
              <a:t> trap</a:t>
            </a:r>
            <a:r>
              <a:rPr lang="en-US" sz="2400" dirty="0">
                <a:solidFill>
                  <a:srgbClr val="4BACC6">
                    <a:lumMod val="50000"/>
                  </a:srgbClr>
                </a:solidFill>
              </a:rPr>
              <a:t>. This is an illustration of </a:t>
            </a:r>
            <a:r>
              <a:rPr lang="en-US" sz="2400" b="1" dirty="0">
                <a:solidFill>
                  <a:srgbClr val="4BACC6">
                    <a:lumMod val="50000"/>
                  </a:srgbClr>
                </a:solidFill>
              </a:rPr>
              <a:t>pathological altruism</a:t>
            </a:r>
            <a:r>
              <a:rPr lang="pl-PL" sz="2400" dirty="0">
                <a:solidFill>
                  <a:srgbClr val="4BACC6">
                    <a:lumMod val="50000"/>
                  </a:srgbClr>
                </a:solidFill>
              </a:rPr>
              <a:t> -</a:t>
            </a:r>
            <a:r>
              <a:rPr lang="en-US" sz="2400" dirty="0">
                <a:solidFill>
                  <a:srgbClr val="4BACC6">
                    <a:lumMod val="50000"/>
                  </a:srgbClr>
                </a:solidFill>
              </a:rPr>
              <a:t> “</a:t>
            </a:r>
            <a:r>
              <a:rPr lang="en-US" sz="2400" i="1" dirty="0">
                <a:solidFill>
                  <a:srgbClr val="4BACC6">
                    <a:lumMod val="50000"/>
                  </a:srgbClr>
                </a:solidFill>
              </a:rPr>
              <a:t>when altruism hurts the altruist</a:t>
            </a:r>
            <a:r>
              <a:rPr lang="en-US" sz="2400" dirty="0">
                <a:solidFill>
                  <a:srgbClr val="4BACC6">
                    <a:lumMod val="50000"/>
                  </a:srgbClr>
                </a:solidFill>
              </a:rPr>
              <a:t>” </a:t>
            </a:r>
            <a:r>
              <a:rPr lang="pl-PL" sz="2400" dirty="0">
                <a:solidFill>
                  <a:srgbClr val="4BACC6">
                    <a:lumMod val="50000"/>
                  </a:srgbClr>
                </a:solidFill>
              </a:rPr>
              <a:t>(</a:t>
            </a:r>
            <a:r>
              <a:rPr lang="en-US" sz="2400" dirty="0">
                <a:solidFill>
                  <a:srgbClr val="4BACC6">
                    <a:lumMod val="50000"/>
                  </a:srgbClr>
                </a:solidFill>
              </a:rPr>
              <a:t>Oakley</a:t>
            </a:r>
            <a:r>
              <a:rPr lang="pl-PL" sz="2400" dirty="0">
                <a:solidFill>
                  <a:srgbClr val="4BACC6">
                    <a:lumMod val="50000"/>
                  </a:srgbClr>
                </a:solidFill>
              </a:rPr>
              <a:t>, </a:t>
            </a:r>
            <a:r>
              <a:rPr lang="en-US" sz="2400" dirty="0">
                <a:solidFill>
                  <a:srgbClr val="4BACC6">
                    <a:lumMod val="50000"/>
                  </a:srgbClr>
                </a:solidFill>
              </a:rPr>
              <a:t>2011</a:t>
            </a:r>
            <a:r>
              <a:rPr lang="pl-PL" sz="2400" dirty="0">
                <a:solidFill>
                  <a:srgbClr val="4BACC6">
                    <a:lumMod val="50000"/>
                  </a:srgbClr>
                </a:solidFill>
              </a:rPr>
              <a:t>)</a:t>
            </a:r>
            <a:endParaRPr lang="en-GB" sz="2000" dirty="0">
              <a:solidFill>
                <a:srgbClr val="4BACC6">
                  <a:lumMod val="50000"/>
                </a:srgbClr>
              </a:solidFill>
              <a:latin typeface="Calibri"/>
            </a:endParaRPr>
          </a:p>
        </p:txBody>
      </p:sp>
      <p:sp>
        <p:nvSpPr>
          <p:cNvPr id="11"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12" name="Prostokąt 11"/>
          <p:cNvSpPr/>
          <p:nvPr/>
        </p:nvSpPr>
        <p:spPr>
          <a:xfrm>
            <a:off x="512064" y="1030945"/>
            <a:ext cx="3892412" cy="461665"/>
          </a:xfrm>
          <a:prstGeom prst="rect">
            <a:avLst/>
          </a:prstGeom>
        </p:spPr>
        <p:txBody>
          <a:bodyPr wrap="none">
            <a:spAutoFit/>
          </a:bodyPr>
          <a:lstStyle/>
          <a:p>
            <a:r>
              <a:rPr lang="pl-PL" sz="2400" b="1" dirty="0" err="1">
                <a:solidFill>
                  <a:srgbClr val="4BACC6">
                    <a:lumMod val="50000"/>
                  </a:srgbClr>
                </a:solidFill>
                <a:latin typeface="Calibri"/>
              </a:rPr>
              <a:t>Deontological</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 trap</a:t>
            </a:r>
          </a:p>
        </p:txBody>
      </p:sp>
    </p:spTree>
    <p:extLst>
      <p:ext uri="{BB962C8B-B14F-4D97-AF65-F5344CB8AC3E}">
        <p14:creationId xmlns:p14="http://schemas.microsoft.com/office/powerpoint/2010/main" val="26549985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12" name="Prostokąt 11"/>
          <p:cNvSpPr/>
          <p:nvPr/>
        </p:nvSpPr>
        <p:spPr>
          <a:xfrm>
            <a:off x="788692" y="1186587"/>
            <a:ext cx="5079852" cy="461665"/>
          </a:xfrm>
          <a:prstGeom prst="rect">
            <a:avLst/>
          </a:prstGeom>
        </p:spPr>
        <p:txBody>
          <a:bodyPr wrap="none">
            <a:spAutoFit/>
          </a:bodyPr>
          <a:lstStyle/>
          <a:p>
            <a:r>
              <a:rPr lang="pl-PL" sz="2400" b="1" dirty="0" err="1">
                <a:solidFill>
                  <a:srgbClr val="4BACC6">
                    <a:lumMod val="50000"/>
                  </a:srgbClr>
                </a:solidFill>
                <a:latin typeface="Calibri"/>
              </a:rPr>
              <a:t>Deontological</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 </a:t>
            </a:r>
            <a:r>
              <a:rPr lang="pl-PL" sz="2400" b="1" dirty="0" err="1">
                <a:solidFill>
                  <a:srgbClr val="4BACC6">
                    <a:lumMod val="50000"/>
                  </a:srgbClr>
                </a:solidFill>
                <a:latin typeface="Calibri"/>
              </a:rPr>
              <a:t>inconsistency</a:t>
            </a:r>
            <a:endParaRPr lang="pl-PL" sz="2400" b="1" dirty="0">
              <a:solidFill>
                <a:srgbClr val="4BACC6">
                  <a:lumMod val="50000"/>
                </a:srgbClr>
              </a:solidFill>
              <a:latin typeface="Calibri"/>
            </a:endParaRPr>
          </a:p>
        </p:txBody>
      </p:sp>
      <p:pic>
        <p:nvPicPr>
          <p:cNvPr id="13" name="Obraz 12"/>
          <p:cNvPicPr/>
          <p:nvPr/>
        </p:nvPicPr>
        <p:blipFill>
          <a:blip r:embed="rId2"/>
          <a:stretch>
            <a:fillRect/>
          </a:stretch>
        </p:blipFill>
        <p:spPr>
          <a:xfrm>
            <a:off x="2412160" y="1735096"/>
            <a:ext cx="6912768" cy="4248472"/>
          </a:xfrm>
          <a:prstGeom prst="rect">
            <a:avLst/>
          </a:prstGeom>
        </p:spPr>
      </p:pic>
    </p:spTree>
    <p:extLst>
      <p:ext uri="{BB962C8B-B14F-4D97-AF65-F5344CB8AC3E}">
        <p14:creationId xmlns:p14="http://schemas.microsoft.com/office/powerpoint/2010/main" val="1450282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Step 3 Asking ethical questions </a:t>
            </a:r>
          </a:p>
        </p:txBody>
      </p:sp>
      <p:sp>
        <p:nvSpPr>
          <p:cNvPr id="5" name="Prostokąt 4"/>
          <p:cNvSpPr/>
          <p:nvPr/>
        </p:nvSpPr>
        <p:spPr>
          <a:xfrm>
            <a:off x="310896" y="1196752"/>
            <a:ext cx="11356848" cy="5262979"/>
          </a:xfrm>
          <a:prstGeom prst="rect">
            <a:avLst/>
          </a:prstGeom>
        </p:spPr>
        <p:txBody>
          <a:bodyPr wrap="square">
            <a:spAutoFit/>
          </a:bodyPr>
          <a:lstStyle/>
          <a:p>
            <a:pPr algn="just"/>
            <a:r>
              <a:rPr lang="pl-PL" sz="2800" b="1" dirty="0" err="1">
                <a:solidFill>
                  <a:srgbClr val="4BACC6">
                    <a:lumMod val="50000"/>
                  </a:srgbClr>
                </a:solidFill>
                <a:latin typeface="Calibri"/>
              </a:rPr>
              <a:t>Consequentialist</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a:t>
            </a:r>
          </a:p>
          <a:p>
            <a:pPr algn="just"/>
            <a:r>
              <a:rPr lang="en-US" sz="2800" dirty="0">
                <a:solidFill>
                  <a:srgbClr val="4BACC6">
                    <a:lumMod val="50000"/>
                  </a:srgbClr>
                </a:solidFill>
                <a:latin typeface="Calibri"/>
              </a:rPr>
              <a:t>Principles of consequentialist ethics are based on the consequences of our choices not on </a:t>
            </a:r>
            <a:r>
              <a:rPr lang="pl-PL" sz="2800" dirty="0" err="1">
                <a:solidFill>
                  <a:srgbClr val="4BACC6">
                    <a:lumMod val="50000"/>
                  </a:srgbClr>
                </a:solidFill>
                <a:latin typeface="Calibri"/>
              </a:rPr>
              <a:t>universal</a:t>
            </a:r>
            <a:r>
              <a:rPr lang="pl-PL" sz="2800" dirty="0">
                <a:solidFill>
                  <a:srgbClr val="4BACC6">
                    <a:lumMod val="50000"/>
                  </a:srgbClr>
                </a:solidFill>
                <a:latin typeface="Calibri"/>
              </a:rPr>
              <a:t> </a:t>
            </a:r>
            <a:r>
              <a:rPr lang="pl-PL" sz="2800" dirty="0" err="1">
                <a:solidFill>
                  <a:srgbClr val="4BACC6">
                    <a:lumMod val="50000"/>
                  </a:srgbClr>
                </a:solidFill>
                <a:latin typeface="Calibri"/>
              </a:rPr>
              <a:t>obligations</a:t>
            </a:r>
            <a:r>
              <a:rPr lang="en-US" sz="2800" dirty="0">
                <a:solidFill>
                  <a:srgbClr val="4BACC6">
                    <a:lumMod val="50000"/>
                  </a:srgbClr>
                </a:solidFill>
                <a:latin typeface="Calibri"/>
              </a:rPr>
              <a:t>. We can point two similar approaches to altruism which are based on utilitarian ethics - in which we are going to maximizing the utility</a:t>
            </a:r>
            <a:r>
              <a:rPr lang="pl-PL" sz="2800" dirty="0">
                <a:solidFill>
                  <a:srgbClr val="4BACC6">
                    <a:lumMod val="50000"/>
                  </a:srgbClr>
                </a:solidFill>
                <a:latin typeface="Calibri"/>
              </a:rPr>
              <a:t>/</a:t>
            </a:r>
            <a:r>
              <a:rPr lang="pl-PL" sz="2800" dirty="0" err="1">
                <a:solidFill>
                  <a:srgbClr val="4BACC6">
                    <a:lumMod val="50000"/>
                  </a:srgbClr>
                </a:solidFill>
                <a:latin typeface="Calibri"/>
              </a:rPr>
              <a:t>welth</a:t>
            </a:r>
            <a:r>
              <a:rPr lang="en-US" sz="2800" dirty="0">
                <a:solidFill>
                  <a:srgbClr val="4BACC6">
                    <a:lumMod val="50000"/>
                  </a:srgbClr>
                </a:solidFill>
                <a:latin typeface="Calibri"/>
              </a:rPr>
              <a:t> of the whole society.</a:t>
            </a:r>
          </a:p>
          <a:p>
            <a:pPr algn="just"/>
            <a:endParaRPr lang="en-US" sz="2800" dirty="0">
              <a:solidFill>
                <a:srgbClr val="4BACC6">
                  <a:lumMod val="50000"/>
                </a:srgbClr>
              </a:solidFill>
              <a:latin typeface="Calibri"/>
            </a:endParaRPr>
          </a:p>
          <a:p>
            <a:pPr algn="just"/>
            <a:r>
              <a:rPr lang="en-US" sz="2800" b="1" dirty="0">
                <a:solidFill>
                  <a:srgbClr val="4BACC6">
                    <a:lumMod val="50000"/>
                  </a:srgbClr>
                </a:solidFill>
                <a:latin typeface="Calibri"/>
              </a:rPr>
              <a:t>Intelligent altruism </a:t>
            </a:r>
            <a:r>
              <a:rPr lang="en-US" sz="2800" i="1" dirty="0">
                <a:solidFill>
                  <a:srgbClr val="4BACC6">
                    <a:lumMod val="50000"/>
                  </a:srgbClr>
                </a:solidFill>
                <a:latin typeface="Calibri"/>
              </a:rPr>
              <a:t>the tendency to depend on suggestions, recommendation, persuasion, and information obtained through social channels as a major basis of choice</a:t>
            </a:r>
            <a:r>
              <a:rPr lang="en-US" sz="2800" dirty="0">
                <a:solidFill>
                  <a:srgbClr val="4BACC6">
                    <a:lumMod val="50000"/>
                  </a:srgbClr>
                </a:solidFill>
                <a:latin typeface="Calibri"/>
              </a:rPr>
              <a:t> (Simon, 1993).</a:t>
            </a:r>
            <a:r>
              <a:rPr lang="en-US" sz="2800" b="1" dirty="0">
                <a:solidFill>
                  <a:srgbClr val="4BACC6">
                    <a:lumMod val="50000"/>
                  </a:srgbClr>
                </a:solidFill>
                <a:latin typeface="Calibri"/>
              </a:rPr>
              <a:t> </a:t>
            </a:r>
            <a:endParaRPr lang="pl-PL" sz="2800" b="1" dirty="0">
              <a:solidFill>
                <a:srgbClr val="4BACC6">
                  <a:lumMod val="50000"/>
                </a:srgbClr>
              </a:solidFill>
              <a:latin typeface="Calibri"/>
            </a:endParaRPr>
          </a:p>
          <a:p>
            <a:pPr algn="just"/>
            <a:endParaRPr lang="pl-PL" sz="2800" b="1" dirty="0">
              <a:solidFill>
                <a:srgbClr val="4BACC6">
                  <a:lumMod val="50000"/>
                </a:srgbClr>
              </a:solidFill>
              <a:latin typeface="Calibri"/>
            </a:endParaRPr>
          </a:p>
          <a:p>
            <a:pPr algn="just"/>
            <a:r>
              <a:rPr lang="en-US" sz="2800" b="1" dirty="0">
                <a:solidFill>
                  <a:srgbClr val="4BACC6">
                    <a:lumMod val="50000"/>
                  </a:srgbClr>
                </a:solidFill>
                <a:latin typeface="Calibri"/>
              </a:rPr>
              <a:t>Efficient altruism </a:t>
            </a:r>
            <a:r>
              <a:rPr lang="en-US" sz="2800" dirty="0">
                <a:solidFill>
                  <a:srgbClr val="4BACC6">
                    <a:lumMod val="50000"/>
                  </a:srgbClr>
                </a:solidFill>
                <a:latin typeface="Calibri"/>
              </a:rPr>
              <a:t>- </a:t>
            </a:r>
            <a:r>
              <a:rPr lang="en-US" sz="2800" i="1" dirty="0">
                <a:solidFill>
                  <a:srgbClr val="4BACC6">
                    <a:lumMod val="50000"/>
                  </a:srgbClr>
                </a:solidFill>
                <a:latin typeface="Calibri"/>
              </a:rPr>
              <a:t>to act in a way that brings about the greatest positive impact, based upon their values</a:t>
            </a:r>
            <a:r>
              <a:rPr lang="en-US" sz="2800" dirty="0">
                <a:solidFill>
                  <a:srgbClr val="4BACC6">
                    <a:lumMod val="50000"/>
                  </a:srgbClr>
                </a:solidFill>
                <a:latin typeface="Calibri"/>
              </a:rPr>
              <a:t>. </a:t>
            </a:r>
            <a:r>
              <a:rPr lang="pl-PL" sz="2800" dirty="0">
                <a:solidFill>
                  <a:srgbClr val="4BACC6">
                    <a:lumMod val="50000"/>
                  </a:srgbClr>
                </a:solidFill>
                <a:latin typeface="Calibri"/>
              </a:rPr>
              <a:t>(Singer)</a:t>
            </a:r>
            <a:endParaRPr lang="en-GB" sz="2800" dirty="0">
              <a:solidFill>
                <a:srgbClr val="4BACC6">
                  <a:lumMod val="50000"/>
                </a:srgbClr>
              </a:solidFill>
              <a:latin typeface="Calibri"/>
            </a:endParaRPr>
          </a:p>
        </p:txBody>
      </p:sp>
    </p:spTree>
    <p:extLst>
      <p:ext uri="{BB962C8B-B14F-4D97-AF65-F5344CB8AC3E}">
        <p14:creationId xmlns:p14="http://schemas.microsoft.com/office/powerpoint/2010/main" val="37537031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rostokąt 8"/>
          <p:cNvSpPr/>
          <p:nvPr/>
        </p:nvSpPr>
        <p:spPr>
          <a:xfrm>
            <a:off x="146304" y="1099744"/>
            <a:ext cx="11695176" cy="5632311"/>
          </a:xfrm>
          <a:prstGeom prst="rect">
            <a:avLst/>
          </a:prstGeom>
        </p:spPr>
        <p:txBody>
          <a:bodyPr wrap="square">
            <a:spAutoFit/>
          </a:bodyPr>
          <a:lstStyle/>
          <a:p>
            <a:r>
              <a:rPr lang="en-GB" sz="2400" i="1" dirty="0">
                <a:solidFill>
                  <a:srgbClr val="4BACC6">
                    <a:lumMod val="50000"/>
                  </a:srgbClr>
                </a:solidFill>
              </a:rPr>
              <a:t>R</a:t>
            </a:r>
            <a:r>
              <a:rPr lang="pl-PL" sz="2400" i="1" dirty="0">
                <a:solidFill>
                  <a:srgbClr val="4BACC6">
                    <a:lumMod val="50000"/>
                  </a:srgbClr>
                </a:solidFill>
              </a:rPr>
              <a:t>o</a:t>
            </a:r>
            <a:r>
              <a:rPr lang="en-GB" sz="2400" i="1" dirty="0">
                <a:solidFill>
                  <a:srgbClr val="4BACC6">
                    <a:lumMod val="50000"/>
                  </a:srgbClr>
                </a:solidFill>
              </a:rPr>
              <a:t>und </a:t>
            </a:r>
            <a:r>
              <a:rPr lang="pl-PL" sz="2400" i="1" dirty="0">
                <a:solidFill>
                  <a:srgbClr val="4BACC6">
                    <a:lumMod val="50000"/>
                  </a:srgbClr>
                </a:solidFill>
              </a:rPr>
              <a:t>1</a:t>
            </a:r>
            <a:endParaRPr lang="en-GB" sz="2400" i="1" dirty="0">
              <a:solidFill>
                <a:srgbClr val="4BACC6">
                  <a:lumMod val="50000"/>
                </a:srgbClr>
              </a:solidFill>
            </a:endParaRPr>
          </a:p>
          <a:p>
            <a:r>
              <a:rPr lang="en-GB" sz="2400" i="1" dirty="0">
                <a:solidFill>
                  <a:srgbClr val="4BACC6">
                    <a:lumMod val="50000"/>
                  </a:srgbClr>
                </a:solidFill>
              </a:rPr>
              <a:t>Divide 40 tokens: Hold X at 3</a:t>
            </a:r>
            <a:r>
              <a:rPr lang="pl-PL" sz="2400" i="1" dirty="0">
                <a:solidFill>
                  <a:srgbClr val="4BACC6">
                    <a:lumMod val="50000"/>
                  </a:srgbClr>
                </a:solidFill>
              </a:rPr>
              <a:t>$</a:t>
            </a:r>
            <a:r>
              <a:rPr lang="en-GB" sz="2400" i="1" dirty="0">
                <a:solidFill>
                  <a:srgbClr val="4BACC6">
                    <a:lumMod val="50000"/>
                  </a:srgbClr>
                </a:solidFill>
              </a:rPr>
              <a:t> each, and Pass the rest of tokens at 1</a:t>
            </a:r>
            <a:r>
              <a:rPr lang="pl-PL" sz="2400" i="1" dirty="0">
                <a:solidFill>
                  <a:srgbClr val="4BACC6">
                    <a:lumMod val="50000"/>
                  </a:srgbClr>
                </a:solidFill>
              </a:rPr>
              <a:t>$</a:t>
            </a:r>
            <a:r>
              <a:rPr lang="en-GB" sz="2400" i="1" dirty="0">
                <a:solidFill>
                  <a:srgbClr val="4BACC6">
                    <a:lumMod val="50000"/>
                  </a:srgbClr>
                </a:solidFill>
              </a:rPr>
              <a:t> each</a:t>
            </a:r>
            <a:endParaRPr lang="pl-PL" sz="2400" i="1" dirty="0">
              <a:solidFill>
                <a:srgbClr val="4BACC6">
                  <a:lumMod val="50000"/>
                </a:srgbClr>
              </a:solidFill>
            </a:endParaRPr>
          </a:p>
          <a:p>
            <a:endParaRPr lang="pl-PL" sz="2400" i="1" dirty="0">
              <a:solidFill>
                <a:srgbClr val="4BACC6">
                  <a:lumMod val="50000"/>
                </a:srgbClr>
              </a:solidFill>
            </a:endParaRPr>
          </a:p>
          <a:p>
            <a:r>
              <a:rPr lang="en-US" sz="2400" dirty="0">
                <a:solidFill>
                  <a:srgbClr val="4BACC6">
                    <a:lumMod val="50000"/>
                  </a:srgbClr>
                </a:solidFill>
              </a:rPr>
              <a:t>Effective altruism: we should take actions that will increase social well-being (</a:t>
            </a:r>
            <a:r>
              <a:rPr lang="en-US" sz="2400" b="1" dirty="0">
                <a:solidFill>
                  <a:srgbClr val="4BACC6">
                    <a:lumMod val="50000"/>
                  </a:srgbClr>
                </a:solidFill>
              </a:rPr>
              <a:t>the sum of all incomes</a:t>
            </a:r>
            <a:r>
              <a:rPr lang="en-US" sz="2400" dirty="0">
                <a:solidFill>
                  <a:srgbClr val="4BACC6">
                    <a:lumMod val="50000"/>
                  </a:srgbClr>
                </a:solidFill>
              </a:rPr>
              <a:t>)</a:t>
            </a:r>
            <a:r>
              <a:rPr lang="pl-PL" sz="2400" dirty="0">
                <a:solidFill>
                  <a:srgbClr val="4BACC6">
                    <a:lumMod val="50000"/>
                  </a:srgbClr>
                </a:solidFill>
              </a:rPr>
              <a:t> </a:t>
            </a:r>
            <a:r>
              <a:rPr lang="en-US" sz="2400" dirty="0">
                <a:solidFill>
                  <a:srgbClr val="4BACC6">
                    <a:lumMod val="50000"/>
                  </a:srgbClr>
                </a:solidFill>
              </a:rPr>
              <a:t>An ethical obligation </a:t>
            </a:r>
            <a:r>
              <a:rPr lang="en-US" sz="2400" b="1" dirty="0">
                <a:solidFill>
                  <a:srgbClr val="4BACC6">
                    <a:lumMod val="50000"/>
                  </a:srgbClr>
                </a:solidFill>
              </a:rPr>
              <a:t>to </a:t>
            </a:r>
            <a:r>
              <a:rPr lang="pl-PL" sz="2400" b="1" dirty="0" err="1">
                <a:solidFill>
                  <a:srgbClr val="4BACC6">
                    <a:lumMod val="50000"/>
                  </a:srgbClr>
                </a:solidFill>
              </a:rPr>
              <a:t>hold</a:t>
            </a:r>
            <a:r>
              <a:rPr lang="en-US" sz="2400" b="1" dirty="0">
                <a:solidFill>
                  <a:srgbClr val="4BACC6">
                    <a:lumMod val="50000"/>
                  </a:srgbClr>
                </a:solidFill>
              </a:rPr>
              <a:t> </a:t>
            </a:r>
            <a:r>
              <a:rPr lang="en-US" sz="2400" dirty="0">
                <a:solidFill>
                  <a:srgbClr val="4BACC6">
                    <a:lumMod val="50000"/>
                  </a:srgbClr>
                </a:solidFill>
              </a:rPr>
              <a:t>all tokens. Everyone kept 40 tokens worth $3 (and received nothing). From the point of view of social well-being, this is effective </a:t>
            </a:r>
            <a:r>
              <a:rPr lang="en-US" sz="2400" dirty="0" err="1">
                <a:solidFill>
                  <a:srgbClr val="4BACC6">
                    <a:lumMod val="50000"/>
                  </a:srgbClr>
                </a:solidFill>
              </a:rPr>
              <a:t>behaviour</a:t>
            </a:r>
            <a:r>
              <a:rPr lang="en-US" sz="2400" dirty="0">
                <a:solidFill>
                  <a:srgbClr val="4BACC6">
                    <a:lumMod val="50000"/>
                  </a:srgbClr>
                </a:solidFill>
              </a:rPr>
              <a:t>. </a:t>
            </a:r>
            <a:endParaRPr lang="pl-PL" sz="2400" dirty="0">
              <a:solidFill>
                <a:srgbClr val="4BACC6">
                  <a:lumMod val="50000"/>
                </a:srgbClr>
              </a:solidFill>
            </a:endParaRPr>
          </a:p>
          <a:p>
            <a:endParaRPr lang="pl-PL" sz="2400" dirty="0">
              <a:solidFill>
                <a:srgbClr val="4BACC6">
                  <a:lumMod val="50000"/>
                </a:srgbClr>
              </a:solidFill>
            </a:endParaRPr>
          </a:p>
          <a:p>
            <a:r>
              <a:rPr lang="pl-PL" sz="2400" i="1" dirty="0" err="1">
                <a:solidFill>
                  <a:srgbClr val="4BACC6">
                    <a:lumMod val="50000"/>
                  </a:srgbClr>
                </a:solidFill>
              </a:rPr>
              <a:t>Round</a:t>
            </a:r>
            <a:r>
              <a:rPr lang="pl-PL" sz="2400" i="1" dirty="0">
                <a:solidFill>
                  <a:srgbClr val="4BACC6">
                    <a:lumMod val="50000"/>
                  </a:srgbClr>
                </a:solidFill>
              </a:rPr>
              <a:t> 2</a:t>
            </a:r>
          </a:p>
          <a:p>
            <a:r>
              <a:rPr lang="en-GB" sz="2400" i="1" dirty="0">
                <a:solidFill>
                  <a:srgbClr val="4BACC6">
                    <a:lumMod val="50000"/>
                  </a:srgbClr>
                </a:solidFill>
              </a:rPr>
              <a:t>Divide 40 tokens: Hold X at 1</a:t>
            </a:r>
            <a:r>
              <a:rPr lang="pl-PL" sz="2400" i="1" dirty="0">
                <a:solidFill>
                  <a:srgbClr val="4BACC6">
                    <a:lumMod val="50000"/>
                  </a:srgbClr>
                </a:solidFill>
              </a:rPr>
              <a:t>$ </a:t>
            </a:r>
            <a:r>
              <a:rPr lang="en-GB" sz="2400" i="1" dirty="0">
                <a:solidFill>
                  <a:srgbClr val="4BACC6">
                    <a:lumMod val="50000"/>
                  </a:srgbClr>
                </a:solidFill>
              </a:rPr>
              <a:t>each, and Pass the rest of tokens at 3 $ each</a:t>
            </a:r>
            <a:endParaRPr lang="pl-PL" sz="2400" i="1" dirty="0">
              <a:solidFill>
                <a:srgbClr val="4BACC6">
                  <a:lumMod val="50000"/>
                </a:srgbClr>
              </a:solidFill>
            </a:endParaRPr>
          </a:p>
          <a:p>
            <a:endParaRPr lang="pl-PL" sz="2400" i="1" dirty="0">
              <a:solidFill>
                <a:srgbClr val="4BACC6">
                  <a:lumMod val="50000"/>
                </a:srgbClr>
              </a:solidFill>
            </a:endParaRPr>
          </a:p>
          <a:p>
            <a:pPr algn="just"/>
            <a:r>
              <a:rPr lang="en-US" sz="2400" dirty="0">
                <a:solidFill>
                  <a:srgbClr val="4BACC6">
                    <a:lumMod val="50000"/>
                  </a:srgbClr>
                </a:solidFill>
              </a:rPr>
              <a:t>An ethical obligation </a:t>
            </a:r>
            <a:r>
              <a:rPr lang="en-US" sz="2400" b="1" dirty="0">
                <a:solidFill>
                  <a:srgbClr val="4BACC6">
                    <a:lumMod val="50000"/>
                  </a:srgbClr>
                </a:solidFill>
              </a:rPr>
              <a:t>to </a:t>
            </a:r>
            <a:r>
              <a:rPr lang="pl-PL" sz="2400" b="1" dirty="0" err="1">
                <a:solidFill>
                  <a:srgbClr val="4BACC6">
                    <a:lumMod val="50000"/>
                  </a:srgbClr>
                </a:solidFill>
              </a:rPr>
              <a:t>hold</a:t>
            </a:r>
            <a:r>
              <a:rPr lang="en-US" sz="2400" b="1" dirty="0">
                <a:solidFill>
                  <a:srgbClr val="4BACC6">
                    <a:lumMod val="50000"/>
                  </a:srgbClr>
                </a:solidFill>
              </a:rPr>
              <a:t> </a:t>
            </a:r>
            <a:r>
              <a:rPr lang="en-US" sz="2400" dirty="0">
                <a:solidFill>
                  <a:srgbClr val="4BACC6">
                    <a:lumMod val="50000"/>
                  </a:srgbClr>
                </a:solidFill>
              </a:rPr>
              <a:t>all tokens. Everyone kept 40 tokens worth $3 (and received nothing). From the point of view of social well-being, this is effective </a:t>
            </a:r>
            <a:r>
              <a:rPr lang="en-US" sz="2400" dirty="0" err="1">
                <a:solidFill>
                  <a:srgbClr val="4BACC6">
                    <a:lumMod val="50000"/>
                  </a:srgbClr>
                </a:solidFill>
              </a:rPr>
              <a:t>behaviour</a:t>
            </a:r>
            <a:r>
              <a:rPr lang="en-US" sz="2400" dirty="0">
                <a:solidFill>
                  <a:srgbClr val="4BACC6">
                    <a:lumMod val="50000"/>
                  </a:srgbClr>
                </a:solidFill>
              </a:rPr>
              <a:t>. </a:t>
            </a:r>
            <a:endParaRPr lang="pl-PL" sz="2400" dirty="0">
              <a:solidFill>
                <a:srgbClr val="4BACC6">
                  <a:lumMod val="50000"/>
                </a:srgbClr>
              </a:solidFill>
            </a:endParaRPr>
          </a:p>
          <a:p>
            <a:pPr algn="just"/>
            <a:r>
              <a:rPr lang="en-US" sz="2400" dirty="0">
                <a:solidFill>
                  <a:srgbClr val="4BACC6">
                    <a:lumMod val="50000"/>
                  </a:srgbClr>
                </a:solidFill>
              </a:rPr>
              <a:t>The ethical obligation </a:t>
            </a:r>
            <a:r>
              <a:rPr lang="en-US" sz="2400" b="1" dirty="0">
                <a:solidFill>
                  <a:srgbClr val="4BACC6">
                    <a:lumMod val="50000"/>
                  </a:srgbClr>
                </a:solidFill>
              </a:rPr>
              <a:t>to pass </a:t>
            </a:r>
            <a:r>
              <a:rPr lang="en-US" sz="2400" dirty="0">
                <a:solidFill>
                  <a:srgbClr val="4BACC6">
                    <a:lumMod val="50000"/>
                  </a:srgbClr>
                </a:solidFill>
              </a:rPr>
              <a:t>all tokens. Each gave 40 tokens worth $ 1 and received 40 tokens worth $ 3. From the point of view of social well-being, this is effective </a:t>
            </a:r>
            <a:r>
              <a:rPr lang="en-US" sz="2400" dirty="0" err="1">
                <a:solidFill>
                  <a:srgbClr val="4BACC6">
                    <a:lumMod val="50000"/>
                  </a:srgbClr>
                </a:solidFill>
              </a:rPr>
              <a:t>behaviour</a:t>
            </a:r>
            <a:r>
              <a:rPr lang="en-US" sz="2400" dirty="0">
                <a:solidFill>
                  <a:srgbClr val="4BACC6">
                    <a:lumMod val="50000"/>
                  </a:srgbClr>
                </a:solidFill>
              </a:rPr>
              <a:t>, but ...</a:t>
            </a:r>
            <a:r>
              <a:rPr lang="pl-PL" sz="2400" dirty="0">
                <a:solidFill>
                  <a:srgbClr val="4BACC6">
                    <a:lumMod val="50000"/>
                  </a:srgbClr>
                </a:solidFill>
              </a:rPr>
              <a:t> </a:t>
            </a:r>
            <a:endParaRPr lang="en-GB" sz="2400" dirty="0">
              <a:solidFill>
                <a:srgbClr val="4BACC6">
                  <a:lumMod val="50000"/>
                </a:srgbClr>
              </a:solidFill>
            </a:endParaRPr>
          </a:p>
        </p:txBody>
      </p:sp>
      <p:sp>
        <p:nvSpPr>
          <p:cNvPr id="10" name="Prostokąt 9"/>
          <p:cNvSpPr/>
          <p:nvPr/>
        </p:nvSpPr>
        <p:spPr>
          <a:xfrm>
            <a:off x="1676268" y="1024642"/>
            <a:ext cx="8352928" cy="461665"/>
          </a:xfrm>
          <a:prstGeom prst="rect">
            <a:avLst/>
          </a:prstGeom>
        </p:spPr>
        <p:txBody>
          <a:bodyPr wrap="square">
            <a:spAutoFit/>
          </a:bodyPr>
          <a:lstStyle/>
          <a:p>
            <a:pPr algn="just"/>
            <a:r>
              <a:rPr lang="pl-PL" sz="2400" b="1" dirty="0" err="1">
                <a:solidFill>
                  <a:srgbClr val="4BACC6">
                    <a:lumMod val="50000"/>
                  </a:srgbClr>
                </a:solidFill>
                <a:latin typeface="Calibri"/>
              </a:rPr>
              <a:t>Intelligent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a:t>
            </a:r>
            <a:r>
              <a:rPr lang="en-US" sz="2400" b="1" dirty="0">
                <a:solidFill>
                  <a:srgbClr val="4BACC6">
                    <a:lumMod val="50000"/>
                  </a:srgbClr>
                </a:solidFill>
                <a:latin typeface="Calibri"/>
              </a:rPr>
              <a:t> </a:t>
            </a:r>
            <a:r>
              <a:rPr lang="pl-PL" sz="2400" b="1" dirty="0" err="1">
                <a:solidFill>
                  <a:srgbClr val="4BACC6">
                    <a:lumMod val="50000"/>
                  </a:srgbClr>
                </a:solidFill>
                <a:latin typeface="Calibri"/>
              </a:rPr>
              <a:t>efficient</a:t>
            </a:r>
            <a:r>
              <a:rPr lang="en-US" sz="2400" b="1" dirty="0">
                <a:solidFill>
                  <a:srgbClr val="4BACC6">
                    <a:lumMod val="50000"/>
                  </a:srgbClr>
                </a:solidFill>
                <a:latin typeface="Calibri"/>
              </a:rPr>
              <a:t> altruism</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principle</a:t>
            </a:r>
            <a:endParaRPr lang="pl-PL" sz="2400" b="1" dirty="0">
              <a:solidFill>
                <a:srgbClr val="4BACC6">
                  <a:lumMod val="50000"/>
                </a:srgbClr>
              </a:solidFill>
              <a:latin typeface="Calibri"/>
            </a:endParaRPr>
          </a:p>
        </p:txBody>
      </p:sp>
      <p:sp>
        <p:nvSpPr>
          <p:cNvPr id="1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Tree>
    <p:extLst>
      <p:ext uri="{BB962C8B-B14F-4D97-AF65-F5344CB8AC3E}">
        <p14:creationId xmlns:p14="http://schemas.microsoft.com/office/powerpoint/2010/main" val="28352559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2000"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15" name="Prostokąt 14"/>
          <p:cNvSpPr/>
          <p:nvPr/>
        </p:nvSpPr>
        <p:spPr>
          <a:xfrm>
            <a:off x="310896" y="1412777"/>
            <a:ext cx="11411712" cy="4832092"/>
          </a:xfrm>
          <a:prstGeom prst="rect">
            <a:avLst/>
          </a:prstGeom>
        </p:spPr>
        <p:txBody>
          <a:bodyPr wrap="square">
            <a:spAutoFit/>
          </a:bodyPr>
          <a:lstStyle/>
          <a:p>
            <a:r>
              <a:rPr lang="pl-PL" sz="2800" b="1" dirty="0" err="1">
                <a:solidFill>
                  <a:srgbClr val="4BACC6">
                    <a:lumMod val="50000"/>
                  </a:srgbClr>
                </a:solidFill>
                <a:latin typeface="Calibri"/>
              </a:rPr>
              <a:t>Intelligent</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 </a:t>
            </a:r>
            <a:r>
              <a:rPr lang="pl-PL" sz="2800" b="1" dirty="0" err="1">
                <a:solidFill>
                  <a:srgbClr val="4BACC6">
                    <a:lumMod val="50000"/>
                  </a:srgbClr>
                </a:solidFill>
                <a:latin typeface="Calibri"/>
              </a:rPr>
              <a:t>efficient</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and </a:t>
            </a:r>
            <a:r>
              <a:rPr lang="pl-PL" sz="2800" b="1" dirty="0" err="1">
                <a:solidFill>
                  <a:srgbClr val="4BACC6">
                    <a:lumMod val="50000"/>
                  </a:srgbClr>
                </a:solidFill>
                <a:latin typeface="Calibri"/>
              </a:rPr>
              <a:t>rationality</a:t>
            </a:r>
            <a:endParaRPr lang="pl-PL" sz="2800" b="1" dirty="0">
              <a:solidFill>
                <a:srgbClr val="4BACC6">
                  <a:lumMod val="50000"/>
                </a:srgbClr>
              </a:solidFill>
              <a:latin typeface="Calibri"/>
            </a:endParaRPr>
          </a:p>
          <a:p>
            <a:pPr algn="just"/>
            <a:r>
              <a:rPr lang="en-US" sz="2800" dirty="0">
                <a:solidFill>
                  <a:srgbClr val="4BACC6">
                    <a:lumMod val="50000"/>
                  </a:srgbClr>
                </a:solidFill>
                <a:latin typeface="Calibri"/>
              </a:rPr>
              <a:t>Acting in line with intelligent altruism may suggest an inconsistency of choices. In rounds 1, 3 and </a:t>
            </a:r>
            <a:r>
              <a:rPr lang="pl-PL" sz="2800" dirty="0">
                <a:solidFill>
                  <a:srgbClr val="4BACC6">
                    <a:lumMod val="50000"/>
                  </a:srgbClr>
                </a:solidFill>
                <a:latin typeface="Calibri"/>
              </a:rPr>
              <a:t>5</a:t>
            </a:r>
            <a:r>
              <a:rPr lang="en-US" sz="2800" dirty="0">
                <a:solidFill>
                  <a:srgbClr val="4BACC6">
                    <a:lumMod val="50000"/>
                  </a:srgbClr>
                </a:solidFill>
                <a:latin typeface="Calibri"/>
              </a:rPr>
              <a:t> no tokens should be passed (</a:t>
            </a:r>
            <a:r>
              <a:rPr lang="en-US" sz="2800" b="1" dirty="0">
                <a:solidFill>
                  <a:srgbClr val="4BACC6">
                    <a:lumMod val="50000"/>
                  </a:srgbClr>
                </a:solidFill>
                <a:latin typeface="Calibri"/>
              </a:rPr>
              <a:t>selfish </a:t>
            </a:r>
            <a:r>
              <a:rPr lang="en-US" sz="2800" b="1" dirty="0" err="1">
                <a:solidFill>
                  <a:srgbClr val="4BACC6">
                    <a:lumMod val="50000"/>
                  </a:srgbClr>
                </a:solidFill>
                <a:latin typeface="Calibri"/>
              </a:rPr>
              <a:t>behaviour</a:t>
            </a:r>
            <a:r>
              <a:rPr lang="en-US" sz="2800" dirty="0">
                <a:solidFill>
                  <a:srgbClr val="4BACC6">
                    <a:lumMod val="50000"/>
                  </a:srgbClr>
                </a:solidFill>
                <a:latin typeface="Calibri"/>
              </a:rPr>
              <a:t>). In rounds 7 and </a:t>
            </a:r>
            <a:r>
              <a:rPr lang="pl-PL" sz="2800" dirty="0">
                <a:solidFill>
                  <a:srgbClr val="4BACC6">
                    <a:lumMod val="50000"/>
                  </a:srgbClr>
                </a:solidFill>
                <a:latin typeface="Calibri"/>
              </a:rPr>
              <a:t>8 </a:t>
            </a:r>
            <a:r>
              <a:rPr lang="en-US" sz="2800" dirty="0">
                <a:solidFill>
                  <a:srgbClr val="4BACC6">
                    <a:lumMod val="50000"/>
                  </a:srgbClr>
                </a:solidFill>
                <a:latin typeface="Calibri"/>
              </a:rPr>
              <a:t>passing, any number of tokens does not change a situation, not motivating for sharing as well. In rounds 2, 4 and </a:t>
            </a:r>
            <a:r>
              <a:rPr lang="pl-PL" sz="2800" dirty="0">
                <a:solidFill>
                  <a:srgbClr val="4BACC6">
                    <a:lumMod val="50000"/>
                  </a:srgbClr>
                </a:solidFill>
                <a:latin typeface="Calibri"/>
              </a:rPr>
              <a:t>6</a:t>
            </a:r>
            <a:r>
              <a:rPr lang="en-US" sz="2800" dirty="0">
                <a:solidFill>
                  <a:srgbClr val="4BACC6">
                    <a:lumMod val="50000"/>
                  </a:srgbClr>
                </a:solidFill>
                <a:latin typeface="Calibri"/>
              </a:rPr>
              <a:t> all the tokens should be passed, which can be qualified as </a:t>
            </a:r>
            <a:r>
              <a:rPr lang="en-US" sz="2800" b="1" dirty="0">
                <a:solidFill>
                  <a:srgbClr val="4BACC6">
                    <a:lumMod val="50000"/>
                  </a:srgbClr>
                </a:solidFill>
                <a:latin typeface="Calibri"/>
              </a:rPr>
              <a:t>altruism</a:t>
            </a:r>
            <a:r>
              <a:rPr lang="en-US" sz="2800" dirty="0">
                <a:solidFill>
                  <a:srgbClr val="4BACC6">
                    <a:lumMod val="50000"/>
                  </a:srgbClr>
                </a:solidFill>
                <a:latin typeface="Calibri"/>
              </a:rPr>
              <a:t>. The intuition behind the consistency of choices can be misleading. </a:t>
            </a:r>
            <a:r>
              <a:rPr lang="en-US" sz="2800" b="1" dirty="0">
                <a:solidFill>
                  <a:srgbClr val="4BACC6">
                    <a:lumMod val="50000"/>
                  </a:srgbClr>
                </a:solidFill>
                <a:latin typeface="Calibri"/>
              </a:rPr>
              <a:t>Making decisions in line with the principles of intelligent altruism is rational and consistent with WARP and SARP</a:t>
            </a:r>
            <a:r>
              <a:rPr lang="pl-PL" sz="2800" b="1" dirty="0">
                <a:solidFill>
                  <a:srgbClr val="4BACC6">
                    <a:lumMod val="50000"/>
                  </a:srgbClr>
                </a:solidFill>
                <a:latin typeface="Calibri"/>
              </a:rPr>
              <a:t>. </a:t>
            </a:r>
            <a:r>
              <a:rPr lang="en-US" sz="2800" dirty="0">
                <a:solidFill>
                  <a:srgbClr val="4BACC6">
                    <a:lumMod val="50000"/>
                  </a:srgbClr>
                </a:solidFill>
                <a:latin typeface="Calibri"/>
              </a:rPr>
              <a:t>Altruism and selfishness are </a:t>
            </a:r>
            <a:r>
              <a:rPr lang="en-US" sz="2800" b="1" dirty="0">
                <a:solidFill>
                  <a:srgbClr val="4BACC6">
                    <a:lumMod val="50000"/>
                  </a:srgbClr>
                </a:solidFill>
                <a:latin typeface="Calibri"/>
              </a:rPr>
              <a:t>perfect substitutes</a:t>
            </a:r>
            <a:r>
              <a:rPr lang="en-US" sz="2800" dirty="0">
                <a:solidFill>
                  <a:srgbClr val="4BACC6">
                    <a:lumMod val="50000"/>
                  </a:srgbClr>
                </a:solidFill>
                <a:latin typeface="Calibri"/>
              </a:rPr>
              <a:t>: the agent should choose an option </a:t>
            </a:r>
            <a:r>
              <a:rPr lang="en-US" sz="2800" dirty="0" err="1">
                <a:solidFill>
                  <a:srgbClr val="4BACC6">
                    <a:lumMod val="50000"/>
                  </a:srgbClr>
                </a:solidFill>
                <a:latin typeface="Calibri"/>
              </a:rPr>
              <a:t>maximising</a:t>
            </a:r>
            <a:r>
              <a:rPr lang="en-US" sz="2800" dirty="0">
                <a:solidFill>
                  <a:srgbClr val="4BACC6">
                    <a:lumMod val="50000"/>
                  </a:srgbClr>
                </a:solidFill>
                <a:latin typeface="Calibri"/>
              </a:rPr>
              <a:t> the utility of the group subject to the given budget constraint. </a:t>
            </a:r>
            <a:endParaRPr lang="pl-PL" sz="2800" b="1" dirty="0">
              <a:solidFill>
                <a:srgbClr val="4BACC6">
                  <a:lumMod val="50000"/>
                </a:srgbClr>
              </a:solidFill>
              <a:latin typeface="Calibri"/>
            </a:endParaRPr>
          </a:p>
        </p:txBody>
      </p:sp>
    </p:spTree>
    <p:extLst>
      <p:ext uri="{BB962C8B-B14F-4D97-AF65-F5344CB8AC3E}">
        <p14:creationId xmlns:p14="http://schemas.microsoft.com/office/powerpoint/2010/main" val="147530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1" y="0"/>
            <a:ext cx="12272211" cy="1099744"/>
          </a:xfrm>
          <a:solidFill>
            <a:schemeClr val="accent5">
              <a:lumMod val="20000"/>
              <a:lumOff val="80000"/>
            </a:schemeClr>
          </a:solidFill>
        </p:spPr>
        <p:txBody>
          <a:bodyPr>
            <a:normAutofit/>
          </a:bodyPr>
          <a:lstStyle/>
          <a:p>
            <a:r>
              <a:rPr lang="en-US" sz="3600" b="1" dirty="0">
                <a:solidFill>
                  <a:schemeClr val="accent5">
                    <a:lumMod val="50000"/>
                  </a:schemeClr>
                </a:solidFill>
              </a:rPr>
              <a:t>Step 3 Asking ethical questions </a:t>
            </a:r>
          </a:p>
        </p:txBody>
      </p:sp>
      <p:sp>
        <p:nvSpPr>
          <p:cNvPr id="15" name="Prostokąt 14"/>
          <p:cNvSpPr/>
          <p:nvPr/>
        </p:nvSpPr>
        <p:spPr>
          <a:xfrm>
            <a:off x="1775520" y="1124745"/>
            <a:ext cx="8690052" cy="461665"/>
          </a:xfrm>
          <a:prstGeom prst="rect">
            <a:avLst/>
          </a:prstGeom>
        </p:spPr>
        <p:txBody>
          <a:bodyPr wrap="square">
            <a:spAutoFit/>
          </a:bodyPr>
          <a:lstStyle/>
          <a:p>
            <a:r>
              <a:rPr lang="pl-PL" sz="2400" b="1" dirty="0" err="1">
                <a:solidFill>
                  <a:srgbClr val="4BACC6">
                    <a:lumMod val="50000"/>
                  </a:srgbClr>
                </a:solidFill>
                <a:latin typeface="Calibri"/>
              </a:rPr>
              <a:t>Intelligent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 </a:t>
            </a:r>
            <a:r>
              <a:rPr lang="pl-PL" sz="2400" b="1" dirty="0" err="1">
                <a:solidFill>
                  <a:srgbClr val="4BACC6">
                    <a:lumMod val="50000"/>
                  </a:srgbClr>
                </a:solidFill>
                <a:latin typeface="Calibri"/>
              </a:rPr>
              <a:t>efficient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and </a:t>
            </a:r>
            <a:r>
              <a:rPr lang="pl-PL" sz="2400" b="1" dirty="0" err="1">
                <a:solidFill>
                  <a:srgbClr val="4BACC6">
                    <a:lumMod val="50000"/>
                  </a:srgbClr>
                </a:solidFill>
                <a:latin typeface="Calibri"/>
              </a:rPr>
              <a:t>rationality</a:t>
            </a:r>
            <a:endParaRPr lang="pl-PL" sz="2400" b="1" dirty="0">
              <a:solidFill>
                <a:srgbClr val="4BACC6">
                  <a:lumMod val="50000"/>
                </a:srgbClr>
              </a:solidFill>
              <a:latin typeface="Calibri"/>
            </a:endParaRPr>
          </a:p>
        </p:txBody>
      </p:sp>
      <p:pic>
        <p:nvPicPr>
          <p:cNvPr id="4" name="Obraz 3"/>
          <p:cNvPicPr/>
          <p:nvPr/>
        </p:nvPicPr>
        <p:blipFill>
          <a:blip r:embed="rId2"/>
          <a:stretch>
            <a:fillRect/>
          </a:stretch>
        </p:blipFill>
        <p:spPr>
          <a:xfrm>
            <a:off x="1991544" y="1844824"/>
            <a:ext cx="8208912" cy="4464496"/>
          </a:xfrm>
          <a:prstGeom prst="rect">
            <a:avLst/>
          </a:prstGeom>
        </p:spPr>
      </p:pic>
    </p:spTree>
    <p:extLst>
      <p:ext uri="{BB962C8B-B14F-4D97-AF65-F5344CB8AC3E}">
        <p14:creationId xmlns:p14="http://schemas.microsoft.com/office/powerpoint/2010/main" val="3869671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271248" cy="1099744"/>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14" name="Prostokąt 13"/>
          <p:cNvSpPr/>
          <p:nvPr/>
        </p:nvSpPr>
        <p:spPr>
          <a:xfrm>
            <a:off x="1648344" y="2204865"/>
            <a:ext cx="8699921" cy="1015663"/>
          </a:xfrm>
          <a:prstGeom prst="rect">
            <a:avLst/>
          </a:prstGeom>
        </p:spPr>
        <p:txBody>
          <a:bodyPr wrap="square">
            <a:spAutoFit/>
          </a:bodyPr>
          <a:lstStyle/>
          <a:p>
            <a:pPr algn="just" fontAlgn="base">
              <a:spcBef>
                <a:spcPct val="0"/>
              </a:spcBef>
              <a:spcAft>
                <a:spcPct val="0"/>
              </a:spcAft>
            </a:pPr>
            <a:r>
              <a:rPr lang="en-GB" sz="2000" dirty="0">
                <a:solidFill>
                  <a:srgbClr val="4BACC6">
                    <a:lumMod val="50000"/>
                  </a:srgbClr>
                </a:solidFill>
                <a:latin typeface="Arial" pitchFamily="34" charset="0"/>
                <a:ea typeface="Times New Roman" pitchFamily="18" charset="0"/>
                <a:cs typeface="Times New Roman" pitchFamily="18" charset="0"/>
              </a:rPr>
              <a:t>R</a:t>
            </a:r>
            <a:r>
              <a:rPr lang="pl-PL" sz="2000" dirty="0">
                <a:solidFill>
                  <a:srgbClr val="4BACC6">
                    <a:lumMod val="50000"/>
                  </a:srgbClr>
                </a:solidFill>
                <a:latin typeface="Arial" pitchFamily="34" charset="0"/>
                <a:ea typeface="Times New Roman" pitchFamily="18" charset="0"/>
                <a:cs typeface="Times New Roman" pitchFamily="18" charset="0"/>
              </a:rPr>
              <a:t>o</a:t>
            </a:r>
            <a:r>
              <a:rPr lang="en-GB" sz="2000" dirty="0">
                <a:solidFill>
                  <a:srgbClr val="4BACC6">
                    <a:lumMod val="50000"/>
                  </a:srgbClr>
                </a:solidFill>
                <a:latin typeface="Arial" pitchFamily="34" charset="0"/>
                <a:ea typeface="Times New Roman" pitchFamily="18" charset="0"/>
                <a:cs typeface="Times New Roman" pitchFamily="18" charset="0"/>
              </a:rPr>
              <a:t>und 2</a:t>
            </a:r>
          </a:p>
          <a:p>
            <a:pPr algn="just" fontAlgn="base">
              <a:spcBef>
                <a:spcPct val="0"/>
              </a:spcBef>
              <a:spcAft>
                <a:spcPct val="0"/>
              </a:spcAft>
            </a:pPr>
            <a:r>
              <a:rPr lang="en-GB" sz="2000" dirty="0">
                <a:solidFill>
                  <a:srgbClr val="4BACC6">
                    <a:lumMod val="50000"/>
                  </a:srgbClr>
                </a:solidFill>
                <a:latin typeface="Arial" pitchFamily="34" charset="0"/>
                <a:ea typeface="Times New Roman" pitchFamily="18" charset="0"/>
                <a:cs typeface="Times New Roman" pitchFamily="18" charset="0"/>
              </a:rPr>
              <a:t>Divide 40 tokens: Hold X at 1 </a:t>
            </a:r>
            <a:r>
              <a:rPr lang="pl-PL" sz="2000" dirty="0">
                <a:solidFill>
                  <a:srgbClr val="4BACC6">
                    <a:lumMod val="50000"/>
                  </a:srgbClr>
                </a:solidFill>
                <a:latin typeface="Arial" pitchFamily="34" charset="0"/>
                <a:ea typeface="Times New Roman" pitchFamily="18" charset="0"/>
                <a:cs typeface="Times New Roman" pitchFamily="18" charset="0"/>
              </a:rPr>
              <a:t>$</a:t>
            </a:r>
            <a:r>
              <a:rPr lang="en-GB" sz="2000" dirty="0">
                <a:solidFill>
                  <a:srgbClr val="4BACC6">
                    <a:lumMod val="50000"/>
                  </a:srgbClr>
                </a:solidFill>
                <a:latin typeface="Arial" pitchFamily="34" charset="0"/>
                <a:ea typeface="Times New Roman" pitchFamily="18" charset="0"/>
                <a:cs typeface="Times New Roman" pitchFamily="18" charset="0"/>
              </a:rPr>
              <a:t> each, and Pass the rest of tokens at 3 </a:t>
            </a:r>
            <a:r>
              <a:rPr lang="pl-PL" sz="2000" dirty="0">
                <a:solidFill>
                  <a:srgbClr val="4BACC6">
                    <a:lumMod val="50000"/>
                  </a:srgbClr>
                </a:solidFill>
                <a:latin typeface="Arial" pitchFamily="34" charset="0"/>
                <a:ea typeface="Times New Roman" pitchFamily="18" charset="0"/>
                <a:cs typeface="Times New Roman" pitchFamily="18" charset="0"/>
              </a:rPr>
              <a:t>$</a:t>
            </a:r>
            <a:r>
              <a:rPr lang="en-GB" sz="2000" dirty="0">
                <a:solidFill>
                  <a:srgbClr val="4BACC6">
                    <a:lumMod val="50000"/>
                  </a:srgbClr>
                </a:solidFill>
                <a:latin typeface="Arial" pitchFamily="34" charset="0"/>
                <a:ea typeface="Times New Roman" pitchFamily="18" charset="0"/>
                <a:cs typeface="Times New Roman" pitchFamily="18" charset="0"/>
              </a:rPr>
              <a:t> each</a:t>
            </a:r>
          </a:p>
        </p:txBody>
      </p:sp>
      <p:sp>
        <p:nvSpPr>
          <p:cNvPr id="15" name="Prostokąt 14"/>
          <p:cNvSpPr/>
          <p:nvPr/>
        </p:nvSpPr>
        <p:spPr>
          <a:xfrm>
            <a:off x="1658212" y="1158656"/>
            <a:ext cx="7822164" cy="830997"/>
          </a:xfrm>
          <a:prstGeom prst="rect">
            <a:avLst/>
          </a:prstGeom>
        </p:spPr>
        <p:txBody>
          <a:bodyPr wrap="square">
            <a:spAutoFit/>
          </a:bodyPr>
          <a:lstStyle/>
          <a:p>
            <a:r>
              <a:rPr lang="pl-PL" sz="2400" b="1" dirty="0" err="1">
                <a:solidFill>
                  <a:srgbClr val="4BACC6">
                    <a:lumMod val="50000"/>
                  </a:srgbClr>
                </a:solidFill>
                <a:latin typeface="Calibri"/>
              </a:rPr>
              <a:t>Intelligent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 </a:t>
            </a:r>
            <a:r>
              <a:rPr lang="pl-PL" sz="2400" b="1" dirty="0" err="1">
                <a:solidFill>
                  <a:srgbClr val="4BACC6">
                    <a:lumMod val="50000"/>
                  </a:srgbClr>
                </a:solidFill>
                <a:latin typeface="Calibri"/>
              </a:rPr>
              <a:t>efficient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trap</a:t>
            </a:r>
          </a:p>
          <a:p>
            <a:r>
              <a:rPr lang="en-US" sz="2400" dirty="0">
                <a:solidFill>
                  <a:srgbClr val="4BACC6">
                    <a:lumMod val="50000"/>
                  </a:srgbClr>
                </a:solidFill>
                <a:latin typeface="Calibri"/>
              </a:rPr>
              <a:t>The best agent strategy is pass nothing</a:t>
            </a:r>
            <a:r>
              <a:rPr lang="pl-PL" sz="2400" dirty="0">
                <a:solidFill>
                  <a:srgbClr val="4BACC6">
                    <a:lumMod val="50000"/>
                  </a:srgbClr>
                </a:solidFill>
                <a:latin typeface="Calibri"/>
              </a:rPr>
              <a:t>.</a:t>
            </a:r>
            <a:endParaRPr lang="pl-PL" sz="2400" b="1" dirty="0">
              <a:solidFill>
                <a:srgbClr val="4BACC6">
                  <a:lumMod val="50000"/>
                </a:srgbClr>
              </a:solidFill>
              <a:latin typeface="Calibri"/>
            </a:endParaRPr>
          </a:p>
        </p:txBody>
      </p:sp>
      <p:graphicFrame>
        <p:nvGraphicFramePr>
          <p:cNvPr id="16" name="Tabela 15"/>
          <p:cNvGraphicFramePr>
            <a:graphicFrameLocks noGrp="1"/>
          </p:cNvGraphicFramePr>
          <p:nvPr/>
        </p:nvGraphicFramePr>
        <p:xfrm>
          <a:off x="2853013" y="3225590"/>
          <a:ext cx="6192687" cy="1188720"/>
        </p:xfrm>
        <a:graphic>
          <a:graphicData uri="http://schemas.openxmlformats.org/drawingml/2006/table">
            <a:tbl>
              <a:tblPr firstRow="1" bandRow="1">
                <a:tableStyleId>{2D5ABB26-0587-4C30-8999-92F81FD0307C}</a:tableStyleId>
              </a:tblPr>
              <a:tblGrid>
                <a:gridCol w="1925942">
                  <a:extLst>
                    <a:ext uri="{9D8B030D-6E8A-4147-A177-3AD203B41FA5}">
                      <a16:colId xmlns:a16="http://schemas.microsoft.com/office/drawing/2014/main" val="20000"/>
                    </a:ext>
                  </a:extLst>
                </a:gridCol>
                <a:gridCol w="2202516">
                  <a:extLst>
                    <a:ext uri="{9D8B030D-6E8A-4147-A177-3AD203B41FA5}">
                      <a16:colId xmlns:a16="http://schemas.microsoft.com/office/drawing/2014/main" val="20001"/>
                    </a:ext>
                  </a:extLst>
                </a:gridCol>
                <a:gridCol w="2064229">
                  <a:extLst>
                    <a:ext uri="{9D8B030D-6E8A-4147-A177-3AD203B41FA5}">
                      <a16:colId xmlns:a16="http://schemas.microsoft.com/office/drawing/2014/main" val="20002"/>
                    </a:ext>
                  </a:extLst>
                </a:gridCol>
              </a:tblGrid>
              <a:tr h="332027">
                <a:tc>
                  <a:txBody>
                    <a:bodyPr/>
                    <a:lstStyle/>
                    <a:p>
                      <a:pPr algn="ctr"/>
                      <a:endParaRPr lang="en-GB" sz="2000" b="1" dirty="0">
                        <a:solidFill>
                          <a:schemeClr val="accent5">
                            <a:lumMod val="50000"/>
                          </a:schemeClr>
                        </a:solidFill>
                      </a:endParaRPr>
                    </a:p>
                  </a:txBody>
                  <a:tcPr/>
                </a:tc>
                <a:tc>
                  <a:txBody>
                    <a:bodyPr/>
                    <a:lstStyle/>
                    <a:p>
                      <a:pPr algn="ctr"/>
                      <a:r>
                        <a:rPr lang="pl-PL" sz="2000" b="1" dirty="0">
                          <a:solidFill>
                            <a:schemeClr val="accent5">
                              <a:lumMod val="50000"/>
                            </a:schemeClr>
                          </a:solidFill>
                        </a:rPr>
                        <a:t>Pass </a:t>
                      </a:r>
                      <a:r>
                        <a:rPr lang="pl-PL" sz="2000" b="1" dirty="0" err="1">
                          <a:solidFill>
                            <a:schemeClr val="accent5">
                              <a:lumMod val="50000"/>
                            </a:schemeClr>
                          </a:solidFill>
                        </a:rPr>
                        <a:t>all</a:t>
                      </a:r>
                      <a:r>
                        <a:rPr lang="pl-PL" sz="2000" b="1" dirty="0">
                          <a:solidFill>
                            <a:schemeClr val="accent5">
                              <a:lumMod val="50000"/>
                            </a:schemeClr>
                          </a:solidFill>
                        </a:rPr>
                        <a:t> </a:t>
                      </a:r>
                      <a:r>
                        <a:rPr lang="pl-PL" sz="2000" b="1" dirty="0" err="1">
                          <a:solidFill>
                            <a:schemeClr val="accent5">
                              <a:lumMod val="50000"/>
                            </a:schemeClr>
                          </a:solidFill>
                        </a:rPr>
                        <a:t>tokens</a:t>
                      </a:r>
                      <a:r>
                        <a:rPr lang="pl-PL" sz="2000" b="1" dirty="0">
                          <a:solidFill>
                            <a:schemeClr val="accent5">
                              <a:lumMod val="50000"/>
                            </a:schemeClr>
                          </a:solidFill>
                        </a:rPr>
                        <a:t> </a:t>
                      </a:r>
                      <a:endParaRPr lang="en-GB" sz="2000" b="1" dirty="0">
                        <a:solidFill>
                          <a:schemeClr val="accent5">
                            <a:lumMod val="50000"/>
                          </a:schemeClr>
                        </a:solidFill>
                      </a:endParaRPr>
                    </a:p>
                  </a:txBody>
                  <a:tcPr/>
                </a:tc>
                <a:tc>
                  <a:txBody>
                    <a:bodyPr/>
                    <a:lstStyle/>
                    <a:p>
                      <a:pPr algn="ctr"/>
                      <a:r>
                        <a:rPr lang="pl-PL" sz="2000" b="1" dirty="0">
                          <a:solidFill>
                            <a:schemeClr val="accent5">
                              <a:lumMod val="50000"/>
                            </a:schemeClr>
                          </a:solidFill>
                        </a:rPr>
                        <a:t>Pass 0 </a:t>
                      </a:r>
                      <a:r>
                        <a:rPr lang="pl-PL" sz="2000" b="1" dirty="0" err="1">
                          <a:solidFill>
                            <a:schemeClr val="accent5">
                              <a:lumMod val="50000"/>
                            </a:schemeClr>
                          </a:solidFill>
                        </a:rPr>
                        <a:t>tokens</a:t>
                      </a:r>
                      <a:r>
                        <a:rPr lang="pl-PL" sz="2000" b="1" dirty="0">
                          <a:solidFill>
                            <a:schemeClr val="accent5">
                              <a:lumMod val="50000"/>
                            </a:schemeClr>
                          </a:solidFill>
                        </a:rPr>
                        <a:t> </a:t>
                      </a:r>
                      <a:endParaRPr lang="en-GB" sz="2000" b="1" dirty="0">
                        <a:solidFill>
                          <a:schemeClr val="accent5">
                            <a:lumMod val="50000"/>
                          </a:schemeClr>
                        </a:solidFill>
                      </a:endParaRPr>
                    </a:p>
                  </a:txBody>
                  <a:tcPr/>
                </a:tc>
                <a:extLst>
                  <a:ext uri="{0D108BD9-81ED-4DB2-BD59-A6C34878D82A}">
                    <a16:rowId xmlns:a16="http://schemas.microsoft.com/office/drawing/2014/main" val="10000"/>
                  </a:ext>
                </a:extLst>
              </a:tr>
              <a:tr h="33202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l-PL" sz="2000" b="1" dirty="0">
                          <a:solidFill>
                            <a:schemeClr val="accent5">
                              <a:lumMod val="50000"/>
                            </a:schemeClr>
                          </a:solidFill>
                        </a:rPr>
                        <a:t>Pass </a:t>
                      </a:r>
                      <a:r>
                        <a:rPr lang="pl-PL" sz="2000" b="1" dirty="0" err="1">
                          <a:solidFill>
                            <a:schemeClr val="accent5">
                              <a:lumMod val="50000"/>
                            </a:schemeClr>
                          </a:solidFill>
                        </a:rPr>
                        <a:t>all</a:t>
                      </a:r>
                      <a:r>
                        <a:rPr lang="pl-PL" sz="2000" b="1" dirty="0">
                          <a:solidFill>
                            <a:schemeClr val="accent5">
                              <a:lumMod val="50000"/>
                            </a:schemeClr>
                          </a:solidFill>
                        </a:rPr>
                        <a:t> </a:t>
                      </a:r>
                      <a:r>
                        <a:rPr lang="pl-PL" sz="2000" b="1" dirty="0" err="1">
                          <a:solidFill>
                            <a:schemeClr val="accent5">
                              <a:lumMod val="50000"/>
                            </a:schemeClr>
                          </a:solidFill>
                        </a:rPr>
                        <a:t>tokens</a:t>
                      </a:r>
                      <a:r>
                        <a:rPr lang="pl-PL" sz="2000" b="1" dirty="0">
                          <a:solidFill>
                            <a:schemeClr val="accent5">
                              <a:lumMod val="50000"/>
                            </a:schemeClr>
                          </a:solidFill>
                        </a:rPr>
                        <a:t> </a:t>
                      </a:r>
                      <a:endParaRPr lang="en-GB" sz="2000" b="1" dirty="0">
                        <a:solidFill>
                          <a:schemeClr val="accent5">
                            <a:lumMod val="50000"/>
                          </a:schemeClr>
                        </a:solidFill>
                      </a:endParaRPr>
                    </a:p>
                  </a:txBody>
                  <a:tcPr/>
                </a:tc>
                <a:tc>
                  <a:txBody>
                    <a:bodyPr/>
                    <a:lstStyle/>
                    <a:p>
                      <a:pPr algn="ctr"/>
                      <a:r>
                        <a:rPr lang="pl-PL" sz="2000" b="1" dirty="0">
                          <a:solidFill>
                            <a:schemeClr val="accent5">
                              <a:lumMod val="50000"/>
                            </a:schemeClr>
                          </a:solidFill>
                        </a:rPr>
                        <a:t>120 </a:t>
                      </a:r>
                      <a:r>
                        <a:rPr lang="pl-PL" sz="2000" b="1" baseline="0" dirty="0">
                          <a:solidFill>
                            <a:schemeClr val="accent5">
                              <a:lumMod val="50000"/>
                            </a:schemeClr>
                          </a:solidFill>
                        </a:rPr>
                        <a:t>    120</a:t>
                      </a:r>
                      <a:endParaRPr lang="en-GB" sz="2000" b="1" dirty="0">
                        <a:solidFill>
                          <a:schemeClr val="accent5">
                            <a:lumMod val="50000"/>
                          </a:schemeClr>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l-PL" sz="2000" b="1" dirty="0">
                          <a:solidFill>
                            <a:schemeClr val="accent5">
                              <a:lumMod val="50000"/>
                            </a:schemeClr>
                          </a:solidFill>
                        </a:rPr>
                        <a:t>0     160</a:t>
                      </a:r>
                      <a:endParaRPr lang="en-GB" sz="2000" b="1" dirty="0">
                        <a:solidFill>
                          <a:schemeClr val="accent5">
                            <a:lumMod val="50000"/>
                          </a:schemeClr>
                        </a:solidFill>
                      </a:endParaRPr>
                    </a:p>
                  </a:txBody>
                  <a:tcPr/>
                </a:tc>
                <a:extLst>
                  <a:ext uri="{0D108BD9-81ED-4DB2-BD59-A6C34878D82A}">
                    <a16:rowId xmlns:a16="http://schemas.microsoft.com/office/drawing/2014/main" val="10001"/>
                  </a:ext>
                </a:extLst>
              </a:tr>
              <a:tr h="348600">
                <a:tc>
                  <a:txBody>
                    <a:bodyPr/>
                    <a:lstStyle/>
                    <a:p>
                      <a:pPr algn="ctr"/>
                      <a:r>
                        <a:rPr lang="en-GB" sz="2000" b="1" dirty="0">
                          <a:solidFill>
                            <a:schemeClr val="accent5">
                              <a:lumMod val="50000"/>
                            </a:schemeClr>
                          </a:solidFill>
                        </a:rPr>
                        <a:t>Pass 0 tokens </a:t>
                      </a:r>
                    </a:p>
                  </a:txBody>
                  <a:tcPr/>
                </a:tc>
                <a:tc>
                  <a:txBody>
                    <a:bodyPr/>
                    <a:lstStyle/>
                    <a:p>
                      <a:pPr algn="ctr"/>
                      <a:r>
                        <a:rPr lang="pl-PL" sz="2000" b="1" dirty="0">
                          <a:solidFill>
                            <a:schemeClr val="accent5">
                              <a:lumMod val="50000"/>
                            </a:schemeClr>
                          </a:solidFill>
                        </a:rPr>
                        <a:t>160    </a:t>
                      </a:r>
                      <a:r>
                        <a:rPr lang="pl-PL" sz="2000" b="1" baseline="0" dirty="0">
                          <a:solidFill>
                            <a:schemeClr val="accent5">
                              <a:lumMod val="50000"/>
                            </a:schemeClr>
                          </a:solidFill>
                        </a:rPr>
                        <a:t> </a:t>
                      </a:r>
                      <a:r>
                        <a:rPr lang="pl-PL" sz="2000" b="1" dirty="0">
                          <a:solidFill>
                            <a:schemeClr val="accent5">
                              <a:lumMod val="50000"/>
                            </a:schemeClr>
                          </a:solidFill>
                        </a:rPr>
                        <a:t>0</a:t>
                      </a:r>
                      <a:endParaRPr lang="en-GB" sz="2000" b="1" dirty="0">
                        <a:solidFill>
                          <a:schemeClr val="accent5">
                            <a:lumMod val="50000"/>
                          </a:schemeClr>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pl-PL" sz="2000" b="1" dirty="0">
                          <a:solidFill>
                            <a:schemeClr val="accent5">
                              <a:lumMod val="50000"/>
                            </a:schemeClr>
                          </a:solidFill>
                        </a:rPr>
                        <a:t>40    40</a:t>
                      </a:r>
                      <a:endParaRPr lang="en-GB" sz="2000" b="1" dirty="0">
                        <a:solidFill>
                          <a:schemeClr val="accent5">
                            <a:lumMod val="50000"/>
                          </a:schemeClr>
                        </a:solidFill>
                      </a:endParaRPr>
                    </a:p>
                  </a:txBody>
                  <a:tcPr/>
                </a:tc>
                <a:extLst>
                  <a:ext uri="{0D108BD9-81ED-4DB2-BD59-A6C34878D82A}">
                    <a16:rowId xmlns:a16="http://schemas.microsoft.com/office/drawing/2014/main" val="10002"/>
                  </a:ext>
                </a:extLst>
              </a:tr>
            </a:tbl>
          </a:graphicData>
        </a:graphic>
      </p:graphicFrame>
      <p:sp>
        <p:nvSpPr>
          <p:cNvPr id="17" name="Elipsa 16"/>
          <p:cNvSpPr/>
          <p:nvPr/>
        </p:nvSpPr>
        <p:spPr>
          <a:xfrm>
            <a:off x="7965580" y="3945670"/>
            <a:ext cx="708650" cy="576064"/>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8" name="Elipsa 17"/>
          <p:cNvSpPr/>
          <p:nvPr/>
        </p:nvSpPr>
        <p:spPr>
          <a:xfrm>
            <a:off x="7389516" y="3945670"/>
            <a:ext cx="708650" cy="576064"/>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19" name="Elipsa 18"/>
          <p:cNvSpPr/>
          <p:nvPr/>
        </p:nvSpPr>
        <p:spPr>
          <a:xfrm>
            <a:off x="5084282" y="3513622"/>
            <a:ext cx="708650" cy="576064"/>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sp>
        <p:nvSpPr>
          <p:cNvPr id="20" name="Elipsa 19"/>
          <p:cNvSpPr/>
          <p:nvPr/>
        </p:nvSpPr>
        <p:spPr>
          <a:xfrm>
            <a:off x="5862006" y="3500489"/>
            <a:ext cx="708650" cy="576064"/>
          </a:xfrm>
          <a:prstGeom prst="ellipse">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latin typeface="Calibri"/>
            </a:endParaRPr>
          </a:p>
        </p:txBody>
      </p:sp>
      <p:cxnSp>
        <p:nvCxnSpPr>
          <p:cNvPr id="21" name="Łącznik prosty ze strzałką 20"/>
          <p:cNvCxnSpPr/>
          <p:nvPr/>
        </p:nvCxnSpPr>
        <p:spPr>
          <a:xfrm flipH="1">
            <a:off x="3018999" y="4008897"/>
            <a:ext cx="2395047" cy="1253465"/>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sp>
        <p:nvSpPr>
          <p:cNvPr id="22" name="Prostokąt 21"/>
          <p:cNvSpPr/>
          <p:nvPr/>
        </p:nvSpPr>
        <p:spPr>
          <a:xfrm>
            <a:off x="1913609" y="5183614"/>
            <a:ext cx="8169390" cy="523220"/>
          </a:xfrm>
          <a:prstGeom prst="rect">
            <a:avLst/>
          </a:prstGeom>
        </p:spPr>
        <p:txBody>
          <a:bodyPr wrap="square">
            <a:spAutoFit/>
          </a:bodyPr>
          <a:lstStyle/>
          <a:p>
            <a:r>
              <a:rPr lang="en-US" sz="2800" b="1" dirty="0">
                <a:solidFill>
                  <a:srgbClr val="4BACC6">
                    <a:lumMod val="50000"/>
                  </a:srgbClr>
                </a:solidFill>
                <a:latin typeface="Calibri" pitchFamily="34" charset="0"/>
              </a:rPr>
              <a:t>Social optimum -&gt; Social Wealth = 240</a:t>
            </a:r>
            <a:endParaRPr lang="pl-PL" sz="2800" b="1" dirty="0">
              <a:solidFill>
                <a:srgbClr val="4BACC6">
                  <a:lumMod val="50000"/>
                </a:srgbClr>
              </a:solidFill>
              <a:latin typeface="Calibri" pitchFamily="34" charset="0"/>
            </a:endParaRPr>
          </a:p>
        </p:txBody>
      </p:sp>
      <p:sp>
        <p:nvSpPr>
          <p:cNvPr id="23" name="Prostokąt 22"/>
          <p:cNvSpPr/>
          <p:nvPr/>
        </p:nvSpPr>
        <p:spPr>
          <a:xfrm>
            <a:off x="2146176" y="6076992"/>
            <a:ext cx="8211958" cy="523220"/>
          </a:xfrm>
          <a:prstGeom prst="rect">
            <a:avLst/>
          </a:prstGeom>
        </p:spPr>
        <p:txBody>
          <a:bodyPr wrap="square">
            <a:spAutoFit/>
          </a:bodyPr>
          <a:lstStyle/>
          <a:p>
            <a:r>
              <a:rPr lang="pl-PL" sz="2800" b="1" dirty="0" err="1">
                <a:solidFill>
                  <a:srgbClr val="4BACC6">
                    <a:lumMod val="50000"/>
                  </a:srgbClr>
                </a:solidFill>
                <a:latin typeface="Calibri" pitchFamily="34" charset="0"/>
              </a:rPr>
              <a:t>Nash</a:t>
            </a:r>
            <a:r>
              <a:rPr lang="pl-PL" sz="2800" b="1" dirty="0">
                <a:solidFill>
                  <a:srgbClr val="4BACC6">
                    <a:lumMod val="50000"/>
                  </a:srgbClr>
                </a:solidFill>
                <a:latin typeface="Calibri" pitchFamily="34" charset="0"/>
              </a:rPr>
              <a:t> </a:t>
            </a:r>
            <a:r>
              <a:rPr lang="en-US" sz="2800" b="1" dirty="0">
                <a:solidFill>
                  <a:srgbClr val="4BACC6">
                    <a:lumMod val="50000"/>
                  </a:srgbClr>
                </a:solidFill>
                <a:latin typeface="Calibri" pitchFamily="34" charset="0"/>
              </a:rPr>
              <a:t> </a:t>
            </a:r>
            <a:r>
              <a:rPr lang="pl-PL" sz="2800" b="1" dirty="0">
                <a:solidFill>
                  <a:srgbClr val="4BACC6">
                    <a:lumMod val="50000"/>
                  </a:srgbClr>
                </a:solidFill>
                <a:latin typeface="Calibri" pitchFamily="34" charset="0"/>
              </a:rPr>
              <a:t>EQ</a:t>
            </a:r>
            <a:r>
              <a:rPr lang="en-US" sz="2800" b="1" dirty="0">
                <a:solidFill>
                  <a:srgbClr val="4BACC6">
                    <a:lumMod val="50000"/>
                  </a:srgbClr>
                </a:solidFill>
                <a:latin typeface="Calibri" pitchFamily="34" charset="0"/>
              </a:rPr>
              <a:t>-&gt; Social Wealth = 80</a:t>
            </a:r>
            <a:endParaRPr lang="pl-PL" sz="2800" b="1" dirty="0">
              <a:solidFill>
                <a:srgbClr val="4BACC6">
                  <a:lumMod val="50000"/>
                </a:srgbClr>
              </a:solidFill>
              <a:latin typeface="Calibri" pitchFamily="34" charset="0"/>
            </a:endParaRPr>
          </a:p>
        </p:txBody>
      </p:sp>
      <p:cxnSp>
        <p:nvCxnSpPr>
          <p:cNvPr id="24" name="Łącznik prosty ze strzałką 23"/>
          <p:cNvCxnSpPr/>
          <p:nvPr/>
        </p:nvCxnSpPr>
        <p:spPr>
          <a:xfrm flipH="1">
            <a:off x="5113987" y="4521734"/>
            <a:ext cx="2629855" cy="1800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6388385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1999" cy="908720"/>
          </a:xfrm>
          <a:solidFill>
            <a:schemeClr val="accent5">
              <a:lumMod val="20000"/>
              <a:lumOff val="80000"/>
            </a:schemeClr>
          </a:solidFill>
        </p:spPr>
        <p:txBody>
          <a:bodyPr>
            <a:normAutofit/>
          </a:bodyPr>
          <a:lstStyle/>
          <a:p>
            <a:r>
              <a:rPr lang="en-US" sz="3600" b="1" dirty="0">
                <a:solidFill>
                  <a:schemeClr val="accent5">
                    <a:lumMod val="50000"/>
                  </a:schemeClr>
                </a:solidFill>
              </a:rPr>
              <a:t>Step 3 Asking ethical questions </a:t>
            </a:r>
          </a:p>
        </p:txBody>
      </p:sp>
      <p:sp>
        <p:nvSpPr>
          <p:cNvPr id="15" name="Prostokąt 14"/>
          <p:cNvSpPr/>
          <p:nvPr/>
        </p:nvSpPr>
        <p:spPr>
          <a:xfrm>
            <a:off x="155448" y="1340768"/>
            <a:ext cx="11759184" cy="3539430"/>
          </a:xfrm>
          <a:prstGeom prst="rect">
            <a:avLst/>
          </a:prstGeom>
        </p:spPr>
        <p:txBody>
          <a:bodyPr wrap="square">
            <a:spAutoFit/>
          </a:bodyPr>
          <a:lstStyle/>
          <a:p>
            <a:pPr algn="just"/>
            <a:r>
              <a:rPr lang="pl-PL" sz="2800" b="1" dirty="0" err="1">
                <a:solidFill>
                  <a:srgbClr val="4BACC6">
                    <a:lumMod val="50000"/>
                  </a:srgbClr>
                </a:solidFill>
                <a:latin typeface="Calibri"/>
              </a:rPr>
              <a:t>Intelligent</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 </a:t>
            </a:r>
            <a:r>
              <a:rPr lang="pl-PL" sz="2800" b="1" dirty="0" err="1">
                <a:solidFill>
                  <a:srgbClr val="4BACC6">
                    <a:lumMod val="50000"/>
                  </a:srgbClr>
                </a:solidFill>
                <a:latin typeface="Calibri"/>
              </a:rPr>
              <a:t>efficient</a:t>
            </a:r>
            <a:r>
              <a:rPr lang="pl-PL" sz="2800" b="1" dirty="0">
                <a:solidFill>
                  <a:srgbClr val="4BACC6">
                    <a:lumMod val="50000"/>
                  </a:srgbClr>
                </a:solidFill>
                <a:latin typeface="Calibri"/>
              </a:rPr>
              <a:t> </a:t>
            </a:r>
            <a:r>
              <a:rPr lang="pl-PL" sz="2800" b="1" dirty="0" err="1">
                <a:solidFill>
                  <a:srgbClr val="4BACC6">
                    <a:lumMod val="50000"/>
                  </a:srgbClr>
                </a:solidFill>
                <a:latin typeface="Calibri"/>
              </a:rPr>
              <a:t>altruism</a:t>
            </a:r>
            <a:r>
              <a:rPr lang="pl-PL" sz="2800" b="1" dirty="0">
                <a:solidFill>
                  <a:srgbClr val="4BACC6">
                    <a:lumMod val="50000"/>
                  </a:srgbClr>
                </a:solidFill>
                <a:latin typeface="Calibri"/>
              </a:rPr>
              <a:t>  trap*</a:t>
            </a:r>
          </a:p>
          <a:p>
            <a:pPr algn="just"/>
            <a:r>
              <a:rPr lang="en-US" sz="2800" dirty="0">
                <a:solidFill>
                  <a:srgbClr val="4BACC6">
                    <a:lumMod val="50000"/>
                  </a:srgbClr>
                </a:solidFill>
                <a:latin typeface="Calibri"/>
              </a:rPr>
              <a:t>Intelligent altruism is optimal for every agent, but only under the condition, all the group members recognize and respect this duty.</a:t>
            </a:r>
            <a:r>
              <a:rPr lang="pl-PL" sz="2800" dirty="0">
                <a:solidFill>
                  <a:srgbClr val="4BACC6">
                    <a:lumMod val="50000"/>
                  </a:srgbClr>
                </a:solidFill>
                <a:latin typeface="Calibri"/>
              </a:rPr>
              <a:t> </a:t>
            </a:r>
            <a:r>
              <a:rPr lang="en-US" sz="2800" dirty="0">
                <a:solidFill>
                  <a:srgbClr val="4BACC6">
                    <a:lumMod val="50000"/>
                  </a:srgbClr>
                </a:solidFill>
                <a:latin typeface="Calibri"/>
              </a:rPr>
              <a:t>The situation, in which only one person decides to pass all the tokens in the second round, and the rest of the participants act perfectly</a:t>
            </a:r>
            <a:r>
              <a:rPr lang="pl-PL" sz="2800" dirty="0">
                <a:solidFill>
                  <a:srgbClr val="4BACC6">
                    <a:lumMod val="50000"/>
                  </a:srgbClr>
                </a:solidFill>
                <a:latin typeface="Calibri"/>
              </a:rPr>
              <a:t> </a:t>
            </a:r>
            <a:r>
              <a:rPr lang="en-US" sz="2800" dirty="0">
                <a:solidFill>
                  <a:srgbClr val="4BACC6">
                    <a:lumMod val="50000"/>
                  </a:srgbClr>
                </a:solidFill>
                <a:latin typeface="Calibri"/>
              </a:rPr>
              <a:t>selfish, is desirable from the standpoint of utilitarianism</a:t>
            </a:r>
            <a:r>
              <a:rPr lang="pl-PL" sz="2800" dirty="0">
                <a:solidFill>
                  <a:srgbClr val="4BACC6">
                    <a:lumMod val="50000"/>
                  </a:srgbClr>
                </a:solidFill>
                <a:latin typeface="Calibri"/>
              </a:rPr>
              <a:t> as a </a:t>
            </a:r>
            <a:r>
              <a:rPr lang="pl-PL" sz="2800" dirty="0" err="1">
                <a:solidFill>
                  <a:srgbClr val="4BACC6">
                    <a:lumMod val="50000"/>
                  </a:srgbClr>
                </a:solidFill>
                <a:latin typeface="Calibri"/>
              </a:rPr>
              <a:t>good</a:t>
            </a:r>
            <a:r>
              <a:rPr lang="pl-PL" sz="2800" dirty="0">
                <a:solidFill>
                  <a:srgbClr val="4BACC6">
                    <a:lumMod val="50000"/>
                  </a:srgbClr>
                </a:solidFill>
                <a:latin typeface="Calibri"/>
              </a:rPr>
              <a:t> one</a:t>
            </a:r>
            <a:r>
              <a:rPr lang="en-US" sz="2800" dirty="0">
                <a:solidFill>
                  <a:srgbClr val="4BACC6">
                    <a:lumMod val="50000"/>
                  </a:srgbClr>
                </a:solidFill>
                <a:latin typeface="Calibri"/>
              </a:rPr>
              <a:t>. The fact that this person has no income does not matter: passing 40 tokens</a:t>
            </a:r>
            <a:r>
              <a:rPr lang="pl-PL" sz="2800" dirty="0">
                <a:solidFill>
                  <a:srgbClr val="4BACC6">
                    <a:lumMod val="50000"/>
                  </a:srgbClr>
                </a:solidFill>
                <a:latin typeface="Calibri"/>
              </a:rPr>
              <a:t> </a:t>
            </a:r>
            <a:r>
              <a:rPr lang="en-US" sz="2800" dirty="0">
                <a:solidFill>
                  <a:srgbClr val="4BACC6">
                    <a:lumMod val="50000"/>
                  </a:srgbClr>
                </a:solidFill>
                <a:latin typeface="Calibri"/>
              </a:rPr>
              <a:t>still increases </a:t>
            </a:r>
            <a:r>
              <a:rPr lang="pl-PL" sz="2800" dirty="0" err="1">
                <a:solidFill>
                  <a:srgbClr val="4BACC6">
                    <a:lumMod val="50000"/>
                  </a:srgbClr>
                </a:solidFill>
                <a:latin typeface="Calibri"/>
              </a:rPr>
              <a:t>social</a:t>
            </a:r>
            <a:r>
              <a:rPr lang="en-US" sz="2800" dirty="0">
                <a:solidFill>
                  <a:srgbClr val="4BACC6">
                    <a:lumMod val="50000"/>
                  </a:srgbClr>
                </a:solidFill>
                <a:latin typeface="Calibri"/>
              </a:rPr>
              <a:t> utility by 80$. However, the utility of the only altruistic person will be zero. </a:t>
            </a:r>
          </a:p>
        </p:txBody>
      </p:sp>
      <p:sp>
        <p:nvSpPr>
          <p:cNvPr id="3" name="Prostokąt 2"/>
          <p:cNvSpPr/>
          <p:nvPr/>
        </p:nvSpPr>
        <p:spPr>
          <a:xfrm>
            <a:off x="448056" y="5678732"/>
            <a:ext cx="9660510" cy="646331"/>
          </a:xfrm>
          <a:prstGeom prst="rect">
            <a:avLst/>
          </a:prstGeom>
        </p:spPr>
        <p:txBody>
          <a:bodyPr wrap="square">
            <a:spAutoFit/>
          </a:bodyPr>
          <a:lstStyle/>
          <a:p>
            <a:pPr algn="just"/>
            <a:r>
              <a:rPr lang="pl-PL" dirty="0">
                <a:solidFill>
                  <a:srgbClr val="4BACC6">
                    <a:lumMod val="50000"/>
                  </a:srgbClr>
                </a:solidFill>
                <a:latin typeface="Calibri"/>
              </a:rPr>
              <a:t>* </a:t>
            </a:r>
            <a:r>
              <a:rPr lang="en-US" dirty="0">
                <a:solidFill>
                  <a:srgbClr val="4BACC6">
                    <a:lumMod val="50000"/>
                  </a:srgbClr>
                </a:solidFill>
                <a:latin typeface="Calibri"/>
              </a:rPr>
              <a:t>modification of Michael </a:t>
            </a:r>
            <a:r>
              <a:rPr lang="en-US" dirty="0" err="1">
                <a:solidFill>
                  <a:srgbClr val="4BACC6">
                    <a:lumMod val="50000"/>
                  </a:srgbClr>
                </a:solidFill>
                <a:latin typeface="Calibri"/>
              </a:rPr>
              <a:t>Sandel's</a:t>
            </a:r>
            <a:r>
              <a:rPr lang="en-US" dirty="0">
                <a:solidFill>
                  <a:srgbClr val="4BACC6">
                    <a:lumMod val="50000"/>
                  </a:srgbClr>
                </a:solidFill>
                <a:latin typeface="Calibri"/>
              </a:rPr>
              <a:t> argument</a:t>
            </a:r>
            <a:r>
              <a:rPr lang="pl-PL" dirty="0">
                <a:solidFill>
                  <a:srgbClr val="4BACC6">
                    <a:lumMod val="50000"/>
                  </a:srgbClr>
                </a:solidFill>
                <a:latin typeface="Calibri"/>
              </a:rPr>
              <a:t> </a:t>
            </a:r>
            <a:r>
              <a:rPr lang="en-US" dirty="0">
                <a:solidFill>
                  <a:srgbClr val="4BACC6">
                    <a:lumMod val="50000"/>
                  </a:srgbClr>
                </a:solidFill>
                <a:latin typeface="Calibri"/>
              </a:rPr>
              <a:t>against utilitarianism (gladiator in the Roman circus</a:t>
            </a:r>
            <a:r>
              <a:rPr lang="en-US" dirty="0">
                <a:solidFill>
                  <a:srgbClr val="4BACC6">
                    <a:lumMod val="50000"/>
                  </a:srgbClr>
                </a:solidFill>
              </a:rPr>
              <a:t>) http://www.coursehero.org/lecture/how-much-life-worth</a:t>
            </a:r>
            <a:endParaRPr lang="en-US" dirty="0">
              <a:solidFill>
                <a:srgbClr val="4BACC6">
                  <a:lumMod val="50000"/>
                </a:srgbClr>
              </a:solidFill>
              <a:latin typeface="Calibri"/>
            </a:endParaRPr>
          </a:p>
        </p:txBody>
      </p:sp>
    </p:spTree>
    <p:extLst>
      <p:ext uri="{BB962C8B-B14F-4D97-AF65-F5344CB8AC3E}">
        <p14:creationId xmlns:p14="http://schemas.microsoft.com/office/powerpoint/2010/main" val="28858829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1999" cy="908720"/>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15" name="Prostokąt 14"/>
          <p:cNvSpPr/>
          <p:nvPr/>
        </p:nvSpPr>
        <p:spPr>
          <a:xfrm>
            <a:off x="411479" y="1076924"/>
            <a:ext cx="11369039" cy="2308324"/>
          </a:xfrm>
          <a:prstGeom prst="rect">
            <a:avLst/>
          </a:prstGeom>
        </p:spPr>
        <p:txBody>
          <a:bodyPr wrap="square">
            <a:spAutoFit/>
          </a:bodyPr>
          <a:lstStyle/>
          <a:p>
            <a:pPr algn="just"/>
            <a:r>
              <a:rPr lang="pl-PL" sz="2400" b="1" dirty="0" err="1">
                <a:solidFill>
                  <a:srgbClr val="4BACC6">
                    <a:lumMod val="50000"/>
                  </a:srgbClr>
                </a:solidFill>
                <a:latin typeface="Calibri"/>
              </a:rPr>
              <a:t>Intelligent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 </a:t>
            </a:r>
            <a:r>
              <a:rPr lang="pl-PL" sz="2400" b="1" dirty="0" err="1">
                <a:solidFill>
                  <a:srgbClr val="4BACC6">
                    <a:lumMod val="50000"/>
                  </a:srgbClr>
                </a:solidFill>
                <a:latin typeface="Calibri"/>
              </a:rPr>
              <a:t>efficient</a:t>
            </a:r>
            <a:r>
              <a:rPr lang="pl-PL" sz="2400" b="1" dirty="0">
                <a:solidFill>
                  <a:srgbClr val="4BACC6">
                    <a:lumMod val="50000"/>
                  </a:srgbClr>
                </a:solidFill>
                <a:latin typeface="Calibri"/>
              </a:rPr>
              <a:t> </a:t>
            </a:r>
            <a:r>
              <a:rPr lang="pl-PL" sz="2400" b="1" dirty="0" err="1">
                <a:solidFill>
                  <a:srgbClr val="4BACC6">
                    <a:lumMod val="50000"/>
                  </a:srgbClr>
                </a:solidFill>
                <a:latin typeface="Calibri"/>
              </a:rPr>
              <a:t>altruism</a:t>
            </a:r>
            <a:r>
              <a:rPr lang="pl-PL" sz="2400" b="1" dirty="0">
                <a:solidFill>
                  <a:srgbClr val="4BACC6">
                    <a:lumMod val="50000"/>
                  </a:srgbClr>
                </a:solidFill>
                <a:latin typeface="Calibri"/>
              </a:rPr>
              <a:t>  trap </a:t>
            </a:r>
            <a:r>
              <a:rPr lang="pl-PL" sz="2400" b="1" dirty="0" err="1">
                <a:solidFill>
                  <a:srgbClr val="4BACC6">
                    <a:lumMod val="50000"/>
                  </a:srgbClr>
                </a:solidFill>
                <a:latin typeface="Calibri"/>
              </a:rPr>
              <a:t>solution</a:t>
            </a:r>
            <a:endParaRPr lang="pl-PL" sz="2400" b="1" dirty="0">
              <a:solidFill>
                <a:srgbClr val="4BACC6">
                  <a:lumMod val="50000"/>
                </a:srgbClr>
              </a:solidFill>
              <a:latin typeface="Calibri"/>
            </a:endParaRPr>
          </a:p>
          <a:p>
            <a:pPr algn="just"/>
            <a:r>
              <a:rPr lang="en-US" sz="2400" dirty="0">
                <a:solidFill>
                  <a:srgbClr val="4BACC6">
                    <a:lumMod val="50000"/>
                  </a:srgbClr>
                </a:solidFill>
                <a:latin typeface="Calibri"/>
              </a:rPr>
              <a:t>In order to make sure that</a:t>
            </a:r>
            <a:r>
              <a:rPr lang="pl-PL" sz="2400" dirty="0">
                <a:solidFill>
                  <a:srgbClr val="4BACC6">
                    <a:lumMod val="50000"/>
                  </a:srgbClr>
                </a:solidFill>
                <a:latin typeface="Calibri"/>
              </a:rPr>
              <a:t> </a:t>
            </a:r>
            <a:r>
              <a:rPr lang="en-US" sz="2400" dirty="0">
                <a:solidFill>
                  <a:srgbClr val="4BACC6">
                    <a:lumMod val="50000"/>
                  </a:srgbClr>
                </a:solidFill>
                <a:latin typeface="Calibri"/>
              </a:rPr>
              <a:t>consequentialist altruism is not only beneficial for the group, but also does not hurt single economic agents, other moral duties and/or</a:t>
            </a:r>
            <a:r>
              <a:rPr lang="pl-PL" sz="2400" dirty="0">
                <a:solidFill>
                  <a:srgbClr val="4BACC6">
                    <a:lumMod val="50000"/>
                  </a:srgbClr>
                </a:solidFill>
                <a:latin typeface="Calibri"/>
              </a:rPr>
              <a:t> </a:t>
            </a:r>
            <a:r>
              <a:rPr lang="en-US" sz="2400" dirty="0">
                <a:solidFill>
                  <a:srgbClr val="4BACC6">
                    <a:lumMod val="50000"/>
                  </a:srgbClr>
                </a:solidFill>
                <a:latin typeface="Calibri"/>
              </a:rPr>
              <a:t>social norms should be introduced which </a:t>
            </a:r>
            <a:r>
              <a:rPr lang="pl-PL" sz="2400" dirty="0">
                <a:solidFill>
                  <a:srgbClr val="4BACC6">
                    <a:lumMod val="50000"/>
                  </a:srgbClr>
                </a:solidFill>
                <a:latin typeface="Calibri"/>
              </a:rPr>
              <a:t> </a:t>
            </a:r>
            <a:r>
              <a:rPr lang="en-US" sz="2400" dirty="0">
                <a:solidFill>
                  <a:srgbClr val="4BACC6">
                    <a:lumMod val="50000"/>
                  </a:srgbClr>
                </a:solidFill>
                <a:latin typeface="Calibri"/>
              </a:rPr>
              <a:t>prevent the situation described above. A. Smith (1761) </a:t>
            </a:r>
            <a:r>
              <a:rPr lang="en-US" sz="2400" dirty="0" err="1">
                <a:solidFill>
                  <a:srgbClr val="4BACC6">
                    <a:lumMod val="50000"/>
                  </a:srgbClr>
                </a:solidFill>
                <a:latin typeface="Calibri"/>
              </a:rPr>
              <a:t>recognised</a:t>
            </a:r>
            <a:r>
              <a:rPr lang="en-US" sz="2400" dirty="0">
                <a:solidFill>
                  <a:srgbClr val="4BACC6">
                    <a:lumMod val="50000"/>
                  </a:srgbClr>
                </a:solidFill>
                <a:latin typeface="Calibri"/>
              </a:rPr>
              <a:t> the existence of sympathy,</a:t>
            </a:r>
            <a:r>
              <a:rPr lang="pl-PL" sz="2400" dirty="0">
                <a:solidFill>
                  <a:srgbClr val="4BACC6">
                    <a:lumMod val="50000"/>
                  </a:srgbClr>
                </a:solidFill>
                <a:latin typeface="Calibri"/>
              </a:rPr>
              <a:t> </a:t>
            </a:r>
            <a:r>
              <a:rPr lang="en-US" sz="2400" dirty="0">
                <a:solidFill>
                  <a:srgbClr val="4BACC6">
                    <a:lumMod val="50000"/>
                  </a:srgbClr>
                </a:solidFill>
                <a:latin typeface="Calibri"/>
              </a:rPr>
              <a:t>stating that no human beings enjoy the sufferings of others</a:t>
            </a:r>
            <a:r>
              <a:rPr lang="pl-PL" sz="2400" dirty="0">
                <a:solidFill>
                  <a:srgbClr val="4BACC6">
                    <a:lumMod val="50000"/>
                  </a:srgbClr>
                </a:solidFill>
                <a:latin typeface="Calibri"/>
              </a:rPr>
              <a:t>. </a:t>
            </a:r>
            <a:r>
              <a:rPr lang="en-US" sz="2400" dirty="0">
                <a:solidFill>
                  <a:srgbClr val="4BACC6">
                    <a:lumMod val="50000"/>
                  </a:srgbClr>
                </a:solidFill>
                <a:latin typeface="Calibri"/>
              </a:rPr>
              <a:t>We need to include </a:t>
            </a:r>
            <a:r>
              <a:rPr lang="pl-PL" sz="2400" dirty="0">
                <a:solidFill>
                  <a:srgbClr val="4BACC6">
                    <a:lumMod val="50000"/>
                  </a:srgbClr>
                </a:solidFill>
                <a:latin typeface="Calibri"/>
              </a:rPr>
              <a:t>M</a:t>
            </a:r>
            <a:r>
              <a:rPr lang="en-US" sz="2400" dirty="0">
                <a:solidFill>
                  <a:srgbClr val="4BACC6">
                    <a:lumMod val="50000"/>
                  </a:srgbClr>
                </a:solidFill>
                <a:latin typeface="Calibri"/>
              </a:rPr>
              <a:t>oral </a:t>
            </a:r>
            <a:r>
              <a:rPr lang="pl-PL" sz="2400" dirty="0">
                <a:solidFill>
                  <a:srgbClr val="4BACC6">
                    <a:lumMod val="50000"/>
                  </a:srgbClr>
                </a:solidFill>
                <a:latin typeface="Calibri"/>
              </a:rPr>
              <a:t>S</a:t>
            </a:r>
            <a:r>
              <a:rPr lang="en-US" sz="2400" dirty="0" err="1">
                <a:solidFill>
                  <a:srgbClr val="4BACC6">
                    <a:lumMod val="50000"/>
                  </a:srgbClr>
                </a:solidFill>
                <a:latin typeface="Calibri"/>
              </a:rPr>
              <a:t>entiment</a:t>
            </a:r>
            <a:r>
              <a:rPr lang="en-US" sz="2400" dirty="0">
                <a:solidFill>
                  <a:srgbClr val="4BACC6">
                    <a:lumMod val="50000"/>
                  </a:srgbClr>
                </a:solidFill>
                <a:latin typeface="Calibri"/>
              </a:rPr>
              <a:t> </a:t>
            </a:r>
            <a:r>
              <a:rPr lang="pl-PL" sz="2400" dirty="0">
                <a:solidFill>
                  <a:srgbClr val="4BACC6">
                    <a:lumMod val="50000"/>
                  </a:srgbClr>
                </a:solidFill>
                <a:latin typeface="Calibri"/>
              </a:rPr>
              <a:t>in</a:t>
            </a:r>
            <a:r>
              <a:rPr lang="en-US" sz="2400" dirty="0">
                <a:solidFill>
                  <a:srgbClr val="4BACC6">
                    <a:lumMod val="50000"/>
                  </a:srgbClr>
                </a:solidFill>
                <a:latin typeface="Calibri"/>
              </a:rPr>
              <a:t>to economics.</a:t>
            </a:r>
            <a:r>
              <a:rPr lang="pl-PL" sz="2400" dirty="0">
                <a:solidFill>
                  <a:srgbClr val="4BACC6">
                    <a:lumMod val="50000"/>
                  </a:srgbClr>
                </a:solidFill>
                <a:latin typeface="Calibri"/>
              </a:rPr>
              <a:t> (V. </a:t>
            </a:r>
            <a:r>
              <a:rPr lang="pl-PL" sz="2400" dirty="0" err="1">
                <a:solidFill>
                  <a:srgbClr val="4BACC6">
                    <a:lumMod val="50000"/>
                  </a:srgbClr>
                </a:solidFill>
                <a:latin typeface="Calibri"/>
              </a:rPr>
              <a:t>Smith</a:t>
            </a:r>
            <a:r>
              <a:rPr lang="pl-PL" sz="2400" dirty="0">
                <a:solidFill>
                  <a:srgbClr val="4BACC6">
                    <a:lumMod val="50000"/>
                  </a:srgbClr>
                </a:solidFill>
                <a:latin typeface="Calibri"/>
              </a:rPr>
              <a:t>, 2019)</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5" y="4180862"/>
            <a:ext cx="6624067" cy="242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Prostokąt 1"/>
          <p:cNvSpPr/>
          <p:nvPr/>
        </p:nvSpPr>
        <p:spPr>
          <a:xfrm>
            <a:off x="6854841" y="4286286"/>
            <a:ext cx="3483646" cy="369332"/>
          </a:xfrm>
          <a:prstGeom prst="rect">
            <a:avLst/>
          </a:prstGeom>
        </p:spPr>
        <p:txBody>
          <a:bodyPr wrap="none">
            <a:spAutoFit/>
          </a:bodyPr>
          <a:lstStyle/>
          <a:p>
            <a:r>
              <a:rPr lang="pl-PL" dirty="0">
                <a:solidFill>
                  <a:srgbClr val="4BACC6">
                    <a:lumMod val="50000"/>
                  </a:srgbClr>
                </a:solidFill>
                <a:latin typeface="Calibri"/>
              </a:rPr>
              <a:t>https://books.google.com/ngrams/</a:t>
            </a:r>
          </a:p>
        </p:txBody>
      </p:sp>
    </p:spTree>
    <p:extLst>
      <p:ext uri="{BB962C8B-B14F-4D97-AF65-F5344CB8AC3E}">
        <p14:creationId xmlns:p14="http://schemas.microsoft.com/office/powerpoint/2010/main" val="1055436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1999" cy="908720"/>
          </a:xfrm>
          <a:solidFill>
            <a:schemeClr val="accent5">
              <a:lumMod val="20000"/>
              <a:lumOff val="80000"/>
            </a:schemeClr>
          </a:solidFill>
        </p:spPr>
        <p:txBody>
          <a:bodyPr>
            <a:normAutofit/>
          </a:bodyPr>
          <a:lstStyle/>
          <a:p>
            <a:r>
              <a:rPr lang="en-US" sz="3600" b="1" dirty="0">
                <a:solidFill>
                  <a:schemeClr val="accent5">
                    <a:lumMod val="50000"/>
                  </a:schemeClr>
                </a:solidFill>
              </a:rPr>
              <a:t>Asking ethical questions </a:t>
            </a:r>
          </a:p>
        </p:txBody>
      </p:sp>
      <p:sp>
        <p:nvSpPr>
          <p:cNvPr id="4" name="Prostokąt 3"/>
          <p:cNvSpPr/>
          <p:nvPr/>
        </p:nvSpPr>
        <p:spPr>
          <a:xfrm>
            <a:off x="5207783" y="1633274"/>
            <a:ext cx="6827132" cy="461665"/>
          </a:xfrm>
          <a:prstGeom prst="rect">
            <a:avLst/>
          </a:prstGeom>
        </p:spPr>
        <p:txBody>
          <a:bodyPr wrap="square">
            <a:spAutoFit/>
          </a:bodyPr>
          <a:lstStyle/>
          <a:p>
            <a:r>
              <a:rPr lang="pl-PL" sz="2400" b="1" dirty="0">
                <a:solidFill>
                  <a:schemeClr val="accent5">
                    <a:lumMod val="50000"/>
                  </a:schemeClr>
                </a:solidFill>
              </a:rPr>
              <a:t>S</a:t>
            </a:r>
            <a:r>
              <a:rPr lang="en-CA" sz="2400" b="1" dirty="0" err="1">
                <a:solidFill>
                  <a:schemeClr val="accent5">
                    <a:lumMod val="50000"/>
                  </a:schemeClr>
                </a:solidFill>
              </a:rPr>
              <a:t>i</a:t>
            </a:r>
            <a:r>
              <a:rPr lang="pl-PL" sz="2400" b="1" dirty="0" err="1">
                <a:solidFill>
                  <a:schemeClr val="accent5">
                    <a:lumMod val="50000"/>
                  </a:schemeClr>
                </a:solidFill>
              </a:rPr>
              <a:t>mulation</a:t>
            </a:r>
            <a:r>
              <a:rPr lang="pl-PL" sz="2400" b="1" dirty="0">
                <a:solidFill>
                  <a:schemeClr val="accent5">
                    <a:lumMod val="50000"/>
                  </a:schemeClr>
                </a:solidFill>
              </a:rPr>
              <a:t> Agent </a:t>
            </a:r>
            <a:r>
              <a:rPr lang="pl-PL" sz="2400" b="1" dirty="0" err="1">
                <a:solidFill>
                  <a:schemeClr val="accent5">
                    <a:lumMod val="50000"/>
                  </a:schemeClr>
                </a:solidFill>
              </a:rPr>
              <a:t>Based</a:t>
            </a:r>
            <a:r>
              <a:rPr lang="pl-PL" sz="2400" b="1" dirty="0">
                <a:solidFill>
                  <a:schemeClr val="accent5">
                    <a:lumMod val="50000"/>
                  </a:schemeClr>
                </a:solidFill>
              </a:rPr>
              <a:t> </a:t>
            </a:r>
            <a:r>
              <a:rPr lang="pl-PL" sz="2400" b="1" dirty="0" err="1">
                <a:solidFill>
                  <a:schemeClr val="accent5">
                    <a:lumMod val="50000"/>
                  </a:schemeClr>
                </a:solidFill>
              </a:rPr>
              <a:t>Economic</a:t>
            </a:r>
            <a:r>
              <a:rPr lang="pl-PL" sz="2400" b="1" dirty="0">
                <a:solidFill>
                  <a:schemeClr val="accent5">
                    <a:lumMod val="50000"/>
                  </a:schemeClr>
                </a:solidFill>
              </a:rPr>
              <a:t> – </a:t>
            </a:r>
            <a:r>
              <a:rPr lang="pl-PL" sz="2400" b="1" dirty="0" err="1">
                <a:solidFill>
                  <a:schemeClr val="accent5">
                    <a:lumMod val="50000"/>
                  </a:schemeClr>
                </a:solidFill>
              </a:rPr>
              <a:t>Iterated</a:t>
            </a:r>
            <a:r>
              <a:rPr lang="pl-PL" sz="2400" b="1" dirty="0">
                <a:solidFill>
                  <a:schemeClr val="accent5">
                    <a:lumMod val="50000"/>
                  </a:schemeClr>
                </a:solidFill>
              </a:rPr>
              <a:t> PD</a:t>
            </a:r>
            <a:endParaRPr lang="pl-PL" sz="2400" b="1" dirty="0">
              <a:solidFill>
                <a:schemeClr val="accent5">
                  <a:lumMod val="50000"/>
                </a:schemeClr>
              </a:solidFill>
              <a:latin typeface="Calibri" pitchFamily="34" charset="0"/>
            </a:endParaRPr>
          </a:p>
        </p:txBody>
      </p:sp>
      <p:pic>
        <p:nvPicPr>
          <p:cNvPr id="6" name="Picture 2"/>
          <p:cNvPicPr>
            <a:picLocks noChangeAspect="1" noChangeArrowheads="1"/>
          </p:cNvPicPr>
          <p:nvPr/>
        </p:nvPicPr>
        <p:blipFill>
          <a:blip r:embed="rId2" cstate="print"/>
          <a:srcRect/>
          <a:stretch>
            <a:fillRect/>
          </a:stretch>
        </p:blipFill>
        <p:spPr bwMode="auto">
          <a:xfrm>
            <a:off x="5942854" y="2119901"/>
            <a:ext cx="4555059" cy="2804542"/>
          </a:xfrm>
          <a:prstGeom prst="rect">
            <a:avLst/>
          </a:prstGeom>
          <a:noFill/>
          <a:ln w="9525">
            <a:noFill/>
            <a:miter lim="800000"/>
            <a:headEnd/>
            <a:tailEnd/>
          </a:ln>
        </p:spPr>
      </p:pic>
      <p:sp>
        <p:nvSpPr>
          <p:cNvPr id="7" name="Prostokąt 6"/>
          <p:cNvSpPr/>
          <p:nvPr/>
        </p:nvSpPr>
        <p:spPr>
          <a:xfrm>
            <a:off x="704144" y="4314677"/>
            <a:ext cx="4968552" cy="369332"/>
          </a:xfrm>
          <a:prstGeom prst="rect">
            <a:avLst/>
          </a:prstGeom>
        </p:spPr>
        <p:txBody>
          <a:bodyPr wrap="square">
            <a:spAutoFit/>
          </a:bodyPr>
          <a:lstStyle/>
          <a:p>
            <a:r>
              <a:rPr lang="pl-PL" b="1" dirty="0" err="1">
                <a:solidFill>
                  <a:schemeClr val="accent5">
                    <a:lumMod val="50000"/>
                  </a:schemeClr>
                </a:solidFill>
              </a:rPr>
              <a:t>Change</a:t>
            </a:r>
            <a:r>
              <a:rPr lang="pl-PL" b="1" dirty="0">
                <a:solidFill>
                  <a:schemeClr val="accent5">
                    <a:lumMod val="50000"/>
                  </a:schemeClr>
                </a:solidFill>
              </a:rPr>
              <a:t> </a:t>
            </a:r>
            <a:r>
              <a:rPr lang="pl-PL" b="1" dirty="0" err="1">
                <a:solidFill>
                  <a:schemeClr val="accent5">
                    <a:lumMod val="50000"/>
                  </a:schemeClr>
                </a:solidFill>
              </a:rPr>
              <a:t>the</a:t>
            </a:r>
            <a:r>
              <a:rPr lang="pl-PL" b="1" dirty="0">
                <a:solidFill>
                  <a:schemeClr val="accent5">
                    <a:lumMod val="50000"/>
                  </a:schemeClr>
                </a:solidFill>
              </a:rPr>
              <a:t> </a:t>
            </a:r>
            <a:r>
              <a:rPr lang="pl-PL" b="1" dirty="0" err="1">
                <a:solidFill>
                  <a:schemeClr val="accent5">
                    <a:lumMod val="50000"/>
                  </a:schemeClr>
                </a:solidFill>
              </a:rPr>
              <a:t>structure</a:t>
            </a:r>
            <a:r>
              <a:rPr lang="pl-PL" b="1" dirty="0">
                <a:solidFill>
                  <a:schemeClr val="accent5">
                    <a:lumMod val="50000"/>
                  </a:schemeClr>
                </a:solidFill>
              </a:rPr>
              <a:t> of </a:t>
            </a:r>
            <a:r>
              <a:rPr lang="pl-PL" b="1" dirty="0" err="1">
                <a:solidFill>
                  <a:schemeClr val="accent5">
                    <a:lumMod val="50000"/>
                  </a:schemeClr>
                </a:solidFill>
              </a:rPr>
              <a:t>society</a:t>
            </a:r>
            <a:endParaRPr lang="pl-PL" b="1" dirty="0">
              <a:solidFill>
                <a:schemeClr val="accent5">
                  <a:lumMod val="50000"/>
                </a:schemeClr>
              </a:solidFill>
              <a:latin typeface="Calibri" pitchFamily="34" charset="0"/>
            </a:endParaRPr>
          </a:p>
        </p:txBody>
      </p:sp>
      <p:sp>
        <p:nvSpPr>
          <p:cNvPr id="8" name="Prostokąt 7"/>
          <p:cNvSpPr/>
          <p:nvPr/>
        </p:nvSpPr>
        <p:spPr>
          <a:xfrm>
            <a:off x="596132" y="2029636"/>
            <a:ext cx="5184576" cy="2246769"/>
          </a:xfrm>
          <a:prstGeom prst="rect">
            <a:avLst/>
          </a:prstGeom>
        </p:spPr>
        <p:txBody>
          <a:bodyPr wrap="square">
            <a:spAutoFit/>
          </a:bodyPr>
          <a:lstStyle/>
          <a:p>
            <a:r>
              <a:rPr lang="en-US" sz="1400" b="1" dirty="0">
                <a:solidFill>
                  <a:schemeClr val="accent5">
                    <a:lumMod val="50000"/>
                  </a:schemeClr>
                </a:solidFill>
              </a:rPr>
              <a:t>Strategies:</a:t>
            </a:r>
          </a:p>
          <a:p>
            <a:pPr marL="265113" indent="-265113">
              <a:buFont typeface="Arial" pitchFamily="34" charset="0"/>
              <a:buChar char="•"/>
            </a:pPr>
            <a:r>
              <a:rPr lang="en-US" sz="1400" b="1" dirty="0">
                <a:solidFill>
                  <a:schemeClr val="accent5">
                    <a:lumMod val="50000"/>
                  </a:schemeClr>
                </a:solidFill>
              </a:rPr>
              <a:t>RANDOM - randomly cooperate or defect</a:t>
            </a:r>
            <a:endParaRPr lang="pl-PL" sz="1400" b="1" dirty="0">
              <a:solidFill>
                <a:schemeClr val="accent5">
                  <a:lumMod val="50000"/>
                </a:schemeClr>
              </a:solidFill>
            </a:endParaRPr>
          </a:p>
          <a:p>
            <a:pPr marL="265113" indent="-265113">
              <a:buFont typeface="Arial" pitchFamily="34" charset="0"/>
              <a:buChar char="•"/>
            </a:pPr>
            <a:r>
              <a:rPr lang="en-US" sz="1400" b="1" dirty="0">
                <a:solidFill>
                  <a:schemeClr val="accent5">
                    <a:lumMod val="50000"/>
                  </a:schemeClr>
                </a:solidFill>
              </a:rPr>
              <a:t>COOPERATE - always cooperate</a:t>
            </a:r>
            <a:endParaRPr lang="pl-PL" sz="1400" b="1" dirty="0">
              <a:solidFill>
                <a:schemeClr val="accent5">
                  <a:lumMod val="50000"/>
                </a:schemeClr>
              </a:solidFill>
            </a:endParaRPr>
          </a:p>
          <a:p>
            <a:pPr marL="265113" indent="-265113">
              <a:buFont typeface="Arial" pitchFamily="34" charset="0"/>
              <a:buChar char="•"/>
            </a:pPr>
            <a:r>
              <a:rPr lang="en-US" sz="1400" b="1" dirty="0">
                <a:solidFill>
                  <a:schemeClr val="accent5">
                    <a:lumMod val="50000"/>
                  </a:schemeClr>
                </a:solidFill>
              </a:rPr>
              <a:t>DEFECT - always defect</a:t>
            </a:r>
            <a:endParaRPr lang="pl-PL" sz="1400" b="1" dirty="0">
              <a:solidFill>
                <a:schemeClr val="accent5">
                  <a:lumMod val="50000"/>
                </a:schemeClr>
              </a:solidFill>
            </a:endParaRPr>
          </a:p>
          <a:p>
            <a:pPr marL="265113" indent="-265113">
              <a:buFont typeface="Arial" pitchFamily="34" charset="0"/>
              <a:buChar char="•"/>
            </a:pPr>
            <a:r>
              <a:rPr lang="en-US" sz="1400" b="1" dirty="0">
                <a:solidFill>
                  <a:schemeClr val="accent5">
                    <a:lumMod val="50000"/>
                  </a:schemeClr>
                </a:solidFill>
              </a:rPr>
              <a:t>TIT-FOR-TAT - If an opponent cooperates on this interaction cooperate on the next interaction with them. If an opponent defects on this interaction, defect on the next interaction with them. Initially cooperate</a:t>
            </a:r>
            <a:endParaRPr lang="pl-PL" sz="1400" b="1" dirty="0">
              <a:solidFill>
                <a:schemeClr val="accent5">
                  <a:lumMod val="50000"/>
                </a:schemeClr>
              </a:solidFill>
            </a:endParaRPr>
          </a:p>
          <a:p>
            <a:pPr marL="265113" indent="-265113">
              <a:buFont typeface="Arial" pitchFamily="34" charset="0"/>
              <a:buChar char="•"/>
            </a:pPr>
            <a:r>
              <a:rPr lang="en-US" sz="1400" b="1" dirty="0">
                <a:solidFill>
                  <a:schemeClr val="accent5">
                    <a:lumMod val="50000"/>
                  </a:schemeClr>
                </a:solidFill>
              </a:rPr>
              <a:t>UNFORGIVING - Cooperate until an opponent defects once, then always defect in each interaction with them.</a:t>
            </a:r>
          </a:p>
        </p:txBody>
      </p:sp>
      <p:sp>
        <p:nvSpPr>
          <p:cNvPr id="9" name="Prostokąt 8"/>
          <p:cNvSpPr/>
          <p:nvPr/>
        </p:nvSpPr>
        <p:spPr>
          <a:xfrm>
            <a:off x="7459742" y="4810170"/>
            <a:ext cx="3631558" cy="923330"/>
          </a:xfrm>
          <a:prstGeom prst="rect">
            <a:avLst/>
          </a:prstGeom>
        </p:spPr>
        <p:txBody>
          <a:bodyPr wrap="square">
            <a:spAutoFit/>
          </a:bodyPr>
          <a:lstStyle/>
          <a:p>
            <a:r>
              <a:rPr lang="pl-PL" dirty="0">
                <a:hlinkClick r:id="rId3"/>
              </a:rPr>
              <a:t>http://ccl.northwestern.edu/netlogo/models/run.cgi?PDN-PersonIterated.759.578</a:t>
            </a:r>
            <a:endParaRPr lang="pl-PL" dirty="0"/>
          </a:p>
        </p:txBody>
      </p:sp>
      <p:sp>
        <p:nvSpPr>
          <p:cNvPr id="2" name="Prostokąt 1"/>
          <p:cNvSpPr/>
          <p:nvPr/>
        </p:nvSpPr>
        <p:spPr>
          <a:xfrm>
            <a:off x="343757" y="1037257"/>
            <a:ext cx="11691158" cy="954107"/>
          </a:xfrm>
          <a:prstGeom prst="rect">
            <a:avLst/>
          </a:prstGeom>
        </p:spPr>
        <p:txBody>
          <a:bodyPr wrap="square">
            <a:spAutoFit/>
          </a:bodyPr>
          <a:lstStyle/>
          <a:p>
            <a:pPr lvl="0" algn="just"/>
            <a:r>
              <a:rPr lang="en-US" sz="2800" dirty="0">
                <a:solidFill>
                  <a:srgbClr val="4BACC6">
                    <a:lumMod val="50000"/>
                  </a:srgbClr>
                </a:solidFill>
              </a:rPr>
              <a:t>Wait - It is time for evolution? We have to have time to learn what is the best for society. </a:t>
            </a:r>
          </a:p>
        </p:txBody>
      </p:sp>
      <p:sp>
        <p:nvSpPr>
          <p:cNvPr id="3" name="Prostokąt 6">
            <a:extLst>
              <a:ext uri="{FF2B5EF4-FFF2-40B4-BE49-F238E27FC236}">
                <a16:creationId xmlns:a16="http://schemas.microsoft.com/office/drawing/2014/main" id="{01A6A697-DB7F-CFC5-46D4-FD44A1C95D82}"/>
              </a:ext>
            </a:extLst>
          </p:cNvPr>
          <p:cNvSpPr/>
          <p:nvPr/>
        </p:nvSpPr>
        <p:spPr>
          <a:xfrm>
            <a:off x="704144" y="4924443"/>
            <a:ext cx="5696656" cy="707886"/>
          </a:xfrm>
          <a:prstGeom prst="rect">
            <a:avLst/>
          </a:prstGeom>
        </p:spPr>
        <p:txBody>
          <a:bodyPr wrap="square">
            <a:spAutoFit/>
          </a:bodyPr>
          <a:lstStyle/>
          <a:p>
            <a:r>
              <a:rPr lang="pl-PL" sz="2000" b="1" dirty="0">
                <a:solidFill>
                  <a:schemeClr val="accent5">
                    <a:lumMod val="50000"/>
                  </a:schemeClr>
                </a:solidFill>
              </a:rPr>
              <a:t>Watch:</a:t>
            </a:r>
          </a:p>
          <a:p>
            <a:r>
              <a:rPr lang="pl-PL" sz="2000" b="1" dirty="0">
                <a:solidFill>
                  <a:schemeClr val="accent5">
                    <a:lumMod val="50000"/>
                  </a:schemeClr>
                </a:solidFill>
              </a:rPr>
              <a:t>https://www.youtube.com/watch?v=mScpHTIi-kM</a:t>
            </a:r>
            <a:endParaRPr lang="pl-PL" sz="2000" b="1" dirty="0">
              <a:solidFill>
                <a:schemeClr val="accent5">
                  <a:lumMod val="50000"/>
                </a:schemeClr>
              </a:solidFill>
              <a:latin typeface="Calibri" pitchFamily="34" charset="0"/>
            </a:endParaRPr>
          </a:p>
        </p:txBody>
      </p:sp>
    </p:spTree>
    <p:extLst>
      <p:ext uri="{BB962C8B-B14F-4D97-AF65-F5344CB8AC3E}">
        <p14:creationId xmlns:p14="http://schemas.microsoft.com/office/powerpoint/2010/main" val="38984362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rostokąt 9"/>
          <p:cNvSpPr/>
          <p:nvPr/>
        </p:nvSpPr>
        <p:spPr>
          <a:xfrm>
            <a:off x="102097" y="187576"/>
            <a:ext cx="7076662" cy="5909310"/>
          </a:xfrm>
          <a:prstGeom prst="rect">
            <a:avLst/>
          </a:prstGeom>
        </p:spPr>
        <p:txBody>
          <a:bodyPr wrap="square">
            <a:spAutoFit/>
          </a:bodyPr>
          <a:lstStyle/>
          <a:p>
            <a:pPr lvl="0" algn="just">
              <a:defRPr/>
            </a:pPr>
            <a:r>
              <a:rPr lang="en-US" b="1" dirty="0">
                <a:solidFill>
                  <a:srgbClr val="4BACC6">
                    <a:lumMod val="50000"/>
                  </a:srgbClr>
                </a:solidFill>
              </a:rPr>
              <a:t>Simulation of a monomorphic society (all governed by the same rule)</a:t>
            </a:r>
          </a:p>
          <a:p>
            <a:pPr lvl="0" algn="just">
              <a:defRPr/>
            </a:pPr>
            <a:endParaRPr lang="en-US" b="1" dirty="0">
              <a:solidFill>
                <a:srgbClr val="4BACC6">
                  <a:lumMod val="50000"/>
                </a:srgbClr>
              </a:solidFill>
            </a:endParaRPr>
          </a:p>
          <a:p>
            <a:pPr lvl="0" algn="just">
              <a:defRPr/>
            </a:pPr>
            <a:r>
              <a:rPr lang="en-US" b="1" dirty="0">
                <a:solidFill>
                  <a:srgbClr val="4BACC6">
                    <a:lumMod val="50000"/>
                  </a:srgbClr>
                </a:solidFill>
              </a:rPr>
              <a:t>N - rounds (as many as real-life events)</a:t>
            </a:r>
          </a:p>
          <a:p>
            <a:pPr lvl="0" algn="just">
              <a:defRPr/>
            </a:pPr>
            <a:r>
              <a:rPr lang="en-US" b="1" dirty="0">
                <a:solidFill>
                  <a:srgbClr val="4BACC6">
                    <a:lumMod val="50000"/>
                  </a:srgbClr>
                </a:solidFill>
              </a:rPr>
              <a:t>K1 - ZI agents (red society)</a:t>
            </a:r>
          </a:p>
          <a:p>
            <a:pPr lvl="0" algn="just">
              <a:defRPr/>
            </a:pPr>
            <a:r>
              <a:rPr lang="en-US" b="1" dirty="0">
                <a:solidFill>
                  <a:srgbClr val="4BACC6">
                    <a:lumMod val="50000"/>
                  </a:srgbClr>
                </a:solidFill>
              </a:rPr>
              <a:t>K2 - deontological altruistic agents (blue society)</a:t>
            </a:r>
          </a:p>
          <a:p>
            <a:pPr lvl="0" algn="just">
              <a:defRPr/>
            </a:pPr>
            <a:r>
              <a:rPr lang="en-US" b="1" dirty="0">
                <a:solidFill>
                  <a:srgbClr val="4BACC6">
                    <a:lumMod val="50000"/>
                  </a:srgbClr>
                </a:solidFill>
              </a:rPr>
              <a:t>K3 - effective altruistic agents (green society)</a:t>
            </a:r>
          </a:p>
          <a:p>
            <a:pPr lvl="0" algn="just">
              <a:defRPr/>
            </a:pPr>
            <a:r>
              <a:rPr lang="en-US" b="1" dirty="0">
                <a:solidFill>
                  <a:srgbClr val="4BACC6">
                    <a:lumMod val="50000"/>
                  </a:srgbClr>
                </a:solidFill>
              </a:rPr>
              <a:t>K1 = K2 = K3</a:t>
            </a:r>
          </a:p>
          <a:p>
            <a:pPr lvl="0" algn="just">
              <a:defRPr/>
            </a:pPr>
            <a:endParaRPr lang="en-US" b="1" dirty="0">
              <a:solidFill>
                <a:srgbClr val="4BACC6">
                  <a:lumMod val="50000"/>
                </a:srgbClr>
              </a:solidFill>
            </a:endParaRPr>
          </a:p>
          <a:p>
            <a:pPr lvl="0" algn="just">
              <a:defRPr/>
            </a:pPr>
            <a:r>
              <a:rPr lang="en-US" b="1" dirty="0">
                <a:solidFill>
                  <a:srgbClr val="4BACC6">
                    <a:lumMod val="50000"/>
                  </a:srgbClr>
                </a:solidFill>
              </a:rPr>
              <a:t>In each round, everyone has a different budget constraint, i.e., income M [10</a:t>
            </a:r>
            <a:r>
              <a:rPr lang="pl-PL" b="1" dirty="0">
                <a:solidFill>
                  <a:srgbClr val="4BACC6">
                    <a:lumMod val="50000"/>
                  </a:srgbClr>
                </a:solidFill>
              </a:rPr>
              <a:t>,</a:t>
            </a:r>
            <a:r>
              <a:rPr lang="en-US" b="1" dirty="0">
                <a:solidFill>
                  <a:srgbClr val="4BACC6">
                    <a:lumMod val="50000"/>
                  </a:srgbClr>
                </a:solidFill>
              </a:rPr>
              <a:t>100] and different values:</a:t>
            </a:r>
          </a:p>
          <a:p>
            <a:pPr lvl="0" algn="just">
              <a:defRPr/>
            </a:pPr>
            <a:r>
              <a:rPr lang="en-US" b="1" dirty="0" err="1">
                <a:solidFill>
                  <a:srgbClr val="4BACC6">
                    <a:lumMod val="50000"/>
                  </a:srgbClr>
                </a:solidFill>
              </a:rPr>
              <a:t>vS</a:t>
            </a:r>
            <a:r>
              <a:rPr lang="en-US" b="1" dirty="0">
                <a:solidFill>
                  <a:srgbClr val="4BACC6">
                    <a:lumMod val="50000"/>
                  </a:srgbClr>
                </a:solidFill>
              </a:rPr>
              <a:t> [1</a:t>
            </a:r>
            <a:r>
              <a:rPr lang="pl-PL" b="1" dirty="0">
                <a:solidFill>
                  <a:srgbClr val="4BACC6">
                    <a:lumMod val="50000"/>
                  </a:srgbClr>
                </a:solidFill>
              </a:rPr>
              <a:t>,</a:t>
            </a:r>
            <a:r>
              <a:rPr lang="en-US" b="1" dirty="0">
                <a:solidFill>
                  <a:srgbClr val="4BACC6">
                    <a:lumMod val="50000"/>
                  </a:srgbClr>
                </a:solidFill>
              </a:rPr>
              <a:t>9] value of the "Payment to Self" unit (how much the token is worth if I keep it for myself)</a:t>
            </a:r>
          </a:p>
          <a:p>
            <a:pPr lvl="0" algn="just">
              <a:defRPr/>
            </a:pPr>
            <a:r>
              <a:rPr lang="en-US" b="1" dirty="0" err="1">
                <a:solidFill>
                  <a:srgbClr val="4BACC6">
                    <a:lumMod val="50000"/>
                  </a:srgbClr>
                </a:solidFill>
              </a:rPr>
              <a:t>vO</a:t>
            </a:r>
            <a:r>
              <a:rPr lang="en-US" b="1" dirty="0">
                <a:solidFill>
                  <a:srgbClr val="4BACC6">
                    <a:lumMod val="50000"/>
                  </a:srgbClr>
                </a:solidFill>
              </a:rPr>
              <a:t> [1</a:t>
            </a:r>
            <a:r>
              <a:rPr lang="pl-PL" b="1" dirty="0">
                <a:solidFill>
                  <a:srgbClr val="4BACC6">
                    <a:lumMod val="50000"/>
                  </a:srgbClr>
                </a:solidFill>
              </a:rPr>
              <a:t>,</a:t>
            </a:r>
            <a:r>
              <a:rPr lang="en-US" b="1" dirty="0">
                <a:solidFill>
                  <a:srgbClr val="4BACC6">
                    <a:lumMod val="50000"/>
                  </a:srgbClr>
                </a:solidFill>
              </a:rPr>
              <a:t>9] value of the "Payment to Other" unit (how much the token is worth if I give it to another)</a:t>
            </a:r>
          </a:p>
          <a:p>
            <a:pPr lvl="0" algn="just">
              <a:defRPr/>
            </a:pPr>
            <a:endParaRPr lang="en-US" b="1" dirty="0">
              <a:solidFill>
                <a:srgbClr val="4BACC6">
                  <a:lumMod val="50000"/>
                </a:srgbClr>
              </a:solidFill>
            </a:endParaRPr>
          </a:p>
          <a:p>
            <a:pPr lvl="0" algn="just">
              <a:defRPr/>
            </a:pPr>
            <a:r>
              <a:rPr lang="en-US" b="1" dirty="0">
                <a:solidFill>
                  <a:srgbClr val="4BACC6">
                    <a:lumMod val="50000"/>
                  </a:srgbClr>
                </a:solidFill>
              </a:rPr>
              <a:t>The deontological agent determines the percentage of tokens to give to others (parameter t)</a:t>
            </a:r>
          </a:p>
          <a:p>
            <a:pPr lvl="0" algn="just">
              <a:defRPr/>
            </a:pPr>
            <a:r>
              <a:rPr lang="en-US" b="1" dirty="0">
                <a:solidFill>
                  <a:srgbClr val="4BACC6">
                    <a:lumMod val="50000"/>
                  </a:srgbClr>
                </a:solidFill>
              </a:rPr>
              <a:t>The effective agent determines how much the value of </a:t>
            </a:r>
            <a:r>
              <a:rPr lang="en-US" b="1" dirty="0" err="1">
                <a:solidFill>
                  <a:srgbClr val="4BACC6">
                    <a:lumMod val="50000"/>
                  </a:srgbClr>
                </a:solidFill>
              </a:rPr>
              <a:t>vo</a:t>
            </a:r>
            <a:r>
              <a:rPr lang="en-US" b="1" dirty="0">
                <a:solidFill>
                  <a:srgbClr val="4BACC6">
                    <a:lumMod val="50000"/>
                  </a:srgbClr>
                </a:solidFill>
              </a:rPr>
              <a:t> should be higher to be willing to give tokens to others (parameter f)</a:t>
            </a:r>
          </a:p>
          <a:p>
            <a:pPr lvl="0" algn="just">
              <a:defRPr/>
            </a:pPr>
            <a:endParaRPr lang="en-US" b="1" dirty="0">
              <a:solidFill>
                <a:srgbClr val="4BACC6">
                  <a:lumMod val="50000"/>
                </a:srgbClr>
              </a:solidFill>
            </a:endParaRPr>
          </a:p>
          <a:p>
            <a:pPr lvl="0" algn="just">
              <a:defRPr/>
            </a:pPr>
            <a:r>
              <a:rPr lang="en-US" b="1" dirty="0">
                <a:solidFill>
                  <a:srgbClr val="4BACC6">
                    <a:lumMod val="50000"/>
                  </a:srgbClr>
                </a:solidFill>
              </a:rPr>
              <a:t>Each simulation run repeated B times</a:t>
            </a:r>
            <a:endParaRPr kumimoji="0" lang="pl-PL" sz="1400" i="0" u="none" strike="noStrike" kern="1200" cap="none" spc="0" normalizeH="0" baseline="0" noProof="0" dirty="0">
              <a:ln>
                <a:noFill/>
              </a:ln>
              <a:solidFill>
                <a:srgbClr val="4BACC6">
                  <a:lumMod val="50000"/>
                </a:srgbClr>
              </a:solidFill>
              <a:effectLst/>
              <a:uLnTx/>
              <a:uFillTx/>
              <a:latin typeface="Calibri"/>
            </a:endParaRPr>
          </a:p>
        </p:txBody>
      </p:sp>
      <p:pic>
        <p:nvPicPr>
          <p:cNvPr id="2" name="Obraz 1"/>
          <p:cNvPicPr>
            <a:picLocks noChangeAspect="1"/>
          </p:cNvPicPr>
          <p:nvPr/>
        </p:nvPicPr>
        <p:blipFill>
          <a:blip r:embed="rId2"/>
          <a:stretch>
            <a:fillRect/>
          </a:stretch>
        </p:blipFill>
        <p:spPr>
          <a:xfrm>
            <a:off x="7285764" y="260792"/>
            <a:ext cx="4656901" cy="4873933"/>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5AD4D842-1111-AFF8-E641-FA5818060552}"/>
              </a:ext>
            </a:extLst>
          </p:cNvPr>
          <p:cNvSpPr txBox="1"/>
          <p:nvPr/>
        </p:nvSpPr>
        <p:spPr>
          <a:xfrm>
            <a:off x="5917703" y="5383870"/>
            <a:ext cx="6172200" cy="1426031"/>
          </a:xfrm>
          <a:prstGeom prst="rect">
            <a:avLst/>
          </a:prstGeom>
          <a:noFill/>
        </p:spPr>
        <p:txBody>
          <a:bodyPr wrap="square">
            <a:spAutoFit/>
          </a:bodyPr>
          <a:lstStyle/>
          <a:p>
            <a:pPr algn="l">
              <a:spcAft>
                <a:spcPts val="788"/>
              </a:spcAft>
              <a:buNone/>
            </a:pPr>
            <a:r>
              <a:rPr lang="pl-PL" sz="1600" b="1" i="0" dirty="0">
                <a:solidFill>
                  <a:srgbClr val="333333"/>
                </a:solidFill>
                <a:effectLst/>
                <a:latin typeface="Source Sans Pro" panose="020B0503030403020204" pitchFamily="34" charset="0"/>
              </a:rPr>
              <a:t>Kopczewski, T., &amp; </a:t>
            </a:r>
            <a:r>
              <a:rPr lang="pl-PL" sz="1600" b="1" i="0" dirty="0" err="1">
                <a:solidFill>
                  <a:srgbClr val="333333"/>
                </a:solidFill>
                <a:effectLst/>
                <a:latin typeface="Source Sans Pro" panose="020B0503030403020204" pitchFamily="34" charset="0"/>
              </a:rPr>
              <a:t>Okhrimenko</a:t>
            </a:r>
            <a:r>
              <a:rPr lang="pl-PL" sz="1600" b="1" i="0" dirty="0">
                <a:solidFill>
                  <a:srgbClr val="333333"/>
                </a:solidFill>
                <a:effectLst/>
                <a:latin typeface="Source Sans Pro" panose="020B0503030403020204" pitchFamily="34" charset="0"/>
              </a:rPr>
              <a:t>, I. (2024). The </a:t>
            </a:r>
            <a:r>
              <a:rPr lang="pl-PL" sz="1600" b="1" i="0" dirty="0" err="1">
                <a:solidFill>
                  <a:srgbClr val="333333"/>
                </a:solidFill>
                <a:effectLst/>
                <a:latin typeface="Source Sans Pro" panose="020B0503030403020204" pitchFamily="34" charset="0"/>
              </a:rPr>
              <a:t>paradox</a:t>
            </a:r>
            <a:r>
              <a:rPr lang="pl-PL" sz="1600" b="1" i="0" dirty="0">
                <a:solidFill>
                  <a:srgbClr val="333333"/>
                </a:solidFill>
                <a:effectLst/>
                <a:latin typeface="Source Sans Pro" panose="020B0503030403020204" pitchFamily="34" charset="0"/>
              </a:rPr>
              <a:t> of </a:t>
            </a:r>
            <a:r>
              <a:rPr lang="pl-PL" sz="1600" b="1" i="0" dirty="0" err="1">
                <a:solidFill>
                  <a:srgbClr val="333333"/>
                </a:solidFill>
                <a:effectLst/>
                <a:latin typeface="Source Sans Pro" panose="020B0503030403020204" pitchFamily="34" charset="0"/>
              </a:rPr>
              <a:t>effective</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altruism</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Journal</a:t>
            </a:r>
            <a:r>
              <a:rPr lang="pl-PL" sz="1600" b="1" i="0" dirty="0">
                <a:solidFill>
                  <a:srgbClr val="333333"/>
                </a:solidFill>
                <a:effectLst/>
                <a:latin typeface="Source Sans Pro" panose="020B0503030403020204" pitchFamily="34" charset="0"/>
              </a:rPr>
              <a:t> of </a:t>
            </a:r>
            <a:r>
              <a:rPr lang="pl-PL" sz="1600" b="1" i="0" dirty="0" err="1">
                <a:solidFill>
                  <a:srgbClr val="333333"/>
                </a:solidFill>
                <a:effectLst/>
                <a:latin typeface="Source Sans Pro" panose="020B0503030403020204" pitchFamily="34" charset="0"/>
              </a:rPr>
              <a:t>Institutional</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Economics</a:t>
            </a:r>
            <a:r>
              <a:rPr lang="pl-PL" sz="1600" b="1" i="0" dirty="0">
                <a:solidFill>
                  <a:srgbClr val="333333"/>
                </a:solidFill>
                <a:effectLst/>
                <a:latin typeface="Source Sans Pro" panose="020B0503030403020204" pitchFamily="34" charset="0"/>
              </a:rPr>
              <a:t>, 20, e41</a:t>
            </a:r>
          </a:p>
          <a:p>
            <a:pPr algn="l">
              <a:spcAft>
                <a:spcPts val="788"/>
              </a:spcAft>
              <a:buNone/>
            </a:pPr>
            <a:r>
              <a:rPr lang="pl-PL" sz="1600" b="1" i="0" dirty="0">
                <a:solidFill>
                  <a:srgbClr val="333333"/>
                </a:solidFill>
                <a:effectLst/>
                <a:latin typeface="Source Sans Pro" panose="020B0503030403020204" pitchFamily="34" charset="0"/>
              </a:rPr>
              <a:t>Kopczewski, T., &amp; </a:t>
            </a:r>
            <a:r>
              <a:rPr lang="pl-PL" sz="1600" b="1" i="0" dirty="0" err="1">
                <a:solidFill>
                  <a:srgbClr val="333333"/>
                </a:solidFill>
                <a:effectLst/>
                <a:latin typeface="Source Sans Pro" panose="020B0503030403020204" pitchFamily="34" charset="0"/>
              </a:rPr>
              <a:t>Okhrimenko</a:t>
            </a:r>
            <a:r>
              <a:rPr lang="pl-PL" sz="1600" b="1" i="0" dirty="0">
                <a:solidFill>
                  <a:srgbClr val="333333"/>
                </a:solidFill>
                <a:effectLst/>
                <a:latin typeface="Source Sans Pro" panose="020B0503030403020204" pitchFamily="34" charset="0"/>
              </a:rPr>
              <a:t>, I. (2019). </a:t>
            </a:r>
            <a:r>
              <a:rPr lang="pl-PL" sz="1600" b="1" i="0" dirty="0" err="1">
                <a:solidFill>
                  <a:srgbClr val="333333"/>
                </a:solidFill>
                <a:effectLst/>
                <a:latin typeface="Source Sans Pro" panose="020B0503030403020204" pitchFamily="34" charset="0"/>
              </a:rPr>
              <a:t>Can</a:t>
            </a:r>
            <a:r>
              <a:rPr lang="pl-PL" sz="1600" b="1" i="0" dirty="0">
                <a:solidFill>
                  <a:srgbClr val="333333"/>
                </a:solidFill>
                <a:effectLst/>
                <a:latin typeface="Source Sans Pro" panose="020B0503030403020204" pitchFamily="34" charset="0"/>
              </a:rPr>
              <a:t> homo </a:t>
            </a:r>
            <a:r>
              <a:rPr lang="pl-PL" sz="1600" b="1" i="0" dirty="0" err="1">
                <a:solidFill>
                  <a:srgbClr val="333333"/>
                </a:solidFill>
                <a:effectLst/>
                <a:latin typeface="Source Sans Pro" panose="020B0503030403020204" pitchFamily="34" charset="0"/>
              </a:rPr>
              <a:t>economicus</a:t>
            </a:r>
            <a:r>
              <a:rPr lang="pl-PL" sz="1600" b="1" i="0" dirty="0">
                <a:solidFill>
                  <a:srgbClr val="333333"/>
                </a:solidFill>
                <a:effectLst/>
                <a:latin typeface="Source Sans Pro" panose="020B0503030403020204" pitchFamily="34" charset="0"/>
              </a:rPr>
              <a:t> be </a:t>
            </a:r>
            <a:r>
              <a:rPr lang="pl-PL" sz="1600" b="1" i="0" dirty="0" err="1">
                <a:solidFill>
                  <a:srgbClr val="333333"/>
                </a:solidFill>
                <a:effectLst/>
                <a:latin typeface="Source Sans Pro" panose="020B0503030403020204" pitchFamily="34" charset="0"/>
              </a:rPr>
              <a:t>an</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altruist</a:t>
            </a:r>
            <a:r>
              <a:rPr lang="pl-PL" sz="1600" b="1" i="0" dirty="0">
                <a:solidFill>
                  <a:srgbClr val="333333"/>
                </a:solidFill>
                <a:effectLst/>
                <a:latin typeface="Source Sans Pro" panose="020B0503030403020204" pitchFamily="34" charset="0"/>
              </a:rPr>
              <a:t>? A </a:t>
            </a:r>
            <a:r>
              <a:rPr lang="pl-PL" sz="1600" b="1" i="0" dirty="0" err="1">
                <a:solidFill>
                  <a:srgbClr val="333333"/>
                </a:solidFill>
                <a:effectLst/>
                <a:latin typeface="Source Sans Pro" panose="020B0503030403020204" pitchFamily="34" charset="0"/>
              </a:rPr>
              <a:t>classroom</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experimental</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method</a:t>
            </a:r>
            <a:r>
              <a:rPr lang="pl-PL" sz="1600" b="1" i="0" dirty="0">
                <a:solidFill>
                  <a:srgbClr val="333333"/>
                </a:solidFill>
                <a:effectLst/>
                <a:latin typeface="Source Sans Pro" panose="020B0503030403020204" pitchFamily="34" charset="0"/>
              </a:rPr>
              <a:t>. International </a:t>
            </a:r>
            <a:r>
              <a:rPr lang="pl-PL" sz="1600" b="1" i="0" dirty="0" err="1">
                <a:solidFill>
                  <a:srgbClr val="333333"/>
                </a:solidFill>
                <a:effectLst/>
                <a:latin typeface="Source Sans Pro" panose="020B0503030403020204" pitchFamily="34" charset="0"/>
              </a:rPr>
              <a:t>Review</a:t>
            </a:r>
            <a:r>
              <a:rPr lang="pl-PL" sz="1600" b="1" i="0" dirty="0">
                <a:solidFill>
                  <a:srgbClr val="333333"/>
                </a:solidFill>
                <a:effectLst/>
                <a:latin typeface="Source Sans Pro" panose="020B0503030403020204" pitchFamily="34" charset="0"/>
              </a:rPr>
              <a:t> of </a:t>
            </a:r>
            <a:r>
              <a:rPr lang="pl-PL" sz="1600" b="1" i="0" dirty="0" err="1">
                <a:solidFill>
                  <a:srgbClr val="333333"/>
                </a:solidFill>
                <a:effectLst/>
                <a:latin typeface="Source Sans Pro" panose="020B0503030403020204" pitchFamily="34" charset="0"/>
              </a:rPr>
              <a:t>Economics</a:t>
            </a:r>
            <a:r>
              <a:rPr lang="pl-PL" sz="1600" b="1" i="0" dirty="0">
                <a:solidFill>
                  <a:srgbClr val="333333"/>
                </a:solidFill>
                <a:effectLst/>
                <a:latin typeface="Source Sans Pro" panose="020B0503030403020204" pitchFamily="34" charset="0"/>
              </a:rPr>
              <a:t> </a:t>
            </a:r>
            <a:r>
              <a:rPr lang="pl-PL" sz="1600" b="1" i="0" dirty="0" err="1">
                <a:solidFill>
                  <a:srgbClr val="333333"/>
                </a:solidFill>
                <a:effectLst/>
                <a:latin typeface="Source Sans Pro" panose="020B0503030403020204" pitchFamily="34" charset="0"/>
              </a:rPr>
              <a:t>Education</a:t>
            </a:r>
            <a:r>
              <a:rPr lang="pl-PL" sz="1600" b="1" i="0" dirty="0">
                <a:solidFill>
                  <a:srgbClr val="333333"/>
                </a:solidFill>
                <a:effectLst/>
                <a:latin typeface="Source Sans Pro" panose="020B0503030403020204" pitchFamily="34" charset="0"/>
              </a:rPr>
              <a:t>, 32, 100167.</a:t>
            </a:r>
          </a:p>
        </p:txBody>
      </p:sp>
    </p:spTree>
    <p:extLst>
      <p:ext uri="{BB962C8B-B14F-4D97-AF65-F5344CB8AC3E}">
        <p14:creationId xmlns:p14="http://schemas.microsoft.com/office/powerpoint/2010/main" val="33925206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rostokąt 9"/>
          <p:cNvSpPr/>
          <p:nvPr/>
        </p:nvSpPr>
        <p:spPr>
          <a:xfrm>
            <a:off x="97277" y="305068"/>
            <a:ext cx="7076662" cy="6247864"/>
          </a:xfrm>
          <a:prstGeom prst="rect">
            <a:avLst/>
          </a:prstGeom>
        </p:spPr>
        <p:txBody>
          <a:bodyPr wrap="square">
            <a:spAutoFit/>
          </a:bodyPr>
          <a:lstStyle/>
          <a:p>
            <a:pPr lvl="0" algn="just">
              <a:defRPr/>
            </a:pPr>
            <a:r>
              <a:rPr lang="en-US" sz="2000" b="1" dirty="0">
                <a:solidFill>
                  <a:srgbClr val="4BACC6">
                    <a:lumMod val="50000"/>
                  </a:srgbClr>
                </a:solidFill>
              </a:rPr>
              <a:t>Simulation of a polymorphic society (three groups each following their own rules)</a:t>
            </a:r>
          </a:p>
          <a:p>
            <a:pPr lvl="1">
              <a:defRPr/>
            </a:pPr>
            <a:r>
              <a:rPr lang="en-US" sz="2000" b="1" dirty="0">
                <a:solidFill>
                  <a:srgbClr val="4BACC6">
                    <a:lumMod val="50000"/>
                  </a:srgbClr>
                </a:solidFill>
              </a:rPr>
              <a:t>N - rounds (as many as life events)</a:t>
            </a:r>
          </a:p>
          <a:p>
            <a:pPr lvl="1">
              <a:defRPr/>
            </a:pPr>
            <a:r>
              <a:rPr lang="en-US" sz="2000" b="1" dirty="0">
                <a:solidFill>
                  <a:srgbClr val="4BACC6">
                    <a:lumMod val="50000"/>
                  </a:srgbClr>
                </a:solidFill>
              </a:rPr>
              <a:t>K1 - ZI agents (red community)</a:t>
            </a:r>
          </a:p>
          <a:p>
            <a:pPr lvl="1">
              <a:defRPr/>
            </a:pPr>
            <a:r>
              <a:rPr lang="en-US" sz="2000" b="1" dirty="0">
                <a:solidFill>
                  <a:srgbClr val="4BACC6">
                    <a:lumMod val="50000"/>
                  </a:srgbClr>
                </a:solidFill>
              </a:rPr>
              <a:t>K2 - deontological altruistic agents (blue community)</a:t>
            </a:r>
          </a:p>
          <a:p>
            <a:pPr lvl="1">
              <a:defRPr/>
            </a:pPr>
            <a:r>
              <a:rPr lang="en-US" sz="2000" b="1" dirty="0">
                <a:solidFill>
                  <a:srgbClr val="4BACC6">
                    <a:lumMod val="50000"/>
                  </a:srgbClr>
                </a:solidFill>
              </a:rPr>
              <a:t>K3 - efficient altruistic agents (green community)</a:t>
            </a:r>
          </a:p>
          <a:p>
            <a:pPr lvl="1">
              <a:defRPr/>
            </a:pPr>
            <a:r>
              <a:rPr lang="en-US" sz="2000" b="1" dirty="0">
                <a:solidFill>
                  <a:srgbClr val="4BACC6">
                    <a:lumMod val="50000"/>
                  </a:srgbClr>
                </a:solidFill>
              </a:rPr>
              <a:t>K1 = K2 = K3</a:t>
            </a:r>
          </a:p>
          <a:p>
            <a:pPr lvl="0" algn="just">
              <a:defRPr/>
            </a:pPr>
            <a:r>
              <a:rPr lang="en-US" sz="2000" b="1" dirty="0">
                <a:solidFill>
                  <a:srgbClr val="4BACC6">
                    <a:lumMod val="50000"/>
                  </a:srgbClr>
                </a:solidFill>
              </a:rPr>
              <a:t>In each round, everyone has a different budget constraint, i.e., income M [10</a:t>
            </a:r>
            <a:r>
              <a:rPr lang="pl-PL" sz="2000" b="1" dirty="0">
                <a:solidFill>
                  <a:srgbClr val="4BACC6">
                    <a:lumMod val="50000"/>
                  </a:srgbClr>
                </a:solidFill>
              </a:rPr>
              <a:t>,</a:t>
            </a:r>
            <a:r>
              <a:rPr lang="en-US" sz="2000" b="1" dirty="0">
                <a:solidFill>
                  <a:srgbClr val="4BACC6">
                    <a:lumMod val="50000"/>
                  </a:srgbClr>
                </a:solidFill>
              </a:rPr>
              <a:t>100] and different values:</a:t>
            </a:r>
          </a:p>
          <a:p>
            <a:pPr lvl="0" algn="just">
              <a:defRPr/>
            </a:pPr>
            <a:r>
              <a:rPr lang="en-US" sz="2000" b="1" dirty="0" err="1">
                <a:solidFill>
                  <a:srgbClr val="4BACC6">
                    <a:lumMod val="50000"/>
                  </a:srgbClr>
                </a:solidFill>
              </a:rPr>
              <a:t>vS</a:t>
            </a:r>
            <a:r>
              <a:rPr lang="en-US" sz="2000" b="1" dirty="0">
                <a:solidFill>
                  <a:srgbClr val="4BACC6">
                    <a:lumMod val="50000"/>
                  </a:srgbClr>
                </a:solidFill>
              </a:rPr>
              <a:t> [1</a:t>
            </a:r>
            <a:r>
              <a:rPr lang="pl-PL" sz="2000" b="1" dirty="0">
                <a:solidFill>
                  <a:srgbClr val="4BACC6">
                    <a:lumMod val="50000"/>
                  </a:srgbClr>
                </a:solidFill>
              </a:rPr>
              <a:t>,</a:t>
            </a:r>
            <a:r>
              <a:rPr lang="en-US" sz="2000" b="1" dirty="0">
                <a:solidFill>
                  <a:srgbClr val="4BACC6">
                    <a:lumMod val="50000"/>
                  </a:srgbClr>
                </a:solidFill>
              </a:rPr>
              <a:t>9] value of the "Payment to self" unit (how much the token is worth if I keep it for myself)</a:t>
            </a:r>
          </a:p>
          <a:p>
            <a:pPr lvl="0" algn="just">
              <a:defRPr/>
            </a:pPr>
            <a:r>
              <a:rPr lang="en-US" sz="2000" b="1" dirty="0" err="1">
                <a:solidFill>
                  <a:srgbClr val="4BACC6">
                    <a:lumMod val="50000"/>
                  </a:srgbClr>
                </a:solidFill>
              </a:rPr>
              <a:t>vO</a:t>
            </a:r>
            <a:r>
              <a:rPr lang="en-US" sz="2000" b="1" dirty="0">
                <a:solidFill>
                  <a:srgbClr val="4BACC6">
                    <a:lumMod val="50000"/>
                  </a:srgbClr>
                </a:solidFill>
              </a:rPr>
              <a:t> [1</a:t>
            </a:r>
            <a:r>
              <a:rPr lang="pl-PL" sz="2000" b="1" dirty="0">
                <a:solidFill>
                  <a:srgbClr val="4BACC6">
                    <a:lumMod val="50000"/>
                  </a:srgbClr>
                </a:solidFill>
              </a:rPr>
              <a:t>,</a:t>
            </a:r>
            <a:r>
              <a:rPr lang="en-US" sz="2000" b="1" dirty="0">
                <a:solidFill>
                  <a:srgbClr val="4BACC6">
                    <a:lumMod val="50000"/>
                  </a:srgbClr>
                </a:solidFill>
              </a:rPr>
              <a:t>9] value of the "Payment to other" unit (how much the token is worth if I give it to another)</a:t>
            </a:r>
          </a:p>
          <a:p>
            <a:pPr lvl="0" algn="just">
              <a:defRPr/>
            </a:pPr>
            <a:endParaRPr lang="en-US" sz="2000" b="1" dirty="0">
              <a:solidFill>
                <a:srgbClr val="4BACC6">
                  <a:lumMod val="50000"/>
                </a:srgbClr>
              </a:solidFill>
            </a:endParaRPr>
          </a:p>
          <a:p>
            <a:pPr lvl="0" algn="just">
              <a:defRPr/>
            </a:pPr>
            <a:r>
              <a:rPr lang="en-US" sz="2000" b="1" dirty="0">
                <a:solidFill>
                  <a:srgbClr val="4BACC6">
                    <a:lumMod val="50000"/>
                  </a:srgbClr>
                </a:solidFill>
              </a:rPr>
              <a:t>The deontological agent determines the percentage of tokens to give to others (parameter t)</a:t>
            </a:r>
          </a:p>
          <a:p>
            <a:pPr lvl="0" algn="just">
              <a:defRPr/>
            </a:pPr>
            <a:r>
              <a:rPr lang="en-US" sz="2000" b="1" dirty="0">
                <a:solidFill>
                  <a:srgbClr val="4BACC6">
                    <a:lumMod val="50000"/>
                  </a:srgbClr>
                </a:solidFill>
              </a:rPr>
              <a:t>The efficient agent determines how much the value of </a:t>
            </a:r>
            <a:r>
              <a:rPr lang="en-US" sz="2000" b="1" dirty="0" err="1">
                <a:solidFill>
                  <a:srgbClr val="4BACC6">
                    <a:lumMod val="50000"/>
                  </a:srgbClr>
                </a:solidFill>
              </a:rPr>
              <a:t>vo</a:t>
            </a:r>
            <a:r>
              <a:rPr lang="en-US" sz="2000" b="1" dirty="0">
                <a:solidFill>
                  <a:srgbClr val="4BACC6">
                    <a:lumMod val="50000"/>
                  </a:srgbClr>
                </a:solidFill>
              </a:rPr>
              <a:t> should be higher to be willing to give tokens to others (parameter f)</a:t>
            </a:r>
          </a:p>
          <a:p>
            <a:pPr lvl="0" algn="just">
              <a:defRPr/>
            </a:pPr>
            <a:endParaRPr lang="en-US" sz="2000" b="1" dirty="0">
              <a:solidFill>
                <a:srgbClr val="4BACC6">
                  <a:lumMod val="50000"/>
                </a:srgbClr>
              </a:solidFill>
            </a:endParaRPr>
          </a:p>
          <a:p>
            <a:pPr lvl="0" algn="just">
              <a:defRPr/>
            </a:pPr>
            <a:r>
              <a:rPr lang="en-US" sz="2000" b="1" dirty="0">
                <a:solidFill>
                  <a:srgbClr val="4BACC6">
                    <a:lumMod val="50000"/>
                  </a:srgbClr>
                </a:solidFill>
              </a:rPr>
              <a:t>Each simulation run is repeated B times</a:t>
            </a:r>
            <a:endParaRPr lang="pl-PL" sz="2000" dirty="0">
              <a:solidFill>
                <a:srgbClr val="4BACC6">
                  <a:lumMod val="50000"/>
                </a:srgbClr>
              </a:solidFill>
            </a:endParaRPr>
          </a:p>
        </p:txBody>
      </p:sp>
      <p:pic>
        <p:nvPicPr>
          <p:cNvPr id="3" name="Obraz 2"/>
          <p:cNvPicPr>
            <a:picLocks noChangeAspect="1"/>
          </p:cNvPicPr>
          <p:nvPr/>
        </p:nvPicPr>
        <p:blipFill>
          <a:blip r:embed="rId2"/>
          <a:stretch>
            <a:fillRect/>
          </a:stretch>
        </p:blipFill>
        <p:spPr>
          <a:xfrm>
            <a:off x="7076662" y="1033669"/>
            <a:ext cx="5109144" cy="5347253"/>
          </a:xfrm>
          <a:prstGeom prst="rect">
            <a:avLst/>
          </a:prstGeom>
        </p:spPr>
      </p:pic>
    </p:spTree>
    <p:extLst>
      <p:ext uri="{BB962C8B-B14F-4D97-AF65-F5344CB8AC3E}">
        <p14:creationId xmlns:p14="http://schemas.microsoft.com/office/powerpoint/2010/main" val="2378700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rostokąt 2"/>
          <p:cNvSpPr/>
          <p:nvPr/>
        </p:nvSpPr>
        <p:spPr>
          <a:xfrm>
            <a:off x="0" y="1168142"/>
            <a:ext cx="2863273" cy="461665"/>
          </a:xfrm>
          <a:prstGeom prst="rect">
            <a:avLst/>
          </a:prstGeom>
        </p:spPr>
        <p:txBody>
          <a:bodyPr wrap="square">
            <a:spAutoFit/>
          </a:bodyPr>
          <a:lstStyle/>
          <a:p>
            <a:r>
              <a:rPr lang="pl-PL" sz="2400" dirty="0">
                <a:solidFill>
                  <a:srgbClr val="215968"/>
                </a:solidFill>
              </a:rPr>
              <a:t>  </a:t>
            </a:r>
            <a:endParaRPr lang="en-US" sz="2800" b="1" dirty="0">
              <a:solidFill>
                <a:srgbClr val="215968"/>
              </a:solidFill>
            </a:endParaRPr>
          </a:p>
        </p:txBody>
      </p:sp>
      <p:sp>
        <p:nvSpPr>
          <p:cNvPr id="2" name="Prostokąt 1"/>
          <p:cNvSpPr/>
          <p:nvPr/>
        </p:nvSpPr>
        <p:spPr>
          <a:xfrm>
            <a:off x="1032802" y="1659285"/>
            <a:ext cx="10280466" cy="3539430"/>
          </a:xfrm>
          <a:prstGeom prst="rect">
            <a:avLst/>
          </a:prstGeom>
        </p:spPr>
        <p:txBody>
          <a:bodyPr wrap="square">
            <a:spAutoFit/>
          </a:bodyPr>
          <a:lstStyle/>
          <a:p>
            <a:pPr algn="just"/>
            <a:r>
              <a:rPr lang="pl-PL" sz="3200" b="1" dirty="0">
                <a:solidFill>
                  <a:schemeClr val="accent5">
                    <a:lumMod val="50000"/>
                  </a:schemeClr>
                </a:solidFill>
              </a:rPr>
              <a:t>R</a:t>
            </a:r>
            <a:r>
              <a:rPr lang="en-US" sz="3200" b="1" dirty="0" err="1">
                <a:solidFill>
                  <a:schemeClr val="accent5">
                    <a:lumMod val="50000"/>
                  </a:schemeClr>
                </a:solidFill>
              </a:rPr>
              <a:t>emarks</a:t>
            </a:r>
            <a:r>
              <a:rPr lang="en-US" sz="3200" b="1" dirty="0">
                <a:solidFill>
                  <a:schemeClr val="accent5">
                    <a:lumMod val="50000"/>
                  </a:schemeClr>
                </a:solidFill>
              </a:rPr>
              <a:t> about the methodology of experimental/observable research  one remark about ethics</a:t>
            </a:r>
          </a:p>
          <a:p>
            <a:pPr algn="just"/>
            <a:endParaRPr lang="en-US" sz="3200" b="1" dirty="0">
              <a:solidFill>
                <a:schemeClr val="accent5">
                  <a:lumMod val="50000"/>
                </a:schemeClr>
              </a:solidFill>
            </a:endParaRPr>
          </a:p>
          <a:p>
            <a:pPr marL="342900" indent="-342900" algn="just">
              <a:buFont typeface="Arial" panose="020B0604020202020204" pitchFamily="34" charset="0"/>
              <a:buChar char="•"/>
            </a:pPr>
            <a:r>
              <a:rPr lang="en-US" sz="3200" b="1" dirty="0">
                <a:solidFill>
                  <a:schemeClr val="accent5">
                    <a:lumMod val="50000"/>
                  </a:schemeClr>
                </a:solidFill>
              </a:rPr>
              <a:t>The causal inference </a:t>
            </a:r>
          </a:p>
          <a:p>
            <a:pPr marL="342900" indent="-342900" algn="just">
              <a:buFont typeface="Arial" panose="020B0604020202020204" pitchFamily="34" charset="0"/>
              <a:buChar char="•"/>
            </a:pPr>
            <a:r>
              <a:rPr lang="en-US" sz="3200" b="1" dirty="0">
                <a:solidFill>
                  <a:schemeClr val="accent5">
                    <a:lumMod val="50000"/>
                  </a:schemeClr>
                </a:solidFill>
              </a:rPr>
              <a:t>P-value cult </a:t>
            </a:r>
          </a:p>
          <a:p>
            <a:pPr marL="342900" indent="-342900" algn="just">
              <a:buFont typeface="Arial" panose="020B0604020202020204" pitchFamily="34" charset="0"/>
              <a:buChar char="•"/>
            </a:pPr>
            <a:r>
              <a:rPr lang="en-US" sz="3200" b="1" dirty="0">
                <a:solidFill>
                  <a:schemeClr val="accent5">
                    <a:lumMod val="50000"/>
                  </a:schemeClr>
                </a:solidFill>
              </a:rPr>
              <a:t>Large „natural” experiments </a:t>
            </a:r>
            <a:endParaRPr lang="pl-PL" sz="3200" b="1" dirty="0">
              <a:solidFill>
                <a:schemeClr val="accent5">
                  <a:lumMod val="50000"/>
                </a:schemeClr>
              </a:solidFill>
            </a:endParaRPr>
          </a:p>
          <a:p>
            <a:pPr algn="just"/>
            <a:endParaRPr lang="pl-PL" sz="3200" b="1" dirty="0">
              <a:solidFill>
                <a:schemeClr val="accent5">
                  <a:lumMod val="50000"/>
                </a:schemeClr>
              </a:solidFill>
            </a:endParaRPr>
          </a:p>
        </p:txBody>
      </p:sp>
    </p:spTree>
    <p:extLst>
      <p:ext uri="{BB962C8B-B14F-4D97-AF65-F5344CB8AC3E}">
        <p14:creationId xmlns:p14="http://schemas.microsoft.com/office/powerpoint/2010/main" val="34729996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en-US" sz="4400" b="1" dirty="0">
                <a:solidFill>
                  <a:schemeClr val="accent5">
                    <a:lumMod val="50000"/>
                  </a:schemeClr>
                </a:solidFill>
              </a:rPr>
              <a:t>The causal inference</a:t>
            </a:r>
            <a:r>
              <a:rPr lang="pl-PL" sz="4400" b="1" dirty="0">
                <a:solidFill>
                  <a:schemeClr val="accent5">
                    <a:lumMod val="50000"/>
                  </a:schemeClr>
                </a:solidFill>
              </a:rPr>
              <a:t> </a:t>
            </a:r>
          </a:p>
          <a:p>
            <a:pPr algn="ctr"/>
            <a:r>
              <a:rPr lang="pl-PL" sz="3200" b="1" spc="-1" dirty="0" err="1">
                <a:solidFill>
                  <a:srgbClr val="215968"/>
                </a:solidFill>
              </a:rPr>
              <a:t>econometrics</a:t>
            </a:r>
            <a:r>
              <a:rPr lang="pl-PL" sz="3200" b="1" spc="-1" dirty="0">
                <a:solidFill>
                  <a:srgbClr val="215968"/>
                </a:solidFill>
              </a:rPr>
              <a:t> and </a:t>
            </a:r>
            <a:r>
              <a:rPr lang="pl-PL" sz="3200" b="1" spc="-1" dirty="0" err="1">
                <a:solidFill>
                  <a:srgbClr val="215968"/>
                </a:solidFill>
              </a:rPr>
              <a:t>causality</a:t>
            </a:r>
            <a:endParaRPr lang="en-GB" sz="2000" b="1" dirty="0"/>
          </a:p>
        </p:txBody>
      </p:sp>
      <p:sp>
        <p:nvSpPr>
          <p:cNvPr id="3" name="Prostokąt 2"/>
          <p:cNvSpPr/>
          <p:nvPr/>
        </p:nvSpPr>
        <p:spPr>
          <a:xfrm>
            <a:off x="0" y="1168142"/>
            <a:ext cx="2863273" cy="461665"/>
          </a:xfrm>
          <a:prstGeom prst="rect">
            <a:avLst/>
          </a:prstGeom>
        </p:spPr>
        <p:txBody>
          <a:bodyPr wrap="square">
            <a:spAutoFit/>
          </a:bodyPr>
          <a:lstStyle/>
          <a:p>
            <a:r>
              <a:rPr lang="pl-PL" sz="2400" dirty="0">
                <a:solidFill>
                  <a:srgbClr val="215968"/>
                </a:solidFill>
              </a:rPr>
              <a:t>  </a:t>
            </a:r>
            <a:endParaRPr lang="en-US" sz="2800" b="1" dirty="0">
              <a:solidFill>
                <a:srgbClr val="215968"/>
              </a:solidFill>
            </a:endParaRPr>
          </a:p>
        </p:txBody>
      </p:sp>
      <p:pic>
        <p:nvPicPr>
          <p:cNvPr id="82" name="Obraz 81"/>
          <p:cNvPicPr>
            <a:picLocks noChangeAspect="1"/>
          </p:cNvPicPr>
          <p:nvPr/>
        </p:nvPicPr>
        <p:blipFill>
          <a:blip r:embed="rId2"/>
          <a:stretch>
            <a:fillRect/>
          </a:stretch>
        </p:blipFill>
        <p:spPr>
          <a:xfrm>
            <a:off x="6807072" y="2410023"/>
            <a:ext cx="5329638" cy="3233396"/>
          </a:xfrm>
          <a:prstGeom prst="rect">
            <a:avLst/>
          </a:prstGeom>
        </p:spPr>
      </p:pic>
      <p:sp>
        <p:nvSpPr>
          <p:cNvPr id="2" name="Prostokąt 1"/>
          <p:cNvSpPr/>
          <p:nvPr/>
        </p:nvSpPr>
        <p:spPr>
          <a:xfrm>
            <a:off x="78060" y="1325086"/>
            <a:ext cx="6807072" cy="5403270"/>
          </a:xfrm>
          <a:prstGeom prst="rect">
            <a:avLst/>
          </a:prstGeom>
        </p:spPr>
        <p:txBody>
          <a:bodyPr wrap="square">
            <a:spAutoFit/>
          </a:bodyPr>
          <a:lstStyle/>
          <a:p>
            <a:pPr algn="just"/>
            <a:r>
              <a:rPr lang="en-US" sz="2400" dirty="0">
                <a:solidFill>
                  <a:schemeClr val="accent5">
                    <a:lumMod val="50000"/>
                  </a:schemeClr>
                </a:solidFill>
              </a:rPr>
              <a:t>Randomization is a very simple method compared to econometric modelling. Unfortunately, </a:t>
            </a:r>
            <a:r>
              <a:rPr lang="pl-PL" sz="2400" dirty="0" err="1">
                <a:solidFill>
                  <a:schemeClr val="accent5">
                    <a:lumMod val="50000"/>
                  </a:schemeClr>
                </a:solidFill>
              </a:rPr>
              <a:t>any</a:t>
            </a:r>
            <a:r>
              <a:rPr lang="en-US" sz="2400" dirty="0">
                <a:solidFill>
                  <a:schemeClr val="accent5">
                    <a:lumMod val="50000"/>
                  </a:schemeClr>
                </a:solidFill>
              </a:rPr>
              <a:t> econometric models</a:t>
            </a:r>
            <a:r>
              <a:rPr lang="pl-PL" sz="2400" dirty="0">
                <a:solidFill>
                  <a:schemeClr val="accent5">
                    <a:lumMod val="50000"/>
                  </a:schemeClr>
                </a:solidFill>
              </a:rPr>
              <a:t> (</a:t>
            </a:r>
            <a:r>
              <a:rPr lang="pl-PL" sz="2400" dirty="0" err="1">
                <a:solidFill>
                  <a:schemeClr val="accent5">
                    <a:lumMod val="50000"/>
                  </a:schemeClr>
                </a:solidFill>
              </a:rPr>
              <a:t>based</a:t>
            </a:r>
            <a:r>
              <a:rPr lang="pl-PL" sz="2400" dirty="0">
                <a:solidFill>
                  <a:schemeClr val="accent5">
                    <a:lumMod val="50000"/>
                  </a:schemeClr>
                </a:solidFill>
              </a:rPr>
              <a:t> on </a:t>
            </a:r>
            <a:r>
              <a:rPr lang="pl-PL" sz="2400" b="1" dirty="0" err="1">
                <a:solidFill>
                  <a:schemeClr val="accent5">
                    <a:lumMod val="50000"/>
                  </a:schemeClr>
                </a:solidFill>
              </a:rPr>
              <a:t>sample</a:t>
            </a:r>
            <a:r>
              <a:rPr lang="pl-PL" sz="2400" b="1" dirty="0">
                <a:solidFill>
                  <a:schemeClr val="accent5">
                    <a:lumMod val="50000"/>
                  </a:schemeClr>
                </a:solidFill>
              </a:rPr>
              <a:t> data</a:t>
            </a:r>
            <a:r>
              <a:rPr lang="pl-PL" sz="2400" dirty="0">
                <a:solidFill>
                  <a:schemeClr val="accent5">
                    <a:lumMod val="50000"/>
                  </a:schemeClr>
                </a:solidFill>
              </a:rPr>
              <a:t>)</a:t>
            </a:r>
            <a:r>
              <a:rPr lang="en-US" sz="2400" dirty="0">
                <a:solidFill>
                  <a:schemeClr val="accent5">
                    <a:lumMod val="50000"/>
                  </a:schemeClr>
                </a:solidFill>
              </a:rPr>
              <a:t> cannot be </a:t>
            </a:r>
            <a:r>
              <a:rPr lang="pl-PL" sz="2400" dirty="0" err="1">
                <a:solidFill>
                  <a:schemeClr val="accent5">
                    <a:lumMod val="50000"/>
                  </a:schemeClr>
                </a:solidFill>
              </a:rPr>
              <a:t>treated</a:t>
            </a:r>
            <a:r>
              <a:rPr lang="pl-PL" sz="2400" dirty="0">
                <a:solidFill>
                  <a:schemeClr val="accent5">
                    <a:lumMod val="50000"/>
                  </a:schemeClr>
                </a:solidFill>
              </a:rPr>
              <a:t> as </a:t>
            </a:r>
            <a:r>
              <a:rPr lang="en-US" sz="2400" dirty="0">
                <a:solidFill>
                  <a:schemeClr val="accent5">
                    <a:lumMod val="50000"/>
                  </a:schemeClr>
                </a:solidFill>
              </a:rPr>
              <a:t>an explicit test of </a:t>
            </a:r>
            <a:r>
              <a:rPr lang="pl-PL" sz="2400" dirty="0" err="1">
                <a:solidFill>
                  <a:schemeClr val="accent5">
                    <a:lumMod val="50000"/>
                  </a:schemeClr>
                </a:solidFill>
              </a:rPr>
              <a:t>causal</a:t>
            </a:r>
            <a:r>
              <a:rPr lang="en-US" sz="2400" dirty="0">
                <a:solidFill>
                  <a:schemeClr val="accent5">
                    <a:lumMod val="50000"/>
                  </a:schemeClr>
                </a:solidFill>
              </a:rPr>
              <a:t> relations in the economy. Problems are </a:t>
            </a:r>
            <a:r>
              <a:rPr lang="en-US" sz="2400" dirty="0" err="1">
                <a:solidFill>
                  <a:schemeClr val="accent5">
                    <a:lumMod val="50000"/>
                  </a:schemeClr>
                </a:solidFill>
              </a:rPr>
              <a:t>i</a:t>
            </a:r>
            <a:r>
              <a:rPr lang="en-US" sz="2400" dirty="0">
                <a:solidFill>
                  <a:schemeClr val="accent5">
                    <a:lumMod val="50000"/>
                  </a:schemeClr>
                </a:solidFill>
              </a:rPr>
              <a:t>) </a:t>
            </a:r>
            <a:r>
              <a:rPr lang="en-US" sz="2400" b="1" dirty="0">
                <a:solidFill>
                  <a:schemeClr val="accent5">
                    <a:lumMod val="50000"/>
                  </a:schemeClr>
                </a:solidFill>
              </a:rPr>
              <a:t>biased and incomplete</a:t>
            </a:r>
            <a:r>
              <a:rPr lang="en-US" sz="2400" dirty="0">
                <a:solidFill>
                  <a:schemeClr val="accent5">
                    <a:lumMod val="50000"/>
                  </a:schemeClr>
                </a:solidFill>
              </a:rPr>
              <a:t> data</a:t>
            </a:r>
            <a:r>
              <a:rPr lang="pl-PL" sz="2400" dirty="0">
                <a:solidFill>
                  <a:schemeClr val="accent5">
                    <a:lumMod val="50000"/>
                  </a:schemeClr>
                </a:solidFill>
              </a:rPr>
              <a:t> set</a:t>
            </a:r>
            <a:r>
              <a:rPr lang="en-US" sz="2400" dirty="0">
                <a:solidFill>
                  <a:schemeClr val="accent5">
                    <a:lumMod val="50000"/>
                  </a:schemeClr>
                </a:solidFill>
              </a:rPr>
              <a:t> ii) the </a:t>
            </a:r>
            <a:r>
              <a:rPr lang="en-US" sz="2400" b="1" dirty="0">
                <a:solidFill>
                  <a:schemeClr val="accent5">
                    <a:lumMod val="50000"/>
                  </a:schemeClr>
                </a:solidFill>
              </a:rPr>
              <a:t>quality/reality</a:t>
            </a:r>
            <a:r>
              <a:rPr lang="en-US" sz="2400" dirty="0">
                <a:solidFill>
                  <a:schemeClr val="accent5">
                    <a:lumMod val="50000"/>
                  </a:schemeClr>
                </a:solidFill>
              </a:rPr>
              <a:t> of the theoretical model.</a:t>
            </a:r>
          </a:p>
          <a:p>
            <a:pPr algn="just"/>
            <a:endParaRPr lang="en-US" sz="2400" dirty="0">
              <a:solidFill>
                <a:schemeClr val="accent5">
                  <a:lumMod val="50000"/>
                </a:schemeClr>
              </a:solidFill>
            </a:endParaRPr>
          </a:p>
          <a:p>
            <a:pPr algn="just"/>
            <a:r>
              <a:rPr lang="en-US" sz="2400" dirty="0">
                <a:solidFill>
                  <a:schemeClr val="accent5">
                    <a:lumMod val="50000"/>
                  </a:schemeClr>
                </a:solidFill>
              </a:rPr>
              <a:t>We create causal </a:t>
            </a:r>
            <a:r>
              <a:rPr lang="pl-PL" sz="2400" dirty="0" err="1">
                <a:solidFill>
                  <a:schemeClr val="accent5">
                    <a:lumMod val="50000"/>
                  </a:schemeClr>
                </a:solidFill>
              </a:rPr>
              <a:t>relationships</a:t>
            </a:r>
            <a:r>
              <a:rPr lang="en-US" sz="2400" dirty="0">
                <a:solidFill>
                  <a:schemeClr val="accent5">
                    <a:lumMod val="50000"/>
                  </a:schemeClr>
                </a:solidFill>
              </a:rPr>
              <a:t> in the theoretical model and we test the model. But the </a:t>
            </a:r>
            <a:r>
              <a:rPr lang="pl-PL" sz="2400" dirty="0" err="1">
                <a:solidFill>
                  <a:schemeClr val="accent5">
                    <a:lumMod val="50000"/>
                  </a:schemeClr>
                </a:solidFill>
              </a:rPr>
              <a:t>poor</a:t>
            </a:r>
            <a:r>
              <a:rPr lang="pl-PL" sz="2400" dirty="0">
                <a:solidFill>
                  <a:schemeClr val="accent5">
                    <a:lumMod val="50000"/>
                  </a:schemeClr>
                </a:solidFill>
              </a:rPr>
              <a:t> </a:t>
            </a:r>
            <a:r>
              <a:rPr lang="en-US" sz="2400" dirty="0">
                <a:solidFill>
                  <a:schemeClr val="accent5">
                    <a:lumMod val="50000"/>
                  </a:schemeClr>
                </a:solidFill>
              </a:rPr>
              <a:t>quality of the data hides the true relationship. Sometimes variables are influenced by the same </a:t>
            </a:r>
            <a:r>
              <a:rPr lang="en-US" sz="2400" b="1" dirty="0">
                <a:solidFill>
                  <a:schemeClr val="accent5">
                    <a:lumMod val="50000"/>
                  </a:schemeClr>
                </a:solidFill>
              </a:rPr>
              <a:t>hidden factor</a:t>
            </a:r>
            <a:r>
              <a:rPr lang="en-US" sz="2400" dirty="0">
                <a:solidFill>
                  <a:schemeClr val="accent5">
                    <a:lumMod val="50000"/>
                  </a:schemeClr>
                </a:solidFill>
              </a:rPr>
              <a:t> which is not included in the data. </a:t>
            </a:r>
            <a:r>
              <a:rPr lang="en-US" sz="2400" dirty="0" err="1">
                <a:solidFill>
                  <a:schemeClr val="accent5">
                    <a:lumMod val="50000"/>
                  </a:schemeClr>
                </a:solidFill>
              </a:rPr>
              <a:t>Someti</a:t>
            </a:r>
            <a:r>
              <a:rPr lang="pl-PL" sz="2400" dirty="0">
                <a:solidFill>
                  <a:schemeClr val="accent5">
                    <a:lumMod val="50000"/>
                  </a:schemeClr>
                </a:solidFill>
              </a:rPr>
              <a:t>mes</a:t>
            </a:r>
            <a:r>
              <a:rPr lang="en-US" sz="2400" dirty="0">
                <a:solidFill>
                  <a:schemeClr val="accent5">
                    <a:lumMod val="50000"/>
                  </a:schemeClr>
                </a:solidFill>
              </a:rPr>
              <a:t> there is </a:t>
            </a:r>
            <a:r>
              <a:rPr lang="en-US" sz="2400" b="1" dirty="0">
                <a:solidFill>
                  <a:schemeClr val="accent5">
                    <a:lumMod val="50000"/>
                  </a:schemeClr>
                </a:solidFill>
              </a:rPr>
              <a:t>pure coincidence</a:t>
            </a:r>
            <a:r>
              <a:rPr lang="en-US" sz="2400" dirty="0">
                <a:solidFill>
                  <a:schemeClr val="accent5">
                    <a:lumMod val="50000"/>
                  </a:schemeClr>
                </a:solidFill>
              </a:rPr>
              <a:t>. </a:t>
            </a:r>
            <a:endParaRPr lang="pl-PL" sz="2400" dirty="0">
              <a:solidFill>
                <a:schemeClr val="accent5">
                  <a:lumMod val="50000"/>
                </a:schemeClr>
              </a:solidFill>
            </a:endParaRPr>
          </a:p>
        </p:txBody>
      </p:sp>
    </p:spTree>
    <p:extLst>
      <p:ext uri="{BB962C8B-B14F-4D97-AF65-F5344CB8AC3E}">
        <p14:creationId xmlns:p14="http://schemas.microsoft.com/office/powerpoint/2010/main" val="22268657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en-US" sz="4400" b="1" spc="-1" dirty="0">
                <a:solidFill>
                  <a:srgbClr val="215968"/>
                </a:solidFill>
              </a:rPr>
              <a:t>The causal inference </a:t>
            </a:r>
          </a:p>
          <a:p>
            <a:pPr algn="ctr"/>
            <a:r>
              <a:rPr lang="en-US" sz="2800" b="1" spc="-1" dirty="0">
                <a:solidFill>
                  <a:srgbClr val="215968"/>
                </a:solidFill>
              </a:rPr>
              <a:t>econometrics and causality</a:t>
            </a:r>
          </a:p>
        </p:txBody>
      </p:sp>
      <p:sp>
        <p:nvSpPr>
          <p:cNvPr id="2" name="Prostokąt 1"/>
          <p:cNvSpPr/>
          <p:nvPr/>
        </p:nvSpPr>
        <p:spPr>
          <a:xfrm>
            <a:off x="224375" y="1715826"/>
            <a:ext cx="11466947" cy="4524315"/>
          </a:xfrm>
          <a:prstGeom prst="rect">
            <a:avLst/>
          </a:prstGeom>
        </p:spPr>
        <p:txBody>
          <a:bodyPr wrap="square">
            <a:spAutoFit/>
          </a:bodyPr>
          <a:lstStyle/>
          <a:p>
            <a:pPr algn="just"/>
            <a:r>
              <a:rPr lang="en-US" sz="2400" dirty="0">
                <a:solidFill>
                  <a:schemeClr val="accent5">
                    <a:lumMod val="50000"/>
                  </a:schemeClr>
                </a:solidFill>
              </a:rPr>
              <a:t>Variables are sometimes </a:t>
            </a:r>
            <a:r>
              <a:rPr lang="en-US" sz="2400" b="1" dirty="0">
                <a:solidFill>
                  <a:schemeClr val="accent5">
                    <a:lumMod val="50000"/>
                  </a:schemeClr>
                </a:solidFill>
              </a:rPr>
              <a:t>associated </a:t>
            </a:r>
            <a:r>
              <a:rPr lang="en-US" sz="2400" dirty="0">
                <a:solidFill>
                  <a:schemeClr val="accent5">
                    <a:lumMod val="50000"/>
                  </a:schemeClr>
                </a:solidFill>
              </a:rPr>
              <a:t>but not </a:t>
            </a:r>
            <a:r>
              <a:rPr lang="en-US" sz="2400" b="1" dirty="0">
                <a:solidFill>
                  <a:schemeClr val="accent5">
                    <a:lumMod val="50000"/>
                  </a:schemeClr>
                </a:solidFill>
              </a:rPr>
              <a:t>causally related</a:t>
            </a:r>
            <a:r>
              <a:rPr lang="en-US" sz="2400" dirty="0">
                <a:solidFill>
                  <a:schemeClr val="accent5">
                    <a:lumMod val="50000"/>
                  </a:schemeClr>
                </a:solidFill>
              </a:rPr>
              <a:t>, due to the presence of unseen (hidden) </a:t>
            </a:r>
            <a:r>
              <a:rPr lang="en-US" sz="2400" b="1" dirty="0">
                <a:solidFill>
                  <a:schemeClr val="accent5">
                    <a:lumMod val="50000"/>
                  </a:schemeClr>
                </a:solidFill>
              </a:rPr>
              <a:t>common response variable</a:t>
            </a:r>
            <a:r>
              <a:rPr lang="en-US" sz="2400" dirty="0">
                <a:solidFill>
                  <a:schemeClr val="accent5">
                    <a:lumMod val="50000"/>
                  </a:schemeClr>
                </a:solidFill>
              </a:rPr>
              <a:t> - which influences both the dependent variable and independent variable. </a:t>
            </a:r>
          </a:p>
          <a:p>
            <a:pPr algn="just"/>
            <a:endParaRPr lang="en-US" sz="2400" dirty="0">
              <a:solidFill>
                <a:schemeClr val="accent5">
                  <a:lumMod val="50000"/>
                </a:schemeClr>
              </a:solidFill>
            </a:endParaRPr>
          </a:p>
          <a:p>
            <a:pPr algn="just"/>
            <a:r>
              <a:rPr lang="en-US" sz="2400" i="1" dirty="0">
                <a:solidFill>
                  <a:schemeClr val="accent5">
                    <a:lumMod val="50000"/>
                  </a:schemeClr>
                </a:solidFill>
              </a:rPr>
              <a:t>The </a:t>
            </a:r>
            <a:r>
              <a:rPr lang="pl-PL" sz="2400" i="1" dirty="0" err="1">
                <a:solidFill>
                  <a:schemeClr val="accent5">
                    <a:lumMod val="50000"/>
                  </a:schemeClr>
                </a:solidFill>
              </a:rPr>
              <a:t>econometric</a:t>
            </a:r>
            <a:r>
              <a:rPr lang="pl-PL" sz="2400" i="1" dirty="0">
                <a:solidFill>
                  <a:schemeClr val="accent5">
                    <a:lumMod val="50000"/>
                  </a:schemeClr>
                </a:solidFill>
              </a:rPr>
              <a:t> </a:t>
            </a:r>
            <a:r>
              <a:rPr lang="en-US" sz="2400" i="1" dirty="0">
                <a:solidFill>
                  <a:schemeClr val="accent5">
                    <a:lumMod val="50000"/>
                  </a:schemeClr>
                </a:solidFill>
              </a:rPr>
              <a:t>model </a:t>
            </a:r>
            <a:r>
              <a:rPr lang="pl-PL" sz="2400" i="1" dirty="0">
                <a:solidFill>
                  <a:schemeClr val="accent5">
                    <a:lumMod val="50000"/>
                  </a:schemeClr>
                </a:solidFill>
              </a:rPr>
              <a:t>in </a:t>
            </a:r>
            <a:r>
              <a:rPr lang="pl-PL" sz="2400" i="1" dirty="0" err="1">
                <a:solidFill>
                  <a:schemeClr val="accent5">
                    <a:lumMod val="50000"/>
                  </a:schemeClr>
                </a:solidFill>
              </a:rPr>
              <a:t>which</a:t>
            </a:r>
            <a:r>
              <a:rPr lang="en-US" sz="2400" i="1" dirty="0">
                <a:solidFill>
                  <a:schemeClr val="accent5">
                    <a:lumMod val="50000"/>
                  </a:schemeClr>
                </a:solidFill>
              </a:rPr>
              <a:t> payment of compensation for property damaged in a fire is explained by a number of firemen extinguishing the fire seems OK [using standards econometric procedures: p-value, R</a:t>
            </a:r>
            <a:r>
              <a:rPr lang="en-US" sz="2400" i="1" baseline="30000" dirty="0">
                <a:solidFill>
                  <a:schemeClr val="accent5">
                    <a:lumMod val="50000"/>
                  </a:schemeClr>
                </a:solidFill>
              </a:rPr>
              <a:t>2</a:t>
            </a:r>
            <a:r>
              <a:rPr lang="en-US" sz="2400" i="1" dirty="0">
                <a:solidFill>
                  <a:schemeClr val="accent5">
                    <a:lumMod val="50000"/>
                  </a:schemeClr>
                </a:solidFill>
              </a:rPr>
              <a:t>,… ]. But the model has no sense</a:t>
            </a:r>
            <a:r>
              <a:rPr lang="pl-PL" sz="2400" i="1" dirty="0">
                <a:solidFill>
                  <a:schemeClr val="accent5">
                    <a:lumMod val="50000"/>
                  </a:schemeClr>
                </a:solidFill>
              </a:rPr>
              <a:t> </a:t>
            </a:r>
            <a:r>
              <a:rPr lang="en-US" sz="2400" i="1" dirty="0">
                <a:solidFill>
                  <a:schemeClr val="accent5">
                    <a:lumMod val="50000"/>
                  </a:schemeClr>
                </a:solidFill>
              </a:rPr>
              <a:t>at all. Argumentum ad absurdum</a:t>
            </a:r>
            <a:r>
              <a:rPr lang="pl-PL" sz="2400" i="1" dirty="0">
                <a:solidFill>
                  <a:schemeClr val="accent5">
                    <a:lumMod val="50000"/>
                  </a:schemeClr>
                </a:solidFill>
              </a:rPr>
              <a:t>: a</a:t>
            </a:r>
            <a:r>
              <a:rPr lang="en-US" sz="2400" i="1" dirty="0">
                <a:solidFill>
                  <a:schemeClr val="accent5">
                    <a:lumMod val="50000"/>
                  </a:schemeClr>
                </a:solidFill>
              </a:rPr>
              <a:t>n insurance company should push to fire firemen from job to lower the compensations. :) Here the common response variable is the size of the fire. </a:t>
            </a:r>
          </a:p>
          <a:p>
            <a:pPr algn="just"/>
            <a:endParaRPr lang="en-US" sz="2400" dirty="0">
              <a:solidFill>
                <a:schemeClr val="accent5">
                  <a:lumMod val="50000"/>
                </a:schemeClr>
              </a:solidFill>
            </a:endParaRPr>
          </a:p>
          <a:p>
            <a:pPr algn="just"/>
            <a:r>
              <a:rPr lang="en-US" sz="2400" dirty="0">
                <a:solidFill>
                  <a:schemeClr val="accent5">
                    <a:lumMod val="50000"/>
                  </a:schemeClr>
                </a:solidFill>
              </a:rPr>
              <a:t>In time-series data there is a good simulation presenting the problem of the common response variable. </a:t>
            </a:r>
          </a:p>
        </p:txBody>
      </p:sp>
    </p:spTree>
    <p:extLst>
      <p:ext uri="{BB962C8B-B14F-4D97-AF65-F5344CB8AC3E}">
        <p14:creationId xmlns:p14="http://schemas.microsoft.com/office/powerpoint/2010/main" val="25495319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000" b="1" i="1" spc="-1" dirty="0" err="1">
                <a:solidFill>
                  <a:srgbClr val="215968"/>
                </a:solidFill>
              </a:rPr>
              <a:t>Spurious</a:t>
            </a:r>
            <a:r>
              <a:rPr lang="pl-PL" sz="4000" b="1" i="1" spc="-1" dirty="0">
                <a:solidFill>
                  <a:srgbClr val="215968"/>
                </a:solidFill>
              </a:rPr>
              <a:t> </a:t>
            </a:r>
            <a:r>
              <a:rPr lang="pl-PL" sz="4000" b="1" i="1" spc="-1" dirty="0" err="1">
                <a:solidFill>
                  <a:srgbClr val="215968"/>
                </a:solidFill>
              </a:rPr>
              <a:t>regressions</a:t>
            </a:r>
            <a:r>
              <a:rPr lang="pl-PL" sz="4000" b="1" i="1" spc="-1" dirty="0">
                <a:solidFill>
                  <a:srgbClr val="215968"/>
                </a:solidFill>
              </a:rPr>
              <a:t> (</a:t>
            </a:r>
            <a:r>
              <a:rPr lang="pl-PL" sz="4000" b="1" i="1" spc="-1" dirty="0" err="1">
                <a:solidFill>
                  <a:srgbClr val="215968"/>
                </a:solidFill>
              </a:rPr>
              <a:t>replicaton</a:t>
            </a:r>
            <a:r>
              <a:rPr lang="pl-PL" sz="4000" b="1" i="1" spc="-1" dirty="0">
                <a:solidFill>
                  <a:srgbClr val="215968"/>
                </a:solidFill>
              </a:rPr>
              <a:t> of MC </a:t>
            </a:r>
            <a:r>
              <a:rPr lang="pl-PL" sz="4000" b="1" i="1" spc="-1" dirty="0" err="1">
                <a:solidFill>
                  <a:srgbClr val="215968"/>
                </a:solidFill>
              </a:rPr>
              <a:t>study</a:t>
            </a:r>
            <a:r>
              <a:rPr lang="pl-PL" sz="4000" b="1" i="1" spc="-1" dirty="0">
                <a:solidFill>
                  <a:srgbClr val="215968"/>
                </a:solidFill>
              </a:rPr>
              <a:t>) </a:t>
            </a:r>
          </a:p>
          <a:p>
            <a:pPr algn="ctr"/>
            <a:r>
              <a:rPr lang="pl-PL" sz="2800" dirty="0" err="1">
                <a:solidFill>
                  <a:srgbClr val="215968"/>
                </a:solidFill>
              </a:rPr>
              <a:t>Granger</a:t>
            </a:r>
            <a:r>
              <a:rPr lang="pl-PL" sz="2800" dirty="0">
                <a:solidFill>
                  <a:srgbClr val="215968"/>
                </a:solidFill>
              </a:rPr>
              <a:t> and </a:t>
            </a:r>
            <a:r>
              <a:rPr lang="pl-PL" sz="2800" dirty="0" err="1">
                <a:solidFill>
                  <a:srgbClr val="215968"/>
                </a:solidFill>
              </a:rPr>
              <a:t>Newbold</a:t>
            </a:r>
            <a:r>
              <a:rPr lang="pl-PL" sz="2800" dirty="0">
                <a:solidFill>
                  <a:srgbClr val="215968"/>
                </a:solidFill>
              </a:rPr>
              <a:t> (1974)</a:t>
            </a:r>
            <a:endParaRPr lang="en-US" sz="3200" dirty="0">
              <a:solidFill>
                <a:srgbClr val="215968"/>
              </a:solidFill>
            </a:endParaRPr>
          </a:p>
        </p:txBody>
      </p:sp>
      <mc:AlternateContent xmlns:mc="http://schemas.openxmlformats.org/markup-compatibility/2006" xmlns:a14="http://schemas.microsoft.com/office/drawing/2010/main">
        <mc:Choice Requires="a14">
          <p:sp>
            <p:nvSpPr>
              <p:cNvPr id="3" name="Prostokąt 2"/>
              <p:cNvSpPr/>
              <p:nvPr/>
            </p:nvSpPr>
            <p:spPr>
              <a:xfrm>
                <a:off x="173255" y="1168142"/>
                <a:ext cx="7952509" cy="5632311"/>
              </a:xfrm>
              <a:prstGeom prst="rect">
                <a:avLst/>
              </a:prstGeom>
            </p:spPr>
            <p:txBody>
              <a:bodyPr wrap="square">
                <a:spAutoFit/>
              </a:bodyPr>
              <a:lstStyle/>
              <a:p>
                <a:pPr algn="just"/>
                <a:r>
                  <a:rPr lang="en-US" sz="2000" dirty="0">
                    <a:solidFill>
                      <a:srgbClr val="215968"/>
                    </a:solidFill>
                  </a:rPr>
                  <a:t>We have two processes that are close to a random walk</a:t>
                </a:r>
                <a:r>
                  <a:rPr lang="pl-PL" sz="2000" dirty="0">
                    <a:solidFill>
                      <a:srgbClr val="215968"/>
                    </a:solidFill>
                  </a:rPr>
                  <a:t> b1,b2~1</a:t>
                </a:r>
                <a:r>
                  <a:rPr lang="en-US" sz="2000" dirty="0">
                    <a:solidFill>
                      <a:srgbClr val="215968"/>
                    </a:solidFill>
                  </a:rPr>
                  <a:t>. </a:t>
                </a:r>
              </a:p>
              <a:p>
                <a:pPr algn="ctr"/>
                <a14:m>
                  <m:oMath xmlns:m="http://schemas.openxmlformats.org/officeDocument/2006/math">
                    <m:sSub>
                      <m:sSubPr>
                        <m:ctrlPr>
                          <a:rPr lang="en-US" sz="2000" i="1" smtClean="0">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rPr>
                          <m:t>𝑦</m:t>
                        </m:r>
                      </m:e>
                      <m:sub>
                        <m:r>
                          <a:rPr lang="pl-PL" sz="2000" b="0" i="1" smtClean="0">
                            <a:solidFill>
                              <a:srgbClr val="215968"/>
                            </a:solidFill>
                            <a:latin typeface="Cambria Math" panose="02040503050406030204" pitchFamily="18" charset="0"/>
                          </a:rPr>
                          <m:t>𝑡</m:t>
                        </m:r>
                      </m:sub>
                    </m:sSub>
                    <m:r>
                      <a:rPr lang="pl-PL" sz="2000" b="0" i="1" smtClean="0">
                        <a:solidFill>
                          <a:srgbClr val="215968"/>
                        </a:solidFill>
                        <a:latin typeface="Cambria Math" panose="02040503050406030204" pitchFamily="18" charset="0"/>
                      </a:rPr>
                      <m:t>=</m:t>
                    </m:r>
                    <m:r>
                      <a:rPr lang="pl-PL" sz="2000" b="0" i="1" smtClean="0">
                        <a:solidFill>
                          <a:srgbClr val="215968"/>
                        </a:solidFill>
                        <a:latin typeface="Cambria Math" panose="02040503050406030204" pitchFamily="18" charset="0"/>
                      </a:rPr>
                      <m:t>𝑎</m:t>
                    </m:r>
                    <m:r>
                      <a:rPr lang="pl-PL" sz="2000" b="0" i="1" smtClean="0">
                        <a:solidFill>
                          <a:srgbClr val="215968"/>
                        </a:solidFill>
                        <a:latin typeface="Cambria Math" panose="02040503050406030204" pitchFamily="18" charset="0"/>
                      </a:rPr>
                      <m:t>+</m:t>
                    </m:r>
                    <m:r>
                      <a:rPr lang="pl-PL" sz="2000" b="0" i="1" smtClean="0">
                        <a:solidFill>
                          <a:srgbClr val="215968"/>
                        </a:solidFill>
                        <a:latin typeface="Cambria Math" panose="02040503050406030204" pitchFamily="18" charset="0"/>
                      </a:rPr>
                      <m:t>𝑏</m:t>
                    </m:r>
                    <m:r>
                      <a:rPr lang="pl-PL" sz="2000" b="0" i="1" smtClean="0">
                        <a:solidFill>
                          <a:srgbClr val="215968"/>
                        </a:solidFill>
                        <a:latin typeface="Cambria Math" panose="02040503050406030204" pitchFamily="18" charset="0"/>
                      </a:rPr>
                      <m:t>1</m:t>
                    </m:r>
                    <m:sSub>
                      <m:sSubPr>
                        <m:ctrlPr>
                          <a:rPr lang="pl-PL" sz="2000" b="0" i="1" smtClean="0">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rPr>
                          <m:t>𝑦</m:t>
                        </m:r>
                      </m:e>
                      <m:sub>
                        <m:r>
                          <a:rPr lang="pl-PL" sz="2000" b="0" i="1" smtClean="0">
                            <a:solidFill>
                              <a:srgbClr val="215968"/>
                            </a:solidFill>
                            <a:latin typeface="Cambria Math" panose="02040503050406030204" pitchFamily="18" charset="0"/>
                          </a:rPr>
                          <m:t>𝑡</m:t>
                        </m:r>
                        <m:r>
                          <a:rPr lang="pl-PL" sz="2000" b="0" i="1" smtClean="0">
                            <a:solidFill>
                              <a:srgbClr val="215968"/>
                            </a:solidFill>
                            <a:latin typeface="Cambria Math" panose="02040503050406030204" pitchFamily="18" charset="0"/>
                          </a:rPr>
                          <m:t>−1</m:t>
                        </m:r>
                      </m:sub>
                    </m:sSub>
                    <m:r>
                      <a:rPr lang="pl-PL" sz="2000" b="0" i="1" smtClean="0">
                        <a:solidFill>
                          <a:srgbClr val="215968"/>
                        </a:solidFill>
                        <a:latin typeface="Cambria Math" panose="02040503050406030204" pitchFamily="18" charset="0"/>
                      </a:rPr>
                      <m:t>+ </m:t>
                    </m:r>
                    <m:sSub>
                      <m:sSubPr>
                        <m:ctrlPr>
                          <a:rPr lang="pl-PL" sz="2000" b="0" i="1" smtClean="0">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ea typeface="Cambria Math" panose="02040503050406030204" pitchFamily="18" charset="0"/>
                          </a:rPr>
                          <m:t>𝑢</m:t>
                        </m:r>
                      </m:e>
                      <m:sub>
                        <m:r>
                          <a:rPr lang="pl-PL" sz="2000" b="0" i="1" smtClean="0">
                            <a:solidFill>
                              <a:srgbClr val="215968"/>
                            </a:solidFill>
                            <a:latin typeface="Cambria Math" panose="02040503050406030204" pitchFamily="18" charset="0"/>
                          </a:rPr>
                          <m:t>𝑡</m:t>
                        </m:r>
                      </m:sub>
                    </m:sSub>
                    <m:r>
                      <a:rPr lang="pl-PL" sz="2000" b="0" i="1" smtClean="0">
                        <a:solidFill>
                          <a:srgbClr val="215968"/>
                        </a:solidFill>
                        <a:latin typeface="Cambria Math" panose="02040503050406030204" pitchFamily="18" charset="0"/>
                        <a:ea typeface="Cambria Math" panose="02040503050406030204" pitchFamily="18" charset="0"/>
                      </a:rPr>
                      <m:t> </m:t>
                    </m:r>
                  </m:oMath>
                </a14:m>
                <a:r>
                  <a:rPr lang="pl-PL" sz="2000" dirty="0">
                    <a:solidFill>
                      <a:srgbClr val="215968"/>
                    </a:solidFill>
                  </a:rPr>
                  <a:t>, </a:t>
                </a:r>
                <a14:m>
                  <m:oMath xmlns:m="http://schemas.openxmlformats.org/officeDocument/2006/math">
                    <m:sSub>
                      <m:sSubPr>
                        <m:ctrlPr>
                          <a:rPr lang="en-US" sz="2000" i="1">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rPr>
                          <m:t>𝑥</m:t>
                        </m:r>
                      </m:e>
                      <m:sub>
                        <m:r>
                          <a:rPr lang="pl-PL" sz="2000" i="1">
                            <a:solidFill>
                              <a:srgbClr val="215968"/>
                            </a:solidFill>
                            <a:latin typeface="Cambria Math" panose="02040503050406030204" pitchFamily="18" charset="0"/>
                          </a:rPr>
                          <m:t>𝑡</m:t>
                        </m:r>
                      </m:sub>
                    </m:sSub>
                    <m:r>
                      <a:rPr lang="pl-PL" sz="2000" i="1">
                        <a:solidFill>
                          <a:srgbClr val="215968"/>
                        </a:solidFill>
                        <a:latin typeface="Cambria Math" panose="02040503050406030204" pitchFamily="18" charset="0"/>
                      </a:rPr>
                      <m:t>=</m:t>
                    </m:r>
                    <m:r>
                      <a:rPr lang="pl-PL" sz="2000" i="1">
                        <a:solidFill>
                          <a:srgbClr val="215968"/>
                        </a:solidFill>
                        <a:latin typeface="Cambria Math" panose="02040503050406030204" pitchFamily="18" charset="0"/>
                      </a:rPr>
                      <m:t>𝑎</m:t>
                    </m:r>
                    <m:r>
                      <a:rPr lang="pl-PL" sz="2000" i="1">
                        <a:solidFill>
                          <a:srgbClr val="215968"/>
                        </a:solidFill>
                        <a:latin typeface="Cambria Math" panose="02040503050406030204" pitchFamily="18" charset="0"/>
                      </a:rPr>
                      <m:t>+</m:t>
                    </m:r>
                    <m:r>
                      <a:rPr lang="pl-PL" sz="2000" i="1">
                        <a:solidFill>
                          <a:srgbClr val="215968"/>
                        </a:solidFill>
                        <a:latin typeface="Cambria Math" panose="02040503050406030204" pitchFamily="18" charset="0"/>
                      </a:rPr>
                      <m:t>𝑏</m:t>
                    </m:r>
                    <m:sSub>
                      <m:sSubPr>
                        <m:ctrlPr>
                          <a:rPr lang="pl-PL" sz="2000" i="1">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rPr>
                          <m:t>2</m:t>
                        </m:r>
                        <m:r>
                          <a:rPr lang="pl-PL" sz="2000" b="0" i="1" smtClean="0">
                            <a:solidFill>
                              <a:srgbClr val="215968"/>
                            </a:solidFill>
                            <a:latin typeface="Cambria Math" panose="02040503050406030204" pitchFamily="18" charset="0"/>
                          </a:rPr>
                          <m:t>𝑥</m:t>
                        </m:r>
                      </m:e>
                      <m:sub>
                        <m:r>
                          <a:rPr lang="pl-PL" sz="2000" i="1">
                            <a:solidFill>
                              <a:srgbClr val="215968"/>
                            </a:solidFill>
                            <a:latin typeface="Cambria Math" panose="02040503050406030204" pitchFamily="18" charset="0"/>
                          </a:rPr>
                          <m:t>𝑡</m:t>
                        </m:r>
                        <m:r>
                          <a:rPr lang="pl-PL" sz="2000" i="1">
                            <a:solidFill>
                              <a:srgbClr val="215968"/>
                            </a:solidFill>
                            <a:latin typeface="Cambria Math" panose="02040503050406030204" pitchFamily="18" charset="0"/>
                          </a:rPr>
                          <m:t>−1</m:t>
                        </m:r>
                      </m:sub>
                    </m:sSub>
                    <m:r>
                      <a:rPr lang="pl-PL" sz="2000" i="1">
                        <a:solidFill>
                          <a:srgbClr val="215968"/>
                        </a:solidFill>
                        <a:latin typeface="Cambria Math" panose="02040503050406030204" pitchFamily="18" charset="0"/>
                      </a:rPr>
                      <m:t>+ </m:t>
                    </m:r>
                    <m:sSub>
                      <m:sSubPr>
                        <m:ctrlPr>
                          <a:rPr lang="pl-PL" sz="2000" i="1">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ea typeface="Cambria Math" panose="02040503050406030204" pitchFamily="18" charset="0"/>
                          </a:rPr>
                          <m:t>𝑢</m:t>
                        </m:r>
                      </m:e>
                      <m:sub>
                        <m:r>
                          <a:rPr lang="pl-PL" sz="2000" i="1">
                            <a:solidFill>
                              <a:srgbClr val="215968"/>
                            </a:solidFill>
                            <a:latin typeface="Cambria Math" panose="02040503050406030204" pitchFamily="18" charset="0"/>
                          </a:rPr>
                          <m:t>𝑡</m:t>
                        </m:r>
                      </m:sub>
                    </m:sSub>
                    <m:r>
                      <a:rPr lang="pl-PL" sz="2000" b="0" i="1" smtClean="0">
                        <a:solidFill>
                          <a:srgbClr val="215968"/>
                        </a:solidFill>
                        <a:latin typeface="Cambria Math" panose="02040503050406030204" pitchFamily="18" charset="0"/>
                      </a:rPr>
                      <m:t>,  </m:t>
                    </m:r>
                    <m:r>
                      <a:rPr lang="pl-PL" sz="2000" b="0" i="1" smtClean="0">
                        <a:solidFill>
                          <a:srgbClr val="215968"/>
                        </a:solidFill>
                        <a:latin typeface="Cambria Math" panose="02040503050406030204" pitchFamily="18" charset="0"/>
                      </a:rPr>
                      <m:t>𝑢</m:t>
                    </m:r>
                    <m:r>
                      <a:rPr lang="pl-PL" sz="2000" b="0" i="1" smtClean="0">
                        <a:solidFill>
                          <a:srgbClr val="215968"/>
                        </a:solidFill>
                        <a:latin typeface="Cambria Math" panose="02040503050406030204" pitchFamily="18" charset="0"/>
                      </a:rPr>
                      <m:t> ~ </m:t>
                    </m:r>
                    <m:r>
                      <a:rPr lang="pl-PL" sz="2000" b="0" i="1" smtClean="0">
                        <a:solidFill>
                          <a:srgbClr val="215968"/>
                        </a:solidFill>
                        <a:latin typeface="Cambria Math" panose="02040503050406030204" pitchFamily="18" charset="0"/>
                      </a:rPr>
                      <m:t>𝑁</m:t>
                    </m:r>
                    <m:r>
                      <a:rPr lang="pl-PL" sz="2000" b="0" i="1" smtClean="0">
                        <a:solidFill>
                          <a:srgbClr val="215968"/>
                        </a:solidFill>
                        <a:latin typeface="Cambria Math" panose="02040503050406030204" pitchFamily="18" charset="0"/>
                      </a:rPr>
                      <m:t>[0,1] </m:t>
                    </m:r>
                  </m:oMath>
                </a14:m>
                <a:endParaRPr lang="en-US" sz="2000" dirty="0">
                  <a:solidFill>
                    <a:srgbClr val="215968"/>
                  </a:solidFill>
                </a:endParaRPr>
              </a:p>
              <a:p>
                <a:pPr algn="just"/>
                <a:r>
                  <a:rPr lang="en-US" sz="2000" dirty="0">
                    <a:solidFill>
                      <a:srgbClr val="215968"/>
                    </a:solidFill>
                  </a:rPr>
                  <a:t>We simulate these two processes 10</a:t>
                </a:r>
                <a:r>
                  <a:rPr lang="pl-PL" sz="2000" dirty="0">
                    <a:solidFill>
                      <a:srgbClr val="215968"/>
                    </a:solidFill>
                  </a:rPr>
                  <a:t> </a:t>
                </a:r>
                <a:r>
                  <a:rPr lang="en-US" sz="2000" dirty="0">
                    <a:solidFill>
                      <a:srgbClr val="215968"/>
                    </a:solidFill>
                  </a:rPr>
                  <a:t>000</a:t>
                </a:r>
                <a:r>
                  <a:rPr lang="pl-PL" sz="2000" dirty="0">
                    <a:solidFill>
                      <a:srgbClr val="215968"/>
                    </a:solidFill>
                  </a:rPr>
                  <a:t> (</a:t>
                </a:r>
                <a:r>
                  <a:rPr lang="pl-PL" sz="2000" dirty="0" err="1">
                    <a:solidFill>
                      <a:srgbClr val="215968"/>
                    </a:solidFill>
                  </a:rPr>
                  <a:t>or</a:t>
                </a:r>
                <a:r>
                  <a:rPr lang="pl-PL" sz="2000" dirty="0">
                    <a:solidFill>
                      <a:srgbClr val="215968"/>
                    </a:solidFill>
                  </a:rPr>
                  <a:t> </a:t>
                </a:r>
                <a:r>
                  <a:rPr lang="pl-PL" sz="2000" dirty="0" err="1">
                    <a:solidFill>
                      <a:srgbClr val="215968"/>
                    </a:solidFill>
                  </a:rPr>
                  <a:t>more</a:t>
                </a:r>
                <a:r>
                  <a:rPr lang="pl-PL" sz="2000" dirty="0">
                    <a:solidFill>
                      <a:srgbClr val="215968"/>
                    </a:solidFill>
                  </a:rPr>
                  <a:t>)</a:t>
                </a:r>
                <a:r>
                  <a:rPr lang="en-US" sz="2000" dirty="0">
                    <a:solidFill>
                      <a:srgbClr val="215968"/>
                    </a:solidFill>
                  </a:rPr>
                  <a:t> times and </a:t>
                </a:r>
                <a:r>
                  <a:rPr lang="pl-PL" sz="2000" dirty="0" err="1">
                    <a:solidFill>
                      <a:srgbClr val="215968"/>
                    </a:solidFill>
                  </a:rPr>
                  <a:t>every</a:t>
                </a:r>
                <a:r>
                  <a:rPr lang="pl-PL" sz="2000" dirty="0">
                    <a:solidFill>
                      <a:srgbClr val="215968"/>
                    </a:solidFill>
                  </a:rPr>
                  <a:t> </a:t>
                </a:r>
                <a:r>
                  <a:rPr lang="pl-PL" sz="2000" dirty="0" err="1">
                    <a:solidFill>
                      <a:srgbClr val="215968"/>
                    </a:solidFill>
                  </a:rPr>
                  <a:t>time</a:t>
                </a:r>
                <a:r>
                  <a:rPr lang="pl-PL" sz="2000" dirty="0">
                    <a:solidFill>
                      <a:srgbClr val="215968"/>
                    </a:solidFill>
                  </a:rPr>
                  <a:t> </a:t>
                </a:r>
                <a:r>
                  <a:rPr lang="en-US" sz="2000" dirty="0">
                    <a:solidFill>
                      <a:srgbClr val="215968"/>
                    </a:solidFill>
                  </a:rPr>
                  <a:t>estimate the  model of the form:</a:t>
                </a:r>
                <a:endParaRPr lang="pl-PL" sz="2000" dirty="0">
                  <a:solidFill>
                    <a:srgbClr val="215968"/>
                  </a:solidFill>
                </a:endParaRPr>
              </a:p>
              <a:p>
                <a:pPr algn="ctr"/>
                <a14:m>
                  <m:oMath xmlns:m="http://schemas.openxmlformats.org/officeDocument/2006/math">
                    <m:sSub>
                      <m:sSubPr>
                        <m:ctrlPr>
                          <a:rPr lang="en-US" sz="2000" i="1">
                            <a:solidFill>
                              <a:srgbClr val="215968"/>
                            </a:solidFill>
                            <a:latin typeface="Cambria Math" panose="02040503050406030204" pitchFamily="18" charset="0"/>
                          </a:rPr>
                        </m:ctrlPr>
                      </m:sSubPr>
                      <m:e>
                        <m:r>
                          <a:rPr lang="pl-PL" sz="2000" i="1">
                            <a:solidFill>
                              <a:srgbClr val="215968"/>
                            </a:solidFill>
                            <a:latin typeface="Cambria Math" panose="02040503050406030204" pitchFamily="18" charset="0"/>
                          </a:rPr>
                          <m:t>𝑦</m:t>
                        </m:r>
                      </m:e>
                      <m:sub>
                        <m:r>
                          <a:rPr lang="pl-PL" sz="2000" i="1">
                            <a:solidFill>
                              <a:srgbClr val="215968"/>
                            </a:solidFill>
                            <a:latin typeface="Cambria Math" panose="02040503050406030204" pitchFamily="18" charset="0"/>
                          </a:rPr>
                          <m:t>𝑡</m:t>
                        </m:r>
                      </m:sub>
                    </m:sSub>
                    <m:r>
                      <a:rPr lang="pl-PL" sz="2000" i="1">
                        <a:solidFill>
                          <a:srgbClr val="215968"/>
                        </a:solidFill>
                        <a:latin typeface="Cambria Math" panose="02040503050406030204" pitchFamily="18" charset="0"/>
                      </a:rPr>
                      <m:t>=</m:t>
                    </m:r>
                    <m:r>
                      <a:rPr lang="pl-PL" sz="2000" b="0" i="1" smtClean="0">
                        <a:solidFill>
                          <a:srgbClr val="215968"/>
                        </a:solidFill>
                        <a:latin typeface="Cambria Math" panose="02040503050406030204" pitchFamily="18" charset="0"/>
                      </a:rPr>
                      <m:t>𝑐</m:t>
                    </m:r>
                    <m:r>
                      <a:rPr lang="pl-PL" sz="2000" i="1">
                        <a:solidFill>
                          <a:srgbClr val="215968"/>
                        </a:solidFill>
                        <a:latin typeface="Cambria Math" panose="02040503050406030204" pitchFamily="18" charset="0"/>
                      </a:rPr>
                      <m:t>+</m:t>
                    </m:r>
                    <m:r>
                      <a:rPr lang="pl-PL" sz="2000" b="1" i="1" smtClean="0">
                        <a:solidFill>
                          <a:srgbClr val="215968"/>
                        </a:solidFill>
                        <a:latin typeface="Cambria Math" panose="02040503050406030204" pitchFamily="18" charset="0"/>
                      </a:rPr>
                      <m:t>𝒅</m:t>
                    </m:r>
                    <m:sSub>
                      <m:sSubPr>
                        <m:ctrlPr>
                          <a:rPr lang="pl-PL" sz="2000" i="1">
                            <a:solidFill>
                              <a:srgbClr val="215968"/>
                            </a:solidFill>
                            <a:latin typeface="Cambria Math" panose="02040503050406030204" pitchFamily="18" charset="0"/>
                          </a:rPr>
                        </m:ctrlPr>
                      </m:sSubPr>
                      <m:e>
                        <m:r>
                          <a:rPr lang="pl-PL" sz="2000" b="0" i="1" smtClean="0">
                            <a:solidFill>
                              <a:srgbClr val="215968"/>
                            </a:solidFill>
                            <a:latin typeface="Cambria Math" panose="02040503050406030204" pitchFamily="18" charset="0"/>
                          </a:rPr>
                          <m:t>𝑥</m:t>
                        </m:r>
                      </m:e>
                      <m:sub>
                        <m:r>
                          <a:rPr lang="pl-PL" sz="2000" i="1">
                            <a:solidFill>
                              <a:srgbClr val="215968"/>
                            </a:solidFill>
                            <a:latin typeface="Cambria Math" panose="02040503050406030204" pitchFamily="18" charset="0"/>
                          </a:rPr>
                          <m:t>𝑡</m:t>
                        </m:r>
                      </m:sub>
                    </m:sSub>
                    <m:r>
                      <a:rPr lang="pl-PL" sz="2000" i="1">
                        <a:solidFill>
                          <a:srgbClr val="215968"/>
                        </a:solidFill>
                        <a:latin typeface="Cambria Math" panose="02040503050406030204" pitchFamily="18" charset="0"/>
                      </a:rPr>
                      <m:t>+ </m:t>
                    </m:r>
                    <m:sSub>
                      <m:sSubPr>
                        <m:ctrlPr>
                          <a:rPr lang="pl-PL" sz="2000" i="1">
                            <a:solidFill>
                              <a:srgbClr val="215968"/>
                            </a:solidFill>
                            <a:latin typeface="Cambria Math" panose="02040503050406030204" pitchFamily="18" charset="0"/>
                          </a:rPr>
                        </m:ctrlPr>
                      </m:sSubPr>
                      <m:e>
                        <m:r>
                          <a:rPr lang="pl-PL" sz="2000" i="1">
                            <a:solidFill>
                              <a:srgbClr val="215968"/>
                            </a:solidFill>
                            <a:latin typeface="Cambria Math" panose="02040503050406030204" pitchFamily="18" charset="0"/>
                            <a:ea typeface="Cambria Math" panose="02040503050406030204" pitchFamily="18" charset="0"/>
                          </a:rPr>
                          <m:t>𝜀</m:t>
                        </m:r>
                      </m:e>
                      <m:sub>
                        <m:r>
                          <a:rPr lang="pl-PL" sz="2000" i="1">
                            <a:solidFill>
                              <a:srgbClr val="215968"/>
                            </a:solidFill>
                            <a:latin typeface="Cambria Math" panose="02040503050406030204" pitchFamily="18" charset="0"/>
                          </a:rPr>
                          <m:t>𝑡</m:t>
                        </m:r>
                      </m:sub>
                    </m:sSub>
                  </m:oMath>
                </a14:m>
                <a:r>
                  <a:rPr lang="pl-PL" sz="2000" dirty="0">
                    <a:solidFill>
                      <a:srgbClr val="215968"/>
                    </a:solidFill>
                  </a:rPr>
                  <a:t> (model 1) </a:t>
                </a:r>
                <a:endParaRPr lang="en-US" sz="2000" dirty="0">
                  <a:solidFill>
                    <a:srgbClr val="215968"/>
                  </a:solidFill>
                </a:endParaRPr>
              </a:p>
              <a:p>
                <a:pPr algn="just"/>
                <a:r>
                  <a:rPr lang="en-US" sz="2000" dirty="0">
                    <a:solidFill>
                      <a:srgbClr val="215968"/>
                    </a:solidFill>
                  </a:rPr>
                  <a:t>The model has no sense. There should be no dependence between the variables. But If we assume significance level p-value = 0.05  we would expect that only in 5% of cases we can mistakenly reject H</a:t>
                </a:r>
                <a:r>
                  <a:rPr lang="pl-PL" sz="2000" dirty="0">
                    <a:solidFill>
                      <a:srgbClr val="215968"/>
                    </a:solidFill>
                  </a:rPr>
                  <a:t>0</a:t>
                </a:r>
                <a:r>
                  <a:rPr lang="en-US" sz="2000" dirty="0">
                    <a:solidFill>
                      <a:srgbClr val="215968"/>
                    </a:solidFill>
                  </a:rPr>
                  <a:t>: d = 0 [ parameter d is </a:t>
                </a:r>
                <a:r>
                  <a:rPr lang="pl-PL" sz="2000" dirty="0">
                    <a:solidFill>
                      <a:srgbClr val="215968"/>
                    </a:solidFill>
                  </a:rPr>
                  <a:t>„</a:t>
                </a:r>
                <a:r>
                  <a:rPr lang="en-US" sz="2000" dirty="0">
                    <a:solidFill>
                      <a:srgbClr val="215968"/>
                    </a:solidFill>
                  </a:rPr>
                  <a:t>statistically significant</a:t>
                </a:r>
                <a:r>
                  <a:rPr lang="pl-PL" sz="2000" dirty="0">
                    <a:solidFill>
                      <a:srgbClr val="215968"/>
                    </a:solidFill>
                  </a:rPr>
                  <a:t>”</a:t>
                </a:r>
                <a:r>
                  <a:rPr lang="en-US" sz="2000" dirty="0">
                    <a:solidFill>
                      <a:srgbClr val="215968"/>
                    </a:solidFill>
                  </a:rPr>
                  <a:t>].  The expected proportion of </a:t>
                </a:r>
                <a:r>
                  <a:rPr lang="pl-PL" sz="2000" dirty="0">
                    <a:solidFill>
                      <a:srgbClr val="215968"/>
                    </a:solidFill>
                  </a:rPr>
                  <a:t>„</a:t>
                </a:r>
                <a:r>
                  <a:rPr lang="en-US" sz="2000" dirty="0">
                    <a:solidFill>
                      <a:srgbClr val="215968"/>
                    </a:solidFill>
                  </a:rPr>
                  <a:t>significant</a:t>
                </a:r>
                <a:r>
                  <a:rPr lang="pl-PL" sz="2000" dirty="0">
                    <a:solidFill>
                      <a:srgbClr val="215968"/>
                    </a:solidFill>
                  </a:rPr>
                  <a:t>”</a:t>
                </a:r>
                <a:r>
                  <a:rPr lang="en-US" sz="2000" dirty="0">
                    <a:solidFill>
                      <a:srgbClr val="215968"/>
                    </a:solidFill>
                  </a:rPr>
                  <a:t> and </a:t>
                </a:r>
                <a:r>
                  <a:rPr lang="pl-PL" sz="2000" dirty="0">
                    <a:solidFill>
                      <a:srgbClr val="215968"/>
                    </a:solidFill>
                  </a:rPr>
                  <a:t>„</a:t>
                </a:r>
                <a:r>
                  <a:rPr lang="en-US" sz="2000" dirty="0">
                    <a:solidFill>
                      <a:srgbClr val="215968"/>
                    </a:solidFill>
                  </a:rPr>
                  <a:t>insignificant</a:t>
                </a:r>
                <a:r>
                  <a:rPr lang="pl-PL" sz="2000" dirty="0">
                    <a:solidFill>
                      <a:srgbClr val="215968"/>
                    </a:solidFill>
                  </a:rPr>
                  <a:t>”</a:t>
                </a:r>
                <a:r>
                  <a:rPr lang="en-US" sz="2000" dirty="0">
                    <a:solidFill>
                      <a:srgbClr val="215968"/>
                    </a:solidFill>
                  </a:rPr>
                  <a:t> cases in simulation is shown in the right panel. But in the simulation, we have a slightly different situation [ left panel]. In 80% of cases, parameter d is significant. The common response variable is a stochastic trend which can occur in close to a random walk process and creates false relationships between x and y. </a:t>
                </a:r>
                <a:endParaRPr lang="pl-PL" sz="2000" dirty="0">
                  <a:solidFill>
                    <a:srgbClr val="215968"/>
                  </a:solidFill>
                </a:endParaRPr>
              </a:p>
              <a:p>
                <a:pPr algn="just"/>
                <a:endParaRPr lang="en-US" sz="2000" dirty="0">
                  <a:solidFill>
                    <a:srgbClr val="215968"/>
                  </a:solidFill>
                </a:endParaRPr>
              </a:p>
              <a:p>
                <a:pPr algn="just"/>
                <a:r>
                  <a:rPr lang="en-US" sz="2000" dirty="0">
                    <a:solidFill>
                      <a:srgbClr val="215968"/>
                    </a:solidFill>
                  </a:rPr>
                  <a:t>We can add deterministic </a:t>
                </a:r>
                <a:r>
                  <a:rPr lang="en-US" sz="2000" b="1" dirty="0">
                    <a:solidFill>
                      <a:srgbClr val="215968"/>
                    </a:solidFill>
                  </a:rPr>
                  <a:t>trend</a:t>
                </a:r>
                <a:r>
                  <a:rPr lang="en-US" sz="2000" dirty="0">
                    <a:solidFill>
                      <a:srgbClr val="215968"/>
                    </a:solidFill>
                  </a:rPr>
                  <a:t> </a:t>
                </a:r>
                <a:r>
                  <a:rPr lang="en-US" sz="2000" dirty="0" err="1">
                    <a:solidFill>
                      <a:srgbClr val="215968"/>
                    </a:solidFill>
                  </a:rPr>
                  <a:t>d_t</a:t>
                </a:r>
                <a:r>
                  <a:rPr lang="en-US" sz="2000" dirty="0">
                    <a:solidFill>
                      <a:srgbClr val="215968"/>
                    </a:solidFill>
                  </a:rPr>
                  <a:t> which should mimic the stochastic trend in the model. But still, the relationship between x and y is noticed in 60% cases. </a:t>
                </a:r>
                <a14:m>
                  <m:oMath xmlns:m="http://schemas.openxmlformats.org/officeDocument/2006/math">
                    <m:sSub>
                      <m:sSubPr>
                        <m:ctrlPr>
                          <a:rPr lang="en-US" sz="2000" i="1">
                            <a:solidFill>
                              <a:srgbClr val="215968"/>
                            </a:solidFill>
                            <a:latin typeface="Cambria Math" panose="02040503050406030204" pitchFamily="18" charset="0"/>
                          </a:rPr>
                        </m:ctrlPr>
                      </m:sSubPr>
                      <m:e>
                        <m:r>
                          <a:rPr lang="pl-PL" sz="2000" i="1">
                            <a:solidFill>
                              <a:srgbClr val="215968"/>
                            </a:solidFill>
                            <a:latin typeface="Cambria Math" panose="02040503050406030204" pitchFamily="18" charset="0"/>
                          </a:rPr>
                          <m:t>𝑦</m:t>
                        </m:r>
                      </m:e>
                      <m:sub>
                        <m:r>
                          <a:rPr lang="pl-PL" sz="2000" i="1">
                            <a:solidFill>
                              <a:srgbClr val="215968"/>
                            </a:solidFill>
                            <a:latin typeface="Cambria Math" panose="02040503050406030204" pitchFamily="18" charset="0"/>
                          </a:rPr>
                          <m:t>𝑡</m:t>
                        </m:r>
                      </m:sub>
                    </m:sSub>
                    <m:r>
                      <a:rPr lang="pl-PL" sz="2000" i="1">
                        <a:solidFill>
                          <a:srgbClr val="215968"/>
                        </a:solidFill>
                        <a:latin typeface="Cambria Math" panose="02040503050406030204" pitchFamily="18" charset="0"/>
                      </a:rPr>
                      <m:t>=</m:t>
                    </m:r>
                    <m:r>
                      <a:rPr lang="pl-PL" sz="2000" i="1">
                        <a:solidFill>
                          <a:srgbClr val="215968"/>
                        </a:solidFill>
                        <a:latin typeface="Cambria Math" panose="02040503050406030204" pitchFamily="18" charset="0"/>
                      </a:rPr>
                      <m:t>𝑐</m:t>
                    </m:r>
                    <m:r>
                      <a:rPr lang="pl-PL" sz="2000" i="1">
                        <a:solidFill>
                          <a:srgbClr val="215968"/>
                        </a:solidFill>
                        <a:latin typeface="Cambria Math" panose="02040503050406030204" pitchFamily="18" charset="0"/>
                      </a:rPr>
                      <m:t>+</m:t>
                    </m:r>
                    <m:r>
                      <a:rPr lang="pl-PL" sz="2000" i="1">
                        <a:solidFill>
                          <a:srgbClr val="215968"/>
                        </a:solidFill>
                        <a:latin typeface="Cambria Math" panose="02040503050406030204" pitchFamily="18" charset="0"/>
                      </a:rPr>
                      <m:t>𝑑</m:t>
                    </m:r>
                    <m:sSub>
                      <m:sSubPr>
                        <m:ctrlPr>
                          <a:rPr lang="pl-PL" sz="2000" i="1">
                            <a:solidFill>
                              <a:srgbClr val="215968"/>
                            </a:solidFill>
                            <a:latin typeface="Cambria Math" panose="02040503050406030204" pitchFamily="18" charset="0"/>
                          </a:rPr>
                        </m:ctrlPr>
                      </m:sSubPr>
                      <m:e>
                        <m:r>
                          <a:rPr lang="pl-PL" sz="2000" i="1">
                            <a:solidFill>
                              <a:srgbClr val="215968"/>
                            </a:solidFill>
                            <a:latin typeface="Cambria Math" panose="02040503050406030204" pitchFamily="18" charset="0"/>
                          </a:rPr>
                          <m:t>𝑥</m:t>
                        </m:r>
                      </m:e>
                      <m:sub>
                        <m:r>
                          <a:rPr lang="pl-PL" sz="2000" i="1">
                            <a:solidFill>
                              <a:srgbClr val="215968"/>
                            </a:solidFill>
                            <a:latin typeface="Cambria Math" panose="02040503050406030204" pitchFamily="18" charset="0"/>
                          </a:rPr>
                          <m:t>𝑡</m:t>
                        </m:r>
                      </m:sub>
                    </m:sSub>
                    <m:r>
                      <a:rPr lang="pl-PL" sz="2000" i="1">
                        <a:solidFill>
                          <a:srgbClr val="215968"/>
                        </a:solidFill>
                        <a:latin typeface="Cambria Math" panose="02040503050406030204" pitchFamily="18" charset="0"/>
                      </a:rPr>
                      <m:t>+</m:t>
                    </m:r>
                    <m:r>
                      <a:rPr lang="pl-PL" sz="2000" b="0" i="1" smtClean="0">
                        <a:solidFill>
                          <a:srgbClr val="215968"/>
                        </a:solidFill>
                        <a:latin typeface="Cambria Math" panose="02040503050406030204" pitchFamily="18" charset="0"/>
                      </a:rPr>
                      <m:t>h</m:t>
                    </m:r>
                    <m:r>
                      <a:rPr lang="pl-PL" sz="2000" b="1" i="1" smtClean="0">
                        <a:solidFill>
                          <a:srgbClr val="215968"/>
                        </a:solidFill>
                        <a:latin typeface="Cambria Math" panose="02040503050406030204" pitchFamily="18" charset="0"/>
                      </a:rPr>
                      <m:t>𝒅</m:t>
                    </m:r>
                    <m:r>
                      <a:rPr lang="pl-PL" sz="2000" b="1" i="1" smtClean="0">
                        <a:solidFill>
                          <a:srgbClr val="215968"/>
                        </a:solidFill>
                        <a:latin typeface="Cambria Math" panose="02040503050406030204" pitchFamily="18" charset="0"/>
                      </a:rPr>
                      <m:t>_</m:t>
                    </m:r>
                    <m:r>
                      <a:rPr lang="pl-PL" sz="2000" b="1" i="1" smtClean="0">
                        <a:solidFill>
                          <a:srgbClr val="215968"/>
                        </a:solidFill>
                        <a:latin typeface="Cambria Math" panose="02040503050406030204" pitchFamily="18" charset="0"/>
                      </a:rPr>
                      <m:t>𝒕</m:t>
                    </m:r>
                    <m:r>
                      <a:rPr lang="pl-PL" sz="2000" b="1" i="1">
                        <a:solidFill>
                          <a:srgbClr val="215968"/>
                        </a:solidFill>
                        <a:latin typeface="Cambria Math" panose="02040503050406030204" pitchFamily="18" charset="0"/>
                      </a:rPr>
                      <m:t> </m:t>
                    </m:r>
                    <m:sSub>
                      <m:sSubPr>
                        <m:ctrlPr>
                          <a:rPr lang="pl-PL" sz="2000" i="1">
                            <a:solidFill>
                              <a:srgbClr val="215968"/>
                            </a:solidFill>
                            <a:latin typeface="Cambria Math" panose="02040503050406030204" pitchFamily="18" charset="0"/>
                          </a:rPr>
                        </m:ctrlPr>
                      </m:sSubPr>
                      <m:e>
                        <m:r>
                          <a:rPr lang="pl-PL" sz="2000" i="1">
                            <a:solidFill>
                              <a:srgbClr val="215968"/>
                            </a:solidFill>
                            <a:latin typeface="Cambria Math" panose="02040503050406030204" pitchFamily="18" charset="0"/>
                            <a:ea typeface="Cambria Math" panose="02040503050406030204" pitchFamily="18" charset="0"/>
                          </a:rPr>
                          <m:t>𝜀</m:t>
                        </m:r>
                      </m:e>
                      <m:sub>
                        <m:r>
                          <a:rPr lang="pl-PL" sz="2000" i="1">
                            <a:solidFill>
                              <a:srgbClr val="215968"/>
                            </a:solidFill>
                            <a:latin typeface="Cambria Math" panose="02040503050406030204" pitchFamily="18" charset="0"/>
                          </a:rPr>
                          <m:t>𝑡</m:t>
                        </m:r>
                      </m:sub>
                    </m:sSub>
                  </m:oMath>
                </a14:m>
                <a:r>
                  <a:rPr lang="pl-PL" sz="2000" dirty="0">
                    <a:solidFill>
                      <a:srgbClr val="215968"/>
                    </a:solidFill>
                  </a:rPr>
                  <a:t> (model 2)</a:t>
                </a:r>
                <a:endParaRPr lang="en-US" sz="2400" dirty="0">
                  <a:solidFill>
                    <a:srgbClr val="215968"/>
                  </a:solidFill>
                </a:endParaRPr>
              </a:p>
            </p:txBody>
          </p:sp>
        </mc:Choice>
        <mc:Fallback xmlns="">
          <p:sp>
            <p:nvSpPr>
              <p:cNvPr id="3" name="Prostokąt 2"/>
              <p:cNvSpPr>
                <a:spLocks noRot="1" noChangeAspect="1" noMove="1" noResize="1" noEditPoints="1" noAdjustHandles="1" noChangeArrowheads="1" noChangeShapeType="1" noTextEdit="1"/>
              </p:cNvSpPr>
              <p:nvPr/>
            </p:nvSpPr>
            <p:spPr>
              <a:xfrm>
                <a:off x="173255" y="1168142"/>
                <a:ext cx="7952509" cy="5632311"/>
              </a:xfrm>
              <a:prstGeom prst="rect">
                <a:avLst/>
              </a:prstGeom>
              <a:blipFill>
                <a:blip r:embed="rId2"/>
                <a:stretch>
                  <a:fillRect l="-766" t="-649" r="-766" b="-974"/>
                </a:stretch>
              </a:blipFill>
            </p:spPr>
            <p:txBody>
              <a:bodyPr/>
              <a:lstStyle/>
              <a:p>
                <a:r>
                  <a:rPr lang="pl-PL">
                    <a:noFill/>
                  </a:rPr>
                  <a:t> </a:t>
                </a:r>
              </a:p>
            </p:txBody>
          </p:sp>
        </mc:Fallback>
      </mc:AlternateContent>
      <p:pic>
        <p:nvPicPr>
          <p:cNvPr id="7" name="Obraz 6"/>
          <p:cNvPicPr>
            <a:picLocks noChangeAspect="1"/>
          </p:cNvPicPr>
          <p:nvPr/>
        </p:nvPicPr>
        <p:blipFill>
          <a:blip r:embed="rId3"/>
          <a:stretch>
            <a:fillRect/>
          </a:stretch>
        </p:blipFill>
        <p:spPr>
          <a:xfrm>
            <a:off x="8238069" y="1276475"/>
            <a:ext cx="3841626" cy="2967533"/>
          </a:xfrm>
          <a:prstGeom prst="rect">
            <a:avLst/>
          </a:prstGeom>
        </p:spPr>
      </p:pic>
      <p:pic>
        <p:nvPicPr>
          <p:cNvPr id="5" name="Obraz 4"/>
          <p:cNvPicPr>
            <a:picLocks noChangeAspect="1"/>
          </p:cNvPicPr>
          <p:nvPr/>
        </p:nvPicPr>
        <p:blipFill>
          <a:blip r:embed="rId4"/>
          <a:stretch>
            <a:fillRect/>
          </a:stretch>
        </p:blipFill>
        <p:spPr>
          <a:xfrm>
            <a:off x="8299020" y="4342262"/>
            <a:ext cx="3664748" cy="1863786"/>
          </a:xfrm>
          <a:prstGeom prst="rect">
            <a:avLst/>
          </a:prstGeom>
        </p:spPr>
      </p:pic>
    </p:spTree>
    <p:extLst>
      <p:ext uri="{BB962C8B-B14F-4D97-AF65-F5344CB8AC3E}">
        <p14:creationId xmlns:p14="http://schemas.microsoft.com/office/powerpoint/2010/main" val="21678692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000" b="1" i="1" spc="-1" dirty="0" err="1">
                <a:solidFill>
                  <a:srgbClr val="215968"/>
                </a:solidFill>
              </a:rPr>
              <a:t>Spurious</a:t>
            </a:r>
            <a:r>
              <a:rPr lang="pl-PL" sz="4000" b="1" i="1" spc="-1" dirty="0">
                <a:solidFill>
                  <a:srgbClr val="215968"/>
                </a:solidFill>
              </a:rPr>
              <a:t> </a:t>
            </a:r>
            <a:r>
              <a:rPr lang="pl-PL" sz="4000" b="1" i="1" spc="-1" dirty="0" err="1">
                <a:solidFill>
                  <a:srgbClr val="215968"/>
                </a:solidFill>
              </a:rPr>
              <a:t>regressions</a:t>
            </a:r>
            <a:r>
              <a:rPr lang="pl-PL" sz="4000" b="1" i="1" spc="-1" dirty="0">
                <a:solidFill>
                  <a:srgbClr val="215968"/>
                </a:solidFill>
              </a:rPr>
              <a:t> (</a:t>
            </a:r>
            <a:r>
              <a:rPr lang="pl-PL" sz="4000" b="1" i="1" spc="-1" dirty="0" err="1">
                <a:solidFill>
                  <a:srgbClr val="215968"/>
                </a:solidFill>
              </a:rPr>
              <a:t>replicaton</a:t>
            </a:r>
            <a:r>
              <a:rPr lang="pl-PL" sz="4000" b="1" i="1" spc="-1" dirty="0">
                <a:solidFill>
                  <a:srgbClr val="215968"/>
                </a:solidFill>
              </a:rPr>
              <a:t> of MC </a:t>
            </a:r>
            <a:r>
              <a:rPr lang="pl-PL" sz="4000" b="1" i="1" spc="-1" dirty="0" err="1">
                <a:solidFill>
                  <a:srgbClr val="215968"/>
                </a:solidFill>
              </a:rPr>
              <a:t>study</a:t>
            </a:r>
            <a:r>
              <a:rPr lang="pl-PL" sz="4000" b="1" i="1" spc="-1" dirty="0">
                <a:solidFill>
                  <a:srgbClr val="215968"/>
                </a:solidFill>
              </a:rPr>
              <a:t>) </a:t>
            </a:r>
          </a:p>
          <a:p>
            <a:pPr algn="ctr"/>
            <a:r>
              <a:rPr lang="pl-PL" sz="2800" dirty="0" err="1">
                <a:solidFill>
                  <a:srgbClr val="215968"/>
                </a:solidFill>
              </a:rPr>
              <a:t>Granger</a:t>
            </a:r>
            <a:r>
              <a:rPr lang="pl-PL" sz="2800" dirty="0">
                <a:solidFill>
                  <a:srgbClr val="215968"/>
                </a:solidFill>
              </a:rPr>
              <a:t> and </a:t>
            </a:r>
            <a:r>
              <a:rPr lang="pl-PL" sz="2800" dirty="0" err="1">
                <a:solidFill>
                  <a:srgbClr val="215968"/>
                </a:solidFill>
              </a:rPr>
              <a:t>Newbold</a:t>
            </a:r>
            <a:r>
              <a:rPr lang="pl-PL" sz="2800" dirty="0">
                <a:solidFill>
                  <a:srgbClr val="215968"/>
                </a:solidFill>
              </a:rPr>
              <a:t> (1974)</a:t>
            </a:r>
            <a:endParaRPr lang="en-US" sz="3200" dirty="0">
              <a:solidFill>
                <a:srgbClr val="215968"/>
              </a:solidFill>
            </a:endParaRPr>
          </a:p>
        </p:txBody>
      </p:sp>
      <p:sp>
        <p:nvSpPr>
          <p:cNvPr id="10" name="Prostokąt 9"/>
          <p:cNvSpPr/>
          <p:nvPr/>
        </p:nvSpPr>
        <p:spPr>
          <a:xfrm>
            <a:off x="263089" y="1168142"/>
            <a:ext cx="11665819" cy="1569660"/>
          </a:xfrm>
          <a:prstGeom prst="rect">
            <a:avLst/>
          </a:prstGeom>
        </p:spPr>
        <p:txBody>
          <a:bodyPr wrap="square">
            <a:spAutoFit/>
          </a:bodyPr>
          <a:lstStyle/>
          <a:p>
            <a:pPr algn="just"/>
            <a:r>
              <a:rPr lang="en-US" sz="2400" dirty="0">
                <a:solidFill>
                  <a:srgbClr val="215968"/>
                </a:solidFill>
              </a:rPr>
              <a:t>By the way, econometric models where x or y are dependent variables are equally good based on statistical inference (model 1 and model 3). There is no basis to say whether the causal relationship is x -&gt; y (x is the cause of y) or causal relations is in the opposite direction y -&gt; x (y is the cause of x) or there if the feedback y ↔ x. </a:t>
            </a:r>
            <a:endParaRPr lang="pl-PL" sz="2400" dirty="0">
              <a:solidFill>
                <a:srgbClr val="215968"/>
              </a:solidFill>
            </a:endParaRPr>
          </a:p>
        </p:txBody>
      </p:sp>
      <mc:AlternateContent xmlns:mc="http://schemas.openxmlformats.org/markup-compatibility/2006" xmlns:a14="http://schemas.microsoft.com/office/drawing/2010/main">
        <mc:Choice Requires="a14">
          <p:sp>
            <p:nvSpPr>
              <p:cNvPr id="11" name="Prostokąt 10"/>
              <p:cNvSpPr/>
              <p:nvPr/>
            </p:nvSpPr>
            <p:spPr>
              <a:xfrm>
                <a:off x="6028623" y="2737802"/>
                <a:ext cx="6002956" cy="2862322"/>
              </a:xfrm>
              <a:prstGeom prst="rect">
                <a:avLst/>
              </a:prstGeom>
            </p:spPr>
            <p:txBody>
              <a:bodyPr wrap="square">
                <a:spAutoFit/>
              </a:bodyPr>
              <a:lstStyle/>
              <a:p>
                <a:r>
                  <a:rPr lang="pl-PL" dirty="0"/>
                  <a:t>lm(</a:t>
                </a:r>
                <a:r>
                  <a:rPr lang="pl-PL" dirty="0" err="1"/>
                  <a:t>formula</a:t>
                </a:r>
                <a:r>
                  <a:rPr lang="pl-PL" dirty="0"/>
                  <a:t> = x ~ y) </a:t>
                </a:r>
                <a14:m>
                  <m:oMath xmlns:m="http://schemas.openxmlformats.org/officeDocument/2006/math">
                    <m:sSub>
                      <m:sSubPr>
                        <m:ctrlPr>
                          <a:rPr lang="en-US" i="1">
                            <a:solidFill>
                              <a:srgbClr val="215968"/>
                            </a:solidFill>
                            <a:latin typeface="Cambria Math" panose="02040503050406030204" pitchFamily="18" charset="0"/>
                          </a:rPr>
                        </m:ctrlPr>
                      </m:sSubPr>
                      <m:e>
                        <m:r>
                          <a:rPr lang="pl-PL" b="0" i="1" smtClean="0">
                            <a:solidFill>
                              <a:srgbClr val="215968"/>
                            </a:solidFill>
                            <a:latin typeface="Cambria Math" panose="02040503050406030204" pitchFamily="18" charset="0"/>
                          </a:rPr>
                          <m:t>𝑥</m:t>
                        </m:r>
                      </m:e>
                      <m:sub>
                        <m:r>
                          <a:rPr lang="pl-PL" i="1">
                            <a:solidFill>
                              <a:srgbClr val="215968"/>
                            </a:solidFill>
                            <a:latin typeface="Cambria Math" panose="02040503050406030204" pitchFamily="18" charset="0"/>
                          </a:rPr>
                          <m:t>𝑡</m:t>
                        </m:r>
                      </m:sub>
                    </m:sSub>
                    <m:r>
                      <a:rPr lang="pl-PL" i="1">
                        <a:solidFill>
                          <a:srgbClr val="215968"/>
                        </a:solidFill>
                        <a:latin typeface="Cambria Math" panose="02040503050406030204" pitchFamily="18" charset="0"/>
                      </a:rPr>
                      <m:t>=</m:t>
                    </m:r>
                    <m:r>
                      <a:rPr lang="pl-PL" b="0" i="1" smtClean="0">
                        <a:solidFill>
                          <a:srgbClr val="215968"/>
                        </a:solidFill>
                        <a:latin typeface="Cambria Math" panose="02040503050406030204" pitchFamily="18" charset="0"/>
                      </a:rPr>
                      <m:t>𝑒</m:t>
                    </m:r>
                    <m:r>
                      <a:rPr lang="pl-PL" i="1">
                        <a:solidFill>
                          <a:srgbClr val="215968"/>
                        </a:solidFill>
                        <a:latin typeface="Cambria Math" panose="02040503050406030204" pitchFamily="18" charset="0"/>
                      </a:rPr>
                      <m:t>+</m:t>
                    </m:r>
                    <m:r>
                      <a:rPr lang="pl-PL" b="1" i="1" smtClean="0">
                        <a:solidFill>
                          <a:srgbClr val="215968"/>
                        </a:solidFill>
                        <a:latin typeface="Cambria Math" panose="02040503050406030204" pitchFamily="18" charset="0"/>
                      </a:rPr>
                      <m:t>𝒇</m:t>
                    </m:r>
                    <m:sSub>
                      <m:sSubPr>
                        <m:ctrlPr>
                          <a:rPr lang="pl-PL" i="1">
                            <a:solidFill>
                              <a:srgbClr val="215968"/>
                            </a:solidFill>
                            <a:latin typeface="Cambria Math" panose="02040503050406030204" pitchFamily="18" charset="0"/>
                          </a:rPr>
                        </m:ctrlPr>
                      </m:sSubPr>
                      <m:e>
                        <m:r>
                          <a:rPr lang="pl-PL" b="0" i="1" smtClean="0">
                            <a:solidFill>
                              <a:srgbClr val="215968"/>
                            </a:solidFill>
                            <a:latin typeface="Cambria Math" panose="02040503050406030204" pitchFamily="18" charset="0"/>
                          </a:rPr>
                          <m:t>𝑦</m:t>
                        </m:r>
                      </m:e>
                      <m:sub>
                        <m:r>
                          <a:rPr lang="pl-PL" i="1">
                            <a:solidFill>
                              <a:srgbClr val="215968"/>
                            </a:solidFill>
                            <a:latin typeface="Cambria Math" panose="02040503050406030204" pitchFamily="18" charset="0"/>
                          </a:rPr>
                          <m:t>𝑡</m:t>
                        </m:r>
                      </m:sub>
                    </m:sSub>
                    <m:r>
                      <a:rPr lang="pl-PL" i="1">
                        <a:solidFill>
                          <a:srgbClr val="215968"/>
                        </a:solidFill>
                        <a:latin typeface="Cambria Math" panose="02040503050406030204" pitchFamily="18" charset="0"/>
                      </a:rPr>
                      <m:t>+ </m:t>
                    </m:r>
                    <m:sSub>
                      <m:sSubPr>
                        <m:ctrlPr>
                          <a:rPr lang="pl-PL" i="1">
                            <a:solidFill>
                              <a:srgbClr val="215968"/>
                            </a:solidFill>
                            <a:latin typeface="Cambria Math" panose="02040503050406030204" pitchFamily="18" charset="0"/>
                          </a:rPr>
                        </m:ctrlPr>
                      </m:sSubPr>
                      <m:e>
                        <m:r>
                          <a:rPr lang="pl-PL" i="1">
                            <a:solidFill>
                              <a:srgbClr val="215968"/>
                            </a:solidFill>
                            <a:latin typeface="Cambria Math" panose="02040503050406030204" pitchFamily="18" charset="0"/>
                            <a:ea typeface="Cambria Math" panose="02040503050406030204" pitchFamily="18" charset="0"/>
                          </a:rPr>
                          <m:t>𝜀</m:t>
                        </m:r>
                      </m:e>
                      <m:sub>
                        <m:r>
                          <a:rPr lang="pl-PL" i="1">
                            <a:solidFill>
                              <a:srgbClr val="215968"/>
                            </a:solidFill>
                            <a:latin typeface="Cambria Math" panose="02040503050406030204" pitchFamily="18" charset="0"/>
                          </a:rPr>
                          <m:t>𝑡</m:t>
                        </m:r>
                      </m:sub>
                    </m:sSub>
                  </m:oMath>
                </a14:m>
                <a:r>
                  <a:rPr lang="pl-PL" dirty="0">
                    <a:solidFill>
                      <a:srgbClr val="215968"/>
                    </a:solidFill>
                  </a:rPr>
                  <a:t> (model 1) </a:t>
                </a:r>
                <a:endParaRPr lang="pl-PL" dirty="0"/>
              </a:p>
              <a:p>
                <a:endParaRPr lang="pl-PL" dirty="0"/>
              </a:p>
              <a:p>
                <a:r>
                  <a:rPr lang="pl-PL" dirty="0" err="1"/>
                  <a:t>Coefficients</a:t>
                </a:r>
                <a:r>
                  <a:rPr lang="pl-PL" dirty="0"/>
                  <a:t>:</a:t>
                </a:r>
              </a:p>
              <a:p>
                <a:r>
                  <a:rPr lang="pl-PL" dirty="0"/>
                  <a:t>                   </a:t>
                </a:r>
                <a:r>
                  <a:rPr lang="pl-PL" dirty="0" err="1"/>
                  <a:t>Estimate</a:t>
                </a:r>
                <a:r>
                  <a:rPr lang="pl-PL" dirty="0"/>
                  <a:t>    </a:t>
                </a:r>
                <a:r>
                  <a:rPr lang="pl-PL" dirty="0" err="1"/>
                  <a:t>Std</a:t>
                </a:r>
                <a:r>
                  <a:rPr lang="pl-PL" dirty="0"/>
                  <a:t>. Error   t </a:t>
                </a:r>
                <a:r>
                  <a:rPr lang="pl-PL" dirty="0" err="1"/>
                  <a:t>value</a:t>
                </a:r>
                <a:r>
                  <a:rPr lang="pl-PL" dirty="0"/>
                  <a:t>   Pr(&gt;|t|)    </a:t>
                </a:r>
              </a:p>
              <a:p>
                <a:r>
                  <a:rPr lang="pl-PL" dirty="0"/>
                  <a:t>(</a:t>
                </a:r>
                <a:r>
                  <a:rPr lang="pl-PL" dirty="0" err="1"/>
                  <a:t>Intercept</a:t>
                </a:r>
                <a:r>
                  <a:rPr lang="pl-PL" dirty="0"/>
                  <a:t>)  1.72692    0.45370     3.806     </a:t>
                </a:r>
                <a:r>
                  <a:rPr lang="pl-PL" dirty="0">
                    <a:solidFill>
                      <a:srgbClr val="FF0000"/>
                    </a:solidFill>
                  </a:rPr>
                  <a:t>0.000305 ***</a:t>
                </a:r>
              </a:p>
              <a:p>
                <a:r>
                  <a:rPr lang="pl-PL" dirty="0"/>
                  <a:t>y                   0.54933    0.05717     9.610     </a:t>
                </a:r>
                <a:r>
                  <a:rPr lang="pl-PL" dirty="0">
                    <a:solidFill>
                      <a:srgbClr val="FF0000"/>
                    </a:solidFill>
                  </a:rPr>
                  <a:t>2.71e-14</a:t>
                </a:r>
                <a:r>
                  <a:rPr lang="pl-PL" dirty="0"/>
                  <a:t> ***</a:t>
                </a:r>
              </a:p>
              <a:p>
                <a:endParaRPr lang="pl-PL" dirty="0"/>
              </a:p>
              <a:p>
                <a:r>
                  <a:rPr lang="pl-PL" dirty="0" err="1"/>
                  <a:t>Residual</a:t>
                </a:r>
                <a:r>
                  <a:rPr lang="pl-PL" dirty="0"/>
                  <a:t> standard error: 2.063 on 68 </a:t>
                </a:r>
                <a:r>
                  <a:rPr lang="pl-PL" dirty="0" err="1"/>
                  <a:t>degrees</a:t>
                </a:r>
                <a:r>
                  <a:rPr lang="pl-PL" dirty="0"/>
                  <a:t> of </a:t>
                </a:r>
                <a:r>
                  <a:rPr lang="pl-PL" dirty="0" err="1"/>
                  <a:t>freedom</a:t>
                </a:r>
                <a:endParaRPr lang="pl-PL" dirty="0"/>
              </a:p>
              <a:p>
                <a:r>
                  <a:rPr lang="pl-PL" dirty="0" err="1"/>
                  <a:t>Multiple</a:t>
                </a:r>
                <a:r>
                  <a:rPr lang="pl-PL" dirty="0"/>
                  <a:t> R-</a:t>
                </a:r>
                <a:r>
                  <a:rPr lang="pl-PL" dirty="0" err="1"/>
                  <a:t>squared</a:t>
                </a:r>
                <a:r>
                  <a:rPr lang="pl-PL" dirty="0"/>
                  <a:t>:  </a:t>
                </a:r>
                <a:r>
                  <a:rPr lang="pl-PL" dirty="0">
                    <a:solidFill>
                      <a:srgbClr val="FF0000"/>
                    </a:solidFill>
                  </a:rPr>
                  <a:t>0.5759</a:t>
                </a:r>
                <a:r>
                  <a:rPr lang="pl-PL" dirty="0"/>
                  <a:t>,	</a:t>
                </a:r>
                <a:r>
                  <a:rPr lang="pl-PL" dirty="0" err="1"/>
                  <a:t>Adjusted</a:t>
                </a:r>
                <a:r>
                  <a:rPr lang="pl-PL" dirty="0"/>
                  <a:t> R-</a:t>
                </a:r>
                <a:r>
                  <a:rPr lang="pl-PL" dirty="0" err="1"/>
                  <a:t>squared</a:t>
                </a:r>
                <a:r>
                  <a:rPr lang="pl-PL" dirty="0"/>
                  <a:t>:  0.5697 </a:t>
                </a:r>
              </a:p>
              <a:p>
                <a:r>
                  <a:rPr lang="pl-PL" dirty="0"/>
                  <a:t>F-</a:t>
                </a:r>
                <a:r>
                  <a:rPr lang="pl-PL" dirty="0" err="1"/>
                  <a:t>statistic</a:t>
                </a:r>
                <a:r>
                  <a:rPr lang="pl-PL" dirty="0"/>
                  <a:t>: </a:t>
                </a:r>
                <a:r>
                  <a:rPr lang="pl-PL" dirty="0">
                    <a:solidFill>
                      <a:srgbClr val="FF0000"/>
                    </a:solidFill>
                  </a:rPr>
                  <a:t>92.34</a:t>
                </a:r>
                <a:r>
                  <a:rPr lang="pl-PL" dirty="0"/>
                  <a:t> on 1 and 68 DF,  </a:t>
                </a:r>
                <a:r>
                  <a:rPr lang="pl-PL" dirty="0">
                    <a:solidFill>
                      <a:srgbClr val="FF0000"/>
                    </a:solidFill>
                  </a:rPr>
                  <a:t>p-</a:t>
                </a:r>
                <a:r>
                  <a:rPr lang="pl-PL" dirty="0" err="1">
                    <a:solidFill>
                      <a:srgbClr val="FF0000"/>
                    </a:solidFill>
                  </a:rPr>
                  <a:t>value</a:t>
                </a:r>
                <a:r>
                  <a:rPr lang="pl-PL" dirty="0">
                    <a:solidFill>
                      <a:srgbClr val="FF0000"/>
                    </a:solidFill>
                  </a:rPr>
                  <a:t>: 2.71e-14</a:t>
                </a:r>
              </a:p>
            </p:txBody>
          </p:sp>
        </mc:Choice>
        <mc:Fallback xmlns="">
          <p:sp>
            <p:nvSpPr>
              <p:cNvPr id="11" name="Prostokąt 10"/>
              <p:cNvSpPr>
                <a:spLocks noRot="1" noChangeAspect="1" noMove="1" noResize="1" noEditPoints="1" noAdjustHandles="1" noChangeArrowheads="1" noChangeShapeType="1" noTextEdit="1"/>
              </p:cNvSpPr>
              <p:nvPr/>
            </p:nvSpPr>
            <p:spPr>
              <a:xfrm>
                <a:off x="6028623" y="2737802"/>
                <a:ext cx="6002956" cy="2862322"/>
              </a:xfrm>
              <a:prstGeom prst="rect">
                <a:avLst/>
              </a:prstGeom>
              <a:blipFill>
                <a:blip r:embed="rId2"/>
                <a:stretch>
                  <a:fillRect l="-914" t="-1064" b="-2340"/>
                </a:stretch>
              </a:blipFill>
            </p:spPr>
            <p:txBody>
              <a:bodyPr/>
              <a:lstStyle/>
              <a:p>
                <a:r>
                  <a:rPr lang="pl-PL">
                    <a:noFill/>
                  </a:rPr>
                  <a:t> </a:t>
                </a:r>
              </a:p>
            </p:txBody>
          </p:sp>
        </mc:Fallback>
      </mc:AlternateContent>
      <mc:AlternateContent xmlns:mc="http://schemas.openxmlformats.org/markup-compatibility/2006" xmlns:a14="http://schemas.microsoft.com/office/drawing/2010/main">
        <mc:Choice Requires="a14">
          <p:sp>
            <p:nvSpPr>
              <p:cNvPr id="12" name="Prostokąt 11"/>
              <p:cNvSpPr/>
              <p:nvPr/>
            </p:nvSpPr>
            <p:spPr>
              <a:xfrm>
                <a:off x="365760" y="2737802"/>
                <a:ext cx="5560192" cy="2862322"/>
              </a:xfrm>
              <a:prstGeom prst="rect">
                <a:avLst/>
              </a:prstGeom>
            </p:spPr>
            <p:txBody>
              <a:bodyPr wrap="square">
                <a:spAutoFit/>
              </a:bodyPr>
              <a:lstStyle/>
              <a:p>
                <a:r>
                  <a:rPr lang="pl-PL" dirty="0"/>
                  <a:t>lm(</a:t>
                </a:r>
                <a:r>
                  <a:rPr lang="pl-PL" dirty="0" err="1"/>
                  <a:t>formula</a:t>
                </a:r>
                <a:r>
                  <a:rPr lang="pl-PL" dirty="0"/>
                  <a:t> = y ~ x) </a:t>
                </a:r>
                <a14:m>
                  <m:oMath xmlns:m="http://schemas.openxmlformats.org/officeDocument/2006/math">
                    <m:sSub>
                      <m:sSubPr>
                        <m:ctrlPr>
                          <a:rPr lang="en-US" i="1">
                            <a:solidFill>
                              <a:srgbClr val="215968"/>
                            </a:solidFill>
                            <a:latin typeface="Cambria Math" panose="02040503050406030204" pitchFamily="18" charset="0"/>
                          </a:rPr>
                        </m:ctrlPr>
                      </m:sSubPr>
                      <m:e>
                        <m:r>
                          <a:rPr lang="pl-PL" i="1">
                            <a:solidFill>
                              <a:srgbClr val="215968"/>
                            </a:solidFill>
                            <a:latin typeface="Cambria Math" panose="02040503050406030204" pitchFamily="18" charset="0"/>
                          </a:rPr>
                          <m:t>𝑦</m:t>
                        </m:r>
                      </m:e>
                      <m:sub>
                        <m:r>
                          <a:rPr lang="pl-PL" i="1">
                            <a:solidFill>
                              <a:srgbClr val="215968"/>
                            </a:solidFill>
                            <a:latin typeface="Cambria Math" panose="02040503050406030204" pitchFamily="18" charset="0"/>
                          </a:rPr>
                          <m:t>𝑡</m:t>
                        </m:r>
                      </m:sub>
                    </m:sSub>
                    <m:r>
                      <a:rPr lang="pl-PL" i="1">
                        <a:solidFill>
                          <a:srgbClr val="215968"/>
                        </a:solidFill>
                        <a:latin typeface="Cambria Math" panose="02040503050406030204" pitchFamily="18" charset="0"/>
                      </a:rPr>
                      <m:t>=</m:t>
                    </m:r>
                    <m:r>
                      <a:rPr lang="pl-PL" b="1" i="1">
                        <a:solidFill>
                          <a:srgbClr val="215968"/>
                        </a:solidFill>
                        <a:latin typeface="Cambria Math" panose="02040503050406030204" pitchFamily="18" charset="0"/>
                      </a:rPr>
                      <m:t>𝒄</m:t>
                    </m:r>
                    <m:r>
                      <a:rPr lang="pl-PL" i="1">
                        <a:solidFill>
                          <a:srgbClr val="215968"/>
                        </a:solidFill>
                        <a:latin typeface="Cambria Math" panose="02040503050406030204" pitchFamily="18" charset="0"/>
                      </a:rPr>
                      <m:t>+</m:t>
                    </m:r>
                    <m:r>
                      <a:rPr lang="pl-PL" b="1" i="1">
                        <a:solidFill>
                          <a:srgbClr val="215968"/>
                        </a:solidFill>
                        <a:latin typeface="Cambria Math" panose="02040503050406030204" pitchFamily="18" charset="0"/>
                      </a:rPr>
                      <m:t>𝒅</m:t>
                    </m:r>
                    <m:sSub>
                      <m:sSubPr>
                        <m:ctrlPr>
                          <a:rPr lang="pl-PL" i="1">
                            <a:solidFill>
                              <a:srgbClr val="215968"/>
                            </a:solidFill>
                            <a:latin typeface="Cambria Math" panose="02040503050406030204" pitchFamily="18" charset="0"/>
                          </a:rPr>
                        </m:ctrlPr>
                      </m:sSubPr>
                      <m:e>
                        <m:r>
                          <a:rPr lang="pl-PL" i="1">
                            <a:solidFill>
                              <a:srgbClr val="215968"/>
                            </a:solidFill>
                            <a:latin typeface="Cambria Math" panose="02040503050406030204" pitchFamily="18" charset="0"/>
                          </a:rPr>
                          <m:t>𝑥</m:t>
                        </m:r>
                      </m:e>
                      <m:sub>
                        <m:r>
                          <a:rPr lang="pl-PL" i="1">
                            <a:solidFill>
                              <a:srgbClr val="215968"/>
                            </a:solidFill>
                            <a:latin typeface="Cambria Math" panose="02040503050406030204" pitchFamily="18" charset="0"/>
                          </a:rPr>
                          <m:t>𝑡</m:t>
                        </m:r>
                      </m:sub>
                    </m:sSub>
                    <m:r>
                      <a:rPr lang="pl-PL" i="1">
                        <a:solidFill>
                          <a:srgbClr val="215968"/>
                        </a:solidFill>
                        <a:latin typeface="Cambria Math" panose="02040503050406030204" pitchFamily="18" charset="0"/>
                      </a:rPr>
                      <m:t>+ </m:t>
                    </m:r>
                    <m:sSub>
                      <m:sSubPr>
                        <m:ctrlPr>
                          <a:rPr lang="pl-PL" i="1">
                            <a:solidFill>
                              <a:srgbClr val="215968"/>
                            </a:solidFill>
                            <a:latin typeface="Cambria Math" panose="02040503050406030204" pitchFamily="18" charset="0"/>
                          </a:rPr>
                        </m:ctrlPr>
                      </m:sSubPr>
                      <m:e>
                        <m:r>
                          <a:rPr lang="pl-PL" i="1">
                            <a:solidFill>
                              <a:srgbClr val="215968"/>
                            </a:solidFill>
                            <a:latin typeface="Cambria Math" panose="02040503050406030204" pitchFamily="18" charset="0"/>
                            <a:ea typeface="Cambria Math" panose="02040503050406030204" pitchFamily="18" charset="0"/>
                          </a:rPr>
                          <m:t>𝜀</m:t>
                        </m:r>
                      </m:e>
                      <m:sub>
                        <m:r>
                          <a:rPr lang="pl-PL" i="1">
                            <a:solidFill>
                              <a:srgbClr val="215968"/>
                            </a:solidFill>
                            <a:latin typeface="Cambria Math" panose="02040503050406030204" pitchFamily="18" charset="0"/>
                          </a:rPr>
                          <m:t>𝑡</m:t>
                        </m:r>
                      </m:sub>
                    </m:sSub>
                  </m:oMath>
                </a14:m>
                <a:r>
                  <a:rPr lang="pl-PL" dirty="0">
                    <a:solidFill>
                      <a:srgbClr val="215968"/>
                    </a:solidFill>
                  </a:rPr>
                  <a:t> (model 1) </a:t>
                </a:r>
                <a:endParaRPr lang="pl-PL" dirty="0"/>
              </a:p>
              <a:p>
                <a:endParaRPr lang="pl-PL" dirty="0"/>
              </a:p>
              <a:p>
                <a:r>
                  <a:rPr lang="pl-PL" dirty="0" err="1"/>
                  <a:t>Coefficients</a:t>
                </a:r>
                <a:r>
                  <a:rPr lang="pl-PL" dirty="0"/>
                  <a:t>:</a:t>
                </a:r>
              </a:p>
              <a:p>
                <a:r>
                  <a:rPr lang="pl-PL" dirty="0"/>
                  <a:t>                     </a:t>
                </a:r>
                <a:r>
                  <a:rPr lang="pl-PL" dirty="0" err="1"/>
                  <a:t>Estimate</a:t>
                </a:r>
                <a:r>
                  <a:rPr lang="pl-PL" dirty="0"/>
                  <a:t>  </a:t>
                </a:r>
                <a:r>
                  <a:rPr lang="pl-PL" dirty="0" err="1"/>
                  <a:t>Std</a:t>
                </a:r>
                <a:r>
                  <a:rPr lang="pl-PL" dirty="0"/>
                  <a:t>. Error  t </a:t>
                </a:r>
                <a:r>
                  <a:rPr lang="pl-PL" dirty="0" err="1"/>
                  <a:t>value</a:t>
                </a:r>
                <a:r>
                  <a:rPr lang="pl-PL" dirty="0"/>
                  <a:t>   Pr(&gt;|t|)    </a:t>
                </a:r>
              </a:p>
              <a:p>
                <a:r>
                  <a:rPr lang="pl-PL" dirty="0"/>
                  <a:t>(</a:t>
                </a:r>
                <a:r>
                  <a:rPr lang="pl-PL" dirty="0" err="1"/>
                  <a:t>Intercept</a:t>
                </a:r>
                <a:r>
                  <a:rPr lang="pl-PL" dirty="0"/>
                  <a:t>)   1.0148     0.6793      1.494     </a:t>
                </a:r>
                <a:r>
                  <a:rPr lang="pl-PL" dirty="0">
                    <a:solidFill>
                      <a:srgbClr val="FF0000"/>
                    </a:solidFill>
                  </a:rPr>
                  <a:t>0.14    </a:t>
                </a:r>
              </a:p>
              <a:p>
                <a:r>
                  <a:rPr lang="pl-PL" dirty="0"/>
                  <a:t>x                    1.0484     0.1091      9.610     </a:t>
                </a:r>
                <a:r>
                  <a:rPr lang="pl-PL" dirty="0">
                    <a:solidFill>
                      <a:srgbClr val="FF0000"/>
                    </a:solidFill>
                  </a:rPr>
                  <a:t>2.71e-14</a:t>
                </a:r>
                <a:r>
                  <a:rPr lang="pl-PL" dirty="0"/>
                  <a:t> ***</a:t>
                </a:r>
              </a:p>
              <a:p>
                <a:endParaRPr lang="pl-PL" dirty="0"/>
              </a:p>
              <a:p>
                <a:r>
                  <a:rPr lang="pl-PL" dirty="0" err="1"/>
                  <a:t>Residual</a:t>
                </a:r>
                <a:r>
                  <a:rPr lang="pl-PL" dirty="0"/>
                  <a:t> standard error: 2.85 on 68 </a:t>
                </a:r>
                <a:r>
                  <a:rPr lang="pl-PL" dirty="0" err="1"/>
                  <a:t>degrees</a:t>
                </a:r>
                <a:r>
                  <a:rPr lang="pl-PL" dirty="0"/>
                  <a:t> of </a:t>
                </a:r>
                <a:r>
                  <a:rPr lang="pl-PL" dirty="0" err="1"/>
                  <a:t>freedom</a:t>
                </a:r>
                <a:endParaRPr lang="pl-PL" dirty="0"/>
              </a:p>
              <a:p>
                <a:r>
                  <a:rPr lang="pl-PL" dirty="0" err="1"/>
                  <a:t>Multiple</a:t>
                </a:r>
                <a:r>
                  <a:rPr lang="pl-PL" dirty="0"/>
                  <a:t> R-</a:t>
                </a:r>
                <a:r>
                  <a:rPr lang="pl-PL" dirty="0" err="1"/>
                  <a:t>squared</a:t>
                </a:r>
                <a:r>
                  <a:rPr lang="pl-PL" dirty="0"/>
                  <a:t>:  </a:t>
                </a:r>
                <a:r>
                  <a:rPr lang="pl-PL" dirty="0">
                    <a:solidFill>
                      <a:srgbClr val="FF0000"/>
                    </a:solidFill>
                  </a:rPr>
                  <a:t>0.5759</a:t>
                </a:r>
                <a:r>
                  <a:rPr lang="pl-PL" dirty="0"/>
                  <a:t>,	</a:t>
                </a:r>
                <a:r>
                  <a:rPr lang="pl-PL" dirty="0" err="1"/>
                  <a:t>Adjusted</a:t>
                </a:r>
                <a:r>
                  <a:rPr lang="pl-PL" dirty="0"/>
                  <a:t> R-</a:t>
                </a:r>
                <a:r>
                  <a:rPr lang="pl-PL" dirty="0" err="1"/>
                  <a:t>squared</a:t>
                </a:r>
                <a:r>
                  <a:rPr lang="pl-PL" dirty="0"/>
                  <a:t>:  0.5697 </a:t>
                </a:r>
              </a:p>
              <a:p>
                <a:r>
                  <a:rPr lang="pl-PL" dirty="0"/>
                  <a:t>F-</a:t>
                </a:r>
                <a:r>
                  <a:rPr lang="pl-PL" dirty="0" err="1"/>
                  <a:t>statistic</a:t>
                </a:r>
                <a:r>
                  <a:rPr lang="pl-PL" dirty="0"/>
                  <a:t>:</a:t>
                </a:r>
                <a:r>
                  <a:rPr lang="pl-PL" dirty="0">
                    <a:solidFill>
                      <a:srgbClr val="FF0000"/>
                    </a:solidFill>
                  </a:rPr>
                  <a:t> 92.34 </a:t>
                </a:r>
                <a:r>
                  <a:rPr lang="pl-PL" dirty="0"/>
                  <a:t>on 1 and 68 DF,  p-</a:t>
                </a:r>
                <a:r>
                  <a:rPr lang="pl-PL" dirty="0" err="1"/>
                  <a:t>value</a:t>
                </a:r>
                <a:r>
                  <a:rPr lang="pl-PL" dirty="0"/>
                  <a:t>: </a:t>
                </a:r>
                <a:r>
                  <a:rPr lang="pl-PL" dirty="0">
                    <a:solidFill>
                      <a:srgbClr val="FF0000"/>
                    </a:solidFill>
                  </a:rPr>
                  <a:t>2.71e-14</a:t>
                </a:r>
              </a:p>
            </p:txBody>
          </p:sp>
        </mc:Choice>
        <mc:Fallback xmlns="">
          <p:sp>
            <p:nvSpPr>
              <p:cNvPr id="12" name="Prostokąt 11"/>
              <p:cNvSpPr>
                <a:spLocks noRot="1" noChangeAspect="1" noMove="1" noResize="1" noEditPoints="1" noAdjustHandles="1" noChangeArrowheads="1" noChangeShapeType="1" noTextEdit="1"/>
              </p:cNvSpPr>
              <p:nvPr/>
            </p:nvSpPr>
            <p:spPr>
              <a:xfrm>
                <a:off x="365760" y="2737802"/>
                <a:ext cx="5560192" cy="2862322"/>
              </a:xfrm>
              <a:prstGeom prst="rect">
                <a:avLst/>
              </a:prstGeom>
              <a:blipFill>
                <a:blip r:embed="rId3"/>
                <a:stretch>
                  <a:fillRect l="-877" t="-1064" r="-1645" b="-2340"/>
                </a:stretch>
              </a:blipFill>
            </p:spPr>
            <p:txBody>
              <a:bodyPr/>
              <a:lstStyle/>
              <a:p>
                <a:r>
                  <a:rPr lang="pl-PL">
                    <a:noFill/>
                  </a:rPr>
                  <a:t> </a:t>
                </a:r>
              </a:p>
            </p:txBody>
          </p:sp>
        </mc:Fallback>
      </mc:AlternateContent>
      <p:sp>
        <p:nvSpPr>
          <p:cNvPr id="14" name="Prostokąt 13"/>
          <p:cNvSpPr/>
          <p:nvPr/>
        </p:nvSpPr>
        <p:spPr>
          <a:xfrm>
            <a:off x="263089" y="5831131"/>
            <a:ext cx="11964202" cy="830997"/>
          </a:xfrm>
          <a:prstGeom prst="rect">
            <a:avLst/>
          </a:prstGeom>
        </p:spPr>
        <p:txBody>
          <a:bodyPr wrap="square">
            <a:spAutoFit/>
          </a:bodyPr>
          <a:lstStyle/>
          <a:p>
            <a:pPr algn="just"/>
            <a:r>
              <a:rPr lang="pl-PL" sz="2400" b="1" i="1" dirty="0">
                <a:solidFill>
                  <a:srgbClr val="FF0000"/>
                </a:solidFill>
              </a:rPr>
              <a:t>R</a:t>
            </a:r>
            <a:r>
              <a:rPr lang="en-US" sz="2400" b="1" i="1" dirty="0">
                <a:solidFill>
                  <a:srgbClr val="FF0000"/>
                </a:solidFill>
              </a:rPr>
              <a:t>un </a:t>
            </a:r>
            <a:r>
              <a:rPr lang="en-US" sz="2400" b="1" i="1" dirty="0" err="1">
                <a:solidFill>
                  <a:srgbClr val="FF0000"/>
                </a:solidFill>
              </a:rPr>
              <a:t>spurious_regression.R</a:t>
            </a:r>
            <a:r>
              <a:rPr lang="en-US" sz="2400" b="1" i="1" dirty="0">
                <a:solidFill>
                  <a:srgbClr val="FF0000"/>
                </a:solidFill>
              </a:rPr>
              <a:t> script and experiment. In code, you find some hints on how to deal with R. </a:t>
            </a:r>
            <a:endParaRPr lang="en-US" sz="2800" b="1" i="1" dirty="0">
              <a:solidFill>
                <a:srgbClr val="FF0000"/>
              </a:solidFill>
            </a:endParaRPr>
          </a:p>
        </p:txBody>
      </p:sp>
    </p:spTree>
    <p:extLst>
      <p:ext uri="{BB962C8B-B14F-4D97-AF65-F5344CB8AC3E}">
        <p14:creationId xmlns:p14="http://schemas.microsoft.com/office/powerpoint/2010/main" val="22665807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pl-PL" sz="4400" b="1" dirty="0">
                <a:solidFill>
                  <a:schemeClr val="accent5">
                    <a:lumMod val="50000"/>
                  </a:schemeClr>
                </a:solidFill>
              </a:rPr>
              <a:t>A p</a:t>
            </a:r>
            <a:r>
              <a:rPr lang="en-US" sz="4400" b="1" dirty="0" err="1">
                <a:solidFill>
                  <a:schemeClr val="accent5">
                    <a:lumMod val="50000"/>
                  </a:schemeClr>
                </a:solidFill>
              </a:rPr>
              <a:t>ure</a:t>
            </a:r>
            <a:r>
              <a:rPr lang="en-US" sz="4400" b="1" dirty="0">
                <a:solidFill>
                  <a:schemeClr val="accent5">
                    <a:lumMod val="50000"/>
                  </a:schemeClr>
                </a:solidFill>
              </a:rPr>
              <a:t> coincidence</a:t>
            </a:r>
            <a:endParaRPr lang="en-GB" sz="3200" b="1" i="1" dirty="0"/>
          </a:p>
        </p:txBody>
      </p:sp>
      <p:sp>
        <p:nvSpPr>
          <p:cNvPr id="2" name="Prostokąt 1"/>
          <p:cNvSpPr/>
          <p:nvPr/>
        </p:nvSpPr>
        <p:spPr>
          <a:xfrm>
            <a:off x="164385" y="1168142"/>
            <a:ext cx="11466947" cy="5262979"/>
          </a:xfrm>
          <a:prstGeom prst="rect">
            <a:avLst/>
          </a:prstGeom>
        </p:spPr>
        <p:txBody>
          <a:bodyPr wrap="square">
            <a:spAutoFit/>
          </a:bodyPr>
          <a:lstStyle/>
          <a:p>
            <a:pPr algn="just"/>
            <a:r>
              <a:rPr lang="en-US" sz="2400" dirty="0">
                <a:solidFill>
                  <a:schemeClr val="accent5">
                    <a:lumMod val="50000"/>
                  </a:schemeClr>
                </a:solidFill>
              </a:rPr>
              <a:t>Sometime there is</a:t>
            </a:r>
            <a:r>
              <a:rPr lang="pl-PL" sz="2400" dirty="0">
                <a:solidFill>
                  <a:schemeClr val="accent5">
                    <a:lumMod val="50000"/>
                  </a:schemeClr>
                </a:solidFill>
              </a:rPr>
              <a:t> a</a:t>
            </a:r>
            <a:r>
              <a:rPr lang="en-US" sz="2400" dirty="0">
                <a:solidFill>
                  <a:schemeClr val="accent5">
                    <a:lumMod val="50000"/>
                  </a:schemeClr>
                </a:solidFill>
              </a:rPr>
              <a:t> pure coincidence. </a:t>
            </a:r>
          </a:p>
          <a:p>
            <a:pPr algn="just"/>
            <a:endParaRPr lang="en-US" sz="2400" dirty="0">
              <a:solidFill>
                <a:schemeClr val="accent5">
                  <a:lumMod val="50000"/>
                </a:schemeClr>
              </a:solidFill>
            </a:endParaRPr>
          </a:p>
          <a:p>
            <a:pPr algn="just"/>
            <a:r>
              <a:rPr lang="en-US" sz="2400" i="1" dirty="0">
                <a:solidFill>
                  <a:schemeClr val="accent5">
                    <a:lumMod val="50000"/>
                  </a:schemeClr>
                </a:solidFill>
              </a:rPr>
              <a:t>David </a:t>
            </a:r>
            <a:r>
              <a:rPr lang="en-US" sz="2400" i="1" dirty="0" err="1">
                <a:solidFill>
                  <a:schemeClr val="accent5">
                    <a:lumMod val="50000"/>
                  </a:schemeClr>
                </a:solidFill>
              </a:rPr>
              <a:t>Leinweber</a:t>
            </a:r>
            <a:r>
              <a:rPr lang="en-US" sz="2400" i="1" dirty="0">
                <a:solidFill>
                  <a:schemeClr val="accent5">
                    <a:lumMod val="50000"/>
                  </a:schemeClr>
                </a:solidFill>
              </a:rPr>
              <a:t> and Dave </a:t>
            </a:r>
            <a:r>
              <a:rPr lang="en-US" sz="2400" i="1" dirty="0" err="1">
                <a:solidFill>
                  <a:schemeClr val="accent5">
                    <a:lumMod val="50000"/>
                  </a:schemeClr>
                </a:solidFill>
              </a:rPr>
              <a:t>Krider</a:t>
            </a:r>
            <a:r>
              <a:rPr lang="en-US" sz="2400" i="1" dirty="0">
                <a:solidFill>
                  <a:schemeClr val="accent5">
                    <a:lumMod val="50000"/>
                  </a:schemeClr>
                </a:solidFill>
              </a:rPr>
              <a:t> found that </a:t>
            </a:r>
            <a:r>
              <a:rPr lang="en-US" sz="2400" b="1" i="1" dirty="0">
                <a:solidFill>
                  <a:schemeClr val="accent5">
                    <a:lumMod val="50000"/>
                  </a:schemeClr>
                </a:solidFill>
              </a:rPr>
              <a:t>butter production in Bangladesh </a:t>
            </a:r>
            <a:r>
              <a:rPr lang="en-US" sz="2400" i="1" dirty="0">
                <a:solidFill>
                  <a:schemeClr val="accent5">
                    <a:lumMod val="50000"/>
                  </a:schemeClr>
                </a:solidFill>
              </a:rPr>
              <a:t>had the tightest correlation to the S&amp;P 500 of any data series they could find. It wasn’t GDP growth…it wasn’t earnings…it was Bangladeshi butter, which “explained” 99% of the </a:t>
            </a:r>
            <a:r>
              <a:rPr lang="en-US" sz="2400" b="1" i="1" dirty="0">
                <a:solidFill>
                  <a:schemeClr val="accent5">
                    <a:lumMod val="50000"/>
                  </a:schemeClr>
                </a:solidFill>
              </a:rPr>
              <a:t>S&amp;P 500’s </a:t>
            </a:r>
            <a:r>
              <a:rPr lang="en-US" sz="2400" i="1" dirty="0">
                <a:solidFill>
                  <a:schemeClr val="accent5">
                    <a:lumMod val="50000"/>
                  </a:schemeClr>
                </a:solidFill>
              </a:rPr>
              <a:t>movements.</a:t>
            </a:r>
          </a:p>
          <a:p>
            <a:pPr algn="just"/>
            <a:endParaRPr lang="en-US" sz="2400" i="1" dirty="0">
              <a:solidFill>
                <a:schemeClr val="accent5">
                  <a:lumMod val="50000"/>
                </a:schemeClr>
              </a:solidFill>
            </a:endParaRPr>
          </a:p>
          <a:p>
            <a:pPr algn="just"/>
            <a:r>
              <a:rPr lang="en-US" sz="2400" i="1" dirty="0">
                <a:solidFill>
                  <a:schemeClr val="accent5">
                    <a:lumMod val="50000"/>
                  </a:schemeClr>
                </a:solidFill>
              </a:rPr>
              <a:t>The authors weren’t quacks. They knew the correlation was a random coincidence and completely meaningless. But they published the paper to get a good laugh and to make an important point about number crunching.  Correlation does not mean causation, and if your model doesn’t make intuitive sense, it’s probably bogus.</a:t>
            </a:r>
            <a:endParaRPr lang="pl-PL" sz="2400" i="1" dirty="0">
              <a:solidFill>
                <a:schemeClr val="accent5">
                  <a:lumMod val="50000"/>
                </a:schemeClr>
              </a:solidFill>
            </a:endParaRPr>
          </a:p>
          <a:p>
            <a:pPr algn="just"/>
            <a:endParaRPr lang="pl-PL" sz="2400" i="1" dirty="0">
              <a:solidFill>
                <a:schemeClr val="accent5">
                  <a:lumMod val="50000"/>
                </a:schemeClr>
              </a:solidFill>
            </a:endParaRPr>
          </a:p>
          <a:p>
            <a:pPr algn="just"/>
            <a:r>
              <a:rPr lang="pl-PL" sz="2400" dirty="0" err="1">
                <a:solidFill>
                  <a:schemeClr val="accent5">
                    <a:lumMod val="50000"/>
                  </a:schemeClr>
                </a:solidFill>
              </a:rPr>
              <a:t>Which</a:t>
            </a:r>
            <a:r>
              <a:rPr lang="pl-PL" sz="2400" dirty="0">
                <a:solidFill>
                  <a:schemeClr val="accent5">
                    <a:lumMod val="50000"/>
                  </a:schemeClr>
                </a:solidFill>
              </a:rPr>
              <a:t> of the </a:t>
            </a:r>
            <a:r>
              <a:rPr lang="pl-PL" sz="2400" dirty="0" err="1">
                <a:solidFill>
                  <a:schemeClr val="accent5">
                    <a:lumMod val="50000"/>
                  </a:schemeClr>
                </a:solidFill>
              </a:rPr>
              <a:t>spurious-correlations</a:t>
            </a:r>
            <a:r>
              <a:rPr lang="pl-PL" sz="2400" dirty="0">
                <a:solidFill>
                  <a:schemeClr val="accent5">
                    <a:lumMod val="50000"/>
                  </a:schemeClr>
                </a:solidFill>
              </a:rPr>
              <a:t> [https://tylervigen.com/spurious-correlations] </a:t>
            </a:r>
            <a:r>
              <a:rPr lang="pl-PL" sz="2400" dirty="0" err="1">
                <a:solidFill>
                  <a:schemeClr val="accent5">
                    <a:lumMod val="50000"/>
                  </a:schemeClr>
                </a:solidFill>
              </a:rPr>
              <a:t>is</a:t>
            </a:r>
            <a:r>
              <a:rPr lang="pl-PL" sz="2400" dirty="0">
                <a:solidFill>
                  <a:schemeClr val="accent5">
                    <a:lumMod val="50000"/>
                  </a:schemeClr>
                </a:solidFill>
              </a:rPr>
              <a:t> </a:t>
            </a:r>
            <a:r>
              <a:rPr lang="pl-PL" sz="2400" dirty="0" err="1">
                <a:solidFill>
                  <a:schemeClr val="accent5">
                    <a:lumMod val="50000"/>
                  </a:schemeClr>
                </a:solidFill>
              </a:rPr>
              <a:t>coused</a:t>
            </a:r>
            <a:r>
              <a:rPr lang="pl-PL" sz="2400" dirty="0">
                <a:solidFill>
                  <a:schemeClr val="accent5">
                    <a:lumMod val="50000"/>
                  </a:schemeClr>
                </a:solidFill>
              </a:rPr>
              <a:t> by  </a:t>
            </a:r>
            <a:r>
              <a:rPr lang="pl-PL" sz="2400" dirty="0" err="1">
                <a:solidFill>
                  <a:schemeClr val="accent5">
                    <a:lumMod val="50000"/>
                  </a:schemeClr>
                </a:solidFill>
              </a:rPr>
              <a:t>common</a:t>
            </a:r>
            <a:r>
              <a:rPr lang="pl-PL" sz="2400" dirty="0">
                <a:solidFill>
                  <a:schemeClr val="accent5">
                    <a:lumMod val="50000"/>
                  </a:schemeClr>
                </a:solidFill>
              </a:rPr>
              <a:t> </a:t>
            </a:r>
            <a:r>
              <a:rPr lang="pl-PL" sz="2400" dirty="0" err="1">
                <a:solidFill>
                  <a:schemeClr val="accent5">
                    <a:lumMod val="50000"/>
                  </a:schemeClr>
                </a:solidFill>
              </a:rPr>
              <a:t>response</a:t>
            </a:r>
            <a:r>
              <a:rPr lang="pl-PL" sz="2400" dirty="0">
                <a:solidFill>
                  <a:schemeClr val="accent5">
                    <a:lumMod val="50000"/>
                  </a:schemeClr>
                </a:solidFill>
              </a:rPr>
              <a:t> </a:t>
            </a:r>
            <a:r>
              <a:rPr lang="pl-PL" sz="2400" dirty="0" err="1">
                <a:solidFill>
                  <a:schemeClr val="accent5">
                    <a:lumMod val="50000"/>
                  </a:schemeClr>
                </a:solidFill>
              </a:rPr>
              <a:t>variable</a:t>
            </a:r>
            <a:r>
              <a:rPr lang="pl-PL" sz="2400" dirty="0">
                <a:solidFill>
                  <a:schemeClr val="accent5">
                    <a:lumMod val="50000"/>
                  </a:schemeClr>
                </a:solidFill>
              </a:rPr>
              <a:t> </a:t>
            </a:r>
            <a:r>
              <a:rPr lang="pl-PL" sz="2400" dirty="0" err="1">
                <a:solidFill>
                  <a:schemeClr val="accent5">
                    <a:lumMod val="50000"/>
                  </a:schemeClr>
                </a:solidFill>
              </a:rPr>
              <a:t>which</a:t>
            </a:r>
            <a:r>
              <a:rPr lang="pl-PL" sz="2400" dirty="0">
                <a:solidFill>
                  <a:schemeClr val="accent5">
                    <a:lumMod val="50000"/>
                  </a:schemeClr>
                </a:solidFill>
              </a:rPr>
              <a:t> </a:t>
            </a:r>
            <a:r>
              <a:rPr lang="pl-PL" sz="2400" dirty="0" err="1">
                <a:solidFill>
                  <a:schemeClr val="accent5">
                    <a:lumMod val="50000"/>
                  </a:schemeClr>
                </a:solidFill>
              </a:rPr>
              <a:t>are</a:t>
            </a:r>
            <a:r>
              <a:rPr lang="pl-PL" sz="2400" dirty="0">
                <a:solidFill>
                  <a:schemeClr val="accent5">
                    <a:lumMod val="50000"/>
                  </a:schemeClr>
                </a:solidFill>
              </a:rPr>
              <a:t> </a:t>
            </a:r>
            <a:r>
              <a:rPr lang="en-US" sz="2400" dirty="0">
                <a:solidFill>
                  <a:schemeClr val="accent5">
                    <a:lumMod val="50000"/>
                  </a:schemeClr>
                </a:solidFill>
              </a:rPr>
              <a:t>pure coincidence</a:t>
            </a:r>
            <a:r>
              <a:rPr lang="pl-PL" sz="2400" dirty="0">
                <a:solidFill>
                  <a:schemeClr val="accent5">
                    <a:lumMod val="50000"/>
                  </a:schemeClr>
                </a:solidFill>
              </a:rPr>
              <a:t>?  </a:t>
            </a:r>
            <a:r>
              <a:rPr lang="pl-PL" sz="2400" dirty="0">
                <a:solidFill>
                  <a:schemeClr val="accent5">
                    <a:lumMod val="50000"/>
                  </a:schemeClr>
                </a:solidFill>
                <a:sym typeface="Wingdings" panose="05000000000000000000" pitchFamily="2" charset="2"/>
              </a:rPr>
              <a:t> </a:t>
            </a:r>
            <a:endParaRPr lang="en-US" sz="2400" dirty="0">
              <a:solidFill>
                <a:schemeClr val="accent5">
                  <a:lumMod val="50000"/>
                </a:schemeClr>
              </a:solidFill>
            </a:endParaRPr>
          </a:p>
        </p:txBody>
      </p:sp>
    </p:spTree>
    <p:extLst>
      <p:ext uri="{BB962C8B-B14F-4D97-AF65-F5344CB8AC3E}">
        <p14:creationId xmlns:p14="http://schemas.microsoft.com/office/powerpoint/2010/main" val="27860898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Econometrics</a:t>
            </a:r>
            <a:r>
              <a:rPr lang="pl-PL" sz="4400" b="1" i="1" spc="-1" dirty="0">
                <a:solidFill>
                  <a:srgbClr val="215968"/>
                </a:solidFill>
              </a:rPr>
              <a:t> and </a:t>
            </a:r>
            <a:r>
              <a:rPr lang="pl-PL" sz="4400" b="1" i="1" spc="-1" dirty="0" err="1">
                <a:solidFill>
                  <a:srgbClr val="215968"/>
                </a:solidFill>
              </a:rPr>
              <a:t>causality</a:t>
            </a:r>
            <a:r>
              <a:rPr lang="pl-PL" sz="4400" b="1" i="1" spc="-1" dirty="0">
                <a:solidFill>
                  <a:srgbClr val="215968"/>
                </a:solidFill>
              </a:rPr>
              <a:t> </a:t>
            </a:r>
            <a:endParaRPr lang="en-GB" sz="3200" b="1" i="1" dirty="0"/>
          </a:p>
        </p:txBody>
      </p:sp>
      <p:sp>
        <p:nvSpPr>
          <p:cNvPr id="2" name="Prostokąt 1"/>
          <p:cNvSpPr/>
          <p:nvPr/>
        </p:nvSpPr>
        <p:spPr>
          <a:xfrm>
            <a:off x="166623" y="1552197"/>
            <a:ext cx="6445933" cy="5016758"/>
          </a:xfrm>
          <a:prstGeom prst="rect">
            <a:avLst/>
          </a:prstGeom>
        </p:spPr>
        <p:txBody>
          <a:bodyPr wrap="square">
            <a:spAutoFit/>
          </a:bodyPr>
          <a:lstStyle/>
          <a:p>
            <a:pPr algn="just"/>
            <a:r>
              <a:rPr lang="en-US" sz="3200" dirty="0">
                <a:solidFill>
                  <a:schemeClr val="accent5">
                    <a:lumMod val="50000"/>
                  </a:schemeClr>
                </a:solidFill>
              </a:rPr>
              <a:t>Economics ignored the problem of causality - the causal relationships were determined by a theoretical model.</a:t>
            </a:r>
            <a:r>
              <a:rPr lang="pl-PL" sz="3200" dirty="0">
                <a:solidFill>
                  <a:schemeClr val="accent5">
                    <a:lumMod val="50000"/>
                  </a:schemeClr>
                </a:solidFill>
              </a:rPr>
              <a:t> </a:t>
            </a:r>
            <a:r>
              <a:rPr lang="en-US" sz="3200" dirty="0">
                <a:solidFill>
                  <a:schemeClr val="accent5">
                    <a:lumMod val="50000"/>
                  </a:schemeClr>
                </a:solidFill>
              </a:rPr>
              <a:t>After the appearance of big data, the problem of causality is a hot topic in quantitative research in economics.</a:t>
            </a:r>
          </a:p>
          <a:p>
            <a:pPr algn="just"/>
            <a:endParaRPr lang="pl-PL" sz="2400" dirty="0">
              <a:solidFill>
                <a:schemeClr val="accent5">
                  <a:lumMod val="50000"/>
                </a:schemeClr>
              </a:solidFill>
            </a:endParaRPr>
          </a:p>
          <a:p>
            <a:pPr algn="just"/>
            <a:r>
              <a:rPr lang="en-US" sz="2400" dirty="0">
                <a:solidFill>
                  <a:schemeClr val="accent5">
                    <a:lumMod val="50000"/>
                  </a:schemeClr>
                </a:solidFill>
              </a:rPr>
              <a:t>Read: https://www.atsjournals.org/doi/full/10.1513/AnnalsATS.201808-564PS</a:t>
            </a:r>
          </a:p>
        </p:txBody>
      </p:sp>
      <p:pic>
        <p:nvPicPr>
          <p:cNvPr id="4" name="Obraz 3"/>
          <p:cNvPicPr>
            <a:picLocks noChangeAspect="1"/>
          </p:cNvPicPr>
          <p:nvPr/>
        </p:nvPicPr>
        <p:blipFill>
          <a:blip r:embed="rId2"/>
          <a:stretch>
            <a:fillRect/>
          </a:stretch>
        </p:blipFill>
        <p:spPr>
          <a:xfrm>
            <a:off x="6766560" y="1669774"/>
            <a:ext cx="5083191" cy="4899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136554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pl-PL" sz="4400" b="1" dirty="0">
                <a:solidFill>
                  <a:schemeClr val="accent5">
                    <a:lumMod val="50000"/>
                  </a:schemeClr>
                </a:solidFill>
              </a:rPr>
              <a:t>Big data and t</a:t>
            </a:r>
            <a:r>
              <a:rPr lang="en-US" sz="4400" b="1" dirty="0">
                <a:solidFill>
                  <a:schemeClr val="accent5">
                    <a:lumMod val="50000"/>
                  </a:schemeClr>
                </a:solidFill>
              </a:rPr>
              <a:t>he causal inference </a:t>
            </a:r>
          </a:p>
        </p:txBody>
      </p:sp>
      <p:sp>
        <p:nvSpPr>
          <p:cNvPr id="2" name="Prostokąt 1"/>
          <p:cNvSpPr/>
          <p:nvPr/>
        </p:nvSpPr>
        <p:spPr>
          <a:xfrm>
            <a:off x="175491" y="1168142"/>
            <a:ext cx="11748654" cy="5509200"/>
          </a:xfrm>
          <a:prstGeom prst="rect">
            <a:avLst/>
          </a:prstGeom>
        </p:spPr>
        <p:txBody>
          <a:bodyPr wrap="square">
            <a:spAutoFit/>
          </a:bodyPr>
          <a:lstStyle/>
          <a:p>
            <a:pPr algn="just"/>
            <a:r>
              <a:rPr lang="en-US" sz="2400" dirty="0">
                <a:solidFill>
                  <a:schemeClr val="accent5">
                    <a:lumMod val="50000"/>
                  </a:schemeClr>
                </a:solidFill>
              </a:rPr>
              <a:t>Researchers don't care about the causality structure when they use machine learning method</a:t>
            </a:r>
            <a:r>
              <a:rPr lang="pl-PL" sz="2400" dirty="0">
                <a:solidFill>
                  <a:schemeClr val="accent5">
                    <a:lumMod val="50000"/>
                  </a:schemeClr>
                </a:solidFill>
              </a:rPr>
              <a:t> (</a:t>
            </a:r>
            <a:r>
              <a:rPr lang="en-US" sz="2400" dirty="0">
                <a:solidFill>
                  <a:schemeClr val="accent5">
                    <a:lumMod val="50000"/>
                  </a:schemeClr>
                </a:solidFill>
              </a:rPr>
              <a:t>or more sophisticated time series models</a:t>
            </a:r>
            <a:r>
              <a:rPr lang="pl-PL" sz="2400" dirty="0">
                <a:solidFill>
                  <a:schemeClr val="accent5">
                    <a:lumMod val="50000"/>
                  </a:schemeClr>
                </a:solidFill>
              </a:rPr>
              <a:t>)</a:t>
            </a:r>
            <a:r>
              <a:rPr lang="en-US" sz="2400" dirty="0">
                <a:solidFill>
                  <a:schemeClr val="accent5">
                    <a:lumMod val="50000"/>
                  </a:schemeClr>
                </a:solidFill>
              </a:rPr>
              <a:t>.</a:t>
            </a:r>
            <a:r>
              <a:rPr lang="pl-PL" sz="2400" dirty="0">
                <a:solidFill>
                  <a:schemeClr val="accent5">
                    <a:lumMod val="50000"/>
                  </a:schemeClr>
                </a:solidFill>
              </a:rPr>
              <a:t> </a:t>
            </a:r>
            <a:r>
              <a:rPr lang="en-US" sz="2400" dirty="0">
                <a:solidFill>
                  <a:schemeClr val="accent5">
                    <a:lumMod val="50000"/>
                  </a:schemeClr>
                </a:solidFill>
              </a:rPr>
              <a:t>They focus on the forecast quality. Causality relationships are hidden in the black box of algorithms. But when we have big data sets, we can conduct computational experiments and obtain the causal-effect relationships.</a:t>
            </a:r>
            <a:endParaRPr lang="pl-PL" sz="2400" dirty="0">
              <a:solidFill>
                <a:schemeClr val="accent5">
                  <a:lumMod val="50000"/>
                </a:schemeClr>
              </a:solidFill>
            </a:endParaRPr>
          </a:p>
          <a:p>
            <a:pPr algn="just"/>
            <a:r>
              <a:rPr lang="en-US" sz="2400" b="1" dirty="0">
                <a:solidFill>
                  <a:schemeClr val="tx1">
                    <a:lumMod val="65000"/>
                    <a:lumOff val="35000"/>
                  </a:schemeClr>
                </a:solidFill>
              </a:rPr>
              <a:t>Natural and non-planned experiments; the big data includes the information about results of them we have to find tools how to mine it. (m</a:t>
            </a:r>
            <a:r>
              <a:rPr lang="pl-PL" sz="2400" b="1" dirty="0">
                <a:solidFill>
                  <a:schemeClr val="tx1">
                    <a:lumMod val="65000"/>
                    <a:lumOff val="35000"/>
                  </a:schemeClr>
                </a:solidFill>
              </a:rPr>
              <a:t>y</a:t>
            </a:r>
            <a:r>
              <a:rPr lang="en-US" sz="2400" b="1" dirty="0">
                <a:solidFill>
                  <a:schemeClr val="tx1">
                    <a:lumMod val="65000"/>
                    <a:lumOff val="35000"/>
                  </a:schemeClr>
                </a:solidFill>
              </a:rPr>
              <a:t> new category) </a:t>
            </a:r>
          </a:p>
          <a:p>
            <a:pPr algn="just"/>
            <a:r>
              <a:rPr lang="en-US" sz="2400" dirty="0">
                <a:solidFill>
                  <a:schemeClr val="accent5">
                    <a:lumMod val="50000"/>
                  </a:schemeClr>
                </a:solidFill>
              </a:rPr>
              <a:t>If your firm is really big and generates and collects a lot of data you will be able to create your experimental study, like Facebook does for years</a:t>
            </a:r>
            <a:r>
              <a:rPr lang="pl-PL" sz="2400" dirty="0">
                <a:solidFill>
                  <a:schemeClr val="accent5">
                    <a:lumMod val="50000"/>
                  </a:schemeClr>
                </a:solidFill>
              </a:rPr>
              <a:t>.</a:t>
            </a:r>
          </a:p>
          <a:p>
            <a:pPr algn="just"/>
            <a:r>
              <a:rPr lang="en-US" sz="2000" dirty="0">
                <a:solidFill>
                  <a:schemeClr val="accent5">
                    <a:lumMod val="50000"/>
                  </a:schemeClr>
                </a:solidFill>
              </a:rPr>
              <a:t>(https://www.pnas.org/content/111/24/8788.full) </a:t>
            </a:r>
            <a:endParaRPr lang="pl-PL" sz="2000" dirty="0">
              <a:solidFill>
                <a:schemeClr val="accent5">
                  <a:lumMod val="50000"/>
                </a:schemeClr>
              </a:solidFill>
            </a:endParaRPr>
          </a:p>
          <a:p>
            <a:pPr algn="just"/>
            <a:endParaRPr lang="en-US" sz="2400" dirty="0">
              <a:solidFill>
                <a:schemeClr val="accent5">
                  <a:lumMod val="50000"/>
                </a:schemeClr>
              </a:solidFill>
            </a:endParaRPr>
          </a:p>
          <a:p>
            <a:pPr algn="just"/>
            <a:r>
              <a:rPr lang="en-US" sz="2400" dirty="0">
                <a:solidFill>
                  <a:schemeClr val="accent5">
                    <a:lumMod val="50000"/>
                  </a:schemeClr>
                </a:solidFill>
              </a:rPr>
              <a:t>Without a formal experimental study, you can create a computational experiment based on big data and economic tools such as instrumental variables regression, discontinuity and differences-in-difference models. You can </a:t>
            </a:r>
            <a:r>
              <a:rPr lang="en-US" sz="2400" dirty="0" err="1">
                <a:solidFill>
                  <a:schemeClr val="accent5">
                    <a:lumMod val="50000"/>
                  </a:schemeClr>
                </a:solidFill>
              </a:rPr>
              <a:t>analyse</a:t>
            </a:r>
            <a:r>
              <a:rPr lang="en-US" sz="2400" dirty="0">
                <a:solidFill>
                  <a:schemeClr val="accent5">
                    <a:lumMod val="50000"/>
                  </a:schemeClr>
                </a:solidFill>
              </a:rPr>
              <a:t> a lot of </a:t>
            </a:r>
            <a:r>
              <a:rPr lang="en-US" sz="2400" b="1" dirty="0">
                <a:solidFill>
                  <a:schemeClr val="accent5">
                    <a:lumMod val="50000"/>
                  </a:schemeClr>
                </a:solidFill>
              </a:rPr>
              <a:t>natural experiments which are hidden in the big data sets</a:t>
            </a:r>
            <a:r>
              <a:rPr lang="en-US" sz="2400" dirty="0">
                <a:solidFill>
                  <a:schemeClr val="accent5">
                    <a:lumMod val="50000"/>
                  </a:schemeClr>
                </a:solidFill>
              </a:rPr>
              <a:t>. See the article by Varian (Google)</a:t>
            </a:r>
            <a:r>
              <a:rPr lang="pl-PL" sz="2400" dirty="0">
                <a:solidFill>
                  <a:schemeClr val="accent5">
                    <a:lumMod val="50000"/>
                  </a:schemeClr>
                </a:solidFill>
              </a:rPr>
              <a:t>.</a:t>
            </a:r>
          </a:p>
          <a:p>
            <a:pPr algn="just"/>
            <a:r>
              <a:rPr lang="pl-PL" sz="2000" dirty="0">
                <a:solidFill>
                  <a:schemeClr val="accent5">
                    <a:lumMod val="50000"/>
                  </a:schemeClr>
                </a:solidFill>
              </a:rPr>
              <a:t>https://www.pnas.org/content/113/27/7310</a:t>
            </a:r>
            <a:endParaRPr lang="en-US" sz="2000" dirty="0">
              <a:solidFill>
                <a:schemeClr val="accent5">
                  <a:lumMod val="50000"/>
                </a:schemeClr>
              </a:solidFill>
            </a:endParaRPr>
          </a:p>
        </p:txBody>
      </p:sp>
    </p:spTree>
    <p:extLst>
      <p:ext uri="{BB962C8B-B14F-4D97-AF65-F5344CB8AC3E}">
        <p14:creationId xmlns:p14="http://schemas.microsoft.com/office/powerpoint/2010/main" val="10882742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en-GB" sz="5400" b="1" i="1" dirty="0">
                <a:solidFill>
                  <a:srgbClr val="215968"/>
                </a:solidFill>
              </a:rPr>
              <a:t>My speculation</a:t>
            </a:r>
            <a:r>
              <a:rPr lang="pl-PL" sz="5400" b="1" i="1" dirty="0">
                <a:solidFill>
                  <a:srgbClr val="215968"/>
                </a:solidFill>
              </a:rPr>
              <a:t> (</a:t>
            </a:r>
            <a:r>
              <a:rPr lang="pl-PL" sz="5400" b="1" i="1" dirty="0" err="1">
                <a:solidFill>
                  <a:srgbClr val="215968"/>
                </a:solidFill>
              </a:rPr>
              <a:t>old</a:t>
            </a:r>
            <a:r>
              <a:rPr lang="pl-PL" sz="5400" b="1" i="1" dirty="0">
                <a:solidFill>
                  <a:srgbClr val="215968"/>
                </a:solidFill>
              </a:rPr>
              <a:t> </a:t>
            </a:r>
            <a:r>
              <a:rPr lang="pl-PL" sz="5400" b="1" i="1" dirty="0" err="1">
                <a:solidFill>
                  <a:srgbClr val="215968"/>
                </a:solidFill>
              </a:rPr>
              <a:t>slide</a:t>
            </a:r>
            <a:r>
              <a:rPr lang="pl-PL" sz="5400" b="1" i="1" dirty="0">
                <a:solidFill>
                  <a:srgbClr val="215968"/>
                </a:solidFill>
              </a:rPr>
              <a:t>)</a:t>
            </a:r>
            <a:endParaRPr lang="en-GB" sz="5400" b="1" i="1" dirty="0">
              <a:solidFill>
                <a:srgbClr val="215968"/>
              </a:solidFill>
            </a:endParaRPr>
          </a:p>
        </p:txBody>
      </p:sp>
      <p:sp>
        <p:nvSpPr>
          <p:cNvPr id="2" name="Prostokąt 1"/>
          <p:cNvSpPr/>
          <p:nvPr/>
        </p:nvSpPr>
        <p:spPr>
          <a:xfrm>
            <a:off x="190900" y="1302895"/>
            <a:ext cx="11810199" cy="5386090"/>
          </a:xfrm>
          <a:prstGeom prst="rect">
            <a:avLst/>
          </a:prstGeom>
        </p:spPr>
        <p:txBody>
          <a:bodyPr wrap="square">
            <a:spAutoFit/>
          </a:bodyPr>
          <a:lstStyle/>
          <a:p>
            <a:pPr algn="ctr"/>
            <a:endParaRPr lang="en-US" sz="2400" spc="-1" dirty="0">
              <a:solidFill>
                <a:srgbClr val="215968"/>
              </a:solidFill>
              <a:latin typeface="Calibri" panose="020F0502020204030204" pitchFamily="34" charset="0"/>
              <a:cs typeface="Calibri" panose="020F0502020204030204" pitchFamily="34" charset="0"/>
            </a:endParaRPr>
          </a:p>
          <a:p>
            <a:pPr algn="ctr"/>
            <a:r>
              <a:rPr lang="pl-PL" sz="3200" spc="-1" dirty="0">
                <a:solidFill>
                  <a:srgbClr val="215968"/>
                </a:solidFill>
                <a:latin typeface="Calibri" panose="020F0502020204030204" pitchFamily="34" charset="0"/>
                <a:cs typeface="Calibri" panose="020F0502020204030204" pitchFamily="34" charset="0"/>
              </a:rPr>
              <a:t>A</a:t>
            </a:r>
            <a:r>
              <a:rPr lang="en-US" sz="3200" spc="-1" dirty="0">
                <a:solidFill>
                  <a:srgbClr val="215968"/>
                </a:solidFill>
                <a:latin typeface="Calibri" panose="020F0502020204030204" pitchFamily="34" charset="0"/>
                <a:cs typeface="Calibri" panose="020F0502020204030204" pitchFamily="34" charset="0"/>
              </a:rPr>
              <a:t> new generation research method will be a combination of econometric</a:t>
            </a:r>
            <a:r>
              <a:rPr lang="pl-PL" sz="3200" spc="-1" dirty="0">
                <a:solidFill>
                  <a:srgbClr val="215968"/>
                </a:solidFill>
                <a:latin typeface="Calibri" panose="020F0502020204030204" pitchFamily="34" charset="0"/>
                <a:cs typeface="Calibri" panose="020F0502020204030204" pitchFamily="34" charset="0"/>
              </a:rPr>
              <a:t>s</a:t>
            </a:r>
            <a:r>
              <a:rPr lang="en-US" sz="3200" spc="-1" dirty="0">
                <a:solidFill>
                  <a:srgbClr val="215968"/>
                </a:solidFill>
                <a:latin typeface="Calibri" panose="020F0502020204030204" pitchFamily="34" charset="0"/>
                <a:cs typeface="Calibri" panose="020F0502020204030204" pitchFamily="34" charset="0"/>
              </a:rPr>
              <a:t>, data science, experimental methods and simulation. The tool should be able to find the causal structure and generate good forecasts. </a:t>
            </a:r>
          </a:p>
          <a:p>
            <a:pPr algn="ctr"/>
            <a:endParaRPr lang="en-US" sz="3200" spc="-1" dirty="0">
              <a:solidFill>
                <a:srgbClr val="215968"/>
              </a:solidFill>
              <a:latin typeface="Calibri" panose="020F0502020204030204" pitchFamily="34" charset="0"/>
              <a:cs typeface="Calibri" panose="020F0502020204030204" pitchFamily="34" charset="0"/>
            </a:endParaRPr>
          </a:p>
          <a:p>
            <a:pPr algn="ctr"/>
            <a:r>
              <a:rPr lang="en-US" sz="3200" spc="-1" dirty="0">
                <a:solidFill>
                  <a:srgbClr val="215968"/>
                </a:solidFill>
                <a:latin typeface="Calibri" panose="020F0502020204030204" pitchFamily="34" charset="0"/>
                <a:cs typeface="Calibri" panose="020F0502020204030204" pitchFamily="34" charset="0"/>
              </a:rPr>
              <a:t>Whoever discover</a:t>
            </a:r>
            <a:r>
              <a:rPr lang="pl-PL" sz="3200" spc="-1" dirty="0">
                <a:solidFill>
                  <a:srgbClr val="215968"/>
                </a:solidFill>
                <a:latin typeface="Calibri" panose="020F0502020204030204" pitchFamily="34" charset="0"/>
                <a:cs typeface="Calibri" panose="020F0502020204030204" pitchFamily="34" charset="0"/>
              </a:rPr>
              <a:t>s</a:t>
            </a:r>
            <a:r>
              <a:rPr lang="en-US" sz="3200" spc="-1" dirty="0">
                <a:solidFill>
                  <a:srgbClr val="215968"/>
                </a:solidFill>
                <a:latin typeface="Calibri" panose="020F0502020204030204" pitchFamily="34" charset="0"/>
                <a:cs typeface="Calibri" panose="020F0502020204030204" pitchFamily="34" charset="0"/>
              </a:rPr>
              <a:t> this type of method will break the bank :)</a:t>
            </a:r>
          </a:p>
          <a:p>
            <a:pPr algn="ctr"/>
            <a:endParaRPr lang="en-US" sz="3200" spc="-1" dirty="0">
              <a:solidFill>
                <a:srgbClr val="215968"/>
              </a:solidFill>
              <a:latin typeface="Calibri" panose="020F0502020204030204" pitchFamily="34" charset="0"/>
              <a:cs typeface="Calibri" panose="020F0502020204030204" pitchFamily="34" charset="0"/>
            </a:endParaRPr>
          </a:p>
          <a:p>
            <a:pPr algn="ctr"/>
            <a:r>
              <a:rPr lang="en-US" sz="3200" spc="-1" dirty="0">
                <a:solidFill>
                  <a:srgbClr val="215968"/>
                </a:solidFill>
                <a:latin typeface="Calibri" panose="020F0502020204030204" pitchFamily="34" charset="0"/>
                <a:cs typeface="Calibri" panose="020F0502020204030204" pitchFamily="34" charset="0"/>
              </a:rPr>
              <a:t>But maybe society is such a complex and evolutionary system that there is no possibility to find that type of model. Your goal is to face this challenge. </a:t>
            </a:r>
            <a:endParaRPr lang="pl-PL" sz="2800" i="1" spc="-1" dirty="0">
              <a:solidFill>
                <a:srgbClr val="21596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60065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en-US" sz="5400" b="1" i="1" dirty="0">
                <a:solidFill>
                  <a:srgbClr val="215968"/>
                </a:solidFill>
              </a:rPr>
              <a:t>Proof of that I'm right</a:t>
            </a:r>
            <a:r>
              <a:rPr lang="pl-PL" sz="5400" b="1" i="1" dirty="0">
                <a:solidFill>
                  <a:srgbClr val="215968"/>
                </a:solidFill>
              </a:rPr>
              <a:t> </a:t>
            </a:r>
            <a:r>
              <a:rPr lang="en-US" sz="5400" b="1" i="1" dirty="0">
                <a:solidFill>
                  <a:srgbClr val="215968"/>
                </a:solidFill>
              </a:rPr>
              <a:t> </a:t>
            </a:r>
            <a:endParaRPr lang="en-GB" sz="5400" b="1" i="1" dirty="0">
              <a:solidFill>
                <a:srgbClr val="215968"/>
              </a:solidFill>
            </a:endParaRPr>
          </a:p>
        </p:txBody>
      </p:sp>
      <p:sp>
        <p:nvSpPr>
          <p:cNvPr id="2" name="Prostokąt 1"/>
          <p:cNvSpPr/>
          <p:nvPr/>
        </p:nvSpPr>
        <p:spPr>
          <a:xfrm>
            <a:off x="190900" y="1505026"/>
            <a:ext cx="11810199" cy="5078313"/>
          </a:xfrm>
          <a:prstGeom prst="rect">
            <a:avLst/>
          </a:prstGeom>
        </p:spPr>
        <p:txBody>
          <a:bodyPr wrap="square">
            <a:spAutoFit/>
          </a:bodyPr>
          <a:lstStyle/>
          <a:p>
            <a:pPr algn="ctr"/>
            <a:r>
              <a:rPr lang="en-US" sz="3600" b="1" spc="-1" dirty="0">
                <a:solidFill>
                  <a:srgbClr val="215968"/>
                </a:solidFill>
                <a:latin typeface="Calibri" panose="020F0502020204030204" pitchFamily="34" charset="0"/>
                <a:cs typeface="Calibri" panose="020F0502020204030204" pitchFamily="34" charset="0"/>
              </a:rPr>
              <a:t>The Nobel prices for  Joshua D. Angrist and Guido W. </a:t>
            </a:r>
            <a:r>
              <a:rPr lang="en-US" sz="3600" b="1" spc="-1" dirty="0" err="1">
                <a:solidFill>
                  <a:srgbClr val="215968"/>
                </a:solidFill>
                <a:latin typeface="Calibri" panose="020F0502020204030204" pitchFamily="34" charset="0"/>
                <a:cs typeface="Calibri" panose="020F0502020204030204" pitchFamily="34" charset="0"/>
              </a:rPr>
              <a:t>Imbens</a:t>
            </a:r>
            <a:endParaRPr lang="en-US" sz="3600" b="1" spc="-1" dirty="0">
              <a:solidFill>
                <a:srgbClr val="215968"/>
              </a:solidFill>
              <a:latin typeface="Calibri" panose="020F0502020204030204" pitchFamily="34" charset="0"/>
              <a:cs typeface="Calibri" panose="020F0502020204030204" pitchFamily="34" charset="0"/>
            </a:endParaRPr>
          </a:p>
          <a:p>
            <a:pPr algn="ctr"/>
            <a:r>
              <a:rPr lang="en-US" sz="3600" b="1" spc="-1" dirty="0">
                <a:solidFill>
                  <a:srgbClr val="215968"/>
                </a:solidFill>
                <a:latin typeface="Calibri" panose="020F0502020204030204" pitchFamily="34" charset="0"/>
                <a:cs typeface="Calibri" panose="020F0502020204030204" pitchFamily="34" charset="0"/>
              </a:rPr>
              <a:t>“for their methodological contributions to the analysis of causal relationships”</a:t>
            </a:r>
            <a:endParaRPr lang="pl-PL" sz="3600" b="1" spc="-1" dirty="0">
              <a:solidFill>
                <a:srgbClr val="215968"/>
              </a:solidFill>
              <a:latin typeface="Calibri" panose="020F0502020204030204" pitchFamily="34" charset="0"/>
              <a:cs typeface="Calibri" panose="020F0502020204030204" pitchFamily="34" charset="0"/>
            </a:endParaRPr>
          </a:p>
          <a:p>
            <a:pPr algn="ctr"/>
            <a:endParaRPr lang="en-US" sz="3600" b="1" spc="-1" dirty="0">
              <a:solidFill>
                <a:srgbClr val="215968"/>
              </a:solidFill>
              <a:latin typeface="Calibri" panose="020F0502020204030204" pitchFamily="34" charset="0"/>
              <a:cs typeface="Calibri" panose="020F0502020204030204" pitchFamily="34" charset="0"/>
            </a:endParaRPr>
          </a:p>
          <a:p>
            <a:pPr algn="ctr"/>
            <a:r>
              <a:rPr lang="en-US" sz="3600" b="1" spc="-1" dirty="0">
                <a:solidFill>
                  <a:srgbClr val="215968"/>
                </a:solidFill>
                <a:latin typeface="Calibri" panose="020F0502020204030204" pitchFamily="34" charset="0"/>
                <a:cs typeface="Calibri" panose="020F0502020204030204" pitchFamily="34" charset="0"/>
              </a:rPr>
              <a:t>But it is the beginning …</a:t>
            </a:r>
          </a:p>
          <a:p>
            <a:pPr algn="ctr"/>
            <a:endParaRPr lang="en-US" sz="3600" b="1" spc="-1" dirty="0">
              <a:solidFill>
                <a:srgbClr val="215968"/>
              </a:solidFill>
              <a:latin typeface="Calibri" panose="020F0502020204030204" pitchFamily="34" charset="0"/>
              <a:cs typeface="Calibri" panose="020F0502020204030204" pitchFamily="34" charset="0"/>
            </a:endParaRPr>
          </a:p>
          <a:p>
            <a:pPr algn="ctr"/>
            <a:r>
              <a:rPr lang="en-US" sz="3600" b="1" spc="-1" dirty="0">
                <a:solidFill>
                  <a:srgbClr val="215968"/>
                </a:solidFill>
                <a:latin typeface="Calibri" panose="020F0502020204030204" pitchFamily="34" charset="0"/>
                <a:cs typeface="Calibri" panose="020F0502020204030204" pitchFamily="34" charset="0"/>
              </a:rPr>
              <a:t>If you would like to redefine your econometric knowledge  please visit the page:</a:t>
            </a:r>
            <a:endParaRPr lang="pl-PL" sz="3600" b="1" spc="-1" dirty="0">
              <a:solidFill>
                <a:srgbClr val="215968"/>
              </a:solidFill>
              <a:latin typeface="Calibri" panose="020F0502020204030204" pitchFamily="34" charset="0"/>
              <a:cs typeface="Calibri" panose="020F0502020204030204" pitchFamily="34" charset="0"/>
            </a:endParaRPr>
          </a:p>
          <a:p>
            <a:pPr algn="ctr"/>
            <a:r>
              <a:rPr lang="pl-PL" sz="3600" b="1" i="1" spc="-1" dirty="0">
                <a:solidFill>
                  <a:srgbClr val="215968"/>
                </a:solidFill>
                <a:latin typeface="Calibri" panose="020F0502020204030204" pitchFamily="34" charset="0"/>
                <a:cs typeface="Calibri" panose="020F0502020204030204" pitchFamily="34" charset="0"/>
              </a:rPr>
              <a:t>http://www.mostlyharmlesseconometrics.com/</a:t>
            </a:r>
          </a:p>
        </p:txBody>
      </p:sp>
    </p:spTree>
    <p:extLst>
      <p:ext uri="{BB962C8B-B14F-4D97-AF65-F5344CB8AC3E}">
        <p14:creationId xmlns:p14="http://schemas.microsoft.com/office/powerpoint/2010/main" val="28263142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Shape 1"/>
          <p:cNvSpPr txBox="1"/>
          <p:nvPr/>
        </p:nvSpPr>
        <p:spPr>
          <a:xfrm>
            <a:off x="0" y="-1"/>
            <a:ext cx="12192001" cy="1164658"/>
          </a:xfrm>
          <a:prstGeom prst="rect">
            <a:avLst/>
          </a:prstGeom>
          <a:solidFill>
            <a:srgbClr val="DBEEF4"/>
          </a:solidFill>
          <a:ln>
            <a:noFill/>
          </a:ln>
        </p:spPr>
        <p:txBody>
          <a:bodyPr anchor="ctr"/>
          <a:lstStyle/>
          <a:p>
            <a:pPr algn="ctr"/>
            <a:r>
              <a:rPr lang="en-US" sz="4000" b="1" spc="-1" dirty="0">
                <a:solidFill>
                  <a:srgbClr val="215968"/>
                </a:solidFill>
              </a:rPr>
              <a:t>Do not join P-value cult</a:t>
            </a:r>
          </a:p>
        </p:txBody>
      </p:sp>
      <p:sp>
        <p:nvSpPr>
          <p:cNvPr id="12" name="pole tekstowe 11"/>
          <p:cNvSpPr txBox="1"/>
          <p:nvPr/>
        </p:nvSpPr>
        <p:spPr>
          <a:xfrm>
            <a:off x="99461" y="1297143"/>
            <a:ext cx="7388994" cy="5139869"/>
          </a:xfrm>
          <a:prstGeom prst="rect">
            <a:avLst/>
          </a:prstGeom>
          <a:noFill/>
        </p:spPr>
        <p:txBody>
          <a:bodyPr wrap="square" rtlCol="0">
            <a:spAutoFit/>
          </a:bodyPr>
          <a:lstStyle/>
          <a:p>
            <a:pPr algn="just"/>
            <a:r>
              <a:rPr lang="en-US" sz="2400" b="1" dirty="0">
                <a:solidFill>
                  <a:srgbClr val="215968"/>
                </a:solidFill>
              </a:rPr>
              <a:t>The enormous publishing pressure causes researchers to manipulate the p-vale value to show that they have successfully confirmed the existence of a theoretical or expected (by them) relationship. Sometimes it is plain fraud</a:t>
            </a:r>
            <a:r>
              <a:rPr lang="pl-PL" sz="2400" b="1" dirty="0">
                <a:solidFill>
                  <a:srgbClr val="215968"/>
                </a:solidFill>
              </a:rPr>
              <a:t>*</a:t>
            </a:r>
            <a:r>
              <a:rPr lang="en-US" sz="2400" b="1" dirty="0">
                <a:solidFill>
                  <a:srgbClr val="215968"/>
                </a:solidFill>
              </a:rPr>
              <a:t>, sometimes data manipulation, and sometimes the routine us</a:t>
            </a:r>
            <a:r>
              <a:rPr lang="pl-PL" sz="2400" b="1" dirty="0" err="1">
                <a:solidFill>
                  <a:srgbClr val="215968"/>
                </a:solidFill>
              </a:rPr>
              <a:t>age</a:t>
            </a:r>
            <a:r>
              <a:rPr lang="pl-PL" sz="2400" b="1" dirty="0">
                <a:solidFill>
                  <a:srgbClr val="215968"/>
                </a:solidFill>
              </a:rPr>
              <a:t> of </a:t>
            </a:r>
            <a:r>
              <a:rPr lang="en-US" sz="2400" b="1" dirty="0">
                <a:solidFill>
                  <a:srgbClr val="215968"/>
                </a:solidFill>
              </a:rPr>
              <a:t>the p-value. </a:t>
            </a:r>
          </a:p>
          <a:p>
            <a:pPr algn="just"/>
            <a:endParaRPr lang="en-US" sz="2400" b="1" dirty="0">
              <a:solidFill>
                <a:srgbClr val="215968"/>
              </a:solidFill>
            </a:endParaRPr>
          </a:p>
          <a:p>
            <a:pPr algn="just"/>
            <a:r>
              <a:rPr lang="en-US" sz="2400" b="1" dirty="0">
                <a:solidFill>
                  <a:srgbClr val="215968"/>
                </a:solidFill>
              </a:rPr>
              <a:t>Do not be a part of the p-value cult. </a:t>
            </a:r>
          </a:p>
          <a:p>
            <a:pPr algn="just"/>
            <a:endParaRPr lang="en-US" sz="2400" b="1" dirty="0">
              <a:solidFill>
                <a:srgbClr val="215968"/>
              </a:solidFill>
            </a:endParaRPr>
          </a:p>
          <a:p>
            <a:pPr algn="just"/>
            <a:r>
              <a:rPr lang="pl-PL" sz="2400" b="1" dirty="0">
                <a:solidFill>
                  <a:srgbClr val="215968"/>
                </a:solidFill>
              </a:rPr>
              <a:t>*</a:t>
            </a:r>
            <a:r>
              <a:rPr lang="en-US" sz="2400" b="1" dirty="0">
                <a:solidFill>
                  <a:srgbClr val="215968"/>
                </a:solidFill>
              </a:rPr>
              <a:t>Sad story: Dan </a:t>
            </a:r>
            <a:r>
              <a:rPr lang="en-US" sz="2400" b="1" dirty="0" err="1">
                <a:solidFill>
                  <a:srgbClr val="215968"/>
                </a:solidFill>
              </a:rPr>
              <a:t>Ariely</a:t>
            </a:r>
            <a:r>
              <a:rPr lang="en-US" sz="2400" b="1" dirty="0">
                <a:solidFill>
                  <a:srgbClr val="215968"/>
                </a:solidFill>
              </a:rPr>
              <a:t> ( a media star of </a:t>
            </a:r>
            <a:r>
              <a:rPr lang="en-US" sz="2400" b="1" dirty="0" err="1">
                <a:solidFill>
                  <a:srgbClr val="215968"/>
                </a:solidFill>
              </a:rPr>
              <a:t>behavioural</a:t>
            </a:r>
            <a:r>
              <a:rPr lang="en-US" sz="2400" b="1" dirty="0">
                <a:solidFill>
                  <a:srgbClr val="215968"/>
                </a:solidFill>
              </a:rPr>
              <a:t> science) research the scientific fraud and recently he was caught cheating</a:t>
            </a:r>
            <a:r>
              <a:rPr lang="pl-PL" sz="2400" b="1" dirty="0">
                <a:solidFill>
                  <a:srgbClr val="215968"/>
                </a:solidFill>
              </a:rPr>
              <a:t>. </a:t>
            </a:r>
          </a:p>
          <a:p>
            <a:pPr algn="just"/>
            <a:r>
              <a:rPr lang="en-US" sz="2000" b="1" dirty="0">
                <a:solidFill>
                  <a:srgbClr val="215968"/>
                </a:solidFill>
              </a:rPr>
              <a:t>https://www.science.org/content/article/fraudulent-data-set-raise-questions-about-superstar-honesty-researcher</a:t>
            </a:r>
            <a:endParaRPr lang="pl-PL" sz="1050" b="1" dirty="0">
              <a:solidFill>
                <a:srgbClr val="215968"/>
              </a:solidFill>
            </a:endParaRPr>
          </a:p>
        </p:txBody>
      </p:sp>
      <p:pic>
        <p:nvPicPr>
          <p:cNvPr id="2" name="Obraz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06460" y="1527975"/>
            <a:ext cx="3616112" cy="4381937"/>
          </a:xfrm>
          <a:prstGeom prst="rect">
            <a:avLst/>
          </a:prstGeom>
        </p:spPr>
      </p:pic>
      <p:sp>
        <p:nvSpPr>
          <p:cNvPr id="4" name="Prostokąt 3"/>
          <p:cNvSpPr/>
          <p:nvPr/>
        </p:nvSpPr>
        <p:spPr>
          <a:xfrm>
            <a:off x="6492748" y="6236225"/>
            <a:ext cx="5699252" cy="369332"/>
          </a:xfrm>
          <a:prstGeom prst="rect">
            <a:avLst/>
          </a:prstGeom>
        </p:spPr>
        <p:txBody>
          <a:bodyPr wrap="none">
            <a:spAutoFit/>
          </a:bodyPr>
          <a:lstStyle/>
          <a:p>
            <a:r>
              <a:rPr lang="pl-PL" dirty="0"/>
              <a:t>https://www.ncbi.nlm.nih.gov/pmc/articles/PMC5187603/</a:t>
            </a:r>
          </a:p>
        </p:txBody>
      </p:sp>
    </p:spTree>
    <p:extLst>
      <p:ext uri="{BB962C8B-B14F-4D97-AF65-F5344CB8AC3E}">
        <p14:creationId xmlns:p14="http://schemas.microsoft.com/office/powerpoint/2010/main" val="1784841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en-US" sz="4400" b="1" dirty="0">
                <a:solidFill>
                  <a:schemeClr val="accent5">
                    <a:lumMod val="50000"/>
                  </a:schemeClr>
                </a:solidFill>
              </a:rPr>
              <a:t>Do not join P-value cult</a:t>
            </a:r>
            <a:endParaRPr lang="en-GB" sz="3200" b="1" i="1" dirty="0"/>
          </a:p>
        </p:txBody>
      </p:sp>
      <p:sp>
        <p:nvSpPr>
          <p:cNvPr id="2" name="Prostokąt 1"/>
          <p:cNvSpPr/>
          <p:nvPr/>
        </p:nvSpPr>
        <p:spPr>
          <a:xfrm>
            <a:off x="269487" y="1168142"/>
            <a:ext cx="7018004" cy="5632311"/>
          </a:xfrm>
          <a:prstGeom prst="rect">
            <a:avLst/>
          </a:prstGeom>
        </p:spPr>
        <p:txBody>
          <a:bodyPr wrap="square">
            <a:spAutoFit/>
          </a:bodyPr>
          <a:lstStyle/>
          <a:p>
            <a:pPr algn="just"/>
            <a:r>
              <a:rPr lang="en-US" sz="2400" dirty="0">
                <a:solidFill>
                  <a:schemeClr val="accent5">
                    <a:lumMod val="50000"/>
                  </a:schemeClr>
                </a:solidFill>
              </a:rPr>
              <a:t>In statistical reserch, passing the magic border  [</a:t>
            </a:r>
            <a:r>
              <a:rPr lang="en-US" sz="2400" b="1" dirty="0">
                <a:solidFill>
                  <a:schemeClr val="accent5">
                    <a:lumMod val="50000"/>
                  </a:schemeClr>
                </a:solidFill>
              </a:rPr>
              <a:t>p-value &lt; 0.05</a:t>
            </a:r>
            <a:r>
              <a:rPr lang="en-US" sz="2400" dirty="0">
                <a:solidFill>
                  <a:schemeClr val="accent5">
                    <a:lumMod val="50000"/>
                  </a:schemeClr>
                </a:solidFill>
              </a:rPr>
              <a:t>] was considered equivalent to proving the "</a:t>
            </a:r>
            <a:r>
              <a:rPr lang="en-US" sz="2400" b="1" dirty="0">
                <a:solidFill>
                  <a:schemeClr val="accent5">
                    <a:lumMod val="50000"/>
                  </a:schemeClr>
                </a:solidFill>
              </a:rPr>
              <a:t>statistical significance</a:t>
            </a:r>
            <a:r>
              <a:rPr lang="en-US" sz="2400" dirty="0">
                <a:solidFill>
                  <a:schemeClr val="accent5">
                    <a:lumMod val="50000"/>
                  </a:schemeClr>
                </a:solidFill>
              </a:rPr>
              <a:t>".</a:t>
            </a:r>
            <a:r>
              <a:rPr lang="pl-PL" sz="2400" dirty="0">
                <a:solidFill>
                  <a:schemeClr val="accent5">
                    <a:lumMod val="50000"/>
                  </a:schemeClr>
                </a:solidFill>
              </a:rPr>
              <a:t> </a:t>
            </a:r>
            <a:r>
              <a:rPr lang="en-US" sz="2400" dirty="0">
                <a:solidFill>
                  <a:schemeClr val="accent5">
                    <a:lumMod val="50000"/>
                  </a:schemeClr>
                </a:solidFill>
              </a:rPr>
              <a:t>This is not true. The procedure, which regards randomness, cannot give us a sure and unambiguous result [is/is not]. After years of the routine implementing the false schema, the revolution is coming which will ban "statistical significance" as a routine. Significance test cannot be treated as a final conclusion. We need to go back to a solid statistical analysis of data, and not end up on one test and often misinterpreted. As an introduction, read the article</a:t>
            </a:r>
            <a:r>
              <a:rPr lang="pl-PL" sz="2400" dirty="0">
                <a:solidFill>
                  <a:schemeClr val="accent5">
                    <a:lumMod val="50000"/>
                  </a:schemeClr>
                </a:solidFill>
              </a:rPr>
              <a:t> </a:t>
            </a:r>
            <a:r>
              <a:rPr lang="en-US" sz="2400" dirty="0">
                <a:solidFill>
                  <a:schemeClr val="accent5">
                    <a:lumMod val="50000"/>
                  </a:schemeClr>
                </a:solidFill>
              </a:rPr>
              <a:t>https://www.nature.com/articles/d41586-019-00857-9</a:t>
            </a:r>
          </a:p>
          <a:p>
            <a:pPr algn="just"/>
            <a:r>
              <a:rPr lang="en-US" sz="2400" dirty="0">
                <a:solidFill>
                  <a:schemeClr val="accent5">
                    <a:lumMod val="50000"/>
                  </a:schemeClr>
                </a:solidFill>
              </a:rPr>
              <a:t> (</a:t>
            </a:r>
            <a:r>
              <a:rPr lang="en-US" sz="2400" b="1" dirty="0">
                <a:solidFill>
                  <a:srgbClr val="C00000"/>
                </a:solidFill>
              </a:rPr>
              <a:t>I will test your understanding of p-value </a:t>
            </a:r>
            <a:r>
              <a:rPr lang="pl-PL" sz="2400" b="1" dirty="0" err="1">
                <a:solidFill>
                  <a:srgbClr val="C00000"/>
                </a:solidFill>
              </a:rPr>
              <a:t>next</a:t>
            </a:r>
            <a:r>
              <a:rPr lang="pl-PL" sz="2400" b="1" dirty="0">
                <a:solidFill>
                  <a:srgbClr val="C00000"/>
                </a:solidFill>
              </a:rPr>
              <a:t> </a:t>
            </a:r>
            <a:r>
              <a:rPr lang="pl-PL" sz="2400" b="1" dirty="0" err="1">
                <a:solidFill>
                  <a:srgbClr val="C00000"/>
                </a:solidFill>
              </a:rPr>
              <a:t>month</a:t>
            </a:r>
            <a:r>
              <a:rPr lang="en-US" sz="2400" dirty="0">
                <a:solidFill>
                  <a:schemeClr val="accent5">
                    <a:lumMod val="50000"/>
                  </a:schemeClr>
                </a:solidFill>
              </a:rPr>
              <a:t>):</a:t>
            </a:r>
          </a:p>
        </p:txBody>
      </p:sp>
      <p:sp>
        <p:nvSpPr>
          <p:cNvPr id="10" name="Prostokąt 9"/>
          <p:cNvSpPr/>
          <p:nvPr/>
        </p:nvSpPr>
        <p:spPr>
          <a:xfrm>
            <a:off x="7497816" y="5793591"/>
            <a:ext cx="4306288" cy="646331"/>
          </a:xfrm>
          <a:prstGeom prst="rect">
            <a:avLst/>
          </a:prstGeom>
        </p:spPr>
        <p:txBody>
          <a:bodyPr wrap="square">
            <a:spAutoFit/>
          </a:bodyPr>
          <a:lstStyle/>
          <a:p>
            <a:r>
              <a:rPr lang="pl-PL" dirty="0"/>
              <a:t>https://www.nature.com/articles/d41586-019-00857-9</a:t>
            </a:r>
          </a:p>
        </p:txBody>
      </p:sp>
      <p:pic>
        <p:nvPicPr>
          <p:cNvPr id="11" name="Obraz 10"/>
          <p:cNvPicPr>
            <a:picLocks noChangeAspect="1"/>
          </p:cNvPicPr>
          <p:nvPr/>
        </p:nvPicPr>
        <p:blipFill>
          <a:blip r:embed="rId2"/>
          <a:stretch>
            <a:fillRect/>
          </a:stretch>
        </p:blipFill>
        <p:spPr>
          <a:xfrm>
            <a:off x="7333449" y="1414913"/>
            <a:ext cx="4635023" cy="4044989"/>
          </a:xfrm>
          <a:prstGeom prst="rect">
            <a:avLst/>
          </a:prstGeom>
        </p:spPr>
      </p:pic>
    </p:spTree>
    <p:extLst>
      <p:ext uri="{BB962C8B-B14F-4D97-AF65-F5344CB8AC3E}">
        <p14:creationId xmlns:p14="http://schemas.microsoft.com/office/powerpoint/2010/main" val="34717148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Shape 1"/>
          <p:cNvSpPr txBox="1"/>
          <p:nvPr/>
        </p:nvSpPr>
        <p:spPr>
          <a:xfrm>
            <a:off x="0" y="-1"/>
            <a:ext cx="12192001" cy="1164658"/>
          </a:xfrm>
          <a:prstGeom prst="rect">
            <a:avLst/>
          </a:prstGeom>
          <a:solidFill>
            <a:srgbClr val="DBEEF4"/>
          </a:solidFill>
          <a:ln>
            <a:noFill/>
          </a:ln>
        </p:spPr>
        <p:txBody>
          <a:bodyPr anchor="ctr"/>
          <a:lstStyle/>
          <a:p>
            <a:r>
              <a:rPr lang="en-US" sz="4000" b="1" spc="-1" dirty="0">
                <a:solidFill>
                  <a:srgbClr val="215968"/>
                </a:solidFill>
              </a:rPr>
              <a:t>Do not join P-value cult</a:t>
            </a:r>
          </a:p>
        </p:txBody>
      </p:sp>
      <p:sp>
        <p:nvSpPr>
          <p:cNvPr id="12" name="pole tekstowe 11"/>
          <p:cNvSpPr txBox="1"/>
          <p:nvPr/>
        </p:nvSpPr>
        <p:spPr>
          <a:xfrm>
            <a:off x="324051" y="1503969"/>
            <a:ext cx="5961246" cy="4893647"/>
          </a:xfrm>
          <a:prstGeom prst="rect">
            <a:avLst/>
          </a:prstGeom>
          <a:noFill/>
        </p:spPr>
        <p:txBody>
          <a:bodyPr wrap="square" rtlCol="0">
            <a:spAutoFit/>
          </a:bodyPr>
          <a:lstStyle/>
          <a:p>
            <a:pPr algn="just"/>
            <a:r>
              <a:rPr lang="pl-PL" sz="2400" b="1" dirty="0">
                <a:solidFill>
                  <a:srgbClr val="215968"/>
                </a:solidFill>
              </a:rPr>
              <a:t>T</a:t>
            </a:r>
            <a:r>
              <a:rPr lang="en-US" sz="2400" b="1" dirty="0">
                <a:solidFill>
                  <a:srgbClr val="215968"/>
                </a:solidFill>
              </a:rPr>
              <a:t>his type of summary was accepted</a:t>
            </a:r>
            <a:r>
              <a:rPr lang="pl-PL" sz="2400" b="1" dirty="0">
                <a:solidFill>
                  <a:srgbClr val="215968"/>
                </a:solidFill>
              </a:rPr>
              <a:t> </a:t>
            </a:r>
            <a:r>
              <a:rPr lang="pl-PL" sz="2400" b="1" dirty="0" err="1">
                <a:solidFill>
                  <a:srgbClr val="215968"/>
                </a:solidFill>
              </a:rPr>
              <a:t>before</a:t>
            </a:r>
            <a:r>
              <a:rPr lang="pl-PL" sz="2400" b="1" dirty="0">
                <a:solidFill>
                  <a:srgbClr val="215968"/>
                </a:solidFill>
              </a:rPr>
              <a:t>:</a:t>
            </a:r>
            <a:r>
              <a:rPr lang="en-US" sz="2400" b="1" dirty="0">
                <a:solidFill>
                  <a:srgbClr val="215968"/>
                </a:solidFill>
              </a:rPr>
              <a:t> </a:t>
            </a:r>
            <a:endParaRPr lang="pl-PL" sz="2400" b="1" dirty="0">
              <a:solidFill>
                <a:srgbClr val="215968"/>
              </a:solidFill>
            </a:endParaRPr>
          </a:p>
          <a:p>
            <a:pPr algn="just"/>
            <a:endParaRPr lang="pl-PL" sz="2400" b="1" dirty="0">
              <a:solidFill>
                <a:srgbClr val="215968"/>
              </a:solidFill>
            </a:endParaRPr>
          </a:p>
          <a:p>
            <a:pPr algn="just"/>
            <a:r>
              <a:rPr lang="en-US" sz="2400" i="1" dirty="0">
                <a:solidFill>
                  <a:srgbClr val="215968"/>
                </a:solidFill>
              </a:rPr>
              <a:t>The difference between the WTP values in the Negative and Positive treatments </a:t>
            </a:r>
            <a:r>
              <a:rPr lang="en-US" sz="2400" b="1" i="1" dirty="0">
                <a:solidFill>
                  <a:srgbClr val="215968"/>
                </a:solidFill>
              </a:rPr>
              <a:t>was statistically significant</a:t>
            </a:r>
            <a:r>
              <a:rPr lang="en-US" sz="2400" i="1" dirty="0">
                <a:solidFill>
                  <a:srgbClr val="215968"/>
                </a:solidFill>
              </a:rPr>
              <a:t>. In the light of this result, I can conclude that the framing effect had impact on the valuation of </a:t>
            </a:r>
            <a:r>
              <a:rPr lang="pl-PL" sz="2400" i="1" dirty="0">
                <a:solidFill>
                  <a:srgbClr val="215968"/>
                </a:solidFill>
              </a:rPr>
              <a:t>the </a:t>
            </a:r>
            <a:r>
              <a:rPr lang="pl-PL" sz="2400" i="1" dirty="0" err="1">
                <a:solidFill>
                  <a:srgbClr val="215968"/>
                </a:solidFill>
              </a:rPr>
              <a:t>product</a:t>
            </a:r>
            <a:r>
              <a:rPr lang="en-US" sz="2400" i="1" dirty="0">
                <a:solidFill>
                  <a:srgbClr val="215968"/>
                </a:solidFill>
              </a:rPr>
              <a:t>.</a:t>
            </a:r>
            <a:endParaRPr lang="pl-PL" sz="2400" b="1" i="1" dirty="0">
              <a:solidFill>
                <a:srgbClr val="215968"/>
              </a:solidFill>
            </a:endParaRPr>
          </a:p>
          <a:p>
            <a:pPr algn="just"/>
            <a:endParaRPr lang="pl-PL" sz="2400" b="1" dirty="0">
              <a:solidFill>
                <a:srgbClr val="215968"/>
              </a:solidFill>
            </a:endParaRPr>
          </a:p>
          <a:p>
            <a:pPr algn="just"/>
            <a:r>
              <a:rPr lang="en-US" sz="2400" b="1" dirty="0">
                <a:solidFill>
                  <a:srgbClr val="215968"/>
                </a:solidFill>
              </a:rPr>
              <a:t>now you can't write as if you are still p-value cult believer. This is one of the tools which you have to use appropriately and you have to use more </a:t>
            </a:r>
            <a:r>
              <a:rPr lang="pl-PL" sz="2400" b="1" dirty="0" err="1">
                <a:solidFill>
                  <a:srgbClr val="215968"/>
                </a:solidFill>
              </a:rPr>
              <a:t>ststistical</a:t>
            </a:r>
            <a:r>
              <a:rPr lang="pl-PL" sz="2400" b="1" dirty="0">
                <a:solidFill>
                  <a:srgbClr val="215968"/>
                </a:solidFill>
              </a:rPr>
              <a:t> </a:t>
            </a:r>
            <a:r>
              <a:rPr lang="en-US" sz="2400" b="1" dirty="0">
                <a:solidFill>
                  <a:srgbClr val="215968"/>
                </a:solidFill>
              </a:rPr>
              <a:t>tools of to confirm your findings. </a:t>
            </a:r>
            <a:endParaRPr lang="pl-PL" b="1" dirty="0">
              <a:solidFill>
                <a:srgbClr val="215968"/>
              </a:solidFill>
            </a:endParaRPr>
          </a:p>
        </p:txBody>
      </p:sp>
      <p:pic>
        <p:nvPicPr>
          <p:cNvPr id="7" name="Obraz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06472" y="1601278"/>
            <a:ext cx="4405734" cy="3120102"/>
          </a:xfrm>
          <a:prstGeom prst="rect">
            <a:avLst/>
          </a:prstGeom>
        </p:spPr>
      </p:pic>
      <p:sp>
        <p:nvSpPr>
          <p:cNvPr id="8" name="Prostokąt 7"/>
          <p:cNvSpPr/>
          <p:nvPr/>
        </p:nvSpPr>
        <p:spPr>
          <a:xfrm>
            <a:off x="6203617" y="6275264"/>
            <a:ext cx="5462457" cy="369332"/>
          </a:xfrm>
          <a:prstGeom prst="rect">
            <a:avLst/>
          </a:prstGeom>
        </p:spPr>
        <p:txBody>
          <a:bodyPr wrap="none">
            <a:spAutoFit/>
          </a:bodyPr>
          <a:lstStyle/>
          <a:p>
            <a:r>
              <a:rPr lang="pl-PL" b="1" dirty="0">
                <a:solidFill>
                  <a:schemeClr val="accent5">
                    <a:lumMod val="50000"/>
                  </a:schemeClr>
                </a:solidFill>
              </a:rPr>
              <a:t>https://www.nature.com/articles/d41586-019-00857-9</a:t>
            </a:r>
          </a:p>
        </p:txBody>
      </p:sp>
      <p:pic>
        <p:nvPicPr>
          <p:cNvPr id="9" name="Obraz 8"/>
          <p:cNvPicPr>
            <a:picLocks noChangeAspect="1"/>
          </p:cNvPicPr>
          <p:nvPr/>
        </p:nvPicPr>
        <p:blipFill>
          <a:blip r:embed="rId3"/>
          <a:stretch>
            <a:fillRect/>
          </a:stretch>
        </p:blipFill>
        <p:spPr>
          <a:xfrm>
            <a:off x="7400992" y="4925126"/>
            <a:ext cx="3437089" cy="1312777"/>
          </a:xfrm>
          <a:prstGeom prst="rect">
            <a:avLst/>
          </a:prstGeom>
        </p:spPr>
      </p:pic>
      <p:sp>
        <p:nvSpPr>
          <p:cNvPr id="10" name="Strzałka w prawo 9"/>
          <p:cNvSpPr/>
          <p:nvPr/>
        </p:nvSpPr>
        <p:spPr>
          <a:xfrm rot="14326727">
            <a:off x="6723771" y="3376105"/>
            <a:ext cx="2322966" cy="1215483"/>
          </a:xfrm>
          <a:prstGeom prst="rightArrow">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pl-PL"/>
          </a:p>
        </p:txBody>
      </p:sp>
    </p:spTree>
    <p:extLst>
      <p:ext uri="{BB962C8B-B14F-4D97-AF65-F5344CB8AC3E}">
        <p14:creationId xmlns:p14="http://schemas.microsoft.com/office/powerpoint/2010/main" val="15743142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0" y="0"/>
            <a:ext cx="12192001" cy="1168142"/>
          </a:xfrm>
          <a:prstGeom prst="rect">
            <a:avLst/>
          </a:prstGeom>
          <a:solidFill>
            <a:srgbClr val="DBEEF4"/>
          </a:solidFill>
          <a:ln>
            <a:noFill/>
          </a:ln>
        </p:spPr>
        <p:txBody>
          <a:bodyPr anchor="ctr"/>
          <a:lstStyle/>
          <a:p>
            <a:pPr algn="ctr"/>
            <a:r>
              <a:rPr lang="en-US" sz="4400" b="1" dirty="0">
                <a:solidFill>
                  <a:schemeClr val="accent5">
                    <a:lumMod val="50000"/>
                  </a:schemeClr>
                </a:solidFill>
              </a:rPr>
              <a:t>Is "emotional contagion" experiment ethical?</a:t>
            </a:r>
            <a:endParaRPr lang="en-GB" sz="3200" b="1" i="1" dirty="0"/>
          </a:p>
        </p:txBody>
      </p:sp>
      <p:sp>
        <p:nvSpPr>
          <p:cNvPr id="2" name="Prostokąt 1"/>
          <p:cNvSpPr/>
          <p:nvPr/>
        </p:nvSpPr>
        <p:spPr>
          <a:xfrm>
            <a:off x="175491" y="1168142"/>
            <a:ext cx="11748654" cy="5632311"/>
          </a:xfrm>
          <a:prstGeom prst="rect">
            <a:avLst/>
          </a:prstGeom>
        </p:spPr>
        <p:txBody>
          <a:bodyPr wrap="square">
            <a:spAutoFit/>
          </a:bodyPr>
          <a:lstStyle/>
          <a:p>
            <a:pPr algn="just"/>
            <a:r>
              <a:rPr lang="en-US" sz="2400" i="1" dirty="0">
                <a:solidFill>
                  <a:schemeClr val="accent5">
                    <a:lumMod val="50000"/>
                  </a:schemeClr>
                </a:solidFill>
              </a:rPr>
              <a:t>For one week in January 2012, data scientists skewed what almost 700,000 Facebook users saw when they logged into its service. Some people were shown content with a preponderance of </a:t>
            </a:r>
            <a:r>
              <a:rPr lang="en-US" sz="2400" b="1" i="1" dirty="0">
                <a:solidFill>
                  <a:schemeClr val="accent5">
                    <a:lumMod val="50000"/>
                  </a:schemeClr>
                </a:solidFill>
              </a:rPr>
              <a:t>happy and positive words</a:t>
            </a:r>
            <a:r>
              <a:rPr lang="en-US" sz="2400" i="1" dirty="0">
                <a:solidFill>
                  <a:schemeClr val="accent5">
                    <a:lumMod val="50000"/>
                  </a:schemeClr>
                </a:solidFill>
              </a:rPr>
              <a:t>; some were shown content analyzed as </a:t>
            </a:r>
            <a:r>
              <a:rPr lang="en-US" sz="2400" b="1" i="1" dirty="0">
                <a:solidFill>
                  <a:schemeClr val="accent5">
                    <a:lumMod val="50000"/>
                  </a:schemeClr>
                </a:solidFill>
              </a:rPr>
              <a:t>sadder than average</a:t>
            </a:r>
            <a:r>
              <a:rPr lang="en-US" sz="2400" i="1" dirty="0">
                <a:solidFill>
                  <a:schemeClr val="accent5">
                    <a:lumMod val="50000"/>
                  </a:schemeClr>
                </a:solidFill>
              </a:rPr>
              <a:t>. And when the week was over, these </a:t>
            </a:r>
            <a:r>
              <a:rPr lang="en-US" sz="2400" b="1" i="1" dirty="0">
                <a:solidFill>
                  <a:schemeClr val="accent5">
                    <a:lumMod val="50000"/>
                  </a:schemeClr>
                </a:solidFill>
              </a:rPr>
              <a:t>manipulated</a:t>
            </a:r>
            <a:r>
              <a:rPr lang="en-US" sz="2400" i="1" dirty="0">
                <a:solidFill>
                  <a:schemeClr val="accent5">
                    <a:lumMod val="50000"/>
                  </a:schemeClr>
                </a:solidFill>
              </a:rPr>
              <a:t> users were more likely to post either especially positive or negative words themselves.</a:t>
            </a:r>
          </a:p>
          <a:p>
            <a:pPr algn="just"/>
            <a:endParaRPr lang="en-US" sz="2400" i="1" dirty="0">
              <a:solidFill>
                <a:schemeClr val="accent5">
                  <a:lumMod val="50000"/>
                </a:schemeClr>
              </a:solidFill>
            </a:endParaRPr>
          </a:p>
          <a:p>
            <a:pPr algn="just"/>
            <a:r>
              <a:rPr lang="pl-PL" sz="2400" i="1" dirty="0">
                <a:solidFill>
                  <a:schemeClr val="accent5">
                    <a:lumMod val="50000"/>
                  </a:schemeClr>
                </a:solidFill>
              </a:rPr>
              <a:t>… </a:t>
            </a:r>
            <a:r>
              <a:rPr lang="en-US" sz="2400" i="1" dirty="0">
                <a:solidFill>
                  <a:schemeClr val="accent5">
                    <a:lumMod val="50000"/>
                  </a:schemeClr>
                </a:solidFill>
              </a:rPr>
              <a:t>Many previous studies have used Facebook data to examine “</a:t>
            </a:r>
            <a:r>
              <a:rPr lang="en-US" sz="2400" b="1" i="1" dirty="0">
                <a:solidFill>
                  <a:schemeClr val="accent5">
                    <a:lumMod val="50000"/>
                  </a:schemeClr>
                </a:solidFill>
              </a:rPr>
              <a:t>emotional contagion</a:t>
            </a:r>
            <a:r>
              <a:rPr lang="en-US" sz="2400" i="1" dirty="0">
                <a:solidFill>
                  <a:schemeClr val="accent5">
                    <a:lumMod val="50000"/>
                  </a:schemeClr>
                </a:solidFill>
              </a:rPr>
              <a:t>,” as this one did. This study is different because, while other studies have observed Facebook user data, this one set out to manipulate it. </a:t>
            </a:r>
          </a:p>
          <a:p>
            <a:pPr algn="just"/>
            <a:endParaRPr lang="en-US" sz="2400" i="1" dirty="0">
              <a:solidFill>
                <a:schemeClr val="accent5">
                  <a:lumMod val="50000"/>
                </a:schemeClr>
              </a:solidFill>
            </a:endParaRPr>
          </a:p>
          <a:p>
            <a:pPr algn="just"/>
            <a:r>
              <a:rPr lang="en-US" sz="2400" i="1" dirty="0">
                <a:solidFill>
                  <a:schemeClr val="accent5">
                    <a:lumMod val="50000"/>
                  </a:schemeClr>
                </a:solidFill>
              </a:rPr>
              <a:t>The experiment is almost certainly legal. In the company’s current terms of service, Facebook users relinquish the use of their data for “data analysis, testing, [and] research.” Is it ethical, though? Since news of the study first emerged, I’ve seen and heard both privacy advocates and casual users express surprise at the audacity of the experiment. </a:t>
            </a:r>
            <a:r>
              <a:rPr lang="pl-PL" sz="2000" dirty="0">
                <a:solidFill>
                  <a:schemeClr val="accent5">
                    <a:lumMod val="50000"/>
                  </a:schemeClr>
                </a:solidFill>
              </a:rPr>
              <a:t>https://medium.com/message/what-does-the-facebook-experiment-teach-us-c858c08e287f</a:t>
            </a:r>
            <a:endParaRPr lang="en-US" sz="2000" dirty="0">
              <a:solidFill>
                <a:schemeClr val="accent5">
                  <a:lumMod val="50000"/>
                </a:schemeClr>
              </a:solidFill>
            </a:endParaRPr>
          </a:p>
        </p:txBody>
      </p:sp>
    </p:spTree>
    <p:extLst>
      <p:ext uri="{BB962C8B-B14F-4D97-AF65-F5344CB8AC3E}">
        <p14:creationId xmlns:p14="http://schemas.microsoft.com/office/powerpoint/2010/main" val="42447442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Shape 1"/>
          <p:cNvSpPr txBox="1"/>
          <p:nvPr/>
        </p:nvSpPr>
        <p:spPr>
          <a:xfrm>
            <a:off x="-1" y="0"/>
            <a:ext cx="12192001" cy="1168142"/>
          </a:xfrm>
          <a:prstGeom prst="rect">
            <a:avLst/>
          </a:prstGeom>
          <a:solidFill>
            <a:srgbClr val="DBEEF4"/>
          </a:solidFill>
          <a:ln>
            <a:noFill/>
          </a:ln>
        </p:spPr>
        <p:txBody>
          <a:bodyPr anchor="ctr"/>
          <a:lstStyle/>
          <a:p>
            <a:pPr algn="ctr"/>
            <a:r>
              <a:rPr lang="pl-PL" sz="4400" b="1" i="1" spc="-1" dirty="0" err="1">
                <a:solidFill>
                  <a:srgbClr val="215968"/>
                </a:solidFill>
              </a:rPr>
              <a:t>Todo</a:t>
            </a:r>
            <a:endParaRPr lang="en-GB" sz="3200" b="1" i="1" dirty="0"/>
          </a:p>
        </p:txBody>
      </p:sp>
      <p:sp>
        <p:nvSpPr>
          <p:cNvPr id="3" name="Prostokąt 2"/>
          <p:cNvSpPr/>
          <p:nvPr/>
        </p:nvSpPr>
        <p:spPr>
          <a:xfrm>
            <a:off x="163629" y="1164135"/>
            <a:ext cx="11819824" cy="5478423"/>
          </a:xfrm>
          <a:prstGeom prst="rect">
            <a:avLst/>
          </a:prstGeom>
        </p:spPr>
        <p:txBody>
          <a:bodyPr wrap="square">
            <a:spAutoFit/>
          </a:bodyPr>
          <a:lstStyle/>
          <a:p>
            <a:pPr algn="just"/>
            <a:r>
              <a:rPr lang="en-US" sz="2800" b="1" dirty="0">
                <a:solidFill>
                  <a:srgbClr val="C00000"/>
                </a:solidFill>
              </a:rPr>
              <a:t>No lecture report!!! Only Chance to obtain some points on the </a:t>
            </a:r>
            <a:r>
              <a:rPr lang="pl-PL" sz="2800" b="1" dirty="0" err="1">
                <a:solidFill>
                  <a:srgbClr val="C00000"/>
                </a:solidFill>
              </a:rPr>
              <a:t>topic</a:t>
            </a:r>
            <a:r>
              <a:rPr lang="pl-PL" sz="2800" b="1" dirty="0">
                <a:solidFill>
                  <a:srgbClr val="C00000"/>
                </a:solidFill>
              </a:rPr>
              <a:t> </a:t>
            </a:r>
            <a:r>
              <a:rPr lang="en-US" sz="2800" b="1" dirty="0">
                <a:solidFill>
                  <a:srgbClr val="C00000"/>
                </a:solidFill>
              </a:rPr>
              <a:t>forum. </a:t>
            </a:r>
          </a:p>
          <a:p>
            <a:pPr algn="just"/>
            <a:endParaRPr lang="pl-PL" sz="2800" b="1" dirty="0">
              <a:solidFill>
                <a:srgbClr val="215968"/>
              </a:solidFill>
            </a:endParaRPr>
          </a:p>
          <a:p>
            <a:pPr algn="just"/>
            <a:r>
              <a:rPr lang="en-US" sz="2800" b="1" dirty="0">
                <a:solidFill>
                  <a:srgbClr val="215968"/>
                </a:solidFill>
              </a:rPr>
              <a:t>Read </a:t>
            </a:r>
            <a:r>
              <a:rPr lang="pl-PL" sz="2800" b="1" i="1" dirty="0" err="1">
                <a:solidFill>
                  <a:srgbClr val="215968"/>
                </a:solidFill>
              </a:rPr>
              <a:t>Introduction</a:t>
            </a:r>
            <a:r>
              <a:rPr lang="pl-PL" sz="2800" b="1" i="1" dirty="0">
                <a:solidFill>
                  <a:srgbClr val="215968"/>
                </a:solidFill>
              </a:rPr>
              <a:t> to </a:t>
            </a:r>
            <a:r>
              <a:rPr lang="pl-PL" sz="2800" b="1" i="1" dirty="0" err="1">
                <a:solidFill>
                  <a:srgbClr val="215968"/>
                </a:solidFill>
              </a:rPr>
              <a:t>Experimental</a:t>
            </a:r>
            <a:r>
              <a:rPr lang="pl-PL" sz="2800" b="1" i="1" dirty="0">
                <a:solidFill>
                  <a:srgbClr val="215968"/>
                </a:solidFill>
              </a:rPr>
              <a:t> </a:t>
            </a:r>
            <a:r>
              <a:rPr lang="pl-PL" sz="2800" b="1" i="1" dirty="0" err="1">
                <a:solidFill>
                  <a:srgbClr val="215968"/>
                </a:solidFill>
              </a:rPr>
              <a:t>Economics</a:t>
            </a:r>
            <a:r>
              <a:rPr lang="pl-PL" sz="2800" b="1" dirty="0">
                <a:solidFill>
                  <a:srgbClr val="215968"/>
                </a:solidFill>
              </a:rPr>
              <a:t> by Nobel </a:t>
            </a:r>
            <a:r>
              <a:rPr lang="pl-PL" sz="2800" b="1" dirty="0" err="1">
                <a:solidFill>
                  <a:srgbClr val="215968"/>
                </a:solidFill>
              </a:rPr>
              <a:t>Prize</a:t>
            </a:r>
            <a:r>
              <a:rPr lang="pl-PL" sz="2800" b="1" dirty="0">
                <a:solidFill>
                  <a:srgbClr val="215968"/>
                </a:solidFill>
              </a:rPr>
              <a:t> </a:t>
            </a:r>
            <a:r>
              <a:rPr lang="pl-PL" sz="2800" b="1" dirty="0" err="1">
                <a:solidFill>
                  <a:srgbClr val="215968"/>
                </a:solidFill>
              </a:rPr>
              <a:t>winner</a:t>
            </a:r>
            <a:r>
              <a:rPr lang="pl-PL" sz="2800" b="1" dirty="0">
                <a:solidFill>
                  <a:srgbClr val="215968"/>
                </a:solidFill>
              </a:rPr>
              <a:t>- </a:t>
            </a:r>
            <a:r>
              <a:rPr lang="pl-PL" sz="2000" b="1" dirty="0">
                <a:solidFill>
                  <a:srgbClr val="215968"/>
                </a:solidFill>
              </a:rPr>
              <a:t>https://www.wiwi-experimente.tu-berlin.de/fileadmin/fg210/handbook_3_109.pdf </a:t>
            </a:r>
            <a:r>
              <a:rPr lang="en-US" sz="2800" b="1" dirty="0">
                <a:solidFill>
                  <a:srgbClr val="215968"/>
                </a:solidFill>
              </a:rPr>
              <a:t>Read a critical paper on experimental economics:</a:t>
            </a:r>
            <a:endParaRPr lang="pl-PL" sz="2800" b="1" dirty="0">
              <a:solidFill>
                <a:srgbClr val="215968"/>
              </a:solidFill>
            </a:endParaRPr>
          </a:p>
          <a:p>
            <a:pPr algn="just"/>
            <a:r>
              <a:rPr lang="pl-PL" sz="1600" b="1" dirty="0">
                <a:solidFill>
                  <a:srgbClr val="215968"/>
                </a:solidFill>
              </a:rPr>
              <a:t>https://www.researchgate.net/publication/248419698_What_Do_Laboratory_Experiments_Tell_Us_About_the_Real_World</a:t>
            </a:r>
          </a:p>
          <a:p>
            <a:pPr algn="just"/>
            <a:r>
              <a:rPr lang="en-US" sz="2800" b="1" dirty="0">
                <a:solidFill>
                  <a:srgbClr val="215968"/>
                </a:solidFill>
              </a:rPr>
              <a:t>Start a discussion </a:t>
            </a:r>
            <a:r>
              <a:rPr lang="en-US" sz="2800" b="1" dirty="0" err="1">
                <a:solidFill>
                  <a:srgbClr val="215968"/>
                </a:solidFill>
              </a:rPr>
              <a:t>abou</a:t>
            </a:r>
            <a:r>
              <a:rPr lang="pl-PL" sz="2800" b="1" dirty="0">
                <a:solidFill>
                  <a:srgbClr val="215968"/>
                </a:solidFill>
              </a:rPr>
              <a:t>t</a:t>
            </a:r>
            <a:r>
              <a:rPr lang="en-US" sz="2800" b="1" dirty="0">
                <a:solidFill>
                  <a:srgbClr val="215968"/>
                </a:solidFill>
              </a:rPr>
              <a:t> experimental/</a:t>
            </a:r>
            <a:r>
              <a:rPr lang="en-US" sz="2800" b="1" dirty="0" err="1">
                <a:solidFill>
                  <a:srgbClr val="215968"/>
                </a:solidFill>
              </a:rPr>
              <a:t>behavioural</a:t>
            </a:r>
            <a:r>
              <a:rPr lang="en-US" sz="2800" b="1" dirty="0">
                <a:solidFill>
                  <a:srgbClr val="215968"/>
                </a:solidFill>
              </a:rPr>
              <a:t> economics on the topic forum. </a:t>
            </a:r>
            <a:endParaRPr lang="pl-PL" sz="2800" b="1" dirty="0">
              <a:solidFill>
                <a:srgbClr val="215968"/>
              </a:solidFill>
            </a:endParaRPr>
          </a:p>
          <a:p>
            <a:pPr algn="just"/>
            <a:r>
              <a:rPr lang="en-US" sz="2800" b="1" dirty="0">
                <a:solidFill>
                  <a:srgbClr val="215968"/>
                </a:solidFill>
              </a:rPr>
              <a:t>You have to read about causality and p-value issues. It is very important for you. I prepared an ad hoc research to test your understanding of the issues (</a:t>
            </a:r>
            <a:r>
              <a:rPr lang="en-US" sz="2800" b="1" i="1" dirty="0">
                <a:solidFill>
                  <a:srgbClr val="215968"/>
                </a:solidFill>
              </a:rPr>
              <a:t>will be next month</a:t>
            </a:r>
            <a:r>
              <a:rPr lang="en-US" sz="2800" b="1" dirty="0">
                <a:solidFill>
                  <a:srgbClr val="215968"/>
                </a:solidFill>
              </a:rPr>
              <a:t>):</a:t>
            </a:r>
            <a:endParaRPr lang="pl-PL" sz="2800" b="1" dirty="0">
              <a:solidFill>
                <a:srgbClr val="215968"/>
              </a:solidFill>
            </a:endParaRPr>
          </a:p>
          <a:p>
            <a:pPr marL="457200" indent="-457200" algn="just">
              <a:buFont typeface="Arial" panose="020B0604020202020204" pitchFamily="34" charset="0"/>
              <a:buChar char="•"/>
            </a:pPr>
            <a:r>
              <a:rPr lang="pl-PL" b="1" dirty="0">
                <a:solidFill>
                  <a:srgbClr val="215968"/>
                </a:solidFill>
              </a:rPr>
              <a:t>https://www.nature.com/articles/d41586-019-00857-9</a:t>
            </a:r>
          </a:p>
          <a:p>
            <a:pPr marL="457200" indent="-457200" algn="just">
              <a:buFont typeface="Arial" panose="020B0604020202020204" pitchFamily="34" charset="0"/>
              <a:buChar char="•"/>
            </a:pPr>
            <a:r>
              <a:rPr lang="pl-PL" b="1" dirty="0">
                <a:solidFill>
                  <a:srgbClr val="215968"/>
                </a:solidFill>
              </a:rPr>
              <a:t>https://www.ncbi.nlm.nih.gov/pmc/articles/PMC5187603/</a:t>
            </a:r>
          </a:p>
          <a:p>
            <a:pPr marL="457200" indent="-457200" algn="just">
              <a:buFont typeface="Arial" panose="020B0604020202020204" pitchFamily="34" charset="0"/>
              <a:buChar char="•"/>
            </a:pPr>
            <a:r>
              <a:rPr lang="pl-PL" b="1" dirty="0">
                <a:solidFill>
                  <a:srgbClr val="215968"/>
                </a:solidFill>
              </a:rPr>
              <a:t>https://www.atsjournals.org/doi/full/10.1513/AnnalsATS.201808-564PS</a:t>
            </a:r>
          </a:p>
        </p:txBody>
      </p:sp>
    </p:spTree>
    <p:extLst>
      <p:ext uri="{BB962C8B-B14F-4D97-AF65-F5344CB8AC3E}">
        <p14:creationId xmlns:p14="http://schemas.microsoft.com/office/powerpoint/2010/main" val="2764165415"/>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8194</TotalTime>
  <Words>8724</Words>
  <Application>Microsoft Office PowerPoint</Application>
  <PresentationFormat>Widescreen</PresentationFormat>
  <Paragraphs>637</Paragraphs>
  <Slides>74</Slides>
  <Notes>7</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74</vt:i4>
      </vt:variant>
    </vt:vector>
  </HeadingPairs>
  <TitlesOfParts>
    <vt:vector size="84" baseType="lpstr">
      <vt:lpstr>Arial</vt:lpstr>
      <vt:lpstr>Calibri</vt:lpstr>
      <vt:lpstr>Calibri Light</vt:lpstr>
      <vt:lpstr>Cambria Math</vt:lpstr>
      <vt:lpstr>Source Sans Pro</vt:lpstr>
      <vt:lpstr>Symbol</vt:lpstr>
      <vt:lpstr>Times New Roman</vt:lpstr>
      <vt:lpstr>Wingdings</vt:lpstr>
      <vt:lpstr>Motyw pakietu Office</vt:lpstr>
      <vt:lpstr>1_Motyw pakietu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 to consumer theory  The preferences</vt:lpstr>
      <vt:lpstr>The budget constraint</vt:lpstr>
      <vt:lpstr>Play with the model of consumer choice </vt:lpstr>
      <vt:lpstr>PowerPoint Presentation</vt:lpstr>
      <vt:lpstr>The storytelling  </vt:lpstr>
      <vt:lpstr>The storytelling (ice cream n=250) </vt:lpstr>
      <vt:lpstr>The storytelling </vt:lpstr>
      <vt:lpstr>The storytelling  </vt:lpstr>
      <vt:lpstr>The storytelling  </vt:lpstr>
      <vt:lpstr>The storytelling  </vt:lpstr>
      <vt:lpstr>Confrontation of the storytelling with the research findings </vt:lpstr>
      <vt:lpstr>Confrontation of the storytelling with the research findings </vt:lpstr>
      <vt:lpstr>Confrontation of the storytelling with the research findings </vt:lpstr>
      <vt:lpstr>Confrontation of the storytelling with the research findings </vt:lpstr>
      <vt:lpstr>PowerPoint Presentation</vt:lpstr>
      <vt:lpstr>Confrontation of the storytelling with the research findings </vt:lpstr>
      <vt:lpstr>Confrontation of the storytelling with the research findings </vt:lpstr>
      <vt:lpstr>Confrontation of the storytelling with the research findings </vt:lpstr>
      <vt:lpstr>Confrontation of the storytelling with the research findings </vt:lpstr>
      <vt:lpstr>Confrontation of the storytelling with the research findings </vt:lpstr>
      <vt:lpstr>PowerPoint Presentation</vt:lpstr>
      <vt:lpstr>Confrontation of the storytelling with the research findings </vt:lpstr>
      <vt:lpstr>Confrontation of the storytelling with the research findings </vt:lpstr>
      <vt:lpstr>Confrontation of the storytelling with the research findings </vt:lpstr>
      <vt:lpstr>Confrontation of the storytelling with the research findings </vt:lpstr>
      <vt:lpstr>Your results</vt:lpstr>
      <vt:lpstr>Asking ethical questions </vt:lpstr>
      <vt:lpstr>Your choices  Ethical attitudes</vt:lpstr>
      <vt:lpstr>Asking ethical questions </vt:lpstr>
      <vt:lpstr>Asking ethical questions </vt:lpstr>
      <vt:lpstr>Asking ethical questions </vt:lpstr>
      <vt:lpstr>Step 3 Asking ethical questions </vt:lpstr>
      <vt:lpstr>Asking ethical questions </vt:lpstr>
      <vt:lpstr>Asking ethical questions </vt:lpstr>
      <vt:lpstr>Step 3 Asking ethical questions </vt:lpstr>
      <vt:lpstr>Asking ethical questions </vt:lpstr>
      <vt:lpstr>Step 3 Asking ethical questions </vt:lpstr>
      <vt:lpstr>Asking ethical questions </vt:lpstr>
      <vt:lpstr>Asking ethical questions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Tomasz Kopczewski</dc:creator>
  <cp:lastModifiedBy>Tomasz Kopczewski</cp:lastModifiedBy>
  <cp:revision>292</cp:revision>
  <dcterms:created xsi:type="dcterms:W3CDTF">2019-10-08T11:22:24Z</dcterms:created>
  <dcterms:modified xsi:type="dcterms:W3CDTF">2025-11-06T17:10:38Z</dcterms:modified>
</cp:coreProperties>
</file>