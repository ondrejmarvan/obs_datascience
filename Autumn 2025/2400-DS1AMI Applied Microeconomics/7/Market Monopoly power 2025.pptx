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283" r:id="rId2"/>
    <p:sldId id="290" r:id="rId3"/>
    <p:sldId id="284" r:id="rId4"/>
    <p:sldId id="286" r:id="rId5"/>
    <p:sldId id="285" r:id="rId6"/>
    <p:sldId id="287" r:id="rId7"/>
    <p:sldId id="289" r:id="rId8"/>
    <p:sldId id="288" r:id="rId9"/>
    <p:sldId id="258" r:id="rId10"/>
    <p:sldId id="292" r:id="rId11"/>
    <p:sldId id="293" r:id="rId12"/>
    <p:sldId id="268" r:id="rId13"/>
    <p:sldId id="294" r:id="rId14"/>
    <p:sldId id="269" r:id="rId15"/>
    <p:sldId id="273" r:id="rId16"/>
    <p:sldId id="295" r:id="rId17"/>
    <p:sldId id="296" r:id="rId18"/>
    <p:sldId id="264" r:id="rId19"/>
    <p:sldId id="298" r:id="rId20"/>
    <p:sldId id="297" r:id="rId21"/>
    <p:sldId id="299" r:id="rId22"/>
    <p:sldId id="300" r:id="rId23"/>
    <p:sldId id="307" r:id="rId24"/>
    <p:sldId id="308" r:id="rId25"/>
    <p:sldId id="309" r:id="rId26"/>
    <p:sldId id="310" r:id="rId27"/>
    <p:sldId id="312" r:id="rId28"/>
    <p:sldId id="313" r:id="rId29"/>
    <p:sldId id="311" r:id="rId30"/>
    <p:sldId id="314" r:id="rId31"/>
    <p:sldId id="316" r:id="rId32"/>
    <p:sldId id="317" r:id="rId33"/>
    <p:sldId id="318" r:id="rId34"/>
    <p:sldId id="315" r:id="rId35"/>
    <p:sldId id="256" r:id="rId36"/>
    <p:sldId id="257" r:id="rId37"/>
    <p:sldId id="303" r:id="rId38"/>
    <p:sldId id="259" r:id="rId39"/>
    <p:sldId id="302" r:id="rId40"/>
    <p:sldId id="260" r:id="rId41"/>
    <p:sldId id="261" r:id="rId42"/>
    <p:sldId id="262" r:id="rId43"/>
    <p:sldId id="263" r:id="rId44"/>
    <p:sldId id="265" r:id="rId45"/>
    <p:sldId id="266" r:id="rId46"/>
    <p:sldId id="270" r:id="rId47"/>
    <p:sldId id="304" r:id="rId48"/>
    <p:sldId id="267" r:id="rId49"/>
    <p:sldId id="305" r:id="rId50"/>
    <p:sldId id="306" r:id="rId51"/>
    <p:sldId id="271" r:id="rId52"/>
    <p:sldId id="319" r:id="rId53"/>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9" autoAdjust="0"/>
  </p:normalViewPr>
  <p:slideViewPr>
    <p:cSldViewPr snapToGrid="0">
      <p:cViewPr varScale="1">
        <p:scale>
          <a:sx n="75" d="100"/>
          <a:sy n="75" d="100"/>
        </p:scale>
        <p:origin x="90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08AF29-96D9-4685-87AA-7A1DA4A0985A}" type="datetimeFigureOut">
              <a:rPr lang="pl-PL" smtClean="0"/>
              <a:t>24.01.2025</a:t>
            </a:fld>
            <a:endParaRPr lang="pl-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pl-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D677FC-2CF6-43D6-8592-639EE974A6E4}" type="slidenum">
              <a:rPr lang="pl-PL" smtClean="0"/>
              <a:t>‹#›</a:t>
            </a:fld>
            <a:endParaRPr lang="pl-PL"/>
          </a:p>
        </p:txBody>
      </p:sp>
    </p:spTree>
    <p:extLst>
      <p:ext uri="{BB962C8B-B14F-4D97-AF65-F5344CB8AC3E}">
        <p14:creationId xmlns:p14="http://schemas.microsoft.com/office/powerpoint/2010/main" val="2453634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CustomShape 1"/>
          <p:cNvSpPr/>
          <p:nvPr/>
        </p:nvSpPr>
        <p:spPr>
          <a:xfrm>
            <a:off x="685813" y="4343339"/>
            <a:ext cx="5486259" cy="4114278"/>
          </a:xfrm>
          <a:prstGeom prst="rect">
            <a:avLst/>
          </a:prstGeom>
          <a:noFill/>
          <a:ln>
            <a:noFill/>
          </a:ln>
        </p:spPr>
        <p:style>
          <a:lnRef idx="0">
            <a:scrgbClr r="0" g="0" b="0"/>
          </a:lnRef>
          <a:fillRef idx="0">
            <a:scrgbClr r="0" g="0" b="0"/>
          </a:fillRef>
          <a:effectRef idx="0">
            <a:scrgbClr r="0" g="0" b="0"/>
          </a:effectRef>
          <a:fontRef idx="minor"/>
        </p:style>
      </p:sp>
      <p:sp>
        <p:nvSpPr>
          <p:cNvPr id="514" name="CustomShape 2"/>
          <p:cNvSpPr/>
          <p:nvPr/>
        </p:nvSpPr>
        <p:spPr>
          <a:xfrm>
            <a:off x="3884743" y="8685287"/>
            <a:ext cx="2971452" cy="45673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nchor="b"/>
          <a:lstStyle/>
          <a:p>
            <a:pPr marL="0" marR="0" lvl="0" indent="0" algn="r" defTabSz="914400" rtl="0" eaLnBrk="1" fontAlgn="auto" latinLnBrk="0" hangingPunct="1">
              <a:lnSpc>
                <a:spcPct val="100000"/>
              </a:lnSpc>
              <a:spcBef>
                <a:spcPts val="0"/>
              </a:spcBef>
              <a:spcAft>
                <a:spcPts val="0"/>
              </a:spcAft>
              <a:buClrTx/>
              <a:buSzTx/>
              <a:buFontTx/>
              <a:buNone/>
              <a:tabLst/>
              <a:defRPr/>
            </a:pPr>
            <a:fld id="{8E0E71E2-FD65-40CA-A8A6-581CD85A68D4}" type="slidenum">
              <a:rPr kumimoji="0" lang="pl-PL" sz="1200" b="0" i="1" u="none" strike="noStrike" kern="1200" cap="none" spc="-1" normalizeH="0" baseline="0" noProof="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l-PL" sz="1200" b="0" i="0" u="none" strike="noStrike" kern="1200" cap="none" spc="-1" normalizeH="0" baseline="0" noProof="0">
              <a:ln>
                <a:noFill/>
              </a:ln>
              <a:solidFill>
                <a:prstClr val="black"/>
              </a:solidFill>
              <a:effectLst/>
              <a:uLnTx/>
              <a:uFillTx/>
              <a:latin typeface="Arial"/>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a:xfrm>
            <a:off x="381000" y="685800"/>
            <a:ext cx="6096000" cy="3429000"/>
          </a:xfrm>
          <a:prstGeom prst="rect">
            <a:avLst/>
          </a:prstGeom>
          <a:noFill/>
          <a:ln w="12700">
            <a:solidFill>
              <a:prstClr val="black"/>
            </a:solidFill>
          </a:ln>
        </p:spPr>
      </p:sp>
      <p:sp>
        <p:nvSpPr>
          <p:cNvPr id="3" name="Symbol zastępczy notatek 2"/>
          <p:cNvSpPr>
            <a:spLocks noGrp="1"/>
          </p:cNvSpPr>
          <p:nvPr>
            <p:ph type="body" idx="1"/>
          </p:nvPr>
        </p:nvSpPr>
        <p:spPr>
          <a:xfrm>
            <a:off x="685800" y="4343400"/>
            <a:ext cx="5486400" cy="4114800"/>
          </a:xfrm>
          <a:prstGeom prst="rect">
            <a:avLst/>
          </a:prstGeom>
        </p:spPr>
        <p:txBody>
          <a:bodyPr>
            <a:normAutofit/>
          </a:bodyPr>
          <a:lstStyle/>
          <a:p>
            <a:endParaRPr lang="pl-P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ACBF16C4-5248-4642-8282-16870F94D3F4}" type="slidenum">
              <a:rPr lang="pl-PL" smtClean="0"/>
              <a:pPr/>
              <a:t>37</a:t>
            </a:fld>
            <a:endParaRPr lang="pl-PL"/>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pl-PL"/>
              <a:t>Sektor IT – próba połączenia pracy doktorskiej z katedralnym projektem badawczym na temat pomiaru efektów sieciowych</a:t>
            </a:r>
          </a:p>
          <a:p>
            <a:pPr eaLnBrk="1" hangingPunct="1"/>
            <a:endParaRPr lang="pl-P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ACBF16C4-5248-4642-8282-16870F94D3F4}" type="slidenum">
              <a:rPr lang="pl-PL" smtClean="0"/>
              <a:pPr/>
              <a:t>38</a:t>
            </a:fld>
            <a:endParaRPr lang="pl-PL"/>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pl-PL"/>
              <a:t>Sektor IT – próba połączenia pracy doktorskiej z katedralnym projektem badawczym na temat pomiaru efektów sieciowych</a:t>
            </a:r>
          </a:p>
          <a:p>
            <a:pPr eaLnBrk="1" hangingPunct="1"/>
            <a:endParaRPr lang="pl-P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ACBF16C4-5248-4642-8282-16870F94D3F4}" type="slidenum">
              <a:rPr lang="pl-PL" smtClean="0"/>
              <a:pPr/>
              <a:t>40</a:t>
            </a:fld>
            <a:endParaRPr lang="pl-PL"/>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pl-PL"/>
              <a:t>Sektor IT – próba połączenia pracy doktorskiej z katedralnym projektem badawczym na temat pomiaru efektów sieciowych</a:t>
            </a:r>
          </a:p>
          <a:p>
            <a:pPr eaLnBrk="1" hangingPunct="1"/>
            <a:endParaRPr lang="pl-P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ACBF16C4-5248-4642-8282-16870F94D3F4}" type="slidenum">
              <a:rPr lang="pl-PL" smtClean="0"/>
              <a:pPr/>
              <a:t>41</a:t>
            </a:fld>
            <a:endParaRPr lang="pl-PL"/>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pl-PL"/>
              <a:t>Sektor IT – próba połączenia pracy doktorskiej z katedralnym projektem badawczym na temat pomiaru efektów sieciowych</a:t>
            </a:r>
          </a:p>
          <a:p>
            <a:pPr eaLnBrk="1" hangingPunct="1"/>
            <a:endParaRPr lang="pl-P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ACBF16C4-5248-4642-8282-16870F94D3F4}" type="slidenum">
              <a:rPr lang="pl-PL" smtClean="0"/>
              <a:pPr/>
              <a:t>42</a:t>
            </a:fld>
            <a:endParaRPr lang="pl-PL"/>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pl-PL"/>
              <a:t>Sektor IT – próba połączenia pracy doktorskiej z katedralnym projektem badawczym na temat pomiaru efektów sieciowych</a:t>
            </a:r>
          </a:p>
          <a:p>
            <a:pPr eaLnBrk="1" hangingPunct="1"/>
            <a:endParaRPr lang="pl-P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ACBF16C4-5248-4642-8282-16870F94D3F4}" type="slidenum">
              <a:rPr lang="pl-PL" smtClean="0"/>
              <a:pPr/>
              <a:t>43</a:t>
            </a:fld>
            <a:endParaRPr lang="pl-PL"/>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pl-PL"/>
              <a:t>Sektor IT – próba połączenia pracy doktorskiej z katedralnym projektem badawczym na temat pomiaru efektów sieciowych</a:t>
            </a:r>
          </a:p>
          <a:p>
            <a:pPr eaLnBrk="1" hangingPunct="1"/>
            <a:endParaRPr lang="pl-P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10"/>
          </p:nvPr>
        </p:nvSpPr>
        <p:spPr/>
        <p:txBody>
          <a:bodyPr/>
          <a:lstStyle/>
          <a:p>
            <a:fld id="{BC1E56A1-B051-435C-B912-3E74867A71C8}" type="slidenum">
              <a:rPr lang="en-GB" smtClean="0"/>
              <a:t>49</a:t>
            </a:fld>
            <a:endParaRPr lang="en-GB"/>
          </a:p>
        </p:txBody>
      </p:sp>
    </p:spTree>
    <p:extLst>
      <p:ext uri="{BB962C8B-B14F-4D97-AF65-F5344CB8AC3E}">
        <p14:creationId xmlns:p14="http://schemas.microsoft.com/office/powerpoint/2010/main" val="718548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ACBF16C4-5248-4642-8282-16870F94D3F4}" type="slidenum">
              <a:rPr lang="pl-PL" smtClean="0"/>
              <a:pPr/>
              <a:t>50</a:t>
            </a:fld>
            <a:endParaRPr lang="pl-PL"/>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pl-PL"/>
              <a:t>Sektor IT – próba połączenia pracy doktorskiej z katedralnym projektem badawczym na temat pomiaru efektów sieciowych</a:t>
            </a:r>
          </a:p>
          <a:p>
            <a:pPr eaLnBrk="1" hangingPunct="1"/>
            <a:endParaRPr lang="pl-P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ACBF16C4-5248-4642-8282-16870F94D3F4}" type="slidenum">
              <a:rPr lang="pl-PL" smtClean="0"/>
              <a:pPr/>
              <a:t>51</a:t>
            </a:fld>
            <a:endParaRPr lang="pl-PL"/>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pl-PL"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F669A-DFF5-96F5-77AE-B9244CC26B98}"/>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616D0C68-F3FA-02DD-B142-E234D3AC33A5}"/>
              </a:ext>
            </a:extLst>
          </p:cNvPr>
          <p:cNvSpPr>
            <a:spLocks noGrp="1" noChangeArrowheads="1"/>
          </p:cNvSpPr>
          <p:nvPr>
            <p:ph type="sldNum" sz="quarter" idx="5"/>
          </p:nvPr>
        </p:nvSpPr>
        <p:spPr>
          <a:noFill/>
        </p:spPr>
        <p:txBody>
          <a:bodyPr/>
          <a:lstStyle/>
          <a:p>
            <a:fld id="{ACBF16C4-5248-4642-8282-16870F94D3F4}" type="slidenum">
              <a:rPr lang="pl-PL" smtClean="0"/>
              <a:pPr/>
              <a:t>52</a:t>
            </a:fld>
            <a:endParaRPr lang="pl-PL"/>
          </a:p>
        </p:txBody>
      </p:sp>
      <p:sp>
        <p:nvSpPr>
          <p:cNvPr id="28675" name="Rectangle 2">
            <a:extLst>
              <a:ext uri="{FF2B5EF4-FFF2-40B4-BE49-F238E27FC236}">
                <a16:creationId xmlns:a16="http://schemas.microsoft.com/office/drawing/2014/main" id="{2824845C-3A59-8551-FE3F-2FB39952E57C}"/>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68E575F1-5E1F-71DC-5A3F-9DFEB561DAAB}"/>
              </a:ext>
            </a:extLst>
          </p:cNvPr>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4015078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endParaRPr lang="en-GB"/>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GB"/>
          </a:p>
        </p:txBody>
      </p:sp>
      <p:sp>
        <p:nvSpPr>
          <p:cNvPr id="4" name="Symbol zastępczy daty 3"/>
          <p:cNvSpPr>
            <a:spLocks noGrp="1"/>
          </p:cNvSpPr>
          <p:nvPr>
            <p:ph type="dt" sz="half" idx="10"/>
          </p:nvPr>
        </p:nvSpPr>
        <p:spPr/>
        <p:txBody>
          <a:bodyPr/>
          <a:lstStyle/>
          <a:p>
            <a:fld id="{2CF4E646-8174-41FB-A6C3-6C3CAFB587E1}" type="datetimeFigureOut">
              <a:rPr lang="en-GB" smtClean="0"/>
              <a:t>24/01/2025</a:t>
            </a:fld>
            <a:endParaRPr lang="en-GB"/>
          </a:p>
        </p:txBody>
      </p:sp>
      <p:sp>
        <p:nvSpPr>
          <p:cNvPr id="5" name="Symbol zastępczy stopki 4"/>
          <p:cNvSpPr>
            <a:spLocks noGrp="1"/>
          </p:cNvSpPr>
          <p:nvPr>
            <p:ph type="ftr" sz="quarter" idx="11"/>
          </p:nvPr>
        </p:nvSpPr>
        <p:spPr/>
        <p:txBody>
          <a:bodyPr/>
          <a:lstStyle/>
          <a:p>
            <a:endParaRPr lang="en-GB"/>
          </a:p>
        </p:txBody>
      </p:sp>
      <p:sp>
        <p:nvSpPr>
          <p:cNvPr id="6" name="Symbol zastępczy numeru slajdu 5"/>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552039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2CF4E646-8174-41FB-A6C3-6C3CAFB587E1}" type="datetimeFigureOut">
              <a:rPr lang="en-GB" smtClean="0"/>
              <a:t>24/01/2025</a:t>
            </a:fld>
            <a:endParaRPr lang="en-GB"/>
          </a:p>
        </p:txBody>
      </p:sp>
      <p:sp>
        <p:nvSpPr>
          <p:cNvPr id="5" name="Symbol zastępczy stopki 4"/>
          <p:cNvSpPr>
            <a:spLocks noGrp="1"/>
          </p:cNvSpPr>
          <p:nvPr>
            <p:ph type="ftr" sz="quarter" idx="11"/>
          </p:nvPr>
        </p:nvSpPr>
        <p:spPr/>
        <p:txBody>
          <a:bodyPr/>
          <a:lstStyle/>
          <a:p>
            <a:endParaRPr lang="en-GB"/>
          </a:p>
        </p:txBody>
      </p:sp>
      <p:sp>
        <p:nvSpPr>
          <p:cNvPr id="6" name="Symbol zastępczy numeru slajdu 5"/>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3703184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endParaRPr lang="en-GB"/>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2CF4E646-8174-41FB-A6C3-6C3CAFB587E1}" type="datetimeFigureOut">
              <a:rPr lang="en-GB" smtClean="0"/>
              <a:t>24/01/2025</a:t>
            </a:fld>
            <a:endParaRPr lang="en-GB"/>
          </a:p>
        </p:txBody>
      </p:sp>
      <p:sp>
        <p:nvSpPr>
          <p:cNvPr id="5" name="Symbol zastępczy stopki 4"/>
          <p:cNvSpPr>
            <a:spLocks noGrp="1"/>
          </p:cNvSpPr>
          <p:nvPr>
            <p:ph type="ftr" sz="quarter" idx="11"/>
          </p:nvPr>
        </p:nvSpPr>
        <p:spPr/>
        <p:txBody>
          <a:bodyPr/>
          <a:lstStyle/>
          <a:p>
            <a:endParaRPr lang="en-GB"/>
          </a:p>
        </p:txBody>
      </p:sp>
      <p:sp>
        <p:nvSpPr>
          <p:cNvPr id="6" name="Symbol zastępczy numeru slajdu 5"/>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125445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p:cNvSpPr>
            <a:spLocks noGrp="1"/>
          </p:cNvSpPr>
          <p:nvPr>
            <p:ph type="dt" sz="half" idx="10"/>
          </p:nvPr>
        </p:nvSpPr>
        <p:spPr/>
        <p:txBody>
          <a:bodyPr/>
          <a:lstStyle/>
          <a:p>
            <a:fld id="{2CF4E646-8174-41FB-A6C3-6C3CAFB587E1}" type="datetimeFigureOut">
              <a:rPr lang="en-GB" smtClean="0"/>
              <a:t>24/01/2025</a:t>
            </a:fld>
            <a:endParaRPr lang="en-GB"/>
          </a:p>
        </p:txBody>
      </p:sp>
      <p:sp>
        <p:nvSpPr>
          <p:cNvPr id="6" name="Symbol zastępczy stopki 5"/>
          <p:cNvSpPr>
            <a:spLocks noGrp="1"/>
          </p:cNvSpPr>
          <p:nvPr>
            <p:ph type="ftr" sz="quarter" idx="11"/>
          </p:nvPr>
        </p:nvSpPr>
        <p:spPr/>
        <p:txBody>
          <a:bodyPr/>
          <a:lstStyle/>
          <a:p>
            <a:endParaRPr lang="en-GB"/>
          </a:p>
        </p:txBody>
      </p:sp>
      <p:sp>
        <p:nvSpPr>
          <p:cNvPr id="7" name="Symbol zastępczy numeru slajdu 6"/>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2255981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endParaRPr lang="en-GB"/>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p:cNvSpPr>
            <a:spLocks noGrp="1"/>
          </p:cNvSpPr>
          <p:nvPr>
            <p:ph type="dt" sz="half" idx="10"/>
          </p:nvPr>
        </p:nvSpPr>
        <p:spPr/>
        <p:txBody>
          <a:bodyPr/>
          <a:lstStyle/>
          <a:p>
            <a:fld id="{2CF4E646-8174-41FB-A6C3-6C3CAFB587E1}" type="datetimeFigureOut">
              <a:rPr lang="en-GB" smtClean="0"/>
              <a:t>24/01/2025</a:t>
            </a:fld>
            <a:endParaRPr lang="en-GB"/>
          </a:p>
        </p:txBody>
      </p:sp>
      <p:sp>
        <p:nvSpPr>
          <p:cNvPr id="8" name="Symbol zastępczy stopki 7"/>
          <p:cNvSpPr>
            <a:spLocks noGrp="1"/>
          </p:cNvSpPr>
          <p:nvPr>
            <p:ph type="ftr" sz="quarter" idx="11"/>
          </p:nvPr>
        </p:nvSpPr>
        <p:spPr/>
        <p:txBody>
          <a:bodyPr/>
          <a:lstStyle/>
          <a:p>
            <a:endParaRPr lang="en-GB"/>
          </a:p>
        </p:txBody>
      </p:sp>
      <p:sp>
        <p:nvSpPr>
          <p:cNvPr id="9" name="Symbol zastępczy numeru slajdu 8"/>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2112803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daty 2"/>
          <p:cNvSpPr>
            <a:spLocks noGrp="1"/>
          </p:cNvSpPr>
          <p:nvPr>
            <p:ph type="dt" sz="half" idx="10"/>
          </p:nvPr>
        </p:nvSpPr>
        <p:spPr/>
        <p:txBody>
          <a:bodyPr/>
          <a:lstStyle/>
          <a:p>
            <a:fld id="{2CF4E646-8174-41FB-A6C3-6C3CAFB587E1}" type="datetimeFigureOut">
              <a:rPr lang="en-GB" smtClean="0"/>
              <a:t>24/01/2025</a:t>
            </a:fld>
            <a:endParaRPr lang="en-GB"/>
          </a:p>
        </p:txBody>
      </p:sp>
      <p:sp>
        <p:nvSpPr>
          <p:cNvPr id="4" name="Symbol zastępczy stopki 3"/>
          <p:cNvSpPr>
            <a:spLocks noGrp="1"/>
          </p:cNvSpPr>
          <p:nvPr>
            <p:ph type="ftr" sz="quarter" idx="11"/>
          </p:nvPr>
        </p:nvSpPr>
        <p:spPr/>
        <p:txBody>
          <a:bodyPr/>
          <a:lstStyle/>
          <a:p>
            <a:endParaRPr lang="en-GB"/>
          </a:p>
        </p:txBody>
      </p:sp>
      <p:sp>
        <p:nvSpPr>
          <p:cNvPr id="5" name="Symbol zastępczy numeru slajdu 4"/>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1675860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2CF4E646-8174-41FB-A6C3-6C3CAFB587E1}" type="datetimeFigureOut">
              <a:rPr lang="en-GB" smtClean="0"/>
              <a:t>24/01/2025</a:t>
            </a:fld>
            <a:endParaRPr lang="en-GB"/>
          </a:p>
        </p:txBody>
      </p:sp>
      <p:sp>
        <p:nvSpPr>
          <p:cNvPr id="3" name="Symbol zastępczy stopki 2"/>
          <p:cNvSpPr>
            <a:spLocks noGrp="1"/>
          </p:cNvSpPr>
          <p:nvPr>
            <p:ph type="ftr" sz="quarter" idx="11"/>
          </p:nvPr>
        </p:nvSpPr>
        <p:spPr/>
        <p:txBody>
          <a:bodyPr/>
          <a:lstStyle/>
          <a:p>
            <a:endParaRPr lang="en-GB"/>
          </a:p>
        </p:txBody>
      </p:sp>
      <p:sp>
        <p:nvSpPr>
          <p:cNvPr id="4" name="Symbol zastępczy numeru slajdu 3"/>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1566027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endParaRPr lang="en-GB"/>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2CF4E646-8174-41FB-A6C3-6C3CAFB587E1}" type="datetimeFigureOut">
              <a:rPr lang="en-GB" smtClean="0"/>
              <a:t>24/01/2025</a:t>
            </a:fld>
            <a:endParaRPr lang="en-GB"/>
          </a:p>
        </p:txBody>
      </p:sp>
      <p:sp>
        <p:nvSpPr>
          <p:cNvPr id="6" name="Symbol zastępczy stopki 5"/>
          <p:cNvSpPr>
            <a:spLocks noGrp="1"/>
          </p:cNvSpPr>
          <p:nvPr>
            <p:ph type="ftr" sz="quarter" idx="11"/>
          </p:nvPr>
        </p:nvSpPr>
        <p:spPr/>
        <p:txBody>
          <a:bodyPr/>
          <a:lstStyle/>
          <a:p>
            <a:endParaRPr lang="en-GB"/>
          </a:p>
        </p:txBody>
      </p:sp>
      <p:sp>
        <p:nvSpPr>
          <p:cNvPr id="7" name="Symbol zastępczy numeru slajdu 6"/>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1500197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endParaRPr lang="en-GB"/>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2CF4E646-8174-41FB-A6C3-6C3CAFB587E1}" type="datetimeFigureOut">
              <a:rPr lang="en-GB" smtClean="0"/>
              <a:t>24/01/2025</a:t>
            </a:fld>
            <a:endParaRPr lang="en-GB"/>
          </a:p>
        </p:txBody>
      </p:sp>
      <p:sp>
        <p:nvSpPr>
          <p:cNvPr id="6" name="Symbol zastępczy stopki 5"/>
          <p:cNvSpPr>
            <a:spLocks noGrp="1"/>
          </p:cNvSpPr>
          <p:nvPr>
            <p:ph type="ftr" sz="quarter" idx="11"/>
          </p:nvPr>
        </p:nvSpPr>
        <p:spPr/>
        <p:txBody>
          <a:bodyPr/>
          <a:lstStyle/>
          <a:p>
            <a:endParaRPr lang="en-GB"/>
          </a:p>
        </p:txBody>
      </p:sp>
      <p:sp>
        <p:nvSpPr>
          <p:cNvPr id="7" name="Symbol zastępczy numeru slajdu 6"/>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2385635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2CF4E646-8174-41FB-A6C3-6C3CAFB587E1}" type="datetimeFigureOut">
              <a:rPr lang="en-GB" smtClean="0"/>
              <a:t>24/01/2025</a:t>
            </a:fld>
            <a:endParaRPr lang="en-GB"/>
          </a:p>
        </p:txBody>
      </p:sp>
      <p:sp>
        <p:nvSpPr>
          <p:cNvPr id="5" name="Symbol zastępczy stopki 4"/>
          <p:cNvSpPr>
            <a:spLocks noGrp="1"/>
          </p:cNvSpPr>
          <p:nvPr>
            <p:ph type="ftr" sz="quarter" idx="11"/>
          </p:nvPr>
        </p:nvSpPr>
        <p:spPr/>
        <p:txBody>
          <a:bodyPr/>
          <a:lstStyle/>
          <a:p>
            <a:endParaRPr lang="en-GB"/>
          </a:p>
        </p:txBody>
      </p:sp>
      <p:sp>
        <p:nvSpPr>
          <p:cNvPr id="6" name="Symbol zastępczy numeru slajdu 5"/>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27236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endParaRPr lang="en-GB"/>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2CF4E646-8174-41FB-A6C3-6C3CAFB587E1}" type="datetimeFigureOut">
              <a:rPr lang="en-GB" smtClean="0"/>
              <a:t>24/01/2025</a:t>
            </a:fld>
            <a:endParaRPr lang="en-GB"/>
          </a:p>
        </p:txBody>
      </p:sp>
      <p:sp>
        <p:nvSpPr>
          <p:cNvPr id="5" name="Symbol zastępczy stopki 4"/>
          <p:cNvSpPr>
            <a:spLocks noGrp="1"/>
          </p:cNvSpPr>
          <p:nvPr>
            <p:ph type="ftr" sz="quarter" idx="11"/>
          </p:nvPr>
        </p:nvSpPr>
        <p:spPr/>
        <p:txBody>
          <a:bodyPr/>
          <a:lstStyle/>
          <a:p>
            <a:endParaRPr lang="en-GB"/>
          </a:p>
        </p:txBody>
      </p:sp>
      <p:sp>
        <p:nvSpPr>
          <p:cNvPr id="6" name="Symbol zastępczy numeru slajdu 5"/>
          <p:cNvSpPr>
            <a:spLocks noGrp="1"/>
          </p:cNvSpPr>
          <p:nvPr>
            <p:ph type="sldNum" sz="quarter" idx="12"/>
          </p:nvPr>
        </p:nvSpPr>
        <p:spPr/>
        <p:txBody>
          <a:bodyPr/>
          <a:lstStyle/>
          <a:p>
            <a:fld id="{1ABA8196-E31A-43E5-BF4D-6DB729734025}" type="slidenum">
              <a:rPr lang="en-GB" smtClean="0"/>
              <a:t>‹#›</a:t>
            </a:fld>
            <a:endParaRPr lang="en-GB"/>
          </a:p>
        </p:txBody>
      </p:sp>
    </p:spTree>
    <p:extLst>
      <p:ext uri="{BB962C8B-B14F-4D97-AF65-F5344CB8AC3E}">
        <p14:creationId xmlns:p14="http://schemas.microsoft.com/office/powerpoint/2010/main" val="1494096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F4E646-8174-41FB-A6C3-6C3CAFB587E1}" type="datetimeFigureOut">
              <a:rPr lang="en-GB" smtClean="0"/>
              <a:t>24/01/2025</a:t>
            </a:fld>
            <a:endParaRPr lang="en-GB"/>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BA8196-E31A-43E5-BF4D-6DB729734025}" type="slidenum">
              <a:rPr lang="en-GB" smtClean="0"/>
              <a:t>‹#›</a:t>
            </a:fld>
            <a:endParaRPr lang="en-GB"/>
          </a:p>
        </p:txBody>
      </p:sp>
    </p:spTree>
    <p:extLst>
      <p:ext uri="{BB962C8B-B14F-4D97-AF65-F5344CB8AC3E}">
        <p14:creationId xmlns:p14="http://schemas.microsoft.com/office/powerpoint/2010/main" val="7656170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4.jpe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berniesanders.com/issues/fighting-to-lower-prescription-drug-prices/" TargetMode="External"/><Relationship Id="rId2" Type="http://schemas.openxmlformats.org/officeDocument/2006/relationships/hyperlink" Target="https://www.vox.com/a/health-prices" TargetMode="External"/><Relationship Id="rId1" Type="http://schemas.openxmlformats.org/officeDocument/2006/relationships/slideLayout" Target="../slideLayouts/slideLayout1.xml"/><Relationship Id="rId4" Type="http://schemas.openxmlformats.org/officeDocument/2006/relationships/hyperlink" Target="https://www.theguardian.com/us-news/2017/oct/25/americas-opioid-crisis-how-prescription-drugs-sparked-a-national-trauma"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forbes.com/sites/nathanpettijohn/2024/05/07/the-recurring-problems-with-subscription-services/" TargetMode="External"/><Relationship Id="rId2" Type="http://schemas.openxmlformats.org/officeDocument/2006/relationships/hyperlink" Target="https://www.washingtonpost.com/business/2025/01/18/snoo-bassinet-subscription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
          <p:cNvSpPr/>
          <p:nvPr/>
        </p:nvSpPr>
        <p:spPr>
          <a:xfrm>
            <a:off x="1907840" y="2505400"/>
            <a:ext cx="8100720" cy="234092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lstStyle/>
          <a:p>
            <a:pPr algn="ctr"/>
            <a:endParaRPr lang="en-GB" spc="-1" noProof="0" dirty="0">
              <a:solidFill>
                <a:prstClr val="black"/>
              </a:solidFill>
              <a:latin typeface="Arial"/>
            </a:endParaRPr>
          </a:p>
          <a:p>
            <a:pPr algn="ctr"/>
            <a:endParaRPr lang="en-GB" sz="4400" b="1" i="1" spc="-1" noProof="0" dirty="0">
              <a:solidFill>
                <a:srgbClr val="215968"/>
              </a:solidFill>
              <a:latin typeface="Calibri"/>
            </a:endParaRPr>
          </a:p>
          <a:p>
            <a:pPr algn="ctr"/>
            <a:r>
              <a:rPr lang="en-GB" sz="4400" b="1" i="1" spc="-1" noProof="0" dirty="0">
                <a:solidFill>
                  <a:srgbClr val="215968"/>
                </a:solidFill>
                <a:latin typeface="Calibri"/>
              </a:rPr>
              <a:t>Monopoly - Dynamic Pricing (early draft)  </a:t>
            </a:r>
            <a:endParaRPr lang="en-GB" sz="4400" spc="-1" noProof="0" dirty="0">
              <a:solidFill>
                <a:prstClr val="black"/>
              </a:solidFill>
              <a:latin typeface="Arial"/>
            </a:endParaRPr>
          </a:p>
          <a:p>
            <a:pPr algn="ctr"/>
            <a:endParaRPr lang="en-GB" sz="4400" spc="-1" noProof="0" dirty="0">
              <a:solidFill>
                <a:prstClr val="black"/>
              </a:solidFill>
              <a:latin typeface="Arial"/>
            </a:endParaRPr>
          </a:p>
          <a:p>
            <a:pPr algn="ctr"/>
            <a:endParaRPr lang="en-GB" sz="4400" spc="-1" noProof="0" dirty="0">
              <a:solidFill>
                <a:prstClr val="black"/>
              </a:solidFill>
              <a:latin typeface="Arial"/>
            </a:endParaRPr>
          </a:p>
        </p:txBody>
      </p:sp>
      <p:sp>
        <p:nvSpPr>
          <p:cNvPr id="171" name="CustomShape 2"/>
          <p:cNvSpPr/>
          <p:nvPr/>
        </p:nvSpPr>
        <p:spPr>
          <a:xfrm>
            <a:off x="454260" y="554720"/>
            <a:ext cx="8616600" cy="720360"/>
          </a:xfrm>
          <a:prstGeom prst="rect">
            <a:avLst/>
          </a:prstGeom>
          <a:solidFill>
            <a:srgbClr val="215968"/>
          </a:solidFill>
          <a:ln>
            <a:noFill/>
          </a:ln>
        </p:spPr>
        <p:style>
          <a:lnRef idx="0">
            <a:scrgbClr r="0" g="0" b="0"/>
          </a:lnRef>
          <a:fillRef idx="0">
            <a:scrgbClr r="0" g="0" b="0"/>
          </a:fillRef>
          <a:effectRef idx="0">
            <a:scrgbClr r="0" g="0" b="0"/>
          </a:effectRef>
          <a:fontRef idx="minor"/>
        </p:style>
        <p:txBody>
          <a:bodyPr lIns="90000" tIns="46800" rIns="90000" bIns="46800" anchor="ctr"/>
          <a:lstStyle/>
          <a:p>
            <a:r>
              <a:rPr lang="en-GB" sz="3200" b="1" i="1" spc="-1" noProof="0" dirty="0">
                <a:solidFill>
                  <a:srgbClr val="FFFFFF"/>
                </a:solidFill>
                <a:latin typeface="Calibri"/>
              </a:rPr>
              <a:t>WNE UW</a:t>
            </a:r>
            <a:endParaRPr lang="en-GB" sz="3200" spc="-1" noProof="0" dirty="0">
              <a:solidFill>
                <a:prstClr val="black"/>
              </a:solidFill>
              <a:latin typeface="Arial"/>
            </a:endParaRPr>
          </a:p>
        </p:txBody>
      </p:sp>
      <p:pic>
        <p:nvPicPr>
          <p:cNvPr id="172" name="Picture 3"/>
          <p:cNvPicPr/>
          <p:nvPr/>
        </p:nvPicPr>
        <p:blipFill>
          <a:blip r:embed="rId3"/>
          <a:stretch/>
        </p:blipFill>
        <p:spPr>
          <a:xfrm>
            <a:off x="9399900" y="261000"/>
            <a:ext cx="2337840" cy="1898280"/>
          </a:xfrm>
          <a:prstGeom prst="rect">
            <a:avLst/>
          </a:prstGeom>
          <a:ln>
            <a:noFill/>
          </a:ln>
          <a:effectLst>
            <a:outerShdw dist="138988" dir="2700000">
              <a:srgbClr val="333333">
                <a:alpha val="65000"/>
              </a:srgbClr>
            </a:outerShdw>
          </a:effectLst>
        </p:spPr>
      </p:pic>
    </p:spTree>
    <p:extLst>
      <p:ext uri="{BB962C8B-B14F-4D97-AF65-F5344CB8AC3E}">
        <p14:creationId xmlns:p14="http://schemas.microsoft.com/office/powerpoint/2010/main" val="5022756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6D30F-C0FF-E9B1-C8A3-6ABE845A9ADE}"/>
            </a:ext>
          </a:extLst>
        </p:cNvPr>
        <p:cNvGrpSpPr/>
        <p:nvPr/>
      </p:nvGrpSpPr>
      <p:grpSpPr>
        <a:xfrm>
          <a:off x="0" y="0"/>
          <a:ext cx="0" cy="0"/>
          <a:chOff x="0" y="0"/>
          <a:chExt cx="0" cy="0"/>
        </a:xfrm>
      </p:grpSpPr>
      <p:sp>
        <p:nvSpPr>
          <p:cNvPr id="5" name="Prostokąt 4">
            <a:extLst>
              <a:ext uri="{FF2B5EF4-FFF2-40B4-BE49-F238E27FC236}">
                <a16:creationId xmlns:a16="http://schemas.microsoft.com/office/drawing/2014/main" id="{F4245675-030B-3340-E8D0-A227EB66D3B8}"/>
              </a:ext>
            </a:extLst>
          </p:cNvPr>
          <p:cNvSpPr/>
          <p:nvPr/>
        </p:nvSpPr>
        <p:spPr>
          <a:xfrm>
            <a:off x="477520" y="1561852"/>
            <a:ext cx="11236960" cy="3970318"/>
          </a:xfrm>
          <a:prstGeom prst="rect">
            <a:avLst/>
          </a:prstGeom>
        </p:spPr>
        <p:txBody>
          <a:bodyPr wrap="square">
            <a:spAutoFit/>
          </a:bodyPr>
          <a:lstStyle/>
          <a:p>
            <a:r>
              <a:rPr lang="en-GB" sz="3600" b="1" noProof="0" dirty="0">
                <a:solidFill>
                  <a:srgbClr val="4BACC6">
                    <a:lumMod val="50000"/>
                  </a:srgbClr>
                </a:solidFill>
                <a:latin typeface="Calibri"/>
              </a:rPr>
              <a:t>The monopoly is defined as a single supplier but except for some rare example of government or natural monopolies, we can face with monopoly power not exactly with the monopoly. </a:t>
            </a:r>
          </a:p>
          <a:p>
            <a:endParaRPr lang="en-GB" sz="3600" b="1" noProof="0" dirty="0">
              <a:solidFill>
                <a:srgbClr val="4BACC6">
                  <a:lumMod val="50000"/>
                </a:srgbClr>
              </a:solidFill>
              <a:latin typeface="Calibri"/>
            </a:endParaRPr>
          </a:p>
          <a:p>
            <a:r>
              <a:rPr lang="en-GB" sz="3600" b="1" noProof="0" dirty="0">
                <a:solidFill>
                  <a:srgbClr val="4BACC6">
                    <a:lumMod val="50000"/>
                  </a:srgbClr>
                </a:solidFill>
                <a:latin typeface="Calibri"/>
              </a:rPr>
              <a:t>The power of the monopoly depends mainly on market e</a:t>
            </a:r>
            <a:r>
              <a:rPr lang="pl-PL" sz="3600" b="1" noProof="0" dirty="0">
                <a:solidFill>
                  <a:srgbClr val="4BACC6">
                    <a:lumMod val="50000"/>
                  </a:srgbClr>
                </a:solidFill>
                <a:latin typeface="Calibri"/>
              </a:rPr>
              <a:t>v</a:t>
            </a:r>
            <a:r>
              <a:rPr lang="en-GB" sz="3600" b="1" noProof="0" dirty="0" err="1">
                <a:solidFill>
                  <a:srgbClr val="4BACC6">
                    <a:lumMod val="50000"/>
                  </a:srgbClr>
                </a:solidFill>
                <a:latin typeface="Calibri"/>
              </a:rPr>
              <a:t>olution</a:t>
            </a:r>
            <a:r>
              <a:rPr lang="en-GB" sz="3600" b="1" noProof="0" dirty="0">
                <a:solidFill>
                  <a:srgbClr val="4BACC6">
                    <a:lumMod val="50000"/>
                  </a:srgbClr>
                </a:solidFill>
                <a:latin typeface="Calibri"/>
              </a:rPr>
              <a:t> or institutional settings. </a:t>
            </a:r>
          </a:p>
        </p:txBody>
      </p:sp>
      <p:sp>
        <p:nvSpPr>
          <p:cNvPr id="2" name="Tytuł 1">
            <a:extLst>
              <a:ext uri="{FF2B5EF4-FFF2-40B4-BE49-F238E27FC236}">
                <a16:creationId xmlns:a16="http://schemas.microsoft.com/office/drawing/2014/main" id="{C208E660-FD16-9BEC-6145-B05F83D4A86F}"/>
              </a:ext>
            </a:extLst>
          </p:cNvPr>
          <p:cNvSpPr>
            <a:spLocks noGrp="1"/>
          </p:cNvSpPr>
          <p:nvPr/>
        </p:nvSpPr>
        <p:spPr>
          <a:xfrm>
            <a:off x="0" y="0"/>
            <a:ext cx="12192000" cy="90872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0"/>
              </a:spcBef>
            </a:pPr>
            <a:r>
              <a:rPr lang="en-GB" sz="4400" b="1" noProof="0" dirty="0">
                <a:solidFill>
                  <a:srgbClr val="4BACC6">
                    <a:lumMod val="50000"/>
                  </a:srgbClr>
                </a:solidFill>
                <a:latin typeface="Arial" charset="0"/>
              </a:rPr>
              <a:t>Fundamental Concepts</a:t>
            </a:r>
          </a:p>
        </p:txBody>
      </p:sp>
    </p:spTree>
    <p:extLst>
      <p:ext uri="{BB962C8B-B14F-4D97-AF65-F5344CB8AC3E}">
        <p14:creationId xmlns:p14="http://schemas.microsoft.com/office/powerpoint/2010/main" val="795608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74378-94C1-F404-6BDC-C8003D892BB4}"/>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551612D0-3B1C-3CB8-C7B2-E071C6CD6501}"/>
              </a:ext>
            </a:extLst>
          </p:cNvPr>
          <p:cNvSpPr txBox="1">
            <a:spLocks noChangeArrowheads="1"/>
          </p:cNvSpPr>
          <p:nvPr/>
        </p:nvSpPr>
        <p:spPr bwMode="auto">
          <a:xfrm>
            <a:off x="91440" y="908720"/>
            <a:ext cx="11958320" cy="5512399"/>
          </a:xfrm>
          <a:prstGeom prst="rect">
            <a:avLst/>
          </a:prstGeom>
          <a:noFill/>
          <a:ln w="9525">
            <a:noFill/>
            <a:miter lim="800000"/>
            <a:headEnd/>
            <a:tailEnd/>
          </a:ln>
        </p:spPr>
        <p:txBody>
          <a:bodyPr/>
          <a:lstStyle/>
          <a:p>
            <a:pPr algn="just">
              <a:spcBef>
                <a:spcPct val="0"/>
              </a:spcBef>
            </a:pPr>
            <a:r>
              <a:rPr lang="en-GB" sz="2800" b="1" noProof="0" dirty="0">
                <a:solidFill>
                  <a:srgbClr val="4BACC6">
                    <a:lumMod val="50000"/>
                  </a:srgbClr>
                </a:solidFill>
                <a:latin typeface="Arial" charset="0"/>
              </a:rPr>
              <a:t>Sources of Monopoly Power:</a:t>
            </a:r>
          </a:p>
          <a:p>
            <a:pPr algn="just">
              <a:spcBef>
                <a:spcPct val="0"/>
              </a:spcBef>
            </a:pPr>
            <a:endParaRPr lang="en-GB" sz="2800" b="1" noProof="0" dirty="0">
              <a:solidFill>
                <a:srgbClr val="4BACC6">
                  <a:lumMod val="50000"/>
                </a:srgbClr>
              </a:solidFill>
              <a:latin typeface="Arial" charset="0"/>
            </a:endParaRPr>
          </a:p>
          <a:p>
            <a:pPr algn="just">
              <a:spcBef>
                <a:spcPct val="0"/>
              </a:spcBef>
            </a:pPr>
            <a:r>
              <a:rPr lang="en-GB" sz="2800" b="1" noProof="0" dirty="0">
                <a:solidFill>
                  <a:srgbClr val="4BACC6">
                    <a:lumMod val="50000"/>
                  </a:srgbClr>
                </a:solidFill>
                <a:latin typeface="Arial" charset="0"/>
              </a:rPr>
              <a:t>Government-Mandated Monopoly</a:t>
            </a:r>
          </a:p>
          <a:p>
            <a:pPr algn="just">
              <a:spcBef>
                <a:spcPct val="0"/>
              </a:spcBef>
            </a:pPr>
            <a:endParaRPr lang="en-GB" sz="2000" noProof="0" dirty="0">
              <a:solidFill>
                <a:srgbClr val="4BACC6">
                  <a:lumMod val="50000"/>
                </a:srgbClr>
              </a:solidFill>
              <a:latin typeface="Arial" charset="0"/>
            </a:endParaRPr>
          </a:p>
          <a:p>
            <a:pPr algn="just">
              <a:spcBef>
                <a:spcPct val="0"/>
              </a:spcBef>
            </a:pPr>
            <a:r>
              <a:rPr lang="en-GB" sz="2000" noProof="0" dirty="0">
                <a:solidFill>
                  <a:srgbClr val="4BACC6">
                    <a:lumMod val="50000"/>
                  </a:srgbClr>
                </a:solidFill>
                <a:latin typeface="Arial" charset="0"/>
              </a:rPr>
              <a:t>Examples include the exclusive right to print money, enforced by legal authority. </a:t>
            </a:r>
          </a:p>
          <a:p>
            <a:pPr algn="just">
              <a:spcBef>
                <a:spcPct val="0"/>
              </a:spcBef>
            </a:pPr>
            <a:endParaRPr lang="en-GB" sz="2000" noProof="0" dirty="0">
              <a:solidFill>
                <a:srgbClr val="4BACC6">
                  <a:lumMod val="50000"/>
                </a:srgbClr>
              </a:solidFill>
              <a:latin typeface="Arial" charset="0"/>
            </a:endParaRPr>
          </a:p>
          <a:p>
            <a:pPr algn="just">
              <a:spcBef>
                <a:spcPct val="0"/>
              </a:spcBef>
            </a:pPr>
            <a:r>
              <a:rPr lang="en-GB" sz="2000" noProof="0" dirty="0">
                <a:solidFill>
                  <a:srgbClr val="4BACC6">
                    <a:lumMod val="50000"/>
                  </a:srgbClr>
                </a:solidFill>
                <a:latin typeface="Arial" charset="0"/>
              </a:rPr>
              <a:t>Often arises from government intervention, such as licensing, regulation, or direct control over specific industries. This type of monopoly can serve as a tool for economic stability or public policy but may lead to inefficiencies and lack of competition. However, the relationship between the government and the market can give rise to rent-seeking </a:t>
            </a:r>
            <a:r>
              <a:rPr lang="en-GB" sz="2000" noProof="0" dirty="0" err="1">
                <a:solidFill>
                  <a:srgbClr val="4BACC6">
                    <a:lumMod val="50000"/>
                  </a:srgbClr>
                </a:solidFill>
                <a:latin typeface="Arial" charset="0"/>
              </a:rPr>
              <a:t>behavior</a:t>
            </a:r>
            <a:r>
              <a:rPr lang="en-GB" sz="2000" noProof="0" dirty="0">
                <a:solidFill>
                  <a:srgbClr val="4BACC6">
                    <a:lumMod val="50000"/>
                  </a:srgbClr>
                </a:solidFill>
                <a:latin typeface="Arial" charset="0"/>
              </a:rPr>
              <a:t>, where individuals or  organizations expend resources to secure exclusive privileges or advantages granted by the state, rather than contributing to productive economic activities. Rent-seeking can manifest in lobbying efforts to secure government-sanctioned monopolies, protective tariffs, or </a:t>
            </a:r>
            <a:r>
              <a:rPr lang="en-GB" sz="2000" noProof="0" dirty="0" err="1">
                <a:solidFill>
                  <a:srgbClr val="4BACC6">
                    <a:lumMod val="50000"/>
                  </a:srgbClr>
                </a:solidFill>
                <a:latin typeface="Arial" charset="0"/>
              </a:rPr>
              <a:t>favorable</a:t>
            </a:r>
            <a:r>
              <a:rPr lang="en-GB" sz="2000" noProof="0" dirty="0">
                <a:solidFill>
                  <a:srgbClr val="4BACC6">
                    <a:lumMod val="50000"/>
                  </a:srgbClr>
                </a:solidFill>
                <a:latin typeface="Arial" charset="0"/>
              </a:rPr>
              <a:t> regulations, which distort market outcomes and lead to a misallocation of resources. The concept of rent-seeking is brilliantly explored in Gordon </a:t>
            </a:r>
            <a:r>
              <a:rPr lang="en-GB" sz="2000" noProof="0" dirty="0" err="1">
                <a:solidFill>
                  <a:srgbClr val="4BACC6">
                    <a:lumMod val="50000"/>
                  </a:srgbClr>
                </a:solidFill>
                <a:latin typeface="Arial" charset="0"/>
              </a:rPr>
              <a:t>Tullock's</a:t>
            </a:r>
            <a:r>
              <a:rPr lang="en-GB" sz="2000" noProof="0" dirty="0">
                <a:solidFill>
                  <a:srgbClr val="4BACC6">
                    <a:lumMod val="50000"/>
                  </a:srgbClr>
                </a:solidFill>
                <a:latin typeface="Arial" charset="0"/>
              </a:rPr>
              <a:t> seminal 1966 article, "The Welfare Costs of Tariffs, Monopolies, and Theft", which remains highly relevant today. </a:t>
            </a:r>
            <a:r>
              <a:rPr lang="en-GB" sz="2000" b="1" noProof="0" dirty="0">
                <a:solidFill>
                  <a:srgbClr val="4BACC6">
                    <a:lumMod val="50000"/>
                  </a:srgbClr>
                </a:solidFill>
                <a:latin typeface="Arial" charset="0"/>
              </a:rPr>
              <a:t>https://devf21.classes.ryansafner.com/readings/Tullock-1967.pdf</a:t>
            </a:r>
          </a:p>
          <a:p>
            <a:pPr algn="just">
              <a:spcBef>
                <a:spcPct val="0"/>
              </a:spcBef>
            </a:pPr>
            <a:r>
              <a:rPr lang="en-GB" sz="2800" b="1" noProof="0" dirty="0">
                <a:solidFill>
                  <a:srgbClr val="4BACC6">
                    <a:lumMod val="50000"/>
                  </a:srgbClr>
                </a:solidFill>
                <a:latin typeface="Arial" charset="0"/>
              </a:rPr>
              <a:t>    </a:t>
            </a:r>
          </a:p>
        </p:txBody>
      </p:sp>
      <p:sp>
        <p:nvSpPr>
          <p:cNvPr id="7" name="Tytuł 1">
            <a:extLst>
              <a:ext uri="{FF2B5EF4-FFF2-40B4-BE49-F238E27FC236}">
                <a16:creationId xmlns:a16="http://schemas.microsoft.com/office/drawing/2014/main" id="{0584A811-B580-D132-0B9D-4923418ED1C0}"/>
              </a:ext>
            </a:extLst>
          </p:cNvPr>
          <p:cNvSpPr>
            <a:spLocks noGrp="1"/>
          </p:cNvSpPr>
          <p:nvPr/>
        </p:nvSpPr>
        <p:spPr>
          <a:xfrm>
            <a:off x="0" y="0"/>
            <a:ext cx="12192000" cy="90872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0"/>
              </a:spcBef>
            </a:pPr>
            <a:r>
              <a:rPr lang="en-GB" sz="4400" b="1" noProof="0" dirty="0">
                <a:solidFill>
                  <a:srgbClr val="4BACC6">
                    <a:lumMod val="50000"/>
                  </a:srgbClr>
                </a:solidFill>
                <a:latin typeface="Arial" charset="0"/>
              </a:rPr>
              <a:t>Fundamental Concepts </a:t>
            </a:r>
            <a:r>
              <a:rPr lang="en-GB" sz="2000" b="1" noProof="0" dirty="0">
                <a:solidFill>
                  <a:srgbClr val="4BACC6">
                    <a:lumMod val="50000"/>
                  </a:srgbClr>
                </a:solidFill>
                <a:latin typeface="Arial" charset="0"/>
              </a:rPr>
              <a:t>(chat </a:t>
            </a:r>
            <a:r>
              <a:rPr lang="en-GB" sz="2000" b="1" noProof="0" dirty="0" err="1">
                <a:solidFill>
                  <a:srgbClr val="4BACC6">
                    <a:lumMod val="50000"/>
                  </a:srgbClr>
                </a:solidFill>
                <a:latin typeface="Arial" charset="0"/>
              </a:rPr>
              <a:t>gpt</a:t>
            </a:r>
            <a:r>
              <a:rPr lang="en-GB" sz="2000" b="1" noProof="0" dirty="0">
                <a:solidFill>
                  <a:srgbClr val="4BACC6">
                    <a:lumMod val="50000"/>
                  </a:srgbClr>
                </a:solidFill>
                <a:latin typeface="Arial" charset="0"/>
              </a:rPr>
              <a:t> and my old work)</a:t>
            </a:r>
            <a:endParaRPr lang="en-GB" sz="4400" b="1" noProof="0" dirty="0">
              <a:solidFill>
                <a:srgbClr val="4BACC6">
                  <a:lumMod val="50000"/>
                </a:srgbClr>
              </a:solidFill>
              <a:latin typeface="Arial" charset="0"/>
            </a:endParaRPr>
          </a:p>
        </p:txBody>
      </p:sp>
    </p:spTree>
    <p:extLst>
      <p:ext uri="{BB962C8B-B14F-4D97-AF65-F5344CB8AC3E}">
        <p14:creationId xmlns:p14="http://schemas.microsoft.com/office/powerpoint/2010/main" val="1949402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E39B0-6FCC-9756-EE22-0067D25B4274}"/>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1E459C90-F51C-8712-7AC6-4ACBDB56CEC5}"/>
              </a:ext>
            </a:extLst>
          </p:cNvPr>
          <p:cNvSpPr txBox="1">
            <a:spLocks noChangeArrowheads="1"/>
          </p:cNvSpPr>
          <p:nvPr/>
        </p:nvSpPr>
        <p:spPr bwMode="auto">
          <a:xfrm>
            <a:off x="284480" y="997920"/>
            <a:ext cx="11424920" cy="5301280"/>
          </a:xfrm>
          <a:prstGeom prst="rect">
            <a:avLst/>
          </a:prstGeom>
          <a:noFill/>
          <a:ln w="9525">
            <a:noFill/>
            <a:miter lim="800000"/>
            <a:headEnd/>
            <a:tailEnd/>
          </a:ln>
        </p:spPr>
        <p:txBody>
          <a:bodyPr/>
          <a:lstStyle/>
          <a:p>
            <a:pPr algn="just">
              <a:spcBef>
                <a:spcPct val="0"/>
              </a:spcBef>
            </a:pPr>
            <a:r>
              <a:rPr lang="en-GB" sz="2800" b="1" noProof="0" dirty="0">
                <a:solidFill>
                  <a:srgbClr val="4BACC6">
                    <a:lumMod val="50000"/>
                  </a:srgbClr>
                </a:solidFill>
                <a:latin typeface="Arial" charset="0"/>
              </a:rPr>
              <a:t>Patents</a:t>
            </a:r>
          </a:p>
          <a:p>
            <a:pPr algn="just">
              <a:spcBef>
                <a:spcPct val="0"/>
              </a:spcBef>
            </a:pPr>
            <a:r>
              <a:rPr lang="en-GB" noProof="0" dirty="0">
                <a:solidFill>
                  <a:srgbClr val="4BACC6">
                    <a:lumMod val="50000"/>
                  </a:srgbClr>
                </a:solidFill>
                <a:latin typeface="Arial" charset="0"/>
              </a:rPr>
              <a:t>Intellectual property rights granting exclusivity to inventors or companies for a limited time.  Encourage innovation by protecting the creator's investment. However, patents can also create temporary monopolies, potentially limiting access to essential goods or technologies. However, patents can also create temporary monopolies, potentially limiting access to essential goods or technologies, especially in industries such as healthcare or technology. </a:t>
            </a:r>
          </a:p>
          <a:p>
            <a:pPr algn="just">
              <a:spcBef>
                <a:spcPct val="0"/>
              </a:spcBef>
            </a:pPr>
            <a:endParaRPr lang="en-GB" noProof="0" dirty="0">
              <a:solidFill>
                <a:srgbClr val="4BACC6">
                  <a:lumMod val="50000"/>
                </a:srgbClr>
              </a:solidFill>
              <a:latin typeface="Arial" charset="0"/>
            </a:endParaRPr>
          </a:p>
          <a:p>
            <a:pPr algn="just">
              <a:spcBef>
                <a:spcPct val="0"/>
              </a:spcBef>
            </a:pPr>
            <a:r>
              <a:rPr lang="en-GB" noProof="0" dirty="0">
                <a:solidFill>
                  <a:srgbClr val="4BACC6">
                    <a:lumMod val="50000"/>
                  </a:srgbClr>
                </a:solidFill>
                <a:latin typeface="Arial" charset="0"/>
              </a:rPr>
              <a:t>A notable consequence of the patent system is the emergence of patent wars, where companies aggressively use their patent portfolios as strategic weapons. Patent wars often involve suing competitors for infringement, filing defensive patents to block others, or acquiring large portfolios to strengthen market position. These conflicts are particularly prevalent in industries such as pharmaceuticals, software, and telecommunications, where innovation is rapid and patents play a central role in competition. While patents are intended to foster innovation, patent wars can lead to significant costs, such as:</a:t>
            </a:r>
          </a:p>
          <a:p>
            <a:pPr marL="263525" algn="just">
              <a:spcBef>
                <a:spcPct val="0"/>
              </a:spcBef>
              <a:buFont typeface="Arial" panose="020B0604020202020204" pitchFamily="34" charset="0"/>
              <a:buChar char="•"/>
            </a:pPr>
            <a:r>
              <a:rPr lang="en-GB" noProof="0" dirty="0">
                <a:solidFill>
                  <a:srgbClr val="4BACC6">
                    <a:lumMod val="50000"/>
                  </a:srgbClr>
                </a:solidFill>
                <a:latin typeface="Arial" charset="0"/>
              </a:rPr>
              <a:t> Legal expenses: Companies may spend billions on litigation rather than on research and development.</a:t>
            </a:r>
          </a:p>
          <a:p>
            <a:pPr marL="263525" algn="just">
              <a:spcBef>
                <a:spcPct val="0"/>
              </a:spcBef>
              <a:buFont typeface="Arial" panose="020B0604020202020204" pitchFamily="34" charset="0"/>
              <a:buChar char="•"/>
            </a:pPr>
            <a:r>
              <a:rPr lang="en-GB" noProof="0" dirty="0">
                <a:solidFill>
                  <a:srgbClr val="4BACC6">
                    <a:lumMod val="50000"/>
                  </a:srgbClr>
                </a:solidFill>
                <a:latin typeface="Arial" charset="0"/>
              </a:rPr>
              <a:t> Market delays: Products or technologies may be withheld from the market due to disputes over intellectual property rights.</a:t>
            </a:r>
          </a:p>
          <a:p>
            <a:pPr marL="263525" algn="just">
              <a:spcBef>
                <a:spcPct val="0"/>
              </a:spcBef>
              <a:buFont typeface="Arial" panose="020B0604020202020204" pitchFamily="34" charset="0"/>
              <a:buChar char="•"/>
            </a:pPr>
            <a:r>
              <a:rPr lang="en-GB" noProof="0" dirty="0">
                <a:solidFill>
                  <a:srgbClr val="4BACC6">
                    <a:lumMod val="50000"/>
                  </a:srgbClr>
                </a:solidFill>
                <a:latin typeface="Arial" charset="0"/>
              </a:rPr>
              <a:t> Patent trolling: Non-practicing entities (NPEs) or "patent trolls" acquire patents solely to extract licensing fees or settlements without contributing to innovation.</a:t>
            </a:r>
          </a:p>
        </p:txBody>
      </p:sp>
      <p:sp>
        <p:nvSpPr>
          <p:cNvPr id="2" name="Tytuł 1">
            <a:extLst>
              <a:ext uri="{FF2B5EF4-FFF2-40B4-BE49-F238E27FC236}">
                <a16:creationId xmlns:a16="http://schemas.microsoft.com/office/drawing/2014/main" id="{15D5CFB3-0E79-166E-CA46-40D5059BC033}"/>
              </a:ext>
            </a:extLst>
          </p:cNvPr>
          <p:cNvSpPr>
            <a:spLocks noGrp="1"/>
          </p:cNvSpPr>
          <p:nvPr/>
        </p:nvSpPr>
        <p:spPr>
          <a:xfrm>
            <a:off x="0" y="0"/>
            <a:ext cx="12192000" cy="90872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0"/>
              </a:spcBef>
            </a:pPr>
            <a:r>
              <a:rPr lang="en-GB" sz="4400" b="1" noProof="0" dirty="0">
                <a:solidFill>
                  <a:srgbClr val="4BACC6">
                    <a:lumMod val="50000"/>
                  </a:srgbClr>
                </a:solidFill>
                <a:latin typeface="Arial" charset="0"/>
              </a:rPr>
              <a:t>Fundamental Concepts </a:t>
            </a:r>
            <a:r>
              <a:rPr lang="en-GB" sz="2000" b="1" noProof="0" dirty="0">
                <a:solidFill>
                  <a:srgbClr val="4BACC6">
                    <a:lumMod val="50000"/>
                  </a:srgbClr>
                </a:solidFill>
                <a:latin typeface="Arial" charset="0"/>
              </a:rPr>
              <a:t>(chat </a:t>
            </a:r>
            <a:r>
              <a:rPr lang="en-GB" sz="2000" b="1" noProof="0" dirty="0" err="1">
                <a:solidFill>
                  <a:srgbClr val="4BACC6">
                    <a:lumMod val="50000"/>
                  </a:srgbClr>
                </a:solidFill>
                <a:latin typeface="Arial" charset="0"/>
              </a:rPr>
              <a:t>gpt</a:t>
            </a:r>
            <a:r>
              <a:rPr lang="en-GB" sz="2000" b="1" noProof="0" dirty="0">
                <a:solidFill>
                  <a:srgbClr val="4BACC6">
                    <a:lumMod val="50000"/>
                  </a:srgbClr>
                </a:solidFill>
                <a:latin typeface="Arial" charset="0"/>
              </a:rPr>
              <a:t> and my old work)</a:t>
            </a:r>
            <a:endParaRPr lang="en-GB" sz="4400" b="1" noProof="0" dirty="0">
              <a:solidFill>
                <a:srgbClr val="4BACC6">
                  <a:lumMod val="50000"/>
                </a:srgbClr>
              </a:solidFill>
              <a:latin typeface="Arial" charset="0"/>
            </a:endParaRPr>
          </a:p>
        </p:txBody>
      </p:sp>
    </p:spTree>
    <p:extLst>
      <p:ext uri="{BB962C8B-B14F-4D97-AF65-F5344CB8AC3E}">
        <p14:creationId xmlns:p14="http://schemas.microsoft.com/office/powerpoint/2010/main" val="467500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F23DE-9F0E-C858-8929-91E478A7E24F}"/>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EE13E2C6-7F68-EDD2-94A6-0DE90590B261}"/>
              </a:ext>
            </a:extLst>
          </p:cNvPr>
          <p:cNvSpPr txBox="1">
            <a:spLocks noChangeArrowheads="1"/>
          </p:cNvSpPr>
          <p:nvPr/>
        </p:nvSpPr>
        <p:spPr bwMode="auto">
          <a:xfrm>
            <a:off x="223520" y="908721"/>
            <a:ext cx="11643360" cy="5766400"/>
          </a:xfrm>
          <a:prstGeom prst="rect">
            <a:avLst/>
          </a:prstGeom>
          <a:noFill/>
          <a:ln w="9525">
            <a:noFill/>
            <a:miter lim="800000"/>
            <a:headEnd/>
            <a:tailEnd/>
          </a:ln>
        </p:spPr>
        <p:txBody>
          <a:bodyPr/>
          <a:lstStyle/>
          <a:p>
            <a:pPr>
              <a:spcBef>
                <a:spcPct val="0"/>
              </a:spcBef>
            </a:pPr>
            <a:r>
              <a:rPr lang="en-GB" sz="2800" b="1" noProof="0" dirty="0">
                <a:solidFill>
                  <a:srgbClr val="4BACC6">
                    <a:lumMod val="50000"/>
                  </a:srgbClr>
                </a:solidFill>
                <a:latin typeface="Arial" charset="0"/>
              </a:rPr>
              <a:t>Exclusive Ownership of Resources or Infrastructure</a:t>
            </a:r>
            <a:endParaRPr lang="en-GB" sz="2800" noProof="0" dirty="0">
              <a:solidFill>
                <a:srgbClr val="4BACC6">
                  <a:lumMod val="50000"/>
                </a:srgbClr>
              </a:solidFill>
              <a:latin typeface="Arial" charset="0"/>
            </a:endParaRPr>
          </a:p>
          <a:p>
            <a:pPr algn="just">
              <a:spcBef>
                <a:spcPct val="0"/>
              </a:spcBef>
            </a:pPr>
            <a:endParaRPr lang="en-GB" sz="2000" noProof="0" dirty="0">
              <a:solidFill>
                <a:srgbClr val="4BACC6">
                  <a:lumMod val="50000"/>
                </a:srgbClr>
              </a:solidFill>
              <a:latin typeface="Arial" charset="0"/>
            </a:endParaRPr>
          </a:p>
          <a:p>
            <a:pPr algn="just">
              <a:spcBef>
                <a:spcPct val="0"/>
              </a:spcBef>
            </a:pPr>
            <a:r>
              <a:rPr lang="en-GB" sz="2000" noProof="0" dirty="0">
                <a:solidFill>
                  <a:srgbClr val="4BACC6">
                    <a:lumMod val="50000"/>
                  </a:srgbClr>
                </a:solidFill>
                <a:latin typeface="Arial" charset="0"/>
              </a:rPr>
              <a:t>Control over scarce resources (e.g., minerals, energy sources) or critical infrastructure (e.g., railroads, ports). This exclusivity often prevents competitors from entering the market. Historically, such monopolies have influenced markets and economies on a global scale. In less-developed countries and post-socialist economies, the privatization of natural resources during economic transitions frequently led to their concentration in the hands of a small, powerful elite oligarchy. In post-socialist states, such as Russia or Ukraine, privatization programs in the 1990s resulted in the rise of oligarchs who gained control over vast natural resources and critical infrastructure (e.g., oil, gas, and mining). In less-developed economies, international corporations or domestic elites often exploit weak institutions to secure exclusive access to natural resources, further entrenching inequality and slowing economic progress. </a:t>
            </a:r>
          </a:p>
          <a:p>
            <a:pPr algn="just">
              <a:spcBef>
                <a:spcPct val="0"/>
              </a:spcBef>
            </a:pPr>
            <a:endParaRPr lang="en-GB" sz="2000" noProof="0" dirty="0">
              <a:solidFill>
                <a:srgbClr val="4BACC6">
                  <a:lumMod val="50000"/>
                </a:srgbClr>
              </a:solidFill>
              <a:latin typeface="Arial" charset="0"/>
            </a:endParaRPr>
          </a:p>
          <a:p>
            <a:pPr algn="just">
              <a:spcBef>
                <a:spcPct val="0"/>
              </a:spcBef>
            </a:pPr>
            <a:r>
              <a:rPr lang="en-GB" sz="2000" noProof="0" dirty="0">
                <a:solidFill>
                  <a:srgbClr val="4BACC6">
                    <a:lumMod val="50000"/>
                  </a:srgbClr>
                </a:solidFill>
                <a:latin typeface="Arial" charset="0"/>
              </a:rPr>
              <a:t>This phenomenon reflects the </a:t>
            </a:r>
            <a:r>
              <a:rPr lang="en-GB" sz="2000" b="1" noProof="0" dirty="0">
                <a:solidFill>
                  <a:srgbClr val="4BACC6">
                    <a:lumMod val="50000"/>
                  </a:srgbClr>
                </a:solidFill>
                <a:latin typeface="Arial" charset="0"/>
              </a:rPr>
              <a:t>resource curse paradox</a:t>
            </a:r>
            <a:r>
              <a:rPr lang="en-GB" sz="2000" noProof="0" dirty="0">
                <a:solidFill>
                  <a:srgbClr val="4BACC6">
                    <a:lumMod val="50000"/>
                  </a:srgbClr>
                </a:solidFill>
                <a:latin typeface="Arial" charset="0"/>
              </a:rPr>
              <a:t>, where countries rich in natural resources often experience slower economic growth, weaker democratic institutions, and higher poverty levels due to corruption, rent-seeking, and reliance on resource exports at the expense of diversified development.</a:t>
            </a:r>
          </a:p>
        </p:txBody>
      </p:sp>
      <p:sp>
        <p:nvSpPr>
          <p:cNvPr id="7" name="Tytuł 1">
            <a:extLst>
              <a:ext uri="{FF2B5EF4-FFF2-40B4-BE49-F238E27FC236}">
                <a16:creationId xmlns:a16="http://schemas.microsoft.com/office/drawing/2014/main" id="{CFC1F80A-FE13-7693-B790-DF0315EBA6C4}"/>
              </a:ext>
            </a:extLst>
          </p:cNvPr>
          <p:cNvSpPr>
            <a:spLocks noGrp="1"/>
          </p:cNvSpPr>
          <p:nvPr/>
        </p:nvSpPr>
        <p:spPr>
          <a:xfrm>
            <a:off x="0" y="0"/>
            <a:ext cx="12192000" cy="90872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0"/>
              </a:spcBef>
            </a:pPr>
            <a:r>
              <a:rPr lang="en-GB" sz="4400" b="1" noProof="0" dirty="0">
                <a:solidFill>
                  <a:srgbClr val="4BACC6">
                    <a:lumMod val="50000"/>
                  </a:srgbClr>
                </a:solidFill>
                <a:latin typeface="Arial" charset="0"/>
              </a:rPr>
              <a:t>Fundamental Concepts</a:t>
            </a:r>
            <a:r>
              <a:rPr kumimoji="0" lang="en-GB" sz="2000" b="1" i="0" u="none" strike="noStrike" kern="1200" cap="none" spc="0" normalizeH="0" baseline="0" noProof="0" dirty="0">
                <a:ln>
                  <a:noFill/>
                </a:ln>
                <a:solidFill>
                  <a:srgbClr val="4BACC6">
                    <a:lumMod val="50000"/>
                  </a:srgbClr>
                </a:solidFill>
                <a:effectLst/>
                <a:uLnTx/>
                <a:uFillTx/>
                <a:latin typeface="Arial" charset="0"/>
                <a:ea typeface="+mn-ea"/>
                <a:cs typeface="+mn-cs"/>
              </a:rPr>
              <a:t> (chat </a:t>
            </a:r>
            <a:r>
              <a:rPr kumimoji="0" lang="en-GB" sz="2000" b="1" i="0" u="none" strike="noStrike" kern="1200" cap="none" spc="0" normalizeH="0" baseline="0" noProof="0" dirty="0" err="1">
                <a:ln>
                  <a:noFill/>
                </a:ln>
                <a:solidFill>
                  <a:srgbClr val="4BACC6">
                    <a:lumMod val="50000"/>
                  </a:srgbClr>
                </a:solidFill>
                <a:effectLst/>
                <a:uLnTx/>
                <a:uFillTx/>
                <a:latin typeface="Arial" charset="0"/>
                <a:ea typeface="+mn-ea"/>
                <a:cs typeface="+mn-cs"/>
              </a:rPr>
              <a:t>gpt</a:t>
            </a:r>
            <a:r>
              <a:rPr kumimoji="0" lang="en-GB" sz="2000" b="1" i="0" u="none" strike="noStrike" kern="1200" cap="none" spc="0" normalizeH="0" baseline="0" noProof="0" dirty="0">
                <a:ln>
                  <a:noFill/>
                </a:ln>
                <a:solidFill>
                  <a:srgbClr val="4BACC6">
                    <a:lumMod val="50000"/>
                  </a:srgbClr>
                </a:solidFill>
                <a:effectLst/>
                <a:uLnTx/>
                <a:uFillTx/>
                <a:latin typeface="Arial" charset="0"/>
                <a:ea typeface="+mn-ea"/>
                <a:cs typeface="+mn-cs"/>
              </a:rPr>
              <a:t> and my old work)</a:t>
            </a:r>
            <a:endParaRPr lang="en-GB" sz="4400" b="1" noProof="0" dirty="0">
              <a:solidFill>
                <a:srgbClr val="4BACC6">
                  <a:lumMod val="50000"/>
                </a:srgbClr>
              </a:solidFill>
              <a:latin typeface="Arial" charset="0"/>
            </a:endParaRPr>
          </a:p>
        </p:txBody>
      </p:sp>
    </p:spTree>
    <p:extLst>
      <p:ext uri="{BB962C8B-B14F-4D97-AF65-F5344CB8AC3E}">
        <p14:creationId xmlns:p14="http://schemas.microsoft.com/office/powerpoint/2010/main" val="406428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70AFD-A12E-AB10-1D83-8CC5E49CEF55}"/>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F560D235-E6BC-6D19-7B79-FA01F2D25255}"/>
              </a:ext>
            </a:extLst>
          </p:cNvPr>
          <p:cNvSpPr txBox="1">
            <a:spLocks noChangeArrowheads="1"/>
          </p:cNvSpPr>
          <p:nvPr/>
        </p:nvSpPr>
        <p:spPr bwMode="auto">
          <a:xfrm>
            <a:off x="91440" y="908720"/>
            <a:ext cx="11958320" cy="5441279"/>
          </a:xfrm>
          <a:prstGeom prst="rect">
            <a:avLst/>
          </a:prstGeom>
          <a:noFill/>
          <a:ln w="9525">
            <a:noFill/>
            <a:miter lim="800000"/>
            <a:headEnd/>
            <a:tailEnd/>
          </a:ln>
        </p:spPr>
        <p:txBody>
          <a:bodyPr/>
          <a:lstStyle/>
          <a:p>
            <a:pPr>
              <a:spcBef>
                <a:spcPct val="0"/>
              </a:spcBef>
            </a:pPr>
            <a:r>
              <a:rPr lang="en-GB" sz="2800" b="1" noProof="0" dirty="0">
                <a:solidFill>
                  <a:srgbClr val="4BACC6">
                    <a:lumMod val="50000"/>
                  </a:srgbClr>
                </a:solidFill>
                <a:latin typeface="Arial" charset="0"/>
              </a:rPr>
              <a:t>Monopoly as a Natural Consequence of Competition</a:t>
            </a:r>
          </a:p>
          <a:p>
            <a:pPr algn="just">
              <a:spcBef>
                <a:spcPct val="0"/>
              </a:spcBef>
            </a:pPr>
            <a:endParaRPr lang="en-GB" sz="2400" noProof="0" dirty="0">
              <a:solidFill>
                <a:srgbClr val="4BACC6">
                  <a:lumMod val="50000"/>
                </a:srgbClr>
              </a:solidFill>
              <a:latin typeface="Arial" charset="0"/>
            </a:endParaRPr>
          </a:p>
          <a:p>
            <a:pPr algn="just">
              <a:spcBef>
                <a:spcPct val="0"/>
              </a:spcBef>
            </a:pPr>
            <a:r>
              <a:rPr lang="en-GB" sz="2400" noProof="0" dirty="0">
                <a:solidFill>
                  <a:srgbClr val="4BACC6">
                    <a:lumMod val="50000"/>
                  </a:srgbClr>
                </a:solidFill>
                <a:latin typeface="Arial" charset="0"/>
              </a:rPr>
              <a:t>Over time, intense competition can drive weaker firms out of the market, leaving only the strongest players. The most efficient or innovative company may dominate, gaining significant market power and eventually establishing a monopoly. This phenomenon is especially common in industries with high network effects (e.g., social media, e-commerce platforms) or economies of scale. For example, companies like Meta (formerly Facebook) and Google have leveraged network effects to consolidate their dominance, as their platforms become more valuable the more users they attract. These firms often use their market position to acquire potential competitors or integrate new services, further entrenching their dominance. While it reflects the survival of the fittest, such monopolistic tendencies may reduce consumer choice, limit competition, and stifle innovation by discouraging new entrants from challenging the status quo. This dynamic raises important questions about the role of regulation and antitrust enforcement in fostering a balanced, competitive marketplace. </a:t>
            </a:r>
          </a:p>
        </p:txBody>
      </p:sp>
      <p:sp>
        <p:nvSpPr>
          <p:cNvPr id="7" name="Tytuł 1">
            <a:extLst>
              <a:ext uri="{FF2B5EF4-FFF2-40B4-BE49-F238E27FC236}">
                <a16:creationId xmlns:a16="http://schemas.microsoft.com/office/drawing/2014/main" id="{DE51C8E7-A012-CA49-8E72-3B8E8C6A24A3}"/>
              </a:ext>
            </a:extLst>
          </p:cNvPr>
          <p:cNvSpPr>
            <a:spLocks noGrp="1"/>
          </p:cNvSpPr>
          <p:nvPr/>
        </p:nvSpPr>
        <p:spPr>
          <a:xfrm>
            <a:off x="0" y="0"/>
            <a:ext cx="12192000" cy="90872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0"/>
              </a:spcBef>
            </a:pPr>
            <a:r>
              <a:rPr lang="en-GB" sz="4400" b="1" noProof="0" dirty="0">
                <a:solidFill>
                  <a:srgbClr val="4BACC6">
                    <a:lumMod val="50000"/>
                  </a:srgbClr>
                </a:solidFill>
                <a:latin typeface="Arial" charset="0"/>
              </a:rPr>
              <a:t>Fundamental Concepts</a:t>
            </a:r>
            <a:r>
              <a:rPr kumimoji="0" lang="en-GB" sz="2000" b="1" i="0" u="none" strike="noStrike" kern="1200" cap="none" spc="0" normalizeH="0" baseline="0" noProof="0" dirty="0">
                <a:ln>
                  <a:noFill/>
                </a:ln>
                <a:solidFill>
                  <a:srgbClr val="4BACC6">
                    <a:lumMod val="50000"/>
                  </a:srgbClr>
                </a:solidFill>
                <a:effectLst/>
                <a:uLnTx/>
                <a:uFillTx/>
                <a:latin typeface="Arial" charset="0"/>
                <a:ea typeface="+mn-ea"/>
                <a:cs typeface="+mn-cs"/>
              </a:rPr>
              <a:t> (chat </a:t>
            </a:r>
            <a:r>
              <a:rPr kumimoji="0" lang="en-GB" sz="2000" b="1" i="0" u="none" strike="noStrike" kern="1200" cap="none" spc="0" normalizeH="0" baseline="0" noProof="0" dirty="0" err="1">
                <a:ln>
                  <a:noFill/>
                </a:ln>
                <a:solidFill>
                  <a:srgbClr val="4BACC6">
                    <a:lumMod val="50000"/>
                  </a:srgbClr>
                </a:solidFill>
                <a:effectLst/>
                <a:uLnTx/>
                <a:uFillTx/>
                <a:latin typeface="Arial" charset="0"/>
                <a:ea typeface="+mn-ea"/>
                <a:cs typeface="+mn-cs"/>
              </a:rPr>
              <a:t>gpt</a:t>
            </a:r>
            <a:r>
              <a:rPr kumimoji="0" lang="en-GB" sz="2000" b="1" i="0" u="none" strike="noStrike" kern="1200" cap="none" spc="0" normalizeH="0" baseline="0" noProof="0" dirty="0">
                <a:ln>
                  <a:noFill/>
                </a:ln>
                <a:solidFill>
                  <a:srgbClr val="4BACC6">
                    <a:lumMod val="50000"/>
                  </a:srgbClr>
                </a:solidFill>
                <a:effectLst/>
                <a:uLnTx/>
                <a:uFillTx/>
                <a:latin typeface="Arial" charset="0"/>
                <a:ea typeface="+mn-ea"/>
                <a:cs typeface="+mn-cs"/>
              </a:rPr>
              <a:t> and my old work)</a:t>
            </a:r>
            <a:endParaRPr lang="en-GB" sz="4400" b="1" noProof="0" dirty="0">
              <a:solidFill>
                <a:srgbClr val="4BACC6">
                  <a:lumMod val="50000"/>
                </a:srgbClr>
              </a:solidFill>
              <a:latin typeface="Arial" charset="0"/>
            </a:endParaRPr>
          </a:p>
        </p:txBody>
      </p:sp>
    </p:spTree>
    <p:extLst>
      <p:ext uri="{BB962C8B-B14F-4D97-AF65-F5344CB8AC3E}">
        <p14:creationId xmlns:p14="http://schemas.microsoft.com/office/powerpoint/2010/main" val="95290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377BC-7BC4-D061-6C4A-3B771C9381B2}"/>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D0945CD0-2B3B-7F0B-4BD7-321E8F3391F0}"/>
              </a:ext>
            </a:extLst>
          </p:cNvPr>
          <p:cNvSpPr txBox="1">
            <a:spLocks noChangeArrowheads="1"/>
          </p:cNvSpPr>
          <p:nvPr/>
        </p:nvSpPr>
        <p:spPr bwMode="auto">
          <a:xfrm>
            <a:off x="91440" y="908721"/>
            <a:ext cx="11958320" cy="3663280"/>
          </a:xfrm>
          <a:prstGeom prst="rect">
            <a:avLst/>
          </a:prstGeom>
          <a:noFill/>
          <a:ln w="9525">
            <a:noFill/>
            <a:miter lim="800000"/>
            <a:headEnd/>
            <a:tailEnd/>
          </a:ln>
        </p:spPr>
        <p:txBody>
          <a:bodyPr/>
          <a:lstStyle/>
          <a:p>
            <a:pPr>
              <a:spcBef>
                <a:spcPct val="0"/>
              </a:spcBef>
            </a:pPr>
            <a:r>
              <a:rPr lang="en-GB" sz="2800" b="1" noProof="0" dirty="0">
                <a:solidFill>
                  <a:srgbClr val="4BACC6">
                    <a:lumMod val="50000"/>
                  </a:srgbClr>
                </a:solidFill>
                <a:latin typeface="Arial" charset="0"/>
              </a:rPr>
              <a:t>Formation of Cartels</a:t>
            </a:r>
          </a:p>
          <a:p>
            <a:pPr>
              <a:spcBef>
                <a:spcPct val="0"/>
              </a:spcBef>
            </a:pPr>
            <a:endParaRPr lang="en-GB" sz="2800" b="1" noProof="0" dirty="0">
              <a:solidFill>
                <a:srgbClr val="4BACC6">
                  <a:lumMod val="50000"/>
                </a:srgbClr>
              </a:solidFill>
              <a:latin typeface="Arial" charset="0"/>
            </a:endParaRPr>
          </a:p>
          <a:p>
            <a:pPr>
              <a:spcBef>
                <a:spcPct val="0"/>
              </a:spcBef>
            </a:pPr>
            <a:r>
              <a:rPr lang="en-GB" sz="2800" noProof="0" dirty="0">
                <a:solidFill>
                  <a:srgbClr val="4BACC6">
                    <a:lumMod val="50000"/>
                  </a:srgbClr>
                </a:solidFill>
                <a:latin typeface="Arial" charset="0"/>
              </a:rPr>
              <a:t>Agreements between companies to control prices, production, or market shares, effectively monopolizing the market. Reduces competition and leads to higher prices for consumers. Cartels are typically illegal but can persist in less regulated markets or through tacit collusion.</a:t>
            </a:r>
            <a:endParaRPr lang="en-GB" sz="2400" noProof="0" dirty="0">
              <a:solidFill>
                <a:srgbClr val="4BACC6">
                  <a:lumMod val="50000"/>
                </a:srgbClr>
              </a:solidFill>
              <a:latin typeface="Arial" charset="0"/>
            </a:endParaRPr>
          </a:p>
        </p:txBody>
      </p:sp>
      <p:sp>
        <p:nvSpPr>
          <p:cNvPr id="7" name="Tytuł 1">
            <a:extLst>
              <a:ext uri="{FF2B5EF4-FFF2-40B4-BE49-F238E27FC236}">
                <a16:creationId xmlns:a16="http://schemas.microsoft.com/office/drawing/2014/main" id="{F5C77A3A-90AC-DB84-43E6-4DC96B99202C}"/>
              </a:ext>
            </a:extLst>
          </p:cNvPr>
          <p:cNvSpPr>
            <a:spLocks noGrp="1"/>
          </p:cNvSpPr>
          <p:nvPr/>
        </p:nvSpPr>
        <p:spPr>
          <a:xfrm>
            <a:off x="0" y="0"/>
            <a:ext cx="12192000" cy="90872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0"/>
              </a:spcBef>
            </a:pPr>
            <a:r>
              <a:rPr lang="en-GB" sz="4400" b="1" noProof="0" dirty="0">
                <a:solidFill>
                  <a:srgbClr val="4BACC6">
                    <a:lumMod val="50000"/>
                  </a:srgbClr>
                </a:solidFill>
                <a:latin typeface="Arial" charset="0"/>
              </a:rPr>
              <a:t>Fundamental Concepts</a:t>
            </a:r>
            <a:r>
              <a:rPr kumimoji="0" lang="en-GB" sz="2000" b="1" i="0" u="none" strike="noStrike" kern="1200" cap="none" spc="0" normalizeH="0" baseline="0" noProof="0" dirty="0">
                <a:ln>
                  <a:noFill/>
                </a:ln>
                <a:solidFill>
                  <a:srgbClr val="4BACC6">
                    <a:lumMod val="50000"/>
                  </a:srgbClr>
                </a:solidFill>
                <a:effectLst/>
                <a:uLnTx/>
                <a:uFillTx/>
                <a:latin typeface="Arial" charset="0"/>
                <a:ea typeface="+mn-ea"/>
                <a:cs typeface="+mn-cs"/>
              </a:rPr>
              <a:t> (chat </a:t>
            </a:r>
            <a:r>
              <a:rPr kumimoji="0" lang="en-GB" sz="2000" b="1" i="0" u="none" strike="noStrike" kern="1200" cap="none" spc="0" normalizeH="0" baseline="0" noProof="0" dirty="0" err="1">
                <a:ln>
                  <a:noFill/>
                </a:ln>
                <a:solidFill>
                  <a:srgbClr val="4BACC6">
                    <a:lumMod val="50000"/>
                  </a:srgbClr>
                </a:solidFill>
                <a:effectLst/>
                <a:uLnTx/>
                <a:uFillTx/>
                <a:latin typeface="Arial" charset="0"/>
                <a:ea typeface="+mn-ea"/>
                <a:cs typeface="+mn-cs"/>
              </a:rPr>
              <a:t>gpt</a:t>
            </a:r>
            <a:r>
              <a:rPr kumimoji="0" lang="en-GB" sz="2000" b="1" i="0" u="none" strike="noStrike" kern="1200" cap="none" spc="0" normalizeH="0" baseline="0" noProof="0" dirty="0">
                <a:ln>
                  <a:noFill/>
                </a:ln>
                <a:solidFill>
                  <a:srgbClr val="4BACC6">
                    <a:lumMod val="50000"/>
                  </a:srgbClr>
                </a:solidFill>
                <a:effectLst/>
                <a:uLnTx/>
                <a:uFillTx/>
                <a:latin typeface="Arial" charset="0"/>
                <a:ea typeface="+mn-ea"/>
                <a:cs typeface="+mn-cs"/>
              </a:rPr>
              <a:t> and my old work)</a:t>
            </a:r>
            <a:endParaRPr lang="en-GB" sz="4400" b="1" noProof="0" dirty="0">
              <a:solidFill>
                <a:srgbClr val="4BACC6">
                  <a:lumMod val="50000"/>
                </a:srgbClr>
              </a:solidFill>
              <a:latin typeface="Arial" charset="0"/>
            </a:endParaRPr>
          </a:p>
        </p:txBody>
      </p:sp>
    </p:spTree>
    <p:extLst>
      <p:ext uri="{BB962C8B-B14F-4D97-AF65-F5344CB8AC3E}">
        <p14:creationId xmlns:p14="http://schemas.microsoft.com/office/powerpoint/2010/main" val="3448254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C947-3FC0-69A9-B72C-399ABCAF8F84}"/>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440382BB-AD94-E9D2-E139-AA34CDDFD655}"/>
              </a:ext>
            </a:extLst>
          </p:cNvPr>
          <p:cNvSpPr txBox="1">
            <a:spLocks noChangeArrowheads="1"/>
          </p:cNvSpPr>
          <p:nvPr/>
        </p:nvSpPr>
        <p:spPr bwMode="auto">
          <a:xfrm>
            <a:off x="91440" y="908720"/>
            <a:ext cx="11958320" cy="5563199"/>
          </a:xfrm>
          <a:prstGeom prst="rect">
            <a:avLst/>
          </a:prstGeom>
          <a:noFill/>
          <a:ln w="9525">
            <a:noFill/>
            <a:miter lim="800000"/>
            <a:headEnd/>
            <a:tailEnd/>
          </a:ln>
        </p:spPr>
        <p:txBody>
          <a:bodyPr/>
          <a:lstStyle/>
          <a:p>
            <a:pPr>
              <a:spcBef>
                <a:spcPct val="0"/>
              </a:spcBef>
            </a:pPr>
            <a:r>
              <a:rPr lang="en-GB" sz="2800" b="1" noProof="0" dirty="0">
                <a:solidFill>
                  <a:srgbClr val="4BACC6">
                    <a:lumMod val="50000"/>
                  </a:srgbClr>
                </a:solidFill>
                <a:latin typeface="Arial" charset="0"/>
              </a:rPr>
              <a:t>Natural Monopoly !!!!</a:t>
            </a:r>
          </a:p>
          <a:p>
            <a:pPr algn="just">
              <a:spcBef>
                <a:spcPct val="0"/>
              </a:spcBef>
            </a:pPr>
            <a:endParaRPr lang="en-GB" sz="2400" noProof="0" dirty="0">
              <a:solidFill>
                <a:srgbClr val="4BACC6">
                  <a:lumMod val="50000"/>
                </a:srgbClr>
              </a:solidFill>
              <a:latin typeface="Arial" charset="0"/>
            </a:endParaRPr>
          </a:p>
          <a:p>
            <a:pPr algn="just">
              <a:spcBef>
                <a:spcPct val="0"/>
              </a:spcBef>
            </a:pPr>
            <a:r>
              <a:rPr lang="en-GB" sz="2400" noProof="0" dirty="0">
                <a:solidFill>
                  <a:srgbClr val="4BACC6">
                    <a:lumMod val="50000"/>
                  </a:srgbClr>
                </a:solidFill>
                <a:latin typeface="Arial" charset="0"/>
              </a:rPr>
              <a:t>A natural monopoly occurs in industries with high fixed costs and significant economies of scale, where a single provider can operate more efficiently than multiple competitors. This is common in sectors like water supply, electricity, and telecommunications. Historically, telecommunications, such as fixed-line telephony, required vast infrastructure investments, leading to national operators dominating the market. However, technology is transforming these dynamics in two ways. On one hand, advancements can reduce barriers, as seen in telecommunications, where competition emerged with mobile networks and internet-based communication. On the other hand, modern industries like AI show the opposite trend, where developing and training large-scale models demands immense resources for data acquisition and processing, reinforcing monopolistic tendencies. Nevertheless, similar to the historical evolution in telecommunications, one can expect that technological advancements and regulatory changes might eventually lead to more competition in AI-driven markets.</a:t>
            </a:r>
          </a:p>
          <a:p>
            <a:pPr>
              <a:spcBef>
                <a:spcPct val="0"/>
              </a:spcBef>
            </a:pPr>
            <a:endParaRPr lang="en-GB" sz="2800" b="1" noProof="0" dirty="0">
              <a:solidFill>
                <a:srgbClr val="4BACC6">
                  <a:lumMod val="50000"/>
                </a:srgbClr>
              </a:solidFill>
              <a:latin typeface="Arial" charset="0"/>
            </a:endParaRPr>
          </a:p>
        </p:txBody>
      </p:sp>
      <p:sp>
        <p:nvSpPr>
          <p:cNvPr id="7" name="Tytuł 1">
            <a:extLst>
              <a:ext uri="{FF2B5EF4-FFF2-40B4-BE49-F238E27FC236}">
                <a16:creationId xmlns:a16="http://schemas.microsoft.com/office/drawing/2014/main" id="{FA7C7419-86DE-034F-18A4-B4A4AD49AD2D}"/>
              </a:ext>
            </a:extLst>
          </p:cNvPr>
          <p:cNvSpPr>
            <a:spLocks noGrp="1"/>
          </p:cNvSpPr>
          <p:nvPr/>
        </p:nvSpPr>
        <p:spPr>
          <a:xfrm>
            <a:off x="0" y="0"/>
            <a:ext cx="12192000" cy="90872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0"/>
              </a:spcBef>
            </a:pPr>
            <a:r>
              <a:rPr lang="en-GB" sz="4400" b="1" noProof="0" dirty="0">
                <a:solidFill>
                  <a:srgbClr val="4BACC6">
                    <a:lumMod val="50000"/>
                  </a:srgbClr>
                </a:solidFill>
                <a:latin typeface="Arial" charset="0"/>
              </a:rPr>
              <a:t>Fundamental Concepts</a:t>
            </a:r>
            <a:r>
              <a:rPr kumimoji="0" lang="en-GB" sz="2000" b="1" i="0" u="none" strike="noStrike" kern="1200" cap="none" spc="0" normalizeH="0" baseline="0" noProof="0" dirty="0">
                <a:ln>
                  <a:noFill/>
                </a:ln>
                <a:solidFill>
                  <a:srgbClr val="4BACC6">
                    <a:lumMod val="50000"/>
                  </a:srgbClr>
                </a:solidFill>
                <a:effectLst/>
                <a:uLnTx/>
                <a:uFillTx/>
                <a:latin typeface="Arial" charset="0"/>
                <a:ea typeface="+mn-ea"/>
                <a:cs typeface="+mn-cs"/>
              </a:rPr>
              <a:t> (chat </a:t>
            </a:r>
            <a:r>
              <a:rPr kumimoji="0" lang="en-GB" sz="2000" b="1" i="0" u="none" strike="noStrike" kern="1200" cap="none" spc="0" normalizeH="0" baseline="0" noProof="0" dirty="0" err="1">
                <a:ln>
                  <a:noFill/>
                </a:ln>
                <a:solidFill>
                  <a:srgbClr val="4BACC6">
                    <a:lumMod val="50000"/>
                  </a:srgbClr>
                </a:solidFill>
                <a:effectLst/>
                <a:uLnTx/>
                <a:uFillTx/>
                <a:latin typeface="Arial" charset="0"/>
                <a:ea typeface="+mn-ea"/>
                <a:cs typeface="+mn-cs"/>
              </a:rPr>
              <a:t>gpt</a:t>
            </a:r>
            <a:r>
              <a:rPr kumimoji="0" lang="en-GB" sz="2000" b="1" i="0" u="none" strike="noStrike" kern="1200" cap="none" spc="0" normalizeH="0" baseline="0" noProof="0" dirty="0">
                <a:ln>
                  <a:noFill/>
                </a:ln>
                <a:solidFill>
                  <a:srgbClr val="4BACC6">
                    <a:lumMod val="50000"/>
                  </a:srgbClr>
                </a:solidFill>
                <a:effectLst/>
                <a:uLnTx/>
                <a:uFillTx/>
                <a:latin typeface="Arial" charset="0"/>
                <a:ea typeface="+mn-ea"/>
                <a:cs typeface="+mn-cs"/>
              </a:rPr>
              <a:t> and my old work)</a:t>
            </a:r>
            <a:endParaRPr lang="en-GB" sz="4400" b="1" noProof="0" dirty="0">
              <a:solidFill>
                <a:srgbClr val="4BACC6">
                  <a:lumMod val="50000"/>
                </a:srgbClr>
              </a:solidFill>
              <a:latin typeface="Arial" charset="0"/>
            </a:endParaRPr>
          </a:p>
        </p:txBody>
      </p:sp>
    </p:spTree>
    <p:extLst>
      <p:ext uri="{BB962C8B-B14F-4D97-AF65-F5344CB8AC3E}">
        <p14:creationId xmlns:p14="http://schemas.microsoft.com/office/powerpoint/2010/main" val="353407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t0.gstatic.com/images?q=tbn:ANd9GcQ9rl2FTMNKHXGCMxjemWuyOZSmpVvQBpKJAgW3rRLXa2QjfQI&amp;t=1&amp;usg=__lomtjw5t6VRfX51S1EELan7Cwco="/>
          <p:cNvPicPr>
            <a:picLocks noChangeAspect="1" noChangeArrowheads="1"/>
          </p:cNvPicPr>
          <p:nvPr/>
        </p:nvPicPr>
        <p:blipFill>
          <a:blip r:embed="rId3" cstate="print"/>
          <a:srcRect/>
          <a:stretch>
            <a:fillRect/>
          </a:stretch>
        </p:blipFill>
        <p:spPr bwMode="auto">
          <a:xfrm>
            <a:off x="279832" y="1342711"/>
            <a:ext cx="1949574" cy="2967210"/>
          </a:xfrm>
          <a:prstGeom prst="rect">
            <a:avLst/>
          </a:prstGeom>
          <a:noFill/>
        </p:spPr>
      </p:pic>
      <p:pic>
        <p:nvPicPr>
          <p:cNvPr id="2052" name="Picture 4" descr="marx"/>
          <p:cNvPicPr>
            <a:picLocks noChangeAspect="1" noChangeArrowheads="1"/>
          </p:cNvPicPr>
          <p:nvPr/>
        </p:nvPicPr>
        <p:blipFill>
          <a:blip r:embed="rId4" cstate="print"/>
          <a:srcRect/>
          <a:stretch>
            <a:fillRect/>
          </a:stretch>
        </p:blipFill>
        <p:spPr bwMode="auto">
          <a:xfrm>
            <a:off x="2471411" y="1342628"/>
            <a:ext cx="2007121" cy="2922992"/>
          </a:xfrm>
          <a:prstGeom prst="rect">
            <a:avLst/>
          </a:prstGeom>
          <a:noFill/>
        </p:spPr>
      </p:pic>
      <p:sp>
        <p:nvSpPr>
          <p:cNvPr id="24" name="Prostokąt 23"/>
          <p:cNvSpPr/>
          <p:nvPr/>
        </p:nvSpPr>
        <p:spPr>
          <a:xfrm>
            <a:off x="4771879" y="4399282"/>
            <a:ext cx="2088232" cy="400110"/>
          </a:xfrm>
          <a:prstGeom prst="rect">
            <a:avLst/>
          </a:prstGeom>
        </p:spPr>
        <p:txBody>
          <a:bodyPr wrap="square">
            <a:spAutoFit/>
          </a:bodyPr>
          <a:lstStyle/>
          <a:p>
            <a:pPr algn="ctr"/>
            <a:r>
              <a:rPr lang="en-GB" sz="2000" b="1" noProof="0" dirty="0">
                <a:solidFill>
                  <a:schemeClr val="accent5">
                    <a:lumMod val="50000"/>
                  </a:schemeClr>
                </a:solidFill>
              </a:rPr>
              <a:t>Milton Friedman</a:t>
            </a:r>
          </a:p>
        </p:txBody>
      </p:sp>
      <p:pic>
        <p:nvPicPr>
          <p:cNvPr id="2054" name="Picture 6" descr="http://mbatm27.files.wordpress.com/2007/11/11152007_milton_friedman1.jpg?w=406"/>
          <p:cNvPicPr>
            <a:picLocks noChangeAspect="1" noChangeArrowheads="1"/>
          </p:cNvPicPr>
          <p:nvPr/>
        </p:nvPicPr>
        <p:blipFill>
          <a:blip r:embed="rId5" cstate="print"/>
          <a:srcRect/>
          <a:stretch>
            <a:fillRect/>
          </a:stretch>
        </p:blipFill>
        <p:spPr bwMode="auto">
          <a:xfrm>
            <a:off x="4721255" y="1342628"/>
            <a:ext cx="2026526" cy="2922992"/>
          </a:xfrm>
          <a:prstGeom prst="rect">
            <a:avLst/>
          </a:prstGeom>
          <a:noFill/>
        </p:spPr>
      </p:pic>
      <p:sp>
        <p:nvSpPr>
          <p:cNvPr id="26" name="Prostokąt 25"/>
          <p:cNvSpPr/>
          <p:nvPr/>
        </p:nvSpPr>
        <p:spPr>
          <a:xfrm>
            <a:off x="141174" y="4399209"/>
            <a:ext cx="2088232" cy="400110"/>
          </a:xfrm>
          <a:prstGeom prst="rect">
            <a:avLst/>
          </a:prstGeom>
        </p:spPr>
        <p:txBody>
          <a:bodyPr wrap="square">
            <a:spAutoFit/>
          </a:bodyPr>
          <a:lstStyle/>
          <a:p>
            <a:pPr algn="ctr"/>
            <a:r>
              <a:rPr lang="en-GB" sz="2000" b="1" noProof="0" dirty="0">
                <a:solidFill>
                  <a:schemeClr val="accent5">
                    <a:lumMod val="50000"/>
                  </a:schemeClr>
                </a:solidFill>
              </a:rPr>
              <a:t>Thomas Aquinas</a:t>
            </a:r>
          </a:p>
        </p:txBody>
      </p:sp>
      <p:sp>
        <p:nvSpPr>
          <p:cNvPr id="27" name="Prostokąt 26"/>
          <p:cNvSpPr/>
          <p:nvPr/>
        </p:nvSpPr>
        <p:spPr>
          <a:xfrm>
            <a:off x="2316894" y="4429617"/>
            <a:ext cx="2088232" cy="400110"/>
          </a:xfrm>
          <a:prstGeom prst="rect">
            <a:avLst/>
          </a:prstGeom>
        </p:spPr>
        <p:txBody>
          <a:bodyPr wrap="square">
            <a:spAutoFit/>
          </a:bodyPr>
          <a:lstStyle/>
          <a:p>
            <a:pPr algn="ctr"/>
            <a:r>
              <a:rPr lang="en-GB" sz="2000" b="1" noProof="0" dirty="0">
                <a:solidFill>
                  <a:schemeClr val="accent5">
                    <a:lumMod val="50000"/>
                  </a:schemeClr>
                </a:solidFill>
              </a:rPr>
              <a:t>Karl Marx</a:t>
            </a:r>
          </a:p>
        </p:txBody>
      </p:sp>
      <p:sp>
        <p:nvSpPr>
          <p:cNvPr id="2" name="Tytuł 1">
            <a:extLst>
              <a:ext uri="{FF2B5EF4-FFF2-40B4-BE49-F238E27FC236}">
                <a16:creationId xmlns:a16="http://schemas.microsoft.com/office/drawing/2014/main" id="{5CE4A258-B2BF-D900-BD28-4D97206D1D8F}"/>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0"/>
              </a:spcBef>
            </a:pPr>
            <a:r>
              <a:rPr lang="en-GB" sz="4400" b="1" noProof="0" dirty="0">
                <a:solidFill>
                  <a:srgbClr val="4BACC6">
                    <a:lumMod val="50000"/>
                  </a:srgbClr>
                </a:solidFill>
                <a:latin typeface="Arial" charset="0"/>
              </a:rPr>
              <a:t>We do not address the question:</a:t>
            </a:r>
          </a:p>
          <a:p>
            <a:pPr>
              <a:spcBef>
                <a:spcPct val="0"/>
              </a:spcBef>
            </a:pPr>
            <a:r>
              <a:rPr lang="en-GB" sz="4400" b="1" noProof="0" dirty="0">
                <a:solidFill>
                  <a:srgbClr val="4BACC6">
                    <a:lumMod val="50000"/>
                  </a:srgbClr>
                </a:solidFill>
                <a:latin typeface="Arial" charset="0"/>
              </a:rPr>
              <a:t>What should prices be? </a:t>
            </a:r>
          </a:p>
        </p:txBody>
      </p:sp>
      <p:sp>
        <p:nvSpPr>
          <p:cNvPr id="6" name="TextBox 5">
            <a:extLst>
              <a:ext uri="{FF2B5EF4-FFF2-40B4-BE49-F238E27FC236}">
                <a16:creationId xmlns:a16="http://schemas.microsoft.com/office/drawing/2014/main" id="{B741D4B3-D29F-0AB9-1886-EC126023F738}"/>
              </a:ext>
            </a:extLst>
          </p:cNvPr>
          <p:cNvSpPr txBox="1"/>
          <p:nvPr/>
        </p:nvSpPr>
        <p:spPr>
          <a:xfrm>
            <a:off x="177102" y="5025457"/>
            <a:ext cx="7172266" cy="1384995"/>
          </a:xfrm>
          <a:prstGeom prst="rect">
            <a:avLst/>
          </a:prstGeom>
          <a:noFill/>
        </p:spPr>
        <p:txBody>
          <a:bodyPr wrap="square">
            <a:spAutoFit/>
          </a:bodyPr>
          <a:lstStyle/>
          <a:p>
            <a:pPr algn="just"/>
            <a:r>
              <a:rPr lang="en-GB" sz="2800" noProof="0" dirty="0">
                <a:solidFill>
                  <a:schemeClr val="accent5">
                    <a:lumMod val="50000"/>
                  </a:schemeClr>
                </a:solidFill>
              </a:rPr>
              <a:t>Today, we will focus on how prices are actually set by firms using monopoly power—specifically through dynamic pricing.</a:t>
            </a:r>
          </a:p>
        </p:txBody>
      </p:sp>
      <p:sp>
        <p:nvSpPr>
          <p:cNvPr id="8" name="TextBox 7">
            <a:extLst>
              <a:ext uri="{FF2B5EF4-FFF2-40B4-BE49-F238E27FC236}">
                <a16:creationId xmlns:a16="http://schemas.microsoft.com/office/drawing/2014/main" id="{E47EFE8D-E6B7-93E2-04EF-BB6737070A5B}"/>
              </a:ext>
            </a:extLst>
          </p:cNvPr>
          <p:cNvSpPr txBox="1"/>
          <p:nvPr/>
        </p:nvSpPr>
        <p:spPr>
          <a:xfrm>
            <a:off x="7786875" y="1642239"/>
            <a:ext cx="4125292" cy="4247317"/>
          </a:xfrm>
          <a:prstGeom prst="rect">
            <a:avLst/>
          </a:prstGeom>
          <a:noFill/>
        </p:spPr>
        <p:txBody>
          <a:bodyPr wrap="square">
            <a:spAutoFit/>
          </a:bodyPr>
          <a:lstStyle/>
          <a:p>
            <a:pPr algn="just"/>
            <a:r>
              <a:rPr lang="en-GB" noProof="0" dirty="0">
                <a:solidFill>
                  <a:schemeClr val="accent5">
                    <a:lumMod val="50000"/>
                  </a:schemeClr>
                </a:solidFill>
              </a:rPr>
              <a:t>Thomas Aquinas: Prices should reflect fairness, rooted in moral and ethical considerations, ensuring justice in exchanges.</a:t>
            </a:r>
          </a:p>
          <a:p>
            <a:pPr algn="just"/>
            <a:endParaRPr lang="en-GB" noProof="0" dirty="0">
              <a:solidFill>
                <a:schemeClr val="accent5">
                  <a:lumMod val="50000"/>
                </a:schemeClr>
              </a:solidFill>
            </a:endParaRPr>
          </a:p>
          <a:p>
            <a:pPr algn="just"/>
            <a:r>
              <a:rPr lang="en-GB" noProof="0" dirty="0">
                <a:solidFill>
                  <a:schemeClr val="accent5">
                    <a:lumMod val="50000"/>
                  </a:schemeClr>
                </a:solidFill>
              </a:rPr>
              <a:t>Milton Friedman: Prices should be determined by free market forces, reflecting supply and demand without government interference.</a:t>
            </a:r>
          </a:p>
          <a:p>
            <a:pPr algn="just"/>
            <a:endParaRPr lang="en-GB" noProof="0" dirty="0">
              <a:solidFill>
                <a:schemeClr val="accent5">
                  <a:lumMod val="50000"/>
                </a:schemeClr>
              </a:solidFill>
            </a:endParaRPr>
          </a:p>
          <a:p>
            <a:pPr algn="just"/>
            <a:r>
              <a:rPr lang="en-GB" noProof="0" dirty="0">
                <a:solidFill>
                  <a:schemeClr val="accent5">
                    <a:lumMod val="50000"/>
                  </a:schemeClr>
                </a:solidFill>
              </a:rPr>
              <a:t>Karl Marx: Prices should ultimately align with the </a:t>
            </a:r>
            <a:r>
              <a:rPr lang="en-GB" noProof="0" dirty="0" err="1">
                <a:solidFill>
                  <a:schemeClr val="accent5">
                    <a:lumMod val="50000"/>
                  </a:schemeClr>
                </a:solidFill>
              </a:rPr>
              <a:t>labor</a:t>
            </a:r>
            <a:r>
              <a:rPr lang="en-GB" noProof="0" dirty="0">
                <a:solidFill>
                  <a:schemeClr val="accent5">
                    <a:lumMod val="50000"/>
                  </a:schemeClr>
                </a:solidFill>
              </a:rPr>
              <a:t> theory of value, as determined by the amount of socially necessary </a:t>
            </a:r>
            <a:r>
              <a:rPr lang="en-GB" noProof="0" dirty="0" err="1">
                <a:solidFill>
                  <a:schemeClr val="accent5">
                    <a:lumMod val="50000"/>
                  </a:schemeClr>
                </a:solidFill>
              </a:rPr>
              <a:t>labor</a:t>
            </a:r>
            <a:r>
              <a:rPr lang="en-GB" noProof="0" dirty="0">
                <a:solidFill>
                  <a:schemeClr val="accent5">
                    <a:lumMod val="50000"/>
                  </a:schemeClr>
                </a:solidFill>
              </a:rPr>
              <a:t> time required to produce goods.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7E5D7-87FB-136D-9EC3-2DB4BBDAA595}"/>
            </a:ext>
          </a:extLst>
        </p:cNvPr>
        <p:cNvGrpSpPr/>
        <p:nvPr/>
      </p:nvGrpSpPr>
      <p:grpSpPr>
        <a:xfrm>
          <a:off x="0" y="0"/>
          <a:ext cx="0" cy="0"/>
          <a:chOff x="0" y="0"/>
          <a:chExt cx="0" cy="0"/>
        </a:xfrm>
      </p:grpSpPr>
      <p:sp>
        <p:nvSpPr>
          <p:cNvPr id="5" name="Prostokąt 4">
            <a:extLst>
              <a:ext uri="{FF2B5EF4-FFF2-40B4-BE49-F238E27FC236}">
                <a16:creationId xmlns:a16="http://schemas.microsoft.com/office/drawing/2014/main" id="{2E66073C-FA59-A365-23CF-D781E2283EB3}"/>
              </a:ext>
            </a:extLst>
          </p:cNvPr>
          <p:cNvSpPr/>
          <p:nvPr/>
        </p:nvSpPr>
        <p:spPr>
          <a:xfrm>
            <a:off x="325120" y="1412240"/>
            <a:ext cx="11267440" cy="4893647"/>
          </a:xfrm>
          <a:prstGeom prst="rect">
            <a:avLst/>
          </a:prstGeom>
        </p:spPr>
        <p:txBody>
          <a:bodyPr wrap="square">
            <a:spAutoFit/>
          </a:bodyPr>
          <a:lstStyle/>
          <a:p>
            <a:r>
              <a:rPr lang="en-GB" sz="3200" b="1" noProof="0" dirty="0">
                <a:solidFill>
                  <a:srgbClr val="4BACC6">
                    <a:lumMod val="50000"/>
                  </a:srgbClr>
                </a:solidFill>
                <a:latin typeface="Calibri"/>
              </a:rPr>
              <a:t>The market sets the prices, and firms adjust to them.</a:t>
            </a:r>
          </a:p>
          <a:p>
            <a:endParaRPr lang="pl-PL" sz="2800" noProof="0" dirty="0">
              <a:solidFill>
                <a:srgbClr val="4BACC6">
                  <a:lumMod val="50000"/>
                </a:srgbClr>
              </a:solidFill>
              <a:latin typeface="Calibri"/>
            </a:endParaRPr>
          </a:p>
          <a:p>
            <a:r>
              <a:rPr lang="en-GB" sz="2800" noProof="0" dirty="0">
                <a:solidFill>
                  <a:srgbClr val="4BACC6">
                    <a:lumMod val="50000"/>
                  </a:srgbClr>
                </a:solidFill>
                <a:latin typeface="Calibri"/>
              </a:rPr>
              <a:t>The classical answer is that the market sets prices, and firms adjust to them. In a perfectly competitive market, firms act as price-takers with no influence over prices. This requires many small, identical firms, homogeneous products, and perfect information</a:t>
            </a:r>
            <a:r>
              <a:rPr lang="pl-PL" sz="2800" noProof="0" dirty="0">
                <a:solidFill>
                  <a:srgbClr val="4BACC6">
                    <a:lumMod val="50000"/>
                  </a:srgbClr>
                </a:solidFill>
                <a:latin typeface="Calibri"/>
              </a:rPr>
              <a:t>, ….</a:t>
            </a:r>
            <a:endParaRPr lang="en-GB" sz="2800" noProof="0" dirty="0">
              <a:solidFill>
                <a:srgbClr val="4BACC6">
                  <a:lumMod val="50000"/>
                </a:srgbClr>
              </a:solidFill>
              <a:latin typeface="Calibri"/>
            </a:endParaRPr>
          </a:p>
          <a:p>
            <a:endParaRPr lang="en-GB" sz="2800" noProof="0" dirty="0">
              <a:solidFill>
                <a:srgbClr val="4BACC6">
                  <a:lumMod val="50000"/>
                </a:srgbClr>
              </a:solidFill>
              <a:latin typeface="Calibri"/>
            </a:endParaRPr>
          </a:p>
          <a:p>
            <a:r>
              <a:rPr lang="en-GB" sz="2800" noProof="0" dirty="0">
                <a:solidFill>
                  <a:srgbClr val="4BACC6">
                    <a:lumMod val="50000"/>
                  </a:srgbClr>
                </a:solidFill>
                <a:latin typeface="Calibri"/>
              </a:rPr>
              <a:t>However, this idealized scenario is rarely realistic—even at local markets or bazaars. In practice, firms often have some degree of pricing power due to factors such as imperfect information, product differentiation, or local market conditions. </a:t>
            </a:r>
            <a:endParaRPr lang="en-GB" sz="3600" noProof="0" dirty="0">
              <a:solidFill>
                <a:srgbClr val="4BACC6">
                  <a:lumMod val="50000"/>
                </a:srgbClr>
              </a:solidFill>
              <a:latin typeface="Calibri"/>
            </a:endParaRPr>
          </a:p>
        </p:txBody>
      </p:sp>
      <p:sp>
        <p:nvSpPr>
          <p:cNvPr id="2" name="Tytuł 1">
            <a:extLst>
              <a:ext uri="{FF2B5EF4-FFF2-40B4-BE49-F238E27FC236}">
                <a16:creationId xmlns:a16="http://schemas.microsoft.com/office/drawing/2014/main" id="{7419F044-88B1-EC99-F41A-D78A25EBE968}"/>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How Do Firms Set Prices? Answer 1</a:t>
            </a:r>
          </a:p>
        </p:txBody>
      </p:sp>
    </p:spTree>
    <p:extLst>
      <p:ext uri="{BB962C8B-B14F-4D97-AF65-F5344CB8AC3E}">
        <p14:creationId xmlns:p14="http://schemas.microsoft.com/office/powerpoint/2010/main" val="2045914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7E4C0-081F-801B-A232-B1565904F81F}"/>
            </a:ext>
          </a:extLst>
        </p:cNvPr>
        <p:cNvGrpSpPr/>
        <p:nvPr/>
      </p:nvGrpSpPr>
      <p:grpSpPr>
        <a:xfrm>
          <a:off x="0" y="0"/>
          <a:ext cx="0" cy="0"/>
          <a:chOff x="0" y="0"/>
          <a:chExt cx="0" cy="0"/>
        </a:xfrm>
      </p:grpSpPr>
      <p:sp>
        <p:nvSpPr>
          <p:cNvPr id="5" name="Prostokąt 4">
            <a:extLst>
              <a:ext uri="{FF2B5EF4-FFF2-40B4-BE49-F238E27FC236}">
                <a16:creationId xmlns:a16="http://schemas.microsoft.com/office/drawing/2014/main" id="{BE30EE28-F6E7-4053-5EBD-1CDFD9740E19}"/>
              </a:ext>
            </a:extLst>
          </p:cNvPr>
          <p:cNvSpPr/>
          <p:nvPr/>
        </p:nvSpPr>
        <p:spPr>
          <a:xfrm>
            <a:off x="335280" y="1483360"/>
            <a:ext cx="7426960" cy="4893647"/>
          </a:xfrm>
          <a:prstGeom prst="rect">
            <a:avLst/>
          </a:prstGeom>
        </p:spPr>
        <p:txBody>
          <a:bodyPr wrap="square">
            <a:spAutoFit/>
          </a:bodyPr>
          <a:lstStyle/>
          <a:p>
            <a:pPr algn="just"/>
            <a:r>
              <a:rPr lang="en-GB" sz="2400" noProof="0" dirty="0">
                <a:solidFill>
                  <a:srgbClr val="4BACC6">
                    <a:lumMod val="50000"/>
                  </a:srgbClr>
                </a:solidFill>
                <a:latin typeface="Calibri"/>
              </a:rPr>
              <a:t>In theory, competition enforces </a:t>
            </a:r>
            <a:r>
              <a:rPr lang="en-GB" sz="2400" b="1" noProof="0" dirty="0">
                <a:solidFill>
                  <a:srgbClr val="C00000"/>
                </a:solidFill>
                <a:latin typeface="Calibri"/>
              </a:rPr>
              <a:t>the law of one price</a:t>
            </a:r>
            <a:r>
              <a:rPr lang="en-GB" sz="2400" noProof="0" dirty="0">
                <a:solidFill>
                  <a:srgbClr val="4BACC6">
                    <a:lumMod val="50000"/>
                  </a:srgbClr>
                </a:solidFill>
                <a:latin typeface="Calibri"/>
              </a:rPr>
              <a:t>: identical goods sold in different locations should have the same price. In reality, transaction costs, such as transportation, tariffs, and local regulations, lead to price disparities.</a:t>
            </a:r>
          </a:p>
          <a:p>
            <a:pPr algn="just"/>
            <a:endParaRPr lang="en-GB" sz="2400" noProof="0" dirty="0">
              <a:solidFill>
                <a:srgbClr val="4BACC6">
                  <a:lumMod val="50000"/>
                </a:srgbClr>
              </a:solidFill>
              <a:latin typeface="Calibri"/>
            </a:endParaRPr>
          </a:p>
          <a:p>
            <a:pPr algn="just"/>
            <a:r>
              <a:rPr lang="en-GB" sz="2400" noProof="0" dirty="0">
                <a:solidFill>
                  <a:srgbClr val="4BACC6">
                    <a:lumMod val="50000"/>
                  </a:srgbClr>
                </a:solidFill>
                <a:latin typeface="Calibri"/>
              </a:rPr>
              <a:t>For example, the price of the same </a:t>
            </a:r>
            <a:r>
              <a:rPr lang="pl-PL" sz="2400" noProof="0" dirty="0">
                <a:solidFill>
                  <a:srgbClr val="4BACC6">
                    <a:lumMod val="50000"/>
                  </a:srgbClr>
                </a:solidFill>
                <a:latin typeface="Calibri"/>
              </a:rPr>
              <a:t>„</a:t>
            </a:r>
            <a:r>
              <a:rPr lang="en-GB" sz="2400" noProof="0" dirty="0">
                <a:solidFill>
                  <a:srgbClr val="4BACC6">
                    <a:lumMod val="50000"/>
                  </a:srgbClr>
                </a:solidFill>
                <a:latin typeface="Calibri"/>
              </a:rPr>
              <a:t>old</a:t>
            </a:r>
            <a:r>
              <a:rPr lang="pl-PL" sz="2400" dirty="0">
                <a:solidFill>
                  <a:srgbClr val="4BACC6">
                    <a:lumMod val="50000"/>
                  </a:srgbClr>
                </a:solidFill>
                <a:latin typeface="Calibri"/>
              </a:rPr>
              <a:t>”</a:t>
            </a:r>
            <a:r>
              <a:rPr lang="pl-PL" sz="2400" noProof="0" dirty="0">
                <a:solidFill>
                  <a:srgbClr val="4BACC6">
                    <a:lumMod val="50000"/>
                  </a:srgbClr>
                </a:solidFill>
                <a:latin typeface="Calibri"/>
              </a:rPr>
              <a:t> </a:t>
            </a:r>
            <a:r>
              <a:rPr lang="pl-PL" sz="2400" noProof="0" dirty="0" err="1">
                <a:solidFill>
                  <a:srgbClr val="4BACC6">
                    <a:lumMod val="50000"/>
                  </a:srgbClr>
                </a:solidFill>
                <a:latin typeface="Calibri"/>
              </a:rPr>
              <a:t>drugs</a:t>
            </a:r>
            <a:r>
              <a:rPr lang="en-GB" sz="2400" noProof="0" dirty="0">
                <a:solidFill>
                  <a:srgbClr val="4BACC6">
                    <a:lumMod val="50000"/>
                  </a:srgbClr>
                </a:solidFill>
                <a:latin typeface="Calibri"/>
              </a:rPr>
              <a:t> varies widely across countries due to differences in healthcare systems, subsidies, and distribution markups. These factors highlight how transaction costs disrupt the ideal of uniform pricing, even for identical products. The price can vary significantly depending on characteristic of the market and institutional settings. </a:t>
            </a:r>
            <a:endParaRPr lang="en-GB" sz="3200" b="1" noProof="0" dirty="0">
              <a:solidFill>
                <a:srgbClr val="4BACC6">
                  <a:lumMod val="50000"/>
                </a:srgbClr>
              </a:solidFill>
              <a:latin typeface="Calibri"/>
            </a:endParaRPr>
          </a:p>
        </p:txBody>
      </p:sp>
      <p:sp>
        <p:nvSpPr>
          <p:cNvPr id="2" name="Tytuł 1">
            <a:extLst>
              <a:ext uri="{FF2B5EF4-FFF2-40B4-BE49-F238E27FC236}">
                <a16:creationId xmlns:a16="http://schemas.microsoft.com/office/drawing/2014/main" id="{7AFF680F-83C3-5F18-28CA-2D59C02FE525}"/>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How Do Firms Set Prices? Answer 1: </a:t>
            </a:r>
          </a:p>
        </p:txBody>
      </p:sp>
      <p:sp>
        <p:nvSpPr>
          <p:cNvPr id="4" name="Rectangle 3">
            <a:extLst>
              <a:ext uri="{FF2B5EF4-FFF2-40B4-BE49-F238E27FC236}">
                <a16:creationId xmlns:a16="http://schemas.microsoft.com/office/drawing/2014/main" id="{B0F93895-E1BA-DE02-76DF-E6535383B68E}"/>
              </a:ext>
            </a:extLst>
          </p:cNvPr>
          <p:cNvSpPr txBox="1">
            <a:spLocks noChangeArrowheads="1"/>
          </p:cNvSpPr>
          <p:nvPr/>
        </p:nvSpPr>
        <p:spPr>
          <a:xfrm>
            <a:off x="9827893" y="2364608"/>
            <a:ext cx="2168812" cy="1147008"/>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GB" sz="1600" b="1" noProof="0" dirty="0">
                <a:solidFill>
                  <a:schemeClr val="accent5">
                    <a:lumMod val="50000"/>
                  </a:schemeClr>
                </a:solidFill>
              </a:rPr>
              <a:t>Why such big differences?</a:t>
            </a:r>
          </a:p>
          <a:p>
            <a:pPr>
              <a:defRPr/>
            </a:pPr>
            <a:r>
              <a:rPr lang="en-GB" sz="1600" b="1" noProof="0" dirty="0">
                <a:solidFill>
                  <a:schemeClr val="accent5">
                    <a:lumMod val="50000"/>
                  </a:schemeClr>
                </a:solidFill>
              </a:rPr>
              <a:t>(In Poland, the drug is refunded but full price (100%) is 23,80 </a:t>
            </a:r>
            <a:r>
              <a:rPr lang="en-GB" sz="1600" b="1" noProof="0" dirty="0" err="1">
                <a:solidFill>
                  <a:schemeClr val="accent5">
                    <a:lumMod val="50000"/>
                  </a:schemeClr>
                </a:solidFill>
              </a:rPr>
              <a:t>zł</a:t>
            </a:r>
            <a:r>
              <a:rPr lang="en-GB" sz="1600" b="1" noProof="0" dirty="0">
                <a:solidFill>
                  <a:schemeClr val="accent5">
                    <a:lumMod val="50000"/>
                  </a:schemeClr>
                </a:solidFill>
              </a:rPr>
              <a:t> ($5,62)</a:t>
            </a:r>
          </a:p>
        </p:txBody>
      </p:sp>
      <p:pic>
        <p:nvPicPr>
          <p:cNvPr id="6" name="Picture 5">
            <a:extLst>
              <a:ext uri="{FF2B5EF4-FFF2-40B4-BE49-F238E27FC236}">
                <a16:creationId xmlns:a16="http://schemas.microsoft.com/office/drawing/2014/main" id="{39CD574F-6E17-5943-6097-2F80949E6712}"/>
              </a:ext>
            </a:extLst>
          </p:cNvPr>
          <p:cNvPicPr>
            <a:picLocks noChangeAspect="1" noChangeArrowheads="1"/>
          </p:cNvPicPr>
          <p:nvPr/>
        </p:nvPicPr>
        <p:blipFill>
          <a:blip r:embed="rId2" cstate="print"/>
          <a:srcRect/>
          <a:stretch>
            <a:fillRect/>
          </a:stretch>
        </p:blipFill>
        <p:spPr bwMode="auto">
          <a:xfrm>
            <a:off x="8051626" y="2364608"/>
            <a:ext cx="1666983" cy="1147008"/>
          </a:xfrm>
          <a:prstGeom prst="rect">
            <a:avLst/>
          </a:prstGeom>
          <a:noFill/>
          <a:ln w="9525">
            <a:noFill/>
            <a:miter lim="800000"/>
            <a:headEnd/>
            <a:tailEnd/>
          </a:ln>
        </p:spPr>
      </p:pic>
      <p:sp>
        <p:nvSpPr>
          <p:cNvPr id="7" name="Rectangle 3">
            <a:extLst>
              <a:ext uri="{FF2B5EF4-FFF2-40B4-BE49-F238E27FC236}">
                <a16:creationId xmlns:a16="http://schemas.microsoft.com/office/drawing/2014/main" id="{215BF302-3F75-077A-A419-D6050579246A}"/>
              </a:ext>
            </a:extLst>
          </p:cNvPr>
          <p:cNvSpPr txBox="1">
            <a:spLocks noChangeArrowheads="1"/>
          </p:cNvSpPr>
          <p:nvPr/>
        </p:nvSpPr>
        <p:spPr bwMode="auto">
          <a:xfrm>
            <a:off x="7942865" y="1220272"/>
            <a:ext cx="4053840" cy="845952"/>
          </a:xfrm>
          <a:prstGeom prst="rect">
            <a:avLst/>
          </a:prstGeom>
          <a:noFill/>
          <a:ln w="9525">
            <a:noFill/>
            <a:miter lim="800000"/>
            <a:headEnd/>
            <a:tailEnd/>
          </a:ln>
        </p:spPr>
        <p:txBody>
          <a:bodyPr/>
          <a:lstStyle/>
          <a:p>
            <a:pPr eaLnBrk="0" hangingPunct="0">
              <a:spcBef>
                <a:spcPct val="20000"/>
              </a:spcBef>
              <a:defRPr/>
            </a:pPr>
            <a:r>
              <a:rPr lang="en-GB" b="1" noProof="0" dirty="0">
                <a:solidFill>
                  <a:schemeClr val="accent5">
                    <a:lumMod val="50000"/>
                  </a:schemeClr>
                </a:solidFill>
              </a:rPr>
              <a:t>The main „old” (forget about the patent rights) antipsychotic drug Clozapine </a:t>
            </a:r>
            <a:r>
              <a:rPr lang="en-GB" b="1" noProof="0" dirty="0">
                <a:solidFill>
                  <a:schemeClr val="accent5">
                    <a:lumMod val="50000"/>
                  </a:schemeClr>
                </a:solidFill>
                <a:sym typeface="Wingdings" panose="05000000000000000000" pitchFamily="2" charset="2"/>
              </a:rPr>
              <a:t> </a:t>
            </a:r>
            <a:r>
              <a:rPr lang="en-GB" b="1" noProof="0" dirty="0">
                <a:solidFill>
                  <a:schemeClr val="accent5">
                    <a:lumMod val="50000"/>
                  </a:schemeClr>
                </a:solidFill>
              </a:rPr>
              <a:t>the regional pricing comparison.</a:t>
            </a:r>
          </a:p>
        </p:txBody>
      </p:sp>
      <p:pic>
        <p:nvPicPr>
          <p:cNvPr id="8" name="Picture 7">
            <a:extLst>
              <a:ext uri="{FF2B5EF4-FFF2-40B4-BE49-F238E27FC236}">
                <a16:creationId xmlns:a16="http://schemas.microsoft.com/office/drawing/2014/main" id="{3496659B-94D6-F99C-5C97-EDED9E73984C}"/>
              </a:ext>
            </a:extLst>
          </p:cNvPr>
          <p:cNvPicPr>
            <a:picLocks noChangeAspect="1"/>
          </p:cNvPicPr>
          <p:nvPr/>
        </p:nvPicPr>
        <p:blipFill>
          <a:blip r:embed="rId3"/>
          <a:stretch>
            <a:fillRect/>
          </a:stretch>
        </p:blipFill>
        <p:spPr>
          <a:xfrm>
            <a:off x="8688487" y="4149691"/>
            <a:ext cx="2562596" cy="2562596"/>
          </a:xfrm>
          <a:prstGeom prst="rect">
            <a:avLst/>
          </a:prstGeom>
        </p:spPr>
      </p:pic>
    </p:spTree>
    <p:extLst>
      <p:ext uri="{BB962C8B-B14F-4D97-AF65-F5344CB8AC3E}">
        <p14:creationId xmlns:p14="http://schemas.microsoft.com/office/powerpoint/2010/main" val="1567182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40951" y="1289500"/>
            <a:ext cx="11546249" cy="5090035"/>
          </a:xfrm>
          <a:prstGeom prst="rect">
            <a:avLst/>
          </a:prstGeom>
          <a:noFill/>
          <a:ln w="9525">
            <a:noFill/>
            <a:miter lim="800000"/>
            <a:headEnd/>
            <a:tailEnd/>
          </a:ln>
        </p:spPr>
        <p:txBody>
          <a:bodyPr/>
          <a:lstStyle/>
          <a:p>
            <a:pPr algn="just" eaLnBrk="0" hangingPunct="0">
              <a:spcBef>
                <a:spcPct val="20000"/>
              </a:spcBef>
              <a:defRPr/>
            </a:pPr>
            <a:r>
              <a:rPr lang="en-GB" sz="3200" noProof="0" dirty="0">
                <a:solidFill>
                  <a:srgbClr val="4BACC6">
                    <a:lumMod val="50000"/>
                  </a:srgbClr>
                </a:solidFill>
                <a:latin typeface="Calibri"/>
              </a:rPr>
              <a:t>The American medicine market is not competitive and it is corrupted in name of free market and competition. Read:</a:t>
            </a:r>
          </a:p>
          <a:p>
            <a:pPr eaLnBrk="0" hangingPunct="0">
              <a:spcBef>
                <a:spcPct val="20000"/>
              </a:spcBef>
              <a:defRPr/>
            </a:pPr>
            <a:r>
              <a:rPr lang="en-GB" sz="2400" noProof="0" dirty="0">
                <a:solidFill>
                  <a:srgbClr val="4BACC6">
                    <a:lumMod val="50000"/>
                  </a:srgbClr>
                </a:solidFill>
                <a:latin typeface="Calibri"/>
                <a:hlinkClick r:id="rId2"/>
              </a:rPr>
              <a:t>https://www.vox.com/a/health-prices</a:t>
            </a:r>
            <a:endParaRPr lang="en-GB" sz="2400" noProof="0" dirty="0">
              <a:solidFill>
                <a:srgbClr val="4BACC6">
                  <a:lumMod val="50000"/>
                </a:srgbClr>
              </a:solidFill>
              <a:latin typeface="Calibri"/>
            </a:endParaRPr>
          </a:p>
          <a:p>
            <a:pPr eaLnBrk="0" hangingPunct="0">
              <a:spcBef>
                <a:spcPct val="20000"/>
              </a:spcBef>
              <a:defRPr/>
            </a:pPr>
            <a:r>
              <a:rPr lang="en-GB" sz="2400" noProof="0" dirty="0">
                <a:solidFill>
                  <a:srgbClr val="4BACC6">
                    <a:lumMod val="50000"/>
                  </a:srgbClr>
                </a:solidFill>
                <a:latin typeface="Calibri"/>
                <a:hlinkClick r:id="rId3"/>
              </a:rPr>
              <a:t>https://berniesanders.com/issues/fighting-to-lower-prescription-drug-prices/</a:t>
            </a:r>
            <a:endParaRPr lang="en-GB" sz="2400" noProof="0" dirty="0">
              <a:solidFill>
                <a:srgbClr val="4BACC6">
                  <a:lumMod val="50000"/>
                </a:srgbClr>
              </a:solidFill>
              <a:latin typeface="Calibri"/>
            </a:endParaRPr>
          </a:p>
          <a:p>
            <a:pPr eaLnBrk="0" hangingPunct="0">
              <a:spcBef>
                <a:spcPct val="20000"/>
              </a:spcBef>
              <a:defRPr/>
            </a:pPr>
            <a:r>
              <a:rPr lang="en-GB" sz="3200" noProof="0" dirty="0">
                <a:solidFill>
                  <a:srgbClr val="4BACC6">
                    <a:lumMod val="50000"/>
                  </a:srgbClr>
                </a:solidFill>
                <a:latin typeface="Calibri"/>
              </a:rPr>
              <a:t>And there are some externalities of medicine marketing. The main dealer of "drugs" is a pharmacy company: ........</a:t>
            </a:r>
          </a:p>
          <a:p>
            <a:pPr eaLnBrk="0" hangingPunct="0">
              <a:spcBef>
                <a:spcPct val="20000"/>
              </a:spcBef>
              <a:defRPr/>
            </a:pPr>
            <a:endParaRPr lang="en-GB" sz="3200" noProof="0" dirty="0">
              <a:solidFill>
                <a:srgbClr val="4BACC6">
                  <a:lumMod val="50000"/>
                </a:srgbClr>
              </a:solidFill>
              <a:latin typeface="Calibri"/>
              <a:hlinkClick r:id="rId4"/>
            </a:endParaRPr>
          </a:p>
          <a:p>
            <a:pPr eaLnBrk="0" hangingPunct="0">
              <a:spcBef>
                <a:spcPct val="20000"/>
              </a:spcBef>
              <a:defRPr/>
            </a:pPr>
            <a:r>
              <a:rPr lang="en-GB" sz="2400" noProof="0" dirty="0">
                <a:solidFill>
                  <a:srgbClr val="4BACC6">
                    <a:lumMod val="50000"/>
                  </a:srgbClr>
                </a:solidFill>
                <a:latin typeface="Calibri"/>
                <a:hlinkClick r:id="rId4"/>
              </a:rPr>
              <a:t>https://www.theguardian.com/us-news/2017/oct/25/americas-opioid-crisis-how-prescription-drugs-sparked-a-national-trauma</a:t>
            </a:r>
            <a:endParaRPr lang="en-GB" sz="2400" noProof="0" dirty="0">
              <a:solidFill>
                <a:srgbClr val="4BACC6">
                  <a:lumMod val="50000"/>
                </a:srgbClr>
              </a:solidFill>
              <a:latin typeface="Calibri"/>
            </a:endParaRPr>
          </a:p>
          <a:p>
            <a:pPr eaLnBrk="0" hangingPunct="0">
              <a:spcBef>
                <a:spcPct val="20000"/>
              </a:spcBef>
              <a:defRPr/>
            </a:pPr>
            <a:endParaRPr lang="en-GB" sz="3200" noProof="0" dirty="0">
              <a:solidFill>
                <a:srgbClr val="4BACC6">
                  <a:lumMod val="50000"/>
                </a:srgbClr>
              </a:solidFill>
              <a:latin typeface="Calibri"/>
            </a:endParaRPr>
          </a:p>
          <a:p>
            <a:pPr eaLnBrk="0" hangingPunct="0">
              <a:spcBef>
                <a:spcPct val="20000"/>
              </a:spcBef>
              <a:defRPr/>
            </a:pPr>
            <a:endParaRPr lang="en-GB" sz="3200" noProof="0" dirty="0">
              <a:solidFill>
                <a:srgbClr val="4BACC6">
                  <a:lumMod val="50000"/>
                </a:srgbClr>
              </a:solidFill>
              <a:latin typeface="Calibri"/>
            </a:endParaRPr>
          </a:p>
          <a:p>
            <a:pPr eaLnBrk="0" hangingPunct="0">
              <a:spcBef>
                <a:spcPct val="20000"/>
              </a:spcBef>
              <a:defRPr/>
            </a:pPr>
            <a:endParaRPr lang="en-GB" sz="3200" noProof="0" dirty="0">
              <a:solidFill>
                <a:srgbClr val="4BACC6">
                  <a:lumMod val="50000"/>
                </a:srgbClr>
              </a:solidFill>
              <a:latin typeface="Calibri"/>
            </a:endParaRPr>
          </a:p>
          <a:p>
            <a:pPr eaLnBrk="0" hangingPunct="0">
              <a:spcBef>
                <a:spcPct val="20000"/>
              </a:spcBef>
              <a:defRPr/>
            </a:pPr>
            <a:endParaRPr lang="en-GB" sz="3200" noProof="0" dirty="0">
              <a:solidFill>
                <a:srgbClr val="4BACC6">
                  <a:lumMod val="50000"/>
                </a:srgbClr>
              </a:solidFill>
              <a:latin typeface="Calibri"/>
            </a:endParaRPr>
          </a:p>
        </p:txBody>
      </p:sp>
      <p:sp>
        <p:nvSpPr>
          <p:cNvPr id="2" name="Tytuł 1">
            <a:extLst>
              <a:ext uri="{FF2B5EF4-FFF2-40B4-BE49-F238E27FC236}">
                <a16:creationId xmlns:a16="http://schemas.microsoft.com/office/drawing/2014/main" id="{B0B2619B-5E17-3662-C1A5-701D065D3F84}"/>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How Do Firms Set Prices? </a:t>
            </a:r>
          </a:p>
        </p:txBody>
      </p:sp>
    </p:spTree>
    <p:extLst>
      <p:ext uri="{BB962C8B-B14F-4D97-AF65-F5344CB8AC3E}">
        <p14:creationId xmlns:p14="http://schemas.microsoft.com/office/powerpoint/2010/main" val="1635713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93098-8CD2-6162-712F-1EBFD7307178}"/>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82500B06-5324-4F33-E7ED-9EFBF0FCB2A6}"/>
              </a:ext>
            </a:extLst>
          </p:cNvPr>
          <p:cNvSpPr txBox="1">
            <a:spLocks noChangeArrowheads="1"/>
          </p:cNvSpPr>
          <p:nvPr/>
        </p:nvSpPr>
        <p:spPr bwMode="auto">
          <a:xfrm>
            <a:off x="191875" y="1209040"/>
            <a:ext cx="7945206" cy="5557520"/>
          </a:xfrm>
          <a:prstGeom prst="rect">
            <a:avLst/>
          </a:prstGeom>
          <a:noFill/>
          <a:ln w="9525">
            <a:noFill/>
            <a:miter lim="800000"/>
            <a:headEnd/>
            <a:tailEnd/>
          </a:ln>
        </p:spPr>
        <p:txBody>
          <a:bodyPr/>
          <a:lstStyle/>
          <a:p>
            <a:pPr eaLnBrk="0" hangingPunct="0">
              <a:spcBef>
                <a:spcPct val="20000"/>
              </a:spcBef>
              <a:defRPr/>
            </a:pPr>
            <a:r>
              <a:rPr lang="en-GB" sz="3200" b="1" noProof="0" dirty="0">
                <a:solidFill>
                  <a:srgbClr val="4BACC6">
                    <a:lumMod val="50000"/>
                  </a:srgbClr>
                </a:solidFill>
                <a:latin typeface="Calibri"/>
              </a:rPr>
              <a:t>A firm calculates product prices based on costs, e.g., cost + 10%.</a:t>
            </a:r>
          </a:p>
          <a:p>
            <a:pPr algn="just" eaLnBrk="0" hangingPunct="0">
              <a:spcBef>
                <a:spcPct val="20000"/>
              </a:spcBef>
              <a:defRPr/>
            </a:pPr>
            <a:r>
              <a:rPr lang="en-GB" sz="3200" noProof="0" dirty="0">
                <a:solidFill>
                  <a:srgbClr val="4BACC6">
                    <a:lumMod val="50000"/>
                  </a:srgbClr>
                </a:solidFill>
                <a:latin typeface="Calibri"/>
              </a:rPr>
              <a:t>The price must exceed costs in the long run, as this is the only certainty in price calculation. </a:t>
            </a:r>
          </a:p>
          <a:p>
            <a:pPr algn="just" eaLnBrk="0" hangingPunct="0">
              <a:spcBef>
                <a:spcPct val="20000"/>
              </a:spcBef>
              <a:defRPr/>
            </a:pPr>
            <a:r>
              <a:rPr lang="en-GB" sz="2400" noProof="0" dirty="0">
                <a:solidFill>
                  <a:srgbClr val="4BACC6">
                    <a:lumMod val="50000"/>
                  </a:srgbClr>
                </a:solidFill>
                <a:latin typeface="Calibri"/>
              </a:rPr>
              <a:t> ….</a:t>
            </a:r>
            <a:r>
              <a:rPr lang="en-GB" sz="2400" noProof="0" dirty="0">
                <a:solidFill>
                  <a:srgbClr val="4BACC6">
                    <a:lumMod val="50000"/>
                  </a:srgbClr>
                </a:solidFill>
              </a:rPr>
              <a:t> However, the traditional cost-plus pricing approach is becoming less relevant. For example, "cheap" and premium brands may have nearly identical production costs, but their pricing differs drastically due to perceived quality, branding, and market positioning. </a:t>
            </a:r>
            <a:endParaRPr lang="pl-PL" sz="2400" noProof="0" dirty="0">
              <a:solidFill>
                <a:srgbClr val="4BACC6">
                  <a:lumMod val="50000"/>
                </a:srgbClr>
              </a:solidFill>
            </a:endParaRPr>
          </a:p>
          <a:p>
            <a:pPr algn="just" eaLnBrk="0" hangingPunct="0">
              <a:spcBef>
                <a:spcPct val="20000"/>
              </a:spcBef>
              <a:defRPr/>
            </a:pPr>
            <a:endParaRPr lang="pl-PL" sz="2400" noProof="0" dirty="0">
              <a:solidFill>
                <a:srgbClr val="4BACC6">
                  <a:lumMod val="50000"/>
                </a:srgbClr>
              </a:solidFill>
            </a:endParaRPr>
          </a:p>
          <a:p>
            <a:pPr algn="just" eaLnBrk="0" hangingPunct="0">
              <a:spcBef>
                <a:spcPct val="20000"/>
              </a:spcBef>
              <a:defRPr/>
            </a:pPr>
            <a:r>
              <a:rPr lang="en-GB" sz="2400" noProof="0" dirty="0">
                <a:solidFill>
                  <a:srgbClr val="4BACC6">
                    <a:lumMod val="50000"/>
                  </a:srgbClr>
                </a:solidFill>
              </a:rPr>
              <a:t>Pricing strategies now rely more on customer value perception and competitive dynamics than on fixed cost margins. </a:t>
            </a:r>
            <a:endParaRPr lang="en-GB" sz="3200" noProof="0" dirty="0">
              <a:solidFill>
                <a:srgbClr val="4BACC6">
                  <a:lumMod val="50000"/>
                </a:srgbClr>
              </a:solidFill>
              <a:latin typeface="Calibri"/>
            </a:endParaRPr>
          </a:p>
          <a:p>
            <a:pPr eaLnBrk="0" hangingPunct="0">
              <a:spcBef>
                <a:spcPct val="20000"/>
              </a:spcBef>
              <a:defRPr/>
            </a:pPr>
            <a:endParaRPr lang="en-GB" sz="3200" noProof="0" dirty="0">
              <a:solidFill>
                <a:srgbClr val="4BACC6">
                  <a:lumMod val="50000"/>
                </a:srgbClr>
              </a:solidFill>
              <a:latin typeface="Calibri"/>
            </a:endParaRPr>
          </a:p>
        </p:txBody>
      </p:sp>
      <p:sp>
        <p:nvSpPr>
          <p:cNvPr id="2" name="Tytuł 1">
            <a:extLst>
              <a:ext uri="{FF2B5EF4-FFF2-40B4-BE49-F238E27FC236}">
                <a16:creationId xmlns:a16="http://schemas.microsoft.com/office/drawing/2014/main" id="{AB44A328-49AF-7BAF-6F1B-45D767B7C660}"/>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How Do Firms Set Prices? Answer 2</a:t>
            </a:r>
          </a:p>
        </p:txBody>
      </p:sp>
      <p:sp>
        <p:nvSpPr>
          <p:cNvPr id="4" name="TextBox 3">
            <a:extLst>
              <a:ext uri="{FF2B5EF4-FFF2-40B4-BE49-F238E27FC236}">
                <a16:creationId xmlns:a16="http://schemas.microsoft.com/office/drawing/2014/main" id="{A63C585D-CAB2-CFF5-B454-14D41A3C0BEB}"/>
              </a:ext>
            </a:extLst>
          </p:cNvPr>
          <p:cNvSpPr txBox="1"/>
          <p:nvPr/>
        </p:nvSpPr>
        <p:spPr>
          <a:xfrm>
            <a:off x="7754743" y="1424821"/>
            <a:ext cx="3531191" cy="369332"/>
          </a:xfrm>
          <a:prstGeom prst="rect">
            <a:avLst/>
          </a:prstGeom>
          <a:noFill/>
        </p:spPr>
        <p:txBody>
          <a:bodyPr wrap="square">
            <a:spAutoFit/>
          </a:bodyPr>
          <a:lstStyle/>
          <a:p>
            <a:pPr eaLnBrk="0" hangingPunct="0">
              <a:spcBef>
                <a:spcPct val="20000"/>
              </a:spcBef>
              <a:defRPr/>
            </a:pPr>
            <a:r>
              <a:rPr lang="en-GB" sz="1800" noProof="0" dirty="0">
                <a:solidFill>
                  <a:srgbClr val="4BACC6">
                    <a:lumMod val="50000"/>
                  </a:srgbClr>
                </a:solidFill>
                <a:latin typeface="Calibri"/>
              </a:rPr>
              <a:t>Cheap brands vs. premium brands</a:t>
            </a:r>
          </a:p>
        </p:txBody>
      </p:sp>
      <p:pic>
        <p:nvPicPr>
          <p:cNvPr id="5" name="Picture 2" descr="http://t2.gstatic.com/images?q=tbn:ANd9GcQtlq3rbHQ7ITHtMncQdK0xgCaiumX9y2JkPvjmOKKeNW_NP8g&amp;t=1&amp;usg=__CqmZZgr7MEYo4iDgOQtWFhagG48=">
            <a:extLst>
              <a:ext uri="{FF2B5EF4-FFF2-40B4-BE49-F238E27FC236}">
                <a16:creationId xmlns:a16="http://schemas.microsoft.com/office/drawing/2014/main" id="{36824F43-1D7B-6C4F-C638-E9DCF65FF5E9}"/>
              </a:ext>
            </a:extLst>
          </p:cNvPr>
          <p:cNvPicPr>
            <a:picLocks noChangeAspect="1" noChangeArrowheads="1"/>
          </p:cNvPicPr>
          <p:nvPr/>
        </p:nvPicPr>
        <p:blipFill>
          <a:blip r:embed="rId2" cstate="print"/>
          <a:srcRect/>
          <a:stretch>
            <a:fillRect/>
          </a:stretch>
        </p:blipFill>
        <p:spPr bwMode="auto">
          <a:xfrm>
            <a:off x="7570914" y="2030687"/>
            <a:ext cx="1880778" cy="1783085"/>
          </a:xfrm>
          <a:prstGeom prst="rect">
            <a:avLst/>
          </a:prstGeom>
          <a:noFill/>
        </p:spPr>
      </p:pic>
      <p:pic>
        <p:nvPicPr>
          <p:cNvPr id="7" name="Picture 4" descr="http://www.piotripawel.pl/foto/5906974012740.jpg">
            <a:extLst>
              <a:ext uri="{FF2B5EF4-FFF2-40B4-BE49-F238E27FC236}">
                <a16:creationId xmlns:a16="http://schemas.microsoft.com/office/drawing/2014/main" id="{3CE89D8A-C871-D9AE-914C-1C390DD6C70E}"/>
              </a:ext>
            </a:extLst>
          </p:cNvPr>
          <p:cNvPicPr>
            <a:picLocks noChangeAspect="1" noChangeArrowheads="1"/>
          </p:cNvPicPr>
          <p:nvPr/>
        </p:nvPicPr>
        <p:blipFill>
          <a:blip r:embed="rId3" cstate="print"/>
          <a:srcRect/>
          <a:stretch>
            <a:fillRect/>
          </a:stretch>
        </p:blipFill>
        <p:spPr bwMode="auto">
          <a:xfrm>
            <a:off x="9520339" y="1917465"/>
            <a:ext cx="1228936" cy="1928444"/>
          </a:xfrm>
          <a:prstGeom prst="rect">
            <a:avLst/>
          </a:prstGeom>
          <a:noFill/>
        </p:spPr>
      </p:pic>
      <p:pic>
        <p:nvPicPr>
          <p:cNvPr id="10" name="Picture 6" descr="http://t1.gstatic.com/images?q=tbn:ANd9GcQ6CPdvKDbYySdTwDJLH9oQgOGYU0wKOcCR6B5-06OL47wdxWE&amp;t=1&amp;usg=__jPhPsMLCn8tcjwqpT_lyz62bveM=">
            <a:extLst>
              <a:ext uri="{FF2B5EF4-FFF2-40B4-BE49-F238E27FC236}">
                <a16:creationId xmlns:a16="http://schemas.microsoft.com/office/drawing/2014/main" id="{4CC6D9AA-7D3E-EF40-A319-004D2D73D067}"/>
              </a:ext>
            </a:extLst>
          </p:cNvPr>
          <p:cNvPicPr>
            <a:picLocks noChangeAspect="1" noChangeArrowheads="1"/>
          </p:cNvPicPr>
          <p:nvPr/>
        </p:nvPicPr>
        <p:blipFill>
          <a:blip r:embed="rId4" cstate="print"/>
          <a:srcRect/>
          <a:stretch>
            <a:fillRect/>
          </a:stretch>
        </p:blipFill>
        <p:spPr bwMode="auto">
          <a:xfrm>
            <a:off x="8328956" y="4549789"/>
            <a:ext cx="1774602" cy="1682425"/>
          </a:xfrm>
          <a:prstGeom prst="rect">
            <a:avLst/>
          </a:prstGeom>
          <a:noFill/>
        </p:spPr>
      </p:pic>
      <p:pic>
        <p:nvPicPr>
          <p:cNvPr id="11" name="Picture 8" descr="http://images.highspeedbackbone.net/itemdetails/celeron.jpg">
            <a:extLst>
              <a:ext uri="{FF2B5EF4-FFF2-40B4-BE49-F238E27FC236}">
                <a16:creationId xmlns:a16="http://schemas.microsoft.com/office/drawing/2014/main" id="{CDE6643D-E298-2D25-EF1D-574249E3461C}"/>
              </a:ext>
            </a:extLst>
          </p:cNvPr>
          <p:cNvPicPr>
            <a:picLocks noChangeAspect="1" noChangeArrowheads="1"/>
          </p:cNvPicPr>
          <p:nvPr/>
        </p:nvPicPr>
        <p:blipFill>
          <a:blip r:embed="rId5" cstate="print"/>
          <a:srcRect/>
          <a:stretch>
            <a:fillRect/>
          </a:stretch>
        </p:blipFill>
        <p:spPr bwMode="auto">
          <a:xfrm>
            <a:off x="9960596" y="4388757"/>
            <a:ext cx="1774602" cy="1682424"/>
          </a:xfrm>
          <a:prstGeom prst="rect">
            <a:avLst/>
          </a:prstGeom>
          <a:noFill/>
        </p:spPr>
      </p:pic>
      <p:sp>
        <p:nvSpPr>
          <p:cNvPr id="13" name="TextBox 12">
            <a:extLst>
              <a:ext uri="{FF2B5EF4-FFF2-40B4-BE49-F238E27FC236}">
                <a16:creationId xmlns:a16="http://schemas.microsoft.com/office/drawing/2014/main" id="{ED669E74-6B80-3D2C-6FB8-2023D6ADFF3D}"/>
              </a:ext>
            </a:extLst>
          </p:cNvPr>
          <p:cNvSpPr txBox="1"/>
          <p:nvPr/>
        </p:nvSpPr>
        <p:spPr>
          <a:xfrm>
            <a:off x="8411041" y="4082443"/>
            <a:ext cx="3133656" cy="369332"/>
          </a:xfrm>
          <a:prstGeom prst="rect">
            <a:avLst/>
          </a:prstGeom>
          <a:noFill/>
        </p:spPr>
        <p:txBody>
          <a:bodyPr wrap="square">
            <a:spAutoFit/>
          </a:bodyPr>
          <a:lstStyle/>
          <a:p>
            <a:pPr eaLnBrk="0" hangingPunct="0">
              <a:spcBef>
                <a:spcPct val="20000"/>
              </a:spcBef>
              <a:defRPr/>
            </a:pPr>
            <a:r>
              <a:rPr lang="en-GB" sz="1800" noProof="0" dirty="0">
                <a:solidFill>
                  <a:srgbClr val="4BACC6">
                    <a:lumMod val="50000"/>
                  </a:srgbClr>
                </a:solidFill>
                <a:latin typeface="Calibri"/>
              </a:rPr>
              <a:t>Intentional quality degradation</a:t>
            </a:r>
          </a:p>
        </p:txBody>
      </p:sp>
    </p:spTree>
    <p:extLst>
      <p:ext uri="{BB962C8B-B14F-4D97-AF65-F5344CB8AC3E}">
        <p14:creationId xmlns:p14="http://schemas.microsoft.com/office/powerpoint/2010/main" val="125356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35280" y="1722409"/>
            <a:ext cx="11521440" cy="4666781"/>
          </a:xfrm>
          <a:prstGeom prst="rect">
            <a:avLst/>
          </a:prstGeom>
          <a:noFill/>
          <a:ln w="9525">
            <a:noFill/>
            <a:miter lim="800000"/>
            <a:headEnd/>
            <a:tailEnd/>
          </a:ln>
        </p:spPr>
        <p:txBody>
          <a:bodyPr/>
          <a:lstStyle/>
          <a:p>
            <a:pPr algn="just" eaLnBrk="0" hangingPunct="0">
              <a:spcBef>
                <a:spcPct val="20000"/>
              </a:spcBef>
              <a:defRPr/>
            </a:pPr>
            <a:r>
              <a:rPr lang="en-GB" sz="3200" noProof="0" dirty="0">
                <a:solidFill>
                  <a:srgbClr val="4BACC6">
                    <a:lumMod val="50000"/>
                  </a:srgbClr>
                </a:solidFill>
                <a:latin typeface="Calibri"/>
              </a:rPr>
              <a:t>New environment of markets:</a:t>
            </a:r>
          </a:p>
          <a:p>
            <a:pPr lvl="1" algn="just" eaLnBrk="0" hangingPunct="0">
              <a:spcBef>
                <a:spcPct val="20000"/>
              </a:spcBef>
              <a:defRPr/>
            </a:pPr>
            <a:r>
              <a:rPr lang="en-GB" sz="3200" noProof="0" dirty="0">
                <a:solidFill>
                  <a:srgbClr val="4BACC6">
                    <a:lumMod val="50000"/>
                  </a:srgbClr>
                </a:solidFill>
                <a:latin typeface="Calibri"/>
              </a:rPr>
              <a:t>- globalisation</a:t>
            </a:r>
          </a:p>
          <a:p>
            <a:pPr lvl="1" algn="just" eaLnBrk="0" hangingPunct="0">
              <a:spcBef>
                <a:spcPct val="20000"/>
              </a:spcBef>
              <a:defRPr/>
            </a:pPr>
            <a:r>
              <a:rPr lang="en-GB" sz="3200" noProof="0" dirty="0">
                <a:solidFill>
                  <a:srgbClr val="4BACC6">
                    <a:lumMod val="50000"/>
                  </a:srgbClr>
                </a:solidFill>
                <a:latin typeface="Calibri"/>
              </a:rPr>
              <a:t>- electronic transactions </a:t>
            </a:r>
          </a:p>
          <a:p>
            <a:pPr lvl="1" algn="just" eaLnBrk="0" hangingPunct="0">
              <a:spcBef>
                <a:spcPct val="20000"/>
              </a:spcBef>
              <a:defRPr/>
            </a:pPr>
            <a:r>
              <a:rPr lang="en-GB" sz="3200" noProof="0" dirty="0">
                <a:solidFill>
                  <a:srgbClr val="4BACC6">
                    <a:lumMod val="50000"/>
                  </a:srgbClr>
                </a:solidFill>
                <a:latin typeface="Calibri"/>
              </a:rPr>
              <a:t>- the weakness of governments (lobbying)</a:t>
            </a:r>
          </a:p>
          <a:p>
            <a:pPr algn="just" eaLnBrk="0" hangingPunct="0">
              <a:spcBef>
                <a:spcPct val="20000"/>
              </a:spcBef>
              <a:defRPr/>
            </a:pPr>
            <a:r>
              <a:rPr lang="en-GB" sz="3200" noProof="0" dirty="0">
                <a:solidFill>
                  <a:srgbClr val="4BACC6">
                    <a:lumMod val="50000"/>
                  </a:srgbClr>
                </a:solidFill>
                <a:latin typeface="Calibri"/>
              </a:rPr>
              <a:t>creates new opportunities to create firms’ market monopoly power. </a:t>
            </a:r>
          </a:p>
          <a:p>
            <a:pPr algn="just" eaLnBrk="0" hangingPunct="0">
              <a:spcBef>
                <a:spcPct val="20000"/>
              </a:spcBef>
              <a:defRPr/>
            </a:pPr>
            <a:endParaRPr lang="en-GB" sz="3200" noProof="0" dirty="0">
              <a:solidFill>
                <a:srgbClr val="4BACC6">
                  <a:lumMod val="50000"/>
                </a:srgbClr>
              </a:solidFill>
              <a:latin typeface="Calibri"/>
            </a:endParaRPr>
          </a:p>
          <a:p>
            <a:pPr algn="just" eaLnBrk="0" hangingPunct="0">
              <a:spcBef>
                <a:spcPct val="20000"/>
              </a:spcBef>
              <a:defRPr/>
            </a:pPr>
            <a:r>
              <a:rPr lang="en-GB" sz="3200" noProof="0" dirty="0">
                <a:solidFill>
                  <a:srgbClr val="4BACC6">
                    <a:lumMod val="50000"/>
                  </a:srgbClr>
                </a:solidFill>
                <a:latin typeface="Calibri"/>
              </a:rPr>
              <a:t>You should get to know the new environment of competition and its old/new tools. </a:t>
            </a:r>
          </a:p>
          <a:p>
            <a:pPr eaLnBrk="0" hangingPunct="0">
              <a:spcBef>
                <a:spcPct val="20000"/>
              </a:spcBef>
              <a:defRPr/>
            </a:pPr>
            <a:endParaRPr lang="en-GB" sz="3200" noProof="0" dirty="0">
              <a:solidFill>
                <a:srgbClr val="4BACC6">
                  <a:lumMod val="50000"/>
                </a:srgbClr>
              </a:solidFill>
              <a:latin typeface="Calibri"/>
            </a:endParaRPr>
          </a:p>
          <a:p>
            <a:pPr eaLnBrk="0" hangingPunct="0">
              <a:spcBef>
                <a:spcPct val="20000"/>
              </a:spcBef>
              <a:defRPr/>
            </a:pPr>
            <a:endParaRPr lang="en-GB" sz="3200" noProof="0" dirty="0">
              <a:solidFill>
                <a:srgbClr val="4BACC6">
                  <a:lumMod val="50000"/>
                </a:srgbClr>
              </a:solidFill>
              <a:latin typeface="Calibri"/>
            </a:endParaRPr>
          </a:p>
        </p:txBody>
      </p:sp>
      <p:sp>
        <p:nvSpPr>
          <p:cNvPr id="2" name="Tytuł 1">
            <a:extLst>
              <a:ext uri="{FF2B5EF4-FFF2-40B4-BE49-F238E27FC236}">
                <a16:creationId xmlns:a16="http://schemas.microsoft.com/office/drawing/2014/main" id="{A5C0CF9F-7CB3-F1E2-F826-B094338A1D76}"/>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How Do Firms Set Prices? Answer 3</a:t>
            </a:r>
          </a:p>
        </p:txBody>
      </p:sp>
    </p:spTree>
    <p:extLst>
      <p:ext uri="{BB962C8B-B14F-4D97-AF65-F5344CB8AC3E}">
        <p14:creationId xmlns:p14="http://schemas.microsoft.com/office/powerpoint/2010/main" val="1584391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426720" y="1452071"/>
            <a:ext cx="11338560" cy="5060489"/>
          </a:xfrm>
          <a:prstGeom prst="rect">
            <a:avLst/>
          </a:prstGeom>
          <a:noFill/>
          <a:ln w="9525">
            <a:noFill/>
            <a:miter lim="800000"/>
            <a:headEnd/>
            <a:tailEnd/>
          </a:ln>
        </p:spPr>
        <p:txBody>
          <a:bodyPr/>
          <a:lstStyle/>
          <a:p>
            <a:pPr>
              <a:spcBef>
                <a:spcPct val="0"/>
              </a:spcBef>
            </a:pPr>
            <a:r>
              <a:rPr lang="en-GB" sz="2800" noProof="0" dirty="0">
                <a:solidFill>
                  <a:srgbClr val="4BACC6">
                    <a:lumMod val="50000"/>
                  </a:srgbClr>
                </a:solidFill>
                <a:latin typeface="Arial" charset="0"/>
              </a:rPr>
              <a:t>We can use  the data (</a:t>
            </a:r>
            <a:r>
              <a:rPr lang="en-GB" sz="2800" noProof="0" dirty="0" err="1">
                <a:solidFill>
                  <a:srgbClr val="4BACC6">
                    <a:lumMod val="50000"/>
                  </a:srgbClr>
                </a:solidFill>
                <a:latin typeface="Arial" charset="0"/>
              </a:rPr>
              <a:t>experuiment</a:t>
            </a:r>
            <a:r>
              <a:rPr lang="en-GB" sz="2800" noProof="0" dirty="0">
                <a:solidFill>
                  <a:srgbClr val="4BACC6">
                    <a:lumMod val="50000"/>
                  </a:srgbClr>
                </a:solidFill>
                <a:latin typeface="Arial" charset="0"/>
              </a:rPr>
              <a:t> pens and mugs valuation)  to show some pricing strategies : </a:t>
            </a:r>
          </a:p>
          <a:p>
            <a:pPr marL="628650" indent="-342900">
              <a:spcBef>
                <a:spcPct val="0"/>
              </a:spcBef>
              <a:buFont typeface="Arial" panose="020B0604020202020204" pitchFamily="34" charset="0"/>
              <a:buChar char="•"/>
            </a:pPr>
            <a:r>
              <a:rPr lang="en-GB" sz="2800" noProof="0" dirty="0">
                <a:solidFill>
                  <a:srgbClr val="4BACC6">
                    <a:lumMod val="50000"/>
                  </a:srgbClr>
                </a:solidFill>
                <a:latin typeface="Arial" charset="0"/>
              </a:rPr>
              <a:t>Monopoly </a:t>
            </a:r>
            <a:r>
              <a:rPr lang="pl-PL" sz="2800" noProof="0" dirty="0">
                <a:solidFill>
                  <a:srgbClr val="4BACC6">
                    <a:lumMod val="50000"/>
                  </a:srgbClr>
                </a:solidFill>
                <a:latin typeface="Arial" charset="0"/>
              </a:rPr>
              <a:t>/ </a:t>
            </a:r>
            <a:r>
              <a:rPr lang="pl-PL" sz="2800" noProof="0" dirty="0" err="1">
                <a:solidFill>
                  <a:srgbClr val="4BACC6">
                    <a:lumMod val="50000"/>
                  </a:srgbClr>
                </a:solidFill>
                <a:latin typeface="Arial" charset="0"/>
              </a:rPr>
              <a:t>perfect</a:t>
            </a:r>
            <a:r>
              <a:rPr lang="pl-PL" sz="2800" noProof="0" dirty="0">
                <a:solidFill>
                  <a:srgbClr val="4BACC6">
                    <a:lumMod val="50000"/>
                  </a:srgbClr>
                </a:solidFill>
                <a:latin typeface="Arial" charset="0"/>
              </a:rPr>
              <a:t> c</a:t>
            </a:r>
            <a:r>
              <a:rPr lang="en-GB" sz="2800" noProof="0" dirty="0" err="1">
                <a:solidFill>
                  <a:srgbClr val="4BACC6">
                    <a:lumMod val="50000"/>
                  </a:srgbClr>
                </a:solidFill>
                <a:latin typeface="Arial" charset="0"/>
              </a:rPr>
              <a:t>ompetition</a:t>
            </a:r>
            <a:r>
              <a:rPr lang="en-GB" sz="2800" noProof="0" dirty="0">
                <a:solidFill>
                  <a:srgbClr val="4BACC6">
                    <a:lumMod val="50000"/>
                  </a:srgbClr>
                </a:solidFill>
                <a:latin typeface="Arial" charset="0"/>
              </a:rPr>
              <a:t> (as a benchmark) </a:t>
            </a:r>
          </a:p>
          <a:p>
            <a:pPr marL="628650" indent="-342900">
              <a:spcBef>
                <a:spcPct val="0"/>
              </a:spcBef>
              <a:buFont typeface="Arial" panose="020B0604020202020204" pitchFamily="34" charset="0"/>
              <a:buChar char="•"/>
            </a:pPr>
            <a:r>
              <a:rPr lang="en-GB" sz="2800" noProof="0" dirty="0">
                <a:solidFill>
                  <a:srgbClr val="4BACC6">
                    <a:lumMod val="50000"/>
                  </a:srgbClr>
                </a:solidFill>
                <a:latin typeface="Arial" charset="0"/>
              </a:rPr>
              <a:t>First-degree, second-degree, and third-degree price discrimination</a:t>
            </a:r>
          </a:p>
          <a:p>
            <a:pPr marL="628650" indent="-342900">
              <a:spcBef>
                <a:spcPct val="0"/>
              </a:spcBef>
              <a:buFont typeface="Arial" panose="020B0604020202020204" pitchFamily="34" charset="0"/>
              <a:buChar char="•"/>
            </a:pPr>
            <a:r>
              <a:rPr lang="en-GB" sz="2800" noProof="0" dirty="0">
                <a:solidFill>
                  <a:srgbClr val="4BACC6">
                    <a:lumMod val="50000"/>
                  </a:srgbClr>
                </a:solidFill>
                <a:latin typeface="Arial" charset="0"/>
              </a:rPr>
              <a:t>Two-part tariff </a:t>
            </a:r>
          </a:p>
          <a:p>
            <a:pPr marL="628650" indent="-342900">
              <a:spcBef>
                <a:spcPct val="0"/>
              </a:spcBef>
              <a:buFont typeface="Arial" panose="020B0604020202020204" pitchFamily="34" charset="0"/>
              <a:buChar char="•"/>
            </a:pPr>
            <a:r>
              <a:rPr lang="en-GB" sz="2800" noProof="0" dirty="0">
                <a:solidFill>
                  <a:srgbClr val="4BACC6">
                    <a:lumMod val="50000"/>
                  </a:srgbClr>
                </a:solidFill>
                <a:latin typeface="Arial" charset="0"/>
              </a:rPr>
              <a:t>Bundling </a:t>
            </a:r>
          </a:p>
          <a:p>
            <a:pPr marL="628650" indent="-342900">
              <a:spcBef>
                <a:spcPct val="0"/>
              </a:spcBef>
              <a:buFont typeface="Arial" panose="020B0604020202020204" pitchFamily="34" charset="0"/>
              <a:buChar char="•"/>
            </a:pPr>
            <a:r>
              <a:rPr lang="en-GB" sz="2800" noProof="0" dirty="0">
                <a:solidFill>
                  <a:srgbClr val="4BACC6">
                    <a:lumMod val="50000"/>
                  </a:srgbClr>
                </a:solidFill>
                <a:latin typeface="Arial" charset="0"/>
              </a:rPr>
              <a:t>Auctions </a:t>
            </a:r>
          </a:p>
          <a:p>
            <a:pPr marL="628650" indent="-342900">
              <a:spcBef>
                <a:spcPct val="0"/>
              </a:spcBef>
              <a:buFont typeface="Arial" panose="020B0604020202020204" pitchFamily="34" charset="0"/>
              <a:buChar char="•"/>
            </a:pPr>
            <a:r>
              <a:rPr lang="en-GB" sz="2800" noProof="0" dirty="0">
                <a:solidFill>
                  <a:srgbClr val="4BACC6">
                    <a:lumMod val="50000"/>
                  </a:srgbClr>
                </a:solidFill>
                <a:latin typeface="Arial" charset="0"/>
              </a:rPr>
              <a:t>… </a:t>
            </a:r>
            <a:endParaRPr lang="pl-PL" sz="2800" noProof="0" dirty="0">
              <a:solidFill>
                <a:srgbClr val="4BACC6">
                  <a:lumMod val="50000"/>
                </a:srgbClr>
              </a:solidFill>
              <a:latin typeface="Arial" charset="0"/>
            </a:endParaRPr>
          </a:p>
          <a:p>
            <a:pPr marL="628650" indent="-342900">
              <a:spcBef>
                <a:spcPct val="0"/>
              </a:spcBef>
              <a:buFont typeface="Arial" panose="020B0604020202020204" pitchFamily="34" charset="0"/>
              <a:buChar char="•"/>
            </a:pPr>
            <a:endParaRPr lang="en-GB" sz="2800" noProof="0" dirty="0">
              <a:solidFill>
                <a:srgbClr val="4BACC6">
                  <a:lumMod val="50000"/>
                </a:srgbClr>
              </a:solidFill>
              <a:latin typeface="Arial" charset="0"/>
            </a:endParaRPr>
          </a:p>
          <a:p>
            <a:pPr>
              <a:spcBef>
                <a:spcPct val="0"/>
              </a:spcBef>
            </a:pPr>
            <a:r>
              <a:rPr lang="en-GB" sz="2800" noProof="0" dirty="0">
                <a:solidFill>
                  <a:srgbClr val="4BACC6">
                    <a:lumMod val="50000"/>
                  </a:srgbClr>
                </a:solidFill>
                <a:latin typeface="Arial" charset="0"/>
              </a:rPr>
              <a:t>Based on the data you can find the best pricing strategy at the lecture (it is your further work as a data scientist)</a:t>
            </a:r>
          </a:p>
        </p:txBody>
      </p:sp>
      <p:sp>
        <p:nvSpPr>
          <p:cNvPr id="2" name="Tytuł 1">
            <a:extLst>
              <a:ext uri="{FF2B5EF4-FFF2-40B4-BE49-F238E27FC236}">
                <a16:creationId xmlns:a16="http://schemas.microsoft.com/office/drawing/2014/main" id="{2A24C71B-46AC-DC68-73D3-45A3421A7684}"/>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How Do Firms Set Prices? Answer 3</a:t>
            </a:r>
          </a:p>
        </p:txBody>
      </p:sp>
    </p:spTree>
    <p:extLst>
      <p:ext uri="{BB962C8B-B14F-4D97-AF65-F5344CB8AC3E}">
        <p14:creationId xmlns:p14="http://schemas.microsoft.com/office/powerpoint/2010/main" val="2204375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C569F-2ECD-EEF3-BDE4-2CFD75CBB838}"/>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09D1075F-6C79-E378-2C48-92B6C64D17B4}"/>
              </a:ext>
            </a:extLst>
          </p:cNvPr>
          <p:cNvSpPr txBox="1">
            <a:spLocks noChangeArrowheads="1"/>
          </p:cNvSpPr>
          <p:nvPr/>
        </p:nvSpPr>
        <p:spPr bwMode="auto">
          <a:xfrm>
            <a:off x="426720" y="1452071"/>
            <a:ext cx="11338560" cy="5060489"/>
          </a:xfrm>
          <a:prstGeom prst="rect">
            <a:avLst/>
          </a:prstGeom>
          <a:noFill/>
          <a:ln w="9525">
            <a:noFill/>
            <a:miter lim="800000"/>
            <a:headEnd/>
            <a:tailEnd/>
          </a:ln>
        </p:spPr>
        <p:txBody>
          <a:bodyPr/>
          <a:lstStyle/>
          <a:p>
            <a:pPr>
              <a:spcBef>
                <a:spcPct val="0"/>
              </a:spcBef>
            </a:pPr>
            <a:r>
              <a:rPr lang="en-GB" sz="2800" noProof="0" dirty="0">
                <a:solidFill>
                  <a:srgbClr val="4BACC6">
                    <a:lumMod val="50000"/>
                  </a:srgbClr>
                </a:solidFill>
                <a:latin typeface="Arial" charset="0"/>
              </a:rPr>
              <a:t>In its simplest textbook form, a monopoly is a single seller (producer) in the market. The monopolist knows the market demand for its products and sets prices based on the relationship between price and output, as determined by the demand curve D=p(Y).</a:t>
            </a:r>
          </a:p>
          <a:p>
            <a:pPr>
              <a:spcBef>
                <a:spcPct val="0"/>
              </a:spcBef>
            </a:pPr>
            <a:endParaRPr lang="en-GB" sz="2800" noProof="0" dirty="0">
              <a:solidFill>
                <a:srgbClr val="4BACC6">
                  <a:lumMod val="50000"/>
                </a:srgbClr>
              </a:solidFill>
              <a:latin typeface="Arial" charset="0"/>
            </a:endParaRPr>
          </a:p>
          <a:p>
            <a:pPr>
              <a:spcBef>
                <a:spcPct val="0"/>
              </a:spcBef>
            </a:pPr>
            <a:r>
              <a:rPr lang="en-GB" sz="2800" noProof="0" dirty="0">
                <a:solidFill>
                  <a:srgbClr val="4BACC6">
                    <a:lumMod val="50000"/>
                  </a:srgbClr>
                </a:solidFill>
                <a:latin typeface="Arial" charset="0"/>
              </a:rPr>
              <a:t>This basic model assumes no inventory buildup and no speculation over time. It represents the most straightforward framework for understanding monopoly behaviour, focusing only on the immediate price-output decision without introducing complexities like storage or dynamic adjustments over time. This foundational approach provides a starting point for more advanced analyses of monopoly strategies.</a:t>
            </a:r>
          </a:p>
        </p:txBody>
      </p:sp>
      <p:sp>
        <p:nvSpPr>
          <p:cNvPr id="2" name="Tytuł 1">
            <a:extLst>
              <a:ext uri="{FF2B5EF4-FFF2-40B4-BE49-F238E27FC236}">
                <a16:creationId xmlns:a16="http://schemas.microsoft.com/office/drawing/2014/main" id="{5BEF2BF4-F019-204A-D2E1-2C893EFBA045}"/>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Fundamental Concepts: Monopoly</a:t>
            </a:r>
          </a:p>
        </p:txBody>
      </p:sp>
    </p:spTree>
    <p:extLst>
      <p:ext uri="{BB962C8B-B14F-4D97-AF65-F5344CB8AC3E}">
        <p14:creationId xmlns:p14="http://schemas.microsoft.com/office/powerpoint/2010/main" val="2215845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5BF1-C71B-9ECF-CFFB-5072426BDCA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ustomShape 6">
                <a:extLst>
                  <a:ext uri="{FF2B5EF4-FFF2-40B4-BE49-F238E27FC236}">
                    <a16:creationId xmlns:a16="http://schemas.microsoft.com/office/drawing/2014/main" id="{E46FC909-B97B-1A69-7908-A47E6F4CCC9C}"/>
                  </a:ext>
                </a:extLst>
              </p:cNvPr>
              <p:cNvSpPr/>
              <p:nvPr/>
            </p:nvSpPr>
            <p:spPr>
              <a:xfrm>
                <a:off x="148946" y="1008112"/>
                <a:ext cx="9909454" cy="242088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GB" sz="1100" spc="-1" noProof="0" dirty="0">
                  <a:solidFill>
                    <a:prstClr val="black"/>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2000" i="1" spc="-1" noProof="0" dirty="0">
                    <a:solidFill>
                      <a:srgbClr val="215968"/>
                    </a:solidFill>
                    <a:latin typeface="Arial" panose="020B0604020202020204" pitchFamily="34" charset="0"/>
                    <a:cs typeface="Arial" panose="020B0604020202020204" pitchFamily="34" charset="0"/>
                  </a:rPr>
                  <a:t>Production costs are: TC = 10*q + 1800 and demand </a:t>
                </a:r>
                <a14:m>
                  <m:oMath xmlns:m="http://schemas.openxmlformats.org/officeDocument/2006/math">
                    <m:r>
                      <a:rPr lang="en-GB" sz="2000" b="0" i="1" noProof="0" smtClean="0">
                        <a:solidFill>
                          <a:srgbClr val="4BACC6">
                            <a:lumMod val="50000"/>
                          </a:srgbClr>
                        </a:solidFill>
                        <a:latin typeface="Cambria Math"/>
                      </a:rPr>
                      <m:t>𝑝</m:t>
                    </m:r>
                    <m:d>
                      <m:dPr>
                        <m:ctrlPr>
                          <a:rPr lang="en-GB" sz="2000" i="1" noProof="0">
                            <a:solidFill>
                              <a:srgbClr val="4BACC6">
                                <a:lumMod val="50000"/>
                              </a:srgbClr>
                            </a:solidFill>
                            <a:latin typeface="Cambria Math" panose="02040503050406030204" pitchFamily="18" charset="0"/>
                          </a:rPr>
                        </m:ctrlPr>
                      </m:dPr>
                      <m:e>
                        <m:r>
                          <a:rPr lang="en-GB" sz="2000" b="0" i="1" noProof="0" smtClean="0">
                            <a:solidFill>
                              <a:srgbClr val="4BACC6">
                                <a:lumMod val="50000"/>
                              </a:srgbClr>
                            </a:solidFill>
                            <a:latin typeface="Cambria Math"/>
                          </a:rPr>
                          <m:t>𝑄</m:t>
                        </m:r>
                      </m:e>
                    </m:d>
                    <m:r>
                      <a:rPr lang="en-GB" sz="2000" b="0" i="1" noProof="0" smtClean="0">
                        <a:solidFill>
                          <a:srgbClr val="4BACC6">
                            <a:lumMod val="50000"/>
                          </a:srgbClr>
                        </a:solidFill>
                        <a:latin typeface="Cambria Math"/>
                      </a:rPr>
                      <m:t>=100−</m:t>
                    </m:r>
                    <m:r>
                      <a:rPr lang="en-GB" sz="2000" b="0" i="1" noProof="0" smtClean="0">
                        <a:solidFill>
                          <a:srgbClr val="4BACC6">
                            <a:lumMod val="50000"/>
                          </a:srgbClr>
                        </a:solidFill>
                        <a:latin typeface="Cambria Math"/>
                      </a:rPr>
                      <m:t>𝑄</m:t>
                    </m:r>
                  </m:oMath>
                </a14:m>
                <a:r>
                  <a:rPr lang="en-GB" sz="2000" noProof="0" dirty="0">
                    <a:solidFill>
                      <a:srgbClr val="4BACC6">
                        <a:lumMod val="50000"/>
                      </a:srgbClr>
                    </a:solidFill>
                    <a:latin typeface="Arial" panose="020B0604020202020204" pitchFamily="34" charset="0"/>
                    <a:cs typeface="Arial" panose="020B0604020202020204" pitchFamily="34" charset="0"/>
                  </a:rPr>
                  <a:t>, </a:t>
                </a:r>
                <a:endParaRPr lang="en-GB" sz="2000" i="1" spc="-1" noProof="0" dirty="0">
                  <a:solidFill>
                    <a:srgbClr val="215968"/>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2000" i="1" spc="-1" noProof="0" dirty="0">
                    <a:solidFill>
                      <a:srgbClr val="215968"/>
                    </a:solidFill>
                    <a:latin typeface="Arial" panose="020B0604020202020204" pitchFamily="34" charset="0"/>
                    <a:cs typeface="Arial" panose="020B0604020202020204" pitchFamily="34" charset="0"/>
                  </a:rPr>
                  <a:t>The market will set the price of the good at such a level that all your production will be sold. </a:t>
                </a:r>
              </a:p>
              <a:p>
                <a:pPr marL="342900" indent="-342900">
                  <a:buFont typeface="Arial" panose="020B0604020202020204" pitchFamily="34" charset="0"/>
                  <a:buChar char="•"/>
                </a:pPr>
                <a:r>
                  <a:rPr lang="en-GB" sz="2000" i="1" spc="-1" noProof="0" dirty="0">
                    <a:solidFill>
                      <a:srgbClr val="215968"/>
                    </a:solidFill>
                    <a:latin typeface="Arial" panose="020B0604020202020204" pitchFamily="34" charset="0"/>
                    <a:cs typeface="Arial" panose="020B0604020202020204" pitchFamily="34" charset="0"/>
                  </a:rPr>
                  <a:t>Decision variable  -&gt;  production</a:t>
                </a:r>
              </a:p>
            </p:txBody>
          </p:sp>
        </mc:Choice>
        <mc:Fallback xmlns="">
          <p:sp>
            <p:nvSpPr>
              <p:cNvPr id="5" name="CustomShape 6">
                <a:extLst>
                  <a:ext uri="{FF2B5EF4-FFF2-40B4-BE49-F238E27FC236}">
                    <a16:creationId xmlns:a16="http://schemas.microsoft.com/office/drawing/2014/main" id="{E46FC909-B97B-1A69-7908-A47E6F4CCC9C}"/>
                  </a:ext>
                </a:extLst>
              </p:cNvPr>
              <p:cNvSpPr>
                <a:spLocks noRot="1" noChangeAspect="1" noMove="1" noResize="1" noEditPoints="1" noAdjustHandles="1" noChangeArrowheads="1" noChangeShapeType="1" noTextEdit="1"/>
              </p:cNvSpPr>
              <p:nvPr/>
            </p:nvSpPr>
            <p:spPr>
              <a:xfrm>
                <a:off x="148946" y="1008112"/>
                <a:ext cx="9909454" cy="2420888"/>
              </a:xfrm>
              <a:prstGeom prst="rect">
                <a:avLst/>
              </a:prstGeom>
              <a:blipFill>
                <a:blip r:embed="rId2"/>
                <a:stretch>
                  <a:fillRect l="-554"/>
                </a:stretch>
              </a:blipFill>
              <a:ln>
                <a:noFill/>
              </a:ln>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6" name="Prostokąt 5">
                <a:extLst>
                  <a:ext uri="{FF2B5EF4-FFF2-40B4-BE49-F238E27FC236}">
                    <a16:creationId xmlns:a16="http://schemas.microsoft.com/office/drawing/2014/main" id="{DC4694A1-EE43-9C45-3A05-1A57F26D087E}"/>
                  </a:ext>
                </a:extLst>
              </p:cNvPr>
              <p:cNvSpPr/>
              <p:nvPr/>
            </p:nvSpPr>
            <p:spPr>
              <a:xfrm>
                <a:off x="418520" y="2943269"/>
                <a:ext cx="6571560" cy="3657796"/>
              </a:xfrm>
              <a:prstGeom prst="rect">
                <a:avLst/>
              </a:prstGeom>
            </p:spPr>
            <p:txBody>
              <a:bodyPr wrap="square">
                <a:spAutoFit/>
              </a:bodyPr>
              <a:lstStyle/>
              <a:p>
                <a:r>
                  <a:rPr lang="en-GB" sz="2000" noProof="0" dirty="0">
                    <a:solidFill>
                      <a:srgbClr val="4BACC6">
                        <a:lumMod val="50000"/>
                      </a:srgbClr>
                    </a:solidFill>
                    <a:latin typeface="Calibri"/>
                  </a:rPr>
                  <a:t>Analytical solution:</a:t>
                </a:r>
              </a:p>
              <a:p>
                <a:endParaRPr lang="en-GB" sz="2000" noProof="0" dirty="0">
                  <a:solidFill>
                    <a:srgbClr val="4BACC6">
                      <a:lumMod val="50000"/>
                    </a:srgbClr>
                  </a:solidFill>
                  <a:latin typeface="Calibri"/>
                </a:endParaRPr>
              </a:p>
              <a:p>
                <a14:m>
                  <m:oMath xmlns:m="http://schemas.openxmlformats.org/officeDocument/2006/math">
                    <m:r>
                      <a:rPr lang="en-GB" sz="2000" b="1" i="1" noProof="0" smtClean="0">
                        <a:solidFill>
                          <a:srgbClr val="4BACC6">
                            <a:lumMod val="50000"/>
                          </a:srgbClr>
                        </a:solidFill>
                        <a:latin typeface="Cambria Math"/>
                      </a:rPr>
                      <m:t>𝒑</m:t>
                    </m:r>
                    <m:d>
                      <m:dPr>
                        <m:ctrlPr>
                          <a:rPr lang="en-GB" sz="2000" b="1" i="1" noProof="0">
                            <a:solidFill>
                              <a:srgbClr val="4BACC6">
                                <a:lumMod val="50000"/>
                              </a:srgbClr>
                            </a:solidFill>
                            <a:latin typeface="Cambria Math" panose="02040503050406030204" pitchFamily="18" charset="0"/>
                          </a:rPr>
                        </m:ctrlPr>
                      </m:dPr>
                      <m:e>
                        <m:r>
                          <a:rPr lang="en-GB" sz="2000" b="1" i="1" noProof="0" smtClean="0">
                            <a:solidFill>
                              <a:srgbClr val="4BACC6">
                                <a:lumMod val="50000"/>
                              </a:srgbClr>
                            </a:solidFill>
                            <a:latin typeface="Cambria Math"/>
                          </a:rPr>
                          <m:t>𝑸</m:t>
                        </m:r>
                      </m:e>
                    </m:d>
                    <m:r>
                      <a:rPr lang="en-GB" sz="2000" b="1" i="1" noProof="0" smtClean="0">
                        <a:solidFill>
                          <a:srgbClr val="4BACC6">
                            <a:lumMod val="50000"/>
                          </a:srgbClr>
                        </a:solidFill>
                        <a:latin typeface="Cambria Math"/>
                      </a:rPr>
                      <m:t>=</m:t>
                    </m:r>
                    <m:r>
                      <a:rPr lang="en-GB" sz="2000" b="1" i="1" noProof="0" smtClean="0">
                        <a:solidFill>
                          <a:srgbClr val="4BACC6">
                            <a:lumMod val="50000"/>
                          </a:srgbClr>
                        </a:solidFill>
                        <a:latin typeface="Cambria Math"/>
                      </a:rPr>
                      <m:t>𝟏𝟎𝟎</m:t>
                    </m:r>
                    <m:r>
                      <a:rPr lang="en-GB" sz="2000" b="1" i="1" noProof="0" smtClean="0">
                        <a:solidFill>
                          <a:srgbClr val="4BACC6">
                            <a:lumMod val="50000"/>
                          </a:srgbClr>
                        </a:solidFill>
                        <a:latin typeface="Cambria Math"/>
                      </a:rPr>
                      <m:t>−</m:t>
                    </m:r>
                    <m:r>
                      <a:rPr lang="en-GB" sz="2000" b="1" i="1" noProof="0" smtClean="0">
                        <a:solidFill>
                          <a:srgbClr val="4BACC6">
                            <a:lumMod val="50000"/>
                          </a:srgbClr>
                        </a:solidFill>
                        <a:latin typeface="Cambria Math"/>
                      </a:rPr>
                      <m:t>𝑸</m:t>
                    </m:r>
                  </m:oMath>
                </a14:m>
                <a:r>
                  <a:rPr lang="en-GB" sz="2000" b="1" noProof="0" dirty="0">
                    <a:solidFill>
                      <a:srgbClr val="4BACC6">
                        <a:lumMod val="50000"/>
                      </a:srgbClr>
                    </a:solidFill>
                    <a:latin typeface="Calibri"/>
                  </a:rPr>
                  <a:t>, </a:t>
                </a:r>
              </a:p>
              <a:p>
                <a:endParaRPr lang="en-GB" sz="2000" b="1" i="1" noProof="0" dirty="0">
                  <a:solidFill>
                    <a:srgbClr val="4BACC6">
                      <a:lumMod val="50000"/>
                    </a:srgbClr>
                  </a:solidFill>
                  <a:latin typeface="Calibri"/>
                </a:endParaRPr>
              </a:p>
              <a:p>
                <a14:m>
                  <m:oMath xmlns:m="http://schemas.openxmlformats.org/officeDocument/2006/math">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𝑻𝑪</m:t>
                        </m:r>
                      </m:e>
                      <m:sub>
                        <m:r>
                          <a:rPr lang="en-GB" sz="2000" b="1" i="1" noProof="0" smtClean="0">
                            <a:solidFill>
                              <a:srgbClr val="4BACC6">
                                <a:lumMod val="50000"/>
                              </a:srgbClr>
                            </a:solidFill>
                            <a:latin typeface="Cambria Math"/>
                          </a:rPr>
                          <m:t>𝒊</m:t>
                        </m:r>
                      </m:sub>
                    </m:sSub>
                    <m:d>
                      <m:dPr>
                        <m:ctrlPr>
                          <a:rPr lang="en-GB" sz="2000" b="1" i="1" noProof="0">
                            <a:solidFill>
                              <a:srgbClr val="4BACC6">
                                <a:lumMod val="50000"/>
                              </a:srgbClr>
                            </a:solidFill>
                            <a:latin typeface="Cambria Math" panose="02040503050406030204" pitchFamily="18" charset="0"/>
                          </a:rPr>
                        </m:ctrlPr>
                      </m:dPr>
                      <m:e>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r>
                          <a:rPr lang="en-GB" sz="2000" b="1" i="1" noProof="0" smtClean="0">
                            <a:solidFill>
                              <a:srgbClr val="4BACC6">
                                <a:lumMod val="50000"/>
                              </a:srgbClr>
                            </a:solidFill>
                            <a:latin typeface="Cambria Math"/>
                          </a:rPr>
                          <m:t>&gt;</m:t>
                        </m:r>
                        <m:r>
                          <a:rPr lang="en-GB" sz="2000" b="1" i="1" noProof="0" smtClean="0">
                            <a:solidFill>
                              <a:srgbClr val="4BACC6">
                                <a:lumMod val="50000"/>
                              </a:srgbClr>
                            </a:solidFill>
                            <a:latin typeface="Cambria Math"/>
                          </a:rPr>
                          <m:t>𝟎</m:t>
                        </m:r>
                      </m:e>
                    </m:d>
                    <m:r>
                      <a:rPr lang="en-GB" sz="2000" b="1" i="1" noProof="0" smtClean="0">
                        <a:solidFill>
                          <a:srgbClr val="4BACC6">
                            <a:lumMod val="50000"/>
                          </a:srgbClr>
                        </a:solidFill>
                        <a:latin typeface="Cambria Math"/>
                      </a:rPr>
                      <m:t>=</m:t>
                    </m:r>
                    <m:r>
                      <a:rPr lang="en-GB" sz="2000" b="1" i="1" noProof="0" smtClean="0">
                        <a:solidFill>
                          <a:srgbClr val="4BACC6">
                            <a:lumMod val="50000"/>
                          </a:srgbClr>
                        </a:solidFill>
                        <a:latin typeface="Cambria Math"/>
                      </a:rPr>
                      <m:t>𝟏𝟎</m:t>
                    </m:r>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r>
                      <a:rPr lang="en-GB" sz="2000" b="1" i="1" noProof="0" smtClean="0">
                        <a:solidFill>
                          <a:srgbClr val="4BACC6">
                            <a:lumMod val="50000"/>
                          </a:srgbClr>
                        </a:solidFill>
                        <a:latin typeface="Cambria Math"/>
                      </a:rPr>
                      <m:t>+</m:t>
                    </m:r>
                    <m:r>
                      <a:rPr lang="en-GB" sz="2000" b="1" i="1" noProof="0" smtClean="0">
                        <a:solidFill>
                          <a:srgbClr val="4BACC6">
                            <a:lumMod val="50000"/>
                          </a:srgbClr>
                        </a:solidFill>
                        <a:latin typeface="Cambria Math"/>
                      </a:rPr>
                      <m:t>𝟏𝟖𝟎𝟎</m:t>
                    </m:r>
                  </m:oMath>
                </a14:m>
                <a:r>
                  <a:rPr lang="en-GB" sz="2000" b="1" noProof="0" dirty="0">
                    <a:solidFill>
                      <a:srgbClr val="4BACC6">
                        <a:lumMod val="50000"/>
                      </a:srgbClr>
                    </a:solidFill>
                    <a:latin typeface="Calibri"/>
                  </a:rPr>
                  <a:t> </a:t>
                </a:r>
              </a:p>
              <a:p>
                <a:endParaRPr lang="en-GB" sz="2000" b="1" noProof="0" dirty="0">
                  <a:solidFill>
                    <a:srgbClr val="4BACC6">
                      <a:lumMod val="50000"/>
                    </a:srgbClr>
                  </a:solidFill>
                  <a:latin typeface="Calibri"/>
                </a:endParaRPr>
              </a:p>
              <a:p>
                <a:pPr/>
                <a14:m>
                  <m:oMathPara xmlns:m="http://schemas.openxmlformats.org/officeDocument/2006/math">
                    <m:oMathParaPr>
                      <m:jc m:val="left"/>
                    </m:oMathParaPr>
                    <m:oMath xmlns:m="http://schemas.openxmlformats.org/officeDocument/2006/math">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𝝅</m:t>
                          </m:r>
                        </m:e>
                        <m:sub>
                          <m:r>
                            <a:rPr lang="en-GB" sz="2000" b="1" i="1" noProof="0" smtClean="0">
                              <a:solidFill>
                                <a:srgbClr val="4BACC6">
                                  <a:lumMod val="50000"/>
                                </a:srgbClr>
                              </a:solidFill>
                              <a:latin typeface="Cambria Math"/>
                            </a:rPr>
                            <m:t>𝒊</m:t>
                          </m:r>
                        </m:sub>
                      </m:sSub>
                      <m:d>
                        <m:dPr>
                          <m:ctrlPr>
                            <a:rPr lang="en-GB" sz="2000" b="1" i="1" noProof="0">
                              <a:solidFill>
                                <a:srgbClr val="4BACC6">
                                  <a:lumMod val="50000"/>
                                </a:srgbClr>
                              </a:solidFill>
                              <a:latin typeface="Cambria Math" panose="02040503050406030204" pitchFamily="18" charset="0"/>
                            </a:rPr>
                          </m:ctrlPr>
                        </m:dPr>
                        <m:e>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e>
                      </m:d>
                      <m:r>
                        <a:rPr lang="en-GB" sz="2000" b="1" i="1" noProof="0" smtClean="0">
                          <a:solidFill>
                            <a:srgbClr val="4BACC6">
                              <a:lumMod val="50000"/>
                            </a:srgbClr>
                          </a:solidFill>
                          <a:latin typeface="Cambria Math"/>
                        </a:rPr>
                        <m:t>=</m:t>
                      </m:r>
                      <m:r>
                        <a:rPr lang="en-GB" sz="2000" b="1" i="1" noProof="0" smtClean="0">
                          <a:solidFill>
                            <a:srgbClr val="C00000"/>
                          </a:solidFill>
                          <a:latin typeface="Cambria Math"/>
                        </a:rPr>
                        <m:t>𝒑</m:t>
                      </m:r>
                      <m:d>
                        <m:dPr>
                          <m:ctrlPr>
                            <a:rPr lang="en-GB" sz="2000" b="1" i="1" noProof="0" smtClean="0">
                              <a:solidFill>
                                <a:srgbClr val="C00000"/>
                              </a:solidFill>
                              <a:latin typeface="Cambria Math" panose="02040503050406030204" pitchFamily="18" charset="0"/>
                            </a:rPr>
                          </m:ctrlPr>
                        </m:dPr>
                        <m:e>
                          <m:sSub>
                            <m:sSubPr>
                              <m:ctrlPr>
                                <a:rPr lang="en-GB" sz="2000" b="1" i="1" noProof="0" smtClean="0">
                                  <a:solidFill>
                                    <a:srgbClr val="C00000"/>
                                  </a:solidFill>
                                  <a:latin typeface="Cambria Math" panose="02040503050406030204" pitchFamily="18" charset="0"/>
                                </a:rPr>
                              </m:ctrlPr>
                            </m:sSubPr>
                            <m:e>
                              <m:r>
                                <a:rPr lang="en-GB" sz="2000" b="1" i="1" noProof="0" smtClean="0">
                                  <a:solidFill>
                                    <a:srgbClr val="C00000"/>
                                  </a:solidFill>
                                  <a:latin typeface="Cambria Math"/>
                                </a:rPr>
                                <m:t>𝒒</m:t>
                              </m:r>
                            </m:e>
                            <m:sub>
                              <m:r>
                                <a:rPr lang="en-GB" sz="2000" b="1" i="1" noProof="0" smtClean="0">
                                  <a:solidFill>
                                    <a:srgbClr val="C00000"/>
                                  </a:solidFill>
                                  <a:latin typeface="Cambria Math"/>
                                </a:rPr>
                                <m:t>𝒊</m:t>
                              </m:r>
                            </m:sub>
                          </m:sSub>
                        </m:e>
                      </m:d>
                      <m:sSub>
                        <m:sSubPr>
                          <m:ctrlPr>
                            <a:rPr lang="en-GB" sz="2000" b="1" i="1" noProof="0">
                              <a:solidFill>
                                <a:srgbClr val="C00000"/>
                              </a:solidFill>
                              <a:latin typeface="Cambria Math" panose="02040503050406030204" pitchFamily="18" charset="0"/>
                            </a:rPr>
                          </m:ctrlPr>
                        </m:sSubPr>
                        <m:e>
                          <m:r>
                            <a:rPr lang="en-GB" sz="2000" b="1" i="1" noProof="0" smtClean="0">
                              <a:solidFill>
                                <a:srgbClr val="C00000"/>
                              </a:solidFill>
                              <a:latin typeface="Cambria Math"/>
                            </a:rPr>
                            <m:t>𝒒</m:t>
                          </m:r>
                        </m:e>
                        <m:sub>
                          <m:r>
                            <a:rPr lang="en-GB" sz="2000" b="1" i="1" noProof="0" smtClean="0">
                              <a:solidFill>
                                <a:srgbClr val="C00000"/>
                              </a:solidFill>
                              <a:latin typeface="Cambria Math"/>
                            </a:rPr>
                            <m:t>𝒊</m:t>
                          </m:r>
                        </m:sub>
                      </m:sSub>
                      <m:r>
                        <a:rPr lang="en-GB" sz="2000" b="1" i="1" noProof="0" smtClean="0">
                          <a:solidFill>
                            <a:srgbClr val="4BACC6">
                              <a:lumMod val="50000"/>
                            </a:srgbClr>
                          </a:solidFill>
                          <a:latin typeface="Cambria Math"/>
                        </a:rPr>
                        <m:t>−</m:t>
                      </m:r>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𝑻𝑪</m:t>
                          </m:r>
                        </m:e>
                        <m:sub>
                          <m:r>
                            <a:rPr lang="en-GB" sz="2000" b="1" i="1" noProof="0" smtClean="0">
                              <a:solidFill>
                                <a:srgbClr val="4BACC6">
                                  <a:lumMod val="50000"/>
                                </a:srgbClr>
                              </a:solidFill>
                              <a:latin typeface="Cambria Math"/>
                            </a:rPr>
                            <m:t>𝒊</m:t>
                          </m:r>
                        </m:sub>
                      </m:sSub>
                      <m:d>
                        <m:dPr>
                          <m:ctrlPr>
                            <a:rPr lang="en-GB" sz="2000" b="1" i="1" noProof="0">
                              <a:solidFill>
                                <a:srgbClr val="4BACC6">
                                  <a:lumMod val="50000"/>
                                </a:srgbClr>
                              </a:solidFill>
                              <a:latin typeface="Cambria Math" panose="02040503050406030204" pitchFamily="18" charset="0"/>
                            </a:rPr>
                          </m:ctrlPr>
                        </m:dPr>
                        <m:e>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e>
                      </m:d>
                      <m:r>
                        <a:rPr lang="en-GB" sz="2000" b="1" i="1" noProof="0" smtClean="0">
                          <a:solidFill>
                            <a:srgbClr val="4BACC6">
                              <a:lumMod val="50000"/>
                            </a:srgbClr>
                          </a:solidFill>
                          <a:latin typeface="Cambria Math"/>
                        </a:rPr>
                        <m:t>=</m:t>
                      </m:r>
                      <m:d>
                        <m:dPr>
                          <m:ctrlPr>
                            <a:rPr lang="en-GB" sz="2000" b="1" i="1" noProof="0">
                              <a:solidFill>
                                <a:srgbClr val="4BACC6">
                                  <a:lumMod val="50000"/>
                                </a:srgbClr>
                              </a:solidFill>
                              <a:latin typeface="Cambria Math" panose="02040503050406030204" pitchFamily="18" charset="0"/>
                            </a:rPr>
                          </m:ctrlPr>
                        </m:dPr>
                        <m:e>
                          <m:r>
                            <a:rPr lang="en-GB" sz="2000" b="1" i="1" noProof="0" smtClean="0">
                              <a:solidFill>
                                <a:srgbClr val="4BACC6">
                                  <a:lumMod val="50000"/>
                                </a:srgbClr>
                              </a:solidFill>
                              <a:latin typeface="Cambria Math"/>
                            </a:rPr>
                            <m:t>𝒂</m:t>
                          </m:r>
                          <m:r>
                            <a:rPr lang="en-GB" sz="2000" b="1" i="1" noProof="0" smtClean="0">
                              <a:solidFill>
                                <a:srgbClr val="4BACC6">
                                  <a:lumMod val="50000"/>
                                </a:srgbClr>
                              </a:solidFill>
                              <a:latin typeface="Cambria Math"/>
                            </a:rPr>
                            <m:t>−</m:t>
                          </m:r>
                          <m:r>
                            <a:rPr lang="en-GB" sz="2000" b="1" i="1" noProof="0" smtClean="0">
                              <a:solidFill>
                                <a:srgbClr val="4BACC6">
                                  <a:lumMod val="50000"/>
                                </a:srgbClr>
                              </a:solidFill>
                              <a:latin typeface="Cambria Math"/>
                            </a:rPr>
                            <m:t>𝒃</m:t>
                          </m:r>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e>
                      </m:d>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r>
                        <a:rPr lang="en-GB" sz="2000" b="1" i="1" noProof="0" smtClean="0">
                          <a:solidFill>
                            <a:srgbClr val="4BACC6">
                              <a:lumMod val="50000"/>
                            </a:srgbClr>
                          </a:solidFill>
                          <a:latin typeface="Cambria Math"/>
                        </a:rPr>
                        <m:t>−</m:t>
                      </m:r>
                      <m:d>
                        <m:dPr>
                          <m:ctrlPr>
                            <a:rPr lang="en-GB" sz="2000" b="1" i="1" noProof="0">
                              <a:solidFill>
                                <a:srgbClr val="4BACC6">
                                  <a:lumMod val="50000"/>
                                </a:srgbClr>
                              </a:solidFill>
                              <a:latin typeface="Cambria Math" panose="02040503050406030204" pitchFamily="18" charset="0"/>
                            </a:rPr>
                          </m:ctrlPr>
                        </m:dPr>
                        <m:e>
                          <m:r>
                            <a:rPr lang="en-GB" sz="2000" b="1" i="1" noProof="0" smtClean="0">
                              <a:solidFill>
                                <a:srgbClr val="4BACC6">
                                  <a:lumMod val="50000"/>
                                </a:srgbClr>
                              </a:solidFill>
                              <a:latin typeface="Cambria Math"/>
                            </a:rPr>
                            <m:t>𝒄</m:t>
                          </m:r>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r>
                            <a:rPr lang="en-GB" sz="2000" b="1" i="1" noProof="0" smtClean="0">
                              <a:solidFill>
                                <a:srgbClr val="4BACC6">
                                  <a:lumMod val="50000"/>
                                </a:srgbClr>
                              </a:solidFill>
                              <a:latin typeface="Cambria Math"/>
                            </a:rPr>
                            <m:t>+</m:t>
                          </m:r>
                          <m:r>
                            <a:rPr lang="en-GB" sz="2000" b="1" i="1" noProof="0" smtClean="0">
                              <a:solidFill>
                                <a:srgbClr val="4BACC6">
                                  <a:lumMod val="50000"/>
                                </a:srgbClr>
                              </a:solidFill>
                              <a:latin typeface="Cambria Math"/>
                            </a:rPr>
                            <m:t>𝒅</m:t>
                          </m:r>
                        </m:e>
                      </m:d>
                    </m:oMath>
                  </m:oMathPara>
                </a14:m>
                <a:endParaRPr lang="en-GB" sz="2000" b="1" noProof="0" dirty="0">
                  <a:solidFill>
                    <a:srgbClr val="4BACC6">
                      <a:lumMod val="50000"/>
                    </a:srgbClr>
                  </a:solidFill>
                  <a:latin typeface="Calibri"/>
                </a:endParaRPr>
              </a:p>
              <a:p>
                <a:endParaRPr lang="en-GB" sz="2000" noProof="0" dirty="0">
                  <a:solidFill>
                    <a:srgbClr val="4BACC6">
                      <a:lumMod val="50000"/>
                    </a:srgbClr>
                  </a:solidFill>
                  <a:latin typeface="Arial" charset="0"/>
                </a:endParaRPr>
              </a:p>
              <a:p>
                <a:pPr/>
                <a14:m>
                  <m:oMathPara xmlns:m="http://schemas.openxmlformats.org/officeDocument/2006/math">
                    <m:oMathParaPr>
                      <m:jc m:val="centerGroup"/>
                    </m:oMathParaPr>
                    <m:oMath xmlns:m="http://schemas.openxmlformats.org/officeDocument/2006/math">
                      <m:r>
                        <m:rPr>
                          <m:nor/>
                        </m:rPr>
                        <a:rPr lang="en-GB" sz="2000" noProof="0" smtClean="0">
                          <a:solidFill>
                            <a:srgbClr val="C00000"/>
                          </a:solidFill>
                          <a:latin typeface="Arial" charset="0"/>
                        </a:rPr>
                        <m:t>MR</m:t>
                      </m:r>
                      <m:r>
                        <m:rPr>
                          <m:nor/>
                        </m:rPr>
                        <a:rPr lang="en-GB" sz="2000" noProof="0" smtClean="0">
                          <a:solidFill>
                            <a:srgbClr val="C00000"/>
                          </a:solidFill>
                          <a:latin typeface="Arial" charset="0"/>
                        </a:rPr>
                        <m:t>(</m:t>
                      </m:r>
                      <m:sSub>
                        <m:sSubPr>
                          <m:ctrlPr>
                            <a:rPr lang="en-GB" sz="2000" b="1" i="1" noProof="0">
                              <a:solidFill>
                                <a:srgbClr val="C00000"/>
                              </a:solidFill>
                              <a:latin typeface="Cambria Math" panose="02040503050406030204" pitchFamily="18" charset="0"/>
                            </a:rPr>
                          </m:ctrlPr>
                        </m:sSubPr>
                        <m:e>
                          <m:r>
                            <a:rPr lang="en-GB" sz="2000" b="1" i="1" noProof="0">
                              <a:solidFill>
                                <a:srgbClr val="C00000"/>
                              </a:solidFill>
                              <a:latin typeface="Cambria Math"/>
                            </a:rPr>
                            <m:t>𝒒</m:t>
                          </m:r>
                        </m:e>
                        <m:sub>
                          <m:r>
                            <a:rPr lang="en-GB" sz="2000" b="1" i="1" noProof="0">
                              <a:solidFill>
                                <a:srgbClr val="C00000"/>
                              </a:solidFill>
                              <a:latin typeface="Cambria Math"/>
                            </a:rPr>
                            <m:t>𝒊</m:t>
                          </m:r>
                        </m:sub>
                      </m:sSub>
                      <m:r>
                        <m:rPr>
                          <m:nor/>
                        </m:rPr>
                        <a:rPr lang="en-GB" sz="2000" noProof="0" smtClean="0">
                          <a:solidFill>
                            <a:srgbClr val="C00000"/>
                          </a:solidFill>
                          <a:latin typeface="Arial" charset="0"/>
                        </a:rPr>
                        <m:t>∗) = </m:t>
                      </m:r>
                      <m:r>
                        <m:rPr>
                          <m:nor/>
                        </m:rPr>
                        <a:rPr lang="en-GB" sz="2000" noProof="0" smtClean="0">
                          <a:solidFill>
                            <a:srgbClr val="C00000"/>
                          </a:solidFill>
                          <a:latin typeface="Arial" charset="0"/>
                        </a:rPr>
                        <m:t>MC</m:t>
                      </m:r>
                      <m:r>
                        <m:rPr>
                          <m:nor/>
                        </m:rPr>
                        <a:rPr lang="en-GB" sz="2000" noProof="0" smtClean="0">
                          <a:solidFill>
                            <a:srgbClr val="C00000"/>
                          </a:solidFill>
                          <a:latin typeface="Arial" charset="0"/>
                        </a:rPr>
                        <m:t>(</m:t>
                      </m:r>
                      <m:sSub>
                        <m:sSubPr>
                          <m:ctrlPr>
                            <a:rPr lang="en-GB" sz="2000" b="1" i="1" noProof="0">
                              <a:solidFill>
                                <a:srgbClr val="C00000"/>
                              </a:solidFill>
                              <a:latin typeface="Cambria Math" panose="02040503050406030204" pitchFamily="18" charset="0"/>
                            </a:rPr>
                          </m:ctrlPr>
                        </m:sSubPr>
                        <m:e>
                          <m:r>
                            <a:rPr lang="en-GB" sz="2000" b="1" i="1" noProof="0">
                              <a:solidFill>
                                <a:srgbClr val="C00000"/>
                              </a:solidFill>
                              <a:latin typeface="Cambria Math"/>
                            </a:rPr>
                            <m:t>𝒒</m:t>
                          </m:r>
                        </m:e>
                        <m:sub>
                          <m:r>
                            <a:rPr lang="en-GB" sz="2000" b="1" i="1" noProof="0">
                              <a:solidFill>
                                <a:srgbClr val="C00000"/>
                              </a:solidFill>
                              <a:latin typeface="Cambria Math"/>
                            </a:rPr>
                            <m:t>𝒊</m:t>
                          </m:r>
                        </m:sub>
                      </m:sSub>
                      <m:r>
                        <m:rPr>
                          <m:nor/>
                        </m:rPr>
                        <a:rPr lang="en-GB" sz="2000" noProof="0" smtClean="0">
                          <a:solidFill>
                            <a:srgbClr val="C00000"/>
                          </a:solidFill>
                          <a:latin typeface="Arial" charset="0"/>
                        </a:rPr>
                        <m:t>∗)</m:t>
                      </m:r>
                    </m:oMath>
                  </m:oMathPara>
                </a14:m>
                <a:endParaRPr lang="en-GB" sz="2000" noProof="0" dirty="0">
                  <a:solidFill>
                    <a:srgbClr val="C00000"/>
                  </a:solidFill>
                  <a:latin typeface="Symbol" panose="05050102010706020507" pitchFamily="18" charset="2"/>
                </a:endParaRPr>
              </a:p>
              <a:p>
                <a:endParaRPr lang="en-GB" sz="2000" b="1" noProof="0" dirty="0">
                  <a:solidFill>
                    <a:srgbClr val="4BACC6">
                      <a:lumMod val="50000"/>
                    </a:srgbClr>
                  </a:solidFill>
                  <a:latin typeface="Calibri"/>
                </a:endParaRPr>
              </a:p>
              <a:p>
                <a14:m>
                  <m:oMath xmlns:m="http://schemas.openxmlformats.org/officeDocument/2006/math">
                    <m:f>
                      <m:fPr>
                        <m:ctrlPr>
                          <a:rPr lang="en-GB" sz="2000" b="1" i="1" noProof="0">
                            <a:solidFill>
                              <a:srgbClr val="4BACC6">
                                <a:lumMod val="50000"/>
                              </a:srgbClr>
                            </a:solidFill>
                            <a:latin typeface="Cambria Math" panose="02040503050406030204" pitchFamily="18" charset="0"/>
                          </a:rPr>
                        </m:ctrlPr>
                      </m:fPr>
                      <m:num>
                        <m:r>
                          <a:rPr lang="en-GB" sz="2000" b="1" i="1" noProof="0" smtClean="0">
                            <a:solidFill>
                              <a:srgbClr val="4BACC6">
                                <a:lumMod val="50000"/>
                              </a:srgbClr>
                            </a:solidFill>
                            <a:latin typeface="Cambria Math"/>
                          </a:rPr>
                          <m:t>𝝏</m:t>
                        </m:r>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𝝅</m:t>
                            </m:r>
                          </m:e>
                          <m:sub>
                            <m:r>
                              <a:rPr lang="en-GB" sz="2000" b="1" i="1" noProof="0" smtClean="0">
                                <a:solidFill>
                                  <a:srgbClr val="4BACC6">
                                    <a:lumMod val="50000"/>
                                  </a:srgbClr>
                                </a:solidFill>
                                <a:latin typeface="Cambria Math"/>
                              </a:rPr>
                              <m:t>𝒊</m:t>
                            </m:r>
                          </m:sub>
                        </m:sSub>
                      </m:num>
                      <m:den>
                        <m:r>
                          <a:rPr lang="en-GB" sz="2000" b="1" i="1" noProof="0" smtClean="0">
                            <a:solidFill>
                              <a:srgbClr val="4BACC6">
                                <a:lumMod val="50000"/>
                              </a:srgbClr>
                            </a:solidFill>
                            <a:latin typeface="Cambria Math"/>
                          </a:rPr>
                          <m:t>𝝏</m:t>
                        </m:r>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den>
                    </m:f>
                    <m:r>
                      <a:rPr lang="en-GB" sz="2000" b="1" i="1" noProof="0" smtClean="0">
                        <a:solidFill>
                          <a:srgbClr val="4BACC6">
                            <a:lumMod val="50000"/>
                          </a:srgbClr>
                        </a:solidFill>
                        <a:latin typeface="Cambria Math"/>
                      </a:rPr>
                      <m:t>=</m:t>
                    </m:r>
                    <m:r>
                      <a:rPr lang="en-GB" sz="2000" b="1" i="1" noProof="0" smtClean="0">
                        <a:solidFill>
                          <a:srgbClr val="4BACC6">
                            <a:lumMod val="50000"/>
                          </a:srgbClr>
                        </a:solidFill>
                        <a:latin typeface="Cambria Math"/>
                      </a:rPr>
                      <m:t>𝟎</m:t>
                    </m:r>
                  </m:oMath>
                </a14:m>
                <a:r>
                  <a:rPr lang="en-GB" sz="2000" b="1" noProof="0" dirty="0">
                    <a:solidFill>
                      <a:srgbClr val="4BACC6">
                        <a:lumMod val="50000"/>
                      </a:srgbClr>
                    </a:solidFill>
                    <a:latin typeface="Calibri"/>
                  </a:rPr>
                  <a:t> --&gt; </a:t>
                </a:r>
                <a14:m>
                  <m:oMath xmlns:m="http://schemas.openxmlformats.org/officeDocument/2006/math">
                    <m:sSub>
                      <m:sSubPr>
                        <m:ctrlPr>
                          <a:rPr lang="en-GB" sz="2000" b="1" i="1" noProof="0">
                            <a:solidFill>
                              <a:srgbClr val="4BACC6">
                                <a:lumMod val="50000"/>
                              </a:srgbClr>
                            </a:solidFill>
                            <a:latin typeface="Cambria Math" panose="02040503050406030204" pitchFamily="18" charset="0"/>
                          </a:rPr>
                        </m:ctrlPr>
                      </m:sSubPr>
                      <m:e>
                        <m:r>
                          <a:rPr lang="en-GB" sz="2000" b="1" i="1" noProof="0" smtClean="0">
                            <a:solidFill>
                              <a:srgbClr val="4BACC6">
                                <a:lumMod val="50000"/>
                              </a:srgbClr>
                            </a:solidFill>
                            <a:latin typeface="Cambria Math"/>
                          </a:rPr>
                          <m:t>𝒒</m:t>
                        </m:r>
                      </m:e>
                      <m:sub>
                        <m:r>
                          <a:rPr lang="en-GB" sz="2000" b="1" i="1" noProof="0" smtClean="0">
                            <a:solidFill>
                              <a:srgbClr val="4BACC6">
                                <a:lumMod val="50000"/>
                              </a:srgbClr>
                            </a:solidFill>
                            <a:latin typeface="Cambria Math"/>
                          </a:rPr>
                          <m:t>𝒊</m:t>
                        </m:r>
                      </m:sub>
                    </m:sSub>
                  </m:oMath>
                </a14:m>
                <a:r>
                  <a:rPr lang="en-GB" sz="2000" b="1" noProof="0" dirty="0">
                    <a:solidFill>
                      <a:srgbClr val="4BACC6">
                        <a:lumMod val="50000"/>
                      </a:srgbClr>
                    </a:solidFill>
                    <a:latin typeface="Calibri"/>
                  </a:rPr>
                  <a:t> = 45, p = 55, </a:t>
                </a:r>
                <a14:m>
                  <m:oMath xmlns:m="http://schemas.openxmlformats.org/officeDocument/2006/math">
                    <m:r>
                      <a:rPr lang="en-GB" sz="2000" b="1" i="1" noProof="0" smtClean="0">
                        <a:solidFill>
                          <a:srgbClr val="4BACC6">
                            <a:lumMod val="50000"/>
                          </a:srgbClr>
                        </a:solidFill>
                        <a:latin typeface="Cambria Math"/>
                        <a:ea typeface="Cambria Math"/>
                      </a:rPr>
                      <m:t>𝝅</m:t>
                    </m:r>
                    <m:r>
                      <a:rPr lang="en-GB" sz="2000" b="1" i="1" noProof="0" smtClean="0">
                        <a:solidFill>
                          <a:srgbClr val="4BACC6">
                            <a:lumMod val="50000"/>
                          </a:srgbClr>
                        </a:solidFill>
                        <a:latin typeface="Cambria Math"/>
                        <a:ea typeface="Cambria Math"/>
                      </a:rPr>
                      <m:t>=</m:t>
                    </m:r>
                    <m:r>
                      <a:rPr lang="en-GB" sz="2000" b="1" i="1" noProof="0" smtClean="0">
                        <a:solidFill>
                          <a:srgbClr val="4BACC6">
                            <a:lumMod val="50000"/>
                          </a:srgbClr>
                        </a:solidFill>
                        <a:latin typeface="Cambria Math"/>
                        <a:ea typeface="Cambria Math"/>
                      </a:rPr>
                      <m:t>𝟐𝟐𝟓</m:t>
                    </m:r>
                  </m:oMath>
                </a14:m>
                <a:endParaRPr lang="en-GB" sz="2000" b="1" noProof="0" dirty="0">
                  <a:solidFill>
                    <a:srgbClr val="4BACC6">
                      <a:lumMod val="50000"/>
                    </a:srgbClr>
                  </a:solidFill>
                  <a:latin typeface="Calibri"/>
                </a:endParaRPr>
              </a:p>
            </p:txBody>
          </p:sp>
        </mc:Choice>
        <mc:Fallback xmlns="">
          <p:sp>
            <p:nvSpPr>
              <p:cNvPr id="6" name="Prostokąt 5">
                <a:extLst>
                  <a:ext uri="{FF2B5EF4-FFF2-40B4-BE49-F238E27FC236}">
                    <a16:creationId xmlns:a16="http://schemas.microsoft.com/office/drawing/2014/main" id="{DC4694A1-EE43-9C45-3A05-1A57F26D087E}"/>
                  </a:ext>
                </a:extLst>
              </p:cNvPr>
              <p:cNvSpPr>
                <a:spLocks noRot="1" noChangeAspect="1" noMove="1" noResize="1" noEditPoints="1" noAdjustHandles="1" noChangeArrowheads="1" noChangeShapeType="1" noTextEdit="1"/>
              </p:cNvSpPr>
              <p:nvPr/>
            </p:nvSpPr>
            <p:spPr>
              <a:xfrm>
                <a:off x="418520" y="2943269"/>
                <a:ext cx="6571560" cy="3657796"/>
              </a:xfrm>
              <a:prstGeom prst="rect">
                <a:avLst/>
              </a:prstGeom>
              <a:blipFill>
                <a:blip r:embed="rId3"/>
                <a:stretch>
                  <a:fillRect l="-1020" t="-1000"/>
                </a:stretch>
              </a:blipFill>
            </p:spPr>
            <p:txBody>
              <a:bodyPr/>
              <a:lstStyle/>
              <a:p>
                <a:r>
                  <a:rPr lang="pl-PL">
                    <a:noFill/>
                  </a:rPr>
                  <a:t> </a:t>
                </a:r>
              </a:p>
            </p:txBody>
          </p:sp>
        </mc:Fallback>
      </mc:AlternateContent>
      <p:sp>
        <p:nvSpPr>
          <p:cNvPr id="2" name="Tytuł 1">
            <a:extLst>
              <a:ext uri="{FF2B5EF4-FFF2-40B4-BE49-F238E27FC236}">
                <a16:creationId xmlns:a16="http://schemas.microsoft.com/office/drawing/2014/main" id="{340964E3-ED75-678D-D98D-32BA857DE533}"/>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Fundamental Concepts: Monopoly</a:t>
            </a:r>
          </a:p>
        </p:txBody>
      </p:sp>
      <p:sp>
        <p:nvSpPr>
          <p:cNvPr id="7" name="Prostokąt 1">
            <a:extLst>
              <a:ext uri="{FF2B5EF4-FFF2-40B4-BE49-F238E27FC236}">
                <a16:creationId xmlns:a16="http://schemas.microsoft.com/office/drawing/2014/main" id="{E9918677-F29D-C919-7F0C-A64C9E1D1E32}"/>
              </a:ext>
            </a:extLst>
          </p:cNvPr>
          <p:cNvSpPr/>
          <p:nvPr/>
        </p:nvSpPr>
        <p:spPr>
          <a:xfrm>
            <a:off x="2936240" y="2544350"/>
            <a:ext cx="9031902" cy="461665"/>
          </a:xfrm>
          <a:prstGeom prst="rect">
            <a:avLst/>
          </a:prstGeom>
        </p:spPr>
        <p:txBody>
          <a:bodyPr wrap="square">
            <a:spAutoFit/>
          </a:bodyPr>
          <a:lstStyle/>
          <a:p>
            <a:r>
              <a:rPr lang="en-GB" sz="2400" b="1" noProof="0" dirty="0">
                <a:solidFill>
                  <a:srgbClr val="4BACC6">
                    <a:lumMod val="50000"/>
                  </a:srgbClr>
                </a:solidFill>
                <a:latin typeface="Calibri"/>
              </a:rPr>
              <a:t>By trials and errors, the firm is able to find the optimal solution.</a:t>
            </a:r>
          </a:p>
        </p:txBody>
      </p:sp>
      <p:cxnSp>
        <p:nvCxnSpPr>
          <p:cNvPr id="10" name="Straight Arrow Connector 9">
            <a:extLst>
              <a:ext uri="{FF2B5EF4-FFF2-40B4-BE49-F238E27FC236}">
                <a16:creationId xmlns:a16="http://schemas.microsoft.com/office/drawing/2014/main" id="{94A1C52A-A316-F843-0B7A-0A6E36A68088}"/>
              </a:ext>
            </a:extLst>
          </p:cNvPr>
          <p:cNvCxnSpPr>
            <a:cxnSpLocks/>
          </p:cNvCxnSpPr>
          <p:nvPr/>
        </p:nvCxnSpPr>
        <p:spPr>
          <a:xfrm flipH="1">
            <a:off x="2936240" y="5080000"/>
            <a:ext cx="144272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71604D8-0B63-DC45-590B-10032A2B8033}"/>
              </a:ext>
            </a:extLst>
          </p:cNvPr>
          <p:cNvCxnSpPr>
            <a:cxnSpLocks/>
          </p:cNvCxnSpPr>
          <p:nvPr/>
        </p:nvCxnSpPr>
        <p:spPr>
          <a:xfrm flipH="1">
            <a:off x="4196080" y="5080000"/>
            <a:ext cx="1808480" cy="386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57DA63F0-A990-7DAE-D0F3-2FA42F8D4BD5}"/>
              </a:ext>
            </a:extLst>
          </p:cNvPr>
          <p:cNvPicPr>
            <a:picLocks noChangeAspect="1"/>
          </p:cNvPicPr>
          <p:nvPr/>
        </p:nvPicPr>
        <p:blipFill>
          <a:blip r:embed="rId4"/>
          <a:stretch>
            <a:fillRect/>
          </a:stretch>
        </p:blipFill>
        <p:spPr>
          <a:xfrm>
            <a:off x="7138560" y="3560233"/>
            <a:ext cx="3647440" cy="3039533"/>
          </a:xfrm>
          <a:prstGeom prst="rect">
            <a:avLst/>
          </a:prstGeom>
        </p:spPr>
      </p:pic>
    </p:spTree>
    <p:extLst>
      <p:ext uri="{BB962C8B-B14F-4D97-AF65-F5344CB8AC3E}">
        <p14:creationId xmlns:p14="http://schemas.microsoft.com/office/powerpoint/2010/main" val="2159202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467C439-71A2-5976-41F2-FFD3418EB83A}"/>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Fundamental Concepts: Monopoly</a:t>
            </a:r>
          </a:p>
        </p:txBody>
      </p:sp>
      <p:sp>
        <p:nvSpPr>
          <p:cNvPr id="5" name="CustomShape 6"/>
          <p:cNvSpPr/>
          <p:nvPr/>
        </p:nvSpPr>
        <p:spPr>
          <a:xfrm>
            <a:off x="138786" y="946016"/>
            <a:ext cx="3935374" cy="5820544"/>
          </a:xfrm>
          <a:prstGeom prst="rect">
            <a:avLst/>
          </a:prstGeom>
          <a:ln/>
        </p:spPr>
        <p:style>
          <a:lnRef idx="2">
            <a:schemeClr val="accent2"/>
          </a:lnRef>
          <a:fillRef idx="1">
            <a:schemeClr val="lt1"/>
          </a:fillRef>
          <a:effectRef idx="0">
            <a:schemeClr val="accent2"/>
          </a:effectRef>
          <a:fontRef idx="minor">
            <a:schemeClr val="dk1"/>
          </a:fontRef>
        </p:style>
        <p:txBody>
          <a:bodyPr lIns="90000" tIns="45000" rIns="90000" bIns="45000"/>
          <a:lstStyle/>
          <a:p>
            <a:r>
              <a:rPr lang="en-GB" sz="600" spc="-1" noProof="0" dirty="0">
                <a:solidFill>
                  <a:prstClr val="black"/>
                </a:solidFill>
                <a:cs typeface="Arial" panose="020B0604020202020204" pitchFamily="34" charset="0"/>
              </a:rPr>
              <a:t>kill(all)$   /* Clear all previous variables and load required packages */</a:t>
            </a:r>
          </a:p>
          <a:p>
            <a:r>
              <a:rPr lang="en-GB" sz="600" spc="-1" noProof="0" dirty="0">
                <a:solidFill>
                  <a:prstClr val="black"/>
                </a:solidFill>
                <a:cs typeface="Arial" panose="020B0604020202020204" pitchFamily="34" charset="0"/>
              </a:rPr>
              <a:t>load(draw)$</a:t>
            </a:r>
          </a:p>
          <a:p>
            <a:r>
              <a:rPr lang="en-GB" sz="600" spc="-1" noProof="0" dirty="0">
                <a:solidFill>
                  <a:prstClr val="black"/>
                </a:solidFill>
                <a:cs typeface="Arial" panose="020B0604020202020204" pitchFamily="34" charset="0"/>
              </a:rPr>
              <a:t>/* Assumptions for variables */</a:t>
            </a:r>
          </a:p>
          <a:p>
            <a:r>
              <a:rPr lang="en-GB" sz="600" spc="-1" noProof="0" dirty="0">
                <a:solidFill>
                  <a:prstClr val="black"/>
                </a:solidFill>
                <a:cs typeface="Arial" panose="020B0604020202020204" pitchFamily="34" charset="0"/>
              </a:rPr>
              <a:t>assume(X1 &gt; 0, X2 &gt; 0, w1 &gt; 0, w2 &gt; 0, Y &gt; 0)$</a:t>
            </a:r>
          </a:p>
          <a:p>
            <a:r>
              <a:rPr lang="en-GB" sz="600" spc="-1" noProof="0" dirty="0">
                <a:solidFill>
                  <a:prstClr val="black"/>
                </a:solidFill>
                <a:cs typeface="Arial" panose="020B0604020202020204" pitchFamily="34" charset="0"/>
              </a:rPr>
              <a:t>/* Cost functions */</a:t>
            </a:r>
          </a:p>
          <a:p>
            <a:r>
              <a:rPr lang="en-GB" sz="600" spc="-1" noProof="0" dirty="0">
                <a:solidFill>
                  <a:prstClr val="black"/>
                </a:solidFill>
                <a:cs typeface="Arial" panose="020B0604020202020204" pitchFamily="34" charset="0"/>
              </a:rPr>
              <a:t>FC: 1800$ /* Fixed costs */</a:t>
            </a:r>
          </a:p>
          <a:p>
            <a:r>
              <a:rPr lang="en-GB" sz="600" spc="-1" noProof="0" dirty="0">
                <a:solidFill>
                  <a:prstClr val="black"/>
                </a:solidFill>
                <a:cs typeface="Arial" panose="020B0604020202020204" pitchFamily="34" charset="0"/>
              </a:rPr>
              <a:t>VC: 10 * Y$ /* Variable costs */</a:t>
            </a:r>
          </a:p>
          <a:p>
            <a:r>
              <a:rPr lang="en-GB" sz="600" spc="-1" noProof="0" dirty="0">
                <a:solidFill>
                  <a:prstClr val="black"/>
                </a:solidFill>
                <a:cs typeface="Arial" panose="020B0604020202020204" pitchFamily="34" charset="0"/>
              </a:rPr>
              <a:t>TC: ''(VC + FC)$ /* Total costs */</a:t>
            </a:r>
          </a:p>
          <a:p>
            <a:r>
              <a:rPr lang="en-GB" sz="600" spc="-1" noProof="0" dirty="0">
                <a:solidFill>
                  <a:prstClr val="black"/>
                </a:solidFill>
                <a:cs typeface="Arial" panose="020B0604020202020204" pitchFamily="34" charset="0"/>
              </a:rPr>
              <a:t>MC: diff(TC, Y, 1)$ /* Marginal cost */</a:t>
            </a:r>
          </a:p>
          <a:p>
            <a:r>
              <a:rPr lang="en-GB" sz="600" spc="-1" noProof="0" dirty="0">
                <a:solidFill>
                  <a:prstClr val="black"/>
                </a:solidFill>
                <a:cs typeface="Arial" panose="020B0604020202020204" pitchFamily="34" charset="0"/>
              </a:rPr>
              <a:t>ATC: TC / Y$ /* Average total cost */</a:t>
            </a:r>
          </a:p>
          <a:p>
            <a:r>
              <a:rPr lang="en-GB" sz="600" spc="-1" noProof="0" dirty="0">
                <a:solidFill>
                  <a:prstClr val="black"/>
                </a:solidFill>
                <a:cs typeface="Arial" panose="020B0604020202020204" pitchFamily="34" charset="0"/>
              </a:rPr>
              <a:t>/* Inverse demand function */</a:t>
            </a:r>
          </a:p>
          <a:p>
            <a:r>
              <a:rPr lang="en-GB" sz="600" spc="-1" noProof="0" dirty="0" err="1">
                <a:solidFill>
                  <a:prstClr val="black"/>
                </a:solidFill>
                <a:cs typeface="Arial" panose="020B0604020202020204" pitchFamily="34" charset="0"/>
              </a:rPr>
              <a:t>eq_demand</a:t>
            </a:r>
            <a:r>
              <a:rPr lang="en-GB" sz="600" spc="-1" noProof="0" dirty="0">
                <a:solidFill>
                  <a:prstClr val="black"/>
                </a:solidFill>
                <a:cs typeface="Arial" panose="020B0604020202020204" pitchFamily="34" charset="0"/>
              </a:rPr>
              <a:t>: Y = 100 - </a:t>
            </a:r>
            <a:r>
              <a:rPr lang="en-GB" sz="600" spc="-1" noProof="0" dirty="0" err="1">
                <a:solidFill>
                  <a:prstClr val="black"/>
                </a:solidFill>
                <a:cs typeface="Arial" panose="020B0604020202020204" pitchFamily="34" charset="0"/>
              </a:rPr>
              <a:t>p_D</a:t>
            </a:r>
            <a:r>
              <a:rPr lang="en-GB" sz="600" spc="-1" noProof="0" dirty="0">
                <a:solidFill>
                  <a:prstClr val="black"/>
                </a:solidFill>
                <a:cs typeface="Arial" panose="020B0604020202020204" pitchFamily="34" charset="0"/>
              </a:rPr>
              <a:t>$ /* Demand equation */</a:t>
            </a:r>
          </a:p>
          <a:p>
            <a:r>
              <a:rPr lang="en-GB" sz="600" spc="-1" noProof="0" dirty="0">
                <a:solidFill>
                  <a:prstClr val="black"/>
                </a:solidFill>
                <a:cs typeface="Arial" panose="020B0604020202020204" pitchFamily="34" charset="0"/>
              </a:rPr>
              <a:t>solve([</a:t>
            </a:r>
            <a:r>
              <a:rPr lang="en-GB" sz="600" spc="-1" noProof="0" dirty="0" err="1">
                <a:solidFill>
                  <a:prstClr val="black"/>
                </a:solidFill>
                <a:cs typeface="Arial" panose="020B0604020202020204" pitchFamily="34" charset="0"/>
              </a:rPr>
              <a:t>eq_demand</a:t>
            </a:r>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p_D</a:t>
            </a:r>
            <a:r>
              <a:rPr lang="en-GB" sz="600" spc="-1" noProof="0" dirty="0">
                <a:solidFill>
                  <a:prstClr val="black"/>
                </a:solidFill>
                <a:cs typeface="Arial" panose="020B0604020202020204" pitchFamily="34" charset="0"/>
              </a:rPr>
              <a:t>])$</a:t>
            </a:r>
          </a:p>
          <a:p>
            <a:r>
              <a:rPr lang="en-GB" sz="600" spc="-1" noProof="0" dirty="0" err="1">
                <a:solidFill>
                  <a:prstClr val="black"/>
                </a:solidFill>
                <a:cs typeface="Arial" panose="020B0604020202020204" pitchFamily="34" charset="0"/>
              </a:rPr>
              <a:t>p_D</a:t>
            </a:r>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rhs</a:t>
            </a:r>
            <a:r>
              <a:rPr lang="en-GB" sz="600" spc="-1" noProof="0" dirty="0">
                <a:solidFill>
                  <a:prstClr val="black"/>
                </a:solidFill>
                <a:cs typeface="Arial" panose="020B0604020202020204" pitchFamily="34" charset="0"/>
              </a:rPr>
              <a:t>(%[1])$ /* Extracting price as a function of Y */</a:t>
            </a:r>
          </a:p>
          <a:p>
            <a:r>
              <a:rPr lang="en-GB" sz="600" spc="-1" noProof="0" dirty="0">
                <a:solidFill>
                  <a:prstClr val="black"/>
                </a:solidFill>
                <a:cs typeface="Arial" panose="020B0604020202020204" pitchFamily="34" charset="0"/>
              </a:rPr>
              <a:t>/* Revenue and marginal revenue */</a:t>
            </a:r>
          </a:p>
          <a:p>
            <a:r>
              <a:rPr lang="en-GB" sz="600" spc="-1" noProof="0" dirty="0">
                <a:solidFill>
                  <a:prstClr val="black"/>
                </a:solidFill>
                <a:cs typeface="Arial" panose="020B0604020202020204" pitchFamily="34" charset="0"/>
              </a:rPr>
              <a:t>R: </a:t>
            </a:r>
            <a:r>
              <a:rPr lang="en-GB" sz="600" spc="-1" noProof="0" dirty="0" err="1">
                <a:solidFill>
                  <a:prstClr val="black"/>
                </a:solidFill>
                <a:cs typeface="Arial" panose="020B0604020202020204" pitchFamily="34" charset="0"/>
              </a:rPr>
              <a:t>ratsimp</a:t>
            </a:r>
            <a:r>
              <a:rPr lang="en-GB" sz="600" spc="-1" noProof="0" dirty="0">
                <a:solidFill>
                  <a:prstClr val="black"/>
                </a:solidFill>
                <a:cs typeface="Arial" panose="020B0604020202020204" pitchFamily="34" charset="0"/>
              </a:rPr>
              <a:t>(</a:t>
            </a:r>
            <a:r>
              <a:rPr lang="en-GB" sz="600" spc="-1" noProof="0" dirty="0" err="1">
                <a:solidFill>
                  <a:prstClr val="black"/>
                </a:solidFill>
                <a:cs typeface="Arial" panose="020B0604020202020204" pitchFamily="34" charset="0"/>
              </a:rPr>
              <a:t>p_D</a:t>
            </a:r>
            <a:r>
              <a:rPr lang="en-GB" sz="600" spc="-1" noProof="0" dirty="0">
                <a:solidFill>
                  <a:prstClr val="black"/>
                </a:solidFill>
                <a:cs typeface="Arial" panose="020B0604020202020204" pitchFamily="34" charset="0"/>
              </a:rPr>
              <a:t> * Y)$ /* Total revenue */</a:t>
            </a:r>
          </a:p>
          <a:p>
            <a:r>
              <a:rPr lang="en-GB" sz="600" spc="-1" noProof="0" dirty="0">
                <a:solidFill>
                  <a:prstClr val="black"/>
                </a:solidFill>
                <a:cs typeface="Arial" panose="020B0604020202020204" pitchFamily="34" charset="0"/>
              </a:rPr>
              <a:t>MR: diff(R, Y, 1)$ /* Marginal revenue */</a:t>
            </a:r>
          </a:p>
          <a:p>
            <a:r>
              <a:rPr lang="en-GB" sz="600" spc="-1" noProof="0" dirty="0">
                <a:solidFill>
                  <a:prstClr val="black"/>
                </a:solidFill>
                <a:cs typeface="Arial" panose="020B0604020202020204" pitchFamily="34" charset="0"/>
              </a:rPr>
              <a:t>/* Equilibrium: MR = MC */</a:t>
            </a:r>
          </a:p>
          <a:p>
            <a:r>
              <a:rPr lang="en-GB" sz="600" spc="-1" noProof="0" dirty="0" err="1">
                <a:solidFill>
                  <a:prstClr val="black"/>
                </a:solidFill>
                <a:cs typeface="Arial" panose="020B0604020202020204" pitchFamily="34" charset="0"/>
              </a:rPr>
              <a:t>eq_equilibrium</a:t>
            </a:r>
            <a:r>
              <a:rPr lang="en-GB" sz="600" spc="-1" noProof="0" dirty="0">
                <a:solidFill>
                  <a:prstClr val="black"/>
                </a:solidFill>
                <a:cs typeface="Arial" panose="020B0604020202020204" pitchFamily="34" charset="0"/>
              </a:rPr>
              <a:t>: MR = MC$ /* Equilibrium condition */</a:t>
            </a:r>
          </a:p>
          <a:p>
            <a:r>
              <a:rPr lang="en-GB" sz="600" spc="-1" noProof="0" dirty="0">
                <a:solidFill>
                  <a:prstClr val="black"/>
                </a:solidFill>
                <a:cs typeface="Arial" panose="020B0604020202020204" pitchFamily="34" charset="0"/>
              </a:rPr>
              <a:t>solve([</a:t>
            </a:r>
            <a:r>
              <a:rPr lang="en-GB" sz="600" spc="-1" noProof="0" dirty="0" err="1">
                <a:solidFill>
                  <a:prstClr val="black"/>
                </a:solidFill>
                <a:cs typeface="Arial" panose="020B0604020202020204" pitchFamily="34" charset="0"/>
              </a:rPr>
              <a:t>eq_equilibrium</a:t>
            </a:r>
            <a:r>
              <a:rPr lang="en-GB" sz="600" spc="-1" noProof="0" dirty="0">
                <a:solidFill>
                  <a:prstClr val="black"/>
                </a:solidFill>
                <a:cs typeface="Arial" panose="020B0604020202020204" pitchFamily="34" charset="0"/>
              </a:rPr>
              <a:t>], [Y])$</a:t>
            </a:r>
          </a:p>
          <a:p>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rhs</a:t>
            </a:r>
            <a:r>
              <a:rPr lang="en-GB" sz="600" spc="-1" noProof="0" dirty="0">
                <a:solidFill>
                  <a:prstClr val="black"/>
                </a:solidFill>
                <a:cs typeface="Arial" panose="020B0604020202020204" pitchFamily="34" charset="0"/>
              </a:rPr>
              <a:t>(%[1])$ /* Equilibrium quantity */</a:t>
            </a:r>
          </a:p>
          <a:p>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 float(</a:t>
            </a:r>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 /* Convert to floating-point */</a:t>
            </a:r>
          </a:p>
          <a:p>
            <a:r>
              <a:rPr lang="en-GB" sz="600" spc="-1" noProof="0" dirty="0" err="1">
                <a:solidFill>
                  <a:prstClr val="black"/>
                </a:solidFill>
                <a:cs typeface="Arial" panose="020B0604020202020204" pitchFamily="34" charset="0"/>
              </a:rPr>
              <a:t>p_star</a:t>
            </a:r>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p_D</a:t>
            </a:r>
            <a:r>
              <a:rPr lang="en-GB" sz="600" spc="-1" noProof="0" dirty="0">
                <a:solidFill>
                  <a:prstClr val="black"/>
                </a:solidFill>
                <a:cs typeface="Arial" panose="020B0604020202020204" pitchFamily="34" charset="0"/>
              </a:rPr>
              <a:t>$  /* Equilibrium price */</a:t>
            </a:r>
          </a:p>
          <a:p>
            <a:r>
              <a:rPr lang="en-GB" sz="600" spc="-1" noProof="0" dirty="0" err="1">
                <a:solidFill>
                  <a:prstClr val="black"/>
                </a:solidFill>
                <a:cs typeface="Arial" panose="020B0604020202020204" pitchFamily="34" charset="0"/>
              </a:rPr>
              <a:t>p_star</a:t>
            </a:r>
            <a:r>
              <a:rPr lang="en-GB" sz="600" spc="-1" noProof="0" dirty="0">
                <a:solidFill>
                  <a:prstClr val="black"/>
                </a:solidFill>
                <a:cs typeface="Arial" panose="020B0604020202020204" pitchFamily="34" charset="0"/>
              </a:rPr>
              <a:t>: float(</a:t>
            </a:r>
            <a:r>
              <a:rPr lang="en-GB" sz="600" spc="-1" noProof="0" dirty="0" err="1">
                <a:solidFill>
                  <a:prstClr val="black"/>
                </a:solidFill>
                <a:cs typeface="Arial" panose="020B0604020202020204" pitchFamily="34" charset="0"/>
              </a:rPr>
              <a:t>p_star</a:t>
            </a:r>
            <a:r>
              <a:rPr lang="en-GB" sz="600" spc="-1" noProof="0" dirty="0">
                <a:solidFill>
                  <a:prstClr val="black"/>
                </a:solidFill>
                <a:cs typeface="Arial" panose="020B0604020202020204" pitchFamily="34" charset="0"/>
              </a:rPr>
              <a:t>)$  /* Convert to floating-point */</a:t>
            </a:r>
          </a:p>
          <a:p>
            <a:r>
              <a:rPr lang="en-GB" sz="600" spc="-1" noProof="0" dirty="0">
                <a:solidFill>
                  <a:prstClr val="black"/>
                </a:solidFill>
                <a:cs typeface="Arial" panose="020B0604020202020204" pitchFamily="34" charset="0"/>
              </a:rPr>
              <a:t>/* Total cost, revenue, and profit at equilibrium */</a:t>
            </a:r>
          </a:p>
          <a:p>
            <a:r>
              <a:rPr lang="en-GB" sz="600" spc="-1" noProof="0" dirty="0" err="1">
                <a:solidFill>
                  <a:prstClr val="black"/>
                </a:solidFill>
                <a:cs typeface="Arial" panose="020B0604020202020204" pitchFamily="34" charset="0"/>
              </a:rPr>
              <a:t>TC_star</a:t>
            </a:r>
            <a:r>
              <a:rPr lang="en-GB" sz="600" spc="-1" noProof="0" dirty="0">
                <a:solidFill>
                  <a:prstClr val="black"/>
                </a:solidFill>
                <a:cs typeface="Arial" panose="020B0604020202020204" pitchFamily="34" charset="0"/>
              </a:rPr>
              <a:t>: ''TC$</a:t>
            </a:r>
          </a:p>
          <a:p>
            <a:r>
              <a:rPr lang="en-GB" sz="600" spc="-1" noProof="0" dirty="0" err="1">
                <a:solidFill>
                  <a:prstClr val="black"/>
                </a:solidFill>
                <a:cs typeface="Arial" panose="020B0604020202020204" pitchFamily="34" charset="0"/>
              </a:rPr>
              <a:t>TC_star</a:t>
            </a:r>
            <a:r>
              <a:rPr lang="en-GB" sz="600" spc="-1" noProof="0" dirty="0">
                <a:solidFill>
                  <a:prstClr val="black"/>
                </a:solidFill>
                <a:cs typeface="Arial" panose="020B0604020202020204" pitchFamily="34" charset="0"/>
              </a:rPr>
              <a:t>: float(</a:t>
            </a:r>
            <a:r>
              <a:rPr lang="en-GB" sz="600" spc="-1" noProof="0" dirty="0" err="1">
                <a:solidFill>
                  <a:prstClr val="black"/>
                </a:solidFill>
                <a:cs typeface="Arial" panose="020B0604020202020204" pitchFamily="34" charset="0"/>
              </a:rPr>
              <a:t>TC_star</a:t>
            </a:r>
            <a:r>
              <a:rPr lang="en-GB" sz="600" spc="-1" noProof="0" dirty="0">
                <a:solidFill>
                  <a:prstClr val="black"/>
                </a:solidFill>
                <a:cs typeface="Arial" panose="020B0604020202020204" pitchFamily="34" charset="0"/>
              </a:rPr>
              <a:t>)$</a:t>
            </a:r>
          </a:p>
          <a:p>
            <a:r>
              <a:rPr lang="en-GB" sz="600" spc="-1" noProof="0" dirty="0" err="1">
                <a:solidFill>
                  <a:prstClr val="black"/>
                </a:solidFill>
                <a:cs typeface="Arial" panose="020B0604020202020204" pitchFamily="34" charset="0"/>
              </a:rPr>
              <a:t>R_star</a:t>
            </a:r>
            <a:r>
              <a:rPr lang="en-GB" sz="600" spc="-1" noProof="0" dirty="0">
                <a:solidFill>
                  <a:prstClr val="black"/>
                </a:solidFill>
                <a:cs typeface="Arial" panose="020B0604020202020204" pitchFamily="34" charset="0"/>
              </a:rPr>
              <a:t>: ''R$</a:t>
            </a:r>
          </a:p>
          <a:p>
            <a:r>
              <a:rPr lang="en-GB" sz="600" spc="-1" noProof="0" dirty="0" err="1">
                <a:solidFill>
                  <a:prstClr val="black"/>
                </a:solidFill>
                <a:cs typeface="Arial" panose="020B0604020202020204" pitchFamily="34" charset="0"/>
              </a:rPr>
              <a:t>R_star</a:t>
            </a:r>
            <a:r>
              <a:rPr lang="en-GB" sz="600" spc="-1" noProof="0" dirty="0">
                <a:solidFill>
                  <a:prstClr val="black"/>
                </a:solidFill>
                <a:cs typeface="Arial" panose="020B0604020202020204" pitchFamily="34" charset="0"/>
              </a:rPr>
              <a:t>: float(</a:t>
            </a:r>
            <a:r>
              <a:rPr lang="en-GB" sz="600" spc="-1" noProof="0" dirty="0" err="1">
                <a:solidFill>
                  <a:prstClr val="black"/>
                </a:solidFill>
                <a:cs typeface="Arial" panose="020B0604020202020204" pitchFamily="34" charset="0"/>
              </a:rPr>
              <a:t>R_star</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Profit: </a:t>
            </a:r>
            <a:r>
              <a:rPr lang="en-GB" sz="600" spc="-1" noProof="0" dirty="0" err="1">
                <a:solidFill>
                  <a:prstClr val="black"/>
                </a:solidFill>
                <a:cs typeface="Arial" panose="020B0604020202020204" pitchFamily="34" charset="0"/>
              </a:rPr>
              <a:t>R_star</a:t>
            </a:r>
            <a:r>
              <a:rPr lang="en-GB" sz="600" spc="-1" noProof="0" dirty="0">
                <a:solidFill>
                  <a:prstClr val="black"/>
                </a:solidFill>
                <a:cs typeface="Arial" panose="020B0604020202020204" pitchFamily="34" charset="0"/>
              </a:rPr>
              <a:t> - </a:t>
            </a:r>
            <a:r>
              <a:rPr lang="en-GB" sz="600" spc="-1" noProof="0" dirty="0" err="1">
                <a:solidFill>
                  <a:prstClr val="black"/>
                </a:solidFill>
                <a:cs typeface="Arial" panose="020B0604020202020204" pitchFamily="34" charset="0"/>
              </a:rPr>
              <a:t>TC_star</a:t>
            </a:r>
            <a:r>
              <a:rPr lang="en-GB" sz="600" spc="-1" noProof="0" dirty="0">
                <a:solidFill>
                  <a:prstClr val="black"/>
                </a:solidFill>
                <a:cs typeface="Arial" panose="020B0604020202020204" pitchFamily="34" charset="0"/>
              </a:rPr>
              <a:t>$ /* Profit */</a:t>
            </a:r>
          </a:p>
          <a:p>
            <a:r>
              <a:rPr lang="en-GB" sz="600" spc="-1" noProof="0" dirty="0">
                <a:solidFill>
                  <a:prstClr val="black"/>
                </a:solidFill>
                <a:cs typeface="Arial" panose="020B0604020202020204" pitchFamily="34" charset="0"/>
              </a:rPr>
              <a:t>Profit: float(Profit)$</a:t>
            </a:r>
          </a:p>
          <a:p>
            <a:r>
              <a:rPr lang="en-GB" sz="600" spc="-1" noProof="0" dirty="0">
                <a:solidFill>
                  <a:prstClr val="black"/>
                </a:solidFill>
                <a:cs typeface="Arial" panose="020B0604020202020204" pitchFamily="34" charset="0"/>
              </a:rPr>
              <a:t>/* Rationalize values for plotting */</a:t>
            </a:r>
          </a:p>
          <a:p>
            <a:r>
              <a:rPr lang="en-GB" sz="600" spc="-1" noProof="0" dirty="0" err="1">
                <a:solidFill>
                  <a:prstClr val="black"/>
                </a:solidFill>
                <a:cs typeface="Arial" panose="020B0604020202020204" pitchFamily="34" charset="0"/>
              </a:rPr>
              <a:t>p_star</a:t>
            </a:r>
            <a:r>
              <a:rPr lang="en-GB" sz="600" spc="-1" noProof="0" dirty="0">
                <a:solidFill>
                  <a:prstClr val="black"/>
                </a:solidFill>
                <a:cs typeface="Arial" panose="020B0604020202020204" pitchFamily="34" charset="0"/>
              </a:rPr>
              <a:t>: rationalize(</a:t>
            </a:r>
            <a:r>
              <a:rPr lang="en-GB" sz="600" spc="-1" noProof="0" dirty="0" err="1">
                <a:solidFill>
                  <a:prstClr val="black"/>
                </a:solidFill>
                <a:cs typeface="Arial" panose="020B0604020202020204" pitchFamily="34" charset="0"/>
              </a:rPr>
              <a:t>p_star</a:t>
            </a:r>
            <a:r>
              <a:rPr lang="en-GB" sz="600" spc="-1" noProof="0" dirty="0">
                <a:solidFill>
                  <a:prstClr val="black"/>
                </a:solidFill>
                <a:cs typeface="Arial" panose="020B0604020202020204" pitchFamily="34" charset="0"/>
              </a:rPr>
              <a:t>)$</a:t>
            </a:r>
          </a:p>
          <a:p>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 rationalize(</a:t>
            </a:r>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MC: rationalize(MC)$</a:t>
            </a:r>
          </a:p>
          <a:p>
            <a:r>
              <a:rPr lang="en-GB" sz="600" spc="-1" noProof="0" dirty="0">
                <a:solidFill>
                  <a:prstClr val="black"/>
                </a:solidFill>
                <a:cs typeface="Arial" panose="020B0604020202020204" pitchFamily="34" charset="0"/>
              </a:rPr>
              <a:t>/* Plotting */</a:t>
            </a:r>
          </a:p>
          <a:p>
            <a:r>
              <a:rPr lang="en-GB" sz="600" spc="-1" noProof="0" dirty="0" err="1">
                <a:solidFill>
                  <a:prstClr val="black"/>
                </a:solidFill>
                <a:cs typeface="Arial" panose="020B0604020202020204" pitchFamily="34" charset="0"/>
              </a:rPr>
              <a:t>Y_max_rys</a:t>
            </a:r>
            <a:r>
              <a:rPr lang="en-GB" sz="600" spc="-1" noProof="0" dirty="0">
                <a:solidFill>
                  <a:prstClr val="black"/>
                </a:solidFill>
                <a:cs typeface="Arial" panose="020B0604020202020204" pitchFamily="34" charset="0"/>
              </a:rPr>
              <a:t>: 60$ /* Maximum quantity for the plot */</a:t>
            </a:r>
          </a:p>
          <a:p>
            <a:r>
              <a:rPr lang="en-GB" sz="600" spc="-1" noProof="0" dirty="0">
                <a:solidFill>
                  <a:prstClr val="black"/>
                </a:solidFill>
                <a:cs typeface="Arial" panose="020B0604020202020204" pitchFamily="34" charset="0"/>
              </a:rPr>
              <a:t>draw2d(</a:t>
            </a:r>
          </a:p>
          <a:p>
            <a:r>
              <a:rPr lang="en-GB" sz="600" spc="-1" noProof="0" dirty="0">
                <a:solidFill>
                  <a:prstClr val="black"/>
                </a:solidFill>
                <a:cs typeface="Arial" panose="020B0604020202020204" pitchFamily="34" charset="0"/>
              </a:rPr>
              <a:t>    grid = true,</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xlabel</a:t>
            </a:r>
            <a:r>
              <a:rPr lang="en-GB" sz="600" spc="-1" noProof="0" dirty="0">
                <a:solidFill>
                  <a:prstClr val="black"/>
                </a:solidFill>
                <a:cs typeface="Arial" panose="020B0604020202020204" pitchFamily="34" charset="0"/>
              </a:rPr>
              <a:t> = "Quantity (Y)",</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ylabel</a:t>
            </a:r>
            <a:r>
              <a:rPr lang="en-GB" sz="600" spc="-1" noProof="0" dirty="0">
                <a:solidFill>
                  <a:prstClr val="black"/>
                </a:solidFill>
                <a:cs typeface="Arial" panose="020B0604020202020204" pitchFamily="34" charset="0"/>
              </a:rPr>
              <a:t> = "Price / Cost",</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line_width</a:t>
            </a:r>
            <a:r>
              <a:rPr lang="en-GB" sz="600" spc="-1" noProof="0" dirty="0">
                <a:solidFill>
                  <a:prstClr val="black"/>
                </a:solidFill>
                <a:cs typeface="Arial" panose="020B0604020202020204" pitchFamily="34" charset="0"/>
              </a:rPr>
              <a:t> = 2,</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yrange</a:t>
            </a:r>
            <a:r>
              <a:rPr lang="en-GB" sz="600" spc="-1" noProof="0" dirty="0">
                <a:solidFill>
                  <a:prstClr val="black"/>
                </a:solidFill>
                <a:cs typeface="Arial" panose="020B0604020202020204" pitchFamily="34" charset="0"/>
              </a:rPr>
              <a:t> = [0, 200],</a:t>
            </a:r>
          </a:p>
          <a:p>
            <a:r>
              <a:rPr lang="en-GB" sz="600" spc="-1" noProof="0" dirty="0">
                <a:solidFill>
                  <a:prstClr val="black"/>
                </a:solidFill>
                <a:cs typeface="Arial" panose="020B0604020202020204" pitchFamily="34" charset="0"/>
              </a:rPr>
              <a:t>    /* Average total cost curve */</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color</a:t>
            </a:r>
            <a:r>
              <a:rPr lang="en-GB" sz="600" spc="-1" noProof="0" dirty="0">
                <a:solidFill>
                  <a:prstClr val="black"/>
                </a:solidFill>
                <a:cs typeface="Arial" panose="020B0604020202020204" pitchFamily="34" charset="0"/>
              </a:rPr>
              <a:t> = brown, key = "ATC", explicit(ATC, Y, 0, </a:t>
            </a:r>
            <a:r>
              <a:rPr lang="en-GB" sz="600" spc="-1" noProof="0" dirty="0" err="1">
                <a:solidFill>
                  <a:prstClr val="black"/>
                </a:solidFill>
                <a:cs typeface="Arial" panose="020B0604020202020204" pitchFamily="34" charset="0"/>
              </a:rPr>
              <a:t>Y_max_rys</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    /* Marginal cost curve */</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color</a:t>
            </a:r>
            <a:r>
              <a:rPr lang="en-GB" sz="600" spc="-1" noProof="0" dirty="0">
                <a:solidFill>
                  <a:prstClr val="black"/>
                </a:solidFill>
                <a:cs typeface="Arial" panose="020B0604020202020204" pitchFamily="34" charset="0"/>
              </a:rPr>
              <a:t> = red, key = "MC", explicit(MC, Y, 0, </a:t>
            </a:r>
            <a:r>
              <a:rPr lang="en-GB" sz="600" spc="-1" noProof="0" dirty="0" err="1">
                <a:solidFill>
                  <a:prstClr val="black"/>
                </a:solidFill>
                <a:cs typeface="Arial" panose="020B0604020202020204" pitchFamily="34" charset="0"/>
              </a:rPr>
              <a:t>Y_max_rys</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    /* Demand curve */</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color</a:t>
            </a:r>
            <a:r>
              <a:rPr lang="en-GB" sz="600" spc="-1" noProof="0" dirty="0">
                <a:solidFill>
                  <a:prstClr val="black"/>
                </a:solidFill>
                <a:cs typeface="Arial" panose="020B0604020202020204" pitchFamily="34" charset="0"/>
              </a:rPr>
              <a:t> = blue, key = "D", explicit(</a:t>
            </a:r>
            <a:r>
              <a:rPr lang="en-GB" sz="600" spc="-1" noProof="0" dirty="0" err="1">
                <a:solidFill>
                  <a:prstClr val="black"/>
                </a:solidFill>
                <a:cs typeface="Arial" panose="020B0604020202020204" pitchFamily="34" charset="0"/>
              </a:rPr>
              <a:t>p_D</a:t>
            </a:r>
            <a:r>
              <a:rPr lang="en-GB" sz="600" spc="-1" noProof="0" dirty="0">
                <a:solidFill>
                  <a:prstClr val="black"/>
                </a:solidFill>
                <a:cs typeface="Arial" panose="020B0604020202020204" pitchFamily="34" charset="0"/>
              </a:rPr>
              <a:t>, Y, 0, </a:t>
            </a:r>
            <a:r>
              <a:rPr lang="en-GB" sz="600" spc="-1" noProof="0" dirty="0" err="1">
                <a:solidFill>
                  <a:prstClr val="black"/>
                </a:solidFill>
                <a:cs typeface="Arial" panose="020B0604020202020204" pitchFamily="34" charset="0"/>
              </a:rPr>
              <a:t>Y_max_rys</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    /* Marginal revenue curve */</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color</a:t>
            </a:r>
            <a:r>
              <a:rPr lang="en-GB" sz="600" spc="-1" noProof="0" dirty="0">
                <a:solidFill>
                  <a:prstClr val="black"/>
                </a:solidFill>
                <a:cs typeface="Arial" panose="020B0604020202020204" pitchFamily="34" charset="0"/>
              </a:rPr>
              <a:t> = </a:t>
            </a:r>
            <a:r>
              <a:rPr lang="en-GB" sz="600" spc="-1" noProof="0" dirty="0" err="1">
                <a:solidFill>
                  <a:prstClr val="black"/>
                </a:solidFill>
                <a:cs typeface="Arial" panose="020B0604020202020204" pitchFamily="34" charset="0"/>
              </a:rPr>
              <a:t>light_blue</a:t>
            </a:r>
            <a:r>
              <a:rPr lang="en-GB" sz="600" spc="-1" noProof="0" dirty="0">
                <a:solidFill>
                  <a:prstClr val="black"/>
                </a:solidFill>
                <a:cs typeface="Arial" panose="020B0604020202020204" pitchFamily="34" charset="0"/>
              </a:rPr>
              <a:t>, key = "MR", explicit(MR, Y, 0, </a:t>
            </a:r>
            <a:r>
              <a:rPr lang="en-GB" sz="600" spc="-1" noProof="0" dirty="0" err="1">
                <a:solidFill>
                  <a:prstClr val="black"/>
                </a:solidFill>
                <a:cs typeface="Arial" panose="020B0604020202020204" pitchFamily="34" charset="0"/>
              </a:rPr>
              <a:t>Y_max_rys</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    /* Equilibrium quantity and price */</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color</a:t>
            </a:r>
            <a:r>
              <a:rPr lang="en-GB" sz="600" spc="-1" noProof="0" dirty="0">
                <a:solidFill>
                  <a:prstClr val="black"/>
                </a:solidFill>
                <a:cs typeface="Arial" panose="020B0604020202020204" pitchFamily="34" charset="0"/>
              </a:rPr>
              <a:t> = grey, key = "Y*", </a:t>
            </a:r>
            <a:r>
              <a:rPr lang="en-GB" sz="600" spc="-1" noProof="0" dirty="0" err="1">
                <a:solidFill>
                  <a:prstClr val="black"/>
                </a:solidFill>
                <a:cs typeface="Arial" panose="020B0604020202020204" pitchFamily="34" charset="0"/>
              </a:rPr>
              <a:t>points_joined</a:t>
            </a:r>
            <a:r>
              <a:rPr lang="en-GB" sz="600" spc="-1" noProof="0" dirty="0">
                <a:solidFill>
                  <a:prstClr val="black"/>
                </a:solidFill>
                <a:cs typeface="Arial" panose="020B0604020202020204" pitchFamily="34" charset="0"/>
              </a:rPr>
              <a:t> = true, points([[</a:t>
            </a:r>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 0], [</a:t>
            </a:r>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p_star</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    </a:t>
            </a:r>
            <a:r>
              <a:rPr lang="en-GB" sz="600" spc="-1" noProof="0" dirty="0" err="1">
                <a:solidFill>
                  <a:prstClr val="black"/>
                </a:solidFill>
                <a:cs typeface="Arial" panose="020B0604020202020204" pitchFamily="34" charset="0"/>
              </a:rPr>
              <a:t>color</a:t>
            </a:r>
            <a:r>
              <a:rPr lang="en-GB" sz="600" spc="-1" noProof="0" dirty="0">
                <a:solidFill>
                  <a:prstClr val="black"/>
                </a:solidFill>
                <a:cs typeface="Arial" panose="020B0604020202020204" pitchFamily="34" charset="0"/>
              </a:rPr>
              <a:t> = grey, key = "p*", explicit(</a:t>
            </a:r>
            <a:r>
              <a:rPr lang="en-GB" sz="600" spc="-1" noProof="0" dirty="0" err="1">
                <a:solidFill>
                  <a:prstClr val="black"/>
                </a:solidFill>
                <a:cs typeface="Arial" panose="020B0604020202020204" pitchFamily="34" charset="0"/>
              </a:rPr>
              <a:t>p_star</a:t>
            </a:r>
            <a:r>
              <a:rPr lang="en-GB" sz="600" spc="-1" noProof="0" dirty="0">
                <a:solidFill>
                  <a:prstClr val="black"/>
                </a:solidFill>
                <a:cs typeface="Arial" panose="020B0604020202020204" pitchFamily="34" charset="0"/>
              </a:rPr>
              <a:t>, Y, 0, </a:t>
            </a:r>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 )$</a:t>
            </a:r>
          </a:p>
          <a:p>
            <a:r>
              <a:rPr lang="en-GB" sz="600" spc="-1" noProof="0" dirty="0">
                <a:solidFill>
                  <a:prstClr val="black"/>
                </a:solidFill>
                <a:cs typeface="Arial" panose="020B0604020202020204" pitchFamily="34" charset="0"/>
              </a:rPr>
              <a:t>Y: rationalize(</a:t>
            </a:r>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 Print equilibrium conditions */</a:t>
            </a:r>
          </a:p>
          <a:p>
            <a:r>
              <a:rPr lang="en-GB" sz="600" spc="-1" noProof="0" dirty="0">
                <a:solidFill>
                  <a:prstClr val="black"/>
                </a:solidFill>
                <a:cs typeface="Arial" panose="020B0604020202020204" pitchFamily="34" charset="0"/>
              </a:rPr>
              <a:t>print("Equilibrium Conditions:")$</a:t>
            </a:r>
          </a:p>
          <a:p>
            <a:r>
              <a:rPr lang="en-GB" sz="600" spc="-1" noProof="0" dirty="0">
                <a:solidFill>
                  <a:prstClr val="black"/>
                </a:solidFill>
                <a:cs typeface="Arial" panose="020B0604020202020204" pitchFamily="34" charset="0"/>
              </a:rPr>
              <a:t>print("Price (p*):", ''</a:t>
            </a:r>
            <a:r>
              <a:rPr lang="en-GB" sz="600" spc="-1" noProof="0" dirty="0" err="1">
                <a:solidFill>
                  <a:prstClr val="black"/>
                </a:solidFill>
                <a:cs typeface="Arial" panose="020B0604020202020204" pitchFamily="34" charset="0"/>
              </a:rPr>
              <a:t>p_star</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print("Quantity (Y*):", ''</a:t>
            </a:r>
            <a:r>
              <a:rPr lang="en-GB" sz="600" spc="-1" noProof="0" dirty="0" err="1">
                <a:solidFill>
                  <a:prstClr val="black"/>
                </a:solidFill>
                <a:cs typeface="Arial" panose="020B0604020202020204" pitchFamily="34" charset="0"/>
              </a:rPr>
              <a:t>Y_star</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print("Total Cost (TC):", ''</a:t>
            </a:r>
            <a:r>
              <a:rPr lang="en-GB" sz="600" spc="-1" noProof="0" dirty="0" err="1">
                <a:solidFill>
                  <a:prstClr val="black"/>
                </a:solidFill>
                <a:cs typeface="Arial" panose="020B0604020202020204" pitchFamily="34" charset="0"/>
              </a:rPr>
              <a:t>TC_star</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print("Total Revenue (R):", ''</a:t>
            </a:r>
            <a:r>
              <a:rPr lang="en-GB" sz="600" spc="-1" noProof="0" dirty="0" err="1">
                <a:solidFill>
                  <a:prstClr val="black"/>
                </a:solidFill>
                <a:cs typeface="Arial" panose="020B0604020202020204" pitchFamily="34" charset="0"/>
              </a:rPr>
              <a:t>R_star</a:t>
            </a:r>
            <a:r>
              <a:rPr lang="en-GB" sz="600" spc="-1" noProof="0" dirty="0">
                <a:solidFill>
                  <a:prstClr val="black"/>
                </a:solidFill>
                <a:cs typeface="Arial" panose="020B0604020202020204" pitchFamily="34" charset="0"/>
              </a:rPr>
              <a:t>)$</a:t>
            </a:r>
          </a:p>
          <a:p>
            <a:r>
              <a:rPr lang="en-GB" sz="600" spc="-1" noProof="0" dirty="0">
                <a:solidFill>
                  <a:prstClr val="black"/>
                </a:solidFill>
                <a:cs typeface="Arial" panose="020B0604020202020204" pitchFamily="34" charset="0"/>
              </a:rPr>
              <a:t>print("Profit:", ''Profit)$</a:t>
            </a:r>
            <a:endParaRPr lang="en-GB" sz="1050" spc="-1" noProof="0" dirty="0">
              <a:solidFill>
                <a:srgbClr val="215968"/>
              </a:solidFill>
              <a:cs typeface="Arial" panose="020B0604020202020204" pitchFamily="34" charset="0"/>
            </a:endParaRPr>
          </a:p>
        </p:txBody>
      </p:sp>
      <p:pic>
        <p:nvPicPr>
          <p:cNvPr id="23" name="Picture 22">
            <a:extLst>
              <a:ext uri="{FF2B5EF4-FFF2-40B4-BE49-F238E27FC236}">
                <a16:creationId xmlns:a16="http://schemas.microsoft.com/office/drawing/2014/main" id="{926B92E0-1660-A914-AC9B-1F8CC3E72F49}"/>
              </a:ext>
            </a:extLst>
          </p:cNvPr>
          <p:cNvPicPr>
            <a:picLocks noChangeAspect="1"/>
          </p:cNvPicPr>
          <p:nvPr/>
        </p:nvPicPr>
        <p:blipFill>
          <a:blip r:embed="rId2"/>
          <a:stretch>
            <a:fillRect/>
          </a:stretch>
        </p:blipFill>
        <p:spPr>
          <a:xfrm>
            <a:off x="2779525" y="1067936"/>
            <a:ext cx="3727189" cy="3105991"/>
          </a:xfrm>
          <a:prstGeom prst="rect">
            <a:avLst/>
          </a:prstGeom>
        </p:spPr>
      </p:pic>
      <p:sp>
        <p:nvSpPr>
          <p:cNvPr id="21" name="TextBox 20">
            <a:extLst>
              <a:ext uri="{FF2B5EF4-FFF2-40B4-BE49-F238E27FC236}">
                <a16:creationId xmlns:a16="http://schemas.microsoft.com/office/drawing/2014/main" id="{6C62A0CF-2CA1-CF5F-2966-ABE477904083}"/>
              </a:ext>
            </a:extLst>
          </p:cNvPr>
          <p:cNvSpPr txBox="1"/>
          <p:nvPr/>
        </p:nvSpPr>
        <p:spPr>
          <a:xfrm>
            <a:off x="3873117" y="1721987"/>
            <a:ext cx="339344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GB" noProof="0" dirty="0"/>
              <a:t>FC = 1800 </a:t>
            </a:r>
          </a:p>
          <a:p>
            <a:r>
              <a:rPr lang="en-GB" noProof="0" dirty="0"/>
              <a:t>"Average total cost:"" "50" "</a:t>
            </a:r>
          </a:p>
        </p:txBody>
      </p:sp>
      <p:pic>
        <p:nvPicPr>
          <p:cNvPr id="25" name="Picture 24">
            <a:extLst>
              <a:ext uri="{FF2B5EF4-FFF2-40B4-BE49-F238E27FC236}">
                <a16:creationId xmlns:a16="http://schemas.microsoft.com/office/drawing/2014/main" id="{D8173CD3-2E56-B602-6B6A-44E60BE2F03E}"/>
              </a:ext>
            </a:extLst>
          </p:cNvPr>
          <p:cNvPicPr>
            <a:picLocks noChangeAspect="1"/>
          </p:cNvPicPr>
          <p:nvPr/>
        </p:nvPicPr>
        <p:blipFill>
          <a:blip r:embed="rId3"/>
          <a:stretch>
            <a:fillRect/>
          </a:stretch>
        </p:blipFill>
        <p:spPr>
          <a:xfrm>
            <a:off x="2779525" y="3899896"/>
            <a:ext cx="3727189" cy="2683933"/>
          </a:xfrm>
          <a:prstGeom prst="rect">
            <a:avLst/>
          </a:prstGeom>
        </p:spPr>
      </p:pic>
      <p:sp>
        <p:nvSpPr>
          <p:cNvPr id="26" name="TextBox 25">
            <a:extLst>
              <a:ext uri="{FF2B5EF4-FFF2-40B4-BE49-F238E27FC236}">
                <a16:creationId xmlns:a16="http://schemas.microsoft.com/office/drawing/2014/main" id="{EF30EF55-ECEB-A177-E1EE-928EF3741817}"/>
              </a:ext>
            </a:extLst>
          </p:cNvPr>
          <p:cNvSpPr txBox="1"/>
          <p:nvPr/>
        </p:nvSpPr>
        <p:spPr>
          <a:xfrm>
            <a:off x="3437315" y="4460157"/>
            <a:ext cx="4102483"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GB" noProof="0" dirty="0"/>
              <a:t>FC = 20 </a:t>
            </a:r>
          </a:p>
          <a:p>
            <a:r>
              <a:rPr lang="en-GB" noProof="0" dirty="0"/>
              <a:t>"Average total cost:"" „10.4" ~ MC</a:t>
            </a:r>
          </a:p>
        </p:txBody>
      </p:sp>
      <p:sp>
        <p:nvSpPr>
          <p:cNvPr id="28" name="TextBox 27">
            <a:extLst>
              <a:ext uri="{FF2B5EF4-FFF2-40B4-BE49-F238E27FC236}">
                <a16:creationId xmlns:a16="http://schemas.microsoft.com/office/drawing/2014/main" id="{327F2C24-68D9-32C7-AB30-3DF765B9880E}"/>
              </a:ext>
            </a:extLst>
          </p:cNvPr>
          <p:cNvSpPr txBox="1"/>
          <p:nvPr/>
        </p:nvSpPr>
        <p:spPr>
          <a:xfrm>
            <a:off x="7600306" y="1307864"/>
            <a:ext cx="4102482" cy="4893647"/>
          </a:xfrm>
          <a:prstGeom prst="rect">
            <a:avLst/>
          </a:prstGeom>
          <a:noFill/>
        </p:spPr>
        <p:txBody>
          <a:bodyPr wrap="square">
            <a:spAutoFit/>
          </a:bodyPr>
          <a:lstStyle/>
          <a:p>
            <a:pPr algn="just"/>
            <a:r>
              <a:rPr lang="en-GB" sz="2400" noProof="0" dirty="0">
                <a:solidFill>
                  <a:schemeClr val="accent5">
                    <a:lumMod val="50000"/>
                  </a:schemeClr>
                </a:solidFill>
              </a:rPr>
              <a:t>This is an example of a natural monopoly due to high fixed costs (FC =1800). Only the monopolist's production can cover the average costs, as the price exceeds the average cost (P&gt;ATC). When the fixed cost approaches zero (FC→0), the average cost starts to converge with the marginal cost (ATC≈MC). Going forward, we will use the approximation MC=ATC.</a:t>
            </a:r>
          </a:p>
        </p:txBody>
      </p:sp>
      <p:sp>
        <p:nvSpPr>
          <p:cNvPr id="30" name="TextBox 29">
            <a:extLst>
              <a:ext uri="{FF2B5EF4-FFF2-40B4-BE49-F238E27FC236}">
                <a16:creationId xmlns:a16="http://schemas.microsoft.com/office/drawing/2014/main" id="{B368BD6F-F48A-5E39-CBD0-2005BBD30D98}"/>
              </a:ext>
            </a:extLst>
          </p:cNvPr>
          <p:cNvSpPr txBox="1"/>
          <p:nvPr/>
        </p:nvSpPr>
        <p:spPr>
          <a:xfrm>
            <a:off x="2361168" y="6413302"/>
            <a:ext cx="9810777" cy="369332"/>
          </a:xfrm>
          <a:prstGeom prst="rect">
            <a:avLst/>
          </a:prstGeom>
          <a:noFill/>
        </p:spPr>
        <p:txBody>
          <a:bodyPr wrap="square">
            <a:spAutoFit/>
          </a:bodyPr>
          <a:lstStyle/>
          <a:p>
            <a:r>
              <a:rPr lang="en-GB" noProof="0" dirty="0"/>
              <a:t>Only one large firm can achieve profits due to technological reasons → Natural Monopoly.</a:t>
            </a:r>
          </a:p>
        </p:txBody>
      </p:sp>
    </p:spTree>
    <p:extLst>
      <p:ext uri="{BB962C8B-B14F-4D97-AF65-F5344CB8AC3E}">
        <p14:creationId xmlns:p14="http://schemas.microsoft.com/office/powerpoint/2010/main" val="848867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47584-D56A-0935-30AD-88E390F75B35}"/>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E84D3228-9792-6E6D-9948-E394A69E224F}"/>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Fundamental Concepts: Monopoly</a:t>
            </a:r>
          </a:p>
        </p:txBody>
      </p:sp>
      <p:pic>
        <p:nvPicPr>
          <p:cNvPr id="4" name="Picture 3">
            <a:extLst>
              <a:ext uri="{FF2B5EF4-FFF2-40B4-BE49-F238E27FC236}">
                <a16:creationId xmlns:a16="http://schemas.microsoft.com/office/drawing/2014/main" id="{EC0D0011-426F-8C4A-649E-329036BBB509}"/>
              </a:ext>
            </a:extLst>
          </p:cNvPr>
          <p:cNvPicPr>
            <a:picLocks noChangeAspect="1"/>
          </p:cNvPicPr>
          <p:nvPr/>
        </p:nvPicPr>
        <p:blipFill>
          <a:blip r:embed="rId2"/>
          <a:stretch>
            <a:fillRect/>
          </a:stretch>
        </p:blipFill>
        <p:spPr>
          <a:xfrm>
            <a:off x="8556878" y="1209040"/>
            <a:ext cx="3563395" cy="2969496"/>
          </a:xfrm>
          <a:prstGeom prst="rect">
            <a:avLst/>
          </a:prstGeom>
        </p:spPr>
      </p:pic>
      <p:pic>
        <p:nvPicPr>
          <p:cNvPr id="7" name="Picture 6">
            <a:extLst>
              <a:ext uri="{FF2B5EF4-FFF2-40B4-BE49-F238E27FC236}">
                <a16:creationId xmlns:a16="http://schemas.microsoft.com/office/drawing/2014/main" id="{29B9AFB4-C134-E36B-9A75-189CDEF7D49D}"/>
              </a:ext>
            </a:extLst>
          </p:cNvPr>
          <p:cNvPicPr>
            <a:picLocks noChangeAspect="1"/>
          </p:cNvPicPr>
          <p:nvPr/>
        </p:nvPicPr>
        <p:blipFill>
          <a:blip r:embed="rId3"/>
          <a:stretch>
            <a:fillRect/>
          </a:stretch>
        </p:blipFill>
        <p:spPr>
          <a:xfrm>
            <a:off x="8556878" y="4193776"/>
            <a:ext cx="3647918" cy="2387600"/>
          </a:xfrm>
          <a:prstGeom prst="rect">
            <a:avLst/>
          </a:prstGeom>
        </p:spPr>
      </p:pic>
      <p:graphicFrame>
        <p:nvGraphicFramePr>
          <p:cNvPr id="8" name="Table 7">
            <a:extLst>
              <a:ext uri="{FF2B5EF4-FFF2-40B4-BE49-F238E27FC236}">
                <a16:creationId xmlns:a16="http://schemas.microsoft.com/office/drawing/2014/main" id="{64BF7083-A7B8-81C8-3EBC-0524314E41D5}"/>
              </a:ext>
            </a:extLst>
          </p:cNvPr>
          <p:cNvGraphicFramePr>
            <a:graphicFrameLocks noGrp="1"/>
          </p:cNvGraphicFramePr>
          <p:nvPr>
            <p:extLst>
              <p:ext uri="{D42A27DB-BD31-4B8C-83A1-F6EECF244321}">
                <p14:modId xmlns:p14="http://schemas.microsoft.com/office/powerpoint/2010/main" val="2700270959"/>
              </p:ext>
            </p:extLst>
          </p:nvPr>
        </p:nvGraphicFramePr>
        <p:xfrm>
          <a:off x="3616325" y="1310639"/>
          <a:ext cx="4897437" cy="1463675"/>
        </p:xfrm>
        <a:graphic>
          <a:graphicData uri="http://schemas.openxmlformats.org/drawingml/2006/table">
            <a:tbl>
              <a:tblPr firstRow="1" bandRow="1">
                <a:tableStyleId>{0E3FDE45-AF77-4B5C-9715-49D594BDF05E}</a:tableStyleId>
              </a:tblPr>
              <a:tblGrid>
                <a:gridCol w="2060630">
                  <a:extLst>
                    <a:ext uri="{9D8B030D-6E8A-4147-A177-3AD203B41FA5}">
                      <a16:colId xmlns:a16="http://schemas.microsoft.com/office/drawing/2014/main" val="2466265458"/>
                    </a:ext>
                  </a:extLst>
                </a:gridCol>
                <a:gridCol w="941025">
                  <a:extLst>
                    <a:ext uri="{9D8B030D-6E8A-4147-A177-3AD203B41FA5}">
                      <a16:colId xmlns:a16="http://schemas.microsoft.com/office/drawing/2014/main" val="1395787460"/>
                    </a:ext>
                  </a:extLst>
                </a:gridCol>
                <a:gridCol w="947891">
                  <a:extLst>
                    <a:ext uri="{9D8B030D-6E8A-4147-A177-3AD203B41FA5}">
                      <a16:colId xmlns:a16="http://schemas.microsoft.com/office/drawing/2014/main" val="647085462"/>
                    </a:ext>
                  </a:extLst>
                </a:gridCol>
                <a:gridCol w="947891">
                  <a:extLst>
                    <a:ext uri="{9D8B030D-6E8A-4147-A177-3AD203B41FA5}">
                      <a16:colId xmlns:a16="http://schemas.microsoft.com/office/drawing/2014/main" val="1903645871"/>
                    </a:ext>
                  </a:extLst>
                </a:gridCol>
              </a:tblGrid>
              <a:tr h="640358">
                <a:tc>
                  <a:txBody>
                    <a:bodyPr/>
                    <a:lstStyle/>
                    <a:p>
                      <a:pPr algn="ctr"/>
                      <a:endParaRPr lang="en-GB" sz="1200" noProof="0" dirty="0"/>
                    </a:p>
                  </a:txBody>
                  <a:tcPr marL="91445" marR="91445" marT="45740" marB="45740"/>
                </a:tc>
                <a:tc>
                  <a:txBody>
                    <a:bodyPr/>
                    <a:lstStyle/>
                    <a:p>
                      <a:pPr algn="ctr"/>
                      <a:r>
                        <a:rPr lang="en-GB" sz="1200" noProof="0" dirty="0"/>
                        <a:t>Perfect </a:t>
                      </a:r>
                      <a:r>
                        <a:rPr lang="en-GB" sz="1200" noProof="0" dirty="0" err="1"/>
                        <a:t>commpetition</a:t>
                      </a:r>
                      <a:endParaRPr lang="en-GB" sz="1200" noProof="0" dirty="0"/>
                    </a:p>
                  </a:txBody>
                  <a:tcPr marL="91445" marR="91445" marT="45740" marB="45740"/>
                </a:tc>
                <a:tc>
                  <a:txBody>
                    <a:bodyPr/>
                    <a:lstStyle/>
                    <a:p>
                      <a:pPr algn="ctr"/>
                      <a:r>
                        <a:rPr lang="en-GB" sz="1200" noProof="0" dirty="0"/>
                        <a:t>Monopoly</a:t>
                      </a:r>
                    </a:p>
                  </a:txBody>
                  <a:tcPr marL="91445" marR="91445" marT="45740" marB="45740"/>
                </a:tc>
                <a:tc>
                  <a:txBody>
                    <a:bodyPr/>
                    <a:lstStyle/>
                    <a:p>
                      <a:pPr algn="ctr"/>
                      <a:r>
                        <a:rPr lang="en-GB" sz="1200" noProof="0" dirty="0"/>
                        <a:t>Change</a:t>
                      </a:r>
                    </a:p>
                  </a:txBody>
                  <a:tcPr marL="91445" marR="91445" marT="45740" marB="45740"/>
                </a:tc>
                <a:extLst>
                  <a:ext uri="{0D108BD9-81ED-4DB2-BD59-A6C34878D82A}">
                    <a16:rowId xmlns:a16="http://schemas.microsoft.com/office/drawing/2014/main" val="2571549105"/>
                  </a:ext>
                </a:extLst>
              </a:tr>
              <a:tr h="274439">
                <a:tc>
                  <a:txBody>
                    <a:bodyPr/>
                    <a:lstStyle/>
                    <a:p>
                      <a:pPr algn="ctr"/>
                      <a:r>
                        <a:rPr lang="en-GB" sz="1200" noProof="0" dirty="0" err="1"/>
                        <a:t>Consuments</a:t>
                      </a:r>
                      <a:endParaRPr lang="en-GB" sz="1200" noProof="0" dirty="0"/>
                    </a:p>
                  </a:txBody>
                  <a:tcPr marL="91445" marR="91445" marT="45740" marB="45740"/>
                </a:tc>
                <a:tc>
                  <a:txBody>
                    <a:bodyPr/>
                    <a:lstStyle/>
                    <a:p>
                      <a:pPr algn="ctr"/>
                      <a:r>
                        <a:rPr lang="en-GB" sz="1200" noProof="0" dirty="0"/>
                        <a:t>a +b + c</a:t>
                      </a:r>
                    </a:p>
                  </a:txBody>
                  <a:tcPr marL="91445" marR="91445" marT="45740" marB="45740"/>
                </a:tc>
                <a:tc>
                  <a:txBody>
                    <a:bodyPr/>
                    <a:lstStyle/>
                    <a:p>
                      <a:pPr algn="ctr"/>
                      <a:r>
                        <a:rPr lang="en-GB" sz="1200" noProof="0" dirty="0"/>
                        <a:t>a</a:t>
                      </a:r>
                    </a:p>
                  </a:txBody>
                  <a:tcPr marL="91445" marR="91445" marT="45740" marB="45740"/>
                </a:tc>
                <a:tc>
                  <a:txBody>
                    <a:bodyPr/>
                    <a:lstStyle/>
                    <a:p>
                      <a:pPr algn="ctr"/>
                      <a:r>
                        <a:rPr lang="en-GB" sz="1200" noProof="0" dirty="0"/>
                        <a:t>-b-c</a:t>
                      </a:r>
                    </a:p>
                  </a:txBody>
                  <a:tcPr marL="91445" marR="91445" marT="45740" marB="45740"/>
                </a:tc>
                <a:extLst>
                  <a:ext uri="{0D108BD9-81ED-4DB2-BD59-A6C34878D82A}">
                    <a16:rowId xmlns:a16="http://schemas.microsoft.com/office/drawing/2014/main" val="2324117938"/>
                  </a:ext>
                </a:extLst>
              </a:tr>
              <a:tr h="2744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200" noProof="0" dirty="0"/>
                        <a:t>Producers</a:t>
                      </a:r>
                    </a:p>
                  </a:txBody>
                  <a:tcPr marL="91445" marR="91445" marT="45740" marB="45740"/>
                </a:tc>
                <a:tc>
                  <a:txBody>
                    <a:bodyPr/>
                    <a:lstStyle/>
                    <a:p>
                      <a:pPr algn="ctr"/>
                      <a:r>
                        <a:rPr lang="en-GB" sz="1200" noProof="0" dirty="0"/>
                        <a:t>d + e</a:t>
                      </a:r>
                    </a:p>
                  </a:txBody>
                  <a:tcPr marL="91445" marR="91445" marT="45740" marB="45740"/>
                </a:tc>
                <a:tc>
                  <a:txBody>
                    <a:bodyPr/>
                    <a:lstStyle/>
                    <a:p>
                      <a:pPr algn="ctr"/>
                      <a:r>
                        <a:rPr lang="en-GB" sz="1200" noProof="0" dirty="0"/>
                        <a:t>e+ b</a:t>
                      </a:r>
                    </a:p>
                  </a:txBody>
                  <a:tcPr marL="91445" marR="91445" marT="45740" marB="45740"/>
                </a:tc>
                <a:tc>
                  <a:txBody>
                    <a:bodyPr/>
                    <a:lstStyle/>
                    <a:p>
                      <a:pPr algn="ctr"/>
                      <a:r>
                        <a:rPr lang="en-GB" sz="1200" noProof="0" dirty="0"/>
                        <a:t>b-d</a:t>
                      </a:r>
                    </a:p>
                  </a:txBody>
                  <a:tcPr marL="91445" marR="91445" marT="45740" marB="45740"/>
                </a:tc>
                <a:extLst>
                  <a:ext uri="{0D108BD9-81ED-4DB2-BD59-A6C34878D82A}">
                    <a16:rowId xmlns:a16="http://schemas.microsoft.com/office/drawing/2014/main" val="4071011953"/>
                  </a:ext>
                </a:extLst>
              </a:tr>
              <a:tr h="274439">
                <a:tc>
                  <a:txBody>
                    <a:bodyPr/>
                    <a:lstStyle/>
                    <a:p>
                      <a:pPr algn="ctr"/>
                      <a:r>
                        <a:rPr lang="en-GB" sz="1200" noProof="0" dirty="0"/>
                        <a:t>Sum</a:t>
                      </a:r>
                    </a:p>
                  </a:txBody>
                  <a:tcPr marL="91445" marR="91445" marT="45740" marB="45740"/>
                </a:tc>
                <a:tc>
                  <a:txBody>
                    <a:bodyPr/>
                    <a:lstStyle/>
                    <a:p>
                      <a:pPr algn="ctr"/>
                      <a:r>
                        <a:rPr lang="en-GB" sz="1200" noProof="0" dirty="0"/>
                        <a:t>c +e</a:t>
                      </a:r>
                    </a:p>
                  </a:txBody>
                  <a:tcPr marL="91445" marR="91445" marT="45740" marB="45740"/>
                </a:tc>
                <a:tc>
                  <a:txBody>
                    <a:bodyPr/>
                    <a:lstStyle/>
                    <a:p>
                      <a:pPr algn="ctr"/>
                      <a:r>
                        <a:rPr lang="en-GB" sz="1200" noProof="0" dirty="0" err="1"/>
                        <a:t>a+b+e</a:t>
                      </a:r>
                      <a:endParaRPr lang="en-GB" sz="1200" noProof="0" dirty="0"/>
                    </a:p>
                  </a:txBody>
                  <a:tcPr marL="91445" marR="91445" marT="45740" marB="45740"/>
                </a:tc>
                <a:tc>
                  <a:txBody>
                    <a:bodyPr/>
                    <a:lstStyle/>
                    <a:p>
                      <a:pPr algn="ctr"/>
                      <a:r>
                        <a:rPr lang="en-GB" sz="1200" noProof="0" dirty="0"/>
                        <a:t>-c-d</a:t>
                      </a:r>
                    </a:p>
                  </a:txBody>
                  <a:tcPr marL="91445" marR="91445" marT="45740" marB="45740"/>
                </a:tc>
                <a:extLst>
                  <a:ext uri="{0D108BD9-81ED-4DB2-BD59-A6C34878D82A}">
                    <a16:rowId xmlns:a16="http://schemas.microsoft.com/office/drawing/2014/main" val="1536488336"/>
                  </a:ext>
                </a:extLst>
              </a:tr>
            </a:tbl>
          </a:graphicData>
        </a:graphic>
      </p:graphicFrame>
      <p:grpSp>
        <p:nvGrpSpPr>
          <p:cNvPr id="9" name="Grupa 45">
            <a:extLst>
              <a:ext uri="{FF2B5EF4-FFF2-40B4-BE49-F238E27FC236}">
                <a16:creationId xmlns:a16="http://schemas.microsoft.com/office/drawing/2014/main" id="{18D919F9-2651-D7C4-5507-A1169FC3AE6E}"/>
              </a:ext>
            </a:extLst>
          </p:cNvPr>
          <p:cNvGrpSpPr>
            <a:grpSpLocks/>
          </p:cNvGrpSpPr>
          <p:nvPr/>
        </p:nvGrpSpPr>
        <p:grpSpPr bwMode="auto">
          <a:xfrm>
            <a:off x="198438" y="2118677"/>
            <a:ext cx="6948923" cy="4700588"/>
            <a:chOff x="611188" y="1462088"/>
            <a:chExt cx="6948811" cy="4700672"/>
          </a:xfrm>
        </p:grpSpPr>
        <p:sp>
          <p:nvSpPr>
            <p:cNvPr id="10" name="Dowolny kształt 47">
              <a:extLst>
                <a:ext uri="{FF2B5EF4-FFF2-40B4-BE49-F238E27FC236}">
                  <a16:creationId xmlns:a16="http://schemas.microsoft.com/office/drawing/2014/main" id="{75CF7BFE-8BEC-3955-8A2F-CE8B431DA789}"/>
                </a:ext>
              </a:extLst>
            </p:cNvPr>
            <p:cNvSpPr/>
            <p:nvPr/>
          </p:nvSpPr>
          <p:spPr>
            <a:xfrm>
              <a:off x="1676383" y="2679723"/>
              <a:ext cx="1409678" cy="889016"/>
            </a:xfrm>
            <a:custGeom>
              <a:avLst/>
              <a:gdLst>
                <a:gd name="connsiteX0" fmla="*/ 0 w 2311400"/>
                <a:gd name="connsiteY0" fmla="*/ 0 h 1511300"/>
                <a:gd name="connsiteX1" fmla="*/ 2311400 w 2311400"/>
                <a:gd name="connsiteY1" fmla="*/ 1511300 h 1511300"/>
                <a:gd name="connsiteX2" fmla="*/ 12700 w 2311400"/>
                <a:gd name="connsiteY2" fmla="*/ 1485900 h 1511300"/>
                <a:gd name="connsiteX3" fmla="*/ 0 w 2311400"/>
                <a:gd name="connsiteY3" fmla="*/ 0 h 1511300"/>
              </a:gdLst>
              <a:ahLst/>
              <a:cxnLst>
                <a:cxn ang="0">
                  <a:pos x="connsiteX0" y="connsiteY0"/>
                </a:cxn>
                <a:cxn ang="0">
                  <a:pos x="connsiteX1" y="connsiteY1"/>
                </a:cxn>
                <a:cxn ang="0">
                  <a:pos x="connsiteX2" y="connsiteY2"/>
                </a:cxn>
                <a:cxn ang="0">
                  <a:pos x="connsiteX3" y="connsiteY3"/>
                </a:cxn>
              </a:cxnLst>
              <a:rect l="l" t="t" r="r" b="b"/>
              <a:pathLst>
                <a:path w="2311400" h="1511300">
                  <a:moveTo>
                    <a:pt x="0" y="0"/>
                  </a:moveTo>
                  <a:lnTo>
                    <a:pt x="2311400" y="1511300"/>
                  </a:lnTo>
                  <a:lnTo>
                    <a:pt x="12700" y="1485900"/>
                  </a:lnTo>
                  <a:lnTo>
                    <a:pt x="0" y="0"/>
                  </a:ln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600" noProof="0" dirty="0">
                <a:solidFill>
                  <a:schemeClr val="accent5">
                    <a:lumMod val="50000"/>
                  </a:schemeClr>
                </a:solidFill>
              </a:endParaRPr>
            </a:p>
          </p:txBody>
        </p:sp>
        <p:sp>
          <p:nvSpPr>
            <p:cNvPr id="11" name="pole tekstowe 53">
              <a:extLst>
                <a:ext uri="{FF2B5EF4-FFF2-40B4-BE49-F238E27FC236}">
                  <a16:creationId xmlns:a16="http://schemas.microsoft.com/office/drawing/2014/main" id="{00A4C485-407F-07F3-1DD3-9F92F8124659}"/>
                </a:ext>
              </a:extLst>
            </p:cNvPr>
            <p:cNvSpPr txBox="1">
              <a:spLocks noChangeArrowheads="1"/>
            </p:cNvSpPr>
            <p:nvPr/>
          </p:nvSpPr>
          <p:spPr bwMode="auto">
            <a:xfrm>
              <a:off x="1766870" y="3013104"/>
              <a:ext cx="296857" cy="338143"/>
            </a:xfrm>
            <a:prstGeom prst="rect">
              <a:avLst/>
            </a:prstGeom>
            <a:noFill/>
            <a:ln w="9525">
              <a:noFill/>
              <a:miter lim="800000"/>
              <a:headEnd/>
              <a:tailEnd/>
            </a:ln>
          </p:spPr>
          <p:txBody>
            <a:bodyPr>
              <a:spAutoFit/>
            </a:bodyPr>
            <a:lstStyle/>
            <a:p>
              <a:pPr>
                <a:defRPr/>
              </a:pPr>
              <a:r>
                <a:rPr lang="en-GB" sz="1600" noProof="0" dirty="0">
                  <a:solidFill>
                    <a:schemeClr val="accent5">
                      <a:lumMod val="50000"/>
                    </a:schemeClr>
                  </a:solidFill>
                  <a:latin typeface="Arial" charset="0"/>
                  <a:cs typeface="Arial" charset="0"/>
                </a:rPr>
                <a:t>a</a:t>
              </a:r>
            </a:p>
          </p:txBody>
        </p:sp>
        <p:sp>
          <p:nvSpPr>
            <p:cNvPr id="12" name="Rectangle 19">
              <a:extLst>
                <a:ext uri="{FF2B5EF4-FFF2-40B4-BE49-F238E27FC236}">
                  <a16:creationId xmlns:a16="http://schemas.microsoft.com/office/drawing/2014/main" id="{493B492F-969F-73CD-C140-4B76EEC0F3DA}"/>
                </a:ext>
              </a:extLst>
            </p:cNvPr>
            <p:cNvSpPr>
              <a:spLocks noChangeArrowheads="1"/>
            </p:cNvSpPr>
            <p:nvPr/>
          </p:nvSpPr>
          <p:spPr bwMode="auto">
            <a:xfrm>
              <a:off x="856762" y="4007160"/>
              <a:ext cx="756605" cy="339202"/>
            </a:xfrm>
            <a:prstGeom prst="rect">
              <a:avLst/>
            </a:prstGeom>
            <a:noFill/>
            <a:ln w="9525">
              <a:noFill/>
              <a:miter lim="800000"/>
              <a:headEnd/>
              <a:tailEnd/>
            </a:ln>
          </p:spPr>
          <p:txBody>
            <a:bodyPr wrap="none" lIns="92075" tIns="46038" rIns="92075" bIns="46038">
              <a:spAutoFit/>
            </a:bodyPr>
            <a:lstStyle/>
            <a:p>
              <a:pPr eaLnBrk="0" hangingPunct="0">
                <a:defRPr/>
              </a:pPr>
              <a:r>
                <a:rPr lang="en-GB" sz="1600" noProof="0" dirty="0">
                  <a:solidFill>
                    <a:schemeClr val="accent5">
                      <a:lumMod val="50000"/>
                    </a:schemeClr>
                  </a:solidFill>
                  <a:latin typeface="Arial" charset="0"/>
                </a:rPr>
                <a:t>p(Y</a:t>
              </a:r>
              <a:r>
                <a:rPr lang="en-GB" sz="1600" baseline="30000" noProof="0" dirty="0">
                  <a:solidFill>
                    <a:schemeClr val="accent5">
                      <a:lumMod val="50000"/>
                    </a:schemeClr>
                  </a:solidFill>
                  <a:latin typeface="Arial" charset="0"/>
                </a:rPr>
                <a:t>PK</a:t>
              </a:r>
              <a:r>
                <a:rPr lang="en-GB" sz="1600" noProof="0" dirty="0">
                  <a:solidFill>
                    <a:schemeClr val="accent5">
                      <a:lumMod val="50000"/>
                    </a:schemeClr>
                  </a:solidFill>
                  <a:latin typeface="Arial" charset="0"/>
                </a:rPr>
                <a:t>)</a:t>
              </a:r>
            </a:p>
          </p:txBody>
        </p:sp>
        <p:grpSp>
          <p:nvGrpSpPr>
            <p:cNvPr id="13" name="Grupa 41">
              <a:extLst>
                <a:ext uri="{FF2B5EF4-FFF2-40B4-BE49-F238E27FC236}">
                  <a16:creationId xmlns:a16="http://schemas.microsoft.com/office/drawing/2014/main" id="{B27834DE-F2D7-2C2A-8E27-C7EBAA0D57C3}"/>
                </a:ext>
              </a:extLst>
            </p:cNvPr>
            <p:cNvGrpSpPr>
              <a:grpSpLocks/>
            </p:cNvGrpSpPr>
            <p:nvPr/>
          </p:nvGrpSpPr>
          <p:grpSpPr bwMode="auto">
            <a:xfrm>
              <a:off x="611188" y="1462088"/>
              <a:ext cx="6948811" cy="4700672"/>
              <a:chOff x="611188" y="1462088"/>
              <a:chExt cx="6948811" cy="4700672"/>
            </a:xfrm>
          </p:grpSpPr>
          <p:sp>
            <p:nvSpPr>
              <p:cNvPr id="15" name="Prostokąt 49">
                <a:extLst>
                  <a:ext uri="{FF2B5EF4-FFF2-40B4-BE49-F238E27FC236}">
                    <a16:creationId xmlns:a16="http://schemas.microsoft.com/office/drawing/2014/main" id="{627B26A4-5523-69B5-B202-B78EC0338AE2}"/>
                  </a:ext>
                </a:extLst>
              </p:cNvPr>
              <p:cNvSpPr/>
              <p:nvPr/>
            </p:nvSpPr>
            <p:spPr>
              <a:xfrm>
                <a:off x="1689083" y="3543338"/>
                <a:ext cx="1346179" cy="660412"/>
              </a:xfrm>
              <a:prstGeom prst="rect">
                <a:avLst/>
              </a:prstGeom>
              <a:solidFill>
                <a:srgbClr val="C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600" noProof="0" dirty="0">
                  <a:solidFill>
                    <a:schemeClr val="accent5">
                      <a:lumMod val="50000"/>
                    </a:schemeClr>
                  </a:solidFill>
                </a:endParaRPr>
              </a:p>
            </p:txBody>
          </p:sp>
          <p:sp>
            <p:nvSpPr>
              <p:cNvPr id="16" name="Trójkąt prostokątny 52">
                <a:extLst>
                  <a:ext uri="{FF2B5EF4-FFF2-40B4-BE49-F238E27FC236}">
                    <a16:creationId xmlns:a16="http://schemas.microsoft.com/office/drawing/2014/main" id="{0B4794A7-BF8D-B185-22CD-7DF1302592D6}"/>
                  </a:ext>
                </a:extLst>
              </p:cNvPr>
              <p:cNvSpPr/>
              <p:nvPr/>
            </p:nvSpPr>
            <p:spPr>
              <a:xfrm>
                <a:off x="3035261" y="3543338"/>
                <a:ext cx="977884" cy="635011"/>
              </a:xfrm>
              <a:prstGeom prst="rtTriangle">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600" noProof="0" dirty="0">
                  <a:solidFill>
                    <a:schemeClr val="accent5">
                      <a:lumMod val="50000"/>
                    </a:schemeClr>
                  </a:solidFill>
                </a:endParaRPr>
              </a:p>
            </p:txBody>
          </p:sp>
          <p:sp>
            <p:nvSpPr>
              <p:cNvPr id="17" name="Trójkąt prostokątny 50">
                <a:extLst>
                  <a:ext uri="{FF2B5EF4-FFF2-40B4-BE49-F238E27FC236}">
                    <a16:creationId xmlns:a16="http://schemas.microsoft.com/office/drawing/2014/main" id="{A842F4EB-9E1F-CB03-B53A-52A59C5188AB}"/>
                  </a:ext>
                </a:extLst>
              </p:cNvPr>
              <p:cNvSpPr/>
              <p:nvPr/>
            </p:nvSpPr>
            <p:spPr>
              <a:xfrm flipV="1">
                <a:off x="1676383" y="4178350"/>
                <a:ext cx="2362162" cy="53341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600" noProof="0" dirty="0">
                  <a:solidFill>
                    <a:schemeClr val="accent5">
                      <a:lumMod val="50000"/>
                    </a:schemeClr>
                  </a:solidFill>
                </a:endParaRPr>
              </a:p>
            </p:txBody>
          </p:sp>
          <p:grpSp>
            <p:nvGrpSpPr>
              <p:cNvPr id="18" name="Grupa 2">
                <a:extLst>
                  <a:ext uri="{FF2B5EF4-FFF2-40B4-BE49-F238E27FC236}">
                    <a16:creationId xmlns:a16="http://schemas.microsoft.com/office/drawing/2014/main" id="{689E441D-77D6-E956-1570-68B64570D72D}"/>
                  </a:ext>
                </a:extLst>
              </p:cNvPr>
              <p:cNvGrpSpPr>
                <a:grpSpLocks/>
              </p:cNvGrpSpPr>
              <p:nvPr/>
            </p:nvGrpSpPr>
            <p:grpSpPr bwMode="auto">
              <a:xfrm>
                <a:off x="611188" y="1462088"/>
                <a:ext cx="6948811" cy="4700672"/>
                <a:chOff x="788988" y="1157288"/>
                <a:chExt cx="6948881" cy="4700758"/>
              </a:xfrm>
            </p:grpSpPr>
            <p:sp>
              <p:nvSpPr>
                <p:cNvPr id="33" name="Line 3">
                  <a:extLst>
                    <a:ext uri="{FF2B5EF4-FFF2-40B4-BE49-F238E27FC236}">
                      <a16:creationId xmlns:a16="http://schemas.microsoft.com/office/drawing/2014/main" id="{D1286E4D-8A9F-53E2-CFC2-5C368D53A09A}"/>
                    </a:ext>
                  </a:extLst>
                </p:cNvPr>
                <p:cNvSpPr>
                  <a:spLocks noChangeShapeType="1"/>
                </p:cNvSpPr>
                <p:nvPr/>
              </p:nvSpPr>
              <p:spPr bwMode="auto">
                <a:xfrm>
                  <a:off x="1857369" y="1643081"/>
                  <a:ext cx="0" cy="3167178"/>
                </a:xfrm>
                <a:prstGeom prst="line">
                  <a:avLst/>
                </a:prstGeom>
                <a:noFill/>
                <a:ln w="12700">
                  <a:solidFill>
                    <a:schemeClr val="tx1"/>
                  </a:solidFill>
                  <a:round/>
                  <a:headEnd type="stealth" w="med" len="lg"/>
                  <a:tailEnd type="none" w="sm" len="sm"/>
                </a:ln>
              </p:spPr>
              <p:txBody>
                <a:bodyPr wrap="none" anchor="ctr"/>
                <a:lstStyle/>
                <a:p>
                  <a:pPr>
                    <a:defRPr/>
                  </a:pPr>
                  <a:endParaRPr lang="en-GB" sz="1600" noProof="0" dirty="0">
                    <a:solidFill>
                      <a:schemeClr val="accent5">
                        <a:lumMod val="50000"/>
                      </a:schemeClr>
                    </a:solidFill>
                  </a:endParaRPr>
                </a:p>
              </p:txBody>
            </p:sp>
            <p:sp>
              <p:nvSpPr>
                <p:cNvPr id="34" name="Line 4">
                  <a:extLst>
                    <a:ext uri="{FF2B5EF4-FFF2-40B4-BE49-F238E27FC236}">
                      <a16:creationId xmlns:a16="http://schemas.microsoft.com/office/drawing/2014/main" id="{62A3907A-87FC-8D1B-4E40-CB7925C66925}"/>
                    </a:ext>
                  </a:extLst>
                </p:cNvPr>
                <p:cNvSpPr>
                  <a:spLocks noChangeShapeType="1"/>
                </p:cNvSpPr>
                <p:nvPr/>
              </p:nvSpPr>
              <p:spPr bwMode="auto">
                <a:xfrm>
                  <a:off x="1857369" y="4810258"/>
                  <a:ext cx="4310038" cy="0"/>
                </a:xfrm>
                <a:prstGeom prst="line">
                  <a:avLst/>
                </a:prstGeom>
                <a:noFill/>
                <a:ln w="12700">
                  <a:solidFill>
                    <a:schemeClr val="tx1"/>
                  </a:solidFill>
                  <a:round/>
                  <a:headEnd type="none" w="sm" len="sm"/>
                  <a:tailEnd type="stealth" w="med" len="lg"/>
                </a:ln>
              </p:spPr>
              <p:txBody>
                <a:bodyPr wrap="none" anchor="ctr"/>
                <a:lstStyle/>
                <a:p>
                  <a:pPr>
                    <a:defRPr/>
                  </a:pPr>
                  <a:endParaRPr lang="en-GB" sz="1600" noProof="0" dirty="0">
                    <a:solidFill>
                      <a:schemeClr val="accent5">
                        <a:lumMod val="50000"/>
                      </a:schemeClr>
                    </a:solidFill>
                  </a:endParaRPr>
                </a:p>
              </p:txBody>
            </p:sp>
            <p:sp>
              <p:nvSpPr>
                <p:cNvPr id="35" name="Rectangle 34">
                  <a:extLst>
                    <a:ext uri="{FF2B5EF4-FFF2-40B4-BE49-F238E27FC236}">
                      <a16:creationId xmlns:a16="http://schemas.microsoft.com/office/drawing/2014/main" id="{4D468352-21F5-694C-9E3D-6F92F52A563B}"/>
                    </a:ext>
                  </a:extLst>
                </p:cNvPr>
                <p:cNvSpPr>
                  <a:spLocks noChangeArrowheads="1"/>
                </p:cNvSpPr>
                <p:nvPr/>
              </p:nvSpPr>
              <p:spPr bwMode="auto">
                <a:xfrm>
                  <a:off x="788988" y="1157288"/>
                  <a:ext cx="185736" cy="339737"/>
                </a:xfrm>
                <a:prstGeom prst="rect">
                  <a:avLst/>
                </a:prstGeom>
                <a:noFill/>
                <a:ln w="9525">
                  <a:noFill/>
                  <a:miter lim="800000"/>
                  <a:headEnd/>
                  <a:tailEnd/>
                </a:ln>
              </p:spPr>
              <p:txBody>
                <a:bodyPr wrap="none" lIns="92075" tIns="46038" rIns="92075" bIns="46038">
                  <a:spAutoFit/>
                </a:bodyPr>
                <a:lstStyle/>
                <a:p>
                  <a:pPr eaLnBrk="0" hangingPunct="0">
                    <a:defRPr/>
                  </a:pPr>
                  <a:endParaRPr lang="en-GB" sz="1600" noProof="0" dirty="0">
                    <a:solidFill>
                      <a:schemeClr val="accent5">
                        <a:lumMod val="50000"/>
                      </a:schemeClr>
                    </a:solidFill>
                    <a:latin typeface="Arial" charset="0"/>
                  </a:endParaRPr>
                </a:p>
              </p:txBody>
            </p:sp>
            <p:sp>
              <p:nvSpPr>
                <p:cNvPr id="36" name="Rectangle 35">
                  <a:extLst>
                    <a:ext uri="{FF2B5EF4-FFF2-40B4-BE49-F238E27FC236}">
                      <a16:creationId xmlns:a16="http://schemas.microsoft.com/office/drawing/2014/main" id="{C6997B9A-5E1C-D056-38B0-1143DD297301}"/>
                    </a:ext>
                  </a:extLst>
                </p:cNvPr>
                <p:cNvSpPr>
                  <a:spLocks noChangeArrowheads="1"/>
                </p:cNvSpPr>
                <p:nvPr/>
              </p:nvSpPr>
              <p:spPr bwMode="auto">
                <a:xfrm>
                  <a:off x="6242018" y="4800733"/>
                  <a:ext cx="322261" cy="339737"/>
                </a:xfrm>
                <a:prstGeom prst="rect">
                  <a:avLst/>
                </a:prstGeom>
                <a:noFill/>
                <a:ln w="9525">
                  <a:noFill/>
                  <a:miter lim="800000"/>
                  <a:headEnd/>
                  <a:tailEnd/>
                </a:ln>
              </p:spPr>
              <p:txBody>
                <a:bodyPr wrap="none" lIns="92075" tIns="46038" rIns="92075" bIns="46038">
                  <a:spAutoFit/>
                </a:bodyPr>
                <a:lstStyle/>
                <a:p>
                  <a:pPr eaLnBrk="0" hangingPunct="0">
                    <a:defRPr/>
                  </a:pPr>
                  <a:r>
                    <a:rPr lang="en-GB" sz="1600" noProof="0" dirty="0">
                      <a:solidFill>
                        <a:schemeClr val="accent5">
                          <a:lumMod val="50000"/>
                        </a:schemeClr>
                      </a:solidFill>
                      <a:latin typeface="Arial" charset="0"/>
                    </a:rPr>
                    <a:t>Y</a:t>
                  </a:r>
                </a:p>
              </p:txBody>
            </p:sp>
            <p:sp>
              <p:nvSpPr>
                <p:cNvPr id="37" name="Rectangle 36">
                  <a:extLst>
                    <a:ext uri="{FF2B5EF4-FFF2-40B4-BE49-F238E27FC236}">
                      <a16:creationId xmlns:a16="http://schemas.microsoft.com/office/drawing/2014/main" id="{7EFEBD98-6E32-2EA0-6E79-212490983D85}"/>
                    </a:ext>
                  </a:extLst>
                </p:cNvPr>
                <p:cNvSpPr>
                  <a:spLocks noChangeArrowheads="1"/>
                </p:cNvSpPr>
                <p:nvPr/>
              </p:nvSpPr>
              <p:spPr bwMode="auto">
                <a:xfrm>
                  <a:off x="6051520" y="3348117"/>
                  <a:ext cx="1686349" cy="339208"/>
                </a:xfrm>
                <a:prstGeom prst="rect">
                  <a:avLst/>
                </a:prstGeom>
                <a:noFill/>
                <a:ln w="9525">
                  <a:noFill/>
                  <a:miter lim="800000"/>
                  <a:headEnd/>
                  <a:tailEnd/>
                </a:ln>
              </p:spPr>
              <p:txBody>
                <a:bodyPr wrap="none" lIns="92075" tIns="46038" rIns="92075" bIns="46038">
                  <a:spAutoFit/>
                </a:bodyPr>
                <a:lstStyle/>
                <a:p>
                  <a:pPr eaLnBrk="0" hangingPunct="0">
                    <a:defRPr/>
                  </a:pPr>
                  <a:r>
                    <a:rPr lang="en-GB" sz="1600" noProof="0" dirty="0">
                      <a:solidFill>
                        <a:schemeClr val="accent5">
                          <a:lumMod val="50000"/>
                        </a:schemeClr>
                      </a:solidFill>
                      <a:latin typeface="Arial" charset="0"/>
                    </a:rPr>
                    <a:t>MC(Y) </a:t>
                  </a:r>
                  <a:r>
                    <a:rPr lang="en-GB" sz="1600" noProof="0" dirty="0">
                      <a:solidFill>
                        <a:schemeClr val="accent5">
                          <a:lumMod val="50000"/>
                        </a:schemeClr>
                      </a:solidFill>
                      <a:latin typeface="Arial" charset="0"/>
                      <a:sym typeface="Wingdings" panose="05000000000000000000" pitchFamily="2" charset="2"/>
                    </a:rPr>
                    <a:t> </a:t>
                  </a:r>
                  <a:r>
                    <a:rPr lang="en-GB" sz="1600" noProof="0" dirty="0">
                      <a:solidFill>
                        <a:schemeClr val="accent5">
                          <a:lumMod val="50000"/>
                        </a:schemeClr>
                      </a:solidFill>
                      <a:latin typeface="Arial" charset="0"/>
                    </a:rPr>
                    <a:t>supply</a:t>
                  </a:r>
                </a:p>
              </p:txBody>
            </p:sp>
            <p:sp>
              <p:nvSpPr>
                <p:cNvPr id="38" name="Line 9">
                  <a:extLst>
                    <a:ext uri="{FF2B5EF4-FFF2-40B4-BE49-F238E27FC236}">
                      <a16:creationId xmlns:a16="http://schemas.microsoft.com/office/drawing/2014/main" id="{45298D6F-4672-C5E0-C565-5E253D59603E}"/>
                    </a:ext>
                  </a:extLst>
                </p:cNvPr>
                <p:cNvSpPr>
                  <a:spLocks noChangeShapeType="1"/>
                </p:cNvSpPr>
                <p:nvPr/>
              </p:nvSpPr>
              <p:spPr bwMode="auto">
                <a:xfrm>
                  <a:off x="1857369" y="2357481"/>
                  <a:ext cx="3738541" cy="2452777"/>
                </a:xfrm>
                <a:prstGeom prst="line">
                  <a:avLst/>
                </a:prstGeom>
                <a:noFill/>
                <a:ln w="25400">
                  <a:solidFill>
                    <a:schemeClr val="tx2"/>
                  </a:solidFill>
                  <a:round/>
                  <a:headEnd type="none" w="sm" len="sm"/>
                  <a:tailEnd type="none" w="sm" len="sm"/>
                </a:ln>
              </p:spPr>
              <p:txBody>
                <a:bodyPr wrap="none" anchor="ctr"/>
                <a:lstStyle/>
                <a:p>
                  <a:pPr>
                    <a:defRPr/>
                  </a:pPr>
                  <a:endParaRPr lang="en-GB" sz="1600" noProof="0" dirty="0">
                    <a:solidFill>
                      <a:schemeClr val="accent5">
                        <a:lumMod val="50000"/>
                      </a:schemeClr>
                    </a:solidFill>
                  </a:endParaRPr>
                </a:p>
              </p:txBody>
            </p:sp>
            <p:sp>
              <p:nvSpPr>
                <p:cNvPr id="39" name="Line 10">
                  <a:extLst>
                    <a:ext uri="{FF2B5EF4-FFF2-40B4-BE49-F238E27FC236}">
                      <a16:creationId xmlns:a16="http://schemas.microsoft.com/office/drawing/2014/main" id="{056DCD4F-1EDD-1D24-B170-692CF9EAD74E}"/>
                    </a:ext>
                  </a:extLst>
                </p:cNvPr>
                <p:cNvSpPr>
                  <a:spLocks noChangeShapeType="1"/>
                </p:cNvSpPr>
                <p:nvPr/>
              </p:nvSpPr>
              <p:spPr bwMode="auto">
                <a:xfrm>
                  <a:off x="1857369" y="2405108"/>
                  <a:ext cx="2833672" cy="3452938"/>
                </a:xfrm>
                <a:prstGeom prst="line">
                  <a:avLst/>
                </a:prstGeom>
                <a:noFill/>
                <a:ln w="25400">
                  <a:solidFill>
                    <a:schemeClr val="hlink"/>
                  </a:solidFill>
                  <a:round/>
                  <a:headEnd type="none" w="sm" len="sm"/>
                  <a:tailEnd type="none" w="sm" len="sm"/>
                </a:ln>
              </p:spPr>
              <p:txBody>
                <a:bodyPr wrap="none" anchor="ctr"/>
                <a:lstStyle/>
                <a:p>
                  <a:pPr>
                    <a:defRPr/>
                  </a:pPr>
                  <a:endParaRPr lang="en-GB" sz="1600" noProof="0" dirty="0">
                    <a:solidFill>
                      <a:schemeClr val="accent5">
                        <a:lumMod val="50000"/>
                      </a:schemeClr>
                    </a:solidFill>
                  </a:endParaRPr>
                </a:p>
              </p:txBody>
            </p:sp>
            <p:sp>
              <p:nvSpPr>
                <p:cNvPr id="40" name="Rectangle 39">
                  <a:extLst>
                    <a:ext uri="{FF2B5EF4-FFF2-40B4-BE49-F238E27FC236}">
                      <a16:creationId xmlns:a16="http://schemas.microsoft.com/office/drawing/2014/main" id="{69E7DC5C-4CA0-C913-CD95-578B957F5FEE}"/>
                    </a:ext>
                  </a:extLst>
                </p:cNvPr>
                <p:cNvSpPr>
                  <a:spLocks noChangeArrowheads="1"/>
                </p:cNvSpPr>
                <p:nvPr/>
              </p:nvSpPr>
              <p:spPr bwMode="auto">
                <a:xfrm>
                  <a:off x="1117598" y="1687532"/>
                  <a:ext cx="585785" cy="339737"/>
                </a:xfrm>
                <a:prstGeom prst="rect">
                  <a:avLst/>
                </a:prstGeom>
                <a:noFill/>
                <a:ln w="9525">
                  <a:noFill/>
                  <a:miter lim="800000"/>
                  <a:headEnd/>
                  <a:tailEnd/>
                </a:ln>
              </p:spPr>
              <p:txBody>
                <a:bodyPr wrap="none" lIns="92075" tIns="46038" rIns="92075" bIns="46038">
                  <a:spAutoFit/>
                </a:bodyPr>
                <a:lstStyle/>
                <a:p>
                  <a:pPr eaLnBrk="0" hangingPunct="0">
                    <a:defRPr/>
                  </a:pPr>
                  <a:r>
                    <a:rPr lang="en-GB" sz="1600" noProof="0" dirty="0">
                      <a:solidFill>
                        <a:schemeClr val="accent5">
                          <a:lumMod val="50000"/>
                        </a:schemeClr>
                      </a:solidFill>
                      <a:latin typeface="Arial" charset="0"/>
                    </a:rPr>
                    <a:t>p(Y)</a:t>
                  </a:r>
                </a:p>
              </p:txBody>
            </p:sp>
            <p:sp>
              <p:nvSpPr>
                <p:cNvPr id="41" name="Rectangle 40">
                  <a:extLst>
                    <a:ext uri="{FF2B5EF4-FFF2-40B4-BE49-F238E27FC236}">
                      <a16:creationId xmlns:a16="http://schemas.microsoft.com/office/drawing/2014/main" id="{BFF8FCDB-37AD-D038-14C5-92C67F026188}"/>
                    </a:ext>
                  </a:extLst>
                </p:cNvPr>
                <p:cNvSpPr>
                  <a:spLocks noChangeArrowheads="1"/>
                </p:cNvSpPr>
                <p:nvPr/>
              </p:nvSpPr>
              <p:spPr bwMode="auto">
                <a:xfrm>
                  <a:off x="4741840" y="5515134"/>
                  <a:ext cx="779457" cy="339737"/>
                </a:xfrm>
                <a:prstGeom prst="rect">
                  <a:avLst/>
                </a:prstGeom>
                <a:noFill/>
                <a:ln w="9525">
                  <a:noFill/>
                  <a:miter lim="800000"/>
                  <a:headEnd/>
                  <a:tailEnd/>
                </a:ln>
              </p:spPr>
              <p:txBody>
                <a:bodyPr wrap="none" lIns="92075" tIns="46038" rIns="92075" bIns="46038">
                  <a:spAutoFit/>
                </a:bodyPr>
                <a:lstStyle/>
                <a:p>
                  <a:pPr eaLnBrk="0" hangingPunct="0">
                    <a:defRPr/>
                  </a:pPr>
                  <a:r>
                    <a:rPr lang="en-GB" sz="1600" noProof="0" dirty="0">
                      <a:solidFill>
                        <a:schemeClr val="accent5">
                          <a:lumMod val="50000"/>
                        </a:schemeClr>
                      </a:solidFill>
                      <a:latin typeface="Arial" charset="0"/>
                    </a:rPr>
                    <a:t>MR(Y)</a:t>
                  </a:r>
                </a:p>
              </p:txBody>
            </p:sp>
            <p:sp>
              <p:nvSpPr>
                <p:cNvPr id="42" name="Line 13">
                  <a:extLst>
                    <a:ext uri="{FF2B5EF4-FFF2-40B4-BE49-F238E27FC236}">
                      <a16:creationId xmlns:a16="http://schemas.microsoft.com/office/drawing/2014/main" id="{749512F4-4551-DAAE-1307-1CF2EF90A20E}"/>
                    </a:ext>
                  </a:extLst>
                </p:cNvPr>
                <p:cNvSpPr>
                  <a:spLocks noChangeShapeType="1"/>
                </p:cNvSpPr>
                <p:nvPr/>
              </p:nvSpPr>
              <p:spPr bwMode="auto">
                <a:xfrm>
                  <a:off x="3200386" y="3256039"/>
                  <a:ext cx="0" cy="1528818"/>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sz="1600" noProof="0" dirty="0">
                    <a:solidFill>
                      <a:schemeClr val="accent5">
                        <a:lumMod val="50000"/>
                      </a:schemeClr>
                    </a:solidFill>
                  </a:endParaRPr>
                </a:p>
              </p:txBody>
            </p:sp>
            <p:sp>
              <p:nvSpPr>
                <p:cNvPr id="43" name="Line 15">
                  <a:extLst>
                    <a:ext uri="{FF2B5EF4-FFF2-40B4-BE49-F238E27FC236}">
                      <a16:creationId xmlns:a16="http://schemas.microsoft.com/office/drawing/2014/main" id="{440872AF-3AB2-66B8-E505-71B99C737E26}"/>
                    </a:ext>
                  </a:extLst>
                </p:cNvPr>
                <p:cNvSpPr>
                  <a:spLocks noChangeShapeType="1"/>
                </p:cNvSpPr>
                <p:nvPr/>
              </p:nvSpPr>
              <p:spPr bwMode="auto">
                <a:xfrm flipH="1">
                  <a:off x="1858957" y="3256039"/>
                  <a:ext cx="1357304" cy="0"/>
                </a:xfrm>
                <a:prstGeom prst="line">
                  <a:avLst/>
                </a:prstGeom>
                <a:noFill/>
                <a:ln w="12700">
                  <a:solidFill>
                    <a:schemeClr val="tx1"/>
                  </a:solidFill>
                  <a:prstDash val="dash"/>
                  <a:round/>
                  <a:headEnd type="none" w="sm" len="sm"/>
                  <a:tailEnd type="none" w="sm" len="sm"/>
                </a:ln>
              </p:spPr>
              <p:txBody>
                <a:bodyPr wrap="none" anchor="ctr"/>
                <a:lstStyle/>
                <a:p>
                  <a:pPr>
                    <a:defRPr/>
                  </a:pPr>
                  <a:endParaRPr lang="en-GB" sz="1600" noProof="0" dirty="0">
                    <a:solidFill>
                      <a:schemeClr val="accent5">
                        <a:lumMod val="50000"/>
                      </a:schemeClr>
                    </a:solidFill>
                  </a:endParaRPr>
                </a:p>
              </p:txBody>
            </p:sp>
            <p:sp>
              <p:nvSpPr>
                <p:cNvPr id="44" name="Rectangle 43">
                  <a:extLst>
                    <a:ext uri="{FF2B5EF4-FFF2-40B4-BE49-F238E27FC236}">
                      <a16:creationId xmlns:a16="http://schemas.microsoft.com/office/drawing/2014/main" id="{45FF0B64-7763-4736-A5BC-63E832345F74}"/>
                    </a:ext>
                  </a:extLst>
                </p:cNvPr>
                <p:cNvSpPr>
                  <a:spLocks noChangeArrowheads="1"/>
                </p:cNvSpPr>
                <p:nvPr/>
              </p:nvSpPr>
              <p:spPr bwMode="auto">
                <a:xfrm>
                  <a:off x="3008300" y="4837246"/>
                  <a:ext cx="436559" cy="339737"/>
                </a:xfrm>
                <a:prstGeom prst="rect">
                  <a:avLst/>
                </a:prstGeom>
                <a:noFill/>
                <a:ln w="9525">
                  <a:noFill/>
                  <a:miter lim="800000"/>
                  <a:headEnd/>
                  <a:tailEnd/>
                </a:ln>
              </p:spPr>
              <p:txBody>
                <a:bodyPr wrap="none" lIns="92075" tIns="46038" rIns="92075" bIns="46038">
                  <a:spAutoFit/>
                </a:bodyPr>
                <a:lstStyle/>
                <a:p>
                  <a:pPr eaLnBrk="0" hangingPunct="0">
                    <a:defRPr/>
                  </a:pPr>
                  <a:r>
                    <a:rPr lang="en-GB" sz="1600" noProof="0" dirty="0">
                      <a:solidFill>
                        <a:schemeClr val="accent5">
                          <a:lumMod val="50000"/>
                        </a:schemeClr>
                      </a:solidFill>
                      <a:latin typeface="Arial" charset="0"/>
                    </a:rPr>
                    <a:t>Y</a:t>
                  </a:r>
                  <a:r>
                    <a:rPr lang="en-GB" sz="1600" baseline="30000" noProof="0" dirty="0">
                      <a:solidFill>
                        <a:schemeClr val="accent5">
                          <a:lumMod val="50000"/>
                        </a:schemeClr>
                      </a:solidFill>
                      <a:latin typeface="Arial" charset="0"/>
                    </a:rPr>
                    <a:t>M</a:t>
                  </a:r>
                </a:p>
              </p:txBody>
            </p:sp>
            <p:sp>
              <p:nvSpPr>
                <p:cNvPr id="45" name="Rectangle 44">
                  <a:extLst>
                    <a:ext uri="{FF2B5EF4-FFF2-40B4-BE49-F238E27FC236}">
                      <a16:creationId xmlns:a16="http://schemas.microsoft.com/office/drawing/2014/main" id="{20B88703-0005-F228-C09C-3511A38E7CA1}"/>
                    </a:ext>
                  </a:extLst>
                </p:cNvPr>
                <p:cNvSpPr>
                  <a:spLocks noChangeArrowheads="1"/>
                </p:cNvSpPr>
                <p:nvPr/>
              </p:nvSpPr>
              <p:spPr bwMode="auto">
                <a:xfrm>
                  <a:off x="1057940" y="3086170"/>
                  <a:ext cx="698496" cy="339737"/>
                </a:xfrm>
                <a:prstGeom prst="rect">
                  <a:avLst/>
                </a:prstGeom>
                <a:noFill/>
                <a:ln w="9525">
                  <a:noFill/>
                  <a:miter lim="800000"/>
                  <a:headEnd/>
                  <a:tailEnd/>
                </a:ln>
              </p:spPr>
              <p:txBody>
                <a:bodyPr wrap="none" lIns="92075" tIns="46038" rIns="92075" bIns="46038">
                  <a:spAutoFit/>
                </a:bodyPr>
                <a:lstStyle/>
                <a:p>
                  <a:pPr eaLnBrk="0" hangingPunct="0">
                    <a:defRPr/>
                  </a:pPr>
                  <a:r>
                    <a:rPr lang="en-GB" sz="1600" noProof="0" dirty="0">
                      <a:solidFill>
                        <a:schemeClr val="accent5">
                          <a:lumMod val="50000"/>
                        </a:schemeClr>
                      </a:solidFill>
                      <a:latin typeface="Arial" charset="0"/>
                    </a:rPr>
                    <a:t>p(Y</a:t>
                  </a:r>
                  <a:r>
                    <a:rPr lang="en-GB" sz="1600" baseline="30000" noProof="0" dirty="0">
                      <a:solidFill>
                        <a:schemeClr val="accent5">
                          <a:lumMod val="50000"/>
                        </a:schemeClr>
                      </a:solidFill>
                      <a:latin typeface="Arial" charset="0"/>
                    </a:rPr>
                    <a:t>M</a:t>
                  </a:r>
                  <a:r>
                    <a:rPr lang="en-GB" sz="1600" noProof="0" dirty="0">
                      <a:solidFill>
                        <a:schemeClr val="accent5">
                          <a:lumMod val="50000"/>
                        </a:schemeClr>
                      </a:solidFill>
                      <a:latin typeface="Arial" charset="0"/>
                    </a:rPr>
                    <a:t>)</a:t>
                  </a:r>
                </a:p>
              </p:txBody>
            </p:sp>
            <p:sp>
              <p:nvSpPr>
                <p:cNvPr id="46" name="Line 7">
                  <a:extLst>
                    <a:ext uri="{FF2B5EF4-FFF2-40B4-BE49-F238E27FC236}">
                      <a16:creationId xmlns:a16="http://schemas.microsoft.com/office/drawing/2014/main" id="{5A1A3E6F-C56D-35BA-2B51-58C56E9D34A1}"/>
                    </a:ext>
                  </a:extLst>
                </p:cNvPr>
                <p:cNvSpPr>
                  <a:spLocks noChangeShapeType="1"/>
                </p:cNvSpPr>
                <p:nvPr/>
              </p:nvSpPr>
              <p:spPr bwMode="auto">
                <a:xfrm flipV="1">
                  <a:off x="1858957" y="3494173"/>
                  <a:ext cx="4163988" cy="909671"/>
                </a:xfrm>
                <a:prstGeom prst="line">
                  <a:avLst/>
                </a:prstGeom>
                <a:ln>
                  <a:headEnd type="none" w="sm" len="sm"/>
                  <a:tailEnd type="none" w="sm" len="sm"/>
                </a:ln>
              </p:spPr>
              <p:style>
                <a:lnRef idx="3">
                  <a:schemeClr val="accent2"/>
                </a:lnRef>
                <a:fillRef idx="0">
                  <a:schemeClr val="accent2"/>
                </a:fillRef>
                <a:effectRef idx="2">
                  <a:schemeClr val="accent2"/>
                </a:effectRef>
                <a:fontRef idx="minor">
                  <a:schemeClr val="tx1"/>
                </a:fontRef>
              </p:style>
              <p:txBody>
                <a:bodyPr wrap="none" anchor="ctr"/>
                <a:lstStyle/>
                <a:p>
                  <a:pPr>
                    <a:defRPr/>
                  </a:pPr>
                  <a:endParaRPr lang="en-GB" sz="1600" noProof="0" dirty="0">
                    <a:solidFill>
                      <a:schemeClr val="accent5">
                        <a:lumMod val="50000"/>
                      </a:schemeClr>
                    </a:solidFill>
                  </a:endParaRPr>
                </a:p>
              </p:txBody>
            </p:sp>
          </p:grpSp>
          <p:sp>
            <p:nvSpPr>
              <p:cNvPr id="19" name="pole tekstowe 56">
                <a:extLst>
                  <a:ext uri="{FF2B5EF4-FFF2-40B4-BE49-F238E27FC236}">
                    <a16:creationId xmlns:a16="http://schemas.microsoft.com/office/drawing/2014/main" id="{8DB2457E-DF63-7C3E-7858-92059656D769}"/>
                  </a:ext>
                </a:extLst>
              </p:cNvPr>
              <p:cNvSpPr txBox="1">
                <a:spLocks noChangeArrowheads="1"/>
              </p:cNvSpPr>
              <p:nvPr/>
            </p:nvSpPr>
            <p:spPr bwMode="auto">
              <a:xfrm>
                <a:off x="1819256" y="3662402"/>
                <a:ext cx="295270" cy="338144"/>
              </a:xfrm>
              <a:prstGeom prst="rect">
                <a:avLst/>
              </a:prstGeom>
              <a:noFill/>
              <a:ln w="9525">
                <a:noFill/>
                <a:miter lim="800000"/>
                <a:headEnd/>
                <a:tailEnd/>
              </a:ln>
            </p:spPr>
            <p:txBody>
              <a:bodyPr>
                <a:spAutoFit/>
              </a:bodyPr>
              <a:lstStyle/>
              <a:p>
                <a:pPr>
                  <a:defRPr/>
                </a:pPr>
                <a:r>
                  <a:rPr lang="en-GB" sz="1600" noProof="0" dirty="0">
                    <a:solidFill>
                      <a:schemeClr val="accent5">
                        <a:lumMod val="50000"/>
                      </a:schemeClr>
                    </a:solidFill>
                    <a:latin typeface="Arial" charset="0"/>
                    <a:cs typeface="Arial" charset="0"/>
                  </a:rPr>
                  <a:t>b</a:t>
                </a:r>
              </a:p>
            </p:txBody>
          </p:sp>
          <p:sp>
            <p:nvSpPr>
              <p:cNvPr id="20" name="pole tekstowe 57">
                <a:extLst>
                  <a:ext uri="{FF2B5EF4-FFF2-40B4-BE49-F238E27FC236}">
                    <a16:creationId xmlns:a16="http://schemas.microsoft.com/office/drawing/2014/main" id="{B7C8C4B3-A5CB-8986-69BD-D807C2407188}"/>
                  </a:ext>
                </a:extLst>
              </p:cNvPr>
              <p:cNvSpPr txBox="1">
                <a:spLocks noChangeArrowheads="1"/>
              </p:cNvSpPr>
              <p:nvPr/>
            </p:nvSpPr>
            <p:spPr bwMode="auto">
              <a:xfrm>
                <a:off x="3109873" y="3714791"/>
                <a:ext cx="296857" cy="338143"/>
              </a:xfrm>
              <a:prstGeom prst="rect">
                <a:avLst/>
              </a:prstGeom>
              <a:noFill/>
              <a:ln w="9525">
                <a:noFill/>
                <a:miter lim="800000"/>
                <a:headEnd/>
                <a:tailEnd/>
              </a:ln>
            </p:spPr>
            <p:txBody>
              <a:bodyPr>
                <a:spAutoFit/>
              </a:bodyPr>
              <a:lstStyle/>
              <a:p>
                <a:pPr>
                  <a:defRPr/>
                </a:pPr>
                <a:r>
                  <a:rPr lang="en-GB" sz="1600" noProof="0" dirty="0">
                    <a:solidFill>
                      <a:schemeClr val="accent5">
                        <a:lumMod val="50000"/>
                      </a:schemeClr>
                    </a:solidFill>
                    <a:latin typeface="Arial" charset="0"/>
                    <a:cs typeface="Arial" charset="0"/>
                  </a:rPr>
                  <a:t>c</a:t>
                </a:r>
              </a:p>
            </p:txBody>
          </p:sp>
          <p:sp>
            <p:nvSpPr>
              <p:cNvPr id="22" name="pole tekstowe 60">
                <a:extLst>
                  <a:ext uri="{FF2B5EF4-FFF2-40B4-BE49-F238E27FC236}">
                    <a16:creationId xmlns:a16="http://schemas.microsoft.com/office/drawing/2014/main" id="{250032D9-016C-9B3B-625C-931CF506BCBB}"/>
                  </a:ext>
                </a:extLst>
              </p:cNvPr>
              <p:cNvSpPr txBox="1">
                <a:spLocks noChangeArrowheads="1"/>
              </p:cNvSpPr>
              <p:nvPr/>
            </p:nvSpPr>
            <p:spPr bwMode="auto">
              <a:xfrm>
                <a:off x="1757345" y="4187875"/>
                <a:ext cx="296857" cy="339731"/>
              </a:xfrm>
              <a:prstGeom prst="rect">
                <a:avLst/>
              </a:prstGeom>
              <a:noFill/>
              <a:ln w="9525">
                <a:noFill/>
                <a:miter lim="800000"/>
                <a:headEnd/>
                <a:tailEnd/>
              </a:ln>
            </p:spPr>
            <p:txBody>
              <a:bodyPr>
                <a:spAutoFit/>
              </a:bodyPr>
              <a:lstStyle/>
              <a:p>
                <a:pPr>
                  <a:defRPr/>
                </a:pPr>
                <a:r>
                  <a:rPr lang="en-GB" sz="1600" noProof="0" dirty="0">
                    <a:solidFill>
                      <a:schemeClr val="accent5">
                        <a:lumMod val="50000"/>
                      </a:schemeClr>
                    </a:solidFill>
                    <a:latin typeface="Arial" charset="0"/>
                    <a:cs typeface="Arial" charset="0"/>
                  </a:rPr>
                  <a:t>e</a:t>
                </a:r>
              </a:p>
            </p:txBody>
          </p:sp>
          <p:sp>
            <p:nvSpPr>
              <p:cNvPr id="24" name="Trójkąt prostokątny 34">
                <a:extLst>
                  <a:ext uri="{FF2B5EF4-FFF2-40B4-BE49-F238E27FC236}">
                    <a16:creationId xmlns:a16="http://schemas.microsoft.com/office/drawing/2014/main" id="{8A604B1D-CCF4-7592-A02A-83AE375D3B0A}"/>
                  </a:ext>
                </a:extLst>
              </p:cNvPr>
              <p:cNvSpPr/>
              <p:nvPr/>
            </p:nvSpPr>
            <p:spPr>
              <a:xfrm flipV="1">
                <a:off x="3032087" y="4176762"/>
                <a:ext cx="1003284" cy="209554"/>
              </a:xfrm>
              <a:prstGeom prst="r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600" noProof="0" dirty="0">
                  <a:solidFill>
                    <a:schemeClr val="accent5">
                      <a:lumMod val="50000"/>
                    </a:schemeClr>
                  </a:solidFill>
                </a:endParaRPr>
              </a:p>
            </p:txBody>
          </p:sp>
          <p:cxnSp>
            <p:nvCxnSpPr>
              <p:cNvPr id="27" name="Łącznik prosty 36">
                <a:extLst>
                  <a:ext uri="{FF2B5EF4-FFF2-40B4-BE49-F238E27FC236}">
                    <a16:creationId xmlns:a16="http://schemas.microsoft.com/office/drawing/2014/main" id="{874306CA-CABC-36EE-3E07-A43996859514}"/>
                  </a:ext>
                </a:extLst>
              </p:cNvPr>
              <p:cNvCxnSpPr>
                <a:stCxn id="32" idx="4"/>
              </p:cNvCxnSpPr>
              <p:nvPr/>
            </p:nvCxnSpPr>
            <p:spPr>
              <a:xfrm rot="5400000">
                <a:off x="3614676" y="4680008"/>
                <a:ext cx="839803" cy="11113"/>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18">
                <a:extLst>
                  <a:ext uri="{FF2B5EF4-FFF2-40B4-BE49-F238E27FC236}">
                    <a16:creationId xmlns:a16="http://schemas.microsoft.com/office/drawing/2014/main" id="{D4B4133E-39FF-5E54-694E-1FFF4BAEF5A2}"/>
                  </a:ext>
                </a:extLst>
              </p:cNvPr>
              <p:cNvSpPr>
                <a:spLocks noChangeArrowheads="1"/>
              </p:cNvSpPr>
              <p:nvPr/>
            </p:nvSpPr>
            <p:spPr bwMode="auto">
              <a:xfrm>
                <a:off x="3840112" y="5170554"/>
                <a:ext cx="520692" cy="339731"/>
              </a:xfrm>
              <a:prstGeom prst="rect">
                <a:avLst/>
              </a:prstGeom>
              <a:noFill/>
              <a:ln w="9525">
                <a:noFill/>
                <a:miter lim="800000"/>
                <a:headEnd/>
                <a:tailEnd/>
              </a:ln>
            </p:spPr>
            <p:txBody>
              <a:bodyPr wrap="none" lIns="92075" tIns="46038" rIns="92075" bIns="46038">
                <a:spAutoFit/>
              </a:bodyPr>
              <a:lstStyle/>
              <a:p>
                <a:pPr eaLnBrk="0" hangingPunct="0">
                  <a:defRPr/>
                </a:pPr>
                <a:r>
                  <a:rPr lang="en-GB" sz="1600" noProof="0" dirty="0">
                    <a:solidFill>
                      <a:schemeClr val="accent5">
                        <a:lumMod val="50000"/>
                      </a:schemeClr>
                    </a:solidFill>
                    <a:latin typeface="Arial" charset="0"/>
                  </a:rPr>
                  <a:t>Y</a:t>
                </a:r>
                <a:r>
                  <a:rPr lang="en-GB" sz="1600" baseline="30000" noProof="0" dirty="0">
                    <a:solidFill>
                      <a:schemeClr val="accent5">
                        <a:lumMod val="50000"/>
                      </a:schemeClr>
                    </a:solidFill>
                    <a:latin typeface="Arial" charset="0"/>
                  </a:rPr>
                  <a:t>PK</a:t>
                </a:r>
              </a:p>
            </p:txBody>
          </p:sp>
          <p:cxnSp>
            <p:nvCxnSpPr>
              <p:cNvPr id="30" name="Łącznik prosty 40">
                <a:extLst>
                  <a:ext uri="{FF2B5EF4-FFF2-40B4-BE49-F238E27FC236}">
                    <a16:creationId xmlns:a16="http://schemas.microsoft.com/office/drawing/2014/main" id="{1EA27E31-4402-5D2E-DE56-A249D871BA51}"/>
                  </a:ext>
                </a:extLst>
              </p:cNvPr>
              <p:cNvCxnSpPr/>
              <p:nvPr/>
            </p:nvCxnSpPr>
            <p:spPr>
              <a:xfrm flipV="1">
                <a:off x="1681146" y="4181525"/>
                <a:ext cx="4352856" cy="9525"/>
              </a:xfrm>
              <a:prstGeom prst="line">
                <a:avLst/>
              </a:prstGeom>
            </p:spPr>
            <p:style>
              <a:lnRef idx="3">
                <a:schemeClr val="accent3"/>
              </a:lnRef>
              <a:fillRef idx="0">
                <a:schemeClr val="accent3"/>
              </a:fillRef>
              <a:effectRef idx="2">
                <a:schemeClr val="accent3"/>
              </a:effectRef>
              <a:fontRef idx="minor">
                <a:schemeClr val="tx1"/>
              </a:fontRef>
            </p:style>
          </p:cxnSp>
          <p:sp>
            <p:nvSpPr>
              <p:cNvPr id="31" name="pole tekstowe 59">
                <a:extLst>
                  <a:ext uri="{FF2B5EF4-FFF2-40B4-BE49-F238E27FC236}">
                    <a16:creationId xmlns:a16="http://schemas.microsoft.com/office/drawing/2014/main" id="{053F7ED0-72BD-1DED-0980-8AB7B6C9AAA1}"/>
                  </a:ext>
                </a:extLst>
              </p:cNvPr>
              <p:cNvSpPr txBox="1">
                <a:spLocks noChangeArrowheads="1"/>
              </p:cNvSpPr>
              <p:nvPr/>
            </p:nvSpPr>
            <p:spPr bwMode="auto">
              <a:xfrm>
                <a:off x="3213059" y="4078335"/>
                <a:ext cx="296858" cy="338144"/>
              </a:xfrm>
              <a:prstGeom prst="rect">
                <a:avLst/>
              </a:prstGeom>
              <a:noFill/>
              <a:ln w="9525">
                <a:noFill/>
                <a:miter lim="800000"/>
                <a:headEnd/>
                <a:tailEnd/>
              </a:ln>
            </p:spPr>
            <p:txBody>
              <a:bodyPr>
                <a:spAutoFit/>
              </a:bodyPr>
              <a:lstStyle/>
              <a:p>
                <a:pPr>
                  <a:defRPr/>
                </a:pPr>
                <a:r>
                  <a:rPr lang="en-GB" sz="1600" noProof="0" dirty="0">
                    <a:solidFill>
                      <a:schemeClr val="accent5">
                        <a:lumMod val="50000"/>
                      </a:schemeClr>
                    </a:solidFill>
                    <a:latin typeface="Arial" charset="0"/>
                    <a:cs typeface="Arial" charset="0"/>
                  </a:rPr>
                  <a:t>d</a:t>
                </a:r>
              </a:p>
            </p:txBody>
          </p:sp>
          <p:sp>
            <p:nvSpPr>
              <p:cNvPr id="32" name="Oval 14">
                <a:extLst>
                  <a:ext uri="{FF2B5EF4-FFF2-40B4-BE49-F238E27FC236}">
                    <a16:creationId xmlns:a16="http://schemas.microsoft.com/office/drawing/2014/main" id="{F6DECE7C-3150-A7E4-324D-29F1BA88B6EB}"/>
                  </a:ext>
                </a:extLst>
              </p:cNvPr>
              <p:cNvSpPr>
                <a:spLocks noChangeArrowheads="1"/>
              </p:cNvSpPr>
              <p:nvPr/>
            </p:nvSpPr>
            <p:spPr bwMode="auto">
              <a:xfrm>
                <a:off x="3968697" y="4121199"/>
                <a:ext cx="144461" cy="144465"/>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eaLnBrk="0" hangingPunct="0">
                  <a:defRPr/>
                </a:pPr>
                <a:endParaRPr lang="en-GB" sz="1600" noProof="0" dirty="0">
                  <a:solidFill>
                    <a:schemeClr val="accent5">
                      <a:lumMod val="50000"/>
                    </a:schemeClr>
                  </a:solidFill>
                </a:endParaRPr>
              </a:p>
            </p:txBody>
          </p:sp>
        </p:grpSp>
        <p:sp>
          <p:nvSpPr>
            <p:cNvPr id="14" name="Oval 14">
              <a:extLst>
                <a:ext uri="{FF2B5EF4-FFF2-40B4-BE49-F238E27FC236}">
                  <a16:creationId xmlns:a16="http://schemas.microsoft.com/office/drawing/2014/main" id="{0C5D5AE4-C619-27D1-ABAE-359F4F1EEF05}"/>
                </a:ext>
              </a:extLst>
            </p:cNvPr>
            <p:cNvSpPr>
              <a:spLocks noChangeArrowheads="1"/>
            </p:cNvSpPr>
            <p:nvPr/>
          </p:nvSpPr>
          <p:spPr bwMode="auto">
            <a:xfrm>
              <a:off x="2960651" y="4318052"/>
              <a:ext cx="144460" cy="144465"/>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eaLnBrk="0" hangingPunct="0">
                <a:defRPr/>
              </a:pPr>
              <a:endParaRPr lang="en-GB" sz="1600" noProof="0" dirty="0">
                <a:solidFill>
                  <a:schemeClr val="accent5">
                    <a:lumMod val="50000"/>
                  </a:schemeClr>
                </a:solidFill>
              </a:endParaRPr>
            </a:p>
          </p:txBody>
        </p:sp>
      </p:grpSp>
      <p:sp>
        <p:nvSpPr>
          <p:cNvPr id="49" name="Elipsa 39">
            <a:extLst>
              <a:ext uri="{FF2B5EF4-FFF2-40B4-BE49-F238E27FC236}">
                <a16:creationId xmlns:a16="http://schemas.microsoft.com/office/drawing/2014/main" id="{28C0BD9E-60EF-83D2-7A77-87FA56018307}"/>
              </a:ext>
            </a:extLst>
          </p:cNvPr>
          <p:cNvSpPr/>
          <p:nvPr/>
        </p:nvSpPr>
        <p:spPr>
          <a:xfrm>
            <a:off x="7739648" y="2438895"/>
            <a:ext cx="615364" cy="603250"/>
          </a:xfrm>
          <a:prstGeom prst="ellipse">
            <a:avLst/>
          </a:prstGeom>
          <a:noFill/>
          <a:ln>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noProof="0" dirty="0"/>
          </a:p>
        </p:txBody>
      </p:sp>
      <p:cxnSp>
        <p:nvCxnSpPr>
          <p:cNvPr id="50" name="Łącznik prosty ze strzałką 44">
            <a:extLst>
              <a:ext uri="{FF2B5EF4-FFF2-40B4-BE49-F238E27FC236}">
                <a16:creationId xmlns:a16="http://schemas.microsoft.com/office/drawing/2014/main" id="{CDCD9207-6796-55A5-FBD9-98DA2EFE3012}"/>
              </a:ext>
            </a:extLst>
          </p:cNvPr>
          <p:cNvCxnSpPr>
            <a:cxnSpLocks/>
            <a:stCxn id="49" idx="3"/>
            <a:endCxn id="51" idx="0"/>
          </p:cNvCxnSpPr>
          <p:nvPr/>
        </p:nvCxnSpPr>
        <p:spPr>
          <a:xfrm flipH="1">
            <a:off x="5753100" y="2953801"/>
            <a:ext cx="2076666" cy="3042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pole tekstowe 61">
            <a:extLst>
              <a:ext uri="{FF2B5EF4-FFF2-40B4-BE49-F238E27FC236}">
                <a16:creationId xmlns:a16="http://schemas.microsoft.com/office/drawing/2014/main" id="{1296F178-FBFC-5836-B891-44903A06BBE7}"/>
              </a:ext>
            </a:extLst>
          </p:cNvPr>
          <p:cNvSpPr txBox="1">
            <a:spLocks noChangeArrowheads="1"/>
          </p:cNvSpPr>
          <p:nvPr/>
        </p:nvSpPr>
        <p:spPr bwMode="auto">
          <a:xfrm>
            <a:off x="2992437" y="3258045"/>
            <a:ext cx="5521325" cy="707886"/>
          </a:xfrm>
          <a:prstGeom prst="rect">
            <a:avLst/>
          </a:prstGeom>
          <a:noFill/>
          <a:ln w="9525">
            <a:noFill/>
            <a:miter lim="800000"/>
            <a:headEnd/>
            <a:tailEnd/>
          </a:ln>
        </p:spPr>
        <p:txBody>
          <a:bodyPr wrap="square">
            <a:spAutoFit/>
          </a:bodyPr>
          <a:lstStyle/>
          <a:p>
            <a:pPr>
              <a:defRPr/>
            </a:pPr>
            <a:r>
              <a:rPr lang="en-GB" sz="2000" noProof="0" dirty="0">
                <a:solidFill>
                  <a:schemeClr val="accent5">
                    <a:lumMod val="50000"/>
                  </a:schemeClr>
                </a:solidFill>
                <a:latin typeface="Arial" charset="0"/>
                <a:cs typeface="Arial" charset="0"/>
              </a:rPr>
              <a:t>The existence of a monopoly leads to a deadweight social loss (</a:t>
            </a:r>
            <a:r>
              <a:rPr lang="en-GB" sz="2000" noProof="0" dirty="0" err="1">
                <a:solidFill>
                  <a:schemeClr val="accent5">
                    <a:lumMod val="50000"/>
                  </a:schemeClr>
                </a:solidFill>
                <a:latin typeface="Arial" charset="0"/>
                <a:cs typeface="Arial" charset="0"/>
              </a:rPr>
              <a:t>c+d</a:t>
            </a:r>
            <a:r>
              <a:rPr lang="en-GB" sz="2000" noProof="0" dirty="0">
                <a:solidFill>
                  <a:schemeClr val="accent5">
                    <a:lumMod val="50000"/>
                  </a:schemeClr>
                </a:solidFill>
                <a:latin typeface="Arial" charset="0"/>
                <a:cs typeface="Arial" charset="0"/>
              </a:rPr>
              <a:t>) → inefficiency.</a:t>
            </a:r>
          </a:p>
        </p:txBody>
      </p:sp>
    </p:spTree>
    <p:extLst>
      <p:ext uri="{BB962C8B-B14F-4D97-AF65-F5344CB8AC3E}">
        <p14:creationId xmlns:p14="http://schemas.microsoft.com/office/powerpoint/2010/main" val="2406020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8C1E6-807F-9E76-67EB-B5D104197DCA}"/>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0CCDC9DB-05B9-8226-8041-63FC2497B4C7}"/>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Fundamental Concepts: Monopoly</a:t>
            </a:r>
            <a:r>
              <a:rPr lang="pl-PL" b="1" noProof="0" dirty="0">
                <a:solidFill>
                  <a:srgbClr val="4BACC6">
                    <a:lumMod val="50000"/>
                  </a:srgbClr>
                </a:solidFill>
              </a:rPr>
              <a:t> </a:t>
            </a:r>
            <a:r>
              <a:rPr lang="pl-PL" b="1" noProof="0" dirty="0" err="1">
                <a:solidFill>
                  <a:srgbClr val="4BACC6">
                    <a:lumMod val="50000"/>
                  </a:srgbClr>
                </a:solidFill>
              </a:rPr>
              <a:t>wants</a:t>
            </a:r>
            <a:r>
              <a:rPr lang="pl-PL" b="1" noProof="0" dirty="0">
                <a:solidFill>
                  <a:srgbClr val="4BACC6">
                    <a:lumMod val="50000"/>
                  </a:srgbClr>
                </a:solidFill>
              </a:rPr>
              <a:t> </a:t>
            </a:r>
            <a:r>
              <a:rPr lang="pl-PL" b="1" noProof="0" dirty="0" err="1">
                <a:solidFill>
                  <a:srgbClr val="4BACC6">
                    <a:lumMod val="50000"/>
                  </a:srgbClr>
                </a:solidFill>
              </a:rPr>
              <a:t>more</a:t>
            </a:r>
            <a:endParaRPr lang="en-GB" b="1" noProof="0" dirty="0">
              <a:solidFill>
                <a:srgbClr val="4BACC6">
                  <a:lumMod val="50000"/>
                </a:srgbClr>
              </a:solidFill>
            </a:endParaRPr>
          </a:p>
        </p:txBody>
      </p:sp>
      <p:grpSp>
        <p:nvGrpSpPr>
          <p:cNvPr id="81" name="Group 80">
            <a:extLst>
              <a:ext uri="{FF2B5EF4-FFF2-40B4-BE49-F238E27FC236}">
                <a16:creationId xmlns:a16="http://schemas.microsoft.com/office/drawing/2014/main" id="{FCB68E6C-1264-F927-0289-ACB233383930}"/>
              </a:ext>
            </a:extLst>
          </p:cNvPr>
          <p:cNvGrpSpPr/>
          <p:nvPr/>
        </p:nvGrpSpPr>
        <p:grpSpPr>
          <a:xfrm>
            <a:off x="437321" y="2103406"/>
            <a:ext cx="8715404" cy="4500594"/>
            <a:chOff x="1291560" y="2357406"/>
            <a:chExt cx="8715404" cy="4500594"/>
          </a:xfrm>
        </p:grpSpPr>
        <p:sp>
          <p:nvSpPr>
            <p:cNvPr id="55" name="Podtytuł 2">
              <a:extLst>
                <a:ext uri="{FF2B5EF4-FFF2-40B4-BE49-F238E27FC236}">
                  <a16:creationId xmlns:a16="http://schemas.microsoft.com/office/drawing/2014/main" id="{57BCC2C1-39CD-8006-0C03-95A3356F38B4}"/>
                </a:ext>
              </a:extLst>
            </p:cNvPr>
            <p:cNvSpPr txBox="1">
              <a:spLocks/>
            </p:cNvSpPr>
            <p:nvPr/>
          </p:nvSpPr>
          <p:spPr>
            <a:xfrm>
              <a:off x="9221178" y="6215058"/>
              <a:ext cx="785786" cy="642942"/>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Q</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rgbClr val="003366"/>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cxnSp>
          <p:nvCxnSpPr>
            <p:cNvPr id="63" name="Łącznik prosty 19">
              <a:extLst>
                <a:ext uri="{FF2B5EF4-FFF2-40B4-BE49-F238E27FC236}">
                  <a16:creationId xmlns:a16="http://schemas.microsoft.com/office/drawing/2014/main" id="{93ED8CBB-2C83-3E56-0976-6B1B5AAD620B}"/>
                </a:ext>
              </a:extLst>
            </p:cNvPr>
            <p:cNvCxnSpPr/>
            <p:nvPr/>
          </p:nvCxnSpPr>
          <p:spPr>
            <a:xfrm rot="16200000" flipH="1">
              <a:off x="684337" y="4036199"/>
              <a:ext cx="4071966" cy="1428760"/>
            </a:xfrm>
            <a:prstGeom prst="line">
              <a:avLst/>
            </a:prstGeom>
          </p:spPr>
          <p:style>
            <a:lnRef idx="2">
              <a:schemeClr val="accent4"/>
            </a:lnRef>
            <a:fillRef idx="0">
              <a:schemeClr val="accent4"/>
            </a:fillRef>
            <a:effectRef idx="1">
              <a:schemeClr val="accent4"/>
            </a:effectRef>
            <a:fontRef idx="minor">
              <a:schemeClr val="tx1"/>
            </a:fontRef>
          </p:style>
        </p:cxnSp>
        <p:sp>
          <p:nvSpPr>
            <p:cNvPr id="73" name="Prostokąt 31">
              <a:extLst>
                <a:ext uri="{FF2B5EF4-FFF2-40B4-BE49-F238E27FC236}">
                  <a16:creationId xmlns:a16="http://schemas.microsoft.com/office/drawing/2014/main" id="{7D6487B3-8B5D-8074-3278-A28F2BA74D20}"/>
                </a:ext>
              </a:extLst>
            </p:cNvPr>
            <p:cNvSpPr/>
            <p:nvPr/>
          </p:nvSpPr>
          <p:spPr>
            <a:xfrm>
              <a:off x="8636536" y="6357934"/>
              <a:ext cx="455573" cy="369332"/>
            </a:xfrm>
            <a:prstGeom prst="rect">
              <a:avLst/>
            </a:prstGeom>
          </p:spPr>
          <p:txBody>
            <a:bodyPr wrap="none">
              <a:spAutoFit/>
            </a:bodyPr>
            <a:lstStyle/>
            <a:p>
              <a:pPr lvl="0" algn="ctr">
                <a:spcBef>
                  <a:spcPct val="20000"/>
                </a:spcBef>
                <a:defRPr/>
              </a:pPr>
              <a:r>
                <a:rPr lang="pl-PL" dirty="0">
                  <a:solidFill>
                    <a:srgbClr val="003366"/>
                  </a:solidFill>
                </a:rPr>
                <a:t>Q*</a:t>
              </a:r>
            </a:p>
          </p:txBody>
        </p:sp>
        <p:sp>
          <p:nvSpPr>
            <p:cNvPr id="74" name="Prostokąt 33">
              <a:extLst>
                <a:ext uri="{FF2B5EF4-FFF2-40B4-BE49-F238E27FC236}">
                  <a16:creationId xmlns:a16="http://schemas.microsoft.com/office/drawing/2014/main" id="{2F54F05B-F4BE-44CF-8842-46EF6CA8C23A}"/>
                </a:ext>
              </a:extLst>
            </p:cNvPr>
            <p:cNvSpPr/>
            <p:nvPr/>
          </p:nvSpPr>
          <p:spPr>
            <a:xfrm>
              <a:off x="2635744" y="6357934"/>
              <a:ext cx="455573" cy="369332"/>
            </a:xfrm>
            <a:prstGeom prst="rect">
              <a:avLst/>
            </a:prstGeom>
          </p:spPr>
          <p:txBody>
            <a:bodyPr wrap="none">
              <a:spAutoFit/>
            </a:bodyPr>
            <a:lstStyle/>
            <a:p>
              <a:pPr lvl="0" algn="ctr">
                <a:spcBef>
                  <a:spcPct val="20000"/>
                </a:spcBef>
                <a:defRPr/>
              </a:pPr>
              <a:r>
                <a:rPr lang="pl-PL" dirty="0">
                  <a:solidFill>
                    <a:srgbClr val="003366"/>
                  </a:solidFill>
                </a:rPr>
                <a:t>Q*</a:t>
              </a:r>
            </a:p>
          </p:txBody>
        </p:sp>
        <p:grpSp>
          <p:nvGrpSpPr>
            <p:cNvPr id="80" name="Group 79">
              <a:extLst>
                <a:ext uri="{FF2B5EF4-FFF2-40B4-BE49-F238E27FC236}">
                  <a16:creationId xmlns:a16="http://schemas.microsoft.com/office/drawing/2014/main" id="{106BBF79-537F-56C3-3EFC-2C63B3F08AF3}"/>
                </a:ext>
              </a:extLst>
            </p:cNvPr>
            <p:cNvGrpSpPr/>
            <p:nvPr/>
          </p:nvGrpSpPr>
          <p:grpSpPr>
            <a:xfrm>
              <a:off x="1291560" y="2357406"/>
              <a:ext cx="8501122" cy="4071966"/>
              <a:chOff x="1291560" y="2357406"/>
              <a:chExt cx="8501122" cy="4071966"/>
            </a:xfrm>
          </p:grpSpPr>
          <p:cxnSp>
            <p:nvCxnSpPr>
              <p:cNvPr id="52" name="Łącznik prosty 13">
                <a:extLst>
                  <a:ext uri="{FF2B5EF4-FFF2-40B4-BE49-F238E27FC236}">
                    <a16:creationId xmlns:a16="http://schemas.microsoft.com/office/drawing/2014/main" id="{1F45E9E1-C876-D935-DE4B-0A0CCC7D56D9}"/>
                  </a:ext>
                </a:extLst>
              </p:cNvPr>
              <p:cNvCxnSpPr/>
              <p:nvPr/>
            </p:nvCxnSpPr>
            <p:spPr>
              <a:xfrm>
                <a:off x="1791626" y="5786430"/>
                <a:ext cx="7429552" cy="1588"/>
              </a:xfrm>
              <a:prstGeom prst="line">
                <a:avLst/>
              </a:prstGeom>
            </p:spPr>
            <p:style>
              <a:lnRef idx="3">
                <a:schemeClr val="accent5"/>
              </a:lnRef>
              <a:fillRef idx="0">
                <a:schemeClr val="accent5"/>
              </a:fillRef>
              <a:effectRef idx="2">
                <a:schemeClr val="accent5"/>
              </a:effectRef>
              <a:fontRef idx="minor">
                <a:schemeClr val="tx1"/>
              </a:fontRef>
            </p:style>
          </p:cxnSp>
          <p:sp>
            <p:nvSpPr>
              <p:cNvPr id="53" name="Podtytuł 2">
                <a:extLst>
                  <a:ext uri="{FF2B5EF4-FFF2-40B4-BE49-F238E27FC236}">
                    <a16:creationId xmlns:a16="http://schemas.microsoft.com/office/drawing/2014/main" id="{3B250C98-FCD6-FE99-1295-6EE652643ED1}"/>
                  </a:ext>
                </a:extLst>
              </p:cNvPr>
              <p:cNvSpPr txBox="1">
                <a:spLocks/>
              </p:cNvSpPr>
              <p:nvPr/>
            </p:nvSpPr>
            <p:spPr>
              <a:xfrm>
                <a:off x="5649278" y="2357406"/>
                <a:ext cx="785786" cy="642942"/>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P</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cena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cxnSp>
            <p:nvCxnSpPr>
              <p:cNvPr id="54" name="Łącznik prosty ze strzałką 60">
                <a:extLst>
                  <a:ext uri="{FF2B5EF4-FFF2-40B4-BE49-F238E27FC236}">
                    <a16:creationId xmlns:a16="http://schemas.microsoft.com/office/drawing/2014/main" id="{5D75D55E-CC60-B63E-74D8-70A15976B772}"/>
                  </a:ext>
                </a:extLst>
              </p:cNvPr>
              <p:cNvCxnSpPr/>
              <p:nvPr/>
            </p:nvCxnSpPr>
            <p:spPr>
              <a:xfrm rot="5400000" flipH="1" flipV="1">
                <a:off x="4328469" y="4393389"/>
                <a:ext cx="4071172"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56" name="Łącznik prosty ze strzałką 62">
                <a:extLst>
                  <a:ext uri="{FF2B5EF4-FFF2-40B4-BE49-F238E27FC236}">
                    <a16:creationId xmlns:a16="http://schemas.microsoft.com/office/drawing/2014/main" id="{811230E6-4719-23DE-2B0A-C18EB514EBBB}"/>
                  </a:ext>
                </a:extLst>
              </p:cNvPr>
              <p:cNvCxnSpPr/>
              <p:nvPr/>
            </p:nvCxnSpPr>
            <p:spPr>
              <a:xfrm flipV="1">
                <a:off x="6006468" y="6215058"/>
                <a:ext cx="3786214" cy="952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57" name="Łącznik prosty 63">
                <a:extLst>
                  <a:ext uri="{FF2B5EF4-FFF2-40B4-BE49-F238E27FC236}">
                    <a16:creationId xmlns:a16="http://schemas.microsoft.com/office/drawing/2014/main" id="{2FB103AA-AA86-DE35-2CB9-57F06BAA3B01}"/>
                  </a:ext>
                </a:extLst>
              </p:cNvPr>
              <p:cNvCxnSpPr/>
              <p:nvPr/>
            </p:nvCxnSpPr>
            <p:spPr>
              <a:xfrm rot="16200000" flipH="1">
                <a:off x="6042187" y="3036067"/>
                <a:ext cx="3500462" cy="2857520"/>
              </a:xfrm>
              <a:prstGeom prst="line">
                <a:avLst/>
              </a:prstGeom>
            </p:spPr>
            <p:style>
              <a:lnRef idx="3">
                <a:schemeClr val="accent3"/>
              </a:lnRef>
              <a:fillRef idx="0">
                <a:schemeClr val="accent3"/>
              </a:fillRef>
              <a:effectRef idx="2">
                <a:schemeClr val="accent3"/>
              </a:effectRef>
              <a:fontRef idx="minor">
                <a:schemeClr val="tx1"/>
              </a:fontRef>
            </p:style>
          </p:cxnSp>
          <p:sp>
            <p:nvSpPr>
              <p:cNvPr id="58" name="Elipsa 66">
                <a:extLst>
                  <a:ext uri="{FF2B5EF4-FFF2-40B4-BE49-F238E27FC236}">
                    <a16:creationId xmlns:a16="http://schemas.microsoft.com/office/drawing/2014/main" id="{4482E8BE-28AA-0D1B-C538-BFA0F1D429C2}"/>
                  </a:ext>
                </a:extLst>
              </p:cNvPr>
              <p:cNvSpPr/>
              <p:nvPr/>
            </p:nvSpPr>
            <p:spPr>
              <a:xfrm>
                <a:off x="8792550" y="5714992"/>
                <a:ext cx="142876" cy="14287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pl-PL"/>
              </a:p>
            </p:txBody>
          </p:sp>
          <p:cxnSp>
            <p:nvCxnSpPr>
              <p:cNvPr id="59" name="Łącznik prosty 68">
                <a:extLst>
                  <a:ext uri="{FF2B5EF4-FFF2-40B4-BE49-F238E27FC236}">
                    <a16:creationId xmlns:a16="http://schemas.microsoft.com/office/drawing/2014/main" id="{733B9567-816E-E97A-6DE5-CAAA13EAC457}"/>
                  </a:ext>
                </a:extLst>
              </p:cNvPr>
              <p:cNvCxnSpPr>
                <a:stCxn id="58" idx="4"/>
              </p:cNvCxnSpPr>
              <p:nvPr/>
            </p:nvCxnSpPr>
            <p:spPr>
              <a:xfrm rot="5400000">
                <a:off x="8685393" y="6036463"/>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Łącznik prosty ze strzałką 14">
                <a:extLst>
                  <a:ext uri="{FF2B5EF4-FFF2-40B4-BE49-F238E27FC236}">
                    <a16:creationId xmlns:a16="http://schemas.microsoft.com/office/drawing/2014/main" id="{85948577-6137-9E0C-9BA1-4BA22AEDCD43}"/>
                  </a:ext>
                </a:extLst>
              </p:cNvPr>
              <p:cNvCxnSpPr/>
              <p:nvPr/>
            </p:nvCxnSpPr>
            <p:spPr>
              <a:xfrm rot="5400000" flipH="1" flipV="1">
                <a:off x="-29249" y="4392595"/>
                <a:ext cx="4071172"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1" name="Łącznik prosty ze strzałką 16">
                <a:extLst>
                  <a:ext uri="{FF2B5EF4-FFF2-40B4-BE49-F238E27FC236}">
                    <a16:creationId xmlns:a16="http://schemas.microsoft.com/office/drawing/2014/main" id="{F541A0F0-53ED-0A2D-B2D6-01ED8653F822}"/>
                  </a:ext>
                </a:extLst>
              </p:cNvPr>
              <p:cNvCxnSpPr/>
              <p:nvPr/>
            </p:nvCxnSpPr>
            <p:spPr>
              <a:xfrm flipV="1">
                <a:off x="1863064" y="6215058"/>
                <a:ext cx="3786214" cy="952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2" name="Łącznik prosty 17">
                <a:extLst>
                  <a:ext uri="{FF2B5EF4-FFF2-40B4-BE49-F238E27FC236}">
                    <a16:creationId xmlns:a16="http://schemas.microsoft.com/office/drawing/2014/main" id="{96FA44C3-A5DD-67B0-3B43-A15DE7D42E2D}"/>
                  </a:ext>
                </a:extLst>
              </p:cNvPr>
              <p:cNvCxnSpPr/>
              <p:nvPr/>
            </p:nvCxnSpPr>
            <p:spPr>
              <a:xfrm rot="16200000" flipH="1">
                <a:off x="1684469" y="3036067"/>
                <a:ext cx="3500462" cy="2857520"/>
              </a:xfrm>
              <a:prstGeom prst="line">
                <a:avLst/>
              </a:prstGeom>
            </p:spPr>
            <p:style>
              <a:lnRef idx="3">
                <a:schemeClr val="accent3"/>
              </a:lnRef>
              <a:fillRef idx="0">
                <a:schemeClr val="accent3"/>
              </a:fillRef>
              <a:effectRef idx="2">
                <a:schemeClr val="accent3"/>
              </a:effectRef>
              <a:fontRef idx="minor">
                <a:schemeClr val="tx1"/>
              </a:fontRef>
            </p:style>
          </p:cxnSp>
          <p:cxnSp>
            <p:nvCxnSpPr>
              <p:cNvPr id="64" name="Łącznik prosty 20">
                <a:extLst>
                  <a:ext uri="{FF2B5EF4-FFF2-40B4-BE49-F238E27FC236}">
                    <a16:creationId xmlns:a16="http://schemas.microsoft.com/office/drawing/2014/main" id="{61DF3447-0F10-EBCE-3843-9CB2DA5AF40F}"/>
                  </a:ext>
                </a:extLst>
              </p:cNvPr>
              <p:cNvCxnSpPr/>
              <p:nvPr/>
            </p:nvCxnSpPr>
            <p:spPr>
              <a:xfrm rot="5400000" flipH="1" flipV="1">
                <a:off x="1970221" y="5107769"/>
                <a:ext cx="221457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Łącznik prosty 21">
                <a:extLst>
                  <a:ext uri="{FF2B5EF4-FFF2-40B4-BE49-F238E27FC236}">
                    <a16:creationId xmlns:a16="http://schemas.microsoft.com/office/drawing/2014/main" id="{31885C98-C1AE-3810-77A6-C4B54FD857EF}"/>
                  </a:ext>
                </a:extLst>
              </p:cNvPr>
              <p:cNvCxnSpPr/>
              <p:nvPr/>
            </p:nvCxnSpPr>
            <p:spPr>
              <a:xfrm rot="10800000">
                <a:off x="2005940" y="4000480"/>
                <a:ext cx="107157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6" name="Prostokąt 22">
                <a:extLst>
                  <a:ext uri="{FF2B5EF4-FFF2-40B4-BE49-F238E27FC236}">
                    <a16:creationId xmlns:a16="http://schemas.microsoft.com/office/drawing/2014/main" id="{0E9CE50E-BA2D-0E71-81FB-890F53EACD37}"/>
                  </a:ext>
                </a:extLst>
              </p:cNvPr>
              <p:cNvSpPr/>
              <p:nvPr/>
            </p:nvSpPr>
            <p:spPr>
              <a:xfrm>
                <a:off x="2005940" y="4000480"/>
                <a:ext cx="1071570" cy="2214578"/>
              </a:xfrm>
              <a:prstGeom prst="rect">
                <a:avLst/>
              </a:prstGeom>
              <a:solidFill>
                <a:schemeClr val="accent3">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67" name="Prostokąt 23">
                <a:extLst>
                  <a:ext uri="{FF2B5EF4-FFF2-40B4-BE49-F238E27FC236}">
                    <a16:creationId xmlns:a16="http://schemas.microsoft.com/office/drawing/2014/main" id="{A55E2968-EE46-3421-3AC4-1678FBD9CCC3}"/>
                  </a:ext>
                </a:extLst>
              </p:cNvPr>
              <p:cNvSpPr/>
              <p:nvPr/>
            </p:nvSpPr>
            <p:spPr>
              <a:xfrm>
                <a:off x="2005940" y="5786430"/>
                <a:ext cx="1071570" cy="428628"/>
              </a:xfrm>
              <a:prstGeom prst="rect">
                <a:avLst/>
              </a:prstGeom>
              <a:solidFill>
                <a:schemeClr val="accent2">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dirty="0"/>
              </a:p>
            </p:txBody>
          </p:sp>
          <p:sp>
            <p:nvSpPr>
              <p:cNvPr id="68" name="Podtytuł 2">
                <a:extLst>
                  <a:ext uri="{FF2B5EF4-FFF2-40B4-BE49-F238E27FC236}">
                    <a16:creationId xmlns:a16="http://schemas.microsoft.com/office/drawing/2014/main" id="{382C47C4-1C53-AF42-FD76-76EB99AC0853}"/>
                  </a:ext>
                </a:extLst>
              </p:cNvPr>
              <p:cNvSpPr txBox="1">
                <a:spLocks/>
              </p:cNvSpPr>
              <p:nvPr/>
            </p:nvSpPr>
            <p:spPr>
              <a:xfrm>
                <a:off x="1291560" y="2357406"/>
                <a:ext cx="714348" cy="928694"/>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P</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pl-PL" sz="3200" dirty="0">
                    <a:solidFill>
                      <a:srgbClr val="003366"/>
                    </a:solidFill>
                  </a:rPr>
                  <a:t>Cena </a:t>
                </a:r>
                <a:r>
                  <a:rPr kumimoji="0" lang="pl-PL" sz="3200" b="0" i="0" u="none" strike="noStrike" kern="1200" cap="none" spc="0" normalizeH="0" baseline="0" noProof="0" dirty="0">
                    <a:ln>
                      <a:noFill/>
                    </a:ln>
                    <a:solidFill>
                      <a:srgbClr val="003366"/>
                    </a:solidFill>
                    <a:effectLst/>
                    <a:uLnTx/>
                    <a:uFillTx/>
                    <a:latin typeface="+mn-lt"/>
                    <a:ea typeface="+mn-ea"/>
                    <a:cs typeface="+mn-cs"/>
                  </a:rPr>
                  <a:t>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9" name="Trójkąt równoramienny 32">
                <a:extLst>
                  <a:ext uri="{FF2B5EF4-FFF2-40B4-BE49-F238E27FC236}">
                    <a16:creationId xmlns:a16="http://schemas.microsoft.com/office/drawing/2014/main" id="{D30B528C-3B44-A22D-5B50-39D185E9B911}"/>
                  </a:ext>
                </a:extLst>
              </p:cNvPr>
              <p:cNvSpPr/>
              <p:nvPr/>
            </p:nvSpPr>
            <p:spPr>
              <a:xfrm>
                <a:off x="6363658" y="2786034"/>
                <a:ext cx="2500330" cy="3000396"/>
              </a:xfrm>
              <a:prstGeom prst="triangle">
                <a:avLst>
                  <a:gd name="adj" fmla="val 647"/>
                </a:avLst>
              </a:prstGeom>
              <a:solidFill>
                <a:schemeClr val="accent3">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70" name="Podtytuł 2">
                <a:extLst>
                  <a:ext uri="{FF2B5EF4-FFF2-40B4-BE49-F238E27FC236}">
                    <a16:creationId xmlns:a16="http://schemas.microsoft.com/office/drawing/2014/main" id="{BE72F901-30D6-452C-9FA8-CBCB1C595010}"/>
                  </a:ext>
                </a:extLst>
              </p:cNvPr>
              <p:cNvSpPr txBox="1">
                <a:spLocks/>
              </p:cNvSpPr>
              <p:nvPr/>
            </p:nvSpPr>
            <p:spPr>
              <a:xfrm>
                <a:off x="3899047" y="5287158"/>
                <a:ext cx="1285884"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D</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1" name="Trójkąt równoramienny 35">
                <a:extLst>
                  <a:ext uri="{FF2B5EF4-FFF2-40B4-BE49-F238E27FC236}">
                    <a16:creationId xmlns:a16="http://schemas.microsoft.com/office/drawing/2014/main" id="{54547884-A53B-4180-CBD7-605D63EAD17A}"/>
                  </a:ext>
                </a:extLst>
              </p:cNvPr>
              <p:cNvSpPr/>
              <p:nvPr/>
            </p:nvSpPr>
            <p:spPr>
              <a:xfrm>
                <a:off x="2005940" y="2786034"/>
                <a:ext cx="1071570" cy="1214446"/>
              </a:xfrm>
              <a:prstGeom prst="triangle">
                <a:avLst>
                  <a:gd name="adj" fmla="val 647"/>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Prostokąt 34">
                <a:extLst>
                  <a:ext uri="{FF2B5EF4-FFF2-40B4-BE49-F238E27FC236}">
                    <a16:creationId xmlns:a16="http://schemas.microsoft.com/office/drawing/2014/main" id="{090FB9D0-A161-521A-F421-B33B46C52248}"/>
                  </a:ext>
                </a:extLst>
              </p:cNvPr>
              <p:cNvSpPr/>
              <p:nvPr/>
            </p:nvSpPr>
            <p:spPr>
              <a:xfrm>
                <a:off x="6363658" y="5786430"/>
                <a:ext cx="2500330" cy="428628"/>
              </a:xfrm>
              <a:prstGeom prst="rect">
                <a:avLst/>
              </a:prstGeom>
              <a:solidFill>
                <a:schemeClr val="accent2">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dirty="0"/>
              </a:p>
            </p:txBody>
          </p:sp>
          <p:sp>
            <p:nvSpPr>
              <p:cNvPr id="77" name="pole tekstowe 44">
                <a:extLst>
                  <a:ext uri="{FF2B5EF4-FFF2-40B4-BE49-F238E27FC236}">
                    <a16:creationId xmlns:a16="http://schemas.microsoft.com/office/drawing/2014/main" id="{5472C1EE-F2EC-4608-7B8F-AF25C2B85C6F}"/>
                  </a:ext>
                </a:extLst>
              </p:cNvPr>
              <p:cNvSpPr txBox="1"/>
              <p:nvPr/>
            </p:nvSpPr>
            <p:spPr>
              <a:xfrm>
                <a:off x="2121456" y="4795418"/>
                <a:ext cx="936104" cy="369332"/>
              </a:xfrm>
              <a:prstGeom prst="rect">
                <a:avLst/>
              </a:prstGeom>
              <a:noFill/>
            </p:spPr>
            <p:txBody>
              <a:bodyPr wrap="square" rtlCol="0">
                <a:spAutoFit/>
              </a:bodyPr>
              <a:lstStyle/>
              <a:p>
                <a:r>
                  <a:rPr lang="pl-PL" b="1" dirty="0">
                    <a:solidFill>
                      <a:schemeClr val="accent5">
                        <a:lumMod val="50000"/>
                      </a:schemeClr>
                    </a:solidFill>
                  </a:rPr>
                  <a:t>Profit</a:t>
                </a:r>
              </a:p>
            </p:txBody>
          </p:sp>
          <p:sp>
            <p:nvSpPr>
              <p:cNvPr id="78" name="pole tekstowe 45">
                <a:extLst>
                  <a:ext uri="{FF2B5EF4-FFF2-40B4-BE49-F238E27FC236}">
                    <a16:creationId xmlns:a16="http://schemas.microsoft.com/office/drawing/2014/main" id="{56FA641F-B4B2-28A9-0005-932696A41327}"/>
                  </a:ext>
                </a:extLst>
              </p:cNvPr>
              <p:cNvSpPr txBox="1"/>
              <p:nvPr/>
            </p:nvSpPr>
            <p:spPr>
              <a:xfrm>
                <a:off x="6657960" y="4867426"/>
                <a:ext cx="878068" cy="369332"/>
              </a:xfrm>
              <a:prstGeom prst="rect">
                <a:avLst/>
              </a:prstGeom>
              <a:noFill/>
            </p:spPr>
            <p:txBody>
              <a:bodyPr wrap="square" rtlCol="0">
                <a:spAutoFit/>
              </a:bodyPr>
              <a:lstStyle/>
              <a:p>
                <a:r>
                  <a:rPr lang="pl-PL" b="1" dirty="0">
                    <a:solidFill>
                      <a:schemeClr val="accent5">
                        <a:lumMod val="50000"/>
                      </a:schemeClr>
                    </a:solidFill>
                  </a:rPr>
                  <a:t>Profit </a:t>
                </a:r>
              </a:p>
            </p:txBody>
          </p:sp>
        </p:grpSp>
      </p:grpSp>
      <p:sp>
        <p:nvSpPr>
          <p:cNvPr id="79" name="Podtytuł 2">
            <a:extLst>
              <a:ext uri="{FF2B5EF4-FFF2-40B4-BE49-F238E27FC236}">
                <a16:creationId xmlns:a16="http://schemas.microsoft.com/office/drawing/2014/main" id="{9BF815D2-08EF-5D79-63FC-45198872CAC0}"/>
              </a:ext>
            </a:extLst>
          </p:cNvPr>
          <p:cNvSpPr txBox="1">
            <a:spLocks/>
          </p:cNvSpPr>
          <p:nvPr/>
        </p:nvSpPr>
        <p:spPr>
          <a:xfrm>
            <a:off x="6688940" y="2159341"/>
            <a:ext cx="5328444" cy="1583987"/>
          </a:xfrm>
          <a:prstGeom prst="rect">
            <a:avLst/>
          </a:prstGeom>
        </p:spPr>
        <p:txBody>
          <a:bodyPr vert="horz" lIns="91440" tIns="45720" rIns="91440" bIns="45720" rtlCol="0">
            <a:noAutofit/>
          </a:bodyPr>
          <a:lstStyle/>
          <a:p>
            <a:pPr lvl="0" algn="ctr">
              <a:spcBef>
                <a:spcPct val="20000"/>
              </a:spcBef>
              <a:defRPr/>
            </a:pPr>
            <a:r>
              <a:rPr lang="en-US" b="1" dirty="0">
                <a:solidFill>
                  <a:schemeClr val="accent5">
                    <a:lumMod val="50000"/>
                  </a:schemeClr>
                </a:solidFill>
              </a:rPr>
              <a:t>On the right, the monopoly fully exploits demand by capturing the entire consumer surplus. This approach relies on knowing the consumers' Willingness to Pay (WTP) and turning it entirely into profit.</a:t>
            </a:r>
          </a:p>
          <a:p>
            <a:pPr lvl="0" algn="ctr">
              <a:spcBef>
                <a:spcPct val="20000"/>
              </a:spcBef>
              <a:defRPr/>
            </a:pPr>
            <a:endParaRPr lang="en-US" b="1" dirty="0">
              <a:solidFill>
                <a:schemeClr val="accent5">
                  <a:lumMod val="50000"/>
                </a:schemeClr>
              </a:solidFill>
            </a:endParaRPr>
          </a:p>
        </p:txBody>
      </p:sp>
      <p:sp>
        <p:nvSpPr>
          <p:cNvPr id="82" name="Podtytuł 2">
            <a:extLst>
              <a:ext uri="{FF2B5EF4-FFF2-40B4-BE49-F238E27FC236}">
                <a16:creationId xmlns:a16="http://schemas.microsoft.com/office/drawing/2014/main" id="{E5A46C15-781C-4BAA-745E-DD8D775AD5D1}"/>
              </a:ext>
            </a:extLst>
          </p:cNvPr>
          <p:cNvSpPr txBox="1">
            <a:spLocks/>
          </p:cNvSpPr>
          <p:nvPr/>
        </p:nvSpPr>
        <p:spPr>
          <a:xfrm>
            <a:off x="1972825" y="5105390"/>
            <a:ext cx="1285884"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MR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3" name="Podtytuł 2">
            <a:extLst>
              <a:ext uri="{FF2B5EF4-FFF2-40B4-BE49-F238E27FC236}">
                <a16:creationId xmlns:a16="http://schemas.microsoft.com/office/drawing/2014/main" id="{C9FA2A73-5651-F916-AD86-F1782ACA741B}"/>
              </a:ext>
            </a:extLst>
          </p:cNvPr>
          <p:cNvSpPr txBox="1">
            <a:spLocks/>
          </p:cNvSpPr>
          <p:nvPr/>
        </p:nvSpPr>
        <p:spPr>
          <a:xfrm>
            <a:off x="7473948" y="5149045"/>
            <a:ext cx="1285884"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D</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5" name="TextBox 84">
            <a:extLst>
              <a:ext uri="{FF2B5EF4-FFF2-40B4-BE49-F238E27FC236}">
                <a16:creationId xmlns:a16="http://schemas.microsoft.com/office/drawing/2014/main" id="{94A303FF-926A-C4F2-BAF6-A771420183F1}"/>
              </a:ext>
            </a:extLst>
          </p:cNvPr>
          <p:cNvSpPr txBox="1"/>
          <p:nvPr/>
        </p:nvSpPr>
        <p:spPr>
          <a:xfrm>
            <a:off x="-3192" y="1242079"/>
            <a:ext cx="6096000" cy="923330"/>
          </a:xfrm>
          <a:prstGeom prst="rect">
            <a:avLst/>
          </a:prstGeom>
          <a:noFill/>
        </p:spPr>
        <p:txBody>
          <a:bodyPr wrap="square">
            <a:spAutoFit/>
          </a:bodyPr>
          <a:lstStyle/>
          <a:p>
            <a:pPr lvl="0" algn="ctr">
              <a:spcBef>
                <a:spcPct val="20000"/>
              </a:spcBef>
              <a:defRPr/>
            </a:pPr>
            <a:r>
              <a:rPr lang="en-US" b="1" dirty="0">
                <a:solidFill>
                  <a:schemeClr val="accent5">
                    <a:lumMod val="50000"/>
                  </a:schemeClr>
                </a:solidFill>
              </a:rPr>
              <a:t>On the left, the "classical monopoly" maximizes profits by setting a price above marginal cost, capturing part of the consumer surplus as profit.</a:t>
            </a:r>
          </a:p>
        </p:txBody>
      </p:sp>
    </p:spTree>
    <p:extLst>
      <p:ext uri="{BB962C8B-B14F-4D97-AF65-F5344CB8AC3E}">
        <p14:creationId xmlns:p14="http://schemas.microsoft.com/office/powerpoint/2010/main" val="3077937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38F19-F077-B0BF-D629-3C9C3BAFBF7F}"/>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59C01FD5-641F-A84B-4B8D-742B33E12985}"/>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noProof="0" dirty="0">
                <a:solidFill>
                  <a:srgbClr val="4BACC6">
                    <a:lumMod val="50000"/>
                  </a:srgbClr>
                </a:solidFill>
              </a:rPr>
              <a:t>Fundamental Concepts: Monopoly</a:t>
            </a:r>
            <a:r>
              <a:rPr lang="pl-PL" b="1" noProof="0" dirty="0">
                <a:solidFill>
                  <a:srgbClr val="4BACC6">
                    <a:lumMod val="50000"/>
                  </a:srgbClr>
                </a:solidFill>
              </a:rPr>
              <a:t> </a:t>
            </a:r>
            <a:r>
              <a:rPr lang="pl-PL" b="1" noProof="0" dirty="0" err="1">
                <a:solidFill>
                  <a:srgbClr val="4BACC6">
                    <a:lumMod val="50000"/>
                  </a:srgbClr>
                </a:solidFill>
              </a:rPr>
              <a:t>wants</a:t>
            </a:r>
            <a:r>
              <a:rPr lang="pl-PL" b="1" noProof="0" dirty="0">
                <a:solidFill>
                  <a:srgbClr val="4BACC6">
                    <a:lumMod val="50000"/>
                  </a:srgbClr>
                </a:solidFill>
              </a:rPr>
              <a:t> </a:t>
            </a:r>
            <a:r>
              <a:rPr lang="pl-PL" b="1" noProof="0" dirty="0" err="1">
                <a:solidFill>
                  <a:srgbClr val="4BACC6">
                    <a:lumMod val="50000"/>
                  </a:srgbClr>
                </a:solidFill>
              </a:rPr>
              <a:t>more</a:t>
            </a:r>
            <a:endParaRPr lang="en-GB" b="1" noProof="0" dirty="0">
              <a:solidFill>
                <a:srgbClr val="4BACC6">
                  <a:lumMod val="50000"/>
                </a:srgbClr>
              </a:solidFill>
            </a:endParaRPr>
          </a:p>
        </p:txBody>
      </p:sp>
      <p:sp>
        <p:nvSpPr>
          <p:cNvPr id="83" name="Podtytuł 2">
            <a:extLst>
              <a:ext uri="{FF2B5EF4-FFF2-40B4-BE49-F238E27FC236}">
                <a16:creationId xmlns:a16="http://schemas.microsoft.com/office/drawing/2014/main" id="{459FF6E8-464C-730C-6131-115870C81B8A}"/>
              </a:ext>
            </a:extLst>
          </p:cNvPr>
          <p:cNvSpPr txBox="1">
            <a:spLocks/>
          </p:cNvSpPr>
          <p:nvPr/>
        </p:nvSpPr>
        <p:spPr>
          <a:xfrm>
            <a:off x="7473948" y="5149045"/>
            <a:ext cx="1285884"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D</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7" name="TextBox 86">
            <a:extLst>
              <a:ext uri="{FF2B5EF4-FFF2-40B4-BE49-F238E27FC236}">
                <a16:creationId xmlns:a16="http://schemas.microsoft.com/office/drawing/2014/main" id="{94178E76-4CCA-CD6C-4DF8-74A06BC07768}"/>
              </a:ext>
            </a:extLst>
          </p:cNvPr>
          <p:cNvSpPr txBox="1"/>
          <p:nvPr/>
        </p:nvSpPr>
        <p:spPr>
          <a:xfrm>
            <a:off x="223520" y="1209040"/>
            <a:ext cx="6400799" cy="5410712"/>
          </a:xfrm>
          <a:prstGeom prst="rect">
            <a:avLst/>
          </a:prstGeom>
          <a:noFill/>
        </p:spPr>
        <p:txBody>
          <a:bodyPr wrap="square">
            <a:spAutoFit/>
          </a:bodyPr>
          <a:lstStyle/>
          <a:p>
            <a:pPr lvl="0" algn="just">
              <a:spcBef>
                <a:spcPct val="20000"/>
              </a:spcBef>
              <a:defRPr/>
            </a:pPr>
            <a:r>
              <a:rPr lang="en-US" dirty="0">
                <a:solidFill>
                  <a:schemeClr val="accent5">
                    <a:lumMod val="50000"/>
                  </a:schemeClr>
                </a:solidFill>
              </a:rPr>
              <a:t>The entire dynamic pricing framework revolves around capturing consumer surplus and converting it into monopolistic profit. Through perfect price discrimination, a monopoly ensures that consumers do not benefit beyond their individual Willingness to Pay (WTP).</a:t>
            </a:r>
          </a:p>
          <a:p>
            <a:pPr lvl="0" algn="just">
              <a:spcBef>
                <a:spcPct val="20000"/>
              </a:spcBef>
              <a:defRPr/>
            </a:pPr>
            <a:endParaRPr lang="en-US" dirty="0">
              <a:solidFill>
                <a:schemeClr val="accent5">
                  <a:lumMod val="50000"/>
                </a:schemeClr>
              </a:solidFill>
            </a:endParaRPr>
          </a:p>
          <a:p>
            <a:pPr lvl="0" algn="just">
              <a:spcBef>
                <a:spcPct val="20000"/>
              </a:spcBef>
              <a:defRPr/>
            </a:pPr>
            <a:r>
              <a:rPr lang="en-US" dirty="0">
                <a:solidFill>
                  <a:schemeClr val="accent5">
                    <a:lumMod val="50000"/>
                  </a:schemeClr>
                </a:solidFill>
              </a:rPr>
              <a:t>Data analysis enables dynamic adaptation to changing market conditions and allows the use of tools that were previously impossible to implement due to consumer heterogeneity and lack of information about their preferences. </a:t>
            </a:r>
            <a:endParaRPr lang="pl-PL" dirty="0">
              <a:solidFill>
                <a:schemeClr val="accent5">
                  <a:lumMod val="50000"/>
                </a:schemeClr>
              </a:solidFill>
            </a:endParaRPr>
          </a:p>
          <a:p>
            <a:pPr lvl="0" algn="just">
              <a:spcBef>
                <a:spcPct val="20000"/>
              </a:spcBef>
              <a:defRPr/>
            </a:pPr>
            <a:r>
              <a:rPr lang="en-US" dirty="0">
                <a:solidFill>
                  <a:schemeClr val="accent5">
                    <a:lumMod val="50000"/>
                  </a:schemeClr>
                </a:solidFill>
              </a:rPr>
              <a:t>Compare the earlier slide on our microeconomic approach with the graphic from a detailed resource describing these techniques—be sure to visit that site</a:t>
            </a:r>
            <a:r>
              <a:rPr lang="pl-PL" dirty="0">
                <a:solidFill>
                  <a:schemeClr val="accent5">
                    <a:lumMod val="50000"/>
                  </a:schemeClr>
                </a:solidFill>
              </a:rPr>
              <a:t>:</a:t>
            </a:r>
          </a:p>
          <a:p>
            <a:pPr lvl="0" algn="just">
              <a:spcBef>
                <a:spcPct val="20000"/>
              </a:spcBef>
              <a:defRPr/>
            </a:pPr>
            <a:r>
              <a:rPr lang="pl-PL" sz="1400" b="1" dirty="0">
                <a:solidFill>
                  <a:schemeClr val="accent5">
                    <a:lumMod val="50000"/>
                  </a:schemeClr>
                </a:solidFill>
              </a:rPr>
              <a:t>https://fourweekmba.com/dynamic-pricing/#When_price_tags_didnt_even_exist</a:t>
            </a:r>
            <a:endParaRPr lang="en-US" sz="1400" b="1" dirty="0">
              <a:solidFill>
                <a:schemeClr val="accent5">
                  <a:lumMod val="50000"/>
                </a:schemeClr>
              </a:solidFill>
            </a:endParaRPr>
          </a:p>
          <a:p>
            <a:pPr lvl="0" algn="just">
              <a:spcBef>
                <a:spcPct val="20000"/>
              </a:spcBef>
              <a:defRPr/>
            </a:pPr>
            <a:endParaRPr lang="en-US" b="1" dirty="0">
              <a:solidFill>
                <a:schemeClr val="accent5">
                  <a:lumMod val="50000"/>
                </a:schemeClr>
              </a:solidFill>
            </a:endParaRPr>
          </a:p>
          <a:p>
            <a:pPr lvl="0" algn="just">
              <a:spcBef>
                <a:spcPct val="20000"/>
              </a:spcBef>
              <a:defRPr/>
            </a:pPr>
            <a:r>
              <a:rPr lang="en-US" dirty="0">
                <a:solidFill>
                  <a:schemeClr val="accent5">
                    <a:lumMod val="50000"/>
                  </a:schemeClr>
                </a:solidFill>
              </a:rPr>
              <a:t>While effective, dynamic pricing raises ethical concerns if it is perceived as discriminatory or exploitative, particularly when customers feel penalized for urgent needs or limited alternatives.</a:t>
            </a:r>
            <a:endParaRPr lang="pl-PL" dirty="0">
              <a:solidFill>
                <a:schemeClr val="accent5">
                  <a:lumMod val="50000"/>
                </a:schemeClr>
              </a:solidFill>
            </a:endParaRPr>
          </a:p>
        </p:txBody>
      </p:sp>
      <p:pic>
        <p:nvPicPr>
          <p:cNvPr id="4" name="Picture 3" descr="A diagram of a price chart&#10;&#10;Description automatically generated with medium confidence">
            <a:extLst>
              <a:ext uri="{FF2B5EF4-FFF2-40B4-BE49-F238E27FC236}">
                <a16:creationId xmlns:a16="http://schemas.microsoft.com/office/drawing/2014/main" id="{CEA3C1AB-37A5-4B29-7F91-CD169390C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295" y="1493520"/>
            <a:ext cx="5050530" cy="4724400"/>
          </a:xfrm>
          <a:prstGeom prst="rect">
            <a:avLst/>
          </a:prstGeom>
        </p:spPr>
      </p:pic>
    </p:spTree>
    <p:extLst>
      <p:ext uri="{BB962C8B-B14F-4D97-AF65-F5344CB8AC3E}">
        <p14:creationId xmlns:p14="http://schemas.microsoft.com/office/powerpoint/2010/main" val="839779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FFD60-574A-70CD-04B3-6484D913F3D6}"/>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219266D5-9A94-D2D2-8C67-026DFCEB7C2E}"/>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noProof="0" dirty="0">
                <a:solidFill>
                  <a:srgbClr val="4BACC6">
                    <a:lumMod val="50000"/>
                  </a:srgbClr>
                </a:solidFill>
              </a:rPr>
              <a:t>First-Degree Price Discrimination </a:t>
            </a:r>
            <a:endParaRPr lang="pl-PL" b="1" noProof="0" dirty="0">
              <a:solidFill>
                <a:srgbClr val="4BACC6">
                  <a:lumMod val="50000"/>
                </a:srgbClr>
              </a:solidFill>
            </a:endParaRPr>
          </a:p>
          <a:p>
            <a:r>
              <a:rPr lang="en-US" b="1" noProof="0" dirty="0">
                <a:solidFill>
                  <a:srgbClr val="4BACC6">
                    <a:lumMod val="50000"/>
                  </a:srgbClr>
                </a:solidFill>
              </a:rPr>
              <a:t>(Perfect Price Discrimination)</a:t>
            </a:r>
            <a:r>
              <a:rPr lang="pl-PL" b="1" noProof="0" dirty="0">
                <a:solidFill>
                  <a:srgbClr val="4BACC6">
                    <a:lumMod val="50000"/>
                  </a:srgbClr>
                </a:solidFill>
              </a:rPr>
              <a:t> Benchmark</a:t>
            </a:r>
            <a:endParaRPr lang="en-US" b="1" noProof="0" dirty="0">
              <a:solidFill>
                <a:srgbClr val="4BACC6">
                  <a:lumMod val="50000"/>
                </a:srgbClr>
              </a:solidFill>
            </a:endParaRPr>
          </a:p>
        </p:txBody>
      </p:sp>
      <p:sp>
        <p:nvSpPr>
          <p:cNvPr id="83" name="Podtytuł 2">
            <a:extLst>
              <a:ext uri="{FF2B5EF4-FFF2-40B4-BE49-F238E27FC236}">
                <a16:creationId xmlns:a16="http://schemas.microsoft.com/office/drawing/2014/main" id="{C73E2A9B-22F7-37D7-53EB-701BBE01184F}"/>
              </a:ext>
            </a:extLst>
          </p:cNvPr>
          <p:cNvSpPr txBox="1">
            <a:spLocks/>
          </p:cNvSpPr>
          <p:nvPr/>
        </p:nvSpPr>
        <p:spPr>
          <a:xfrm>
            <a:off x="7473948" y="5149045"/>
            <a:ext cx="1285884"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D</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7" name="TextBox 86">
            <a:extLst>
              <a:ext uri="{FF2B5EF4-FFF2-40B4-BE49-F238E27FC236}">
                <a16:creationId xmlns:a16="http://schemas.microsoft.com/office/drawing/2014/main" id="{44C323A4-FFC5-7DBD-CAEC-CC1B88F8D7B6}"/>
              </a:ext>
            </a:extLst>
          </p:cNvPr>
          <p:cNvSpPr txBox="1"/>
          <p:nvPr/>
        </p:nvSpPr>
        <p:spPr>
          <a:xfrm>
            <a:off x="4776310" y="1277224"/>
            <a:ext cx="7148825" cy="5410712"/>
          </a:xfrm>
          <a:prstGeom prst="rect">
            <a:avLst/>
          </a:prstGeom>
          <a:noFill/>
        </p:spPr>
        <p:txBody>
          <a:bodyPr wrap="square">
            <a:spAutoFit/>
          </a:bodyPr>
          <a:lstStyle/>
          <a:p>
            <a:pPr marL="285750" lvl="0" indent="-285750" algn="just">
              <a:spcBef>
                <a:spcPct val="20000"/>
              </a:spcBef>
              <a:buFont typeface="Arial" panose="020B0604020202020204" pitchFamily="34" charset="0"/>
              <a:buChar char="•"/>
              <a:defRPr/>
            </a:pPr>
            <a:r>
              <a:rPr lang="en-US" dirty="0">
                <a:solidFill>
                  <a:schemeClr val="accent5">
                    <a:lumMod val="50000"/>
                  </a:schemeClr>
                </a:solidFill>
              </a:rPr>
              <a:t>The monopolist has complete information about each consumer's Willingness to Pay (WTP).</a:t>
            </a:r>
          </a:p>
          <a:p>
            <a:pPr marL="285750" lvl="0" indent="-285750" algn="just">
              <a:spcBef>
                <a:spcPct val="20000"/>
              </a:spcBef>
              <a:buFont typeface="Arial" panose="020B0604020202020204" pitchFamily="34" charset="0"/>
              <a:buChar char="•"/>
              <a:defRPr/>
            </a:pPr>
            <a:r>
              <a:rPr lang="en-US" dirty="0">
                <a:solidFill>
                  <a:schemeClr val="accent5">
                    <a:lumMod val="50000"/>
                  </a:schemeClr>
                </a:solidFill>
              </a:rPr>
              <a:t>Each consumer pays their reservation price, which is the maximum amount they are willing to pay for a product.</a:t>
            </a:r>
          </a:p>
          <a:p>
            <a:pPr marL="285750" lvl="0" indent="-285750" algn="just">
              <a:spcBef>
                <a:spcPct val="20000"/>
              </a:spcBef>
              <a:buFont typeface="Arial" panose="020B0604020202020204" pitchFamily="34" charset="0"/>
              <a:buChar char="•"/>
              <a:defRPr/>
            </a:pPr>
            <a:r>
              <a:rPr lang="en-US" dirty="0">
                <a:solidFill>
                  <a:schemeClr val="accent5">
                    <a:lumMod val="50000"/>
                  </a:schemeClr>
                </a:solidFill>
              </a:rPr>
              <a:t>This eliminates consumer surplus entirely, converting it fully into monopolistic profit.</a:t>
            </a:r>
          </a:p>
          <a:p>
            <a:pPr lvl="0" algn="just">
              <a:spcBef>
                <a:spcPct val="20000"/>
              </a:spcBef>
              <a:defRPr/>
            </a:pPr>
            <a:r>
              <a:rPr lang="en-US" dirty="0">
                <a:solidFill>
                  <a:schemeClr val="accent5">
                    <a:lumMod val="50000"/>
                  </a:schemeClr>
                </a:solidFill>
              </a:rPr>
              <a:t>Although this practice is effectively banned in most traditional markets due to legal and ethical considerations, it is increasingly prevalent in e-commerce, where vast amounts of data allow firms to analyze individual purchasing behavior. Online retailers can track browsing history, purchasing habits, and even device usage to tailor prices dynamically to each consumer.</a:t>
            </a:r>
          </a:p>
          <a:p>
            <a:pPr lvl="0" algn="just">
              <a:spcBef>
                <a:spcPct val="20000"/>
              </a:spcBef>
              <a:defRPr/>
            </a:pPr>
            <a:r>
              <a:rPr lang="en-US" dirty="0">
                <a:solidFill>
                  <a:schemeClr val="accent5">
                    <a:lumMod val="50000"/>
                  </a:schemeClr>
                </a:solidFill>
              </a:rPr>
              <a:t>In e-commerce, companies </a:t>
            </a:r>
            <a:r>
              <a:rPr lang="pl-PL" dirty="0" err="1">
                <a:solidFill>
                  <a:schemeClr val="accent5">
                    <a:lumMod val="50000"/>
                  </a:schemeClr>
                </a:solidFill>
              </a:rPr>
              <a:t>try</a:t>
            </a:r>
            <a:r>
              <a:rPr lang="pl-PL" dirty="0">
                <a:solidFill>
                  <a:schemeClr val="accent5">
                    <a:lumMod val="50000"/>
                  </a:schemeClr>
                </a:solidFill>
              </a:rPr>
              <a:t> to</a:t>
            </a:r>
            <a:r>
              <a:rPr lang="en-US" dirty="0">
                <a:solidFill>
                  <a:schemeClr val="accent5">
                    <a:lumMod val="50000"/>
                  </a:schemeClr>
                </a:solidFill>
              </a:rPr>
              <a:t> implement first-degree price discrimination through personalized pricing algorithms. For example:</a:t>
            </a:r>
          </a:p>
          <a:p>
            <a:pPr marL="285750" lvl="0" indent="-285750" algn="just">
              <a:spcBef>
                <a:spcPct val="20000"/>
              </a:spcBef>
              <a:buFont typeface="Arial" panose="020B0604020202020204" pitchFamily="34" charset="0"/>
              <a:buChar char="•"/>
              <a:defRPr/>
            </a:pPr>
            <a:r>
              <a:rPr lang="en-US" dirty="0">
                <a:solidFill>
                  <a:schemeClr val="accent5">
                    <a:lumMod val="50000"/>
                  </a:schemeClr>
                </a:solidFill>
              </a:rPr>
              <a:t>    A consumer who frequently searches for flights may see higher ticket prices than a less active user.</a:t>
            </a:r>
          </a:p>
          <a:p>
            <a:pPr marL="285750" lvl="0" indent="-285750" algn="just">
              <a:spcBef>
                <a:spcPct val="20000"/>
              </a:spcBef>
              <a:buFont typeface="Arial" panose="020B0604020202020204" pitchFamily="34" charset="0"/>
              <a:buChar char="•"/>
              <a:defRPr/>
            </a:pPr>
            <a:r>
              <a:rPr lang="en-US" dirty="0">
                <a:solidFill>
                  <a:schemeClr val="accent5">
                    <a:lumMod val="50000"/>
                  </a:schemeClr>
                </a:solidFill>
              </a:rPr>
              <a:t>    Customers using premium devices (e.g., MacBooks) might receive higher price offers, assuming their purchasing power is greater.</a:t>
            </a:r>
            <a:endParaRPr lang="en-US" sz="1600" dirty="0">
              <a:solidFill>
                <a:schemeClr val="accent5">
                  <a:lumMod val="50000"/>
                </a:schemeClr>
              </a:solidFill>
            </a:endParaRPr>
          </a:p>
        </p:txBody>
      </p:sp>
      <p:grpSp>
        <p:nvGrpSpPr>
          <p:cNvPr id="3" name="Grupa 50">
            <a:extLst>
              <a:ext uri="{FF2B5EF4-FFF2-40B4-BE49-F238E27FC236}">
                <a16:creationId xmlns:a16="http://schemas.microsoft.com/office/drawing/2014/main" id="{D224223F-86A3-50E5-5883-52A3767B84E1}"/>
              </a:ext>
            </a:extLst>
          </p:cNvPr>
          <p:cNvGrpSpPr/>
          <p:nvPr/>
        </p:nvGrpSpPr>
        <p:grpSpPr>
          <a:xfrm>
            <a:off x="499716" y="1721097"/>
            <a:ext cx="4143404" cy="4071196"/>
            <a:chOff x="428596" y="2285968"/>
            <a:chExt cx="4143404" cy="4071196"/>
          </a:xfrm>
        </p:grpSpPr>
        <p:cxnSp>
          <p:nvCxnSpPr>
            <p:cNvPr id="5" name="Łącznik prosty 13">
              <a:extLst>
                <a:ext uri="{FF2B5EF4-FFF2-40B4-BE49-F238E27FC236}">
                  <a16:creationId xmlns:a16="http://schemas.microsoft.com/office/drawing/2014/main" id="{A7D49215-E6A9-C099-2F54-DDC1671DB8C3}"/>
                </a:ext>
              </a:extLst>
            </p:cNvPr>
            <p:cNvCxnSpPr/>
            <p:nvPr/>
          </p:nvCxnSpPr>
          <p:spPr>
            <a:xfrm>
              <a:off x="928662" y="5714992"/>
              <a:ext cx="3071834" cy="1588"/>
            </a:xfrm>
            <a:prstGeom prst="line">
              <a:avLst/>
            </a:prstGeom>
            <a:noFill/>
            <a:ln w="38100" cap="flat" cmpd="sng" algn="ctr">
              <a:solidFill>
                <a:srgbClr val="4BACC6"/>
              </a:solidFill>
              <a:prstDash val="solid"/>
            </a:ln>
            <a:effectLst>
              <a:outerShdw blurRad="40000" dist="23000" dir="5400000" rotWithShape="0">
                <a:srgbClr val="000000">
                  <a:alpha val="35000"/>
                </a:srgbClr>
              </a:outerShdw>
            </a:effectLst>
          </p:spPr>
        </p:cxnSp>
        <p:sp>
          <p:nvSpPr>
            <p:cNvPr id="6" name="Podtytuł 2">
              <a:extLst>
                <a:ext uri="{FF2B5EF4-FFF2-40B4-BE49-F238E27FC236}">
                  <a16:creationId xmlns:a16="http://schemas.microsoft.com/office/drawing/2014/main" id="{51A8A81C-21EE-89D1-285B-BD36C84935A4}"/>
                </a:ext>
              </a:extLst>
            </p:cNvPr>
            <p:cNvSpPr txBox="1">
              <a:spLocks/>
            </p:cNvSpPr>
            <p:nvPr/>
          </p:nvSpPr>
          <p:spPr>
            <a:xfrm>
              <a:off x="428596" y="2285968"/>
              <a:ext cx="253384" cy="428652"/>
            </a:xfrm>
            <a:prstGeom prst="rect">
              <a:avLst/>
            </a:prstGeom>
          </p:spPr>
          <p:txBody>
            <a:bodyPr vert="horz" lIns="91440" tIns="45720" rIns="91440" bIns="45720" rtlCol="0">
              <a:normAutofit fontScale="85000" lnSpcReduction="20000"/>
            </a:bodyPr>
            <a:lstStyle/>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0" cap="none" spc="0" normalizeH="0" baseline="0" noProof="0" dirty="0">
                  <a:ln>
                    <a:noFill/>
                  </a:ln>
                  <a:solidFill>
                    <a:srgbClr val="003366"/>
                  </a:solidFill>
                  <a:effectLst/>
                  <a:uLnTx/>
                  <a:uFillTx/>
                </a:rPr>
                <a:t>p </a:t>
              </a:r>
            </a:p>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0" cap="none" spc="0" normalizeH="0" baseline="0" noProof="0" dirty="0">
                <a:ln>
                  <a:noFill/>
                </a:ln>
                <a:solidFill>
                  <a:prstClr val="black">
                    <a:tint val="75000"/>
                  </a:prstClr>
                </a:solidFill>
                <a:effectLst/>
                <a:uLnTx/>
                <a:uFillTx/>
              </a:endParaRPr>
            </a:p>
          </p:txBody>
        </p:sp>
        <p:cxnSp>
          <p:nvCxnSpPr>
            <p:cNvPr id="7" name="Łącznik prosty ze strzałką 60">
              <a:extLst>
                <a:ext uri="{FF2B5EF4-FFF2-40B4-BE49-F238E27FC236}">
                  <a16:creationId xmlns:a16="http://schemas.microsoft.com/office/drawing/2014/main" id="{55E68301-62DA-F08A-B72A-18634ADAAC9E}"/>
                </a:ext>
              </a:extLst>
            </p:cNvPr>
            <p:cNvCxnSpPr/>
            <p:nvPr/>
          </p:nvCxnSpPr>
          <p:spPr>
            <a:xfrm rot="5400000" flipH="1" flipV="1">
              <a:off x="-892213" y="4321181"/>
              <a:ext cx="4071172" cy="794"/>
            </a:xfrm>
            <a:prstGeom prst="straightConnector1">
              <a:avLst/>
            </a:prstGeom>
            <a:noFill/>
            <a:ln w="38100" cap="flat" cmpd="sng" algn="ctr">
              <a:solidFill>
                <a:srgbClr val="C0504D"/>
              </a:solidFill>
              <a:prstDash val="solid"/>
              <a:tailEnd type="arrow"/>
            </a:ln>
            <a:effectLst>
              <a:outerShdw blurRad="40000" dist="23000" dir="5400000" rotWithShape="0">
                <a:srgbClr val="000000">
                  <a:alpha val="35000"/>
                </a:srgbClr>
              </a:outerShdw>
            </a:effectLst>
          </p:spPr>
        </p:cxnSp>
        <p:cxnSp>
          <p:nvCxnSpPr>
            <p:cNvPr id="8" name="Łącznik prosty ze strzałką 62">
              <a:extLst>
                <a:ext uri="{FF2B5EF4-FFF2-40B4-BE49-F238E27FC236}">
                  <a16:creationId xmlns:a16="http://schemas.microsoft.com/office/drawing/2014/main" id="{4BD6DF97-5929-2BDB-405A-D33FDED2BF3B}"/>
                </a:ext>
              </a:extLst>
            </p:cNvPr>
            <p:cNvCxnSpPr/>
            <p:nvPr/>
          </p:nvCxnSpPr>
          <p:spPr>
            <a:xfrm flipV="1">
              <a:off x="785786" y="6143620"/>
              <a:ext cx="3786214" cy="9524"/>
            </a:xfrm>
            <a:prstGeom prst="straightConnector1">
              <a:avLst/>
            </a:prstGeom>
            <a:noFill/>
            <a:ln w="38100" cap="flat" cmpd="sng" algn="ctr">
              <a:solidFill>
                <a:srgbClr val="C0504D"/>
              </a:solidFill>
              <a:prstDash val="solid"/>
              <a:tailEnd type="arrow"/>
            </a:ln>
            <a:effectLst>
              <a:outerShdw blurRad="40000" dist="23000" dir="5400000" rotWithShape="0">
                <a:srgbClr val="000000">
                  <a:alpha val="35000"/>
                </a:srgbClr>
              </a:outerShdw>
            </a:effectLst>
          </p:spPr>
        </p:cxnSp>
        <p:cxnSp>
          <p:nvCxnSpPr>
            <p:cNvPr id="9" name="Łącznik prosty 63">
              <a:extLst>
                <a:ext uri="{FF2B5EF4-FFF2-40B4-BE49-F238E27FC236}">
                  <a16:creationId xmlns:a16="http://schemas.microsoft.com/office/drawing/2014/main" id="{A718F24D-7C07-5489-D766-409DFE98FE05}"/>
                </a:ext>
              </a:extLst>
            </p:cNvPr>
            <p:cNvCxnSpPr/>
            <p:nvPr/>
          </p:nvCxnSpPr>
          <p:spPr>
            <a:xfrm rot="16200000" flipH="1">
              <a:off x="821505" y="2964629"/>
              <a:ext cx="3500462" cy="2857520"/>
            </a:xfrm>
            <a:prstGeom prst="line">
              <a:avLst/>
            </a:prstGeom>
            <a:noFill/>
            <a:ln w="38100" cap="flat" cmpd="sng" algn="ctr">
              <a:solidFill>
                <a:srgbClr val="9BBB59"/>
              </a:solidFill>
              <a:prstDash val="solid"/>
            </a:ln>
            <a:effectLst>
              <a:outerShdw blurRad="40000" dist="23000" dir="5400000" rotWithShape="0">
                <a:srgbClr val="000000">
                  <a:alpha val="35000"/>
                </a:srgbClr>
              </a:outerShdw>
            </a:effectLst>
          </p:spPr>
        </p:cxnSp>
        <p:sp>
          <p:nvSpPr>
            <p:cNvPr id="10" name="Elipsa 66">
              <a:extLst>
                <a:ext uri="{FF2B5EF4-FFF2-40B4-BE49-F238E27FC236}">
                  <a16:creationId xmlns:a16="http://schemas.microsoft.com/office/drawing/2014/main" id="{20115BA3-E9E5-854A-2E53-BAEA1102CA6C}"/>
                </a:ext>
              </a:extLst>
            </p:cNvPr>
            <p:cNvSpPr/>
            <p:nvPr/>
          </p:nvSpPr>
          <p:spPr>
            <a:xfrm>
              <a:off x="3571868" y="5643554"/>
              <a:ext cx="142876" cy="142876"/>
            </a:xfrm>
            <a:prstGeom prst="ellipse">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l-PL" sz="1800" b="0" i="0" u="none" strike="noStrike" kern="0" cap="none" spc="0" normalizeH="0" baseline="0" noProof="0">
                <a:ln>
                  <a:noFill/>
                </a:ln>
                <a:solidFill>
                  <a:prstClr val="white"/>
                </a:solidFill>
                <a:effectLst/>
                <a:uLnTx/>
                <a:uFillTx/>
                <a:latin typeface="Calibri"/>
                <a:ea typeface="+mn-ea"/>
                <a:cs typeface="+mn-cs"/>
              </a:endParaRPr>
            </a:p>
          </p:txBody>
        </p:sp>
        <p:cxnSp>
          <p:nvCxnSpPr>
            <p:cNvPr id="11" name="Łącznik prosty 68">
              <a:extLst>
                <a:ext uri="{FF2B5EF4-FFF2-40B4-BE49-F238E27FC236}">
                  <a16:creationId xmlns:a16="http://schemas.microsoft.com/office/drawing/2014/main" id="{F9663627-0FFD-C314-B8D0-7DD50614F493}"/>
                </a:ext>
              </a:extLst>
            </p:cNvPr>
            <p:cNvCxnSpPr>
              <a:cxnSpLocks/>
              <a:stCxn id="10" idx="4"/>
            </p:cNvCxnSpPr>
            <p:nvPr/>
          </p:nvCxnSpPr>
          <p:spPr>
            <a:xfrm rot="5400000">
              <a:off x="3464711" y="5965025"/>
              <a:ext cx="357190" cy="1588"/>
            </a:xfrm>
            <a:prstGeom prst="line">
              <a:avLst/>
            </a:prstGeom>
            <a:noFill/>
            <a:ln w="9525" cap="flat" cmpd="sng" algn="ctr">
              <a:solidFill>
                <a:srgbClr val="4F81BD">
                  <a:shade val="95000"/>
                  <a:satMod val="105000"/>
                </a:srgbClr>
              </a:solidFill>
              <a:prstDash val="solid"/>
            </a:ln>
            <a:effectLst/>
          </p:spPr>
        </p:cxnSp>
        <p:sp>
          <p:nvSpPr>
            <p:cNvPr id="12" name="Trójkąt równoramienny 32">
              <a:extLst>
                <a:ext uri="{FF2B5EF4-FFF2-40B4-BE49-F238E27FC236}">
                  <a16:creationId xmlns:a16="http://schemas.microsoft.com/office/drawing/2014/main" id="{64825105-50E2-6722-B6A2-BFB8F817E346}"/>
                </a:ext>
              </a:extLst>
            </p:cNvPr>
            <p:cNvSpPr/>
            <p:nvPr/>
          </p:nvSpPr>
          <p:spPr>
            <a:xfrm>
              <a:off x="1142976" y="2714620"/>
              <a:ext cx="2500330" cy="3000420"/>
            </a:xfrm>
            <a:prstGeom prst="triangle">
              <a:avLst>
                <a:gd name="adj" fmla="val 647"/>
              </a:avLst>
            </a:prstGeom>
            <a:solidFill>
              <a:srgbClr val="9BBB59">
                <a:lumMod val="50000"/>
                <a:alpha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l-PL" sz="1800" b="0" i="0" u="none" strike="noStrike" kern="0" cap="none" spc="0" normalizeH="0" baseline="0" noProof="0" dirty="0">
                  <a:ln>
                    <a:noFill/>
                  </a:ln>
                  <a:solidFill>
                    <a:prstClr val="white"/>
                  </a:solidFill>
                  <a:effectLst/>
                  <a:uLnTx/>
                  <a:uFillTx/>
                  <a:latin typeface="Calibri"/>
                  <a:ea typeface="+mn-ea"/>
                  <a:cs typeface="+mn-cs"/>
                </a:rPr>
                <a:t>Profit  </a:t>
              </a:r>
            </a:p>
          </p:txBody>
        </p:sp>
        <p:sp>
          <p:nvSpPr>
            <p:cNvPr id="13" name="Podtytuł 2">
              <a:extLst>
                <a:ext uri="{FF2B5EF4-FFF2-40B4-BE49-F238E27FC236}">
                  <a16:creationId xmlns:a16="http://schemas.microsoft.com/office/drawing/2014/main" id="{4492F00C-E077-A66E-67D7-8E23919F644C}"/>
                </a:ext>
              </a:extLst>
            </p:cNvPr>
            <p:cNvSpPr txBox="1">
              <a:spLocks/>
            </p:cNvSpPr>
            <p:nvPr/>
          </p:nvSpPr>
          <p:spPr>
            <a:xfrm>
              <a:off x="2959093" y="5092695"/>
              <a:ext cx="1285884" cy="357190"/>
            </a:xfrm>
            <a:prstGeom prst="rect">
              <a:avLst/>
            </a:prstGeom>
          </p:spPr>
          <p:txBody>
            <a:bodyPr vert="horz" lIns="91440" tIns="45720" rIns="91440" bIns="45720" rtlCol="0">
              <a:normAutofit fontScale="62500" lnSpcReduction="20000"/>
            </a:bodyPr>
            <a:lstStyle/>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0" cap="none" spc="0" normalizeH="0" baseline="0" noProof="0" dirty="0">
                  <a:ln>
                    <a:noFill/>
                  </a:ln>
                  <a:solidFill>
                    <a:srgbClr val="003366"/>
                  </a:solidFill>
                  <a:effectLst/>
                  <a:uLnTx/>
                  <a:uFillTx/>
                </a:rPr>
                <a:t>D(q)</a:t>
              </a:r>
            </a:p>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0" cap="none" spc="0" normalizeH="0" baseline="0" noProof="0" dirty="0">
                <a:ln>
                  <a:noFill/>
                </a:ln>
                <a:solidFill>
                  <a:prstClr val="black">
                    <a:tint val="75000"/>
                  </a:prstClr>
                </a:solidFill>
                <a:effectLst/>
                <a:uLnTx/>
                <a:uFillTx/>
              </a:endParaRPr>
            </a:p>
          </p:txBody>
        </p:sp>
        <p:sp>
          <p:nvSpPr>
            <p:cNvPr id="14" name="Prostokąt 34">
              <a:extLst>
                <a:ext uri="{FF2B5EF4-FFF2-40B4-BE49-F238E27FC236}">
                  <a16:creationId xmlns:a16="http://schemas.microsoft.com/office/drawing/2014/main" id="{BDC0B75E-BD5C-83E2-056A-A075335B09EF}"/>
                </a:ext>
              </a:extLst>
            </p:cNvPr>
            <p:cNvSpPr/>
            <p:nvPr/>
          </p:nvSpPr>
          <p:spPr>
            <a:xfrm>
              <a:off x="1142976" y="5715016"/>
              <a:ext cx="2500330" cy="428628"/>
            </a:xfrm>
            <a:prstGeom prst="rect">
              <a:avLst/>
            </a:prstGeom>
            <a:solidFill>
              <a:srgbClr val="C0504D">
                <a:alpha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l-PL" sz="1800" b="0" i="0" u="none" strike="noStrike" kern="0" cap="none" spc="0" normalizeH="0" baseline="0" noProof="0" dirty="0" err="1">
                  <a:ln>
                    <a:noFill/>
                  </a:ln>
                  <a:solidFill>
                    <a:srgbClr val="003366"/>
                  </a:solidFill>
                  <a:effectLst/>
                  <a:uLnTx/>
                  <a:uFillTx/>
                  <a:latin typeface="Calibri"/>
                  <a:ea typeface="+mn-ea"/>
                  <a:cs typeface="+mn-cs"/>
                </a:rPr>
                <a:t>Costs</a:t>
              </a:r>
              <a:endParaRPr kumimoji="0" lang="pl-PL"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15" name="Grupa 54">
              <a:extLst>
                <a:ext uri="{FF2B5EF4-FFF2-40B4-BE49-F238E27FC236}">
                  <a16:creationId xmlns:a16="http://schemas.microsoft.com/office/drawing/2014/main" id="{411DCC79-04E7-EDDF-6527-5B957CF801F9}"/>
                </a:ext>
              </a:extLst>
            </p:cNvPr>
            <p:cNvGrpSpPr/>
            <p:nvPr/>
          </p:nvGrpSpPr>
          <p:grpSpPr>
            <a:xfrm>
              <a:off x="2000232" y="3286124"/>
              <a:ext cx="357190" cy="428628"/>
              <a:chOff x="5929322" y="2928934"/>
              <a:chExt cx="1071570" cy="2286016"/>
            </a:xfrm>
          </p:grpSpPr>
          <p:sp>
            <p:nvSpPr>
              <p:cNvPr id="39" name="Elipsa 37">
                <a:extLst>
                  <a:ext uri="{FF2B5EF4-FFF2-40B4-BE49-F238E27FC236}">
                    <a16:creationId xmlns:a16="http://schemas.microsoft.com/office/drawing/2014/main" id="{5B9D8E05-4986-6143-60FB-2B1887A9C28E}"/>
                  </a:ext>
                </a:extLst>
              </p:cNvPr>
              <p:cNvSpPr/>
              <p:nvPr/>
            </p:nvSpPr>
            <p:spPr>
              <a:xfrm>
                <a:off x="6215074" y="2928934"/>
                <a:ext cx="428628" cy="500066"/>
              </a:xfrm>
              <a:prstGeom prst="ellipse">
                <a:avLst/>
              </a:prstGeom>
              <a:no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l-PL" sz="1800" b="0" i="0" u="none" strike="noStrike" kern="0" cap="none" spc="0" normalizeH="0" baseline="0" noProof="0">
                  <a:ln>
                    <a:noFill/>
                  </a:ln>
                  <a:solidFill>
                    <a:prstClr val="white"/>
                  </a:solidFill>
                  <a:effectLst/>
                  <a:uLnTx/>
                  <a:uFillTx/>
                  <a:latin typeface="Calibri"/>
                  <a:ea typeface="+mn-ea"/>
                  <a:cs typeface="+mn-cs"/>
                </a:endParaRPr>
              </a:p>
            </p:txBody>
          </p:sp>
          <p:cxnSp>
            <p:nvCxnSpPr>
              <p:cNvPr id="40" name="Łącznik prosty 43">
                <a:extLst>
                  <a:ext uri="{FF2B5EF4-FFF2-40B4-BE49-F238E27FC236}">
                    <a16:creationId xmlns:a16="http://schemas.microsoft.com/office/drawing/2014/main" id="{3441F545-8569-8AA2-0CC0-C060EAC71B43}"/>
                  </a:ext>
                </a:extLst>
              </p:cNvPr>
              <p:cNvCxnSpPr>
                <a:cxnSpLocks/>
                <a:stCxn id="39" idx="4"/>
              </p:cNvCxnSpPr>
              <p:nvPr/>
            </p:nvCxnSpPr>
            <p:spPr>
              <a:xfrm rot="5400000">
                <a:off x="5822164" y="4036224"/>
                <a:ext cx="1214448" cy="158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41" name="Łącznik prosty 45">
                <a:extLst>
                  <a:ext uri="{FF2B5EF4-FFF2-40B4-BE49-F238E27FC236}">
                    <a16:creationId xmlns:a16="http://schemas.microsoft.com/office/drawing/2014/main" id="{01C79663-C37A-7AAE-7BFC-C46889251EE6}"/>
                  </a:ext>
                </a:extLst>
              </p:cNvPr>
              <p:cNvCxnSpPr/>
              <p:nvPr/>
            </p:nvCxnSpPr>
            <p:spPr>
              <a:xfrm rot="5400000">
                <a:off x="5965041" y="4750603"/>
                <a:ext cx="571504" cy="357190"/>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42" name="Łącznik prosty 47">
                <a:extLst>
                  <a:ext uri="{FF2B5EF4-FFF2-40B4-BE49-F238E27FC236}">
                    <a16:creationId xmlns:a16="http://schemas.microsoft.com/office/drawing/2014/main" id="{A5374A10-1855-0A7C-170A-C50D05169D25}"/>
                  </a:ext>
                </a:extLst>
              </p:cNvPr>
              <p:cNvCxnSpPr/>
              <p:nvPr/>
            </p:nvCxnSpPr>
            <p:spPr>
              <a:xfrm rot="16200000" flipH="1">
                <a:off x="6357950" y="4714884"/>
                <a:ext cx="571504" cy="42862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43" name="Łącznik prosty 49">
                <a:extLst>
                  <a:ext uri="{FF2B5EF4-FFF2-40B4-BE49-F238E27FC236}">
                    <a16:creationId xmlns:a16="http://schemas.microsoft.com/office/drawing/2014/main" id="{ABD29D96-5BE4-84E7-45A3-C31EB5972067}"/>
                  </a:ext>
                </a:extLst>
              </p:cNvPr>
              <p:cNvCxnSpPr/>
              <p:nvPr/>
            </p:nvCxnSpPr>
            <p:spPr>
              <a:xfrm rot="10800000" flipV="1">
                <a:off x="5929322" y="3643314"/>
                <a:ext cx="500066" cy="42862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44" name="Łącznik prosty 51">
                <a:extLst>
                  <a:ext uri="{FF2B5EF4-FFF2-40B4-BE49-F238E27FC236}">
                    <a16:creationId xmlns:a16="http://schemas.microsoft.com/office/drawing/2014/main" id="{38130374-CDF7-D5E4-96D2-0B989B7E88FA}"/>
                  </a:ext>
                </a:extLst>
              </p:cNvPr>
              <p:cNvCxnSpPr/>
              <p:nvPr/>
            </p:nvCxnSpPr>
            <p:spPr>
              <a:xfrm>
                <a:off x="6429388" y="3643314"/>
                <a:ext cx="571504" cy="500066"/>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grpSp>
        <p:cxnSp>
          <p:nvCxnSpPr>
            <p:cNvPr id="16" name="Łącznik prosty 56">
              <a:extLst>
                <a:ext uri="{FF2B5EF4-FFF2-40B4-BE49-F238E27FC236}">
                  <a16:creationId xmlns:a16="http://schemas.microsoft.com/office/drawing/2014/main" id="{37BED617-E0B9-2471-84BB-A94E13D678E4}"/>
                </a:ext>
              </a:extLst>
            </p:cNvPr>
            <p:cNvCxnSpPr/>
            <p:nvPr/>
          </p:nvCxnSpPr>
          <p:spPr>
            <a:xfrm>
              <a:off x="1142976" y="3500438"/>
              <a:ext cx="642942" cy="1588"/>
            </a:xfrm>
            <a:prstGeom prst="line">
              <a:avLst/>
            </a:prstGeom>
            <a:noFill/>
            <a:ln w="38100" cap="flat" cmpd="sng" algn="ctr">
              <a:solidFill>
                <a:srgbClr val="F79646"/>
              </a:solidFill>
              <a:prstDash val="solid"/>
            </a:ln>
            <a:effectLst>
              <a:outerShdw blurRad="40000" dist="23000" dir="5400000" rotWithShape="0">
                <a:srgbClr val="000000">
                  <a:alpha val="35000"/>
                </a:srgbClr>
              </a:outerShdw>
            </a:effectLst>
          </p:spPr>
        </p:cxnSp>
        <p:sp>
          <p:nvSpPr>
            <p:cNvPr id="17" name="Podtytuł 2">
              <a:extLst>
                <a:ext uri="{FF2B5EF4-FFF2-40B4-BE49-F238E27FC236}">
                  <a16:creationId xmlns:a16="http://schemas.microsoft.com/office/drawing/2014/main" id="{6C8DF443-3481-F144-46A1-6C85C7518238}"/>
                </a:ext>
              </a:extLst>
            </p:cNvPr>
            <p:cNvSpPr txBox="1">
              <a:spLocks/>
            </p:cNvSpPr>
            <p:nvPr/>
          </p:nvSpPr>
          <p:spPr>
            <a:xfrm>
              <a:off x="571472" y="3357562"/>
              <a:ext cx="500066" cy="285752"/>
            </a:xfrm>
            <a:prstGeom prst="rect">
              <a:avLst/>
            </a:prstGeom>
          </p:spPr>
          <p:txBody>
            <a:bodyPr vert="horz" lIns="91440" tIns="45720" rIns="91440" bIns="45720" rtlCol="0">
              <a:normAutofit fontScale="47500" lnSpcReduction="20000"/>
            </a:bodyPr>
            <a:lstStyle/>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0" cap="none" spc="0" normalizeH="0" baseline="0" noProof="0" dirty="0">
                  <a:ln>
                    <a:noFill/>
                  </a:ln>
                  <a:solidFill>
                    <a:srgbClr val="003366"/>
                  </a:solidFill>
                  <a:effectLst/>
                  <a:uLnTx/>
                  <a:uFillTx/>
                </a:rPr>
                <a:t>400</a:t>
              </a:r>
            </a:p>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0" cap="none" spc="0" normalizeH="0" baseline="0" noProof="0" dirty="0">
                <a:ln>
                  <a:noFill/>
                </a:ln>
                <a:solidFill>
                  <a:prstClr val="black">
                    <a:tint val="75000"/>
                  </a:prstClr>
                </a:solidFill>
                <a:effectLst/>
                <a:uLnTx/>
                <a:uFillTx/>
              </a:endParaRPr>
            </a:p>
          </p:txBody>
        </p:sp>
        <p:grpSp>
          <p:nvGrpSpPr>
            <p:cNvPr id="18" name="Grupa 67">
              <a:extLst>
                <a:ext uri="{FF2B5EF4-FFF2-40B4-BE49-F238E27FC236}">
                  <a16:creationId xmlns:a16="http://schemas.microsoft.com/office/drawing/2014/main" id="{AA6A4C8E-9210-DA5D-1728-FF416C6CBD1E}"/>
                </a:ext>
              </a:extLst>
            </p:cNvPr>
            <p:cNvGrpSpPr/>
            <p:nvPr/>
          </p:nvGrpSpPr>
          <p:grpSpPr>
            <a:xfrm>
              <a:off x="2500298" y="3786190"/>
              <a:ext cx="357190" cy="428628"/>
              <a:chOff x="5929322" y="2928934"/>
              <a:chExt cx="1071570" cy="2286016"/>
            </a:xfrm>
          </p:grpSpPr>
          <p:sp>
            <p:nvSpPr>
              <p:cNvPr id="33" name="Elipsa 69">
                <a:extLst>
                  <a:ext uri="{FF2B5EF4-FFF2-40B4-BE49-F238E27FC236}">
                    <a16:creationId xmlns:a16="http://schemas.microsoft.com/office/drawing/2014/main" id="{649486EF-3257-B45F-BE8B-7F43FDACE21A}"/>
                  </a:ext>
                </a:extLst>
              </p:cNvPr>
              <p:cNvSpPr/>
              <p:nvPr/>
            </p:nvSpPr>
            <p:spPr>
              <a:xfrm>
                <a:off x="6215074" y="2928934"/>
                <a:ext cx="428628" cy="500066"/>
              </a:xfrm>
              <a:prstGeom prst="ellipse">
                <a:avLst/>
              </a:prstGeom>
              <a:no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l-PL" sz="1800" b="0" i="0" u="none" strike="noStrike" kern="0" cap="none" spc="0" normalizeH="0" baseline="0" noProof="0">
                  <a:ln>
                    <a:noFill/>
                  </a:ln>
                  <a:solidFill>
                    <a:prstClr val="white"/>
                  </a:solidFill>
                  <a:effectLst/>
                  <a:uLnTx/>
                  <a:uFillTx/>
                  <a:latin typeface="Calibri"/>
                  <a:ea typeface="+mn-ea"/>
                  <a:cs typeface="+mn-cs"/>
                </a:endParaRPr>
              </a:p>
            </p:txBody>
          </p:sp>
          <p:cxnSp>
            <p:nvCxnSpPr>
              <p:cNvPr id="34" name="Łącznik prosty 70">
                <a:extLst>
                  <a:ext uri="{FF2B5EF4-FFF2-40B4-BE49-F238E27FC236}">
                    <a16:creationId xmlns:a16="http://schemas.microsoft.com/office/drawing/2014/main" id="{16ED9CD1-CC1D-EDDF-C552-0BFB70056565}"/>
                  </a:ext>
                </a:extLst>
              </p:cNvPr>
              <p:cNvCxnSpPr>
                <a:cxnSpLocks/>
                <a:stCxn id="33" idx="4"/>
              </p:cNvCxnSpPr>
              <p:nvPr/>
            </p:nvCxnSpPr>
            <p:spPr>
              <a:xfrm rot="5400000">
                <a:off x="5822164" y="4036224"/>
                <a:ext cx="1214448" cy="158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35" name="Łącznik prosty 71">
                <a:extLst>
                  <a:ext uri="{FF2B5EF4-FFF2-40B4-BE49-F238E27FC236}">
                    <a16:creationId xmlns:a16="http://schemas.microsoft.com/office/drawing/2014/main" id="{F0AA00C5-C060-653D-58EA-9CFAA574B7E1}"/>
                  </a:ext>
                </a:extLst>
              </p:cNvPr>
              <p:cNvCxnSpPr/>
              <p:nvPr/>
            </p:nvCxnSpPr>
            <p:spPr>
              <a:xfrm rot="5400000">
                <a:off x="5965041" y="4750603"/>
                <a:ext cx="571504" cy="357190"/>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36" name="Łącznik prosty 72">
                <a:extLst>
                  <a:ext uri="{FF2B5EF4-FFF2-40B4-BE49-F238E27FC236}">
                    <a16:creationId xmlns:a16="http://schemas.microsoft.com/office/drawing/2014/main" id="{A75A74F1-560F-E9A7-63A1-7FD603B94B0B}"/>
                  </a:ext>
                </a:extLst>
              </p:cNvPr>
              <p:cNvCxnSpPr/>
              <p:nvPr/>
            </p:nvCxnSpPr>
            <p:spPr>
              <a:xfrm rot="16200000" flipH="1">
                <a:off x="6357950" y="4714884"/>
                <a:ext cx="571504" cy="42862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37" name="Łącznik prosty 73">
                <a:extLst>
                  <a:ext uri="{FF2B5EF4-FFF2-40B4-BE49-F238E27FC236}">
                    <a16:creationId xmlns:a16="http://schemas.microsoft.com/office/drawing/2014/main" id="{30CA977A-745E-B9B6-DFC9-141F909D46D4}"/>
                  </a:ext>
                </a:extLst>
              </p:cNvPr>
              <p:cNvCxnSpPr/>
              <p:nvPr/>
            </p:nvCxnSpPr>
            <p:spPr>
              <a:xfrm rot="10800000" flipV="1">
                <a:off x="5929322" y="3643314"/>
                <a:ext cx="500066" cy="42862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38" name="Łącznik prosty 74">
                <a:extLst>
                  <a:ext uri="{FF2B5EF4-FFF2-40B4-BE49-F238E27FC236}">
                    <a16:creationId xmlns:a16="http://schemas.microsoft.com/office/drawing/2014/main" id="{86E7F570-EE14-D1A7-F902-BA2BA3E5347C}"/>
                  </a:ext>
                </a:extLst>
              </p:cNvPr>
              <p:cNvCxnSpPr/>
              <p:nvPr/>
            </p:nvCxnSpPr>
            <p:spPr>
              <a:xfrm>
                <a:off x="6429388" y="3643314"/>
                <a:ext cx="571504" cy="500066"/>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grpSp>
        <p:grpSp>
          <p:nvGrpSpPr>
            <p:cNvPr id="19" name="Grupa 76">
              <a:extLst>
                <a:ext uri="{FF2B5EF4-FFF2-40B4-BE49-F238E27FC236}">
                  <a16:creationId xmlns:a16="http://schemas.microsoft.com/office/drawing/2014/main" id="{E5B181C2-840A-B299-D2B1-1058194A3875}"/>
                </a:ext>
              </a:extLst>
            </p:cNvPr>
            <p:cNvGrpSpPr/>
            <p:nvPr/>
          </p:nvGrpSpPr>
          <p:grpSpPr>
            <a:xfrm>
              <a:off x="3286116" y="4500570"/>
              <a:ext cx="357190" cy="428628"/>
              <a:chOff x="5929322" y="2928934"/>
              <a:chExt cx="1071570" cy="2286016"/>
            </a:xfrm>
          </p:grpSpPr>
          <p:sp>
            <p:nvSpPr>
              <p:cNvPr id="27" name="Elipsa 77">
                <a:extLst>
                  <a:ext uri="{FF2B5EF4-FFF2-40B4-BE49-F238E27FC236}">
                    <a16:creationId xmlns:a16="http://schemas.microsoft.com/office/drawing/2014/main" id="{B048F85F-2467-3130-EF88-5D46798B1322}"/>
                  </a:ext>
                </a:extLst>
              </p:cNvPr>
              <p:cNvSpPr/>
              <p:nvPr/>
            </p:nvSpPr>
            <p:spPr>
              <a:xfrm>
                <a:off x="6215074" y="2928934"/>
                <a:ext cx="428628" cy="500066"/>
              </a:xfrm>
              <a:prstGeom prst="ellipse">
                <a:avLst/>
              </a:prstGeom>
              <a:no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l-PL" sz="1800" b="0" i="0" u="none" strike="noStrike" kern="0" cap="none" spc="0" normalizeH="0" baseline="0" noProof="0">
                  <a:ln>
                    <a:noFill/>
                  </a:ln>
                  <a:solidFill>
                    <a:prstClr val="white"/>
                  </a:solidFill>
                  <a:effectLst/>
                  <a:uLnTx/>
                  <a:uFillTx/>
                  <a:latin typeface="Calibri"/>
                  <a:ea typeface="+mn-ea"/>
                  <a:cs typeface="+mn-cs"/>
                </a:endParaRPr>
              </a:p>
            </p:txBody>
          </p:sp>
          <p:cxnSp>
            <p:nvCxnSpPr>
              <p:cNvPr id="28" name="Łącznik prosty 78">
                <a:extLst>
                  <a:ext uri="{FF2B5EF4-FFF2-40B4-BE49-F238E27FC236}">
                    <a16:creationId xmlns:a16="http://schemas.microsoft.com/office/drawing/2014/main" id="{F381573B-9441-225E-D272-71A04413E29A}"/>
                  </a:ext>
                </a:extLst>
              </p:cNvPr>
              <p:cNvCxnSpPr>
                <a:cxnSpLocks/>
                <a:stCxn id="27" idx="4"/>
              </p:cNvCxnSpPr>
              <p:nvPr/>
            </p:nvCxnSpPr>
            <p:spPr>
              <a:xfrm rot="5400000">
                <a:off x="5822164" y="4036224"/>
                <a:ext cx="1214448" cy="158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29" name="Łącznik prosty 79">
                <a:extLst>
                  <a:ext uri="{FF2B5EF4-FFF2-40B4-BE49-F238E27FC236}">
                    <a16:creationId xmlns:a16="http://schemas.microsoft.com/office/drawing/2014/main" id="{9F08F857-A13D-A157-3C3D-57AF29FF9E36}"/>
                  </a:ext>
                </a:extLst>
              </p:cNvPr>
              <p:cNvCxnSpPr/>
              <p:nvPr/>
            </p:nvCxnSpPr>
            <p:spPr>
              <a:xfrm rot="5400000">
                <a:off x="5965041" y="4750603"/>
                <a:ext cx="571504" cy="357190"/>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30" name="Łącznik prosty 80">
                <a:extLst>
                  <a:ext uri="{FF2B5EF4-FFF2-40B4-BE49-F238E27FC236}">
                    <a16:creationId xmlns:a16="http://schemas.microsoft.com/office/drawing/2014/main" id="{3B3D77D1-BA5C-8A47-E7CB-614AF9AFBE67}"/>
                  </a:ext>
                </a:extLst>
              </p:cNvPr>
              <p:cNvCxnSpPr/>
              <p:nvPr/>
            </p:nvCxnSpPr>
            <p:spPr>
              <a:xfrm rot="16200000" flipH="1">
                <a:off x="6357950" y="4714884"/>
                <a:ext cx="571504" cy="42862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31" name="Łącznik prosty 81">
                <a:extLst>
                  <a:ext uri="{FF2B5EF4-FFF2-40B4-BE49-F238E27FC236}">
                    <a16:creationId xmlns:a16="http://schemas.microsoft.com/office/drawing/2014/main" id="{00DA3AF6-2779-CE80-E064-BE3CAAC80214}"/>
                  </a:ext>
                </a:extLst>
              </p:cNvPr>
              <p:cNvCxnSpPr/>
              <p:nvPr/>
            </p:nvCxnSpPr>
            <p:spPr>
              <a:xfrm rot="10800000" flipV="1">
                <a:off x="5929322" y="3643314"/>
                <a:ext cx="500066" cy="428628"/>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cxnSp>
            <p:nvCxnSpPr>
              <p:cNvPr id="32" name="Łącznik prosty 82">
                <a:extLst>
                  <a:ext uri="{FF2B5EF4-FFF2-40B4-BE49-F238E27FC236}">
                    <a16:creationId xmlns:a16="http://schemas.microsoft.com/office/drawing/2014/main" id="{A266F37C-B6C9-079A-1708-9C0762AA8B3E}"/>
                  </a:ext>
                </a:extLst>
              </p:cNvPr>
              <p:cNvCxnSpPr/>
              <p:nvPr/>
            </p:nvCxnSpPr>
            <p:spPr>
              <a:xfrm>
                <a:off x="6429388" y="3643314"/>
                <a:ext cx="571504" cy="500066"/>
              </a:xfrm>
              <a:prstGeom prst="line">
                <a:avLst/>
              </a:prstGeom>
              <a:noFill/>
              <a:ln w="38100" cap="flat" cmpd="sng" algn="ctr">
                <a:solidFill>
                  <a:srgbClr val="4F81BD"/>
                </a:solidFill>
                <a:prstDash val="solid"/>
              </a:ln>
              <a:effectLst>
                <a:outerShdw blurRad="40000" dist="23000" dir="5400000" rotWithShape="0">
                  <a:srgbClr val="000000">
                    <a:alpha val="35000"/>
                  </a:srgbClr>
                </a:outerShdw>
              </a:effectLst>
            </p:spPr>
          </p:cxnSp>
        </p:grpSp>
        <p:cxnSp>
          <p:nvCxnSpPr>
            <p:cNvPr id="20" name="Łącznik prosty 83">
              <a:extLst>
                <a:ext uri="{FF2B5EF4-FFF2-40B4-BE49-F238E27FC236}">
                  <a16:creationId xmlns:a16="http://schemas.microsoft.com/office/drawing/2014/main" id="{7ED1436C-839D-42B5-3657-AAF7483DF90F}"/>
                </a:ext>
              </a:extLst>
            </p:cNvPr>
            <p:cNvCxnSpPr>
              <a:cxnSpLocks/>
              <a:endCxn id="12" idx="5"/>
            </p:cNvCxnSpPr>
            <p:nvPr/>
          </p:nvCxnSpPr>
          <p:spPr>
            <a:xfrm>
              <a:off x="1142976" y="4214818"/>
              <a:ext cx="1258254" cy="12"/>
            </a:xfrm>
            <a:prstGeom prst="line">
              <a:avLst/>
            </a:prstGeom>
            <a:noFill/>
            <a:ln w="38100" cap="flat" cmpd="sng" algn="ctr">
              <a:solidFill>
                <a:srgbClr val="F79646"/>
              </a:solidFill>
              <a:prstDash val="solid"/>
            </a:ln>
            <a:effectLst>
              <a:outerShdw blurRad="40000" dist="23000" dir="5400000" rotWithShape="0">
                <a:srgbClr val="000000">
                  <a:alpha val="35000"/>
                </a:srgbClr>
              </a:outerShdw>
            </a:effectLst>
          </p:spPr>
        </p:cxnSp>
        <p:cxnSp>
          <p:nvCxnSpPr>
            <p:cNvPr id="21" name="Łącznik prosty 58">
              <a:extLst>
                <a:ext uri="{FF2B5EF4-FFF2-40B4-BE49-F238E27FC236}">
                  <a16:creationId xmlns:a16="http://schemas.microsoft.com/office/drawing/2014/main" id="{672625B2-A041-57CD-90D5-9592DA7C6AED}"/>
                </a:ext>
              </a:extLst>
            </p:cNvPr>
            <p:cNvCxnSpPr/>
            <p:nvPr/>
          </p:nvCxnSpPr>
          <p:spPr>
            <a:xfrm rot="5400000">
              <a:off x="679423" y="4607727"/>
              <a:ext cx="2213784" cy="794"/>
            </a:xfrm>
            <a:prstGeom prst="line">
              <a:avLst/>
            </a:prstGeom>
            <a:noFill/>
            <a:ln w="38100" cap="flat" cmpd="sng" algn="ctr">
              <a:solidFill>
                <a:srgbClr val="9BBB59"/>
              </a:solidFill>
              <a:prstDash val="solid"/>
            </a:ln>
            <a:effectLst>
              <a:outerShdw blurRad="40000" dist="23000" dir="5400000" rotWithShape="0">
                <a:srgbClr val="000000">
                  <a:alpha val="35000"/>
                </a:srgbClr>
              </a:outerShdw>
            </a:effectLst>
          </p:spPr>
        </p:cxnSp>
        <p:cxnSp>
          <p:nvCxnSpPr>
            <p:cNvPr id="22" name="Łącznik prosty 89">
              <a:extLst>
                <a:ext uri="{FF2B5EF4-FFF2-40B4-BE49-F238E27FC236}">
                  <a16:creationId xmlns:a16="http://schemas.microsoft.com/office/drawing/2014/main" id="{2AAA9BDE-5290-B6ED-A4D2-9EB065F79857}"/>
                </a:ext>
              </a:extLst>
            </p:cNvPr>
            <p:cNvCxnSpPr>
              <a:cxnSpLocks/>
              <a:stCxn id="12" idx="5"/>
              <a:endCxn id="14" idx="0"/>
            </p:cNvCxnSpPr>
            <p:nvPr/>
          </p:nvCxnSpPr>
          <p:spPr>
            <a:xfrm flipH="1">
              <a:off x="2393141" y="4214830"/>
              <a:ext cx="8089" cy="1500186"/>
            </a:xfrm>
            <a:prstGeom prst="line">
              <a:avLst/>
            </a:prstGeom>
            <a:noFill/>
            <a:ln w="38100" cap="flat" cmpd="sng" algn="ctr">
              <a:solidFill>
                <a:srgbClr val="9BBB59"/>
              </a:solidFill>
              <a:prstDash val="solid"/>
            </a:ln>
            <a:effectLst>
              <a:outerShdw blurRad="40000" dist="23000" dir="5400000" rotWithShape="0">
                <a:srgbClr val="000000">
                  <a:alpha val="35000"/>
                </a:srgbClr>
              </a:outerShdw>
            </a:effectLst>
          </p:spPr>
        </p:cxnSp>
        <p:cxnSp>
          <p:nvCxnSpPr>
            <p:cNvPr id="23" name="Łącznik prosty 94">
              <a:extLst>
                <a:ext uri="{FF2B5EF4-FFF2-40B4-BE49-F238E27FC236}">
                  <a16:creationId xmlns:a16="http://schemas.microsoft.com/office/drawing/2014/main" id="{F3AD2AA3-C9B3-6CB1-8C40-9E28EEEC74A3}"/>
                </a:ext>
              </a:extLst>
            </p:cNvPr>
            <p:cNvCxnSpPr/>
            <p:nvPr/>
          </p:nvCxnSpPr>
          <p:spPr>
            <a:xfrm rot="5400000">
              <a:off x="2500695" y="5285991"/>
              <a:ext cx="857256" cy="794"/>
            </a:xfrm>
            <a:prstGeom prst="line">
              <a:avLst/>
            </a:prstGeom>
            <a:noFill/>
            <a:ln w="38100" cap="flat" cmpd="sng" algn="ctr">
              <a:solidFill>
                <a:srgbClr val="9BBB59"/>
              </a:solidFill>
              <a:prstDash val="solid"/>
            </a:ln>
            <a:effectLst>
              <a:outerShdw blurRad="40000" dist="23000" dir="5400000" rotWithShape="0">
                <a:srgbClr val="000000">
                  <a:alpha val="35000"/>
                </a:srgbClr>
              </a:outerShdw>
            </a:effectLst>
          </p:spPr>
        </p:cxnSp>
        <p:cxnSp>
          <p:nvCxnSpPr>
            <p:cNvPr id="24" name="Łącznik prosty 85">
              <a:extLst>
                <a:ext uri="{FF2B5EF4-FFF2-40B4-BE49-F238E27FC236}">
                  <a16:creationId xmlns:a16="http://schemas.microsoft.com/office/drawing/2014/main" id="{8D5E629B-0205-818E-3C2D-26B2EC066093}"/>
                </a:ext>
              </a:extLst>
            </p:cNvPr>
            <p:cNvCxnSpPr/>
            <p:nvPr/>
          </p:nvCxnSpPr>
          <p:spPr>
            <a:xfrm>
              <a:off x="1154883" y="4827068"/>
              <a:ext cx="1785950" cy="1588"/>
            </a:xfrm>
            <a:prstGeom prst="line">
              <a:avLst/>
            </a:prstGeom>
            <a:noFill/>
            <a:ln w="38100" cap="flat" cmpd="sng" algn="ctr">
              <a:solidFill>
                <a:srgbClr val="F79646"/>
              </a:solidFill>
              <a:prstDash val="solid"/>
            </a:ln>
            <a:effectLst>
              <a:outerShdw blurRad="40000" dist="23000" dir="5400000" rotWithShape="0">
                <a:srgbClr val="000000">
                  <a:alpha val="35000"/>
                </a:srgbClr>
              </a:outerShdw>
            </a:effectLst>
          </p:spPr>
        </p:cxnSp>
        <p:sp>
          <p:nvSpPr>
            <p:cNvPr id="25" name="Podtytuł 2">
              <a:extLst>
                <a:ext uri="{FF2B5EF4-FFF2-40B4-BE49-F238E27FC236}">
                  <a16:creationId xmlns:a16="http://schemas.microsoft.com/office/drawing/2014/main" id="{4B4D5F2B-4BDE-65D1-F876-849DF8B81041}"/>
                </a:ext>
              </a:extLst>
            </p:cNvPr>
            <p:cNvSpPr txBox="1">
              <a:spLocks/>
            </p:cNvSpPr>
            <p:nvPr/>
          </p:nvSpPr>
          <p:spPr>
            <a:xfrm>
              <a:off x="571472" y="4071942"/>
              <a:ext cx="500066" cy="285752"/>
            </a:xfrm>
            <a:prstGeom prst="rect">
              <a:avLst/>
            </a:prstGeom>
          </p:spPr>
          <p:txBody>
            <a:bodyPr vert="horz" lIns="91440" tIns="45720" rIns="91440" bIns="45720" rtlCol="0">
              <a:normAutofit fontScale="47500" lnSpcReduction="20000"/>
            </a:bodyPr>
            <a:lstStyle/>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0" cap="none" spc="0" normalizeH="0" baseline="0" noProof="0" dirty="0">
                  <a:ln>
                    <a:noFill/>
                  </a:ln>
                  <a:solidFill>
                    <a:srgbClr val="003366"/>
                  </a:solidFill>
                  <a:effectLst/>
                  <a:uLnTx/>
                  <a:uFillTx/>
                </a:rPr>
                <a:t>300</a:t>
              </a:r>
            </a:p>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0" cap="none" spc="0" normalizeH="0" baseline="0" noProof="0" dirty="0">
                <a:ln>
                  <a:noFill/>
                </a:ln>
                <a:solidFill>
                  <a:prstClr val="black">
                    <a:tint val="75000"/>
                  </a:prstClr>
                </a:solidFill>
                <a:effectLst/>
                <a:uLnTx/>
                <a:uFillTx/>
              </a:endParaRPr>
            </a:p>
          </p:txBody>
        </p:sp>
        <p:sp>
          <p:nvSpPr>
            <p:cNvPr id="26" name="Podtytuł 2">
              <a:extLst>
                <a:ext uri="{FF2B5EF4-FFF2-40B4-BE49-F238E27FC236}">
                  <a16:creationId xmlns:a16="http://schemas.microsoft.com/office/drawing/2014/main" id="{07672FB8-EB6E-646F-55E9-B50C1E425D80}"/>
                </a:ext>
              </a:extLst>
            </p:cNvPr>
            <p:cNvSpPr txBox="1">
              <a:spLocks/>
            </p:cNvSpPr>
            <p:nvPr/>
          </p:nvSpPr>
          <p:spPr>
            <a:xfrm>
              <a:off x="571472" y="4786322"/>
              <a:ext cx="500066" cy="285752"/>
            </a:xfrm>
            <a:prstGeom prst="rect">
              <a:avLst/>
            </a:prstGeom>
          </p:spPr>
          <p:txBody>
            <a:bodyPr vert="horz" lIns="91440" tIns="45720" rIns="91440" bIns="45720" rtlCol="0">
              <a:normAutofit fontScale="47500" lnSpcReduction="20000"/>
            </a:bodyPr>
            <a:lstStyle/>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0" cap="none" spc="0" normalizeH="0" baseline="0" noProof="0" dirty="0">
                  <a:ln>
                    <a:noFill/>
                  </a:ln>
                  <a:solidFill>
                    <a:srgbClr val="003366"/>
                  </a:solidFill>
                  <a:effectLst/>
                  <a:uLnTx/>
                  <a:uFillTx/>
                </a:rPr>
                <a:t>200</a:t>
              </a:r>
            </a:p>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0" cap="none" spc="0" normalizeH="0" baseline="0" noProof="0" dirty="0">
                <a:ln>
                  <a:noFill/>
                </a:ln>
                <a:solidFill>
                  <a:prstClr val="black">
                    <a:tint val="75000"/>
                  </a:prstClr>
                </a:solidFill>
                <a:effectLst/>
                <a:uLnTx/>
                <a:uFillTx/>
              </a:endParaRPr>
            </a:p>
          </p:txBody>
        </p:sp>
      </p:grpSp>
      <p:sp>
        <p:nvSpPr>
          <p:cNvPr id="45" name="Podtytuł 2">
            <a:extLst>
              <a:ext uri="{FF2B5EF4-FFF2-40B4-BE49-F238E27FC236}">
                <a16:creationId xmlns:a16="http://schemas.microsoft.com/office/drawing/2014/main" id="{84BB7C94-AA53-9C0C-769A-07883ECE2A2F}"/>
              </a:ext>
            </a:extLst>
          </p:cNvPr>
          <p:cNvSpPr txBox="1">
            <a:spLocks/>
          </p:cNvSpPr>
          <p:nvPr/>
        </p:nvSpPr>
        <p:spPr>
          <a:xfrm>
            <a:off x="3632738" y="4840544"/>
            <a:ext cx="1285884" cy="357190"/>
          </a:xfrm>
          <a:prstGeom prst="rect">
            <a:avLst/>
          </a:prstGeom>
        </p:spPr>
        <p:txBody>
          <a:bodyPr vert="horz" lIns="91440" tIns="45720" rIns="91440" bIns="45720" rtlCol="0">
            <a:normAutofit fontScale="62500" lnSpcReduction="20000"/>
          </a:bodyPr>
          <a:lstStyle/>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0" cap="none" spc="0" normalizeH="0" baseline="0" noProof="0" dirty="0">
                <a:ln>
                  <a:noFill/>
                </a:ln>
                <a:solidFill>
                  <a:srgbClr val="003366"/>
                </a:solidFill>
                <a:effectLst/>
                <a:uLnTx/>
                <a:uFillTx/>
              </a:rPr>
              <a:t>MC = ATC</a:t>
            </a:r>
          </a:p>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0" cap="none" spc="0" normalizeH="0" baseline="0" noProof="0" dirty="0">
              <a:ln>
                <a:noFill/>
              </a:ln>
              <a:solidFill>
                <a:srgbClr val="003366"/>
              </a:solidFill>
              <a:effectLst/>
              <a:uLnTx/>
              <a:uFillTx/>
            </a:endParaRPr>
          </a:p>
          <a:p>
            <a:pPr marL="0" marR="0" lvl="0" indent="0" algn="ctr" defTabSz="91440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0" cap="none" spc="0" normalizeH="0" baseline="0" noProof="0" dirty="0">
              <a:ln>
                <a:noFill/>
              </a:ln>
              <a:solidFill>
                <a:prstClr val="black">
                  <a:tint val="75000"/>
                </a:prstClr>
              </a:solidFill>
              <a:effectLst/>
              <a:uLnTx/>
              <a:uFillTx/>
            </a:endParaRPr>
          </a:p>
        </p:txBody>
      </p:sp>
    </p:spTree>
    <p:extLst>
      <p:ext uri="{BB962C8B-B14F-4D97-AF65-F5344CB8AC3E}">
        <p14:creationId xmlns:p14="http://schemas.microsoft.com/office/powerpoint/2010/main" val="3000466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FBBB7-7771-CA4C-6D27-C86465EDCA6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E412203-8E45-9814-8939-14CB97F2CC4D}"/>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noProof="0" dirty="0">
                <a:solidFill>
                  <a:srgbClr val="4BACC6">
                    <a:lumMod val="50000"/>
                  </a:srgbClr>
                </a:solidFill>
              </a:rPr>
              <a:t>Mechanism Design</a:t>
            </a:r>
          </a:p>
          <a:p>
            <a:r>
              <a:rPr lang="pl-PL" b="1" noProof="0" dirty="0">
                <a:solidFill>
                  <a:srgbClr val="4BACC6">
                    <a:lumMod val="50000"/>
                  </a:srgbClr>
                </a:solidFill>
              </a:rPr>
              <a:t>Second-</a:t>
            </a:r>
            <a:r>
              <a:rPr lang="pl-PL" b="1" noProof="0" dirty="0" err="1">
                <a:solidFill>
                  <a:srgbClr val="4BACC6">
                    <a:lumMod val="50000"/>
                  </a:srgbClr>
                </a:solidFill>
              </a:rPr>
              <a:t>Price</a:t>
            </a:r>
            <a:r>
              <a:rPr lang="pl-PL" b="1" noProof="0" dirty="0">
                <a:solidFill>
                  <a:srgbClr val="4BACC6">
                    <a:lumMod val="50000"/>
                  </a:srgbClr>
                </a:solidFill>
              </a:rPr>
              <a:t> </a:t>
            </a:r>
            <a:r>
              <a:rPr lang="pl-PL" b="1" noProof="0" dirty="0" err="1">
                <a:solidFill>
                  <a:srgbClr val="4BACC6">
                    <a:lumMod val="50000"/>
                  </a:srgbClr>
                </a:solidFill>
              </a:rPr>
              <a:t>Auction</a:t>
            </a:r>
            <a:r>
              <a:rPr lang="pl-PL" b="1" noProof="0" dirty="0">
                <a:solidFill>
                  <a:srgbClr val="4BACC6">
                    <a:lumMod val="50000"/>
                  </a:srgbClr>
                </a:solidFill>
              </a:rPr>
              <a:t> (</a:t>
            </a:r>
            <a:r>
              <a:rPr lang="pl-PL" b="1" noProof="0" dirty="0" err="1">
                <a:solidFill>
                  <a:srgbClr val="4BACC6">
                    <a:lumMod val="50000"/>
                  </a:srgbClr>
                </a:solidFill>
              </a:rPr>
              <a:t>Vickrey</a:t>
            </a:r>
            <a:r>
              <a:rPr lang="pl-PL" b="1" noProof="0" dirty="0">
                <a:solidFill>
                  <a:srgbClr val="4BACC6">
                    <a:lumMod val="50000"/>
                  </a:srgbClr>
                </a:solidFill>
              </a:rPr>
              <a:t> </a:t>
            </a:r>
            <a:r>
              <a:rPr lang="pl-PL" b="1" noProof="0" dirty="0" err="1">
                <a:solidFill>
                  <a:srgbClr val="4BACC6">
                    <a:lumMod val="50000"/>
                  </a:srgbClr>
                </a:solidFill>
              </a:rPr>
              <a:t>Auction</a:t>
            </a:r>
            <a:r>
              <a:rPr lang="pl-PL" b="1" noProof="0" dirty="0">
                <a:solidFill>
                  <a:srgbClr val="4BACC6">
                    <a:lumMod val="50000"/>
                  </a:srgbClr>
                </a:solidFill>
              </a:rPr>
              <a:t>)</a:t>
            </a:r>
          </a:p>
        </p:txBody>
      </p:sp>
      <p:sp>
        <p:nvSpPr>
          <p:cNvPr id="83" name="Podtytuł 2">
            <a:extLst>
              <a:ext uri="{FF2B5EF4-FFF2-40B4-BE49-F238E27FC236}">
                <a16:creationId xmlns:a16="http://schemas.microsoft.com/office/drawing/2014/main" id="{9D19F405-2395-29C0-0A68-267AA8CCA126}"/>
              </a:ext>
            </a:extLst>
          </p:cNvPr>
          <p:cNvSpPr txBox="1">
            <a:spLocks/>
          </p:cNvSpPr>
          <p:nvPr/>
        </p:nvSpPr>
        <p:spPr>
          <a:xfrm>
            <a:off x="7473948" y="5149045"/>
            <a:ext cx="1285884"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D</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7" name="TextBox 86">
            <a:extLst>
              <a:ext uri="{FF2B5EF4-FFF2-40B4-BE49-F238E27FC236}">
                <a16:creationId xmlns:a16="http://schemas.microsoft.com/office/drawing/2014/main" id="{C0BD9432-428C-A70C-3018-F8A913E5DECA}"/>
              </a:ext>
            </a:extLst>
          </p:cNvPr>
          <p:cNvSpPr txBox="1"/>
          <p:nvPr/>
        </p:nvSpPr>
        <p:spPr>
          <a:xfrm>
            <a:off x="3287807" y="1521546"/>
            <a:ext cx="5667620" cy="4819781"/>
          </a:xfrm>
          <a:prstGeom prst="rect">
            <a:avLst/>
          </a:prstGeom>
          <a:noFill/>
        </p:spPr>
        <p:txBody>
          <a:bodyPr wrap="square">
            <a:spAutoFit/>
          </a:bodyPr>
          <a:lstStyle/>
          <a:p>
            <a:pPr lvl="0" algn="just">
              <a:spcBef>
                <a:spcPct val="20000"/>
              </a:spcBef>
              <a:defRPr/>
            </a:pPr>
            <a:r>
              <a:rPr lang="en-US" sz="2400" dirty="0">
                <a:solidFill>
                  <a:schemeClr val="accent5">
                    <a:lumMod val="50000"/>
                  </a:schemeClr>
                </a:solidFill>
              </a:rPr>
              <a:t>Winning strategy: Bid equal to your private valuation b=v, revealing your true willingness to pay (WTP).</a:t>
            </a:r>
          </a:p>
          <a:p>
            <a:pPr marL="285750" lvl="0" indent="-285750" algn="just">
              <a:spcBef>
                <a:spcPct val="20000"/>
              </a:spcBef>
              <a:buFont typeface="Arial" panose="020B0604020202020204" pitchFamily="34" charset="0"/>
              <a:buChar char="•"/>
              <a:defRPr/>
            </a:pPr>
            <a:endParaRPr lang="en-US" sz="2400" dirty="0">
              <a:solidFill>
                <a:schemeClr val="accent5">
                  <a:lumMod val="50000"/>
                </a:schemeClr>
              </a:solidFill>
            </a:endParaRPr>
          </a:p>
          <a:p>
            <a:pPr lvl="0" algn="just">
              <a:spcBef>
                <a:spcPct val="20000"/>
              </a:spcBef>
              <a:defRPr/>
            </a:pPr>
            <a:r>
              <a:rPr lang="en-US" sz="2400" dirty="0">
                <a:solidFill>
                  <a:schemeClr val="accent5">
                    <a:lumMod val="50000"/>
                  </a:schemeClr>
                </a:solidFill>
              </a:rPr>
              <a:t>Key Features:</a:t>
            </a:r>
          </a:p>
          <a:p>
            <a:pPr marL="285750" lvl="0" indent="-285750" algn="just">
              <a:spcBef>
                <a:spcPct val="20000"/>
              </a:spcBef>
              <a:buFont typeface="Arial" panose="020B0604020202020204" pitchFamily="34" charset="0"/>
              <a:buChar char="•"/>
              <a:defRPr/>
            </a:pPr>
            <a:r>
              <a:rPr lang="en-US" sz="2400" dirty="0">
                <a:solidFill>
                  <a:schemeClr val="accent5">
                    <a:lumMod val="50000"/>
                  </a:schemeClr>
                </a:solidFill>
              </a:rPr>
              <a:t>    Increases the likelihood of winning without overpaying.</a:t>
            </a:r>
          </a:p>
          <a:p>
            <a:pPr marL="285750" lvl="0" indent="-285750" algn="just">
              <a:spcBef>
                <a:spcPct val="20000"/>
              </a:spcBef>
              <a:buFont typeface="Arial" panose="020B0604020202020204" pitchFamily="34" charset="0"/>
              <a:buChar char="•"/>
              <a:defRPr/>
            </a:pPr>
            <a:r>
              <a:rPr lang="en-US" sz="2400" dirty="0">
                <a:solidFill>
                  <a:schemeClr val="accent5">
                    <a:lumMod val="50000"/>
                  </a:schemeClr>
                </a:solidFill>
              </a:rPr>
              <a:t>    Does not impact profit: The winning bid pays the second-highest bid, so the profit is determined by the difference between the winner's private valuation and the second-highest bid.</a:t>
            </a:r>
          </a:p>
        </p:txBody>
      </p:sp>
      <p:grpSp>
        <p:nvGrpSpPr>
          <p:cNvPr id="4" name="Group 2">
            <a:extLst>
              <a:ext uri="{FF2B5EF4-FFF2-40B4-BE49-F238E27FC236}">
                <a16:creationId xmlns:a16="http://schemas.microsoft.com/office/drawing/2014/main" id="{1A10F2C9-1341-E2D0-652E-E4C4023E2611}"/>
              </a:ext>
            </a:extLst>
          </p:cNvPr>
          <p:cNvGrpSpPr>
            <a:grpSpLocks noChangeAspect="1"/>
          </p:cNvGrpSpPr>
          <p:nvPr/>
        </p:nvGrpSpPr>
        <p:grpSpPr bwMode="auto">
          <a:xfrm>
            <a:off x="711279" y="1989773"/>
            <a:ext cx="2716212" cy="3713162"/>
            <a:chOff x="3809" y="1423"/>
            <a:chExt cx="4278" cy="5848"/>
          </a:xfrm>
        </p:grpSpPr>
        <p:sp>
          <p:nvSpPr>
            <p:cNvPr id="46" name="AutoShape 3">
              <a:extLst>
                <a:ext uri="{FF2B5EF4-FFF2-40B4-BE49-F238E27FC236}">
                  <a16:creationId xmlns:a16="http://schemas.microsoft.com/office/drawing/2014/main" id="{F47D24B1-5903-2531-A964-5C1944FBAD23}"/>
                </a:ext>
              </a:extLst>
            </p:cNvPr>
            <p:cNvSpPr>
              <a:spLocks noChangeAspect="1" noChangeArrowheads="1"/>
            </p:cNvSpPr>
            <p:nvPr/>
          </p:nvSpPr>
          <p:spPr bwMode="auto">
            <a:xfrm>
              <a:off x="3809" y="1423"/>
              <a:ext cx="4278" cy="5848"/>
            </a:xfrm>
            <a:prstGeom prst="rect">
              <a:avLst/>
            </a:prstGeom>
            <a:noFill/>
            <a:ln w="9525">
              <a:noFill/>
              <a:miter lim="800000"/>
              <a:headEnd/>
              <a:tailEnd/>
            </a:ln>
          </p:spPr>
          <p:txBody>
            <a:bodyPr/>
            <a:lstStyle/>
            <a:p>
              <a:pPr>
                <a:defRPr/>
              </a:pPr>
              <a:endParaRPr lang="pl-PL" sz="1600">
                <a:solidFill>
                  <a:schemeClr val="accent5">
                    <a:lumMod val="50000"/>
                  </a:schemeClr>
                </a:solidFill>
              </a:endParaRPr>
            </a:p>
          </p:txBody>
        </p:sp>
        <p:sp>
          <p:nvSpPr>
            <p:cNvPr id="47" name="Line 4">
              <a:extLst>
                <a:ext uri="{FF2B5EF4-FFF2-40B4-BE49-F238E27FC236}">
                  <a16:creationId xmlns:a16="http://schemas.microsoft.com/office/drawing/2014/main" id="{0442D995-3108-CE80-FF42-9EF9033819F4}"/>
                </a:ext>
              </a:extLst>
            </p:cNvPr>
            <p:cNvSpPr>
              <a:spLocks noChangeShapeType="1"/>
            </p:cNvSpPr>
            <p:nvPr/>
          </p:nvSpPr>
          <p:spPr bwMode="auto">
            <a:xfrm>
              <a:off x="3924" y="2481"/>
              <a:ext cx="0" cy="0"/>
            </a:xfrm>
            <a:prstGeom prst="line">
              <a:avLst/>
            </a:prstGeom>
            <a:noFill/>
            <a:ln w="9525">
              <a:solidFill>
                <a:srgbClr val="000000"/>
              </a:solidFill>
              <a:round/>
              <a:headEnd/>
              <a:tailEnd/>
            </a:ln>
          </p:spPr>
          <p:txBody>
            <a:bodyPr/>
            <a:lstStyle/>
            <a:p>
              <a:pPr>
                <a:defRPr/>
              </a:pPr>
              <a:endParaRPr lang="pl-PL" sz="1600">
                <a:solidFill>
                  <a:schemeClr val="accent5">
                    <a:lumMod val="50000"/>
                  </a:schemeClr>
                </a:solidFill>
              </a:endParaRPr>
            </a:p>
          </p:txBody>
        </p:sp>
        <p:sp>
          <p:nvSpPr>
            <p:cNvPr id="48" name="Text Box 5">
              <a:extLst>
                <a:ext uri="{FF2B5EF4-FFF2-40B4-BE49-F238E27FC236}">
                  <a16:creationId xmlns:a16="http://schemas.microsoft.com/office/drawing/2014/main" id="{1F4038AA-A32E-7C1E-67B2-AFD4593E9837}"/>
                </a:ext>
              </a:extLst>
            </p:cNvPr>
            <p:cNvSpPr txBox="1">
              <a:spLocks noChangeArrowheads="1"/>
            </p:cNvSpPr>
            <p:nvPr/>
          </p:nvSpPr>
          <p:spPr bwMode="auto">
            <a:xfrm>
              <a:off x="7172" y="2263"/>
              <a:ext cx="915" cy="840"/>
            </a:xfrm>
            <a:prstGeom prst="rect">
              <a:avLst/>
            </a:prstGeom>
            <a:noFill/>
            <a:ln w="9525">
              <a:noFill/>
              <a:miter lim="800000"/>
              <a:headEnd/>
              <a:tailEnd/>
            </a:ln>
          </p:spPr>
          <p:txBody>
            <a:bodyPr/>
            <a:lstStyle/>
            <a:p>
              <a:pPr>
                <a:defRPr/>
              </a:pPr>
              <a:r>
                <a:rPr lang="pl-PL" sz="1600">
                  <a:solidFill>
                    <a:schemeClr val="accent5">
                      <a:lumMod val="50000"/>
                    </a:schemeClr>
                  </a:solidFill>
                  <a:latin typeface="Garamond" pitchFamily="18" charset="0"/>
                </a:rPr>
                <a:t>v</a:t>
              </a:r>
              <a:r>
                <a:rPr lang="pl-PL" sz="1600" baseline="-25000">
                  <a:solidFill>
                    <a:schemeClr val="accent5">
                      <a:lumMod val="50000"/>
                    </a:schemeClr>
                  </a:solidFill>
                  <a:latin typeface="Garamond" pitchFamily="18" charset="0"/>
                </a:rPr>
                <a:t>3</a:t>
              </a:r>
              <a:endParaRPr lang="pl-PL" sz="1600">
                <a:solidFill>
                  <a:schemeClr val="accent5">
                    <a:lumMod val="50000"/>
                  </a:schemeClr>
                </a:solidFill>
              </a:endParaRPr>
            </a:p>
          </p:txBody>
        </p:sp>
        <p:sp>
          <p:nvSpPr>
            <p:cNvPr id="49" name="Text Box 6">
              <a:extLst>
                <a:ext uri="{FF2B5EF4-FFF2-40B4-BE49-F238E27FC236}">
                  <a16:creationId xmlns:a16="http://schemas.microsoft.com/office/drawing/2014/main" id="{ECD51615-C3E9-E7E5-7C63-20A0F91548CE}"/>
                </a:ext>
              </a:extLst>
            </p:cNvPr>
            <p:cNvSpPr txBox="1">
              <a:spLocks noChangeArrowheads="1"/>
            </p:cNvSpPr>
            <p:nvPr/>
          </p:nvSpPr>
          <p:spPr bwMode="auto">
            <a:xfrm>
              <a:off x="7172" y="3853"/>
              <a:ext cx="645" cy="628"/>
            </a:xfrm>
            <a:prstGeom prst="rect">
              <a:avLst/>
            </a:prstGeom>
            <a:noFill/>
            <a:ln w="9525">
              <a:noFill/>
              <a:miter lim="800000"/>
              <a:headEnd/>
              <a:tailEnd/>
            </a:ln>
          </p:spPr>
          <p:txBody>
            <a:bodyPr/>
            <a:lstStyle/>
            <a:p>
              <a:pPr>
                <a:defRPr/>
              </a:pPr>
              <a:r>
                <a:rPr lang="pl-PL" sz="1600">
                  <a:solidFill>
                    <a:schemeClr val="accent5">
                      <a:lumMod val="50000"/>
                    </a:schemeClr>
                  </a:solidFill>
                  <a:latin typeface="Garamond" pitchFamily="18" charset="0"/>
                </a:rPr>
                <a:t>v</a:t>
              </a:r>
              <a:r>
                <a:rPr lang="pl-PL" sz="1600" baseline="-25000">
                  <a:solidFill>
                    <a:schemeClr val="accent5">
                      <a:lumMod val="50000"/>
                    </a:schemeClr>
                  </a:solidFill>
                  <a:latin typeface="Garamond" pitchFamily="18" charset="0"/>
                </a:rPr>
                <a:t>1</a:t>
              </a:r>
              <a:endParaRPr lang="pl-PL" sz="1600">
                <a:solidFill>
                  <a:schemeClr val="accent5">
                    <a:lumMod val="50000"/>
                  </a:schemeClr>
                </a:solidFill>
              </a:endParaRPr>
            </a:p>
          </p:txBody>
        </p:sp>
        <p:sp>
          <p:nvSpPr>
            <p:cNvPr id="50" name="Text Box 7">
              <a:extLst>
                <a:ext uri="{FF2B5EF4-FFF2-40B4-BE49-F238E27FC236}">
                  <a16:creationId xmlns:a16="http://schemas.microsoft.com/office/drawing/2014/main" id="{9D794FD7-9085-29F8-18EA-50EAC7C23ACD}"/>
                </a:ext>
              </a:extLst>
            </p:cNvPr>
            <p:cNvSpPr txBox="1">
              <a:spLocks noChangeArrowheads="1"/>
            </p:cNvSpPr>
            <p:nvPr/>
          </p:nvSpPr>
          <p:spPr bwMode="auto">
            <a:xfrm>
              <a:off x="7172" y="4873"/>
              <a:ext cx="915" cy="840"/>
            </a:xfrm>
            <a:prstGeom prst="rect">
              <a:avLst/>
            </a:prstGeom>
            <a:noFill/>
            <a:ln w="9525">
              <a:noFill/>
              <a:miter lim="800000"/>
              <a:headEnd/>
              <a:tailEnd/>
            </a:ln>
          </p:spPr>
          <p:txBody>
            <a:bodyPr/>
            <a:lstStyle/>
            <a:p>
              <a:pPr>
                <a:defRPr/>
              </a:pPr>
              <a:r>
                <a:rPr lang="pl-PL" sz="1600" dirty="0">
                  <a:solidFill>
                    <a:schemeClr val="accent5">
                      <a:lumMod val="50000"/>
                    </a:schemeClr>
                  </a:solidFill>
                  <a:latin typeface="Garamond" pitchFamily="18" charset="0"/>
                </a:rPr>
                <a:t>v</a:t>
              </a:r>
              <a:r>
                <a:rPr lang="pl-PL" sz="1600" baseline="-25000" dirty="0">
                  <a:solidFill>
                    <a:schemeClr val="accent5">
                      <a:lumMod val="50000"/>
                    </a:schemeClr>
                  </a:solidFill>
                  <a:latin typeface="Garamond" pitchFamily="18" charset="0"/>
                </a:rPr>
                <a:t>2</a:t>
              </a:r>
              <a:endParaRPr lang="pl-PL" sz="1600" dirty="0">
                <a:solidFill>
                  <a:schemeClr val="accent5">
                    <a:lumMod val="50000"/>
                  </a:schemeClr>
                </a:solidFill>
              </a:endParaRPr>
            </a:p>
          </p:txBody>
        </p:sp>
        <p:sp>
          <p:nvSpPr>
            <p:cNvPr id="51" name="Line 8">
              <a:extLst>
                <a:ext uri="{FF2B5EF4-FFF2-40B4-BE49-F238E27FC236}">
                  <a16:creationId xmlns:a16="http://schemas.microsoft.com/office/drawing/2014/main" id="{EEC8B951-38DC-D923-40E6-F794EA158918}"/>
                </a:ext>
              </a:extLst>
            </p:cNvPr>
            <p:cNvSpPr>
              <a:spLocks noChangeShapeType="1"/>
            </p:cNvSpPr>
            <p:nvPr/>
          </p:nvSpPr>
          <p:spPr bwMode="auto">
            <a:xfrm>
              <a:off x="4747" y="2541"/>
              <a:ext cx="1620" cy="3"/>
            </a:xfrm>
            <a:prstGeom prst="line">
              <a:avLst/>
            </a:prstGeom>
            <a:noFill/>
            <a:ln w="76200">
              <a:solidFill>
                <a:srgbClr val="339966"/>
              </a:solidFill>
              <a:prstDash val="sysDot"/>
              <a:round/>
              <a:headEnd/>
              <a:tailEnd/>
            </a:ln>
          </p:spPr>
          <p:txBody>
            <a:bodyPr/>
            <a:lstStyle/>
            <a:p>
              <a:pPr>
                <a:defRPr/>
              </a:pPr>
              <a:endParaRPr lang="pl-PL" sz="1600">
                <a:solidFill>
                  <a:schemeClr val="accent5">
                    <a:lumMod val="50000"/>
                  </a:schemeClr>
                </a:solidFill>
              </a:endParaRPr>
            </a:p>
          </p:txBody>
        </p:sp>
        <p:sp>
          <p:nvSpPr>
            <p:cNvPr id="52" name="Line 9">
              <a:extLst>
                <a:ext uri="{FF2B5EF4-FFF2-40B4-BE49-F238E27FC236}">
                  <a16:creationId xmlns:a16="http://schemas.microsoft.com/office/drawing/2014/main" id="{05B44C2B-EAE3-4314-08C6-619AC229CC48}"/>
                </a:ext>
              </a:extLst>
            </p:cNvPr>
            <p:cNvSpPr>
              <a:spLocks noChangeShapeType="1"/>
            </p:cNvSpPr>
            <p:nvPr/>
          </p:nvSpPr>
          <p:spPr bwMode="auto">
            <a:xfrm>
              <a:off x="4762" y="5166"/>
              <a:ext cx="1620" cy="3"/>
            </a:xfrm>
            <a:prstGeom prst="line">
              <a:avLst/>
            </a:prstGeom>
            <a:noFill/>
            <a:ln w="76200">
              <a:solidFill>
                <a:srgbClr val="339966"/>
              </a:solidFill>
              <a:prstDash val="sysDot"/>
              <a:round/>
              <a:headEnd/>
              <a:tailEnd/>
            </a:ln>
          </p:spPr>
          <p:txBody>
            <a:bodyPr/>
            <a:lstStyle/>
            <a:p>
              <a:pPr>
                <a:defRPr/>
              </a:pPr>
              <a:endParaRPr lang="pl-PL" sz="1600">
                <a:solidFill>
                  <a:schemeClr val="accent5">
                    <a:lumMod val="50000"/>
                  </a:schemeClr>
                </a:solidFill>
              </a:endParaRPr>
            </a:p>
          </p:txBody>
        </p:sp>
        <p:sp>
          <p:nvSpPr>
            <p:cNvPr id="53" name="Line 10">
              <a:extLst>
                <a:ext uri="{FF2B5EF4-FFF2-40B4-BE49-F238E27FC236}">
                  <a16:creationId xmlns:a16="http://schemas.microsoft.com/office/drawing/2014/main" id="{6E77982B-AA09-7BB2-1109-AA449B05892A}"/>
                </a:ext>
              </a:extLst>
            </p:cNvPr>
            <p:cNvSpPr>
              <a:spLocks noChangeShapeType="1"/>
            </p:cNvSpPr>
            <p:nvPr/>
          </p:nvSpPr>
          <p:spPr bwMode="auto">
            <a:xfrm>
              <a:off x="4762" y="4221"/>
              <a:ext cx="1620" cy="3"/>
            </a:xfrm>
            <a:prstGeom prst="line">
              <a:avLst/>
            </a:prstGeom>
            <a:noFill/>
            <a:ln w="76200">
              <a:solidFill>
                <a:srgbClr val="339966"/>
              </a:solidFill>
              <a:prstDash val="sysDot"/>
              <a:round/>
              <a:headEnd/>
              <a:tailEnd/>
            </a:ln>
          </p:spPr>
          <p:txBody>
            <a:bodyPr/>
            <a:lstStyle/>
            <a:p>
              <a:pPr>
                <a:defRPr/>
              </a:pPr>
              <a:endParaRPr lang="pl-PL" sz="1600">
                <a:solidFill>
                  <a:schemeClr val="accent5">
                    <a:lumMod val="50000"/>
                  </a:schemeClr>
                </a:solidFill>
              </a:endParaRPr>
            </a:p>
          </p:txBody>
        </p:sp>
        <p:sp>
          <p:nvSpPr>
            <p:cNvPr id="54" name="Line 11">
              <a:extLst>
                <a:ext uri="{FF2B5EF4-FFF2-40B4-BE49-F238E27FC236}">
                  <a16:creationId xmlns:a16="http://schemas.microsoft.com/office/drawing/2014/main" id="{36F911B0-B06D-B666-D818-AF7D4EB110CF}"/>
                </a:ext>
              </a:extLst>
            </p:cNvPr>
            <p:cNvSpPr>
              <a:spLocks noChangeShapeType="1"/>
            </p:cNvSpPr>
            <p:nvPr/>
          </p:nvSpPr>
          <p:spPr bwMode="auto">
            <a:xfrm flipV="1">
              <a:off x="5852" y="1978"/>
              <a:ext cx="0" cy="4710"/>
            </a:xfrm>
            <a:prstGeom prst="line">
              <a:avLst/>
            </a:prstGeom>
            <a:noFill/>
            <a:ln w="82550">
              <a:solidFill>
                <a:srgbClr val="808080"/>
              </a:solidFill>
              <a:round/>
              <a:headEnd type="oval" w="med" len="med"/>
              <a:tailEnd type="oval" w="med" len="med"/>
            </a:ln>
          </p:spPr>
          <p:txBody>
            <a:bodyPr/>
            <a:lstStyle/>
            <a:p>
              <a:pPr>
                <a:defRPr/>
              </a:pPr>
              <a:endParaRPr lang="pl-PL" sz="1600">
                <a:solidFill>
                  <a:schemeClr val="accent5">
                    <a:lumMod val="50000"/>
                  </a:schemeClr>
                </a:solidFill>
              </a:endParaRPr>
            </a:p>
          </p:txBody>
        </p:sp>
        <p:sp>
          <p:nvSpPr>
            <p:cNvPr id="55" name="Line 12">
              <a:extLst>
                <a:ext uri="{FF2B5EF4-FFF2-40B4-BE49-F238E27FC236}">
                  <a16:creationId xmlns:a16="http://schemas.microsoft.com/office/drawing/2014/main" id="{893FE334-2003-639D-7453-B752C1242DE5}"/>
                </a:ext>
              </a:extLst>
            </p:cNvPr>
            <p:cNvSpPr>
              <a:spLocks noChangeShapeType="1"/>
            </p:cNvSpPr>
            <p:nvPr/>
          </p:nvSpPr>
          <p:spPr bwMode="auto">
            <a:xfrm>
              <a:off x="5349" y="2541"/>
              <a:ext cx="1618" cy="3"/>
            </a:xfrm>
            <a:prstGeom prst="line">
              <a:avLst/>
            </a:prstGeom>
            <a:noFill/>
            <a:ln w="76200">
              <a:solidFill>
                <a:srgbClr val="FF0000"/>
              </a:solidFill>
              <a:prstDash val="sysDot"/>
              <a:round/>
              <a:headEnd/>
              <a:tailEnd/>
            </a:ln>
          </p:spPr>
          <p:txBody>
            <a:bodyPr/>
            <a:lstStyle/>
            <a:p>
              <a:pPr>
                <a:defRPr/>
              </a:pPr>
              <a:endParaRPr lang="pl-PL" sz="1600">
                <a:solidFill>
                  <a:schemeClr val="accent5">
                    <a:lumMod val="50000"/>
                  </a:schemeClr>
                </a:solidFill>
              </a:endParaRPr>
            </a:p>
          </p:txBody>
        </p:sp>
        <p:sp>
          <p:nvSpPr>
            <p:cNvPr id="56" name="Line 13">
              <a:extLst>
                <a:ext uri="{FF2B5EF4-FFF2-40B4-BE49-F238E27FC236}">
                  <a16:creationId xmlns:a16="http://schemas.microsoft.com/office/drawing/2014/main" id="{7DB803AA-C7DA-F318-3A22-8EB69527BDDB}"/>
                </a:ext>
              </a:extLst>
            </p:cNvPr>
            <p:cNvSpPr>
              <a:spLocks noChangeShapeType="1"/>
            </p:cNvSpPr>
            <p:nvPr/>
          </p:nvSpPr>
          <p:spPr bwMode="auto">
            <a:xfrm>
              <a:off x="5364" y="4223"/>
              <a:ext cx="1618" cy="0"/>
            </a:xfrm>
            <a:prstGeom prst="line">
              <a:avLst/>
            </a:prstGeom>
            <a:noFill/>
            <a:ln w="76200">
              <a:solidFill>
                <a:srgbClr val="FF0000"/>
              </a:solidFill>
              <a:prstDash val="sysDot"/>
              <a:round/>
              <a:headEnd/>
              <a:tailEnd/>
            </a:ln>
          </p:spPr>
          <p:txBody>
            <a:bodyPr/>
            <a:lstStyle/>
            <a:p>
              <a:pPr>
                <a:defRPr/>
              </a:pPr>
              <a:endParaRPr lang="pl-PL" sz="1600">
                <a:solidFill>
                  <a:schemeClr val="accent5">
                    <a:lumMod val="50000"/>
                  </a:schemeClr>
                </a:solidFill>
              </a:endParaRPr>
            </a:p>
          </p:txBody>
        </p:sp>
        <p:sp>
          <p:nvSpPr>
            <p:cNvPr id="57" name="Line 14">
              <a:extLst>
                <a:ext uri="{FF2B5EF4-FFF2-40B4-BE49-F238E27FC236}">
                  <a16:creationId xmlns:a16="http://schemas.microsoft.com/office/drawing/2014/main" id="{C2907D2D-B369-250A-80AF-C5D68F907261}"/>
                </a:ext>
              </a:extLst>
            </p:cNvPr>
            <p:cNvSpPr>
              <a:spLocks noChangeShapeType="1"/>
            </p:cNvSpPr>
            <p:nvPr/>
          </p:nvSpPr>
          <p:spPr bwMode="auto">
            <a:xfrm>
              <a:off x="5349" y="5166"/>
              <a:ext cx="1618" cy="3"/>
            </a:xfrm>
            <a:prstGeom prst="line">
              <a:avLst/>
            </a:prstGeom>
            <a:noFill/>
            <a:ln w="76200">
              <a:solidFill>
                <a:srgbClr val="FF0000"/>
              </a:solidFill>
              <a:prstDash val="sysDot"/>
              <a:round/>
              <a:headEnd/>
              <a:tailEnd/>
            </a:ln>
          </p:spPr>
          <p:txBody>
            <a:bodyPr/>
            <a:lstStyle/>
            <a:p>
              <a:pPr>
                <a:defRPr/>
              </a:pPr>
              <a:endParaRPr lang="pl-PL" sz="1600">
                <a:solidFill>
                  <a:schemeClr val="accent5">
                    <a:lumMod val="50000"/>
                  </a:schemeClr>
                </a:solidFill>
              </a:endParaRPr>
            </a:p>
          </p:txBody>
        </p:sp>
        <p:sp>
          <p:nvSpPr>
            <p:cNvPr id="58" name="Text Box 15">
              <a:extLst>
                <a:ext uri="{FF2B5EF4-FFF2-40B4-BE49-F238E27FC236}">
                  <a16:creationId xmlns:a16="http://schemas.microsoft.com/office/drawing/2014/main" id="{85C1D994-AEE5-2F17-04C0-5C24313EB394}"/>
                </a:ext>
              </a:extLst>
            </p:cNvPr>
            <p:cNvSpPr txBox="1">
              <a:spLocks noChangeArrowheads="1"/>
            </p:cNvSpPr>
            <p:nvPr/>
          </p:nvSpPr>
          <p:spPr bwMode="auto">
            <a:xfrm>
              <a:off x="4069" y="2248"/>
              <a:ext cx="1005" cy="675"/>
            </a:xfrm>
            <a:prstGeom prst="rect">
              <a:avLst/>
            </a:prstGeom>
            <a:noFill/>
            <a:ln w="9525">
              <a:noFill/>
              <a:miter lim="800000"/>
              <a:headEnd/>
              <a:tailEnd/>
            </a:ln>
          </p:spPr>
          <p:txBody>
            <a:bodyPr/>
            <a:lstStyle/>
            <a:p>
              <a:pPr>
                <a:defRPr/>
              </a:pPr>
              <a:r>
                <a:rPr lang="pl-PL" sz="1600" dirty="0">
                  <a:solidFill>
                    <a:schemeClr val="accent5">
                      <a:lumMod val="50000"/>
                    </a:schemeClr>
                  </a:solidFill>
                  <a:latin typeface="Garamond" pitchFamily="18" charset="0"/>
                </a:rPr>
                <a:t>b </a:t>
              </a:r>
              <a:r>
                <a:rPr lang="pl-PL" sz="1600" baseline="-25000" dirty="0">
                  <a:solidFill>
                    <a:schemeClr val="accent5">
                      <a:lumMod val="50000"/>
                    </a:schemeClr>
                  </a:solidFill>
                  <a:latin typeface="Garamond" pitchFamily="18" charset="0"/>
                </a:rPr>
                <a:t>3</a:t>
              </a:r>
              <a:endParaRPr lang="pl-PL" sz="1600" dirty="0">
                <a:solidFill>
                  <a:schemeClr val="accent5">
                    <a:lumMod val="50000"/>
                  </a:schemeClr>
                </a:solidFill>
              </a:endParaRPr>
            </a:p>
          </p:txBody>
        </p:sp>
        <p:sp>
          <p:nvSpPr>
            <p:cNvPr id="59" name="Text Box 16">
              <a:extLst>
                <a:ext uri="{FF2B5EF4-FFF2-40B4-BE49-F238E27FC236}">
                  <a16:creationId xmlns:a16="http://schemas.microsoft.com/office/drawing/2014/main" id="{65A7ADD3-FA79-13F6-48F4-34255C3C6826}"/>
                </a:ext>
              </a:extLst>
            </p:cNvPr>
            <p:cNvSpPr txBox="1">
              <a:spLocks noChangeArrowheads="1"/>
            </p:cNvSpPr>
            <p:nvPr/>
          </p:nvSpPr>
          <p:spPr bwMode="auto">
            <a:xfrm>
              <a:off x="4114" y="4858"/>
              <a:ext cx="705" cy="673"/>
            </a:xfrm>
            <a:prstGeom prst="rect">
              <a:avLst/>
            </a:prstGeom>
            <a:noFill/>
            <a:ln w="9525">
              <a:noFill/>
              <a:miter lim="800000"/>
              <a:headEnd/>
              <a:tailEnd/>
            </a:ln>
          </p:spPr>
          <p:txBody>
            <a:bodyPr/>
            <a:lstStyle/>
            <a:p>
              <a:pPr>
                <a:defRPr/>
              </a:pPr>
              <a:r>
                <a:rPr lang="pl-PL" sz="1600">
                  <a:solidFill>
                    <a:schemeClr val="accent5">
                      <a:lumMod val="50000"/>
                    </a:schemeClr>
                  </a:solidFill>
                  <a:latin typeface="Garamond" pitchFamily="18" charset="0"/>
                </a:rPr>
                <a:t>b </a:t>
              </a:r>
              <a:r>
                <a:rPr lang="pl-PL" sz="1600" baseline="-25000">
                  <a:solidFill>
                    <a:schemeClr val="accent5">
                      <a:lumMod val="50000"/>
                    </a:schemeClr>
                  </a:solidFill>
                  <a:latin typeface="Garamond" pitchFamily="18" charset="0"/>
                </a:rPr>
                <a:t>2</a:t>
              </a:r>
              <a:endParaRPr lang="pl-PL" sz="1600">
                <a:solidFill>
                  <a:schemeClr val="accent5">
                    <a:lumMod val="50000"/>
                  </a:schemeClr>
                </a:solidFill>
              </a:endParaRPr>
            </a:p>
          </p:txBody>
        </p:sp>
        <p:sp>
          <p:nvSpPr>
            <p:cNvPr id="60" name="Text Box 17">
              <a:extLst>
                <a:ext uri="{FF2B5EF4-FFF2-40B4-BE49-F238E27FC236}">
                  <a16:creationId xmlns:a16="http://schemas.microsoft.com/office/drawing/2014/main" id="{13E5B699-91B9-EC66-91BA-E9AD6103DC1D}"/>
                </a:ext>
              </a:extLst>
            </p:cNvPr>
            <p:cNvSpPr txBox="1">
              <a:spLocks noChangeArrowheads="1"/>
            </p:cNvSpPr>
            <p:nvPr/>
          </p:nvSpPr>
          <p:spPr bwMode="auto">
            <a:xfrm>
              <a:off x="4129" y="3943"/>
              <a:ext cx="975" cy="673"/>
            </a:xfrm>
            <a:prstGeom prst="rect">
              <a:avLst/>
            </a:prstGeom>
            <a:noFill/>
            <a:ln w="9525">
              <a:noFill/>
              <a:miter lim="800000"/>
              <a:headEnd/>
              <a:tailEnd/>
            </a:ln>
          </p:spPr>
          <p:txBody>
            <a:bodyPr/>
            <a:lstStyle/>
            <a:p>
              <a:pPr>
                <a:defRPr/>
              </a:pPr>
              <a:r>
                <a:rPr lang="pl-PL" sz="1600" dirty="0">
                  <a:solidFill>
                    <a:schemeClr val="accent5">
                      <a:lumMod val="50000"/>
                    </a:schemeClr>
                  </a:solidFill>
                  <a:latin typeface="Garamond" pitchFamily="18" charset="0"/>
                </a:rPr>
                <a:t>b </a:t>
              </a:r>
              <a:r>
                <a:rPr lang="pl-PL" sz="1600" baseline="-25000" dirty="0">
                  <a:solidFill>
                    <a:schemeClr val="accent5">
                      <a:lumMod val="50000"/>
                    </a:schemeClr>
                  </a:solidFill>
                  <a:latin typeface="Garamond" pitchFamily="18" charset="0"/>
                </a:rPr>
                <a:t>1</a:t>
              </a:r>
              <a:endParaRPr lang="pl-PL" sz="1600" dirty="0">
                <a:solidFill>
                  <a:schemeClr val="accent5">
                    <a:lumMod val="50000"/>
                  </a:schemeClr>
                </a:solidFill>
              </a:endParaRPr>
            </a:p>
          </p:txBody>
        </p:sp>
        <p:sp>
          <p:nvSpPr>
            <p:cNvPr id="61" name="Text Box 18">
              <a:extLst>
                <a:ext uri="{FF2B5EF4-FFF2-40B4-BE49-F238E27FC236}">
                  <a16:creationId xmlns:a16="http://schemas.microsoft.com/office/drawing/2014/main" id="{4B2B683D-780C-8202-3EAA-1FDCDB8FD14E}"/>
                </a:ext>
              </a:extLst>
            </p:cNvPr>
            <p:cNvSpPr txBox="1">
              <a:spLocks noChangeArrowheads="1"/>
            </p:cNvSpPr>
            <p:nvPr/>
          </p:nvSpPr>
          <p:spPr bwMode="auto">
            <a:xfrm>
              <a:off x="5409" y="1716"/>
              <a:ext cx="1425" cy="840"/>
            </a:xfrm>
            <a:prstGeom prst="rect">
              <a:avLst/>
            </a:prstGeom>
            <a:noFill/>
            <a:ln w="9525">
              <a:noFill/>
              <a:miter lim="800000"/>
              <a:headEnd/>
              <a:tailEnd/>
            </a:ln>
          </p:spPr>
          <p:txBody>
            <a:bodyPr/>
            <a:lstStyle/>
            <a:p>
              <a:pPr>
                <a:defRPr/>
              </a:pPr>
              <a:r>
                <a:rPr lang="pl-PL" sz="1600" dirty="0">
                  <a:solidFill>
                    <a:schemeClr val="accent5">
                      <a:lumMod val="50000"/>
                    </a:schemeClr>
                  </a:solidFill>
                  <a:latin typeface="Garamond" pitchFamily="18" charset="0"/>
                </a:rPr>
                <a:t>300</a:t>
              </a:r>
              <a:endParaRPr lang="pl-PL" sz="1600" dirty="0">
                <a:solidFill>
                  <a:schemeClr val="accent5">
                    <a:lumMod val="50000"/>
                  </a:schemeClr>
                </a:solidFill>
              </a:endParaRPr>
            </a:p>
          </p:txBody>
        </p:sp>
        <p:sp>
          <p:nvSpPr>
            <p:cNvPr id="62" name="Text Box 19">
              <a:extLst>
                <a:ext uri="{FF2B5EF4-FFF2-40B4-BE49-F238E27FC236}">
                  <a16:creationId xmlns:a16="http://schemas.microsoft.com/office/drawing/2014/main" id="{C7664092-BAE8-6A90-C501-D58D828936A0}"/>
                </a:ext>
              </a:extLst>
            </p:cNvPr>
            <p:cNvSpPr txBox="1">
              <a:spLocks noChangeArrowheads="1"/>
            </p:cNvSpPr>
            <p:nvPr/>
          </p:nvSpPr>
          <p:spPr bwMode="auto">
            <a:xfrm>
              <a:off x="5424" y="6426"/>
              <a:ext cx="1425" cy="840"/>
            </a:xfrm>
            <a:prstGeom prst="rect">
              <a:avLst/>
            </a:prstGeom>
            <a:noFill/>
            <a:ln w="9525">
              <a:noFill/>
              <a:miter lim="800000"/>
              <a:headEnd/>
              <a:tailEnd/>
            </a:ln>
          </p:spPr>
          <p:txBody>
            <a:bodyPr/>
            <a:lstStyle/>
            <a:p>
              <a:pPr>
                <a:defRPr/>
              </a:pPr>
              <a:r>
                <a:rPr lang="pl-PL" sz="1600" dirty="0">
                  <a:solidFill>
                    <a:schemeClr val="accent5">
                      <a:lumMod val="50000"/>
                    </a:schemeClr>
                  </a:solidFill>
                  <a:latin typeface="Garamond" pitchFamily="18" charset="0"/>
                </a:rPr>
                <a:t>100</a:t>
              </a:r>
              <a:endParaRPr lang="pl-PL" sz="1600" dirty="0">
                <a:solidFill>
                  <a:schemeClr val="accent5">
                    <a:lumMod val="50000"/>
                  </a:schemeClr>
                </a:solidFill>
              </a:endParaRPr>
            </a:p>
          </p:txBody>
        </p:sp>
        <p:sp>
          <p:nvSpPr>
            <p:cNvPr id="63" name="Text Box 20">
              <a:extLst>
                <a:ext uri="{FF2B5EF4-FFF2-40B4-BE49-F238E27FC236}">
                  <a16:creationId xmlns:a16="http://schemas.microsoft.com/office/drawing/2014/main" id="{0BBCD01E-50EA-68FF-C80F-29A8434F4F17}"/>
                </a:ext>
              </a:extLst>
            </p:cNvPr>
            <p:cNvSpPr txBox="1">
              <a:spLocks noChangeArrowheads="1"/>
            </p:cNvSpPr>
            <p:nvPr/>
          </p:nvSpPr>
          <p:spPr bwMode="auto">
            <a:xfrm>
              <a:off x="6152" y="3913"/>
              <a:ext cx="645" cy="628"/>
            </a:xfrm>
            <a:prstGeom prst="rect">
              <a:avLst/>
            </a:prstGeom>
            <a:solidFill>
              <a:srgbClr val="008000"/>
            </a:solidFill>
            <a:ln w="9525">
              <a:noFill/>
              <a:miter lim="800000"/>
              <a:headEnd/>
              <a:tailEnd/>
            </a:ln>
          </p:spPr>
          <p:txBody>
            <a:bodyPr/>
            <a:lstStyle/>
            <a:p>
              <a:pPr>
                <a:defRPr/>
              </a:pPr>
              <a:r>
                <a:rPr lang="pl-PL" sz="1600">
                  <a:solidFill>
                    <a:schemeClr val="accent5">
                      <a:lumMod val="50000"/>
                    </a:schemeClr>
                  </a:solidFill>
                  <a:latin typeface="Garamond" pitchFamily="18" charset="0"/>
                </a:rPr>
                <a:t>P</a:t>
              </a:r>
              <a:endParaRPr lang="pl-PL" sz="1600">
                <a:solidFill>
                  <a:schemeClr val="accent5">
                    <a:lumMod val="50000"/>
                  </a:schemeClr>
                </a:solidFill>
              </a:endParaRPr>
            </a:p>
          </p:txBody>
        </p:sp>
        <p:sp>
          <p:nvSpPr>
            <p:cNvPr id="64" name="Line 21">
              <a:extLst>
                <a:ext uri="{FF2B5EF4-FFF2-40B4-BE49-F238E27FC236}">
                  <a16:creationId xmlns:a16="http://schemas.microsoft.com/office/drawing/2014/main" id="{231C9D71-7A7F-E16F-0CC1-871273C295A7}"/>
                </a:ext>
              </a:extLst>
            </p:cNvPr>
            <p:cNvSpPr>
              <a:spLocks noChangeShapeType="1"/>
            </p:cNvSpPr>
            <p:nvPr/>
          </p:nvSpPr>
          <p:spPr bwMode="auto">
            <a:xfrm>
              <a:off x="5469" y="2513"/>
              <a:ext cx="0" cy="1695"/>
            </a:xfrm>
            <a:prstGeom prst="line">
              <a:avLst/>
            </a:prstGeom>
            <a:noFill/>
            <a:ln w="63500">
              <a:solidFill>
                <a:srgbClr val="993366"/>
              </a:solidFill>
              <a:round/>
              <a:headEnd type="triangle" w="med" len="med"/>
              <a:tailEnd type="triangle" w="med" len="med"/>
            </a:ln>
          </p:spPr>
          <p:txBody>
            <a:bodyPr/>
            <a:lstStyle/>
            <a:p>
              <a:pPr>
                <a:defRPr/>
              </a:pPr>
              <a:endParaRPr lang="pl-PL" sz="1600">
                <a:solidFill>
                  <a:schemeClr val="accent5">
                    <a:lumMod val="50000"/>
                  </a:schemeClr>
                </a:solidFill>
              </a:endParaRPr>
            </a:p>
          </p:txBody>
        </p:sp>
      </p:grpSp>
      <p:pic>
        <p:nvPicPr>
          <p:cNvPr id="65" name="Picture 24">
            <a:extLst>
              <a:ext uri="{FF2B5EF4-FFF2-40B4-BE49-F238E27FC236}">
                <a16:creationId xmlns:a16="http://schemas.microsoft.com/office/drawing/2014/main" id="{96D48DB4-C458-0983-C806-4F85ECC369B8}"/>
              </a:ext>
            </a:extLst>
          </p:cNvPr>
          <p:cNvPicPr>
            <a:picLocks noChangeAspect="1" noChangeArrowheads="1"/>
          </p:cNvPicPr>
          <p:nvPr/>
        </p:nvPicPr>
        <p:blipFill>
          <a:blip r:embed="rId2"/>
          <a:srcRect/>
          <a:stretch>
            <a:fillRect/>
          </a:stretch>
        </p:blipFill>
        <p:spPr bwMode="auto">
          <a:xfrm>
            <a:off x="9601144" y="2185232"/>
            <a:ext cx="1685925" cy="1685925"/>
          </a:xfrm>
          <a:prstGeom prst="rect">
            <a:avLst/>
          </a:prstGeom>
          <a:ln>
            <a:noFill/>
          </a:ln>
          <a:effectLst>
            <a:outerShdw blurRad="292100" dist="139700" dir="2700000" algn="tl" rotWithShape="0">
              <a:srgbClr val="333333">
                <a:alpha val="65000"/>
              </a:srgbClr>
            </a:outerShdw>
          </a:effectLst>
        </p:spPr>
      </p:pic>
      <p:sp>
        <p:nvSpPr>
          <p:cNvPr id="66" name="Symbol zastępczy zawartości 2">
            <a:extLst>
              <a:ext uri="{FF2B5EF4-FFF2-40B4-BE49-F238E27FC236}">
                <a16:creationId xmlns:a16="http://schemas.microsoft.com/office/drawing/2014/main" id="{85C30E32-3DE0-4135-3A92-50007DC3E675}"/>
              </a:ext>
            </a:extLst>
          </p:cNvPr>
          <p:cNvSpPr txBox="1">
            <a:spLocks/>
          </p:cNvSpPr>
          <p:nvPr/>
        </p:nvSpPr>
        <p:spPr>
          <a:xfrm>
            <a:off x="9467794" y="3979107"/>
            <a:ext cx="1990725" cy="587375"/>
          </a:xfrm>
          <a:prstGeom prst="rect">
            <a:avLst/>
          </a:prstGeom>
        </p:spPr>
        <p:txBody>
          <a:bodyPr>
            <a:normAutofit fontScale="85000" lnSpcReduction="20000"/>
          </a:bodyPr>
          <a:lstStyle/>
          <a:p>
            <a:pPr marL="0" lvl="1" algn="ctr" fontAlgn="auto">
              <a:spcBef>
                <a:spcPct val="20000"/>
              </a:spcBef>
              <a:spcAft>
                <a:spcPts val="0"/>
              </a:spcAft>
              <a:buFont typeface="Arial" charset="0"/>
              <a:buNone/>
              <a:defRPr/>
            </a:pPr>
            <a:r>
              <a:rPr lang="pl-PL" sz="2000" dirty="0">
                <a:solidFill>
                  <a:schemeClr val="accent5">
                    <a:lumMod val="50000"/>
                  </a:schemeClr>
                </a:solidFill>
                <a:latin typeface="+mn-lt"/>
              </a:rPr>
              <a:t>William </a:t>
            </a:r>
            <a:r>
              <a:rPr lang="pl-PL" sz="2000" dirty="0" err="1">
                <a:solidFill>
                  <a:schemeClr val="accent5">
                    <a:lumMod val="50000"/>
                  </a:schemeClr>
                </a:solidFill>
                <a:latin typeface="+mn-lt"/>
              </a:rPr>
              <a:t>Vickrey</a:t>
            </a:r>
            <a:endParaRPr lang="pl-PL" sz="2000" dirty="0">
              <a:solidFill>
                <a:schemeClr val="accent5">
                  <a:lumMod val="50000"/>
                </a:schemeClr>
              </a:solidFill>
              <a:latin typeface="+mn-lt"/>
            </a:endParaRPr>
          </a:p>
          <a:p>
            <a:pPr marL="0" lvl="1" algn="ctr" fontAlgn="auto">
              <a:spcBef>
                <a:spcPct val="20000"/>
              </a:spcBef>
              <a:spcAft>
                <a:spcPts val="0"/>
              </a:spcAft>
              <a:buFont typeface="Arial" charset="0"/>
              <a:buNone/>
              <a:defRPr/>
            </a:pPr>
            <a:r>
              <a:rPr lang="pl-PL" sz="2000" dirty="0">
                <a:solidFill>
                  <a:schemeClr val="accent5">
                    <a:lumMod val="50000"/>
                  </a:schemeClr>
                </a:solidFill>
                <a:latin typeface="+mn-lt"/>
              </a:rPr>
              <a:t>(1914-1996)</a:t>
            </a:r>
            <a:endParaRPr lang="pl-PL" sz="2400" dirty="0">
              <a:solidFill>
                <a:schemeClr val="accent5">
                  <a:lumMod val="50000"/>
                </a:schemeClr>
              </a:solidFill>
              <a:latin typeface="+mn-lt"/>
            </a:endParaRPr>
          </a:p>
        </p:txBody>
      </p:sp>
    </p:spTree>
    <p:extLst>
      <p:ext uri="{BB962C8B-B14F-4D97-AF65-F5344CB8AC3E}">
        <p14:creationId xmlns:p14="http://schemas.microsoft.com/office/powerpoint/2010/main" val="3846017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629C1-0737-335E-A230-AECB1DF9072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DC52F272-9042-B5A6-0543-546E473A1655}"/>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a:solidFill>
                  <a:srgbClr val="4BACC6">
                    <a:lumMod val="50000"/>
                  </a:srgbClr>
                </a:solidFill>
              </a:rPr>
              <a:t>Second </a:t>
            </a:r>
            <a:r>
              <a:rPr lang="en-US" b="1" noProof="0" dirty="0">
                <a:solidFill>
                  <a:srgbClr val="4BACC6">
                    <a:lumMod val="50000"/>
                  </a:srgbClr>
                </a:solidFill>
              </a:rPr>
              <a:t>-Degree Price Discrimination </a:t>
            </a:r>
            <a:endParaRPr lang="pl-PL" b="1" noProof="0" dirty="0">
              <a:solidFill>
                <a:srgbClr val="4BACC6">
                  <a:lumMod val="50000"/>
                </a:srgbClr>
              </a:solidFill>
            </a:endParaRPr>
          </a:p>
          <a:p>
            <a:r>
              <a:rPr lang="en-US" b="1" noProof="0" dirty="0">
                <a:solidFill>
                  <a:srgbClr val="4BACC6">
                    <a:lumMod val="50000"/>
                  </a:srgbClr>
                </a:solidFill>
              </a:rPr>
              <a:t>(Price depends on the quantity purchased)</a:t>
            </a:r>
          </a:p>
        </p:txBody>
      </p:sp>
      <p:sp>
        <p:nvSpPr>
          <p:cNvPr id="47" name="TextBox 46">
            <a:extLst>
              <a:ext uri="{FF2B5EF4-FFF2-40B4-BE49-F238E27FC236}">
                <a16:creationId xmlns:a16="http://schemas.microsoft.com/office/drawing/2014/main" id="{4E2726FB-9F05-F128-598B-B3960D3FB81D}"/>
              </a:ext>
            </a:extLst>
          </p:cNvPr>
          <p:cNvSpPr txBox="1"/>
          <p:nvPr/>
        </p:nvSpPr>
        <p:spPr>
          <a:xfrm>
            <a:off x="4440876" y="1175414"/>
            <a:ext cx="7676532" cy="5466112"/>
          </a:xfrm>
          <a:prstGeom prst="rect">
            <a:avLst/>
          </a:prstGeom>
          <a:noFill/>
        </p:spPr>
        <p:txBody>
          <a:bodyPr wrap="square">
            <a:spAutoFit/>
          </a:bodyPr>
          <a:lstStyle/>
          <a:p>
            <a:pPr lvl="0" algn="just">
              <a:spcBef>
                <a:spcPct val="20000"/>
              </a:spcBef>
              <a:defRPr/>
            </a:pPr>
            <a:r>
              <a:rPr lang="en-US" dirty="0">
                <a:solidFill>
                  <a:schemeClr val="accent5">
                    <a:lumMod val="50000"/>
                  </a:schemeClr>
                </a:solidFill>
              </a:rPr>
              <a:t>The price is determined by the quantity of the good purchased.</a:t>
            </a:r>
          </a:p>
          <a:p>
            <a:pPr lvl="0" algn="just">
              <a:spcBef>
                <a:spcPct val="20000"/>
              </a:spcBef>
              <a:defRPr/>
            </a:pPr>
            <a:r>
              <a:rPr lang="en-US" dirty="0">
                <a:solidFill>
                  <a:schemeClr val="accent5">
                    <a:lumMod val="50000"/>
                  </a:schemeClr>
                </a:solidFill>
              </a:rPr>
              <a:t>Larger quantities are often offered at lower unit prices, encouraging higher consumption.</a:t>
            </a:r>
          </a:p>
          <a:p>
            <a:pPr lvl="0" algn="just">
              <a:spcBef>
                <a:spcPct val="20000"/>
              </a:spcBef>
              <a:defRPr/>
            </a:pPr>
            <a:endParaRPr lang="en-US" dirty="0">
              <a:solidFill>
                <a:schemeClr val="accent5">
                  <a:lumMod val="50000"/>
                </a:schemeClr>
              </a:solidFill>
            </a:endParaRPr>
          </a:p>
          <a:p>
            <a:pPr lvl="0" algn="just">
              <a:spcBef>
                <a:spcPct val="20000"/>
              </a:spcBef>
              <a:defRPr/>
            </a:pPr>
            <a:r>
              <a:rPr lang="en-US" dirty="0">
                <a:solidFill>
                  <a:schemeClr val="accent5">
                    <a:lumMod val="50000"/>
                  </a:schemeClr>
                </a:solidFill>
              </a:rPr>
              <a:t>This type of price discrimination is common in scenarios where the seller cannot perfectly distinguish between consumers' willingness to pay but can offer pricing tiers based on consumption levels. Examples include bulk discounts, tiered pricing in utilities, or subscription models with volume-based pricing.</a:t>
            </a:r>
            <a:endParaRPr lang="pl-PL" dirty="0">
              <a:solidFill>
                <a:schemeClr val="accent5">
                  <a:lumMod val="50000"/>
                </a:schemeClr>
              </a:solidFill>
            </a:endParaRPr>
          </a:p>
          <a:p>
            <a:pPr lvl="0" algn="just">
              <a:spcBef>
                <a:spcPct val="20000"/>
              </a:spcBef>
              <a:defRPr/>
            </a:pPr>
            <a:endParaRPr lang="pl-PL" b="1" dirty="0">
              <a:solidFill>
                <a:schemeClr val="accent5">
                  <a:lumMod val="50000"/>
                </a:schemeClr>
              </a:solidFill>
            </a:endParaRPr>
          </a:p>
          <a:p>
            <a:pPr lvl="0" algn="just">
              <a:spcBef>
                <a:spcPct val="20000"/>
              </a:spcBef>
              <a:defRPr/>
            </a:pPr>
            <a:r>
              <a:rPr lang="en-US" b="1" dirty="0">
                <a:solidFill>
                  <a:schemeClr val="accent5">
                    <a:lumMod val="50000"/>
                  </a:schemeClr>
                </a:solidFill>
              </a:rPr>
              <a:t>Buy </a:t>
            </a:r>
            <a:r>
              <a:rPr lang="pl-PL" b="1" dirty="0">
                <a:solidFill>
                  <a:schemeClr val="accent5">
                    <a:lumMod val="50000"/>
                  </a:schemeClr>
                </a:solidFill>
              </a:rPr>
              <a:t>2</a:t>
            </a:r>
            <a:r>
              <a:rPr lang="en-US" b="1" dirty="0">
                <a:solidFill>
                  <a:schemeClr val="accent5">
                    <a:lumMod val="50000"/>
                  </a:schemeClr>
                </a:solidFill>
              </a:rPr>
              <a:t>, Get 1 Free</a:t>
            </a:r>
            <a:r>
              <a:rPr lang="pl-PL" b="1" dirty="0">
                <a:solidFill>
                  <a:schemeClr val="accent5">
                    <a:lumMod val="50000"/>
                  </a:schemeClr>
                </a:solidFill>
              </a:rPr>
              <a:t> </a:t>
            </a:r>
            <a:r>
              <a:rPr lang="en-US" dirty="0">
                <a:solidFill>
                  <a:schemeClr val="accent5">
                    <a:lumMod val="50000"/>
                  </a:schemeClr>
                </a:solidFill>
              </a:rPr>
              <a:t>This is an example of second-degree price discrimination, where the price per unit decreases as the quantity purchased increases. The consumer pays for </a:t>
            </a:r>
            <a:r>
              <a:rPr lang="pl-PL" dirty="0" err="1">
                <a:solidFill>
                  <a:schemeClr val="accent5">
                    <a:lumMod val="50000"/>
                  </a:schemeClr>
                </a:solidFill>
              </a:rPr>
              <a:t>two</a:t>
            </a:r>
            <a:r>
              <a:rPr lang="en-US" dirty="0">
                <a:solidFill>
                  <a:schemeClr val="accent5">
                    <a:lumMod val="50000"/>
                  </a:schemeClr>
                </a:solidFill>
              </a:rPr>
              <a:t> items but receives </a:t>
            </a:r>
            <a:r>
              <a:rPr lang="pl-PL" dirty="0" err="1">
                <a:solidFill>
                  <a:schemeClr val="accent5">
                    <a:lumMod val="50000"/>
                  </a:schemeClr>
                </a:solidFill>
              </a:rPr>
              <a:t>three</a:t>
            </a:r>
            <a:r>
              <a:rPr lang="en-US" dirty="0">
                <a:solidFill>
                  <a:schemeClr val="accent5">
                    <a:lumMod val="50000"/>
                  </a:schemeClr>
                </a:solidFill>
              </a:rPr>
              <a:t>, effectively lowering the average price per item.</a:t>
            </a:r>
            <a:r>
              <a:rPr lang="pl-PL" dirty="0">
                <a:solidFill>
                  <a:schemeClr val="accent5">
                    <a:lumMod val="50000"/>
                  </a:schemeClr>
                </a:solidFill>
              </a:rPr>
              <a:t> </a:t>
            </a:r>
            <a:r>
              <a:rPr lang="en-US" dirty="0">
                <a:solidFill>
                  <a:schemeClr val="accent5">
                    <a:lumMod val="50000"/>
                  </a:schemeClr>
                </a:solidFill>
              </a:rPr>
              <a:t>Supermarkets or retail stores often use this strategy for products like snacks, drinks, or personal care items to increase sales volume.</a:t>
            </a:r>
          </a:p>
          <a:p>
            <a:pPr lvl="0" algn="just">
              <a:spcBef>
                <a:spcPct val="20000"/>
              </a:spcBef>
              <a:defRPr/>
            </a:pPr>
            <a:endParaRPr lang="en-US" dirty="0">
              <a:solidFill>
                <a:schemeClr val="accent5">
                  <a:lumMod val="50000"/>
                </a:schemeClr>
              </a:solidFill>
            </a:endParaRPr>
          </a:p>
          <a:p>
            <a:pPr lvl="0" algn="just">
              <a:spcBef>
                <a:spcPct val="20000"/>
              </a:spcBef>
              <a:defRPr/>
            </a:pPr>
            <a:r>
              <a:rPr lang="en-US" b="1" dirty="0">
                <a:solidFill>
                  <a:schemeClr val="accent5">
                    <a:lumMod val="50000"/>
                  </a:schemeClr>
                </a:solidFill>
              </a:rPr>
              <a:t>Wholesale and Retail Prices</a:t>
            </a:r>
            <a:r>
              <a:rPr lang="pl-PL" b="1" dirty="0">
                <a:solidFill>
                  <a:schemeClr val="accent5">
                    <a:lumMod val="50000"/>
                  </a:schemeClr>
                </a:solidFill>
              </a:rPr>
              <a:t> </a:t>
            </a:r>
            <a:r>
              <a:rPr lang="en-US" dirty="0">
                <a:solidFill>
                  <a:schemeClr val="accent5">
                    <a:lumMod val="50000"/>
                  </a:schemeClr>
                </a:solidFill>
              </a:rPr>
              <a:t>This is another form of second-degree price discrimination, where different prices are set for customers based on the quantity they purchase.</a:t>
            </a:r>
          </a:p>
        </p:txBody>
      </p:sp>
      <p:grpSp>
        <p:nvGrpSpPr>
          <p:cNvPr id="48" name="Group 47">
            <a:extLst>
              <a:ext uri="{FF2B5EF4-FFF2-40B4-BE49-F238E27FC236}">
                <a16:creationId xmlns:a16="http://schemas.microsoft.com/office/drawing/2014/main" id="{5FA10DC0-CCF8-0AC1-42FE-7F35960C57CD}"/>
              </a:ext>
            </a:extLst>
          </p:cNvPr>
          <p:cNvGrpSpPr/>
          <p:nvPr/>
        </p:nvGrpSpPr>
        <p:grpSpPr>
          <a:xfrm>
            <a:off x="134274" y="1550046"/>
            <a:ext cx="4240387" cy="4316428"/>
            <a:chOff x="500034" y="2285992"/>
            <a:chExt cx="4240387" cy="4316428"/>
          </a:xfrm>
        </p:grpSpPr>
        <p:sp>
          <p:nvSpPr>
            <p:cNvPr id="49" name="Prostokąt 129">
              <a:extLst>
                <a:ext uri="{FF2B5EF4-FFF2-40B4-BE49-F238E27FC236}">
                  <a16:creationId xmlns:a16="http://schemas.microsoft.com/office/drawing/2014/main" id="{15BA5129-5E99-DDAC-EC52-0201B2C15797}"/>
                </a:ext>
              </a:extLst>
            </p:cNvPr>
            <p:cNvSpPr/>
            <p:nvPr/>
          </p:nvSpPr>
          <p:spPr>
            <a:xfrm>
              <a:off x="1142976" y="3500438"/>
              <a:ext cx="642942" cy="2214578"/>
            </a:xfrm>
            <a:prstGeom prst="rect">
              <a:avLst/>
            </a:prstGeom>
            <a:solidFill>
              <a:schemeClr val="accent3">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50" name="Prostokąt 130">
              <a:extLst>
                <a:ext uri="{FF2B5EF4-FFF2-40B4-BE49-F238E27FC236}">
                  <a16:creationId xmlns:a16="http://schemas.microsoft.com/office/drawing/2014/main" id="{DC1B4BF0-0922-8EFA-2C16-AB66301A7FD1}"/>
                </a:ext>
              </a:extLst>
            </p:cNvPr>
            <p:cNvSpPr/>
            <p:nvPr/>
          </p:nvSpPr>
          <p:spPr>
            <a:xfrm>
              <a:off x="1785918" y="4929198"/>
              <a:ext cx="1214446" cy="785818"/>
            </a:xfrm>
            <a:prstGeom prst="rect">
              <a:avLst/>
            </a:prstGeom>
            <a:solidFill>
              <a:schemeClr val="accent3">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51" name="Trójkąt równoramienny 133">
              <a:extLst>
                <a:ext uri="{FF2B5EF4-FFF2-40B4-BE49-F238E27FC236}">
                  <a16:creationId xmlns:a16="http://schemas.microsoft.com/office/drawing/2014/main" id="{FBC11BBD-9D1B-1A68-2965-6D02057D2C45}"/>
                </a:ext>
              </a:extLst>
            </p:cNvPr>
            <p:cNvSpPr/>
            <p:nvPr/>
          </p:nvSpPr>
          <p:spPr>
            <a:xfrm>
              <a:off x="1142976" y="2643182"/>
              <a:ext cx="714380" cy="857256"/>
            </a:xfrm>
            <a:prstGeom prst="triangle">
              <a:avLst>
                <a:gd name="adj" fmla="val 0"/>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2" name="Trójkąt równoramienny 132">
              <a:extLst>
                <a:ext uri="{FF2B5EF4-FFF2-40B4-BE49-F238E27FC236}">
                  <a16:creationId xmlns:a16="http://schemas.microsoft.com/office/drawing/2014/main" id="{A71C6B63-72AC-FFF4-BCAC-5C95DE89A842}"/>
                </a:ext>
              </a:extLst>
            </p:cNvPr>
            <p:cNvSpPr/>
            <p:nvPr/>
          </p:nvSpPr>
          <p:spPr>
            <a:xfrm>
              <a:off x="1785918" y="3429000"/>
              <a:ext cx="1214446" cy="1500198"/>
            </a:xfrm>
            <a:prstGeom prst="triangle">
              <a:avLst>
                <a:gd name="adj" fmla="val 0"/>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3" name="Trójkąt równoramienny 131">
              <a:extLst>
                <a:ext uri="{FF2B5EF4-FFF2-40B4-BE49-F238E27FC236}">
                  <a16:creationId xmlns:a16="http://schemas.microsoft.com/office/drawing/2014/main" id="{A94220AC-D834-3FC2-3192-15F779C27672}"/>
                </a:ext>
              </a:extLst>
            </p:cNvPr>
            <p:cNvSpPr/>
            <p:nvPr/>
          </p:nvSpPr>
          <p:spPr>
            <a:xfrm>
              <a:off x="3000364" y="4857760"/>
              <a:ext cx="642942" cy="857256"/>
            </a:xfrm>
            <a:prstGeom prst="triangle">
              <a:avLst>
                <a:gd name="adj" fmla="val 0"/>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cxnSp>
          <p:nvCxnSpPr>
            <p:cNvPr id="54" name="Łącznik prosty 48">
              <a:extLst>
                <a:ext uri="{FF2B5EF4-FFF2-40B4-BE49-F238E27FC236}">
                  <a16:creationId xmlns:a16="http://schemas.microsoft.com/office/drawing/2014/main" id="{5712D125-F948-F987-0910-9FB10E91C319}"/>
                </a:ext>
              </a:extLst>
            </p:cNvPr>
            <p:cNvCxnSpPr/>
            <p:nvPr/>
          </p:nvCxnSpPr>
          <p:spPr>
            <a:xfrm>
              <a:off x="928662" y="5714992"/>
              <a:ext cx="3071834" cy="1588"/>
            </a:xfrm>
            <a:prstGeom prst="line">
              <a:avLst/>
            </a:prstGeom>
          </p:spPr>
          <p:style>
            <a:lnRef idx="3">
              <a:schemeClr val="accent5"/>
            </a:lnRef>
            <a:fillRef idx="0">
              <a:schemeClr val="accent5"/>
            </a:fillRef>
            <a:effectRef idx="2">
              <a:schemeClr val="accent5"/>
            </a:effectRef>
            <a:fontRef idx="minor">
              <a:schemeClr val="tx1"/>
            </a:fontRef>
          </p:style>
        </p:cxnSp>
        <p:sp>
          <p:nvSpPr>
            <p:cNvPr id="55" name="Podtytuł 2">
              <a:extLst>
                <a:ext uri="{FF2B5EF4-FFF2-40B4-BE49-F238E27FC236}">
                  <a16:creationId xmlns:a16="http://schemas.microsoft.com/office/drawing/2014/main" id="{197F2D55-DDDB-2D49-3ADB-90142253F199}"/>
                </a:ext>
              </a:extLst>
            </p:cNvPr>
            <p:cNvSpPr txBox="1">
              <a:spLocks/>
            </p:cNvSpPr>
            <p:nvPr/>
          </p:nvSpPr>
          <p:spPr>
            <a:xfrm>
              <a:off x="537341" y="2460224"/>
              <a:ext cx="496890"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P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cxnSp>
          <p:nvCxnSpPr>
            <p:cNvPr id="56" name="Łącznik prosty ze strzałką 52">
              <a:extLst>
                <a:ext uri="{FF2B5EF4-FFF2-40B4-BE49-F238E27FC236}">
                  <a16:creationId xmlns:a16="http://schemas.microsoft.com/office/drawing/2014/main" id="{6A0494E7-979B-E0CB-D1AB-029390FFFD63}"/>
                </a:ext>
              </a:extLst>
            </p:cNvPr>
            <p:cNvCxnSpPr/>
            <p:nvPr/>
          </p:nvCxnSpPr>
          <p:spPr>
            <a:xfrm rot="5400000" flipH="1" flipV="1">
              <a:off x="-892213" y="4321181"/>
              <a:ext cx="4071172"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57" name="Podtytuł 2">
              <a:extLst>
                <a:ext uri="{FF2B5EF4-FFF2-40B4-BE49-F238E27FC236}">
                  <a16:creationId xmlns:a16="http://schemas.microsoft.com/office/drawing/2014/main" id="{783862B3-3777-03FB-1633-D5EE41CDF85D}"/>
                </a:ext>
              </a:extLst>
            </p:cNvPr>
            <p:cNvSpPr txBox="1">
              <a:spLocks/>
            </p:cNvSpPr>
            <p:nvPr/>
          </p:nvSpPr>
          <p:spPr>
            <a:xfrm>
              <a:off x="3786182" y="6215057"/>
              <a:ext cx="783436" cy="387363"/>
            </a:xfrm>
            <a:prstGeom prst="rect">
              <a:avLst/>
            </a:prstGeom>
          </p:spPr>
          <p:txBody>
            <a:bodyPr vert="horz" lIns="91440" tIns="45720" rIns="91440" bIns="45720" rtlCol="0">
              <a:normAutofit fontScale="700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Q</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cxnSp>
          <p:nvCxnSpPr>
            <p:cNvPr id="58" name="Łącznik prosty ze strzałką 54">
              <a:extLst>
                <a:ext uri="{FF2B5EF4-FFF2-40B4-BE49-F238E27FC236}">
                  <a16:creationId xmlns:a16="http://schemas.microsoft.com/office/drawing/2014/main" id="{85CAABA9-EDF7-3D20-8942-15FC6AECF260}"/>
                </a:ext>
              </a:extLst>
            </p:cNvPr>
            <p:cNvCxnSpPr/>
            <p:nvPr/>
          </p:nvCxnSpPr>
          <p:spPr>
            <a:xfrm flipV="1">
              <a:off x="785786" y="6143620"/>
              <a:ext cx="3786214" cy="952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59" name="Łącznik prosty 55">
              <a:extLst>
                <a:ext uri="{FF2B5EF4-FFF2-40B4-BE49-F238E27FC236}">
                  <a16:creationId xmlns:a16="http://schemas.microsoft.com/office/drawing/2014/main" id="{5E0101B2-7E3D-935E-70EB-7D342EEB9057}"/>
                </a:ext>
              </a:extLst>
            </p:cNvPr>
            <p:cNvCxnSpPr/>
            <p:nvPr/>
          </p:nvCxnSpPr>
          <p:spPr>
            <a:xfrm rot="16200000" flipH="1">
              <a:off x="821505" y="2964629"/>
              <a:ext cx="3500462" cy="2857520"/>
            </a:xfrm>
            <a:prstGeom prst="line">
              <a:avLst/>
            </a:prstGeom>
          </p:spPr>
          <p:style>
            <a:lnRef idx="3">
              <a:schemeClr val="accent3"/>
            </a:lnRef>
            <a:fillRef idx="0">
              <a:schemeClr val="accent3"/>
            </a:fillRef>
            <a:effectRef idx="2">
              <a:schemeClr val="accent3"/>
            </a:effectRef>
            <a:fontRef idx="minor">
              <a:schemeClr val="tx1"/>
            </a:fontRef>
          </p:style>
        </p:cxnSp>
        <p:sp>
          <p:nvSpPr>
            <p:cNvPr id="60" name="Podtytuł 2">
              <a:extLst>
                <a:ext uri="{FF2B5EF4-FFF2-40B4-BE49-F238E27FC236}">
                  <a16:creationId xmlns:a16="http://schemas.microsoft.com/office/drawing/2014/main" id="{A0FB6504-E3EC-725B-69DD-A942975F3D11}"/>
                </a:ext>
              </a:extLst>
            </p:cNvPr>
            <p:cNvSpPr txBox="1">
              <a:spLocks/>
            </p:cNvSpPr>
            <p:nvPr/>
          </p:nvSpPr>
          <p:spPr>
            <a:xfrm>
              <a:off x="3454537" y="5185160"/>
              <a:ext cx="1285884"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pl-PL" sz="3200" dirty="0">
                  <a:solidFill>
                    <a:srgbClr val="003366"/>
                  </a:solidFill>
                </a:rPr>
                <a:t>D(Q)</a:t>
              </a:r>
              <a:endParaRPr kumimoji="0" lang="pl-PL" sz="3200" b="0" i="0" u="none" strike="noStrike" kern="1200" cap="none" spc="0" normalizeH="0" baseline="0" noProof="0" dirty="0">
                <a:ln>
                  <a:noFill/>
                </a:ln>
                <a:solidFill>
                  <a:srgbClr val="003366"/>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1" name="Prostokąt 84">
              <a:extLst>
                <a:ext uri="{FF2B5EF4-FFF2-40B4-BE49-F238E27FC236}">
                  <a16:creationId xmlns:a16="http://schemas.microsoft.com/office/drawing/2014/main" id="{C08D24E1-13F5-523D-7453-988151D7E3D6}"/>
                </a:ext>
              </a:extLst>
            </p:cNvPr>
            <p:cNvSpPr/>
            <p:nvPr/>
          </p:nvSpPr>
          <p:spPr>
            <a:xfrm>
              <a:off x="1142976" y="5715016"/>
              <a:ext cx="1857388" cy="428628"/>
            </a:xfrm>
            <a:prstGeom prst="rect">
              <a:avLst/>
            </a:prstGeom>
            <a:solidFill>
              <a:schemeClr val="accent2">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pl-PL" dirty="0">
                  <a:solidFill>
                    <a:srgbClr val="003366"/>
                  </a:solidFill>
                </a:rPr>
                <a:t>       </a:t>
              </a:r>
              <a:r>
                <a:rPr lang="pl-PL" dirty="0" err="1">
                  <a:solidFill>
                    <a:srgbClr val="003366"/>
                  </a:solidFill>
                </a:rPr>
                <a:t>costs</a:t>
              </a:r>
              <a:r>
                <a:rPr lang="pl-PL" dirty="0">
                  <a:solidFill>
                    <a:srgbClr val="003366"/>
                  </a:solidFill>
                </a:rPr>
                <a:t> </a:t>
              </a:r>
              <a:endParaRPr lang="pl-PL" dirty="0"/>
            </a:p>
          </p:txBody>
        </p:sp>
        <p:cxnSp>
          <p:nvCxnSpPr>
            <p:cNvPr id="62" name="Łącznik prosty 95">
              <a:extLst>
                <a:ext uri="{FF2B5EF4-FFF2-40B4-BE49-F238E27FC236}">
                  <a16:creationId xmlns:a16="http://schemas.microsoft.com/office/drawing/2014/main" id="{73335AED-AD22-61F8-D93A-89B49FD343BE}"/>
                </a:ext>
              </a:extLst>
            </p:cNvPr>
            <p:cNvCxnSpPr/>
            <p:nvPr/>
          </p:nvCxnSpPr>
          <p:spPr>
            <a:xfrm>
              <a:off x="1142976" y="3500438"/>
              <a:ext cx="642942"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63" name="Łącznik prosty 114">
              <a:extLst>
                <a:ext uri="{FF2B5EF4-FFF2-40B4-BE49-F238E27FC236}">
                  <a16:creationId xmlns:a16="http://schemas.microsoft.com/office/drawing/2014/main" id="{8BDE9956-69A2-F43A-7AD3-A5672A8087C8}"/>
                </a:ext>
              </a:extLst>
            </p:cNvPr>
            <p:cNvCxnSpPr/>
            <p:nvPr/>
          </p:nvCxnSpPr>
          <p:spPr>
            <a:xfrm>
              <a:off x="1142976" y="4929198"/>
              <a:ext cx="1857388"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64" name="Łącznik prosty 115">
              <a:extLst>
                <a:ext uri="{FF2B5EF4-FFF2-40B4-BE49-F238E27FC236}">
                  <a16:creationId xmlns:a16="http://schemas.microsoft.com/office/drawing/2014/main" id="{C8E1E522-9CA9-8CC5-A645-D9F30761529D}"/>
                </a:ext>
              </a:extLst>
            </p:cNvPr>
            <p:cNvCxnSpPr/>
            <p:nvPr/>
          </p:nvCxnSpPr>
          <p:spPr>
            <a:xfrm rot="5400000">
              <a:off x="465109" y="4822041"/>
              <a:ext cx="2642412" cy="794"/>
            </a:xfrm>
            <a:prstGeom prst="line">
              <a:avLst/>
            </a:prstGeom>
          </p:spPr>
          <p:style>
            <a:lnRef idx="3">
              <a:schemeClr val="accent3"/>
            </a:lnRef>
            <a:fillRef idx="0">
              <a:schemeClr val="accent3"/>
            </a:fillRef>
            <a:effectRef idx="2">
              <a:schemeClr val="accent3"/>
            </a:effectRef>
            <a:fontRef idx="minor">
              <a:schemeClr val="tx1"/>
            </a:fontRef>
          </p:style>
        </p:cxnSp>
        <p:cxnSp>
          <p:nvCxnSpPr>
            <p:cNvPr id="65" name="Łącznik prosty 116">
              <a:extLst>
                <a:ext uri="{FF2B5EF4-FFF2-40B4-BE49-F238E27FC236}">
                  <a16:creationId xmlns:a16="http://schemas.microsoft.com/office/drawing/2014/main" id="{6DAEED6E-4E5F-8BA1-8955-DB2BF6B40DD3}"/>
                </a:ext>
              </a:extLst>
            </p:cNvPr>
            <p:cNvCxnSpPr/>
            <p:nvPr/>
          </p:nvCxnSpPr>
          <p:spPr>
            <a:xfrm rot="5400000">
              <a:off x="2397186" y="5532376"/>
              <a:ext cx="1214446" cy="8090"/>
            </a:xfrm>
            <a:prstGeom prst="line">
              <a:avLst/>
            </a:prstGeom>
          </p:spPr>
          <p:style>
            <a:lnRef idx="3">
              <a:schemeClr val="accent3"/>
            </a:lnRef>
            <a:fillRef idx="0">
              <a:schemeClr val="accent3"/>
            </a:fillRef>
            <a:effectRef idx="2">
              <a:schemeClr val="accent3"/>
            </a:effectRef>
            <a:fontRef idx="minor">
              <a:schemeClr val="tx1"/>
            </a:fontRef>
          </p:style>
        </p:cxnSp>
        <p:sp>
          <p:nvSpPr>
            <p:cNvPr id="66" name="Podtytuł 2">
              <a:extLst>
                <a:ext uri="{FF2B5EF4-FFF2-40B4-BE49-F238E27FC236}">
                  <a16:creationId xmlns:a16="http://schemas.microsoft.com/office/drawing/2014/main" id="{4C6F97FF-5159-0677-59FA-7DE69A1DDBB1}"/>
                </a:ext>
              </a:extLst>
            </p:cNvPr>
            <p:cNvSpPr txBox="1">
              <a:spLocks/>
            </p:cNvSpPr>
            <p:nvPr/>
          </p:nvSpPr>
          <p:spPr>
            <a:xfrm>
              <a:off x="500034" y="4786322"/>
              <a:ext cx="500066" cy="285752"/>
            </a:xfrm>
            <a:prstGeom prst="rect">
              <a:avLst/>
            </a:prstGeom>
          </p:spPr>
          <p:txBody>
            <a:bodyPr vert="horz" lIns="91440" tIns="45720" rIns="91440" bIns="45720" rtlCol="0">
              <a:normAutofit fontScale="47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200</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7" name="Podtytuł 2">
              <a:extLst>
                <a:ext uri="{FF2B5EF4-FFF2-40B4-BE49-F238E27FC236}">
                  <a16:creationId xmlns:a16="http://schemas.microsoft.com/office/drawing/2014/main" id="{918712BD-DDBE-B720-CD97-BACB39D752FB}"/>
                </a:ext>
              </a:extLst>
            </p:cNvPr>
            <p:cNvSpPr txBox="1">
              <a:spLocks/>
            </p:cNvSpPr>
            <p:nvPr/>
          </p:nvSpPr>
          <p:spPr>
            <a:xfrm>
              <a:off x="571472" y="3357562"/>
              <a:ext cx="500066" cy="285752"/>
            </a:xfrm>
            <a:prstGeom prst="rect">
              <a:avLst/>
            </a:prstGeom>
          </p:spPr>
          <p:txBody>
            <a:bodyPr vert="horz" lIns="91440" tIns="45720" rIns="91440" bIns="45720" rtlCol="0">
              <a:normAutofit fontScale="47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300</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grpSp>
    </p:spTree>
    <p:extLst>
      <p:ext uri="{BB962C8B-B14F-4D97-AF65-F5344CB8AC3E}">
        <p14:creationId xmlns:p14="http://schemas.microsoft.com/office/powerpoint/2010/main" val="93935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4D52B-8569-8EEC-F425-7244611654E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D44F8C6A-F5FA-3948-6DAB-5758696A4E20}"/>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a:solidFill>
                  <a:srgbClr val="4BACC6">
                    <a:lumMod val="50000"/>
                  </a:srgbClr>
                </a:solidFill>
              </a:rPr>
              <a:t>Second </a:t>
            </a:r>
            <a:r>
              <a:rPr lang="en-US" b="1" noProof="0" dirty="0">
                <a:solidFill>
                  <a:srgbClr val="4BACC6">
                    <a:lumMod val="50000"/>
                  </a:srgbClr>
                </a:solidFill>
              </a:rPr>
              <a:t>-Degree Price Discrimination </a:t>
            </a:r>
            <a:endParaRPr lang="pl-PL" b="1" noProof="0" dirty="0">
              <a:solidFill>
                <a:srgbClr val="4BACC6">
                  <a:lumMod val="50000"/>
                </a:srgbClr>
              </a:solidFill>
            </a:endParaRPr>
          </a:p>
          <a:p>
            <a:r>
              <a:rPr lang="en-US" b="1" noProof="0" dirty="0">
                <a:solidFill>
                  <a:srgbClr val="4BACC6">
                    <a:lumMod val="50000"/>
                  </a:srgbClr>
                </a:solidFill>
              </a:rPr>
              <a:t>(Price depends on the quantity purchased)</a:t>
            </a:r>
          </a:p>
        </p:txBody>
      </p:sp>
      <p:sp>
        <p:nvSpPr>
          <p:cNvPr id="46" name="TextBox 45">
            <a:extLst>
              <a:ext uri="{FF2B5EF4-FFF2-40B4-BE49-F238E27FC236}">
                <a16:creationId xmlns:a16="http://schemas.microsoft.com/office/drawing/2014/main" id="{76B65438-656D-5C40-6778-691AEA43A21C}"/>
              </a:ext>
            </a:extLst>
          </p:cNvPr>
          <p:cNvSpPr txBox="1"/>
          <p:nvPr/>
        </p:nvSpPr>
        <p:spPr>
          <a:xfrm>
            <a:off x="266865" y="1166424"/>
            <a:ext cx="2611120" cy="563231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pl-PL" sz="600" dirty="0"/>
              <a:t>/* </a:t>
            </a:r>
            <a:r>
              <a:rPr lang="pl-PL" sz="600" dirty="0" err="1"/>
              <a:t>Clear</a:t>
            </a:r>
            <a:r>
              <a:rPr lang="pl-PL" sz="600" dirty="0"/>
              <a:t> </a:t>
            </a:r>
            <a:r>
              <a:rPr lang="pl-PL" sz="600" dirty="0" err="1"/>
              <a:t>all</a:t>
            </a:r>
            <a:r>
              <a:rPr lang="pl-PL" sz="600" dirty="0"/>
              <a:t> </a:t>
            </a:r>
            <a:r>
              <a:rPr lang="pl-PL" sz="600" dirty="0" err="1"/>
              <a:t>previous</a:t>
            </a:r>
            <a:r>
              <a:rPr lang="pl-PL" sz="600" dirty="0"/>
              <a:t> </a:t>
            </a:r>
            <a:r>
              <a:rPr lang="pl-PL" sz="600" dirty="0" err="1"/>
              <a:t>variables</a:t>
            </a:r>
            <a:r>
              <a:rPr lang="pl-PL" sz="600" dirty="0"/>
              <a:t> */</a:t>
            </a:r>
          </a:p>
          <a:p>
            <a:r>
              <a:rPr lang="pl-PL" sz="600" dirty="0" err="1"/>
              <a:t>kill</a:t>
            </a:r>
            <a:r>
              <a:rPr lang="pl-PL" sz="600" dirty="0"/>
              <a:t>(</a:t>
            </a:r>
            <a:r>
              <a:rPr lang="pl-PL" sz="600" dirty="0" err="1"/>
              <a:t>all</a:t>
            </a:r>
            <a:r>
              <a:rPr lang="pl-PL" sz="600" dirty="0"/>
              <a:t>)$</a:t>
            </a:r>
          </a:p>
          <a:p>
            <a:endParaRPr lang="pl-PL" sz="600" dirty="0"/>
          </a:p>
          <a:p>
            <a:r>
              <a:rPr lang="pl-PL" sz="600" dirty="0"/>
              <a:t>/* </a:t>
            </a:r>
            <a:r>
              <a:rPr lang="pl-PL" sz="600" dirty="0" err="1"/>
              <a:t>Firm's</a:t>
            </a:r>
            <a:r>
              <a:rPr lang="pl-PL" sz="600" dirty="0"/>
              <a:t> </a:t>
            </a:r>
            <a:r>
              <a:rPr lang="pl-PL" sz="600" dirty="0" err="1"/>
              <a:t>characteristics</a:t>
            </a:r>
            <a:r>
              <a:rPr lang="pl-PL" sz="600" dirty="0"/>
              <a:t> */</a:t>
            </a:r>
          </a:p>
          <a:p>
            <a:r>
              <a:rPr lang="pl-PL" sz="600" dirty="0"/>
              <a:t>MC: 50$ /* </a:t>
            </a:r>
            <a:r>
              <a:rPr lang="pl-PL" sz="600" dirty="0" err="1"/>
              <a:t>Marginal</a:t>
            </a:r>
            <a:r>
              <a:rPr lang="pl-PL" sz="600" dirty="0"/>
              <a:t> </a:t>
            </a:r>
            <a:r>
              <a:rPr lang="pl-PL" sz="600" dirty="0" err="1"/>
              <a:t>cost</a:t>
            </a:r>
            <a:r>
              <a:rPr lang="pl-PL" sz="600" dirty="0"/>
              <a:t> */</a:t>
            </a:r>
          </a:p>
          <a:p>
            <a:r>
              <a:rPr lang="pl-PL" sz="600" dirty="0"/>
              <a:t>ATC: MC$ /* </a:t>
            </a:r>
            <a:r>
              <a:rPr lang="pl-PL" sz="600" dirty="0" err="1"/>
              <a:t>Average</a:t>
            </a:r>
            <a:r>
              <a:rPr lang="pl-PL" sz="600" dirty="0"/>
              <a:t> </a:t>
            </a:r>
            <a:r>
              <a:rPr lang="pl-PL" sz="600" dirty="0" err="1"/>
              <a:t>total</a:t>
            </a:r>
            <a:r>
              <a:rPr lang="pl-PL" sz="600" dirty="0"/>
              <a:t> </a:t>
            </a:r>
            <a:r>
              <a:rPr lang="pl-PL" sz="600" dirty="0" err="1"/>
              <a:t>cost</a:t>
            </a:r>
            <a:r>
              <a:rPr lang="pl-PL" sz="600" dirty="0"/>
              <a:t> */</a:t>
            </a:r>
          </a:p>
          <a:p>
            <a:r>
              <a:rPr lang="pl-PL" sz="600" dirty="0" err="1"/>
              <a:t>demand</a:t>
            </a:r>
            <a:r>
              <a:rPr lang="pl-PL" sz="600" dirty="0"/>
              <a:t>: Y = 1000 - p$ /* </a:t>
            </a:r>
            <a:r>
              <a:rPr lang="pl-PL" sz="600" dirty="0" err="1"/>
              <a:t>Demand</a:t>
            </a:r>
            <a:r>
              <a:rPr lang="pl-PL" sz="600" dirty="0"/>
              <a:t> </a:t>
            </a:r>
            <a:r>
              <a:rPr lang="pl-PL" sz="600" dirty="0" err="1"/>
              <a:t>function</a:t>
            </a:r>
            <a:r>
              <a:rPr lang="pl-PL" sz="600" dirty="0"/>
              <a:t> */</a:t>
            </a:r>
          </a:p>
          <a:p>
            <a:r>
              <a:rPr lang="pl-PL" sz="600" dirty="0" err="1"/>
              <a:t>solve</a:t>
            </a:r>
            <a:r>
              <a:rPr lang="pl-PL" sz="600" dirty="0"/>
              <a:t>([</a:t>
            </a:r>
            <a:r>
              <a:rPr lang="pl-PL" sz="600" dirty="0" err="1"/>
              <a:t>demand</a:t>
            </a:r>
            <a:r>
              <a:rPr lang="pl-PL" sz="600" dirty="0"/>
              <a:t>], [p])$</a:t>
            </a:r>
          </a:p>
          <a:p>
            <a:r>
              <a:rPr lang="pl-PL" sz="600" dirty="0"/>
              <a:t>p: </a:t>
            </a:r>
            <a:r>
              <a:rPr lang="pl-PL" sz="600" dirty="0" err="1"/>
              <a:t>rhs</a:t>
            </a:r>
            <a:r>
              <a:rPr lang="pl-PL" sz="600" dirty="0"/>
              <a:t>(%[1])$ /* </a:t>
            </a:r>
            <a:r>
              <a:rPr lang="pl-PL" sz="600" dirty="0" err="1"/>
              <a:t>Price</a:t>
            </a:r>
            <a:r>
              <a:rPr lang="pl-PL" sz="600" dirty="0"/>
              <a:t> as a </a:t>
            </a:r>
            <a:r>
              <a:rPr lang="pl-PL" sz="600" dirty="0" err="1"/>
              <a:t>function</a:t>
            </a:r>
            <a:r>
              <a:rPr lang="pl-PL" sz="600" dirty="0"/>
              <a:t> of </a:t>
            </a:r>
            <a:r>
              <a:rPr lang="pl-PL" sz="600" dirty="0" err="1"/>
              <a:t>quantity</a:t>
            </a:r>
            <a:r>
              <a:rPr lang="pl-PL" sz="600" dirty="0"/>
              <a:t> */</a:t>
            </a:r>
          </a:p>
          <a:p>
            <a:endParaRPr lang="pl-PL" sz="600" dirty="0"/>
          </a:p>
          <a:p>
            <a:r>
              <a:rPr lang="pl-PL" sz="600" dirty="0"/>
              <a:t>/* </a:t>
            </a:r>
            <a:r>
              <a:rPr lang="pl-PL" sz="600" dirty="0" err="1"/>
              <a:t>Pricing</a:t>
            </a:r>
            <a:r>
              <a:rPr lang="pl-PL" sz="600" dirty="0"/>
              <a:t> </a:t>
            </a:r>
            <a:r>
              <a:rPr lang="pl-PL" sz="600" dirty="0" err="1"/>
              <a:t>Scheme</a:t>
            </a:r>
            <a:r>
              <a:rPr lang="pl-PL" sz="600" dirty="0"/>
              <a:t> A: </a:t>
            </a:r>
            <a:r>
              <a:rPr lang="pl-PL" sz="600" dirty="0" err="1"/>
              <a:t>Price</a:t>
            </a:r>
            <a:r>
              <a:rPr lang="pl-PL" sz="600" dirty="0"/>
              <a:t> </a:t>
            </a:r>
            <a:r>
              <a:rPr lang="pl-PL" sz="600" dirty="0" err="1"/>
              <a:t>change</a:t>
            </a:r>
            <a:r>
              <a:rPr lang="pl-PL" sz="600" dirty="0"/>
              <a:t> </a:t>
            </a:r>
            <a:r>
              <a:rPr lang="pl-PL" sz="600" dirty="0" err="1"/>
              <a:t>thresholds</a:t>
            </a:r>
            <a:r>
              <a:rPr lang="pl-PL" sz="600" dirty="0"/>
              <a:t> </a:t>
            </a:r>
            <a:r>
              <a:rPr lang="pl-PL" sz="600" dirty="0" err="1"/>
              <a:t>at</a:t>
            </a:r>
            <a:r>
              <a:rPr lang="pl-PL" sz="600" dirty="0"/>
              <a:t> Y = 50 and Y = 200 */</a:t>
            </a:r>
          </a:p>
          <a:p>
            <a:r>
              <a:rPr lang="pl-PL" sz="600" dirty="0"/>
              <a:t>Y: 50$ /* First </a:t>
            </a:r>
            <a:r>
              <a:rPr lang="pl-PL" sz="600" dirty="0" err="1"/>
              <a:t>threshold</a:t>
            </a:r>
            <a:r>
              <a:rPr lang="pl-PL" sz="600" dirty="0"/>
              <a:t> for </a:t>
            </a:r>
            <a:r>
              <a:rPr lang="pl-PL" sz="600" dirty="0" err="1"/>
              <a:t>Scheme</a:t>
            </a:r>
            <a:r>
              <a:rPr lang="pl-PL" sz="600" dirty="0"/>
              <a:t> A */</a:t>
            </a:r>
          </a:p>
          <a:p>
            <a:r>
              <a:rPr lang="pl-PL" sz="600" dirty="0"/>
              <a:t>y1: Y$</a:t>
            </a:r>
          </a:p>
          <a:p>
            <a:r>
              <a:rPr lang="pl-PL" sz="600" dirty="0"/>
              <a:t>p_A1: </a:t>
            </a:r>
            <a:r>
              <a:rPr lang="pl-PL" sz="600" dirty="0" err="1"/>
              <a:t>float</a:t>
            </a:r>
            <a:r>
              <a:rPr lang="pl-PL" sz="600" dirty="0"/>
              <a:t>(</a:t>
            </a:r>
            <a:r>
              <a:rPr lang="pl-PL" sz="600" dirty="0" err="1"/>
              <a:t>ev</a:t>
            </a:r>
            <a:r>
              <a:rPr lang="pl-PL" sz="600" dirty="0"/>
              <a:t>(''p))$ /* </a:t>
            </a:r>
            <a:r>
              <a:rPr lang="pl-PL" sz="600" dirty="0" err="1"/>
              <a:t>Price</a:t>
            </a:r>
            <a:r>
              <a:rPr lang="pl-PL" sz="600" dirty="0"/>
              <a:t> for Y = 50 */</a:t>
            </a:r>
          </a:p>
          <a:p>
            <a:r>
              <a:rPr lang="pl-PL" sz="600" dirty="0"/>
              <a:t>R_A1: </a:t>
            </a:r>
            <a:r>
              <a:rPr lang="pl-PL" sz="600" dirty="0" err="1"/>
              <a:t>float</a:t>
            </a:r>
            <a:r>
              <a:rPr lang="pl-PL" sz="600" dirty="0"/>
              <a:t>(Y * p_A1)$ /* </a:t>
            </a:r>
            <a:r>
              <a:rPr lang="pl-PL" sz="600" dirty="0" err="1"/>
              <a:t>Revenue</a:t>
            </a:r>
            <a:r>
              <a:rPr lang="pl-PL" sz="600" dirty="0"/>
              <a:t> for </a:t>
            </a:r>
            <a:r>
              <a:rPr lang="pl-PL" sz="600" dirty="0" err="1"/>
              <a:t>first</a:t>
            </a:r>
            <a:r>
              <a:rPr lang="pl-PL" sz="600" dirty="0"/>
              <a:t> segment */</a:t>
            </a:r>
          </a:p>
          <a:p>
            <a:r>
              <a:rPr lang="pl-PL" sz="600" dirty="0"/>
              <a:t>TC_A1: </a:t>
            </a:r>
            <a:r>
              <a:rPr lang="pl-PL" sz="600" dirty="0" err="1"/>
              <a:t>float</a:t>
            </a:r>
            <a:r>
              <a:rPr lang="pl-PL" sz="600" dirty="0"/>
              <a:t>(Y * MC)$ /* Total </a:t>
            </a:r>
            <a:r>
              <a:rPr lang="pl-PL" sz="600" dirty="0" err="1"/>
              <a:t>cost</a:t>
            </a:r>
            <a:r>
              <a:rPr lang="pl-PL" sz="600" dirty="0"/>
              <a:t> for </a:t>
            </a:r>
            <a:r>
              <a:rPr lang="pl-PL" sz="600" dirty="0" err="1"/>
              <a:t>first</a:t>
            </a:r>
            <a:r>
              <a:rPr lang="pl-PL" sz="600" dirty="0"/>
              <a:t> segment */</a:t>
            </a:r>
          </a:p>
          <a:p>
            <a:r>
              <a:rPr lang="pl-PL" sz="600" dirty="0"/>
              <a:t>Y: 200$ /* Second </a:t>
            </a:r>
            <a:r>
              <a:rPr lang="pl-PL" sz="600" dirty="0" err="1"/>
              <a:t>threshold</a:t>
            </a:r>
            <a:r>
              <a:rPr lang="pl-PL" sz="600" dirty="0"/>
              <a:t> for </a:t>
            </a:r>
            <a:r>
              <a:rPr lang="pl-PL" sz="600" dirty="0" err="1"/>
              <a:t>Scheme</a:t>
            </a:r>
            <a:r>
              <a:rPr lang="pl-PL" sz="600" dirty="0"/>
              <a:t> A */</a:t>
            </a:r>
          </a:p>
          <a:p>
            <a:r>
              <a:rPr lang="pl-PL" sz="600" dirty="0"/>
              <a:t>y2: Y$</a:t>
            </a:r>
          </a:p>
          <a:p>
            <a:r>
              <a:rPr lang="pl-PL" sz="600" dirty="0"/>
              <a:t>p_A2: </a:t>
            </a:r>
            <a:r>
              <a:rPr lang="pl-PL" sz="600" dirty="0" err="1"/>
              <a:t>float</a:t>
            </a:r>
            <a:r>
              <a:rPr lang="pl-PL" sz="600" dirty="0"/>
              <a:t>(</a:t>
            </a:r>
            <a:r>
              <a:rPr lang="pl-PL" sz="600" dirty="0" err="1"/>
              <a:t>ev</a:t>
            </a:r>
            <a:r>
              <a:rPr lang="pl-PL" sz="600" dirty="0"/>
              <a:t>(''p))$ /* </a:t>
            </a:r>
            <a:r>
              <a:rPr lang="pl-PL" sz="600" dirty="0" err="1"/>
              <a:t>Price</a:t>
            </a:r>
            <a:r>
              <a:rPr lang="pl-PL" sz="600" dirty="0"/>
              <a:t> for Y = 200 */</a:t>
            </a:r>
          </a:p>
          <a:p>
            <a:r>
              <a:rPr lang="pl-PL" sz="600" dirty="0"/>
              <a:t>R_A2: </a:t>
            </a:r>
            <a:r>
              <a:rPr lang="pl-PL" sz="600" dirty="0" err="1"/>
              <a:t>float</a:t>
            </a:r>
            <a:r>
              <a:rPr lang="pl-PL" sz="600" dirty="0"/>
              <a:t>((y2 - y1) * p_A2)$ /* </a:t>
            </a:r>
            <a:r>
              <a:rPr lang="pl-PL" sz="600" dirty="0" err="1"/>
              <a:t>Revenue</a:t>
            </a:r>
            <a:r>
              <a:rPr lang="pl-PL" sz="600" dirty="0"/>
              <a:t> for </a:t>
            </a:r>
            <a:r>
              <a:rPr lang="pl-PL" sz="600" dirty="0" err="1"/>
              <a:t>second</a:t>
            </a:r>
            <a:r>
              <a:rPr lang="pl-PL" sz="600" dirty="0"/>
              <a:t> segment */</a:t>
            </a:r>
          </a:p>
          <a:p>
            <a:r>
              <a:rPr lang="pl-PL" sz="600" dirty="0"/>
              <a:t>TC_A2: </a:t>
            </a:r>
            <a:r>
              <a:rPr lang="pl-PL" sz="600" dirty="0" err="1"/>
              <a:t>float</a:t>
            </a:r>
            <a:r>
              <a:rPr lang="pl-PL" sz="600" dirty="0"/>
              <a:t>((y2 - y1) * MC)$ /* Total </a:t>
            </a:r>
            <a:r>
              <a:rPr lang="pl-PL" sz="600" dirty="0" err="1"/>
              <a:t>cost</a:t>
            </a:r>
            <a:r>
              <a:rPr lang="pl-PL" sz="600" dirty="0"/>
              <a:t> for </a:t>
            </a:r>
            <a:r>
              <a:rPr lang="pl-PL" sz="600" dirty="0" err="1"/>
              <a:t>second</a:t>
            </a:r>
            <a:r>
              <a:rPr lang="pl-PL" sz="600" dirty="0"/>
              <a:t> segment */</a:t>
            </a:r>
          </a:p>
          <a:p>
            <a:r>
              <a:rPr lang="pl-PL" sz="600" dirty="0"/>
              <a:t>TC_A: TC_A1 + TC_A2$ /* Total </a:t>
            </a:r>
            <a:r>
              <a:rPr lang="pl-PL" sz="600" dirty="0" err="1"/>
              <a:t>cost</a:t>
            </a:r>
            <a:r>
              <a:rPr lang="pl-PL" sz="600" dirty="0"/>
              <a:t> for </a:t>
            </a:r>
            <a:r>
              <a:rPr lang="pl-PL" sz="600" dirty="0" err="1"/>
              <a:t>Scheme</a:t>
            </a:r>
            <a:r>
              <a:rPr lang="pl-PL" sz="600" dirty="0"/>
              <a:t> A */</a:t>
            </a:r>
          </a:p>
          <a:p>
            <a:r>
              <a:rPr lang="pl-PL" sz="600" dirty="0" err="1"/>
              <a:t>Profit_A</a:t>
            </a:r>
            <a:r>
              <a:rPr lang="pl-PL" sz="600" dirty="0"/>
              <a:t>: </a:t>
            </a:r>
            <a:r>
              <a:rPr lang="pl-PL" sz="600" dirty="0" err="1"/>
              <a:t>float</a:t>
            </a:r>
            <a:r>
              <a:rPr lang="pl-PL" sz="600" dirty="0"/>
              <a:t>(R_A1 + R_A2 - TC_A)$ /* Profit for </a:t>
            </a:r>
            <a:r>
              <a:rPr lang="pl-PL" sz="600" dirty="0" err="1"/>
              <a:t>Scheme</a:t>
            </a:r>
            <a:r>
              <a:rPr lang="pl-PL" sz="600" dirty="0"/>
              <a:t> A */</a:t>
            </a:r>
          </a:p>
          <a:p>
            <a:endParaRPr lang="pl-PL" sz="600" dirty="0"/>
          </a:p>
          <a:p>
            <a:r>
              <a:rPr lang="pl-PL" sz="600" dirty="0"/>
              <a:t>/* </a:t>
            </a:r>
            <a:r>
              <a:rPr lang="pl-PL" sz="600" dirty="0" err="1"/>
              <a:t>Pricing</a:t>
            </a:r>
            <a:r>
              <a:rPr lang="pl-PL" sz="600" dirty="0"/>
              <a:t> </a:t>
            </a:r>
            <a:r>
              <a:rPr lang="pl-PL" sz="600" dirty="0" err="1"/>
              <a:t>Scheme</a:t>
            </a:r>
            <a:r>
              <a:rPr lang="pl-PL" sz="600" dirty="0"/>
              <a:t> B: </a:t>
            </a:r>
            <a:r>
              <a:rPr lang="pl-PL" sz="600" dirty="0" err="1"/>
              <a:t>Price</a:t>
            </a:r>
            <a:r>
              <a:rPr lang="pl-PL" sz="600" dirty="0"/>
              <a:t> </a:t>
            </a:r>
            <a:r>
              <a:rPr lang="pl-PL" sz="600" dirty="0" err="1"/>
              <a:t>change</a:t>
            </a:r>
            <a:r>
              <a:rPr lang="pl-PL" sz="600" dirty="0"/>
              <a:t> </a:t>
            </a:r>
            <a:r>
              <a:rPr lang="pl-PL" sz="600" dirty="0" err="1"/>
              <a:t>thresholds</a:t>
            </a:r>
            <a:r>
              <a:rPr lang="pl-PL" sz="600" dirty="0"/>
              <a:t> </a:t>
            </a:r>
            <a:r>
              <a:rPr lang="pl-PL" sz="600" dirty="0" err="1"/>
              <a:t>at</a:t>
            </a:r>
            <a:r>
              <a:rPr lang="pl-PL" sz="600" dirty="0"/>
              <a:t> Y = 100 and Y = 300 */</a:t>
            </a:r>
          </a:p>
          <a:p>
            <a:r>
              <a:rPr lang="pl-PL" sz="600" dirty="0"/>
              <a:t>Y: 100$ /* First </a:t>
            </a:r>
            <a:r>
              <a:rPr lang="pl-PL" sz="600" dirty="0" err="1"/>
              <a:t>threshold</a:t>
            </a:r>
            <a:r>
              <a:rPr lang="pl-PL" sz="600" dirty="0"/>
              <a:t> for </a:t>
            </a:r>
            <a:r>
              <a:rPr lang="pl-PL" sz="600" dirty="0" err="1"/>
              <a:t>Scheme</a:t>
            </a:r>
            <a:r>
              <a:rPr lang="pl-PL" sz="600" dirty="0"/>
              <a:t> B */</a:t>
            </a:r>
          </a:p>
          <a:p>
            <a:r>
              <a:rPr lang="pl-PL" sz="600" dirty="0"/>
              <a:t>y3: Y$</a:t>
            </a:r>
          </a:p>
          <a:p>
            <a:r>
              <a:rPr lang="pl-PL" sz="600" dirty="0"/>
              <a:t>p_B1: </a:t>
            </a:r>
            <a:r>
              <a:rPr lang="pl-PL" sz="600" dirty="0" err="1"/>
              <a:t>float</a:t>
            </a:r>
            <a:r>
              <a:rPr lang="pl-PL" sz="600" dirty="0"/>
              <a:t>(</a:t>
            </a:r>
            <a:r>
              <a:rPr lang="pl-PL" sz="600" dirty="0" err="1"/>
              <a:t>ev</a:t>
            </a:r>
            <a:r>
              <a:rPr lang="pl-PL" sz="600" dirty="0"/>
              <a:t>(''p))$ /* </a:t>
            </a:r>
            <a:r>
              <a:rPr lang="pl-PL" sz="600" dirty="0" err="1"/>
              <a:t>Price</a:t>
            </a:r>
            <a:r>
              <a:rPr lang="pl-PL" sz="600" dirty="0"/>
              <a:t> for Y = 100 */</a:t>
            </a:r>
          </a:p>
          <a:p>
            <a:r>
              <a:rPr lang="pl-PL" sz="600" dirty="0"/>
              <a:t>R_B1: </a:t>
            </a:r>
            <a:r>
              <a:rPr lang="pl-PL" sz="600" dirty="0" err="1"/>
              <a:t>float</a:t>
            </a:r>
            <a:r>
              <a:rPr lang="pl-PL" sz="600" dirty="0"/>
              <a:t>(Y * p_B1)$ /* </a:t>
            </a:r>
            <a:r>
              <a:rPr lang="pl-PL" sz="600" dirty="0" err="1"/>
              <a:t>Revenue</a:t>
            </a:r>
            <a:r>
              <a:rPr lang="pl-PL" sz="600" dirty="0"/>
              <a:t> for </a:t>
            </a:r>
            <a:r>
              <a:rPr lang="pl-PL" sz="600" dirty="0" err="1"/>
              <a:t>first</a:t>
            </a:r>
            <a:r>
              <a:rPr lang="pl-PL" sz="600" dirty="0"/>
              <a:t> segment */</a:t>
            </a:r>
          </a:p>
          <a:p>
            <a:r>
              <a:rPr lang="pl-PL" sz="600" dirty="0"/>
              <a:t>TC_B1: </a:t>
            </a:r>
            <a:r>
              <a:rPr lang="pl-PL" sz="600" dirty="0" err="1"/>
              <a:t>float</a:t>
            </a:r>
            <a:r>
              <a:rPr lang="pl-PL" sz="600" dirty="0"/>
              <a:t>(Y * MC)$ /* Total </a:t>
            </a:r>
            <a:r>
              <a:rPr lang="pl-PL" sz="600" dirty="0" err="1"/>
              <a:t>cost</a:t>
            </a:r>
            <a:r>
              <a:rPr lang="pl-PL" sz="600" dirty="0"/>
              <a:t> for </a:t>
            </a:r>
            <a:r>
              <a:rPr lang="pl-PL" sz="600" dirty="0" err="1"/>
              <a:t>first</a:t>
            </a:r>
            <a:r>
              <a:rPr lang="pl-PL" sz="600" dirty="0"/>
              <a:t> segment */</a:t>
            </a:r>
          </a:p>
          <a:p>
            <a:r>
              <a:rPr lang="pl-PL" sz="600" dirty="0"/>
              <a:t>Y: 300$ /* Second </a:t>
            </a:r>
            <a:r>
              <a:rPr lang="pl-PL" sz="600" dirty="0" err="1"/>
              <a:t>threshold</a:t>
            </a:r>
            <a:r>
              <a:rPr lang="pl-PL" sz="600" dirty="0"/>
              <a:t> for </a:t>
            </a:r>
            <a:r>
              <a:rPr lang="pl-PL" sz="600" dirty="0" err="1"/>
              <a:t>Scheme</a:t>
            </a:r>
            <a:r>
              <a:rPr lang="pl-PL" sz="600" dirty="0"/>
              <a:t> B */</a:t>
            </a:r>
          </a:p>
          <a:p>
            <a:r>
              <a:rPr lang="pl-PL" sz="600" dirty="0"/>
              <a:t>y4: Y$</a:t>
            </a:r>
          </a:p>
          <a:p>
            <a:r>
              <a:rPr lang="pl-PL" sz="600" dirty="0"/>
              <a:t>p_B2: </a:t>
            </a:r>
            <a:r>
              <a:rPr lang="pl-PL" sz="600" dirty="0" err="1"/>
              <a:t>float</a:t>
            </a:r>
            <a:r>
              <a:rPr lang="pl-PL" sz="600" dirty="0"/>
              <a:t>(</a:t>
            </a:r>
            <a:r>
              <a:rPr lang="pl-PL" sz="600" dirty="0" err="1"/>
              <a:t>ev</a:t>
            </a:r>
            <a:r>
              <a:rPr lang="pl-PL" sz="600" dirty="0"/>
              <a:t>(''p))$ /* </a:t>
            </a:r>
            <a:r>
              <a:rPr lang="pl-PL" sz="600" dirty="0" err="1"/>
              <a:t>Price</a:t>
            </a:r>
            <a:r>
              <a:rPr lang="pl-PL" sz="600" dirty="0"/>
              <a:t> for Y = 300 */</a:t>
            </a:r>
          </a:p>
          <a:p>
            <a:r>
              <a:rPr lang="pl-PL" sz="600" dirty="0"/>
              <a:t>R_B2: </a:t>
            </a:r>
            <a:r>
              <a:rPr lang="pl-PL" sz="600" dirty="0" err="1"/>
              <a:t>float</a:t>
            </a:r>
            <a:r>
              <a:rPr lang="pl-PL" sz="600" dirty="0"/>
              <a:t>((y4 - y3) * p_B2)$ /* </a:t>
            </a:r>
            <a:r>
              <a:rPr lang="pl-PL" sz="600" dirty="0" err="1"/>
              <a:t>Revenue</a:t>
            </a:r>
            <a:r>
              <a:rPr lang="pl-PL" sz="600" dirty="0"/>
              <a:t> for </a:t>
            </a:r>
            <a:r>
              <a:rPr lang="pl-PL" sz="600" dirty="0" err="1"/>
              <a:t>second</a:t>
            </a:r>
            <a:r>
              <a:rPr lang="pl-PL" sz="600" dirty="0"/>
              <a:t> segment */</a:t>
            </a:r>
          </a:p>
          <a:p>
            <a:r>
              <a:rPr lang="pl-PL" sz="600" dirty="0"/>
              <a:t>TC_B2: </a:t>
            </a:r>
            <a:r>
              <a:rPr lang="pl-PL" sz="600" dirty="0" err="1"/>
              <a:t>float</a:t>
            </a:r>
            <a:r>
              <a:rPr lang="pl-PL" sz="600" dirty="0"/>
              <a:t>((y4 - y3) * MC)$ /* Total </a:t>
            </a:r>
            <a:r>
              <a:rPr lang="pl-PL" sz="600" dirty="0" err="1"/>
              <a:t>cost</a:t>
            </a:r>
            <a:r>
              <a:rPr lang="pl-PL" sz="600" dirty="0"/>
              <a:t> for </a:t>
            </a:r>
            <a:r>
              <a:rPr lang="pl-PL" sz="600" dirty="0" err="1"/>
              <a:t>second</a:t>
            </a:r>
            <a:r>
              <a:rPr lang="pl-PL" sz="600" dirty="0"/>
              <a:t> segment */</a:t>
            </a:r>
          </a:p>
          <a:p>
            <a:r>
              <a:rPr lang="pl-PL" sz="600" dirty="0"/>
              <a:t>TC_B: TC_B1 + TC_B2$ /* Total </a:t>
            </a:r>
            <a:r>
              <a:rPr lang="pl-PL" sz="600" dirty="0" err="1"/>
              <a:t>cost</a:t>
            </a:r>
            <a:r>
              <a:rPr lang="pl-PL" sz="600" dirty="0"/>
              <a:t> for </a:t>
            </a:r>
            <a:r>
              <a:rPr lang="pl-PL" sz="600" dirty="0" err="1"/>
              <a:t>Scheme</a:t>
            </a:r>
            <a:r>
              <a:rPr lang="pl-PL" sz="600" dirty="0"/>
              <a:t> B */</a:t>
            </a:r>
          </a:p>
          <a:p>
            <a:r>
              <a:rPr lang="pl-PL" sz="600" dirty="0" err="1"/>
              <a:t>Profit_B</a:t>
            </a:r>
            <a:r>
              <a:rPr lang="pl-PL" sz="600" dirty="0"/>
              <a:t>: </a:t>
            </a:r>
            <a:r>
              <a:rPr lang="pl-PL" sz="600" dirty="0" err="1"/>
              <a:t>float</a:t>
            </a:r>
            <a:r>
              <a:rPr lang="pl-PL" sz="600" dirty="0"/>
              <a:t>(R_B1 + R_B2 - TC_B)$ /* Profit for </a:t>
            </a:r>
            <a:r>
              <a:rPr lang="pl-PL" sz="600" dirty="0" err="1"/>
              <a:t>Scheme</a:t>
            </a:r>
            <a:r>
              <a:rPr lang="pl-PL" sz="600" dirty="0"/>
              <a:t> B */</a:t>
            </a:r>
          </a:p>
          <a:p>
            <a:endParaRPr lang="pl-PL" sz="600" dirty="0"/>
          </a:p>
          <a:p>
            <a:r>
              <a:rPr lang="pl-PL" sz="600" dirty="0"/>
              <a:t>/* First-</a:t>
            </a:r>
            <a:r>
              <a:rPr lang="pl-PL" sz="600" dirty="0" err="1"/>
              <a:t>Degree</a:t>
            </a:r>
            <a:r>
              <a:rPr lang="pl-PL" sz="600" dirty="0"/>
              <a:t> </a:t>
            </a:r>
            <a:r>
              <a:rPr lang="pl-PL" sz="600" dirty="0" err="1"/>
              <a:t>Price</a:t>
            </a:r>
            <a:r>
              <a:rPr lang="pl-PL" sz="600" dirty="0"/>
              <a:t> </a:t>
            </a:r>
            <a:r>
              <a:rPr lang="pl-PL" sz="600" dirty="0" err="1"/>
              <a:t>Discrimination</a:t>
            </a:r>
            <a:r>
              <a:rPr lang="pl-PL" sz="600" dirty="0"/>
              <a:t> */</a:t>
            </a:r>
          </a:p>
          <a:p>
            <a:r>
              <a:rPr lang="pl-PL" sz="600" dirty="0" err="1"/>
              <a:t>kill</a:t>
            </a:r>
            <a:r>
              <a:rPr lang="pl-PL" sz="600" dirty="0"/>
              <a:t>(Y)$</a:t>
            </a:r>
          </a:p>
          <a:p>
            <a:r>
              <a:rPr lang="pl-PL" sz="600" dirty="0" err="1"/>
              <a:t>eq</a:t>
            </a:r>
            <a:r>
              <a:rPr lang="pl-PL" sz="600" dirty="0"/>
              <a:t>: ''p = MC$ /* </a:t>
            </a:r>
            <a:r>
              <a:rPr lang="pl-PL" sz="600" dirty="0" err="1"/>
              <a:t>Equilibrium</a:t>
            </a:r>
            <a:r>
              <a:rPr lang="pl-PL" sz="600" dirty="0"/>
              <a:t> </a:t>
            </a:r>
            <a:r>
              <a:rPr lang="pl-PL" sz="600" dirty="0" err="1"/>
              <a:t>condition</a:t>
            </a:r>
            <a:r>
              <a:rPr lang="pl-PL" sz="600" dirty="0"/>
              <a:t>: </a:t>
            </a:r>
            <a:r>
              <a:rPr lang="pl-PL" sz="600" dirty="0" err="1"/>
              <a:t>price</a:t>
            </a:r>
            <a:r>
              <a:rPr lang="pl-PL" sz="600" dirty="0"/>
              <a:t> = </a:t>
            </a:r>
            <a:r>
              <a:rPr lang="pl-PL" sz="600" dirty="0" err="1"/>
              <a:t>marginal</a:t>
            </a:r>
            <a:r>
              <a:rPr lang="pl-PL" sz="600" dirty="0"/>
              <a:t> </a:t>
            </a:r>
            <a:r>
              <a:rPr lang="pl-PL" sz="600" dirty="0" err="1"/>
              <a:t>cost</a:t>
            </a:r>
            <a:r>
              <a:rPr lang="pl-PL" sz="600" dirty="0"/>
              <a:t> */</a:t>
            </a:r>
          </a:p>
          <a:p>
            <a:r>
              <a:rPr lang="pl-PL" sz="600" dirty="0" err="1"/>
              <a:t>solve</a:t>
            </a:r>
            <a:r>
              <a:rPr lang="pl-PL" sz="600" dirty="0"/>
              <a:t>([</a:t>
            </a:r>
            <a:r>
              <a:rPr lang="pl-PL" sz="600" dirty="0" err="1"/>
              <a:t>eq</a:t>
            </a:r>
            <a:r>
              <a:rPr lang="pl-PL" sz="600" dirty="0"/>
              <a:t>], [Y])$</a:t>
            </a:r>
          </a:p>
          <a:p>
            <a:r>
              <a:rPr lang="pl-PL" sz="600" dirty="0"/>
              <a:t>Y: </a:t>
            </a:r>
            <a:r>
              <a:rPr lang="pl-PL" sz="600" dirty="0" err="1"/>
              <a:t>rhs</a:t>
            </a:r>
            <a:r>
              <a:rPr lang="pl-PL" sz="600" dirty="0"/>
              <a:t>(%[1])$</a:t>
            </a:r>
          </a:p>
          <a:p>
            <a:r>
              <a:rPr lang="pl-PL" sz="600" dirty="0" err="1"/>
              <a:t>Y_star</a:t>
            </a:r>
            <a:r>
              <a:rPr lang="pl-PL" sz="600" dirty="0"/>
              <a:t>: Y$ /* </a:t>
            </a:r>
            <a:r>
              <a:rPr lang="pl-PL" sz="600" dirty="0" err="1"/>
              <a:t>Equilibrium</a:t>
            </a:r>
            <a:r>
              <a:rPr lang="pl-PL" sz="600" dirty="0"/>
              <a:t> </a:t>
            </a:r>
            <a:r>
              <a:rPr lang="pl-PL" sz="600" dirty="0" err="1"/>
              <a:t>quantity</a:t>
            </a:r>
            <a:r>
              <a:rPr lang="pl-PL" sz="600" dirty="0"/>
              <a:t> */</a:t>
            </a:r>
          </a:p>
          <a:p>
            <a:r>
              <a:rPr lang="pl-PL" sz="600" dirty="0"/>
              <a:t>TC_FD: </a:t>
            </a:r>
            <a:r>
              <a:rPr lang="pl-PL" sz="600" dirty="0" err="1"/>
              <a:t>float</a:t>
            </a:r>
            <a:r>
              <a:rPr lang="pl-PL" sz="600" dirty="0"/>
              <a:t>(</a:t>
            </a:r>
            <a:r>
              <a:rPr lang="pl-PL" sz="600" dirty="0" err="1"/>
              <a:t>Y_star</a:t>
            </a:r>
            <a:r>
              <a:rPr lang="pl-PL" sz="600" dirty="0"/>
              <a:t> * MC)$ /* Total </a:t>
            </a:r>
            <a:r>
              <a:rPr lang="pl-PL" sz="600" dirty="0" err="1"/>
              <a:t>cost</a:t>
            </a:r>
            <a:r>
              <a:rPr lang="pl-PL" sz="600" dirty="0"/>
              <a:t> for </a:t>
            </a:r>
            <a:r>
              <a:rPr lang="pl-PL" sz="600" dirty="0" err="1"/>
              <a:t>first-degree</a:t>
            </a:r>
            <a:r>
              <a:rPr lang="pl-PL" sz="600" dirty="0"/>
              <a:t> </a:t>
            </a:r>
            <a:r>
              <a:rPr lang="pl-PL" sz="600" dirty="0" err="1"/>
              <a:t>discrimination</a:t>
            </a:r>
            <a:r>
              <a:rPr lang="pl-PL" sz="600" dirty="0"/>
              <a:t> */</a:t>
            </a:r>
          </a:p>
          <a:p>
            <a:r>
              <a:rPr lang="pl-PL" sz="600" dirty="0" err="1"/>
              <a:t>kill</a:t>
            </a:r>
            <a:r>
              <a:rPr lang="pl-PL" sz="600" dirty="0"/>
              <a:t>(Y)$</a:t>
            </a:r>
          </a:p>
          <a:p>
            <a:r>
              <a:rPr lang="pl-PL" sz="600" dirty="0"/>
              <a:t>R_FD: </a:t>
            </a:r>
            <a:r>
              <a:rPr lang="pl-PL" sz="600" dirty="0" err="1"/>
              <a:t>float</a:t>
            </a:r>
            <a:r>
              <a:rPr lang="pl-PL" sz="600" dirty="0"/>
              <a:t>(</a:t>
            </a:r>
            <a:r>
              <a:rPr lang="pl-PL" sz="600" dirty="0" err="1"/>
              <a:t>integrate</a:t>
            </a:r>
            <a:r>
              <a:rPr lang="pl-PL" sz="600" dirty="0"/>
              <a:t>(1000 - Y, Y, 0, </a:t>
            </a:r>
            <a:r>
              <a:rPr lang="pl-PL" sz="600" dirty="0" err="1"/>
              <a:t>Y_star</a:t>
            </a:r>
            <a:r>
              <a:rPr lang="pl-PL" sz="600" dirty="0"/>
              <a:t>))$ /* Total </a:t>
            </a:r>
            <a:r>
              <a:rPr lang="pl-PL" sz="600" dirty="0" err="1"/>
              <a:t>revenue</a:t>
            </a:r>
            <a:r>
              <a:rPr lang="pl-PL" sz="600" dirty="0"/>
              <a:t> */</a:t>
            </a:r>
          </a:p>
          <a:p>
            <a:r>
              <a:rPr lang="pl-PL" sz="600" dirty="0" err="1"/>
              <a:t>Profit_FD</a:t>
            </a:r>
            <a:r>
              <a:rPr lang="pl-PL" sz="600" dirty="0"/>
              <a:t>: </a:t>
            </a:r>
            <a:r>
              <a:rPr lang="pl-PL" sz="600" dirty="0" err="1"/>
              <a:t>float</a:t>
            </a:r>
            <a:r>
              <a:rPr lang="pl-PL" sz="600" dirty="0"/>
              <a:t>(R_FD - TC_FD)$ /* Profit </a:t>
            </a:r>
            <a:r>
              <a:rPr lang="pl-PL" sz="600" dirty="0" err="1"/>
              <a:t>under</a:t>
            </a:r>
            <a:r>
              <a:rPr lang="pl-PL" sz="600" dirty="0"/>
              <a:t> </a:t>
            </a:r>
            <a:r>
              <a:rPr lang="pl-PL" sz="600" dirty="0" err="1"/>
              <a:t>first-degree</a:t>
            </a:r>
            <a:r>
              <a:rPr lang="pl-PL" sz="600" dirty="0"/>
              <a:t> </a:t>
            </a:r>
            <a:r>
              <a:rPr lang="pl-PL" sz="600" dirty="0" err="1"/>
              <a:t>discrimination</a:t>
            </a:r>
            <a:r>
              <a:rPr lang="pl-PL" sz="600" dirty="0"/>
              <a:t> */</a:t>
            </a:r>
          </a:p>
          <a:p>
            <a:endParaRPr lang="pl-PL" sz="600" dirty="0"/>
          </a:p>
          <a:p>
            <a:r>
              <a:rPr lang="pl-PL" sz="600" dirty="0"/>
              <a:t>/* Display </a:t>
            </a:r>
            <a:r>
              <a:rPr lang="pl-PL" sz="600" dirty="0" err="1"/>
              <a:t>results</a:t>
            </a:r>
            <a:r>
              <a:rPr lang="pl-PL" sz="600" dirty="0"/>
              <a:t> */</a:t>
            </a:r>
          </a:p>
          <a:p>
            <a:r>
              <a:rPr lang="pl-PL" sz="600" dirty="0" err="1"/>
              <a:t>print</a:t>
            </a:r>
            <a:r>
              <a:rPr lang="pl-PL" sz="600" dirty="0"/>
              <a:t>("</a:t>
            </a:r>
            <a:r>
              <a:rPr lang="pl-PL" sz="600" dirty="0" err="1"/>
              <a:t>Pricing</a:t>
            </a:r>
            <a:r>
              <a:rPr lang="pl-PL" sz="600" dirty="0"/>
              <a:t> </a:t>
            </a:r>
            <a:r>
              <a:rPr lang="pl-PL" sz="600" dirty="0" err="1"/>
              <a:t>Scheme</a:t>
            </a:r>
            <a:r>
              <a:rPr lang="pl-PL" sz="600" dirty="0"/>
              <a:t> A:")$</a:t>
            </a:r>
          </a:p>
          <a:p>
            <a:r>
              <a:rPr lang="pl-PL" sz="600" dirty="0" err="1"/>
              <a:t>print</a:t>
            </a:r>
            <a:r>
              <a:rPr lang="pl-PL" sz="600" dirty="0"/>
              <a:t>("</a:t>
            </a:r>
            <a:r>
              <a:rPr lang="pl-PL" sz="600" dirty="0" err="1"/>
              <a:t>Price</a:t>
            </a:r>
            <a:r>
              <a:rPr lang="pl-PL" sz="600" dirty="0"/>
              <a:t> for Y = 50:", p_A1)$</a:t>
            </a:r>
          </a:p>
          <a:p>
            <a:r>
              <a:rPr lang="pl-PL" sz="600" dirty="0" err="1"/>
              <a:t>print</a:t>
            </a:r>
            <a:r>
              <a:rPr lang="pl-PL" sz="600" dirty="0"/>
              <a:t>("</a:t>
            </a:r>
            <a:r>
              <a:rPr lang="pl-PL" sz="600" dirty="0" err="1"/>
              <a:t>Price</a:t>
            </a:r>
            <a:r>
              <a:rPr lang="pl-PL" sz="600" dirty="0"/>
              <a:t> for Y = 200:", p_A2)$</a:t>
            </a:r>
          </a:p>
          <a:p>
            <a:r>
              <a:rPr lang="pl-PL" sz="600" dirty="0" err="1"/>
              <a:t>print</a:t>
            </a:r>
            <a:r>
              <a:rPr lang="pl-PL" sz="600" dirty="0"/>
              <a:t>("Profit (</a:t>
            </a:r>
            <a:r>
              <a:rPr lang="pl-PL" sz="600" dirty="0" err="1"/>
              <a:t>Scheme</a:t>
            </a:r>
            <a:r>
              <a:rPr lang="pl-PL" sz="600" dirty="0"/>
              <a:t> A):", </a:t>
            </a:r>
            <a:r>
              <a:rPr lang="pl-PL" sz="600" dirty="0" err="1"/>
              <a:t>Profit_A</a:t>
            </a:r>
            <a:r>
              <a:rPr lang="pl-PL" sz="600" dirty="0"/>
              <a:t>)$</a:t>
            </a:r>
          </a:p>
          <a:p>
            <a:r>
              <a:rPr lang="pl-PL" sz="600" dirty="0" err="1"/>
              <a:t>print</a:t>
            </a:r>
            <a:r>
              <a:rPr lang="pl-PL" sz="600" dirty="0"/>
              <a:t>("</a:t>
            </a:r>
            <a:r>
              <a:rPr lang="pl-PL" sz="600" dirty="0" err="1"/>
              <a:t>Pricing</a:t>
            </a:r>
            <a:r>
              <a:rPr lang="pl-PL" sz="600" dirty="0"/>
              <a:t> </a:t>
            </a:r>
            <a:r>
              <a:rPr lang="pl-PL" sz="600" dirty="0" err="1"/>
              <a:t>Scheme</a:t>
            </a:r>
            <a:r>
              <a:rPr lang="pl-PL" sz="600" dirty="0"/>
              <a:t> B:")$</a:t>
            </a:r>
          </a:p>
          <a:p>
            <a:r>
              <a:rPr lang="pl-PL" sz="600" dirty="0" err="1"/>
              <a:t>print</a:t>
            </a:r>
            <a:r>
              <a:rPr lang="pl-PL" sz="600" dirty="0"/>
              <a:t>("</a:t>
            </a:r>
            <a:r>
              <a:rPr lang="pl-PL" sz="600" dirty="0" err="1"/>
              <a:t>Price</a:t>
            </a:r>
            <a:r>
              <a:rPr lang="pl-PL" sz="600" dirty="0"/>
              <a:t> for Y = 100:", p_B1)$</a:t>
            </a:r>
          </a:p>
          <a:p>
            <a:r>
              <a:rPr lang="pl-PL" sz="600" dirty="0" err="1"/>
              <a:t>print</a:t>
            </a:r>
            <a:r>
              <a:rPr lang="pl-PL" sz="600" dirty="0"/>
              <a:t>("</a:t>
            </a:r>
            <a:r>
              <a:rPr lang="pl-PL" sz="600" dirty="0" err="1"/>
              <a:t>Price</a:t>
            </a:r>
            <a:r>
              <a:rPr lang="pl-PL" sz="600" dirty="0"/>
              <a:t> for Y = 300:", p_B2)$</a:t>
            </a:r>
          </a:p>
          <a:p>
            <a:r>
              <a:rPr lang="pl-PL" sz="600" dirty="0" err="1"/>
              <a:t>print</a:t>
            </a:r>
            <a:r>
              <a:rPr lang="pl-PL" sz="600" dirty="0"/>
              <a:t>("Profit (</a:t>
            </a:r>
            <a:r>
              <a:rPr lang="pl-PL" sz="600" dirty="0" err="1"/>
              <a:t>Scheme</a:t>
            </a:r>
            <a:r>
              <a:rPr lang="pl-PL" sz="600" dirty="0"/>
              <a:t> B):", </a:t>
            </a:r>
            <a:r>
              <a:rPr lang="pl-PL" sz="600" dirty="0" err="1"/>
              <a:t>Profit_B</a:t>
            </a:r>
            <a:r>
              <a:rPr lang="pl-PL" sz="600" dirty="0"/>
              <a:t>)$</a:t>
            </a:r>
          </a:p>
          <a:p>
            <a:r>
              <a:rPr lang="pl-PL" sz="600" dirty="0" err="1"/>
              <a:t>print</a:t>
            </a:r>
            <a:r>
              <a:rPr lang="pl-PL" sz="600" dirty="0"/>
              <a:t>("First-</a:t>
            </a:r>
            <a:r>
              <a:rPr lang="pl-PL" sz="600" dirty="0" err="1"/>
              <a:t>Degree</a:t>
            </a:r>
            <a:r>
              <a:rPr lang="pl-PL" sz="600" dirty="0"/>
              <a:t> </a:t>
            </a:r>
            <a:r>
              <a:rPr lang="pl-PL" sz="600" dirty="0" err="1"/>
              <a:t>Price</a:t>
            </a:r>
            <a:r>
              <a:rPr lang="pl-PL" sz="600" dirty="0"/>
              <a:t> </a:t>
            </a:r>
            <a:r>
              <a:rPr lang="pl-PL" sz="600" dirty="0" err="1"/>
              <a:t>Discrimination</a:t>
            </a:r>
            <a:r>
              <a:rPr lang="pl-PL" sz="600" dirty="0"/>
              <a:t>:")$</a:t>
            </a:r>
          </a:p>
          <a:p>
            <a:r>
              <a:rPr lang="pl-PL" sz="600" dirty="0" err="1"/>
              <a:t>print</a:t>
            </a:r>
            <a:r>
              <a:rPr lang="pl-PL" sz="600" dirty="0"/>
              <a:t>("Profit (First-</a:t>
            </a:r>
            <a:r>
              <a:rPr lang="pl-PL" sz="600" dirty="0" err="1"/>
              <a:t>Degree</a:t>
            </a:r>
            <a:r>
              <a:rPr lang="pl-PL" sz="600" dirty="0"/>
              <a:t>):", </a:t>
            </a:r>
            <a:r>
              <a:rPr lang="pl-PL" sz="600" dirty="0" err="1"/>
              <a:t>Profit_FD</a:t>
            </a:r>
            <a:r>
              <a:rPr lang="pl-PL" sz="600" dirty="0"/>
              <a:t>)$</a:t>
            </a:r>
          </a:p>
        </p:txBody>
      </p:sp>
      <p:sp>
        <p:nvSpPr>
          <p:cNvPr id="4" name="TextBox 3">
            <a:extLst>
              <a:ext uri="{FF2B5EF4-FFF2-40B4-BE49-F238E27FC236}">
                <a16:creationId xmlns:a16="http://schemas.microsoft.com/office/drawing/2014/main" id="{C226B5AE-1B44-8223-9827-EC1C862818BC}"/>
              </a:ext>
            </a:extLst>
          </p:cNvPr>
          <p:cNvSpPr txBox="1"/>
          <p:nvPr/>
        </p:nvSpPr>
        <p:spPr>
          <a:xfrm>
            <a:off x="4998720" y="1443422"/>
            <a:ext cx="6926415" cy="5078313"/>
          </a:xfrm>
          <a:prstGeom prst="rect">
            <a:avLst/>
          </a:prstGeom>
          <a:noFill/>
        </p:spPr>
        <p:txBody>
          <a:bodyPr wrap="square">
            <a:spAutoFit/>
          </a:bodyPr>
          <a:lstStyle/>
          <a:p>
            <a:r>
              <a:rPr lang="en-US" b="1" dirty="0">
                <a:solidFill>
                  <a:schemeClr val="accent5">
                    <a:lumMod val="50000"/>
                  </a:schemeClr>
                </a:solidFill>
              </a:rPr>
              <a:t>Exam Task</a:t>
            </a:r>
          </a:p>
          <a:p>
            <a:r>
              <a:rPr lang="en-US" dirty="0">
                <a:solidFill>
                  <a:schemeClr val="accent5">
                    <a:lumMod val="50000"/>
                  </a:schemeClr>
                </a:solidFill>
              </a:rPr>
              <a:t>A monopolist wants to increase profits by introducing price discrimination based on quantity. The firm considers two pricing schemes:</a:t>
            </a:r>
          </a:p>
          <a:p>
            <a:pPr marL="342900" indent="-342900">
              <a:buAutoNum type="alphaUcParenR"/>
            </a:pPr>
            <a:r>
              <a:rPr lang="en-US" dirty="0">
                <a:solidFill>
                  <a:schemeClr val="accent5">
                    <a:lumMod val="50000"/>
                  </a:schemeClr>
                </a:solidFill>
              </a:rPr>
              <a:t>Price change thresholds at Y=50 and Y=200Y</a:t>
            </a:r>
            <a:endParaRPr lang="pl-PL" dirty="0">
              <a:solidFill>
                <a:schemeClr val="accent5">
                  <a:lumMod val="50000"/>
                </a:schemeClr>
              </a:solidFill>
            </a:endParaRPr>
          </a:p>
          <a:p>
            <a:pPr marL="342900" indent="-342900">
              <a:buAutoNum type="alphaUcParenR"/>
            </a:pPr>
            <a:r>
              <a:rPr lang="en-US" dirty="0">
                <a:solidFill>
                  <a:schemeClr val="accent5">
                    <a:lumMod val="50000"/>
                  </a:schemeClr>
                </a:solidFill>
              </a:rPr>
              <a:t>Price change thresholds at Y=100 and Y=300.</a:t>
            </a:r>
          </a:p>
          <a:p>
            <a:endParaRPr lang="pl-PL" dirty="0">
              <a:solidFill>
                <a:schemeClr val="accent5">
                  <a:lumMod val="50000"/>
                </a:schemeClr>
              </a:solidFill>
            </a:endParaRPr>
          </a:p>
          <a:p>
            <a:r>
              <a:rPr lang="en-US" dirty="0">
                <a:solidFill>
                  <a:schemeClr val="accent5">
                    <a:lumMod val="50000"/>
                  </a:schemeClr>
                </a:solidFill>
              </a:rPr>
              <a:t>Firm's characteristics:</a:t>
            </a:r>
            <a:r>
              <a:rPr lang="pl-PL" dirty="0">
                <a:solidFill>
                  <a:schemeClr val="accent5">
                    <a:lumMod val="50000"/>
                  </a:schemeClr>
                </a:solidFill>
              </a:rPr>
              <a:t> </a:t>
            </a:r>
            <a:r>
              <a:rPr lang="en-US" dirty="0">
                <a:solidFill>
                  <a:schemeClr val="accent5">
                    <a:lumMod val="50000"/>
                  </a:schemeClr>
                </a:solidFill>
              </a:rPr>
              <a:t> MC=ATC=50</a:t>
            </a:r>
            <a:r>
              <a:rPr lang="pl-PL" dirty="0">
                <a:solidFill>
                  <a:schemeClr val="accent5">
                    <a:lumMod val="50000"/>
                  </a:schemeClr>
                </a:solidFill>
              </a:rPr>
              <a:t>; </a:t>
            </a:r>
            <a:r>
              <a:rPr lang="en-US" dirty="0">
                <a:solidFill>
                  <a:schemeClr val="accent5">
                    <a:lumMod val="50000"/>
                  </a:schemeClr>
                </a:solidFill>
              </a:rPr>
              <a:t>  Demand function: Y=1000−p</a:t>
            </a:r>
          </a:p>
          <a:p>
            <a:endParaRPr lang="en-US" dirty="0">
              <a:solidFill>
                <a:schemeClr val="accent5">
                  <a:lumMod val="50000"/>
                </a:schemeClr>
              </a:solidFill>
            </a:endParaRPr>
          </a:p>
          <a:p>
            <a:r>
              <a:rPr lang="en-US" dirty="0">
                <a:solidFill>
                  <a:schemeClr val="accent5">
                    <a:lumMod val="50000"/>
                  </a:schemeClr>
                </a:solidFill>
              </a:rPr>
              <a:t>Questions:</a:t>
            </a:r>
            <a:r>
              <a:rPr lang="pl-PL" dirty="0">
                <a:solidFill>
                  <a:schemeClr val="accent5">
                    <a:lumMod val="50000"/>
                  </a:schemeClr>
                </a:solidFill>
              </a:rPr>
              <a:t> </a:t>
            </a:r>
            <a:r>
              <a:rPr lang="en-US" dirty="0">
                <a:solidFill>
                  <a:schemeClr val="accent5">
                    <a:lumMod val="50000"/>
                  </a:schemeClr>
                </a:solidFill>
              </a:rPr>
              <a:t>Is there a better way to implement price discrimination than the proposed schemes? This can be done by substituting different values or solving analytically.</a:t>
            </a:r>
            <a:r>
              <a:rPr lang="pl-PL" dirty="0">
                <a:solidFill>
                  <a:schemeClr val="accent5">
                    <a:lumMod val="50000"/>
                  </a:schemeClr>
                </a:solidFill>
              </a:rPr>
              <a:t> </a:t>
            </a:r>
            <a:r>
              <a:rPr lang="en-US" dirty="0">
                <a:solidFill>
                  <a:schemeClr val="accent5">
                    <a:lumMod val="50000"/>
                  </a:schemeClr>
                </a:solidFill>
              </a:rPr>
              <a:t>What is the profit under first-degree price discrimination</a:t>
            </a:r>
            <a:r>
              <a:rPr lang="pl-PL" dirty="0">
                <a:solidFill>
                  <a:schemeClr val="accent5">
                    <a:lumMod val="50000"/>
                  </a:schemeClr>
                </a:solidFill>
              </a:rPr>
              <a:t> and </a:t>
            </a:r>
            <a:r>
              <a:rPr lang="pl-PL" dirty="0" err="1">
                <a:solidFill>
                  <a:schemeClr val="accent5">
                    <a:lumMod val="50000"/>
                  </a:schemeClr>
                </a:solidFill>
              </a:rPr>
              <a:t>simply</a:t>
            </a:r>
            <a:r>
              <a:rPr lang="pl-PL" dirty="0">
                <a:solidFill>
                  <a:schemeClr val="accent5">
                    <a:lumMod val="50000"/>
                  </a:schemeClr>
                </a:solidFill>
              </a:rPr>
              <a:t> </a:t>
            </a:r>
            <a:r>
              <a:rPr lang="pl-PL" dirty="0" err="1">
                <a:solidFill>
                  <a:schemeClr val="accent5">
                    <a:lumMod val="50000"/>
                  </a:schemeClr>
                </a:solidFill>
              </a:rPr>
              <a:t>monpoly</a:t>
            </a:r>
            <a:r>
              <a:rPr lang="en-US" dirty="0">
                <a:solidFill>
                  <a:schemeClr val="accent5">
                    <a:lumMod val="50000"/>
                  </a:schemeClr>
                </a:solidFill>
              </a:rPr>
              <a:t>?</a:t>
            </a:r>
            <a:r>
              <a:rPr lang="pl-PL" dirty="0">
                <a:solidFill>
                  <a:schemeClr val="accent5">
                    <a:lumMod val="50000"/>
                  </a:schemeClr>
                </a:solidFill>
              </a:rPr>
              <a:t> </a:t>
            </a:r>
          </a:p>
          <a:p>
            <a:r>
              <a:rPr lang="en-US" b="1" dirty="0">
                <a:solidFill>
                  <a:schemeClr val="accent5">
                    <a:lumMod val="50000"/>
                  </a:schemeClr>
                </a:solidFill>
              </a:rPr>
              <a:t>(this example from the exam task is somewhat artificial)</a:t>
            </a:r>
            <a:endParaRPr lang="pl-PL" b="1" dirty="0">
              <a:solidFill>
                <a:schemeClr val="accent5">
                  <a:lumMod val="50000"/>
                </a:schemeClr>
              </a:solidFill>
            </a:endParaRPr>
          </a:p>
          <a:p>
            <a:endParaRPr lang="pl-PL" dirty="0">
              <a:solidFill>
                <a:schemeClr val="accent5">
                  <a:lumMod val="50000"/>
                </a:schemeClr>
              </a:solidFill>
            </a:endParaRPr>
          </a:p>
          <a:p>
            <a:r>
              <a:rPr lang="en-US" dirty="0">
                <a:solidFill>
                  <a:schemeClr val="accent5">
                    <a:lumMod val="50000"/>
                  </a:schemeClr>
                </a:solidFill>
              </a:rPr>
              <a:t>I didn't manage to test the procedure "buy two, get the third one free" on data from </a:t>
            </a:r>
            <a:r>
              <a:rPr lang="pl-PL" dirty="0" err="1">
                <a:solidFill>
                  <a:schemeClr val="accent5">
                    <a:lumMod val="50000"/>
                  </a:schemeClr>
                </a:solidFill>
              </a:rPr>
              <a:t>your</a:t>
            </a:r>
            <a:r>
              <a:rPr lang="en-US" dirty="0">
                <a:solidFill>
                  <a:schemeClr val="accent5">
                    <a:lumMod val="50000"/>
                  </a:schemeClr>
                </a:solidFill>
              </a:rPr>
              <a:t> "market" experiment.</a:t>
            </a:r>
            <a:endParaRPr lang="pl-PL" dirty="0">
              <a:solidFill>
                <a:schemeClr val="accent5">
                  <a:lumMod val="50000"/>
                </a:schemeClr>
              </a:solidFill>
            </a:endParaRPr>
          </a:p>
          <a:p>
            <a:endParaRPr lang="pl-PL" dirty="0">
              <a:solidFill>
                <a:schemeClr val="accent5">
                  <a:lumMod val="50000"/>
                </a:schemeClr>
              </a:solidFill>
            </a:endParaRPr>
          </a:p>
        </p:txBody>
      </p:sp>
      <p:sp>
        <p:nvSpPr>
          <p:cNvPr id="8" name="TextBox 7">
            <a:extLst>
              <a:ext uri="{FF2B5EF4-FFF2-40B4-BE49-F238E27FC236}">
                <a16:creationId xmlns:a16="http://schemas.microsoft.com/office/drawing/2014/main" id="{A13B069F-A383-8A19-04A3-B06E674FF939}"/>
              </a:ext>
            </a:extLst>
          </p:cNvPr>
          <p:cNvSpPr txBox="1"/>
          <p:nvPr/>
        </p:nvSpPr>
        <p:spPr>
          <a:xfrm>
            <a:off x="2532460" y="1771422"/>
            <a:ext cx="2466260" cy="212365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1200" dirty="0"/>
              <a:t>"Pricing Scheme A:"" "</a:t>
            </a:r>
          </a:p>
          <a:p>
            <a:r>
              <a:rPr lang="en-US" sz="1200" dirty="0"/>
              <a:t>"Price for Y = 50:"" "950.0" "</a:t>
            </a:r>
          </a:p>
          <a:p>
            <a:r>
              <a:rPr lang="en-US" sz="1200" dirty="0"/>
              <a:t>"Price for Y = 200:"" "800.0" "</a:t>
            </a:r>
          </a:p>
          <a:p>
            <a:r>
              <a:rPr lang="en-US" sz="1200" dirty="0"/>
              <a:t>"Profit (Scheme A):"" "157500.0" "</a:t>
            </a:r>
          </a:p>
          <a:p>
            <a:r>
              <a:rPr lang="en-US" sz="1200" dirty="0"/>
              <a:t>"Pricing Scheme B:"" "</a:t>
            </a:r>
          </a:p>
          <a:p>
            <a:r>
              <a:rPr lang="en-US" sz="1200" dirty="0"/>
              <a:t>"Price for Y = 100:"" "900.0" "</a:t>
            </a:r>
          </a:p>
          <a:p>
            <a:r>
              <a:rPr lang="en-US" sz="1200" dirty="0"/>
              <a:t>"Price for Y = 300:"" "700.0" "</a:t>
            </a:r>
          </a:p>
          <a:p>
            <a:r>
              <a:rPr lang="en-US" sz="1200" dirty="0"/>
              <a:t>"Profit (Scheme B):"" "215000.0" "</a:t>
            </a:r>
          </a:p>
          <a:p>
            <a:r>
              <a:rPr lang="en-US" sz="1200" dirty="0"/>
              <a:t>"First-Degree Price Discrimination:"" "</a:t>
            </a:r>
          </a:p>
          <a:p>
            <a:r>
              <a:rPr lang="en-US" sz="1200" dirty="0"/>
              <a:t>"Profit (First-Degree):"" "451250.0" "</a:t>
            </a:r>
            <a:endParaRPr lang="pl-PL" sz="1200" dirty="0"/>
          </a:p>
        </p:txBody>
      </p:sp>
    </p:spTree>
    <p:extLst>
      <p:ext uri="{BB962C8B-B14F-4D97-AF65-F5344CB8AC3E}">
        <p14:creationId xmlns:p14="http://schemas.microsoft.com/office/powerpoint/2010/main" val="1725523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6D429-9D8F-35EF-0F3D-EBC1446DF94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D2C859AC-2418-45D9-8E99-77BC5710D745}"/>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a:solidFill>
                  <a:srgbClr val="4BACC6">
                    <a:lumMod val="50000"/>
                  </a:srgbClr>
                </a:solidFill>
              </a:rPr>
              <a:t>Third-</a:t>
            </a:r>
            <a:r>
              <a:rPr lang="pl-PL" b="1" noProof="0" dirty="0" err="1">
                <a:solidFill>
                  <a:srgbClr val="4BACC6">
                    <a:lumMod val="50000"/>
                  </a:srgbClr>
                </a:solidFill>
              </a:rPr>
              <a:t>Degree</a:t>
            </a:r>
            <a:r>
              <a:rPr lang="pl-PL" b="1" noProof="0" dirty="0">
                <a:solidFill>
                  <a:srgbClr val="4BACC6">
                    <a:lumMod val="50000"/>
                  </a:srgbClr>
                </a:solidFill>
              </a:rPr>
              <a:t> </a:t>
            </a:r>
            <a:r>
              <a:rPr lang="pl-PL" b="1" noProof="0" dirty="0" err="1">
                <a:solidFill>
                  <a:srgbClr val="4BACC6">
                    <a:lumMod val="50000"/>
                  </a:srgbClr>
                </a:solidFill>
              </a:rPr>
              <a:t>Price</a:t>
            </a:r>
            <a:r>
              <a:rPr lang="pl-PL" b="1" noProof="0" dirty="0">
                <a:solidFill>
                  <a:srgbClr val="4BACC6">
                    <a:lumMod val="50000"/>
                  </a:srgbClr>
                </a:solidFill>
              </a:rPr>
              <a:t> </a:t>
            </a:r>
            <a:r>
              <a:rPr lang="pl-PL" b="1" noProof="0" dirty="0" err="1">
                <a:solidFill>
                  <a:srgbClr val="4BACC6">
                    <a:lumMod val="50000"/>
                  </a:srgbClr>
                </a:solidFill>
              </a:rPr>
              <a:t>Discrimination</a:t>
            </a:r>
            <a:endParaRPr lang="pl-PL" b="1" noProof="0" dirty="0">
              <a:solidFill>
                <a:srgbClr val="4BACC6">
                  <a:lumMod val="50000"/>
                </a:srgbClr>
              </a:solidFill>
            </a:endParaRPr>
          </a:p>
          <a:p>
            <a:r>
              <a:rPr lang="en-US" b="1" noProof="0" dirty="0">
                <a:solidFill>
                  <a:srgbClr val="4BACC6">
                    <a:lumMod val="50000"/>
                  </a:srgbClr>
                </a:solidFill>
              </a:rPr>
              <a:t>(dividing consumers into distinct groups)</a:t>
            </a:r>
          </a:p>
        </p:txBody>
      </p:sp>
      <p:sp>
        <p:nvSpPr>
          <p:cNvPr id="3" name="Podtytuł 2">
            <a:extLst>
              <a:ext uri="{FF2B5EF4-FFF2-40B4-BE49-F238E27FC236}">
                <a16:creationId xmlns:a16="http://schemas.microsoft.com/office/drawing/2014/main" id="{DA3F4A3A-87B8-D681-2748-E8E1A69D1ED7}"/>
              </a:ext>
            </a:extLst>
          </p:cNvPr>
          <p:cNvSpPr txBox="1">
            <a:spLocks/>
          </p:cNvSpPr>
          <p:nvPr/>
        </p:nvSpPr>
        <p:spPr>
          <a:xfrm>
            <a:off x="3750541" y="5895035"/>
            <a:ext cx="488401" cy="427041"/>
          </a:xfrm>
          <a:prstGeom prst="rect">
            <a:avLst/>
          </a:prstGeom>
        </p:spPr>
        <p:txBody>
          <a:bodyPr vert="horz" lIns="91440" tIns="45720" rIns="91440" bIns="45720" rtlCol="0">
            <a:normAutofit fontScale="850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pl-PL" sz="3200" dirty="0">
                <a:solidFill>
                  <a:srgbClr val="003366"/>
                </a:solidFill>
              </a:rPr>
              <a:t>q</a:t>
            </a:r>
            <a:r>
              <a:rPr kumimoji="0" lang="pl-PL" sz="3200" b="0" i="0" u="none" strike="noStrike" kern="1200" cap="none" spc="0" normalizeH="0" baseline="0" noProof="0" dirty="0">
                <a:ln>
                  <a:noFill/>
                </a:ln>
                <a:solidFill>
                  <a:srgbClr val="003366"/>
                </a:solidFill>
                <a:effectLst/>
                <a:uLnTx/>
                <a:uFillTx/>
                <a:latin typeface="+mn-lt"/>
                <a:ea typeface="+mn-ea"/>
                <a:cs typeface="+mn-cs"/>
              </a:rPr>
              <a:t>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grpSp>
        <p:nvGrpSpPr>
          <p:cNvPr id="6" name="Grupa 28">
            <a:extLst>
              <a:ext uri="{FF2B5EF4-FFF2-40B4-BE49-F238E27FC236}">
                <a16:creationId xmlns:a16="http://schemas.microsoft.com/office/drawing/2014/main" id="{11793F4F-BA31-20CD-31F6-2116FE4B0108}"/>
              </a:ext>
            </a:extLst>
          </p:cNvPr>
          <p:cNvGrpSpPr/>
          <p:nvPr/>
        </p:nvGrpSpPr>
        <p:grpSpPr>
          <a:xfrm>
            <a:off x="-78509" y="1965960"/>
            <a:ext cx="7256462" cy="3509010"/>
            <a:chOff x="288960" y="2071678"/>
            <a:chExt cx="8497914" cy="4500594"/>
          </a:xfrm>
        </p:grpSpPr>
        <p:sp>
          <p:nvSpPr>
            <p:cNvPr id="7" name="Podtytuł 2">
              <a:extLst>
                <a:ext uri="{FF2B5EF4-FFF2-40B4-BE49-F238E27FC236}">
                  <a16:creationId xmlns:a16="http://schemas.microsoft.com/office/drawing/2014/main" id="{B2B7BA51-1DF4-DF97-9692-5E009B53D4CA}"/>
                </a:ext>
              </a:extLst>
            </p:cNvPr>
            <p:cNvSpPr txBox="1">
              <a:spLocks/>
            </p:cNvSpPr>
            <p:nvPr/>
          </p:nvSpPr>
          <p:spPr>
            <a:xfrm>
              <a:off x="2000264" y="2285992"/>
              <a:ext cx="5429320" cy="785818"/>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cxnSp>
          <p:nvCxnSpPr>
            <p:cNvPr id="9" name="Łącznik prosty ze strzałką 40">
              <a:extLst>
                <a:ext uri="{FF2B5EF4-FFF2-40B4-BE49-F238E27FC236}">
                  <a16:creationId xmlns:a16="http://schemas.microsoft.com/office/drawing/2014/main" id="{85AEDCCB-9EF5-45B6-9DBD-EC550A9A09E4}"/>
                </a:ext>
              </a:extLst>
            </p:cNvPr>
            <p:cNvCxnSpPr/>
            <p:nvPr/>
          </p:nvCxnSpPr>
          <p:spPr>
            <a:xfrm rot="5400000" flipH="1" flipV="1">
              <a:off x="-1177933" y="4178305"/>
              <a:ext cx="4071172"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Łącznik prosty ze strzałką 41">
              <a:extLst>
                <a:ext uri="{FF2B5EF4-FFF2-40B4-BE49-F238E27FC236}">
                  <a16:creationId xmlns:a16="http://schemas.microsoft.com/office/drawing/2014/main" id="{38F2B3E6-5FBD-445C-1BD9-B4217E454378}"/>
                </a:ext>
              </a:extLst>
            </p:cNvPr>
            <p:cNvCxnSpPr/>
            <p:nvPr/>
          </p:nvCxnSpPr>
          <p:spPr>
            <a:xfrm flipV="1">
              <a:off x="714380" y="6000768"/>
              <a:ext cx="3786214" cy="952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1" name="Łącznik prosty 42">
              <a:extLst>
                <a:ext uri="{FF2B5EF4-FFF2-40B4-BE49-F238E27FC236}">
                  <a16:creationId xmlns:a16="http://schemas.microsoft.com/office/drawing/2014/main" id="{DCEC7F63-B970-E5C7-5685-C53D84CCE022}"/>
                </a:ext>
              </a:extLst>
            </p:cNvPr>
            <p:cNvCxnSpPr>
              <a:cxnSpLocks/>
            </p:cNvCxnSpPr>
            <p:nvPr/>
          </p:nvCxnSpPr>
          <p:spPr>
            <a:xfrm>
              <a:off x="857256" y="2500307"/>
              <a:ext cx="2682616" cy="3296465"/>
            </a:xfrm>
            <a:prstGeom prst="line">
              <a:avLst/>
            </a:prstGeom>
          </p:spPr>
          <p:style>
            <a:lnRef idx="3">
              <a:schemeClr val="accent3"/>
            </a:lnRef>
            <a:fillRef idx="0">
              <a:schemeClr val="accent3"/>
            </a:fillRef>
            <a:effectRef idx="2">
              <a:schemeClr val="accent3"/>
            </a:effectRef>
            <a:fontRef idx="minor">
              <a:schemeClr val="tx1"/>
            </a:fontRef>
          </p:style>
        </p:cxnSp>
        <p:cxnSp>
          <p:nvCxnSpPr>
            <p:cNvPr id="12" name="Łącznik prosty 44">
              <a:extLst>
                <a:ext uri="{FF2B5EF4-FFF2-40B4-BE49-F238E27FC236}">
                  <a16:creationId xmlns:a16="http://schemas.microsoft.com/office/drawing/2014/main" id="{BEA81032-4EBD-1BBF-26C9-FF725498613F}"/>
                </a:ext>
              </a:extLst>
            </p:cNvPr>
            <p:cNvCxnSpPr/>
            <p:nvPr/>
          </p:nvCxnSpPr>
          <p:spPr>
            <a:xfrm rot="16200000" flipH="1">
              <a:off x="-464347" y="3821909"/>
              <a:ext cx="4071966" cy="1428760"/>
            </a:xfrm>
            <a:prstGeom prst="line">
              <a:avLst/>
            </a:prstGeom>
          </p:spPr>
          <p:style>
            <a:lnRef idx="2">
              <a:schemeClr val="accent4"/>
            </a:lnRef>
            <a:fillRef idx="0">
              <a:schemeClr val="accent4"/>
            </a:fillRef>
            <a:effectRef idx="1">
              <a:schemeClr val="accent4"/>
            </a:effectRef>
            <a:fontRef idx="minor">
              <a:schemeClr val="tx1"/>
            </a:fontRef>
          </p:style>
        </p:cxnSp>
        <p:cxnSp>
          <p:nvCxnSpPr>
            <p:cNvPr id="13" name="Łącznik prosty 45">
              <a:extLst>
                <a:ext uri="{FF2B5EF4-FFF2-40B4-BE49-F238E27FC236}">
                  <a16:creationId xmlns:a16="http://schemas.microsoft.com/office/drawing/2014/main" id="{0B1A0242-9B39-024A-D19E-0DFE30C9A9C7}"/>
                </a:ext>
              </a:extLst>
            </p:cNvPr>
            <p:cNvCxnSpPr/>
            <p:nvPr/>
          </p:nvCxnSpPr>
          <p:spPr>
            <a:xfrm rot="5400000" flipH="1" flipV="1">
              <a:off x="821537" y="4893479"/>
              <a:ext cx="221457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Łącznik prosty 46">
              <a:extLst>
                <a:ext uri="{FF2B5EF4-FFF2-40B4-BE49-F238E27FC236}">
                  <a16:creationId xmlns:a16="http://schemas.microsoft.com/office/drawing/2014/main" id="{A86D4903-7941-5B18-A853-CB3AEA1D91DC}"/>
                </a:ext>
              </a:extLst>
            </p:cNvPr>
            <p:cNvCxnSpPr/>
            <p:nvPr/>
          </p:nvCxnSpPr>
          <p:spPr>
            <a:xfrm rot="10800000">
              <a:off x="857256" y="3786190"/>
              <a:ext cx="107157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Prostokąt 47">
              <a:extLst>
                <a:ext uri="{FF2B5EF4-FFF2-40B4-BE49-F238E27FC236}">
                  <a16:creationId xmlns:a16="http://schemas.microsoft.com/office/drawing/2014/main" id="{843290DF-A5B5-7642-91FF-1078B13CBF86}"/>
                </a:ext>
              </a:extLst>
            </p:cNvPr>
            <p:cNvSpPr/>
            <p:nvPr/>
          </p:nvSpPr>
          <p:spPr>
            <a:xfrm>
              <a:off x="857256" y="3786190"/>
              <a:ext cx="1071570" cy="2214578"/>
            </a:xfrm>
            <a:prstGeom prst="rect">
              <a:avLst/>
            </a:prstGeom>
            <a:solidFill>
              <a:schemeClr val="accent3">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003366"/>
                  </a:solidFill>
                </a:rPr>
                <a:t>profit</a:t>
              </a:r>
              <a:endParaRPr lang="pl-PL" dirty="0"/>
            </a:p>
          </p:txBody>
        </p:sp>
        <p:sp>
          <p:nvSpPr>
            <p:cNvPr id="16" name="Prostokąt 49">
              <a:extLst>
                <a:ext uri="{FF2B5EF4-FFF2-40B4-BE49-F238E27FC236}">
                  <a16:creationId xmlns:a16="http://schemas.microsoft.com/office/drawing/2014/main" id="{5233859E-57B1-D02F-AF5D-B922C6812A59}"/>
                </a:ext>
              </a:extLst>
            </p:cNvPr>
            <p:cNvSpPr/>
            <p:nvPr/>
          </p:nvSpPr>
          <p:spPr>
            <a:xfrm>
              <a:off x="857256" y="5572140"/>
              <a:ext cx="1071570" cy="428628"/>
            </a:xfrm>
            <a:prstGeom prst="rect">
              <a:avLst/>
            </a:prstGeom>
            <a:solidFill>
              <a:schemeClr val="accent2">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pl-PL" dirty="0" err="1">
                  <a:solidFill>
                    <a:srgbClr val="003366"/>
                  </a:solidFill>
                </a:rPr>
                <a:t>cost</a:t>
              </a:r>
              <a:endParaRPr lang="pl-PL" dirty="0"/>
            </a:p>
          </p:txBody>
        </p:sp>
        <p:sp>
          <p:nvSpPr>
            <p:cNvPr id="17" name="Podtytuł 2">
              <a:extLst>
                <a:ext uri="{FF2B5EF4-FFF2-40B4-BE49-F238E27FC236}">
                  <a16:creationId xmlns:a16="http://schemas.microsoft.com/office/drawing/2014/main" id="{E48F8C74-0AF8-F377-5C85-C4CD67B641DF}"/>
                </a:ext>
              </a:extLst>
            </p:cNvPr>
            <p:cNvSpPr txBox="1">
              <a:spLocks/>
            </p:cNvSpPr>
            <p:nvPr/>
          </p:nvSpPr>
          <p:spPr>
            <a:xfrm>
              <a:off x="288960" y="2321711"/>
              <a:ext cx="425420" cy="357190"/>
            </a:xfrm>
            <a:prstGeom prst="rect">
              <a:avLst/>
            </a:prstGeom>
          </p:spPr>
          <p:txBody>
            <a:bodyPr vert="horz" lIns="91440" tIns="45720" rIns="91440" bIns="45720" rtlCol="0">
              <a:normAutofit fontScale="400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effectLst/>
                  <a:uLnTx/>
                  <a:uFillTx/>
                  <a:latin typeface="+mn-lt"/>
                  <a:ea typeface="+mn-ea"/>
                  <a:cs typeface="+mn-cs"/>
                </a:rPr>
                <a:t>p</a:t>
              </a:r>
            </a:p>
          </p:txBody>
        </p:sp>
        <p:sp>
          <p:nvSpPr>
            <p:cNvPr id="18" name="Elipsa 56">
              <a:extLst>
                <a:ext uri="{FF2B5EF4-FFF2-40B4-BE49-F238E27FC236}">
                  <a16:creationId xmlns:a16="http://schemas.microsoft.com/office/drawing/2014/main" id="{D583C1FA-8489-49A2-4F35-21630D7CBE1B}"/>
                </a:ext>
              </a:extLst>
            </p:cNvPr>
            <p:cNvSpPr/>
            <p:nvPr/>
          </p:nvSpPr>
          <p:spPr>
            <a:xfrm>
              <a:off x="1857388" y="5929330"/>
              <a:ext cx="142876" cy="14287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pl-PL"/>
            </a:p>
          </p:txBody>
        </p:sp>
        <p:cxnSp>
          <p:nvCxnSpPr>
            <p:cNvPr id="19" name="Łącznik prosty 60">
              <a:extLst>
                <a:ext uri="{FF2B5EF4-FFF2-40B4-BE49-F238E27FC236}">
                  <a16:creationId xmlns:a16="http://schemas.microsoft.com/office/drawing/2014/main" id="{F75AF001-5CBF-5340-23E1-6CB087F789E8}"/>
                </a:ext>
              </a:extLst>
            </p:cNvPr>
            <p:cNvCxnSpPr/>
            <p:nvPr/>
          </p:nvCxnSpPr>
          <p:spPr>
            <a:xfrm>
              <a:off x="714380" y="5572140"/>
              <a:ext cx="807246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Łącznik prosty ze strzałką 64">
              <a:extLst>
                <a:ext uri="{FF2B5EF4-FFF2-40B4-BE49-F238E27FC236}">
                  <a16:creationId xmlns:a16="http://schemas.microsoft.com/office/drawing/2014/main" id="{B159D0EA-3C0B-15D2-63DC-2CE609F2899F}"/>
                </a:ext>
              </a:extLst>
            </p:cNvPr>
            <p:cNvCxnSpPr/>
            <p:nvPr/>
          </p:nvCxnSpPr>
          <p:spPr>
            <a:xfrm rot="5400000" flipH="1" flipV="1">
              <a:off x="2465373" y="4106867"/>
              <a:ext cx="4071172"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1" name="Łącznik prosty ze strzałką 65">
              <a:extLst>
                <a:ext uri="{FF2B5EF4-FFF2-40B4-BE49-F238E27FC236}">
                  <a16:creationId xmlns:a16="http://schemas.microsoft.com/office/drawing/2014/main" id="{2DF12CF5-C1D7-9E28-F134-A920A2AC0F0F}"/>
                </a:ext>
              </a:extLst>
            </p:cNvPr>
            <p:cNvCxnSpPr/>
            <p:nvPr/>
          </p:nvCxnSpPr>
          <p:spPr>
            <a:xfrm>
              <a:off x="4500562" y="6000768"/>
              <a:ext cx="4286312"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2" name="Łącznik prosty 66">
              <a:extLst>
                <a:ext uri="{FF2B5EF4-FFF2-40B4-BE49-F238E27FC236}">
                  <a16:creationId xmlns:a16="http://schemas.microsoft.com/office/drawing/2014/main" id="{EF95109E-E1BC-3B17-CE77-7303627E19F2}"/>
                </a:ext>
              </a:extLst>
            </p:cNvPr>
            <p:cNvCxnSpPr/>
            <p:nvPr/>
          </p:nvCxnSpPr>
          <p:spPr>
            <a:xfrm>
              <a:off x="4500562" y="3714752"/>
              <a:ext cx="4071966" cy="2286016"/>
            </a:xfrm>
            <a:prstGeom prst="line">
              <a:avLst/>
            </a:prstGeom>
          </p:spPr>
          <p:style>
            <a:lnRef idx="3">
              <a:schemeClr val="accent3"/>
            </a:lnRef>
            <a:fillRef idx="0">
              <a:schemeClr val="accent3"/>
            </a:fillRef>
            <a:effectRef idx="2">
              <a:schemeClr val="accent3"/>
            </a:effectRef>
            <a:fontRef idx="minor">
              <a:schemeClr val="tx1"/>
            </a:fontRef>
          </p:style>
        </p:cxnSp>
        <p:cxnSp>
          <p:nvCxnSpPr>
            <p:cNvPr id="23" name="Łącznik prosty 69">
              <a:extLst>
                <a:ext uri="{FF2B5EF4-FFF2-40B4-BE49-F238E27FC236}">
                  <a16:creationId xmlns:a16="http://schemas.microsoft.com/office/drawing/2014/main" id="{96385F64-3E0B-61C4-367E-3160AD159541}"/>
                </a:ext>
              </a:extLst>
            </p:cNvPr>
            <p:cNvCxnSpPr/>
            <p:nvPr/>
          </p:nvCxnSpPr>
          <p:spPr>
            <a:xfrm rot="16200000" flipH="1">
              <a:off x="4500562" y="3786190"/>
              <a:ext cx="2214578" cy="2214578"/>
            </a:xfrm>
            <a:prstGeom prst="line">
              <a:avLst/>
            </a:prstGeom>
          </p:spPr>
          <p:style>
            <a:lnRef idx="2">
              <a:schemeClr val="accent4"/>
            </a:lnRef>
            <a:fillRef idx="0">
              <a:schemeClr val="accent4"/>
            </a:fillRef>
            <a:effectRef idx="1">
              <a:schemeClr val="accent4"/>
            </a:effectRef>
            <a:fontRef idx="minor">
              <a:schemeClr val="tx1"/>
            </a:fontRef>
          </p:style>
        </p:cxnSp>
        <p:cxnSp>
          <p:nvCxnSpPr>
            <p:cNvPr id="24" name="Łącznik prosty 70">
              <a:extLst>
                <a:ext uri="{FF2B5EF4-FFF2-40B4-BE49-F238E27FC236}">
                  <a16:creationId xmlns:a16="http://schemas.microsoft.com/office/drawing/2014/main" id="{1C03D273-2035-22B7-44DA-89C1B27296EC}"/>
                </a:ext>
              </a:extLst>
            </p:cNvPr>
            <p:cNvCxnSpPr/>
            <p:nvPr/>
          </p:nvCxnSpPr>
          <p:spPr>
            <a:xfrm rot="5400000" flipH="1" flipV="1">
              <a:off x="5285602" y="5214966"/>
              <a:ext cx="1429554" cy="7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Łącznik prosty 71">
              <a:extLst>
                <a:ext uri="{FF2B5EF4-FFF2-40B4-BE49-F238E27FC236}">
                  <a16:creationId xmlns:a16="http://schemas.microsoft.com/office/drawing/2014/main" id="{576D6F3E-F147-1934-9E84-B597C134EBA5}"/>
                </a:ext>
              </a:extLst>
            </p:cNvPr>
            <p:cNvCxnSpPr/>
            <p:nvPr/>
          </p:nvCxnSpPr>
          <p:spPr>
            <a:xfrm rot="10800000">
              <a:off x="4500562" y="4500570"/>
              <a:ext cx="142876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6" name="Prostokąt 72">
              <a:extLst>
                <a:ext uri="{FF2B5EF4-FFF2-40B4-BE49-F238E27FC236}">
                  <a16:creationId xmlns:a16="http://schemas.microsoft.com/office/drawing/2014/main" id="{15FCA34B-7B9A-34F1-7A60-199E7278FBAF}"/>
                </a:ext>
              </a:extLst>
            </p:cNvPr>
            <p:cNvSpPr/>
            <p:nvPr/>
          </p:nvSpPr>
          <p:spPr>
            <a:xfrm>
              <a:off x="4499768" y="4486202"/>
              <a:ext cx="1500198" cy="1071570"/>
            </a:xfrm>
            <a:prstGeom prst="rect">
              <a:avLst/>
            </a:prstGeom>
            <a:solidFill>
              <a:schemeClr val="accent3">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003366"/>
                  </a:solidFill>
                </a:rPr>
                <a:t>profit</a:t>
              </a:r>
              <a:endParaRPr lang="pl-PL" dirty="0"/>
            </a:p>
          </p:txBody>
        </p:sp>
        <p:sp>
          <p:nvSpPr>
            <p:cNvPr id="27" name="Prostokąt 73">
              <a:extLst>
                <a:ext uri="{FF2B5EF4-FFF2-40B4-BE49-F238E27FC236}">
                  <a16:creationId xmlns:a16="http://schemas.microsoft.com/office/drawing/2014/main" id="{5D2B432D-6084-94D7-4527-76EF29D8370C}"/>
                </a:ext>
              </a:extLst>
            </p:cNvPr>
            <p:cNvSpPr/>
            <p:nvPr/>
          </p:nvSpPr>
          <p:spPr>
            <a:xfrm>
              <a:off x="4500562" y="5572140"/>
              <a:ext cx="1500198" cy="428628"/>
            </a:xfrm>
            <a:prstGeom prst="rect">
              <a:avLst/>
            </a:prstGeom>
            <a:solidFill>
              <a:schemeClr val="accent2">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pl-PL" dirty="0" err="1">
                  <a:solidFill>
                    <a:srgbClr val="003366"/>
                  </a:solidFill>
                </a:rPr>
                <a:t>cost</a:t>
              </a:r>
              <a:endParaRPr lang="pl-PL" dirty="0"/>
            </a:p>
          </p:txBody>
        </p:sp>
        <p:sp>
          <p:nvSpPr>
            <p:cNvPr id="28" name="Elipsa 75">
              <a:extLst>
                <a:ext uri="{FF2B5EF4-FFF2-40B4-BE49-F238E27FC236}">
                  <a16:creationId xmlns:a16="http://schemas.microsoft.com/office/drawing/2014/main" id="{4A0CF018-2384-92AF-667D-732CB6303EF3}"/>
                </a:ext>
              </a:extLst>
            </p:cNvPr>
            <p:cNvSpPr/>
            <p:nvPr/>
          </p:nvSpPr>
          <p:spPr>
            <a:xfrm>
              <a:off x="5929354" y="5857892"/>
              <a:ext cx="142876" cy="14287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pl-PL"/>
            </a:p>
          </p:txBody>
        </p:sp>
      </p:grpSp>
      <p:sp>
        <p:nvSpPr>
          <p:cNvPr id="4" name="TextBox 3">
            <a:extLst>
              <a:ext uri="{FF2B5EF4-FFF2-40B4-BE49-F238E27FC236}">
                <a16:creationId xmlns:a16="http://schemas.microsoft.com/office/drawing/2014/main" id="{BB96914F-F46F-327D-23BB-B20D87021797}"/>
              </a:ext>
            </a:extLst>
          </p:cNvPr>
          <p:cNvSpPr txBox="1"/>
          <p:nvPr/>
        </p:nvSpPr>
        <p:spPr>
          <a:xfrm>
            <a:off x="5653613" y="1264119"/>
            <a:ext cx="6570216" cy="5262979"/>
          </a:xfrm>
          <a:prstGeom prst="rect">
            <a:avLst/>
          </a:prstGeom>
          <a:solidFill>
            <a:schemeClr val="bg1"/>
          </a:solidFill>
        </p:spPr>
        <p:txBody>
          <a:bodyPr wrap="square">
            <a:spAutoFit/>
          </a:bodyPr>
          <a:lstStyle/>
          <a:p>
            <a:pPr algn="just"/>
            <a:r>
              <a:rPr lang="en-US" sz="2400" dirty="0">
                <a:solidFill>
                  <a:schemeClr val="accent5">
                    <a:lumMod val="50000"/>
                  </a:schemeClr>
                </a:solidFill>
              </a:rPr>
              <a:t>Third-degree price discrimination involves segmenting consumers into </a:t>
            </a:r>
            <a:r>
              <a:rPr lang="pl-PL" sz="2400" dirty="0" err="1">
                <a:solidFill>
                  <a:schemeClr val="accent5">
                    <a:lumMod val="50000"/>
                  </a:schemeClr>
                </a:solidFill>
              </a:rPr>
              <a:t>separated</a:t>
            </a:r>
            <a:r>
              <a:rPr lang="en-US" sz="2400" dirty="0">
                <a:solidFill>
                  <a:schemeClr val="accent5">
                    <a:lumMod val="50000"/>
                  </a:schemeClr>
                </a:solidFill>
              </a:rPr>
              <a:t> groups based on their willingness to pay (reflected in the demand curve as elasticity) and charging different prices to each group. This strategy enables monopolists to capture a portion of the total surplus.</a:t>
            </a:r>
          </a:p>
          <a:p>
            <a:pPr algn="just"/>
            <a:endParaRPr lang="en-US" sz="2400" dirty="0">
              <a:solidFill>
                <a:schemeClr val="accent5">
                  <a:lumMod val="50000"/>
                </a:schemeClr>
              </a:solidFill>
            </a:endParaRPr>
          </a:p>
          <a:p>
            <a:pPr algn="just"/>
            <a:r>
              <a:rPr lang="en-US" sz="2400" dirty="0">
                <a:solidFill>
                  <a:schemeClr val="accent5">
                    <a:lumMod val="50000"/>
                  </a:schemeClr>
                </a:solidFill>
              </a:rPr>
              <a:t>The most intriguing aspect is finding a self-selection</a:t>
            </a:r>
            <a:r>
              <a:rPr lang="pl-PL" sz="2400" dirty="0">
                <a:solidFill>
                  <a:schemeClr val="accent5">
                    <a:lumMod val="50000"/>
                  </a:schemeClr>
                </a:solidFill>
              </a:rPr>
              <a:t> </a:t>
            </a:r>
            <a:r>
              <a:rPr lang="en-US" sz="2400" dirty="0">
                <a:solidFill>
                  <a:schemeClr val="accent5">
                    <a:lumMod val="50000"/>
                  </a:schemeClr>
                </a:solidFill>
              </a:rPr>
              <a:t>mechanism that differentiates consumers into two or more groups with different demand function characteristics. Consumers, through their consumption patterns of goods or services, naturally segregate themselves.</a:t>
            </a:r>
            <a:endParaRPr lang="pl-PL" sz="2400" dirty="0">
              <a:solidFill>
                <a:schemeClr val="accent5">
                  <a:lumMod val="50000"/>
                </a:schemeClr>
              </a:solidFill>
            </a:endParaRPr>
          </a:p>
        </p:txBody>
      </p:sp>
    </p:spTree>
    <p:extLst>
      <p:ext uri="{BB962C8B-B14F-4D97-AF65-F5344CB8AC3E}">
        <p14:creationId xmlns:p14="http://schemas.microsoft.com/office/powerpoint/2010/main" val="32750676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01AF7-6C93-EE01-D4DE-C2010670FDCD}"/>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C144AD2F-EBE2-5219-59B3-693770484F13}"/>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a:solidFill>
                  <a:srgbClr val="4BACC6">
                    <a:lumMod val="50000"/>
                  </a:srgbClr>
                </a:solidFill>
              </a:rPr>
              <a:t>Third-</a:t>
            </a:r>
            <a:r>
              <a:rPr lang="pl-PL" b="1" noProof="0" dirty="0" err="1">
                <a:solidFill>
                  <a:srgbClr val="4BACC6">
                    <a:lumMod val="50000"/>
                  </a:srgbClr>
                </a:solidFill>
              </a:rPr>
              <a:t>Degree</a:t>
            </a:r>
            <a:r>
              <a:rPr lang="pl-PL" b="1" noProof="0" dirty="0">
                <a:solidFill>
                  <a:srgbClr val="4BACC6">
                    <a:lumMod val="50000"/>
                  </a:srgbClr>
                </a:solidFill>
              </a:rPr>
              <a:t> </a:t>
            </a:r>
            <a:r>
              <a:rPr lang="pl-PL" b="1" noProof="0" dirty="0" err="1">
                <a:solidFill>
                  <a:srgbClr val="4BACC6">
                    <a:lumMod val="50000"/>
                  </a:srgbClr>
                </a:solidFill>
              </a:rPr>
              <a:t>Price</a:t>
            </a:r>
            <a:r>
              <a:rPr lang="pl-PL" b="1" noProof="0" dirty="0">
                <a:solidFill>
                  <a:srgbClr val="4BACC6">
                    <a:lumMod val="50000"/>
                  </a:srgbClr>
                </a:solidFill>
              </a:rPr>
              <a:t> </a:t>
            </a:r>
            <a:r>
              <a:rPr lang="pl-PL" b="1" noProof="0" dirty="0" err="1">
                <a:solidFill>
                  <a:srgbClr val="4BACC6">
                    <a:lumMod val="50000"/>
                  </a:srgbClr>
                </a:solidFill>
              </a:rPr>
              <a:t>Discrimination</a:t>
            </a:r>
            <a:endParaRPr lang="pl-PL" b="1" noProof="0" dirty="0">
              <a:solidFill>
                <a:srgbClr val="4BACC6">
                  <a:lumMod val="50000"/>
                </a:srgbClr>
              </a:solidFill>
            </a:endParaRPr>
          </a:p>
          <a:p>
            <a:r>
              <a:rPr lang="en-US" b="1" noProof="0" dirty="0">
                <a:solidFill>
                  <a:srgbClr val="4BACC6">
                    <a:lumMod val="50000"/>
                  </a:srgbClr>
                </a:solidFill>
              </a:rPr>
              <a:t>(dividing consumers into distinct groups)</a:t>
            </a:r>
          </a:p>
        </p:txBody>
      </p:sp>
      <p:pic>
        <p:nvPicPr>
          <p:cNvPr id="8" name="Picture 6" descr="http://t1.gstatic.com/images?q=tbn:ANd9GcTaI9j8KXBL3Szr9TvsVs-mvdz4VsJ9wWCZmz0lq4IbZGbUX_s&amp;t=1&amp;usg=__tO5IH4w6LaVVjuVW9nUrpUc_vJU=">
            <a:extLst>
              <a:ext uri="{FF2B5EF4-FFF2-40B4-BE49-F238E27FC236}">
                <a16:creationId xmlns:a16="http://schemas.microsoft.com/office/drawing/2014/main" id="{5662C4E4-D45E-49ED-D0A4-0845CBBF5314}"/>
              </a:ext>
            </a:extLst>
          </p:cNvPr>
          <p:cNvPicPr>
            <a:picLocks noChangeAspect="1" noChangeArrowheads="1"/>
          </p:cNvPicPr>
          <p:nvPr/>
        </p:nvPicPr>
        <p:blipFill>
          <a:blip r:embed="rId2" cstate="print"/>
          <a:srcRect/>
          <a:stretch>
            <a:fillRect/>
          </a:stretch>
        </p:blipFill>
        <p:spPr bwMode="auto">
          <a:xfrm>
            <a:off x="165396" y="4152806"/>
            <a:ext cx="1368152" cy="910443"/>
          </a:xfrm>
          <a:prstGeom prst="rect">
            <a:avLst/>
          </a:prstGeom>
          <a:noFill/>
        </p:spPr>
      </p:pic>
      <p:sp>
        <p:nvSpPr>
          <p:cNvPr id="29" name="pole tekstowe 30">
            <a:extLst>
              <a:ext uri="{FF2B5EF4-FFF2-40B4-BE49-F238E27FC236}">
                <a16:creationId xmlns:a16="http://schemas.microsoft.com/office/drawing/2014/main" id="{7729B72A-B7C9-2468-79C0-BE311A5F19C8}"/>
              </a:ext>
            </a:extLst>
          </p:cNvPr>
          <p:cNvSpPr txBox="1"/>
          <p:nvPr/>
        </p:nvSpPr>
        <p:spPr>
          <a:xfrm>
            <a:off x="127611" y="5023958"/>
            <a:ext cx="2160240" cy="369332"/>
          </a:xfrm>
          <a:prstGeom prst="rect">
            <a:avLst/>
          </a:prstGeom>
          <a:noFill/>
        </p:spPr>
        <p:txBody>
          <a:bodyPr wrap="square" rtlCol="0">
            <a:spAutoFit/>
          </a:bodyPr>
          <a:lstStyle/>
          <a:p>
            <a:r>
              <a:rPr lang="pl-PL" b="1" dirty="0" err="1">
                <a:solidFill>
                  <a:schemeClr val="accent5">
                    <a:lumMod val="50000"/>
                  </a:schemeClr>
                </a:solidFill>
                <a:effectLst>
                  <a:outerShdw blurRad="38100" dist="38100" dir="2700000" algn="tl">
                    <a:srgbClr val="000000">
                      <a:alpha val="43137"/>
                    </a:srgbClr>
                  </a:outerShdw>
                </a:effectLst>
              </a:rPr>
              <a:t>Saturday</a:t>
            </a:r>
            <a:r>
              <a:rPr lang="pl-PL" b="1" dirty="0">
                <a:solidFill>
                  <a:schemeClr val="accent5">
                    <a:lumMod val="50000"/>
                  </a:schemeClr>
                </a:solidFill>
                <a:effectLst>
                  <a:outerShdw blurRad="38100" dist="38100" dir="2700000" algn="tl">
                    <a:srgbClr val="000000">
                      <a:alpha val="43137"/>
                    </a:srgbClr>
                  </a:outerShdw>
                </a:effectLst>
              </a:rPr>
              <a:t> </a:t>
            </a:r>
            <a:r>
              <a:rPr lang="pl-PL" b="1" dirty="0" err="1">
                <a:solidFill>
                  <a:schemeClr val="accent5">
                    <a:lumMod val="50000"/>
                  </a:schemeClr>
                </a:solidFill>
                <a:effectLst>
                  <a:outerShdw blurRad="38100" dist="38100" dir="2700000" algn="tl">
                    <a:srgbClr val="000000">
                      <a:alpha val="43137"/>
                    </a:srgbClr>
                  </a:outerShdw>
                </a:effectLst>
              </a:rPr>
              <a:t>evening</a:t>
            </a:r>
            <a:endParaRPr lang="pl-PL" b="1" dirty="0">
              <a:solidFill>
                <a:schemeClr val="accent5">
                  <a:lumMod val="50000"/>
                </a:schemeClr>
              </a:solidFill>
              <a:effectLst>
                <a:outerShdw blurRad="38100" dist="38100" dir="2700000" algn="tl">
                  <a:srgbClr val="000000">
                    <a:alpha val="43137"/>
                  </a:srgbClr>
                </a:outerShdw>
              </a:effectLst>
            </a:endParaRPr>
          </a:p>
        </p:txBody>
      </p:sp>
      <p:sp>
        <p:nvSpPr>
          <p:cNvPr id="30" name="pole tekstowe 32">
            <a:extLst>
              <a:ext uri="{FF2B5EF4-FFF2-40B4-BE49-F238E27FC236}">
                <a16:creationId xmlns:a16="http://schemas.microsoft.com/office/drawing/2014/main" id="{5BA57835-D67A-1835-67C7-66553E01346D}"/>
              </a:ext>
            </a:extLst>
          </p:cNvPr>
          <p:cNvSpPr txBox="1"/>
          <p:nvPr/>
        </p:nvSpPr>
        <p:spPr>
          <a:xfrm>
            <a:off x="128141" y="1227844"/>
            <a:ext cx="1531068" cy="923330"/>
          </a:xfrm>
          <a:prstGeom prst="rect">
            <a:avLst/>
          </a:prstGeom>
          <a:noFill/>
        </p:spPr>
        <p:txBody>
          <a:bodyPr wrap="square" rtlCol="0">
            <a:spAutoFit/>
          </a:bodyPr>
          <a:lstStyle/>
          <a:p>
            <a:r>
              <a:rPr lang="pl-PL" b="1" dirty="0">
                <a:solidFill>
                  <a:schemeClr val="accent5">
                    <a:lumMod val="50000"/>
                  </a:schemeClr>
                </a:solidFill>
                <a:effectLst>
                  <a:outerShdw blurRad="38100" dist="38100" dir="2700000" algn="tl">
                    <a:srgbClr val="000000">
                      <a:alpha val="43137"/>
                    </a:srgbClr>
                  </a:outerShdw>
                </a:effectLst>
              </a:rPr>
              <a:t>Cinema </a:t>
            </a:r>
            <a:r>
              <a:rPr lang="pl-PL" b="1" dirty="0" err="1">
                <a:solidFill>
                  <a:schemeClr val="accent5">
                    <a:lumMod val="50000"/>
                  </a:schemeClr>
                </a:solidFill>
                <a:effectLst>
                  <a:outerShdw blurRad="38100" dist="38100" dir="2700000" algn="tl">
                    <a:srgbClr val="000000">
                      <a:alpha val="43137"/>
                    </a:srgbClr>
                  </a:outerShdw>
                </a:effectLst>
              </a:rPr>
              <a:t>Tuesday</a:t>
            </a:r>
            <a:r>
              <a:rPr lang="pl-PL" b="1" dirty="0">
                <a:solidFill>
                  <a:schemeClr val="accent5">
                    <a:lumMod val="50000"/>
                  </a:schemeClr>
                </a:solidFill>
                <a:effectLst>
                  <a:outerShdw blurRad="38100" dist="38100" dir="2700000" algn="tl">
                    <a:srgbClr val="000000">
                      <a:alpha val="43137"/>
                    </a:srgbClr>
                  </a:outerShdw>
                </a:effectLst>
              </a:rPr>
              <a:t> </a:t>
            </a:r>
            <a:r>
              <a:rPr lang="pl-PL" b="1" dirty="0" err="1">
                <a:solidFill>
                  <a:schemeClr val="accent5">
                    <a:lumMod val="50000"/>
                  </a:schemeClr>
                </a:solidFill>
                <a:effectLst>
                  <a:outerShdw blurRad="38100" dist="38100" dir="2700000" algn="tl">
                    <a:srgbClr val="000000">
                      <a:alpha val="43137"/>
                    </a:srgbClr>
                  </a:outerShdw>
                </a:effectLst>
              </a:rPr>
              <a:t>morning</a:t>
            </a:r>
            <a:r>
              <a:rPr lang="pl-PL" b="1" dirty="0">
                <a:solidFill>
                  <a:schemeClr val="accent5">
                    <a:lumMod val="50000"/>
                  </a:schemeClr>
                </a:solidFill>
                <a:effectLst>
                  <a:outerShdw blurRad="38100" dist="38100" dir="2700000" algn="tl">
                    <a:srgbClr val="000000">
                      <a:alpha val="43137"/>
                    </a:srgbClr>
                  </a:outerShdw>
                </a:effectLst>
              </a:rPr>
              <a:t> </a:t>
            </a:r>
          </a:p>
        </p:txBody>
      </p:sp>
      <p:pic>
        <p:nvPicPr>
          <p:cNvPr id="31" name="Picture 8" descr="http://t1.gstatic.com/images?q=tbn:ANd9GcSIRCOcdxNthEZnkzSHbzT9RASoigBseo2Hkyhjjr_u1tKj7ZU&amp;t=1&amp;usg=__Wubqa1v4I9luBp79GfFlbyF_FIA=">
            <a:extLst>
              <a:ext uri="{FF2B5EF4-FFF2-40B4-BE49-F238E27FC236}">
                <a16:creationId xmlns:a16="http://schemas.microsoft.com/office/drawing/2014/main" id="{0F1B7DDF-1B42-9F12-A429-C13147DDF4AB}"/>
              </a:ext>
            </a:extLst>
          </p:cNvPr>
          <p:cNvPicPr>
            <a:picLocks noChangeAspect="1" noChangeArrowheads="1"/>
          </p:cNvPicPr>
          <p:nvPr/>
        </p:nvPicPr>
        <p:blipFill>
          <a:blip r:embed="rId3" cstate="print"/>
          <a:srcRect/>
          <a:stretch>
            <a:fillRect/>
          </a:stretch>
        </p:blipFill>
        <p:spPr bwMode="auto">
          <a:xfrm>
            <a:off x="334413" y="2085753"/>
            <a:ext cx="873318" cy="579048"/>
          </a:xfrm>
          <a:prstGeom prst="rect">
            <a:avLst/>
          </a:prstGeom>
          <a:noFill/>
        </p:spPr>
      </p:pic>
      <p:sp>
        <p:nvSpPr>
          <p:cNvPr id="32" name="pole tekstowe 7">
            <a:extLst>
              <a:ext uri="{FF2B5EF4-FFF2-40B4-BE49-F238E27FC236}">
                <a16:creationId xmlns:a16="http://schemas.microsoft.com/office/drawing/2014/main" id="{E6C633B1-6853-9A02-C885-BB46163BB054}"/>
              </a:ext>
            </a:extLst>
          </p:cNvPr>
          <p:cNvSpPr txBox="1"/>
          <p:nvPr/>
        </p:nvSpPr>
        <p:spPr>
          <a:xfrm>
            <a:off x="51214" y="2653814"/>
            <a:ext cx="1531067" cy="646331"/>
          </a:xfrm>
          <a:prstGeom prst="rect">
            <a:avLst/>
          </a:prstGeom>
          <a:noFill/>
        </p:spPr>
        <p:txBody>
          <a:bodyPr wrap="square" rtlCol="0">
            <a:spAutoFit/>
          </a:bodyPr>
          <a:lstStyle/>
          <a:p>
            <a:r>
              <a:rPr lang="pl-PL" b="1" dirty="0" err="1">
                <a:solidFill>
                  <a:schemeClr val="accent5">
                    <a:lumMod val="50000"/>
                  </a:schemeClr>
                </a:solidFill>
                <a:effectLst>
                  <a:outerShdw blurRad="38100" dist="38100" dir="2700000" algn="tl">
                    <a:srgbClr val="000000">
                      <a:alpha val="43137"/>
                    </a:srgbClr>
                  </a:outerShdw>
                </a:effectLst>
              </a:rPr>
              <a:t>Economy</a:t>
            </a:r>
            <a:r>
              <a:rPr lang="pl-PL" b="1" dirty="0">
                <a:solidFill>
                  <a:schemeClr val="accent5">
                    <a:lumMod val="50000"/>
                  </a:schemeClr>
                </a:solidFill>
                <a:effectLst>
                  <a:outerShdw blurRad="38100" dist="38100" dir="2700000" algn="tl">
                    <a:srgbClr val="000000">
                      <a:alpha val="43137"/>
                    </a:srgbClr>
                  </a:outerShdw>
                </a:effectLst>
              </a:rPr>
              <a:t> </a:t>
            </a:r>
            <a:r>
              <a:rPr lang="pl-PL" b="1" dirty="0" err="1">
                <a:solidFill>
                  <a:schemeClr val="accent5">
                    <a:lumMod val="50000"/>
                  </a:schemeClr>
                </a:solidFill>
                <a:effectLst>
                  <a:outerShdw blurRad="38100" dist="38100" dir="2700000" algn="tl">
                    <a:srgbClr val="000000">
                      <a:alpha val="43137"/>
                    </a:srgbClr>
                  </a:outerShdw>
                </a:effectLst>
              </a:rPr>
              <a:t>class</a:t>
            </a:r>
            <a:endParaRPr lang="pl-PL" b="1" dirty="0">
              <a:solidFill>
                <a:schemeClr val="accent5">
                  <a:lumMod val="50000"/>
                </a:schemeClr>
              </a:solidFill>
              <a:effectLst>
                <a:outerShdw blurRad="38100" dist="38100" dir="2700000" algn="tl">
                  <a:srgbClr val="000000">
                    <a:alpha val="43137"/>
                  </a:srgbClr>
                </a:outerShdw>
              </a:effectLst>
            </a:endParaRPr>
          </a:p>
        </p:txBody>
      </p:sp>
      <p:sp>
        <p:nvSpPr>
          <p:cNvPr id="33" name="pole tekstowe 8">
            <a:extLst>
              <a:ext uri="{FF2B5EF4-FFF2-40B4-BE49-F238E27FC236}">
                <a16:creationId xmlns:a16="http://schemas.microsoft.com/office/drawing/2014/main" id="{131447E7-EE38-48AF-563E-B7358BFF4F03}"/>
              </a:ext>
            </a:extLst>
          </p:cNvPr>
          <p:cNvSpPr txBox="1"/>
          <p:nvPr/>
        </p:nvSpPr>
        <p:spPr>
          <a:xfrm>
            <a:off x="165396" y="6508307"/>
            <a:ext cx="1944216" cy="369332"/>
          </a:xfrm>
          <a:prstGeom prst="rect">
            <a:avLst/>
          </a:prstGeom>
          <a:noFill/>
        </p:spPr>
        <p:txBody>
          <a:bodyPr wrap="square" rtlCol="0">
            <a:spAutoFit/>
          </a:bodyPr>
          <a:lstStyle/>
          <a:p>
            <a:r>
              <a:rPr lang="pl-PL" b="1" dirty="0">
                <a:solidFill>
                  <a:schemeClr val="accent5">
                    <a:lumMod val="50000"/>
                  </a:schemeClr>
                </a:solidFill>
                <a:effectLst>
                  <a:outerShdw blurRad="38100" dist="38100" dir="2700000" algn="tl">
                    <a:srgbClr val="000000">
                      <a:alpha val="43137"/>
                    </a:srgbClr>
                  </a:outerShdw>
                </a:effectLst>
              </a:rPr>
              <a:t>business </a:t>
            </a:r>
            <a:r>
              <a:rPr lang="pl-PL" b="1" dirty="0" err="1">
                <a:solidFill>
                  <a:schemeClr val="accent5">
                    <a:lumMod val="50000"/>
                  </a:schemeClr>
                </a:solidFill>
                <a:effectLst>
                  <a:outerShdw blurRad="38100" dist="38100" dir="2700000" algn="tl">
                    <a:srgbClr val="000000">
                      <a:alpha val="43137"/>
                    </a:srgbClr>
                  </a:outerShdw>
                </a:effectLst>
              </a:rPr>
              <a:t>class</a:t>
            </a:r>
            <a:r>
              <a:rPr lang="pl-PL" b="1" dirty="0">
                <a:solidFill>
                  <a:schemeClr val="accent5">
                    <a:lumMod val="50000"/>
                  </a:schemeClr>
                </a:solidFill>
                <a:effectLst>
                  <a:outerShdw blurRad="38100" dist="38100" dir="2700000" algn="tl">
                    <a:srgbClr val="000000">
                      <a:alpha val="43137"/>
                    </a:srgbClr>
                  </a:outerShdw>
                </a:effectLst>
              </a:rPr>
              <a:t> </a:t>
            </a:r>
          </a:p>
        </p:txBody>
      </p:sp>
      <p:pic>
        <p:nvPicPr>
          <p:cNvPr id="34" name="Picture 2" descr="http://t3.gstatic.com/images?q=tbn:ANd9GcS14CuxFLUZg4x0mvGIZskphki_CthJJIsBc-x24_5em6c1DaQ&amp;t=1&amp;usg=__32bGAfD6cPY6PKlAMCbEBhccDHk=">
            <a:extLst>
              <a:ext uri="{FF2B5EF4-FFF2-40B4-BE49-F238E27FC236}">
                <a16:creationId xmlns:a16="http://schemas.microsoft.com/office/drawing/2014/main" id="{0E3B7DAD-F728-0FEE-F9DA-AD50EA7E37B0}"/>
              </a:ext>
            </a:extLst>
          </p:cNvPr>
          <p:cNvPicPr>
            <a:picLocks noChangeAspect="1" noChangeArrowheads="1"/>
          </p:cNvPicPr>
          <p:nvPr/>
        </p:nvPicPr>
        <p:blipFill>
          <a:blip r:embed="rId4" cstate="print"/>
          <a:srcRect/>
          <a:stretch>
            <a:fillRect/>
          </a:stretch>
        </p:blipFill>
        <p:spPr bwMode="auto">
          <a:xfrm>
            <a:off x="406165" y="3343966"/>
            <a:ext cx="821164" cy="546448"/>
          </a:xfrm>
          <a:prstGeom prst="rect">
            <a:avLst/>
          </a:prstGeom>
          <a:noFill/>
        </p:spPr>
      </p:pic>
      <p:pic>
        <p:nvPicPr>
          <p:cNvPr id="35" name="Picture 4" descr="http://t3.gstatic.com/images?q=tbn:ANd9GcSoahMwFcVtmX7aWyuB24q6hWuFlt_StsUA1PD5sYgqoWBXd-A&amp;t=1&amp;usg=__xEq1gRkTfusMogYA4yklsgWFgSo=">
            <a:extLst>
              <a:ext uri="{FF2B5EF4-FFF2-40B4-BE49-F238E27FC236}">
                <a16:creationId xmlns:a16="http://schemas.microsoft.com/office/drawing/2014/main" id="{ABFA3C54-9013-46DC-C44A-6E8CDA69482B}"/>
              </a:ext>
            </a:extLst>
          </p:cNvPr>
          <p:cNvPicPr>
            <a:picLocks noChangeAspect="1" noChangeArrowheads="1"/>
          </p:cNvPicPr>
          <p:nvPr/>
        </p:nvPicPr>
        <p:blipFill>
          <a:blip r:embed="rId5" cstate="print"/>
          <a:srcRect/>
          <a:stretch>
            <a:fillRect/>
          </a:stretch>
        </p:blipFill>
        <p:spPr bwMode="auto">
          <a:xfrm>
            <a:off x="454185" y="5415535"/>
            <a:ext cx="878979" cy="1076106"/>
          </a:xfrm>
          <a:prstGeom prst="rect">
            <a:avLst/>
          </a:prstGeom>
          <a:noFill/>
        </p:spPr>
      </p:pic>
      <p:grpSp>
        <p:nvGrpSpPr>
          <p:cNvPr id="3" name="Group 2">
            <a:extLst>
              <a:ext uri="{FF2B5EF4-FFF2-40B4-BE49-F238E27FC236}">
                <a16:creationId xmlns:a16="http://schemas.microsoft.com/office/drawing/2014/main" id="{1CBD99B2-0607-7D85-9C9C-EF58EAE227FE}"/>
              </a:ext>
            </a:extLst>
          </p:cNvPr>
          <p:cNvGrpSpPr/>
          <p:nvPr/>
        </p:nvGrpSpPr>
        <p:grpSpPr>
          <a:xfrm>
            <a:off x="1437368" y="1360159"/>
            <a:ext cx="2160240" cy="2127823"/>
            <a:chOff x="2339497" y="1552420"/>
            <a:chExt cx="2994109" cy="2127823"/>
          </a:xfrm>
        </p:grpSpPr>
        <p:cxnSp>
          <p:nvCxnSpPr>
            <p:cNvPr id="36" name="Łącznik prosty 36">
              <a:extLst>
                <a:ext uri="{FF2B5EF4-FFF2-40B4-BE49-F238E27FC236}">
                  <a16:creationId xmlns:a16="http://schemas.microsoft.com/office/drawing/2014/main" id="{64697A70-A7B2-0B72-749F-A08AC27AC247}"/>
                </a:ext>
              </a:extLst>
            </p:cNvPr>
            <p:cNvCxnSpPr/>
            <p:nvPr/>
          </p:nvCxnSpPr>
          <p:spPr>
            <a:xfrm rot="5400000">
              <a:off x="1619671" y="2672131"/>
              <a:ext cx="201622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37" name="Łącznik prosty 38">
              <a:extLst>
                <a:ext uri="{FF2B5EF4-FFF2-40B4-BE49-F238E27FC236}">
                  <a16:creationId xmlns:a16="http://schemas.microsoft.com/office/drawing/2014/main" id="{1D405AA2-DF41-2E08-5987-4FA7292AD060}"/>
                </a:ext>
              </a:extLst>
            </p:cNvPr>
            <p:cNvCxnSpPr/>
            <p:nvPr/>
          </p:nvCxnSpPr>
          <p:spPr>
            <a:xfrm>
              <a:off x="2411759" y="3536227"/>
              <a:ext cx="2448272"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38" name="Łącznik prosty 40">
              <a:extLst>
                <a:ext uri="{FF2B5EF4-FFF2-40B4-BE49-F238E27FC236}">
                  <a16:creationId xmlns:a16="http://schemas.microsoft.com/office/drawing/2014/main" id="{FEE2EDE3-5A33-EF1E-C645-79E2B94591E8}"/>
                </a:ext>
              </a:extLst>
            </p:cNvPr>
            <p:cNvCxnSpPr>
              <a:cxnSpLocks/>
            </p:cNvCxnSpPr>
            <p:nvPr/>
          </p:nvCxnSpPr>
          <p:spPr>
            <a:xfrm>
              <a:off x="2627529" y="2409518"/>
              <a:ext cx="2706077" cy="694662"/>
            </a:xfrm>
            <a:prstGeom prst="line">
              <a:avLst/>
            </a:prstGeom>
          </p:spPr>
          <p:style>
            <a:lnRef idx="3">
              <a:schemeClr val="accent1"/>
            </a:lnRef>
            <a:fillRef idx="0">
              <a:schemeClr val="accent1"/>
            </a:fillRef>
            <a:effectRef idx="2">
              <a:schemeClr val="accent1"/>
            </a:effectRef>
            <a:fontRef idx="minor">
              <a:schemeClr val="tx1"/>
            </a:fontRef>
          </p:style>
        </p:cxnSp>
        <p:sp>
          <p:nvSpPr>
            <p:cNvPr id="42" name="Strzałka w górę 54">
              <a:extLst>
                <a:ext uri="{FF2B5EF4-FFF2-40B4-BE49-F238E27FC236}">
                  <a16:creationId xmlns:a16="http://schemas.microsoft.com/office/drawing/2014/main" id="{B9A8F644-95B6-3534-4E29-6299AF117832}"/>
                </a:ext>
              </a:extLst>
            </p:cNvPr>
            <p:cNvSpPr/>
            <p:nvPr/>
          </p:nvSpPr>
          <p:spPr>
            <a:xfrm rot="10800000">
              <a:off x="4139951" y="1552420"/>
              <a:ext cx="864096" cy="13681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4" name="pole tekstowe 61">
              <a:extLst>
                <a:ext uri="{FF2B5EF4-FFF2-40B4-BE49-F238E27FC236}">
                  <a16:creationId xmlns:a16="http://schemas.microsoft.com/office/drawing/2014/main" id="{30587D71-E64A-E65B-774C-F72D034082DC}"/>
                </a:ext>
              </a:extLst>
            </p:cNvPr>
            <p:cNvSpPr txBox="1"/>
            <p:nvPr/>
          </p:nvSpPr>
          <p:spPr>
            <a:xfrm>
              <a:off x="2339497" y="1664019"/>
              <a:ext cx="288032" cy="369332"/>
            </a:xfrm>
            <a:prstGeom prst="rect">
              <a:avLst/>
            </a:prstGeom>
            <a:noFill/>
          </p:spPr>
          <p:txBody>
            <a:bodyPr wrap="square" rtlCol="0">
              <a:spAutoFit/>
            </a:bodyPr>
            <a:lstStyle/>
            <a:p>
              <a:r>
                <a:rPr lang="pl-PL" b="1" dirty="0">
                  <a:solidFill>
                    <a:schemeClr val="accent5">
                      <a:lumMod val="50000"/>
                    </a:schemeClr>
                  </a:solidFill>
                  <a:effectLst>
                    <a:outerShdw blurRad="38100" dist="38100" dir="2700000" algn="tl">
                      <a:srgbClr val="000000">
                        <a:alpha val="43137"/>
                      </a:srgbClr>
                    </a:outerShdw>
                  </a:effectLst>
                </a:rPr>
                <a:t>p</a:t>
              </a:r>
            </a:p>
          </p:txBody>
        </p:sp>
      </p:grpSp>
      <p:sp>
        <p:nvSpPr>
          <p:cNvPr id="45" name="pole tekstowe 62">
            <a:extLst>
              <a:ext uri="{FF2B5EF4-FFF2-40B4-BE49-F238E27FC236}">
                <a16:creationId xmlns:a16="http://schemas.microsoft.com/office/drawing/2014/main" id="{91469688-A72D-68DB-7ACE-2C1693663E60}"/>
              </a:ext>
            </a:extLst>
          </p:cNvPr>
          <p:cNvSpPr txBox="1"/>
          <p:nvPr/>
        </p:nvSpPr>
        <p:spPr>
          <a:xfrm>
            <a:off x="3957901" y="3167194"/>
            <a:ext cx="288032" cy="369332"/>
          </a:xfrm>
          <a:prstGeom prst="rect">
            <a:avLst/>
          </a:prstGeom>
          <a:noFill/>
        </p:spPr>
        <p:txBody>
          <a:bodyPr wrap="square" rtlCol="0">
            <a:spAutoFit/>
          </a:bodyPr>
          <a:lstStyle/>
          <a:p>
            <a:r>
              <a:rPr lang="pl-PL" b="1" dirty="0">
                <a:solidFill>
                  <a:schemeClr val="accent5">
                    <a:lumMod val="50000"/>
                  </a:schemeClr>
                </a:solidFill>
                <a:effectLst>
                  <a:outerShdw blurRad="38100" dist="38100" dir="2700000" algn="tl">
                    <a:srgbClr val="000000">
                      <a:alpha val="43137"/>
                    </a:srgbClr>
                  </a:outerShdw>
                </a:effectLst>
              </a:rPr>
              <a:t>q</a:t>
            </a:r>
          </a:p>
        </p:txBody>
      </p:sp>
      <p:sp>
        <p:nvSpPr>
          <p:cNvPr id="46" name="pole tekstowe 63">
            <a:extLst>
              <a:ext uri="{FF2B5EF4-FFF2-40B4-BE49-F238E27FC236}">
                <a16:creationId xmlns:a16="http://schemas.microsoft.com/office/drawing/2014/main" id="{184B810D-3533-F0C0-9A8C-500DAB00D674}"/>
              </a:ext>
            </a:extLst>
          </p:cNvPr>
          <p:cNvSpPr txBox="1"/>
          <p:nvPr/>
        </p:nvSpPr>
        <p:spPr>
          <a:xfrm>
            <a:off x="3525853" y="1039710"/>
            <a:ext cx="288032" cy="369332"/>
          </a:xfrm>
          <a:prstGeom prst="rect">
            <a:avLst/>
          </a:prstGeom>
          <a:noFill/>
        </p:spPr>
        <p:txBody>
          <a:bodyPr wrap="square" rtlCol="0">
            <a:spAutoFit/>
          </a:bodyPr>
          <a:lstStyle/>
          <a:p>
            <a:r>
              <a:rPr lang="pl-PL" b="1" dirty="0">
                <a:solidFill>
                  <a:schemeClr val="accent5">
                    <a:lumMod val="50000"/>
                  </a:schemeClr>
                </a:solidFill>
                <a:effectLst>
                  <a:outerShdw blurRad="38100" dist="38100" dir="2700000" algn="tl">
                    <a:srgbClr val="000000">
                      <a:alpha val="43137"/>
                    </a:srgbClr>
                  </a:outerShdw>
                </a:effectLst>
              </a:rPr>
              <a:t>p</a:t>
            </a:r>
          </a:p>
        </p:txBody>
      </p:sp>
      <p:grpSp>
        <p:nvGrpSpPr>
          <p:cNvPr id="4" name="Group 3">
            <a:extLst>
              <a:ext uri="{FF2B5EF4-FFF2-40B4-BE49-F238E27FC236}">
                <a16:creationId xmlns:a16="http://schemas.microsoft.com/office/drawing/2014/main" id="{7CCA4F29-6CC4-B857-09C5-7415872BF9D2}"/>
              </a:ext>
            </a:extLst>
          </p:cNvPr>
          <p:cNvGrpSpPr/>
          <p:nvPr/>
        </p:nvGrpSpPr>
        <p:grpSpPr>
          <a:xfrm>
            <a:off x="1848291" y="4428528"/>
            <a:ext cx="1677560" cy="1974013"/>
            <a:chOff x="9990700" y="1200478"/>
            <a:chExt cx="2075794" cy="2952328"/>
          </a:xfrm>
        </p:grpSpPr>
        <p:cxnSp>
          <p:nvCxnSpPr>
            <p:cNvPr id="39" name="Łącznik prosty 41">
              <a:extLst>
                <a:ext uri="{FF2B5EF4-FFF2-40B4-BE49-F238E27FC236}">
                  <a16:creationId xmlns:a16="http://schemas.microsoft.com/office/drawing/2014/main" id="{F54A4C4C-5E11-84CA-6BD7-351DFCDD1288}"/>
                </a:ext>
              </a:extLst>
            </p:cNvPr>
            <p:cNvCxnSpPr/>
            <p:nvPr/>
          </p:nvCxnSpPr>
          <p:spPr>
            <a:xfrm rot="5400000">
              <a:off x="8664116" y="2676642"/>
              <a:ext cx="2952328"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40" name="Łącznik prosty 42">
              <a:extLst>
                <a:ext uri="{FF2B5EF4-FFF2-40B4-BE49-F238E27FC236}">
                  <a16:creationId xmlns:a16="http://schemas.microsoft.com/office/drawing/2014/main" id="{704F1686-253C-824C-C08F-4BDD61BD1666}"/>
                </a:ext>
              </a:extLst>
            </p:cNvPr>
            <p:cNvCxnSpPr/>
            <p:nvPr/>
          </p:nvCxnSpPr>
          <p:spPr>
            <a:xfrm>
              <a:off x="9990700" y="4004856"/>
              <a:ext cx="201622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41" name="Łącznik prosty 43">
              <a:extLst>
                <a:ext uri="{FF2B5EF4-FFF2-40B4-BE49-F238E27FC236}">
                  <a16:creationId xmlns:a16="http://schemas.microsoft.com/office/drawing/2014/main" id="{7EEABAA1-F3DE-D206-FD36-0F85BE6A3376}"/>
                </a:ext>
              </a:extLst>
            </p:cNvPr>
            <p:cNvCxnSpPr/>
            <p:nvPr/>
          </p:nvCxnSpPr>
          <p:spPr>
            <a:xfrm rot="16200000" flipH="1">
              <a:off x="9738672" y="2247703"/>
              <a:ext cx="2520280" cy="648072"/>
            </a:xfrm>
            <a:prstGeom prst="line">
              <a:avLst/>
            </a:prstGeom>
          </p:spPr>
          <p:style>
            <a:lnRef idx="3">
              <a:schemeClr val="accent1"/>
            </a:lnRef>
            <a:fillRef idx="0">
              <a:schemeClr val="accent1"/>
            </a:fillRef>
            <a:effectRef idx="2">
              <a:schemeClr val="accent1"/>
            </a:effectRef>
            <a:fontRef idx="minor">
              <a:schemeClr val="tx1"/>
            </a:fontRef>
          </p:style>
        </p:cxnSp>
        <p:sp>
          <p:nvSpPr>
            <p:cNvPr id="43" name="Strzałka w górę 55">
              <a:extLst>
                <a:ext uri="{FF2B5EF4-FFF2-40B4-BE49-F238E27FC236}">
                  <a16:creationId xmlns:a16="http://schemas.microsoft.com/office/drawing/2014/main" id="{51B41B8E-EEC5-1CAA-9163-7CA66CA40E24}"/>
                </a:ext>
              </a:extLst>
            </p:cNvPr>
            <p:cNvSpPr/>
            <p:nvPr/>
          </p:nvSpPr>
          <p:spPr>
            <a:xfrm>
              <a:off x="11321597" y="1490866"/>
              <a:ext cx="744897" cy="159321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1" name="pole tekstowe 70">
              <a:extLst>
                <a:ext uri="{FF2B5EF4-FFF2-40B4-BE49-F238E27FC236}">
                  <a16:creationId xmlns:a16="http://schemas.microsoft.com/office/drawing/2014/main" id="{D34D683C-1731-7C59-3323-D229DA96A894}"/>
                </a:ext>
              </a:extLst>
            </p:cNvPr>
            <p:cNvSpPr txBox="1"/>
            <p:nvPr/>
          </p:nvSpPr>
          <p:spPr>
            <a:xfrm>
              <a:off x="11541145" y="3137982"/>
              <a:ext cx="288032" cy="369332"/>
            </a:xfrm>
            <a:prstGeom prst="rect">
              <a:avLst/>
            </a:prstGeom>
            <a:noFill/>
          </p:spPr>
          <p:txBody>
            <a:bodyPr wrap="square" rtlCol="0">
              <a:spAutoFit/>
            </a:bodyPr>
            <a:lstStyle/>
            <a:p>
              <a:r>
                <a:rPr lang="pl-PL" b="1" dirty="0">
                  <a:solidFill>
                    <a:schemeClr val="accent5">
                      <a:lumMod val="50000"/>
                    </a:schemeClr>
                  </a:solidFill>
                  <a:effectLst>
                    <a:outerShdw blurRad="38100" dist="38100" dir="2700000" algn="tl">
                      <a:srgbClr val="000000">
                        <a:alpha val="43137"/>
                      </a:srgbClr>
                    </a:outerShdw>
                  </a:effectLst>
                </a:rPr>
                <a:t>p</a:t>
              </a:r>
            </a:p>
          </p:txBody>
        </p:sp>
      </p:grpSp>
      <p:sp>
        <p:nvSpPr>
          <p:cNvPr id="53" name="TextBox 52">
            <a:extLst>
              <a:ext uri="{FF2B5EF4-FFF2-40B4-BE49-F238E27FC236}">
                <a16:creationId xmlns:a16="http://schemas.microsoft.com/office/drawing/2014/main" id="{5B67F56B-E10B-84EF-B498-FDD513F7B9B8}"/>
              </a:ext>
            </a:extLst>
          </p:cNvPr>
          <p:cNvSpPr txBox="1"/>
          <p:nvPr/>
        </p:nvSpPr>
        <p:spPr>
          <a:xfrm>
            <a:off x="4312853" y="1491549"/>
            <a:ext cx="7524479" cy="5016758"/>
          </a:xfrm>
          <a:prstGeom prst="rect">
            <a:avLst/>
          </a:prstGeom>
          <a:noFill/>
        </p:spPr>
        <p:txBody>
          <a:bodyPr wrap="square">
            <a:spAutoFit/>
          </a:bodyPr>
          <a:lstStyle/>
          <a:p>
            <a:pPr algn="just"/>
            <a:r>
              <a:rPr lang="en-US" sz="2000" dirty="0">
                <a:solidFill>
                  <a:schemeClr val="accent5">
                    <a:lumMod val="50000"/>
                  </a:schemeClr>
                </a:solidFill>
              </a:rPr>
              <a:t>People who clip coupons often have more free time and are highly price-sensitive, seeking to maximize their savings by spending effort. On the other hand, consumers who do not use coupons typically value their time more, are less sensitive to price, and are willing to pay higher prices for convenience.</a:t>
            </a:r>
            <a:endParaRPr lang="pl-PL" sz="2000" dirty="0">
              <a:solidFill>
                <a:schemeClr val="accent5">
                  <a:lumMod val="50000"/>
                </a:schemeClr>
              </a:solidFill>
            </a:endParaRPr>
          </a:p>
          <a:p>
            <a:pPr algn="just"/>
            <a:endParaRPr lang="pl-PL" sz="2000" dirty="0">
              <a:solidFill>
                <a:schemeClr val="accent5">
                  <a:lumMod val="50000"/>
                </a:schemeClr>
              </a:solidFill>
            </a:endParaRPr>
          </a:p>
          <a:p>
            <a:pPr algn="just"/>
            <a:r>
              <a:rPr lang="en-US" sz="2000" dirty="0">
                <a:solidFill>
                  <a:schemeClr val="accent5">
                    <a:lumMod val="50000"/>
                  </a:schemeClr>
                </a:solidFill>
              </a:rPr>
              <a:t>Traditional airlines had </a:t>
            </a:r>
            <a:r>
              <a:rPr lang="en-US" sz="2000" b="1" dirty="0">
                <a:solidFill>
                  <a:schemeClr val="accent5">
                    <a:lumMod val="50000"/>
                  </a:schemeClr>
                </a:solidFill>
              </a:rPr>
              <a:t>economy class</a:t>
            </a:r>
            <a:r>
              <a:rPr lang="en-US" sz="2000" dirty="0">
                <a:solidFill>
                  <a:schemeClr val="accent5">
                    <a:lumMod val="50000"/>
                  </a:schemeClr>
                </a:solidFill>
              </a:rPr>
              <a:t>, which was price-sensitive, and business class, which was less so. If someone was flying during the week, they had to buy a </a:t>
            </a:r>
            <a:r>
              <a:rPr lang="en-US" sz="2000" b="1" dirty="0">
                <a:solidFill>
                  <a:schemeClr val="accent5">
                    <a:lumMod val="50000"/>
                  </a:schemeClr>
                </a:solidFill>
              </a:rPr>
              <a:t>business class </a:t>
            </a:r>
            <a:r>
              <a:rPr lang="en-US" sz="2000" dirty="0">
                <a:solidFill>
                  <a:schemeClr val="accent5">
                    <a:lumMod val="50000"/>
                  </a:schemeClr>
                </a:solidFill>
              </a:rPr>
              <a:t>ticket. Businesspeople wanted to return home for the weekend, and it wasn't them paying.</a:t>
            </a:r>
            <a:endParaRPr lang="pl-PL" sz="2000" dirty="0">
              <a:solidFill>
                <a:schemeClr val="accent5">
                  <a:lumMod val="50000"/>
                </a:schemeClr>
              </a:solidFill>
            </a:endParaRPr>
          </a:p>
          <a:p>
            <a:pPr algn="just"/>
            <a:endParaRPr lang="pl-PL" sz="2000" dirty="0">
              <a:solidFill>
                <a:schemeClr val="accent5">
                  <a:lumMod val="50000"/>
                </a:schemeClr>
              </a:solidFill>
            </a:endParaRPr>
          </a:p>
          <a:p>
            <a:pPr algn="just"/>
            <a:r>
              <a:rPr lang="en-US" sz="2000" dirty="0">
                <a:solidFill>
                  <a:schemeClr val="accent5">
                    <a:lumMod val="50000"/>
                  </a:schemeClr>
                </a:solidFill>
              </a:rPr>
              <a:t>If you go to the movies on a Tuesday morning, you can expect that the people who come will have time and not a lot of money - meaning the demand is elastic, sensitive to price changes, so the price should be low. On Saturday evening, the price is high because the demand is inelastic. </a:t>
            </a:r>
          </a:p>
        </p:txBody>
      </p:sp>
    </p:spTree>
    <p:extLst>
      <p:ext uri="{BB962C8B-B14F-4D97-AF65-F5344CB8AC3E}">
        <p14:creationId xmlns:p14="http://schemas.microsoft.com/office/powerpoint/2010/main" val="1209184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4E21D-22AC-D81F-1E34-B0B164F7DCE0}"/>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AE30A89-DD2E-0C92-1433-E24732AB2A09}"/>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a:solidFill>
                  <a:srgbClr val="4BACC6">
                    <a:lumMod val="50000"/>
                  </a:srgbClr>
                </a:solidFill>
              </a:rPr>
              <a:t>Third-</a:t>
            </a:r>
            <a:r>
              <a:rPr lang="pl-PL" b="1" noProof="0" dirty="0" err="1">
                <a:solidFill>
                  <a:srgbClr val="4BACC6">
                    <a:lumMod val="50000"/>
                  </a:srgbClr>
                </a:solidFill>
              </a:rPr>
              <a:t>Degree</a:t>
            </a:r>
            <a:r>
              <a:rPr lang="pl-PL" b="1" noProof="0" dirty="0">
                <a:solidFill>
                  <a:srgbClr val="4BACC6">
                    <a:lumMod val="50000"/>
                  </a:srgbClr>
                </a:solidFill>
              </a:rPr>
              <a:t> </a:t>
            </a:r>
            <a:r>
              <a:rPr lang="pl-PL" b="1" noProof="0" dirty="0" err="1">
                <a:solidFill>
                  <a:srgbClr val="4BACC6">
                    <a:lumMod val="50000"/>
                  </a:srgbClr>
                </a:solidFill>
              </a:rPr>
              <a:t>Price</a:t>
            </a:r>
            <a:r>
              <a:rPr lang="pl-PL" b="1" noProof="0" dirty="0">
                <a:solidFill>
                  <a:srgbClr val="4BACC6">
                    <a:lumMod val="50000"/>
                  </a:srgbClr>
                </a:solidFill>
              </a:rPr>
              <a:t> </a:t>
            </a:r>
            <a:r>
              <a:rPr lang="pl-PL" b="1" noProof="0" dirty="0" err="1">
                <a:solidFill>
                  <a:srgbClr val="4BACC6">
                    <a:lumMod val="50000"/>
                  </a:srgbClr>
                </a:solidFill>
              </a:rPr>
              <a:t>Discrimination</a:t>
            </a:r>
            <a:endParaRPr lang="pl-PL" b="1" noProof="0" dirty="0">
              <a:solidFill>
                <a:srgbClr val="4BACC6">
                  <a:lumMod val="50000"/>
                </a:srgbClr>
              </a:solidFill>
            </a:endParaRPr>
          </a:p>
          <a:p>
            <a:r>
              <a:rPr lang="en-US" b="1" noProof="0" dirty="0">
                <a:solidFill>
                  <a:srgbClr val="4BACC6">
                    <a:lumMod val="50000"/>
                  </a:srgbClr>
                </a:solidFill>
              </a:rPr>
              <a:t>(dividing consumers into distinct groups)</a:t>
            </a:r>
          </a:p>
        </p:txBody>
      </p:sp>
      <p:sp>
        <p:nvSpPr>
          <p:cNvPr id="59" name="TextBox 58">
            <a:extLst>
              <a:ext uri="{FF2B5EF4-FFF2-40B4-BE49-F238E27FC236}">
                <a16:creationId xmlns:a16="http://schemas.microsoft.com/office/drawing/2014/main" id="{3195726A-1B2E-7D39-9E7C-DD94750F2859}"/>
              </a:ext>
            </a:extLst>
          </p:cNvPr>
          <p:cNvSpPr txBox="1"/>
          <p:nvPr/>
        </p:nvSpPr>
        <p:spPr>
          <a:xfrm>
            <a:off x="340293" y="1796349"/>
            <a:ext cx="11069387" cy="4154984"/>
          </a:xfrm>
          <a:prstGeom prst="rect">
            <a:avLst/>
          </a:prstGeom>
          <a:noFill/>
        </p:spPr>
        <p:txBody>
          <a:bodyPr wrap="square">
            <a:spAutoFit/>
          </a:bodyPr>
          <a:lstStyle/>
          <a:p>
            <a:pPr algn="just"/>
            <a:r>
              <a:rPr lang="en-US" sz="2400" b="1" dirty="0">
                <a:solidFill>
                  <a:schemeClr val="accent5">
                    <a:lumMod val="50000"/>
                  </a:schemeClr>
                </a:solidFill>
              </a:rPr>
              <a:t>I haven't dealt with these topics for almost five years. What I used to present were self-selection models, where time played a significant role. For instance:</a:t>
            </a:r>
          </a:p>
          <a:p>
            <a:pPr algn="just"/>
            <a:endParaRPr lang="en-US" sz="2400" b="1" dirty="0">
              <a:solidFill>
                <a:schemeClr val="accent5">
                  <a:lumMod val="50000"/>
                </a:schemeClr>
              </a:solidFill>
            </a:endParaRPr>
          </a:p>
          <a:p>
            <a:pPr marL="342900" indent="-342900" algn="just">
              <a:buFont typeface="Arial" panose="020B0604020202020204" pitchFamily="34" charset="0"/>
              <a:buChar char="•"/>
            </a:pPr>
            <a:r>
              <a:rPr lang="en-US" sz="2400" b="1" dirty="0">
                <a:solidFill>
                  <a:schemeClr val="accent5">
                    <a:lumMod val="50000"/>
                  </a:schemeClr>
                </a:solidFill>
              </a:rPr>
              <a:t>If you wanted to wear something fashionable, you'd pay a high price, but the same item would be sold at cost in two months.</a:t>
            </a:r>
          </a:p>
          <a:p>
            <a:pPr marL="342900" indent="-342900" algn="just">
              <a:buFont typeface="Arial" panose="020B0604020202020204" pitchFamily="34" charset="0"/>
              <a:buChar char="•"/>
            </a:pPr>
            <a:r>
              <a:rPr lang="en-US" sz="2400" b="1" dirty="0">
                <a:solidFill>
                  <a:schemeClr val="accent5">
                    <a:lumMod val="50000"/>
                  </a:schemeClr>
                </a:solidFill>
              </a:rPr>
              <a:t>During a crisis, you'd launch a cheap brand; in times of prosperity, you'd sell the same product as a premium brand.</a:t>
            </a:r>
          </a:p>
          <a:p>
            <a:pPr algn="just"/>
            <a:endParaRPr lang="en-US" sz="2400" b="1" dirty="0">
              <a:solidFill>
                <a:schemeClr val="accent5">
                  <a:lumMod val="50000"/>
                </a:schemeClr>
              </a:solidFill>
            </a:endParaRPr>
          </a:p>
          <a:p>
            <a:pPr algn="just"/>
            <a:r>
              <a:rPr lang="en-US" sz="2400" b="1" dirty="0">
                <a:solidFill>
                  <a:schemeClr val="accent5">
                    <a:lumMod val="50000"/>
                  </a:schemeClr>
                </a:solidFill>
              </a:rPr>
              <a:t>Now, I see these models shifting toward what could be called forced selection models. Prices can change dynamically, sometimes within a few minutes, and consumers have no choice but to buy or not buy.</a:t>
            </a:r>
            <a:endParaRPr lang="en-US" sz="2400" dirty="0">
              <a:solidFill>
                <a:schemeClr val="accent5">
                  <a:lumMod val="50000"/>
                </a:schemeClr>
              </a:solidFill>
            </a:endParaRPr>
          </a:p>
        </p:txBody>
      </p:sp>
    </p:spTree>
    <p:extLst>
      <p:ext uri="{BB962C8B-B14F-4D97-AF65-F5344CB8AC3E}">
        <p14:creationId xmlns:p14="http://schemas.microsoft.com/office/powerpoint/2010/main" val="2569803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9B3F2-E875-AE68-A599-00969A6328D6}"/>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3A707CE4-BB38-0C3C-FA46-F24F0FDBEDF7}"/>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a:solidFill>
                  <a:srgbClr val="4BACC6">
                    <a:lumMod val="50000"/>
                  </a:srgbClr>
                </a:solidFill>
              </a:rPr>
              <a:t>Third-</a:t>
            </a:r>
            <a:r>
              <a:rPr lang="pl-PL" b="1" noProof="0" dirty="0" err="1">
                <a:solidFill>
                  <a:srgbClr val="4BACC6">
                    <a:lumMod val="50000"/>
                  </a:srgbClr>
                </a:solidFill>
              </a:rPr>
              <a:t>Degree</a:t>
            </a:r>
            <a:r>
              <a:rPr lang="pl-PL" b="1" noProof="0" dirty="0">
                <a:solidFill>
                  <a:srgbClr val="4BACC6">
                    <a:lumMod val="50000"/>
                  </a:srgbClr>
                </a:solidFill>
              </a:rPr>
              <a:t> </a:t>
            </a:r>
            <a:r>
              <a:rPr lang="pl-PL" b="1" noProof="0" dirty="0" err="1">
                <a:solidFill>
                  <a:srgbClr val="4BACC6">
                    <a:lumMod val="50000"/>
                  </a:srgbClr>
                </a:solidFill>
              </a:rPr>
              <a:t>Price</a:t>
            </a:r>
            <a:r>
              <a:rPr lang="pl-PL" b="1" noProof="0" dirty="0">
                <a:solidFill>
                  <a:srgbClr val="4BACC6">
                    <a:lumMod val="50000"/>
                  </a:srgbClr>
                </a:solidFill>
              </a:rPr>
              <a:t> </a:t>
            </a:r>
            <a:r>
              <a:rPr lang="pl-PL" b="1" noProof="0" dirty="0" err="1">
                <a:solidFill>
                  <a:srgbClr val="4BACC6">
                    <a:lumMod val="50000"/>
                  </a:srgbClr>
                </a:solidFill>
              </a:rPr>
              <a:t>Discrimination</a:t>
            </a:r>
            <a:endParaRPr lang="pl-PL" b="1" noProof="0" dirty="0">
              <a:solidFill>
                <a:srgbClr val="4BACC6">
                  <a:lumMod val="50000"/>
                </a:srgbClr>
              </a:solidFill>
            </a:endParaRPr>
          </a:p>
          <a:p>
            <a:r>
              <a:rPr lang="en-US" b="1" noProof="0" dirty="0">
                <a:solidFill>
                  <a:srgbClr val="4BACC6">
                    <a:lumMod val="50000"/>
                  </a:srgbClr>
                </a:solidFill>
              </a:rPr>
              <a:t>(dividing consumers into distinct groups)</a:t>
            </a:r>
          </a:p>
        </p:txBody>
      </p:sp>
      <p:sp>
        <p:nvSpPr>
          <p:cNvPr id="59" name="TextBox 58">
            <a:extLst>
              <a:ext uri="{FF2B5EF4-FFF2-40B4-BE49-F238E27FC236}">
                <a16:creationId xmlns:a16="http://schemas.microsoft.com/office/drawing/2014/main" id="{EBF6344C-2A45-CE70-DAF2-6FEFB5107EE2}"/>
              </a:ext>
            </a:extLst>
          </p:cNvPr>
          <p:cNvSpPr txBox="1"/>
          <p:nvPr/>
        </p:nvSpPr>
        <p:spPr>
          <a:xfrm>
            <a:off x="208213" y="1225689"/>
            <a:ext cx="7493067" cy="5324535"/>
          </a:xfrm>
          <a:prstGeom prst="rect">
            <a:avLst/>
          </a:prstGeom>
          <a:noFill/>
        </p:spPr>
        <p:txBody>
          <a:bodyPr wrap="square">
            <a:spAutoFit/>
          </a:bodyPr>
          <a:lstStyle/>
          <a:p>
            <a:pPr algn="just"/>
            <a:r>
              <a:rPr lang="pl-PL" sz="2000" dirty="0">
                <a:solidFill>
                  <a:schemeClr val="accent5">
                    <a:lumMod val="50000"/>
                  </a:schemeClr>
                </a:solidFill>
              </a:rPr>
              <a:t>It</a:t>
            </a:r>
            <a:r>
              <a:rPr lang="en-US" sz="2000" dirty="0">
                <a:solidFill>
                  <a:schemeClr val="accent5">
                    <a:lumMod val="50000"/>
                  </a:schemeClr>
                </a:solidFill>
              </a:rPr>
              <a:t> shift from self-selection to forced selection has fundamentally changed how pricing works. Time is no longer a predictable factor; consumers must act immediately or risk paying more</a:t>
            </a:r>
            <a:r>
              <a:rPr lang="pl-PL" sz="2000" dirty="0">
                <a:solidFill>
                  <a:schemeClr val="accent5">
                    <a:lumMod val="50000"/>
                  </a:schemeClr>
                </a:solidFill>
              </a:rPr>
              <a:t>- </a:t>
            </a:r>
            <a:r>
              <a:rPr lang="en-US" sz="2000" dirty="0">
                <a:solidFill>
                  <a:schemeClr val="accent5">
                    <a:lumMod val="50000"/>
                  </a:schemeClr>
                </a:solidFill>
              </a:rPr>
              <a:t>they are playing with your risk attitude.</a:t>
            </a:r>
            <a:r>
              <a:rPr lang="pl-PL" sz="2000" dirty="0">
                <a:solidFill>
                  <a:schemeClr val="accent5">
                    <a:lumMod val="50000"/>
                  </a:schemeClr>
                </a:solidFill>
              </a:rPr>
              <a:t> </a:t>
            </a:r>
          </a:p>
          <a:p>
            <a:pPr algn="just"/>
            <a:r>
              <a:rPr lang="en-US" sz="2000" dirty="0">
                <a:solidFill>
                  <a:schemeClr val="accent5">
                    <a:lumMod val="50000"/>
                  </a:schemeClr>
                </a:solidFill>
              </a:rPr>
              <a:t>Airline Ticket Prices: </a:t>
            </a:r>
          </a:p>
          <a:p>
            <a:pPr marL="342900" indent="-342900" algn="just">
              <a:buFont typeface="Arial" panose="020B0604020202020204" pitchFamily="34" charset="0"/>
              <a:buChar char="•"/>
            </a:pPr>
            <a:r>
              <a:rPr lang="en-US" sz="2000" dirty="0">
                <a:solidFill>
                  <a:schemeClr val="accent5">
                    <a:lumMod val="50000"/>
                  </a:schemeClr>
                </a:solidFill>
              </a:rPr>
              <a:t>In the past: There were fixed prices—business class and economy class.</a:t>
            </a:r>
          </a:p>
          <a:p>
            <a:pPr marL="342900" indent="-342900" algn="just">
              <a:buFont typeface="Arial" panose="020B0604020202020204" pitchFamily="34" charset="0"/>
              <a:buChar char="•"/>
            </a:pPr>
            <a:r>
              <a:rPr lang="en-US" sz="2000" dirty="0">
                <a:solidFill>
                  <a:schemeClr val="accent5">
                    <a:lumMod val="50000"/>
                  </a:schemeClr>
                </a:solidFill>
              </a:rPr>
              <a:t>More recently: At the beginning of sales, prices started low and increased steadily as the departure date approached, allowing consumers to predict and plan their purchases.</a:t>
            </a:r>
          </a:p>
          <a:p>
            <a:pPr marL="342900" indent="-342900" algn="just">
              <a:buFont typeface="Arial" panose="020B0604020202020204" pitchFamily="34" charset="0"/>
              <a:buChar char="•"/>
            </a:pPr>
            <a:r>
              <a:rPr lang="en-US" sz="2000" dirty="0">
                <a:solidFill>
                  <a:schemeClr val="accent5">
                    <a:lumMod val="50000"/>
                  </a:schemeClr>
                </a:solidFill>
              </a:rPr>
              <a:t>Now: Prices fluctuate dynamically. Algorithms adjust them in real-time based on demand, competition, and consumer </a:t>
            </a:r>
            <a:r>
              <a:rPr lang="en-US" sz="2000" dirty="0" err="1">
                <a:solidFill>
                  <a:schemeClr val="accent5">
                    <a:lumMod val="50000"/>
                  </a:schemeClr>
                </a:solidFill>
              </a:rPr>
              <a:t>behawior</a:t>
            </a:r>
            <a:r>
              <a:rPr lang="pl-PL" sz="2000" dirty="0">
                <a:solidFill>
                  <a:schemeClr val="accent5">
                    <a:lumMod val="50000"/>
                  </a:schemeClr>
                </a:solidFill>
              </a:rPr>
              <a:t> (</a:t>
            </a:r>
            <a:r>
              <a:rPr lang="pl-PL" sz="2000" dirty="0" err="1">
                <a:solidFill>
                  <a:schemeClr val="accent5">
                    <a:lumMod val="50000"/>
                  </a:schemeClr>
                </a:solidFill>
              </a:rPr>
              <a:t>see</a:t>
            </a:r>
            <a:r>
              <a:rPr lang="pl-PL" sz="2000" dirty="0">
                <a:solidFill>
                  <a:schemeClr val="accent5">
                    <a:lumMod val="50000"/>
                  </a:schemeClr>
                </a:solidFill>
              </a:rPr>
              <a:t> </a:t>
            </a:r>
            <a:r>
              <a:rPr lang="pl-PL" sz="2000" dirty="0" err="1">
                <a:solidFill>
                  <a:schemeClr val="accent5">
                    <a:lumMod val="50000"/>
                  </a:schemeClr>
                </a:solidFill>
              </a:rPr>
              <a:t>graphs</a:t>
            </a:r>
            <a:r>
              <a:rPr lang="pl-PL" sz="2000" dirty="0">
                <a:solidFill>
                  <a:schemeClr val="accent5">
                    <a:lumMod val="50000"/>
                  </a:schemeClr>
                </a:solidFill>
              </a:rPr>
              <a:t>)</a:t>
            </a:r>
            <a:r>
              <a:rPr lang="en-US" sz="2000" dirty="0">
                <a:solidFill>
                  <a:schemeClr val="accent5">
                    <a:lumMod val="50000"/>
                  </a:schemeClr>
                </a:solidFill>
              </a:rPr>
              <a:t>. </a:t>
            </a:r>
            <a:endParaRPr lang="pl-PL" sz="2000" dirty="0">
              <a:solidFill>
                <a:schemeClr val="accent5">
                  <a:lumMod val="50000"/>
                </a:schemeClr>
              </a:solidFill>
            </a:endParaRPr>
          </a:p>
          <a:p>
            <a:pPr marL="800100" lvl="1" indent="-342900" algn="just">
              <a:buFont typeface="Arial" panose="020B0604020202020204" pitchFamily="34" charset="0"/>
              <a:buChar char="•"/>
            </a:pPr>
            <a:r>
              <a:rPr lang="en-US" sz="2000" dirty="0">
                <a:solidFill>
                  <a:schemeClr val="accent5">
                    <a:lumMod val="50000"/>
                  </a:schemeClr>
                </a:solidFill>
              </a:rPr>
              <a:t>Searching multiple times for the same flight can result in higher prices.</a:t>
            </a:r>
            <a:r>
              <a:rPr lang="pl-PL" sz="2000" dirty="0">
                <a:solidFill>
                  <a:schemeClr val="accent5">
                    <a:lumMod val="50000"/>
                  </a:schemeClr>
                </a:solidFill>
              </a:rPr>
              <a:t> </a:t>
            </a:r>
          </a:p>
          <a:p>
            <a:pPr marL="800100" lvl="1" indent="-342900" algn="just">
              <a:buFont typeface="Arial" panose="020B0604020202020204" pitchFamily="34" charset="0"/>
              <a:buChar char="•"/>
            </a:pPr>
            <a:r>
              <a:rPr lang="en-US" sz="2000" dirty="0">
                <a:solidFill>
                  <a:schemeClr val="accent5">
                    <a:lumMod val="50000"/>
                  </a:schemeClr>
                </a:solidFill>
              </a:rPr>
              <a:t>Prices change depending on location, time of day, or historical purchase data.</a:t>
            </a:r>
          </a:p>
        </p:txBody>
      </p:sp>
      <p:pic>
        <p:nvPicPr>
          <p:cNvPr id="4" name="Picture 3" descr="A diagram of different types of airlines&#10;&#10;Description automatically generated">
            <a:extLst>
              <a:ext uri="{FF2B5EF4-FFF2-40B4-BE49-F238E27FC236}">
                <a16:creationId xmlns:a16="http://schemas.microsoft.com/office/drawing/2014/main" id="{EFA38796-11A6-F8B5-C4B8-3CE68B3D2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3200" y="1364328"/>
            <a:ext cx="4160587" cy="2648872"/>
          </a:xfrm>
          <a:prstGeom prst="rect">
            <a:avLst/>
          </a:prstGeom>
        </p:spPr>
      </p:pic>
      <p:pic>
        <p:nvPicPr>
          <p:cNvPr id="6" name="Picture 5" descr="A blue line with orange dots&#10;&#10;Description automatically generated">
            <a:extLst>
              <a:ext uri="{FF2B5EF4-FFF2-40B4-BE49-F238E27FC236}">
                <a16:creationId xmlns:a16="http://schemas.microsoft.com/office/drawing/2014/main" id="{5A2A1EED-9FD0-D0AF-C3DB-8A331EAE32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200" y="3887956"/>
            <a:ext cx="4282507" cy="2533794"/>
          </a:xfrm>
          <a:prstGeom prst="rect">
            <a:avLst/>
          </a:prstGeom>
        </p:spPr>
      </p:pic>
    </p:spTree>
    <p:extLst>
      <p:ext uri="{BB962C8B-B14F-4D97-AF65-F5344CB8AC3E}">
        <p14:creationId xmlns:p14="http://schemas.microsoft.com/office/powerpoint/2010/main" val="2666033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E0F27-5BF0-81DE-8AFC-1C9F1AF8E36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31E23484-7A1B-23F6-1A6B-077FE96CC86E}"/>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a:solidFill>
                  <a:srgbClr val="4BACC6">
                    <a:lumMod val="50000"/>
                  </a:srgbClr>
                </a:solidFill>
              </a:rPr>
              <a:t>Third-</a:t>
            </a:r>
            <a:r>
              <a:rPr lang="pl-PL" b="1" noProof="0" dirty="0" err="1">
                <a:solidFill>
                  <a:srgbClr val="4BACC6">
                    <a:lumMod val="50000"/>
                  </a:srgbClr>
                </a:solidFill>
              </a:rPr>
              <a:t>Degree</a:t>
            </a:r>
            <a:r>
              <a:rPr lang="pl-PL" b="1" noProof="0" dirty="0">
                <a:solidFill>
                  <a:srgbClr val="4BACC6">
                    <a:lumMod val="50000"/>
                  </a:srgbClr>
                </a:solidFill>
              </a:rPr>
              <a:t> </a:t>
            </a:r>
            <a:r>
              <a:rPr lang="pl-PL" b="1" noProof="0" dirty="0" err="1">
                <a:solidFill>
                  <a:srgbClr val="4BACC6">
                    <a:lumMod val="50000"/>
                  </a:srgbClr>
                </a:solidFill>
              </a:rPr>
              <a:t>Price</a:t>
            </a:r>
            <a:r>
              <a:rPr lang="pl-PL" b="1" noProof="0" dirty="0">
                <a:solidFill>
                  <a:srgbClr val="4BACC6">
                    <a:lumMod val="50000"/>
                  </a:srgbClr>
                </a:solidFill>
              </a:rPr>
              <a:t> </a:t>
            </a:r>
            <a:r>
              <a:rPr lang="pl-PL" b="1" noProof="0" dirty="0" err="1">
                <a:solidFill>
                  <a:srgbClr val="4BACC6">
                    <a:lumMod val="50000"/>
                  </a:srgbClr>
                </a:solidFill>
              </a:rPr>
              <a:t>Discrimination</a:t>
            </a:r>
            <a:endParaRPr lang="pl-PL" b="1" noProof="0" dirty="0">
              <a:solidFill>
                <a:srgbClr val="4BACC6">
                  <a:lumMod val="50000"/>
                </a:srgbClr>
              </a:solidFill>
            </a:endParaRPr>
          </a:p>
          <a:p>
            <a:r>
              <a:rPr lang="en-US" b="1" noProof="0" dirty="0">
                <a:solidFill>
                  <a:srgbClr val="4BACC6">
                    <a:lumMod val="50000"/>
                  </a:srgbClr>
                </a:solidFill>
              </a:rPr>
              <a:t>(dividing consumers into distinct groups)</a:t>
            </a:r>
          </a:p>
        </p:txBody>
      </p:sp>
      <p:sp>
        <p:nvSpPr>
          <p:cNvPr id="59" name="TextBox 58">
            <a:extLst>
              <a:ext uri="{FF2B5EF4-FFF2-40B4-BE49-F238E27FC236}">
                <a16:creationId xmlns:a16="http://schemas.microsoft.com/office/drawing/2014/main" id="{1477B1B2-1728-B8B3-2A82-DF5651E013DE}"/>
              </a:ext>
            </a:extLst>
          </p:cNvPr>
          <p:cNvSpPr txBox="1"/>
          <p:nvPr/>
        </p:nvSpPr>
        <p:spPr>
          <a:xfrm>
            <a:off x="322581" y="1346914"/>
            <a:ext cx="6403338" cy="5324535"/>
          </a:xfrm>
          <a:prstGeom prst="rect">
            <a:avLst/>
          </a:prstGeom>
          <a:noFill/>
        </p:spPr>
        <p:txBody>
          <a:bodyPr wrap="square">
            <a:spAutoFit/>
          </a:bodyPr>
          <a:lstStyle/>
          <a:p>
            <a:pPr algn="just"/>
            <a:r>
              <a:rPr lang="pl-PL" sz="2000" dirty="0">
                <a:solidFill>
                  <a:schemeClr val="accent5">
                    <a:lumMod val="50000"/>
                  </a:schemeClr>
                </a:solidFill>
              </a:rPr>
              <a:t>T</a:t>
            </a:r>
            <a:r>
              <a:rPr lang="en-US" sz="2000" dirty="0">
                <a:solidFill>
                  <a:schemeClr val="accent5">
                    <a:lumMod val="50000"/>
                  </a:schemeClr>
                </a:solidFill>
              </a:rPr>
              <a:t>his simulation, where the rental price of urban scooters adjusts based on congestion, illustrates the classic concept of </a:t>
            </a:r>
            <a:r>
              <a:rPr lang="en-US" sz="2000" dirty="0">
                <a:solidFill>
                  <a:srgbClr val="C00000"/>
                </a:solidFill>
              </a:rPr>
              <a:t>congestion pricing</a:t>
            </a:r>
            <a:r>
              <a:rPr lang="en-US" sz="2000" dirty="0">
                <a:solidFill>
                  <a:schemeClr val="accent5">
                    <a:lumMod val="50000"/>
                  </a:schemeClr>
                </a:solidFill>
              </a:rPr>
              <a:t>, introduced by William Vickrey. </a:t>
            </a:r>
            <a:endParaRPr lang="pl-PL" sz="2000" dirty="0">
              <a:solidFill>
                <a:schemeClr val="accent5">
                  <a:lumMod val="50000"/>
                </a:schemeClr>
              </a:solidFill>
            </a:endParaRPr>
          </a:p>
          <a:p>
            <a:pPr algn="just"/>
            <a:endParaRPr lang="pl-PL" sz="2000" dirty="0">
              <a:solidFill>
                <a:schemeClr val="accent5">
                  <a:lumMod val="50000"/>
                </a:schemeClr>
              </a:solidFill>
            </a:endParaRPr>
          </a:p>
          <a:p>
            <a:pPr algn="just"/>
            <a:r>
              <a:rPr lang="en-US" sz="2000" dirty="0">
                <a:solidFill>
                  <a:schemeClr val="accent5">
                    <a:lumMod val="50000"/>
                  </a:schemeClr>
                </a:solidFill>
              </a:rPr>
              <a:t>Originally proposed as a tool for managing public goods like roads, this idea is now widely adopted by private businesses. Companies dynamically adapt prices to fluctuations in demand, as seen in ride-sharing services, urban scooter rentals, and even ticket pricing for events. </a:t>
            </a:r>
            <a:endParaRPr lang="pl-PL" sz="2000" dirty="0">
              <a:solidFill>
                <a:schemeClr val="accent5">
                  <a:lumMod val="50000"/>
                </a:schemeClr>
              </a:solidFill>
            </a:endParaRPr>
          </a:p>
          <a:p>
            <a:pPr algn="just"/>
            <a:endParaRPr lang="pl-PL" sz="2000" dirty="0">
              <a:solidFill>
                <a:schemeClr val="accent5">
                  <a:lumMod val="50000"/>
                </a:schemeClr>
              </a:solidFill>
            </a:endParaRPr>
          </a:p>
          <a:p>
            <a:pPr algn="just"/>
            <a:r>
              <a:rPr lang="en-US" sz="2000" dirty="0">
                <a:solidFill>
                  <a:schemeClr val="accent5">
                    <a:lumMod val="50000"/>
                  </a:schemeClr>
                </a:solidFill>
              </a:rPr>
              <a:t>Higher prices during peak demand optimize resource allocation and maximize revenue, while lower prices during off-peak hours encourage usage. This shift highlights how a concept rooted in public policy has been successfully adapted for profit-driven models, demonstrating its efficiency.</a:t>
            </a:r>
            <a:endParaRPr lang="pl-PL" sz="2000" dirty="0">
              <a:solidFill>
                <a:schemeClr val="accent5">
                  <a:lumMod val="50000"/>
                </a:schemeClr>
              </a:solidFill>
            </a:endParaRPr>
          </a:p>
          <a:p>
            <a:pPr algn="just"/>
            <a:r>
              <a:rPr lang="pl-PL" sz="2000" dirty="0">
                <a:solidFill>
                  <a:schemeClr val="accent5">
                    <a:lumMod val="50000"/>
                  </a:schemeClr>
                </a:solidFill>
              </a:rPr>
              <a:t>ACE </a:t>
            </a:r>
            <a:r>
              <a:rPr lang="pl-PL" sz="2000" dirty="0" err="1">
                <a:solidFill>
                  <a:schemeClr val="accent5">
                    <a:lumMod val="50000"/>
                  </a:schemeClr>
                </a:solidFill>
              </a:rPr>
              <a:t>simulation</a:t>
            </a:r>
            <a:r>
              <a:rPr lang="pl-PL" sz="2000" dirty="0">
                <a:solidFill>
                  <a:schemeClr val="accent5">
                    <a:lumMod val="50000"/>
                  </a:schemeClr>
                </a:solidFill>
              </a:rPr>
              <a:t>: </a:t>
            </a:r>
            <a:r>
              <a:rPr lang="en-US" sz="1400" dirty="0">
                <a:solidFill>
                  <a:schemeClr val="accent5">
                    <a:lumMod val="50000"/>
                  </a:schemeClr>
                </a:solidFill>
              </a:rPr>
              <a:t>https://github.com/JakobKappenberger/ai-priced-parking</a:t>
            </a:r>
            <a:endParaRPr lang="en-US" sz="2000" dirty="0">
              <a:solidFill>
                <a:schemeClr val="accent5">
                  <a:lumMod val="50000"/>
                </a:schemeClr>
              </a:solidFill>
            </a:endParaRPr>
          </a:p>
        </p:txBody>
      </p:sp>
      <p:pic>
        <p:nvPicPr>
          <p:cNvPr id="10" name="Picture 9">
            <a:extLst>
              <a:ext uri="{FF2B5EF4-FFF2-40B4-BE49-F238E27FC236}">
                <a16:creationId xmlns:a16="http://schemas.microsoft.com/office/drawing/2014/main" id="{BA6F7BE1-5FB8-50DB-0A0E-37A86C99A144}"/>
              </a:ext>
            </a:extLst>
          </p:cNvPr>
          <p:cNvPicPr>
            <a:picLocks noChangeAspect="1"/>
          </p:cNvPicPr>
          <p:nvPr/>
        </p:nvPicPr>
        <p:blipFill>
          <a:blip r:embed="rId2"/>
          <a:stretch>
            <a:fillRect/>
          </a:stretch>
        </p:blipFill>
        <p:spPr>
          <a:xfrm>
            <a:off x="7193280" y="1225689"/>
            <a:ext cx="4676139" cy="5445760"/>
          </a:xfrm>
          <a:prstGeom prst="rect">
            <a:avLst/>
          </a:prstGeom>
        </p:spPr>
      </p:pic>
    </p:spTree>
    <p:extLst>
      <p:ext uri="{BB962C8B-B14F-4D97-AF65-F5344CB8AC3E}">
        <p14:creationId xmlns:p14="http://schemas.microsoft.com/office/powerpoint/2010/main" val="1656585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83B67-06A9-7AFC-A59C-079F95B85B33}"/>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9EE28C35-4F29-A640-1C04-922744E32302}"/>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err="1">
                <a:solidFill>
                  <a:srgbClr val="4BACC6">
                    <a:lumMod val="50000"/>
                  </a:srgbClr>
                </a:solidFill>
              </a:rPr>
              <a:t>Two</a:t>
            </a:r>
            <a:r>
              <a:rPr lang="pl-PL" b="1" noProof="0" dirty="0">
                <a:solidFill>
                  <a:srgbClr val="4BACC6">
                    <a:lumMod val="50000"/>
                  </a:srgbClr>
                </a:solidFill>
              </a:rPr>
              <a:t>-Part </a:t>
            </a:r>
            <a:r>
              <a:rPr lang="pl-PL" b="1" noProof="0" dirty="0" err="1">
                <a:solidFill>
                  <a:srgbClr val="4BACC6">
                    <a:lumMod val="50000"/>
                  </a:srgbClr>
                </a:solidFill>
              </a:rPr>
              <a:t>Tariff</a:t>
            </a:r>
            <a:r>
              <a:rPr lang="pl-PL" b="1" noProof="0" dirty="0">
                <a:solidFill>
                  <a:srgbClr val="4BACC6">
                    <a:lumMod val="50000"/>
                  </a:srgbClr>
                </a:solidFill>
              </a:rPr>
              <a:t> </a:t>
            </a:r>
            <a:r>
              <a:rPr lang="pl-PL" b="1" noProof="0" dirty="0" err="1">
                <a:solidFill>
                  <a:srgbClr val="4BACC6">
                    <a:lumMod val="50000"/>
                  </a:srgbClr>
                </a:solidFill>
              </a:rPr>
              <a:t>Pricing</a:t>
            </a:r>
            <a:r>
              <a:rPr lang="pl-PL" b="1" noProof="0" dirty="0">
                <a:solidFill>
                  <a:srgbClr val="4BACC6">
                    <a:lumMod val="50000"/>
                  </a:srgbClr>
                </a:solidFill>
              </a:rPr>
              <a:t> </a:t>
            </a:r>
            <a:r>
              <a:rPr lang="pl-PL" b="1" noProof="0" dirty="0" err="1">
                <a:solidFill>
                  <a:srgbClr val="4BACC6">
                    <a:lumMod val="50000"/>
                  </a:srgbClr>
                </a:solidFill>
              </a:rPr>
              <a:t>Strategy</a:t>
            </a:r>
            <a:endParaRPr lang="pl-PL" b="1" noProof="0" dirty="0">
              <a:solidFill>
                <a:srgbClr val="4BACC6">
                  <a:lumMod val="50000"/>
                </a:srgbClr>
              </a:solidFill>
            </a:endParaRPr>
          </a:p>
        </p:txBody>
      </p:sp>
      <p:sp>
        <p:nvSpPr>
          <p:cNvPr id="59" name="TextBox 58">
            <a:extLst>
              <a:ext uri="{FF2B5EF4-FFF2-40B4-BE49-F238E27FC236}">
                <a16:creationId xmlns:a16="http://schemas.microsoft.com/office/drawing/2014/main" id="{A8148CD6-BB1F-A7D7-D00E-89D5B9BB0666}"/>
              </a:ext>
            </a:extLst>
          </p:cNvPr>
          <p:cNvSpPr txBox="1"/>
          <p:nvPr/>
        </p:nvSpPr>
        <p:spPr>
          <a:xfrm>
            <a:off x="292226" y="1213142"/>
            <a:ext cx="7236460" cy="5016758"/>
          </a:xfrm>
          <a:prstGeom prst="rect">
            <a:avLst/>
          </a:prstGeom>
          <a:noFill/>
        </p:spPr>
        <p:txBody>
          <a:bodyPr wrap="square">
            <a:spAutoFit/>
          </a:bodyPr>
          <a:lstStyle/>
          <a:p>
            <a:pPr algn="just"/>
            <a:r>
              <a:rPr lang="en-US" sz="2000" dirty="0">
                <a:solidFill>
                  <a:schemeClr val="accent5">
                    <a:lumMod val="50000"/>
                  </a:schemeClr>
                </a:solidFill>
              </a:rPr>
              <a:t>A two-part tariff is a pricing strategy that divides the total cost</a:t>
            </a:r>
            <a:r>
              <a:rPr lang="pl-PL" sz="2000" dirty="0">
                <a:solidFill>
                  <a:schemeClr val="accent5">
                    <a:lumMod val="50000"/>
                  </a:schemeClr>
                </a:solidFill>
              </a:rPr>
              <a:t> (of </a:t>
            </a:r>
            <a:r>
              <a:rPr lang="pl-PL" sz="2000" dirty="0" err="1">
                <a:solidFill>
                  <a:schemeClr val="accent5">
                    <a:lumMod val="50000"/>
                  </a:schemeClr>
                </a:solidFill>
              </a:rPr>
              <a:t>puchse</a:t>
            </a:r>
            <a:r>
              <a:rPr lang="pl-PL" sz="2000" dirty="0">
                <a:solidFill>
                  <a:schemeClr val="accent5">
                    <a:lumMod val="50000"/>
                  </a:schemeClr>
                </a:solidFill>
              </a:rPr>
              <a:t>)</a:t>
            </a:r>
            <a:r>
              <a:rPr lang="en-US" sz="2000" dirty="0">
                <a:solidFill>
                  <a:schemeClr val="accent5">
                    <a:lumMod val="50000"/>
                  </a:schemeClr>
                </a:solidFill>
              </a:rPr>
              <a:t> </a:t>
            </a:r>
            <a:r>
              <a:rPr lang="pl-PL" sz="2000" dirty="0">
                <a:solidFill>
                  <a:schemeClr val="accent5">
                    <a:lumMod val="50000"/>
                  </a:schemeClr>
                </a:solidFill>
              </a:rPr>
              <a:t>of</a:t>
            </a:r>
            <a:r>
              <a:rPr lang="en-US" sz="2000" dirty="0">
                <a:solidFill>
                  <a:schemeClr val="accent5">
                    <a:lumMod val="50000"/>
                  </a:schemeClr>
                </a:solidFill>
              </a:rPr>
              <a:t> a product or service into two components:</a:t>
            </a:r>
          </a:p>
          <a:p>
            <a:pPr algn="just"/>
            <a:endParaRPr lang="en-US" sz="2000" dirty="0">
              <a:solidFill>
                <a:schemeClr val="accent5">
                  <a:lumMod val="50000"/>
                </a:schemeClr>
              </a:solidFill>
            </a:endParaRPr>
          </a:p>
          <a:p>
            <a:pPr marL="342900" indent="-342900" algn="just">
              <a:buFont typeface="Arial" panose="020B0604020202020204" pitchFamily="34" charset="0"/>
              <a:buChar char="•"/>
            </a:pPr>
            <a:r>
              <a:rPr lang="en-US" sz="2000" dirty="0">
                <a:solidFill>
                  <a:schemeClr val="accent5">
                    <a:lumMod val="50000"/>
                  </a:schemeClr>
                </a:solidFill>
              </a:rPr>
              <a:t>A fixed fee (subscription or membership): This fee is charged upfront, regardless of usage, often to cover fixed costs or provide access to a service.</a:t>
            </a:r>
            <a:endParaRPr lang="pl-PL" sz="2000" dirty="0">
              <a:solidFill>
                <a:schemeClr val="accent5">
                  <a:lumMod val="50000"/>
                </a:schemeClr>
              </a:solidFill>
            </a:endParaRPr>
          </a:p>
          <a:p>
            <a:pPr marL="342900" indent="-342900" algn="just">
              <a:buFont typeface="Arial" panose="020B0604020202020204" pitchFamily="34" charset="0"/>
              <a:buChar char="•"/>
            </a:pPr>
            <a:r>
              <a:rPr lang="en-US" sz="2000" dirty="0">
                <a:solidFill>
                  <a:schemeClr val="accent5">
                    <a:lumMod val="50000"/>
                  </a:schemeClr>
                </a:solidFill>
              </a:rPr>
              <a:t>A variable usage fee: This fee depends on the quantity of the service or product consumed (e.g., per unit price).</a:t>
            </a:r>
          </a:p>
          <a:p>
            <a:pPr algn="just"/>
            <a:endParaRPr lang="en-US" sz="2000" dirty="0">
              <a:solidFill>
                <a:schemeClr val="accent5">
                  <a:lumMod val="50000"/>
                </a:schemeClr>
              </a:solidFill>
            </a:endParaRPr>
          </a:p>
          <a:p>
            <a:pPr algn="just"/>
            <a:r>
              <a:rPr lang="en-US" sz="2000" dirty="0">
                <a:solidFill>
                  <a:schemeClr val="accent5">
                    <a:lumMod val="50000"/>
                  </a:schemeClr>
                </a:solidFill>
              </a:rPr>
              <a:t>This strategy is widely used in industries such as telecommunications, gyms, utilities, and amusement parks.</a:t>
            </a:r>
            <a:endParaRPr lang="pl-PL" sz="2000" dirty="0">
              <a:solidFill>
                <a:schemeClr val="accent5">
                  <a:lumMod val="50000"/>
                </a:schemeClr>
              </a:solidFill>
            </a:endParaRPr>
          </a:p>
          <a:p>
            <a:pPr algn="just"/>
            <a:endParaRPr lang="pl-PL" sz="2000" dirty="0">
              <a:solidFill>
                <a:schemeClr val="accent5">
                  <a:lumMod val="50000"/>
                </a:schemeClr>
              </a:solidFill>
            </a:endParaRPr>
          </a:p>
          <a:p>
            <a:pPr algn="just"/>
            <a:r>
              <a:rPr lang="en-US" sz="2000" dirty="0">
                <a:solidFill>
                  <a:schemeClr val="accent5">
                    <a:lumMod val="50000"/>
                  </a:schemeClr>
                </a:solidFill>
              </a:rPr>
              <a:t>In the two-part tariff, the subscription fee primarily extracts consumer surplus, while the usage fee </a:t>
            </a:r>
            <a:r>
              <a:rPr lang="pl-PL" sz="2000" dirty="0">
                <a:solidFill>
                  <a:schemeClr val="accent5">
                    <a:lumMod val="50000"/>
                  </a:schemeClr>
                </a:solidFill>
              </a:rPr>
              <a:t>r</a:t>
            </a:r>
            <a:r>
              <a:rPr lang="en-US" sz="2000" dirty="0" err="1">
                <a:solidFill>
                  <a:schemeClr val="accent5">
                    <a:lumMod val="50000"/>
                  </a:schemeClr>
                </a:solidFill>
              </a:rPr>
              <a:t>ecover</a:t>
            </a:r>
            <a:r>
              <a:rPr lang="pl-PL" sz="2000" dirty="0">
                <a:solidFill>
                  <a:schemeClr val="accent5">
                    <a:lumMod val="50000"/>
                  </a:schemeClr>
                </a:solidFill>
              </a:rPr>
              <a:t>s</a:t>
            </a:r>
            <a:r>
              <a:rPr lang="en-US" sz="2000" dirty="0">
                <a:solidFill>
                  <a:schemeClr val="accent5">
                    <a:lumMod val="50000"/>
                  </a:schemeClr>
                </a:solidFill>
              </a:rPr>
              <a:t> production costs. This strategy is highly effective in markets with varied consumer preferences, allowing firms to optimize revenue across user groups.</a:t>
            </a:r>
          </a:p>
        </p:txBody>
      </p:sp>
      <p:grpSp>
        <p:nvGrpSpPr>
          <p:cNvPr id="22" name="Group 21">
            <a:extLst>
              <a:ext uri="{FF2B5EF4-FFF2-40B4-BE49-F238E27FC236}">
                <a16:creationId xmlns:a16="http://schemas.microsoft.com/office/drawing/2014/main" id="{B9AC6155-584F-AC44-11C7-8B0F7FFD888E}"/>
              </a:ext>
            </a:extLst>
          </p:cNvPr>
          <p:cNvGrpSpPr/>
          <p:nvPr/>
        </p:nvGrpSpPr>
        <p:grpSpPr>
          <a:xfrm>
            <a:off x="7670800" y="1915806"/>
            <a:ext cx="7000988" cy="4765902"/>
            <a:chOff x="4959872" y="2051040"/>
            <a:chExt cx="7000988" cy="4765902"/>
          </a:xfrm>
        </p:grpSpPr>
        <p:sp>
          <p:nvSpPr>
            <p:cNvPr id="5" name="Podtytuł 2">
              <a:extLst>
                <a:ext uri="{FF2B5EF4-FFF2-40B4-BE49-F238E27FC236}">
                  <a16:creationId xmlns:a16="http://schemas.microsoft.com/office/drawing/2014/main" id="{CA417C6B-3222-2415-9B1A-7A51E9505923}"/>
                </a:ext>
              </a:extLst>
            </p:cNvPr>
            <p:cNvSpPr txBox="1">
              <a:spLocks/>
            </p:cNvSpPr>
            <p:nvPr/>
          </p:nvSpPr>
          <p:spPr>
            <a:xfrm>
              <a:off x="6531540" y="2336792"/>
              <a:ext cx="5429320" cy="785818"/>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Podtytuł 2">
              <a:extLst>
                <a:ext uri="{FF2B5EF4-FFF2-40B4-BE49-F238E27FC236}">
                  <a16:creationId xmlns:a16="http://schemas.microsoft.com/office/drawing/2014/main" id="{EA2290F4-3487-B520-6E21-8AF6E11B60DE}"/>
                </a:ext>
              </a:extLst>
            </p:cNvPr>
            <p:cNvSpPr txBox="1">
              <a:spLocks/>
            </p:cNvSpPr>
            <p:nvPr/>
          </p:nvSpPr>
          <p:spPr>
            <a:xfrm>
              <a:off x="4959872" y="2051040"/>
              <a:ext cx="785786" cy="642942"/>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P</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cena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cxnSp>
          <p:nvCxnSpPr>
            <p:cNvPr id="7" name="Łącznik prosty ze strzałką 29">
              <a:extLst>
                <a:ext uri="{FF2B5EF4-FFF2-40B4-BE49-F238E27FC236}">
                  <a16:creationId xmlns:a16="http://schemas.microsoft.com/office/drawing/2014/main" id="{532B3C36-9003-8376-B317-3327878AD323}"/>
                </a:ext>
              </a:extLst>
            </p:cNvPr>
            <p:cNvCxnSpPr>
              <a:cxnSpLocks/>
            </p:cNvCxnSpPr>
            <p:nvPr/>
          </p:nvCxnSpPr>
          <p:spPr>
            <a:xfrm rot="5400000" flipH="1" flipV="1">
              <a:off x="3639063" y="4087023"/>
              <a:ext cx="4071172"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8" name="Podtytuł 2">
              <a:extLst>
                <a:ext uri="{FF2B5EF4-FFF2-40B4-BE49-F238E27FC236}">
                  <a16:creationId xmlns:a16="http://schemas.microsoft.com/office/drawing/2014/main" id="{5047B440-731C-FF06-A6F8-F3E2CF9BCAB4}"/>
                </a:ext>
              </a:extLst>
            </p:cNvPr>
            <p:cNvSpPr txBox="1">
              <a:spLocks/>
            </p:cNvSpPr>
            <p:nvPr/>
          </p:nvSpPr>
          <p:spPr>
            <a:xfrm>
              <a:off x="8531772" y="5908692"/>
              <a:ext cx="785786" cy="642942"/>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Q</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ilość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cxnSp>
          <p:nvCxnSpPr>
            <p:cNvPr id="9" name="Łącznik prosty ze strzałką 31">
              <a:extLst>
                <a:ext uri="{FF2B5EF4-FFF2-40B4-BE49-F238E27FC236}">
                  <a16:creationId xmlns:a16="http://schemas.microsoft.com/office/drawing/2014/main" id="{94D1FAFC-6B78-B371-A446-7C599A0E147C}"/>
                </a:ext>
              </a:extLst>
            </p:cNvPr>
            <p:cNvCxnSpPr>
              <a:cxnSpLocks/>
            </p:cNvCxnSpPr>
            <p:nvPr/>
          </p:nvCxnSpPr>
          <p:spPr>
            <a:xfrm flipV="1">
              <a:off x="5317062" y="5908692"/>
              <a:ext cx="3786214" cy="952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Łącznik prosty 32">
              <a:extLst>
                <a:ext uri="{FF2B5EF4-FFF2-40B4-BE49-F238E27FC236}">
                  <a16:creationId xmlns:a16="http://schemas.microsoft.com/office/drawing/2014/main" id="{AF9B76F4-FF07-7D3C-978F-D4429640F8AA}"/>
                </a:ext>
              </a:extLst>
            </p:cNvPr>
            <p:cNvCxnSpPr>
              <a:cxnSpLocks/>
            </p:cNvCxnSpPr>
            <p:nvPr/>
          </p:nvCxnSpPr>
          <p:spPr>
            <a:xfrm rot="16200000" flipH="1">
              <a:off x="5352781" y="2729701"/>
              <a:ext cx="3500462" cy="2857520"/>
            </a:xfrm>
            <a:prstGeom prst="line">
              <a:avLst/>
            </a:prstGeom>
          </p:spPr>
          <p:style>
            <a:lnRef idx="3">
              <a:schemeClr val="accent3"/>
            </a:lnRef>
            <a:fillRef idx="0">
              <a:schemeClr val="accent3"/>
            </a:fillRef>
            <a:effectRef idx="2">
              <a:schemeClr val="accent3"/>
            </a:effectRef>
            <a:fontRef idx="minor">
              <a:schemeClr val="tx1"/>
            </a:fontRef>
          </p:style>
        </p:cxnSp>
        <p:cxnSp>
          <p:nvCxnSpPr>
            <p:cNvPr id="11" name="Łącznik prosty 34">
              <a:extLst>
                <a:ext uri="{FF2B5EF4-FFF2-40B4-BE49-F238E27FC236}">
                  <a16:creationId xmlns:a16="http://schemas.microsoft.com/office/drawing/2014/main" id="{B6D28462-9EE6-51D7-6DF7-6000BE772907}"/>
                </a:ext>
              </a:extLst>
            </p:cNvPr>
            <p:cNvCxnSpPr>
              <a:stCxn id="15" idx="4"/>
            </p:cNvCxnSpPr>
            <p:nvPr/>
          </p:nvCxnSpPr>
          <p:spPr>
            <a:xfrm rot="5400000">
              <a:off x="7995987" y="5730097"/>
              <a:ext cx="35719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2" name="Trójkąt równoramienny 35">
              <a:extLst>
                <a:ext uri="{FF2B5EF4-FFF2-40B4-BE49-F238E27FC236}">
                  <a16:creationId xmlns:a16="http://schemas.microsoft.com/office/drawing/2014/main" id="{2828E426-748B-6E6F-BE49-25EA9F5E6B91}"/>
                </a:ext>
              </a:extLst>
            </p:cNvPr>
            <p:cNvSpPr/>
            <p:nvPr/>
          </p:nvSpPr>
          <p:spPr>
            <a:xfrm>
              <a:off x="5674252" y="2479668"/>
              <a:ext cx="2500330" cy="3000396"/>
            </a:xfrm>
            <a:prstGeom prst="triangle">
              <a:avLst>
                <a:gd name="adj" fmla="val 647"/>
              </a:avLst>
            </a:prstGeom>
            <a:solidFill>
              <a:schemeClr val="bg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Podtytuł 2">
              <a:extLst>
                <a:ext uri="{FF2B5EF4-FFF2-40B4-BE49-F238E27FC236}">
                  <a16:creationId xmlns:a16="http://schemas.microsoft.com/office/drawing/2014/main" id="{7153F3F8-9866-45F3-726D-19A0CA702646}"/>
                </a:ext>
              </a:extLst>
            </p:cNvPr>
            <p:cNvSpPr txBox="1">
              <a:spLocks/>
            </p:cNvSpPr>
            <p:nvPr/>
          </p:nvSpPr>
          <p:spPr>
            <a:xfrm>
              <a:off x="8258328" y="5313377"/>
              <a:ext cx="1285884" cy="357190"/>
            </a:xfrm>
            <a:prstGeom prst="rect">
              <a:avLst/>
            </a:prstGeom>
          </p:spPr>
          <p:txBody>
            <a:bodyPr vert="horz" lIns="91440" tIns="45720" rIns="91440" bIns="45720" rtlCol="0">
              <a:normAutofit fontScale="6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l-PL" sz="3200" b="0" i="0" u="none" strike="noStrike" kern="1200" cap="none" spc="0" normalizeH="0" baseline="0" noProof="0" dirty="0">
                  <a:ln>
                    <a:noFill/>
                  </a:ln>
                  <a:solidFill>
                    <a:srgbClr val="003366"/>
                  </a:solidFill>
                  <a:effectLst/>
                  <a:uLnTx/>
                  <a:uFillTx/>
                  <a:latin typeface="+mn-lt"/>
                  <a:ea typeface="+mn-ea"/>
                  <a:cs typeface="+mn-cs"/>
                </a:rPr>
                <a:t>Popyt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4" name="Prostokąt 37">
              <a:extLst>
                <a:ext uri="{FF2B5EF4-FFF2-40B4-BE49-F238E27FC236}">
                  <a16:creationId xmlns:a16="http://schemas.microsoft.com/office/drawing/2014/main" id="{5F40B987-D9E1-CDDB-2CDA-429BF4D9AA3D}"/>
                </a:ext>
              </a:extLst>
            </p:cNvPr>
            <p:cNvSpPr/>
            <p:nvPr/>
          </p:nvSpPr>
          <p:spPr>
            <a:xfrm>
              <a:off x="5674252" y="5480064"/>
              <a:ext cx="2500330" cy="428628"/>
            </a:xfrm>
            <a:prstGeom prst="rect">
              <a:avLst/>
            </a:prstGeom>
            <a:solidFill>
              <a:schemeClr val="accent2">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pl-PL" dirty="0">
                  <a:solidFill>
                    <a:srgbClr val="003366"/>
                  </a:solidFill>
                </a:rPr>
                <a:t>KOSZTY</a:t>
              </a:r>
              <a:endParaRPr lang="pl-PL" dirty="0"/>
            </a:p>
          </p:txBody>
        </p:sp>
        <p:sp>
          <p:nvSpPr>
            <p:cNvPr id="15" name="Elipsa 33">
              <a:extLst>
                <a:ext uri="{FF2B5EF4-FFF2-40B4-BE49-F238E27FC236}">
                  <a16:creationId xmlns:a16="http://schemas.microsoft.com/office/drawing/2014/main" id="{52253745-3620-8FB8-1F12-EC46BDC4934B}"/>
                </a:ext>
              </a:extLst>
            </p:cNvPr>
            <p:cNvSpPr/>
            <p:nvPr/>
          </p:nvSpPr>
          <p:spPr>
            <a:xfrm>
              <a:off x="8103144" y="5408626"/>
              <a:ext cx="142876" cy="14287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pl-PL"/>
            </a:p>
          </p:txBody>
        </p:sp>
        <p:sp>
          <p:nvSpPr>
            <p:cNvPr id="16" name="Strzałka zakrzywiona w dół 38">
              <a:extLst>
                <a:ext uri="{FF2B5EF4-FFF2-40B4-BE49-F238E27FC236}">
                  <a16:creationId xmlns:a16="http://schemas.microsoft.com/office/drawing/2014/main" id="{265DA541-74E7-2174-C7F9-E61880FB178A}"/>
                </a:ext>
              </a:extLst>
            </p:cNvPr>
            <p:cNvSpPr/>
            <p:nvPr/>
          </p:nvSpPr>
          <p:spPr>
            <a:xfrm flipV="1">
              <a:off x="6059282" y="3941447"/>
              <a:ext cx="1963568" cy="617537"/>
            </a:xfrm>
            <a:prstGeom prst="curvedDownArrow">
              <a:avLst>
                <a:gd name="adj1" fmla="val 31672"/>
                <a:gd name="adj2" fmla="val 220817"/>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pl-PL">
                <a:solidFill>
                  <a:schemeClr val="tx1"/>
                </a:solidFill>
              </a:endParaRPr>
            </a:p>
          </p:txBody>
        </p:sp>
        <p:sp>
          <p:nvSpPr>
            <p:cNvPr id="17" name="Podtytuł 2">
              <a:extLst>
                <a:ext uri="{FF2B5EF4-FFF2-40B4-BE49-F238E27FC236}">
                  <a16:creationId xmlns:a16="http://schemas.microsoft.com/office/drawing/2014/main" id="{FFA06054-CE6A-CF4A-A94C-0CCF45BF29FC}"/>
                </a:ext>
              </a:extLst>
            </p:cNvPr>
            <p:cNvSpPr txBox="1">
              <a:spLocks/>
            </p:cNvSpPr>
            <p:nvPr/>
          </p:nvSpPr>
          <p:spPr>
            <a:xfrm>
              <a:off x="7097606" y="3016316"/>
              <a:ext cx="1917746" cy="874106"/>
            </a:xfrm>
            <a:prstGeom prst="rect">
              <a:avLst/>
            </a:prstGeom>
          </p:spPr>
          <p:txBody>
            <a:bodyPr vert="horz" lIns="91440" tIns="45720" rIns="91440" bIns="45720" rtlCol="0">
              <a:normAutofit fontScale="55000" lnSpcReduction="20000"/>
            </a:bodyPr>
            <a:lstStyle/>
            <a:p>
              <a:pPr lvl="0">
                <a:spcBef>
                  <a:spcPct val="20000"/>
                </a:spcBef>
              </a:pPr>
              <a:r>
                <a:rPr lang="en-US" sz="3200" dirty="0">
                  <a:solidFill>
                    <a:schemeClr val="accent5">
                      <a:lumMod val="50000"/>
                    </a:schemeClr>
                  </a:solidFill>
                </a:rPr>
                <a:t>subscription fee primarily extracts consumer surplus</a:t>
              </a:r>
              <a:endParaRPr lang="pl-PL" sz="3200" dirty="0">
                <a:solidFill>
                  <a:schemeClr val="accent5">
                    <a:lumMod val="50000"/>
                  </a:schemeClr>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l-PL" sz="3200" b="0" i="0" u="none" strike="noStrike" kern="1200" cap="none" spc="0" normalizeH="0" baseline="0" noProof="0" dirty="0">
                <a:ln>
                  <a:noFill/>
                </a:ln>
                <a:solidFill>
                  <a:schemeClr val="accent5">
                    <a:lumMod val="50000"/>
                  </a:schemeClr>
                </a:solidFill>
                <a:effectLst/>
                <a:uLnTx/>
                <a:uFillTx/>
                <a:latin typeface="+mn-lt"/>
                <a:ea typeface="+mn-ea"/>
                <a:cs typeface="+mn-cs"/>
              </a:endParaRPr>
            </a:p>
          </p:txBody>
        </p:sp>
        <p:sp>
          <p:nvSpPr>
            <p:cNvPr id="18" name="Strzałka zakrzywiona w dół 48">
              <a:extLst>
                <a:ext uri="{FF2B5EF4-FFF2-40B4-BE49-F238E27FC236}">
                  <a16:creationId xmlns:a16="http://schemas.microsoft.com/office/drawing/2014/main" id="{AE4FC8A1-EC47-5313-6BD6-28743BB441B0}"/>
                </a:ext>
              </a:extLst>
            </p:cNvPr>
            <p:cNvSpPr/>
            <p:nvPr/>
          </p:nvSpPr>
          <p:spPr>
            <a:xfrm rot="5184164">
              <a:off x="7133693" y="5944411"/>
              <a:ext cx="1173559" cy="571504"/>
            </a:xfrm>
            <a:prstGeom prst="curvedDownArrow">
              <a:avLst>
                <a:gd name="adj1" fmla="val 25000"/>
                <a:gd name="adj2" fmla="val 211279"/>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pl-PL">
                <a:solidFill>
                  <a:schemeClr val="tx1"/>
                </a:solidFill>
              </a:endParaRPr>
            </a:p>
          </p:txBody>
        </p:sp>
      </p:grpSp>
      <p:sp>
        <p:nvSpPr>
          <p:cNvPr id="23" name="Podtytuł 2">
            <a:extLst>
              <a:ext uri="{FF2B5EF4-FFF2-40B4-BE49-F238E27FC236}">
                <a16:creationId xmlns:a16="http://schemas.microsoft.com/office/drawing/2014/main" id="{7F876BF3-0A3C-57DD-B0B2-465D8E7B57F0}"/>
              </a:ext>
            </a:extLst>
          </p:cNvPr>
          <p:cNvSpPr txBox="1">
            <a:spLocks/>
          </p:cNvSpPr>
          <p:nvPr/>
        </p:nvSpPr>
        <p:spPr>
          <a:xfrm>
            <a:off x="5608522" y="6301337"/>
            <a:ext cx="4500873" cy="397145"/>
          </a:xfrm>
          <a:prstGeom prst="rect">
            <a:avLst/>
          </a:prstGeom>
        </p:spPr>
        <p:txBody>
          <a:bodyPr vert="horz" lIns="91440" tIns="45720" rIns="91440" bIns="45720" rtlCol="0">
            <a:normAutofit fontScale="55000" lnSpcReduction="20000"/>
          </a:bodyPr>
          <a:lstStyle/>
          <a:p>
            <a:pPr lvl="0">
              <a:spcBef>
                <a:spcPct val="20000"/>
              </a:spcBef>
            </a:pPr>
            <a:r>
              <a:rPr lang="en-US" sz="3200" dirty="0">
                <a:solidFill>
                  <a:schemeClr val="accent5">
                    <a:lumMod val="50000"/>
                  </a:schemeClr>
                </a:solidFill>
              </a:rPr>
              <a:t>the usage fee </a:t>
            </a:r>
            <a:r>
              <a:rPr lang="pl-PL" sz="3200" dirty="0">
                <a:solidFill>
                  <a:schemeClr val="accent5">
                    <a:lumMod val="50000"/>
                  </a:schemeClr>
                </a:solidFill>
              </a:rPr>
              <a:t>r</a:t>
            </a:r>
            <a:r>
              <a:rPr lang="en-US" sz="3200" dirty="0" err="1">
                <a:solidFill>
                  <a:schemeClr val="accent5">
                    <a:lumMod val="50000"/>
                  </a:schemeClr>
                </a:solidFill>
              </a:rPr>
              <a:t>ecover</a:t>
            </a:r>
            <a:r>
              <a:rPr lang="pl-PL" sz="3200" dirty="0">
                <a:solidFill>
                  <a:schemeClr val="accent5">
                    <a:lumMod val="50000"/>
                  </a:schemeClr>
                </a:solidFill>
              </a:rPr>
              <a:t>s</a:t>
            </a:r>
            <a:r>
              <a:rPr lang="en-US" sz="3200" dirty="0">
                <a:solidFill>
                  <a:schemeClr val="accent5">
                    <a:lumMod val="50000"/>
                  </a:schemeClr>
                </a:solidFill>
              </a:rPr>
              <a:t> production costs</a:t>
            </a:r>
            <a:r>
              <a:rPr lang="pl-PL" sz="3200" dirty="0">
                <a:solidFill>
                  <a:schemeClr val="accent5">
                    <a:lumMod val="50000"/>
                  </a:schemeClr>
                </a:solidFill>
              </a:rPr>
              <a:t> ~ MC</a:t>
            </a:r>
            <a:endParaRPr kumimoji="0" lang="pl-PL" sz="3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extLst>
      <p:ext uri="{BB962C8B-B14F-4D97-AF65-F5344CB8AC3E}">
        <p14:creationId xmlns:p14="http://schemas.microsoft.com/office/powerpoint/2010/main" val="2538820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4CEE7-AC52-FC99-47FE-E9D9B67C5B2E}"/>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A3DFB80-589B-72DD-CC42-CD539F36BFC8}"/>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err="1">
                <a:solidFill>
                  <a:srgbClr val="4BACC6">
                    <a:lumMod val="50000"/>
                  </a:srgbClr>
                </a:solidFill>
              </a:rPr>
              <a:t>Two</a:t>
            </a:r>
            <a:r>
              <a:rPr lang="pl-PL" b="1" noProof="0" dirty="0">
                <a:solidFill>
                  <a:srgbClr val="4BACC6">
                    <a:lumMod val="50000"/>
                  </a:srgbClr>
                </a:solidFill>
              </a:rPr>
              <a:t>-Part </a:t>
            </a:r>
            <a:r>
              <a:rPr lang="pl-PL" b="1" noProof="0" dirty="0" err="1">
                <a:solidFill>
                  <a:srgbClr val="4BACC6">
                    <a:lumMod val="50000"/>
                  </a:srgbClr>
                </a:solidFill>
              </a:rPr>
              <a:t>Tariff</a:t>
            </a:r>
            <a:r>
              <a:rPr lang="pl-PL" b="1" noProof="0" dirty="0">
                <a:solidFill>
                  <a:srgbClr val="4BACC6">
                    <a:lumMod val="50000"/>
                  </a:srgbClr>
                </a:solidFill>
              </a:rPr>
              <a:t> </a:t>
            </a:r>
            <a:r>
              <a:rPr lang="pl-PL" b="1" noProof="0" dirty="0" err="1">
                <a:solidFill>
                  <a:srgbClr val="4BACC6">
                    <a:lumMod val="50000"/>
                  </a:srgbClr>
                </a:solidFill>
              </a:rPr>
              <a:t>Pricing</a:t>
            </a:r>
            <a:r>
              <a:rPr lang="pl-PL" b="1" noProof="0" dirty="0">
                <a:solidFill>
                  <a:srgbClr val="4BACC6">
                    <a:lumMod val="50000"/>
                  </a:srgbClr>
                </a:solidFill>
              </a:rPr>
              <a:t> </a:t>
            </a:r>
            <a:r>
              <a:rPr lang="pl-PL" b="1" noProof="0" dirty="0" err="1">
                <a:solidFill>
                  <a:srgbClr val="4BACC6">
                    <a:lumMod val="50000"/>
                  </a:srgbClr>
                </a:solidFill>
              </a:rPr>
              <a:t>Strategy</a:t>
            </a:r>
            <a:endParaRPr lang="pl-PL" b="1" noProof="0" dirty="0">
              <a:solidFill>
                <a:srgbClr val="4BACC6">
                  <a:lumMod val="50000"/>
                </a:srgbClr>
              </a:solidFill>
            </a:endParaRPr>
          </a:p>
        </p:txBody>
      </p:sp>
      <p:sp>
        <p:nvSpPr>
          <p:cNvPr id="59" name="TextBox 58">
            <a:extLst>
              <a:ext uri="{FF2B5EF4-FFF2-40B4-BE49-F238E27FC236}">
                <a16:creationId xmlns:a16="http://schemas.microsoft.com/office/drawing/2014/main" id="{977CC56C-6026-D868-C3B4-FD452A99F355}"/>
              </a:ext>
            </a:extLst>
          </p:cNvPr>
          <p:cNvSpPr txBox="1"/>
          <p:nvPr/>
        </p:nvSpPr>
        <p:spPr>
          <a:xfrm>
            <a:off x="5558474" y="1225689"/>
            <a:ext cx="6547391" cy="5632311"/>
          </a:xfrm>
          <a:prstGeom prst="rect">
            <a:avLst/>
          </a:prstGeom>
          <a:noFill/>
        </p:spPr>
        <p:txBody>
          <a:bodyPr wrap="square">
            <a:spAutoFit/>
          </a:bodyPr>
          <a:lstStyle/>
          <a:p>
            <a:pPr algn="just"/>
            <a:r>
              <a:rPr lang="en-US" sz="2000" dirty="0">
                <a:solidFill>
                  <a:schemeClr val="accent5">
                    <a:lumMod val="50000"/>
                  </a:schemeClr>
                </a:solidFill>
              </a:rPr>
              <a:t>A fascinating connection exists between two-part tariffs and third-degree price discrimination. Pricing schemes can be designed such that a group with relatively low or elastic demand pays a low subscription fee but faces high usage charges, while another group with high or inelastic demand pays a high subscription fee and nearly zero usage charges. The very structure of these tariffs creates a self-selection mechanism, where consumers naturally choose the option that best aligns with their preferences and usage patterns.</a:t>
            </a:r>
          </a:p>
          <a:p>
            <a:pPr algn="just"/>
            <a:endParaRPr lang="en-US" sz="2000" dirty="0">
              <a:solidFill>
                <a:schemeClr val="accent5">
                  <a:lumMod val="50000"/>
                </a:schemeClr>
              </a:solidFill>
            </a:endParaRPr>
          </a:p>
          <a:p>
            <a:pPr algn="just"/>
            <a:r>
              <a:rPr lang="en-US" sz="2000" dirty="0">
                <a:solidFill>
                  <a:schemeClr val="accent5">
                    <a:lumMod val="50000"/>
                  </a:schemeClr>
                </a:solidFill>
              </a:rPr>
              <a:t>On the graph, the left panel illustrates the high subscription fee combined with low usage charges, capturing most of the consumer surplus upfront. The right panel shows the opposite approach—low subscription fees with high usage charges—aimed at consumers who are more sensitive to upfront costs but willing to pay more per unit. This combination effectively segments the market while ensuring cost recovery and profitability.</a:t>
            </a:r>
          </a:p>
        </p:txBody>
      </p:sp>
      <p:grpSp>
        <p:nvGrpSpPr>
          <p:cNvPr id="37" name="Group 36">
            <a:extLst>
              <a:ext uri="{FF2B5EF4-FFF2-40B4-BE49-F238E27FC236}">
                <a16:creationId xmlns:a16="http://schemas.microsoft.com/office/drawing/2014/main" id="{264A5D2E-8681-51E6-3DC9-C50003E90EA2}"/>
              </a:ext>
            </a:extLst>
          </p:cNvPr>
          <p:cNvGrpSpPr/>
          <p:nvPr/>
        </p:nvGrpSpPr>
        <p:grpSpPr>
          <a:xfrm>
            <a:off x="0" y="1838764"/>
            <a:ext cx="5297214" cy="3872208"/>
            <a:chOff x="0" y="1232536"/>
            <a:chExt cx="8786813" cy="5095042"/>
          </a:xfrm>
        </p:grpSpPr>
        <p:sp>
          <p:nvSpPr>
            <p:cNvPr id="3" name="Podtytuł 2">
              <a:extLst>
                <a:ext uri="{FF2B5EF4-FFF2-40B4-BE49-F238E27FC236}">
                  <a16:creationId xmlns:a16="http://schemas.microsoft.com/office/drawing/2014/main" id="{2003D39E-7C96-B009-8D2A-3BB15247D031}"/>
                </a:ext>
              </a:extLst>
            </p:cNvPr>
            <p:cNvSpPr txBox="1">
              <a:spLocks/>
            </p:cNvSpPr>
            <p:nvPr/>
          </p:nvSpPr>
          <p:spPr>
            <a:xfrm>
              <a:off x="3500438" y="5684641"/>
              <a:ext cx="785812" cy="642937"/>
            </a:xfrm>
            <a:prstGeom prst="rect">
              <a:avLst/>
            </a:prstGeom>
          </p:spPr>
          <p:txBody>
            <a:bodyPr>
              <a:normAutofit fontScale="40000" lnSpcReduction="20000"/>
            </a:bodyPr>
            <a:lstStyle/>
            <a:p>
              <a:pPr algn="ctr" eaLnBrk="1" fontAlgn="auto" hangingPunct="1">
                <a:spcBef>
                  <a:spcPct val="20000"/>
                </a:spcBef>
                <a:spcAft>
                  <a:spcPts val="0"/>
                </a:spcAft>
                <a:buFont typeface="Arial" pitchFamily="34" charset="0"/>
                <a:buNone/>
                <a:defRPr/>
              </a:pPr>
              <a:r>
                <a:rPr lang="pl-PL" sz="3200" b="0" dirty="0">
                  <a:solidFill>
                    <a:srgbClr val="003366"/>
                  </a:solidFill>
                  <a:latin typeface="+mn-lt"/>
                </a:rPr>
                <a:t>q</a:t>
              </a:r>
            </a:p>
            <a:p>
              <a:pPr algn="ctr" eaLnBrk="1" fontAlgn="auto" hangingPunct="1">
                <a:spcBef>
                  <a:spcPct val="20000"/>
                </a:spcBef>
                <a:spcAft>
                  <a:spcPts val="0"/>
                </a:spcAft>
                <a:buFont typeface="Arial" pitchFamily="34" charset="0"/>
                <a:buNone/>
                <a:defRPr/>
              </a:pPr>
              <a:r>
                <a:rPr lang="pl-PL" sz="3200" b="0" dirty="0">
                  <a:solidFill>
                    <a:srgbClr val="003366"/>
                  </a:solidFill>
                  <a:latin typeface="+mn-lt"/>
                </a:rPr>
                <a:t> </a:t>
              </a:r>
            </a:p>
            <a:p>
              <a:pPr algn="ctr" eaLnBrk="1" fontAlgn="auto" hangingPunct="1">
                <a:spcBef>
                  <a:spcPct val="20000"/>
                </a:spcBef>
                <a:spcAft>
                  <a:spcPts val="0"/>
                </a:spcAft>
                <a:buFont typeface="Arial" pitchFamily="34" charset="0"/>
                <a:buNone/>
                <a:defRPr/>
              </a:pPr>
              <a:endParaRPr lang="pl-PL" sz="3200" b="0" dirty="0">
                <a:solidFill>
                  <a:schemeClr val="tx1">
                    <a:tint val="75000"/>
                  </a:schemeClr>
                </a:solidFill>
                <a:latin typeface="+mn-lt"/>
              </a:endParaRPr>
            </a:p>
          </p:txBody>
        </p:sp>
        <p:sp>
          <p:nvSpPr>
            <p:cNvPr id="4" name="Podtytuł 2">
              <a:extLst>
                <a:ext uri="{FF2B5EF4-FFF2-40B4-BE49-F238E27FC236}">
                  <a16:creationId xmlns:a16="http://schemas.microsoft.com/office/drawing/2014/main" id="{3CA05708-4E01-D609-BAC2-BB6BBEC5C21D}"/>
                </a:ext>
              </a:extLst>
            </p:cNvPr>
            <p:cNvSpPr txBox="1">
              <a:spLocks/>
            </p:cNvSpPr>
            <p:nvPr/>
          </p:nvSpPr>
          <p:spPr>
            <a:xfrm>
              <a:off x="2000250" y="1898453"/>
              <a:ext cx="5429250" cy="785813"/>
            </a:xfrm>
            <a:prstGeom prst="rect">
              <a:avLst/>
            </a:prstGeom>
          </p:spPr>
          <p:txBody>
            <a:bodyPr>
              <a:normAutofit/>
            </a:bodyPr>
            <a:lstStyle/>
            <a:p>
              <a:pPr algn="ctr" eaLnBrk="1" fontAlgn="auto" hangingPunct="1">
                <a:spcBef>
                  <a:spcPct val="20000"/>
                </a:spcBef>
                <a:spcAft>
                  <a:spcPts val="0"/>
                </a:spcAft>
                <a:buFont typeface="Arial" pitchFamily="34" charset="0"/>
                <a:buNone/>
                <a:defRPr/>
              </a:pPr>
              <a:endParaRPr lang="pl-PL" sz="1100" b="0" dirty="0">
                <a:solidFill>
                  <a:schemeClr val="tx1">
                    <a:tint val="75000"/>
                  </a:schemeClr>
                </a:solidFill>
                <a:latin typeface="Arial" pitchFamily="34" charset="0"/>
                <a:cs typeface="Arial" pitchFamily="34" charset="0"/>
              </a:endParaRPr>
            </a:p>
          </p:txBody>
        </p:sp>
        <p:sp>
          <p:nvSpPr>
            <p:cNvPr id="19" name="Podtytuł 2">
              <a:extLst>
                <a:ext uri="{FF2B5EF4-FFF2-40B4-BE49-F238E27FC236}">
                  <a16:creationId xmlns:a16="http://schemas.microsoft.com/office/drawing/2014/main" id="{61A626C4-24FA-F0CF-3EEA-1FEEEB828DAD}"/>
                </a:ext>
              </a:extLst>
            </p:cNvPr>
            <p:cNvSpPr txBox="1">
              <a:spLocks/>
            </p:cNvSpPr>
            <p:nvPr/>
          </p:nvSpPr>
          <p:spPr>
            <a:xfrm>
              <a:off x="0" y="5041703"/>
              <a:ext cx="857250" cy="500063"/>
            </a:xfrm>
            <a:prstGeom prst="rect">
              <a:avLst/>
            </a:prstGeom>
          </p:spPr>
          <p:txBody>
            <a:bodyPr>
              <a:normAutofit/>
            </a:bodyPr>
            <a:lstStyle/>
            <a:p>
              <a:pPr algn="ctr" eaLnBrk="1" fontAlgn="auto" hangingPunct="1">
                <a:spcBef>
                  <a:spcPct val="20000"/>
                </a:spcBef>
                <a:spcAft>
                  <a:spcPts val="0"/>
                </a:spcAft>
                <a:buFont typeface="Arial" pitchFamily="34" charset="0"/>
                <a:buNone/>
                <a:defRPr/>
              </a:pPr>
              <a:r>
                <a:rPr lang="pl-PL" sz="900" b="0" dirty="0">
                  <a:solidFill>
                    <a:srgbClr val="003366"/>
                  </a:solidFill>
                  <a:latin typeface="Arial" pitchFamily="34" charset="0"/>
                  <a:cs typeface="Arial" pitchFamily="34" charset="0"/>
                </a:rPr>
                <a:t>MC</a:t>
              </a:r>
            </a:p>
            <a:p>
              <a:pPr algn="ctr" eaLnBrk="1" fontAlgn="auto" hangingPunct="1">
                <a:spcBef>
                  <a:spcPct val="20000"/>
                </a:spcBef>
                <a:spcAft>
                  <a:spcPts val="0"/>
                </a:spcAft>
                <a:buFont typeface="Arial" pitchFamily="34" charset="0"/>
                <a:buNone/>
                <a:defRPr/>
              </a:pPr>
              <a:endParaRPr lang="pl-PL" sz="900" b="0" dirty="0">
                <a:solidFill>
                  <a:schemeClr val="tx1">
                    <a:tint val="75000"/>
                  </a:schemeClr>
                </a:solidFill>
                <a:latin typeface="Arial" pitchFamily="34" charset="0"/>
                <a:cs typeface="Arial" pitchFamily="34" charset="0"/>
              </a:endParaRPr>
            </a:p>
          </p:txBody>
        </p:sp>
        <p:cxnSp>
          <p:nvCxnSpPr>
            <p:cNvPr id="20" name="Łącznik prosty ze strzałką 40">
              <a:extLst>
                <a:ext uri="{FF2B5EF4-FFF2-40B4-BE49-F238E27FC236}">
                  <a16:creationId xmlns:a16="http://schemas.microsoft.com/office/drawing/2014/main" id="{B5F76906-ED0D-DB7E-73DB-9AE85CC65ED9}"/>
                </a:ext>
              </a:extLst>
            </p:cNvPr>
            <p:cNvCxnSpPr/>
            <p:nvPr/>
          </p:nvCxnSpPr>
          <p:spPr>
            <a:xfrm rot="5400000" flipH="1" flipV="1">
              <a:off x="-1177925" y="3790753"/>
              <a:ext cx="4071938"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1" name="Łącznik prosty ze strzałką 41">
              <a:extLst>
                <a:ext uri="{FF2B5EF4-FFF2-40B4-BE49-F238E27FC236}">
                  <a16:creationId xmlns:a16="http://schemas.microsoft.com/office/drawing/2014/main" id="{AD12D950-D981-C20F-10DD-5F6B8E4E12DE}"/>
                </a:ext>
              </a:extLst>
            </p:cNvPr>
            <p:cNvCxnSpPr/>
            <p:nvPr/>
          </p:nvCxnSpPr>
          <p:spPr>
            <a:xfrm flipV="1">
              <a:off x="714375" y="5613203"/>
              <a:ext cx="3786188" cy="95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4" name="Łącznik prosty 42">
              <a:extLst>
                <a:ext uri="{FF2B5EF4-FFF2-40B4-BE49-F238E27FC236}">
                  <a16:creationId xmlns:a16="http://schemas.microsoft.com/office/drawing/2014/main" id="{48ABA29A-5E0D-3FAB-B087-0A22A1CB64DE}"/>
                </a:ext>
              </a:extLst>
            </p:cNvPr>
            <p:cNvCxnSpPr/>
            <p:nvPr/>
          </p:nvCxnSpPr>
          <p:spPr>
            <a:xfrm rot="16200000" flipH="1">
              <a:off x="535781" y="2362797"/>
              <a:ext cx="3500438" cy="2857500"/>
            </a:xfrm>
            <a:prstGeom prst="line">
              <a:avLst/>
            </a:prstGeom>
          </p:spPr>
          <p:style>
            <a:lnRef idx="3">
              <a:schemeClr val="accent3"/>
            </a:lnRef>
            <a:fillRef idx="0">
              <a:schemeClr val="accent3"/>
            </a:fillRef>
            <a:effectRef idx="2">
              <a:schemeClr val="accent3"/>
            </a:effectRef>
            <a:fontRef idx="minor">
              <a:schemeClr val="tx1"/>
            </a:fontRef>
          </p:style>
        </p:cxnSp>
        <p:sp>
          <p:nvSpPr>
            <p:cNvPr id="25" name="Prostokąt 49">
              <a:extLst>
                <a:ext uri="{FF2B5EF4-FFF2-40B4-BE49-F238E27FC236}">
                  <a16:creationId xmlns:a16="http://schemas.microsoft.com/office/drawing/2014/main" id="{0AE9F077-1AFC-65E4-5BC3-6F1D3104F978}"/>
                </a:ext>
              </a:extLst>
            </p:cNvPr>
            <p:cNvSpPr/>
            <p:nvPr/>
          </p:nvSpPr>
          <p:spPr>
            <a:xfrm>
              <a:off x="857250" y="5184578"/>
              <a:ext cx="2000250" cy="428625"/>
            </a:xfrm>
            <a:prstGeom prst="rect">
              <a:avLst/>
            </a:prstGeom>
            <a:solidFill>
              <a:schemeClr val="accent2">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en-US" sz="1100" b="0" dirty="0">
                  <a:solidFill>
                    <a:srgbClr val="003366"/>
                  </a:solidFill>
                  <a:latin typeface="Arial" pitchFamily="34" charset="0"/>
                  <a:cs typeface="Arial" pitchFamily="34" charset="0"/>
                </a:rPr>
                <a:t>usage charges</a:t>
              </a:r>
              <a:endParaRPr lang="pl-PL" sz="1100" dirty="0">
                <a:latin typeface="Arial" pitchFamily="34" charset="0"/>
                <a:cs typeface="Arial" pitchFamily="34" charset="0"/>
              </a:endParaRPr>
            </a:p>
          </p:txBody>
        </p:sp>
        <p:sp>
          <p:nvSpPr>
            <p:cNvPr id="26" name="Podtytuł 2">
              <a:extLst>
                <a:ext uri="{FF2B5EF4-FFF2-40B4-BE49-F238E27FC236}">
                  <a16:creationId xmlns:a16="http://schemas.microsoft.com/office/drawing/2014/main" id="{C6658C0F-2B9D-0143-A8E3-2EFD03F0D4F4}"/>
                </a:ext>
              </a:extLst>
            </p:cNvPr>
            <p:cNvSpPr txBox="1">
              <a:spLocks/>
            </p:cNvSpPr>
            <p:nvPr/>
          </p:nvSpPr>
          <p:spPr>
            <a:xfrm>
              <a:off x="142876" y="1755577"/>
              <a:ext cx="942974" cy="500065"/>
            </a:xfrm>
            <a:prstGeom prst="rect">
              <a:avLst/>
            </a:prstGeom>
          </p:spPr>
          <p:txBody>
            <a:bodyPr>
              <a:normAutofit/>
            </a:bodyPr>
            <a:lstStyle/>
            <a:p>
              <a:pPr algn="ctr" eaLnBrk="1" fontAlgn="auto" hangingPunct="1">
                <a:spcBef>
                  <a:spcPct val="20000"/>
                </a:spcBef>
                <a:spcAft>
                  <a:spcPts val="0"/>
                </a:spcAft>
                <a:buFont typeface="Arial" pitchFamily="34" charset="0"/>
                <a:buNone/>
                <a:defRPr/>
              </a:pPr>
              <a:r>
                <a:rPr lang="pl-PL" sz="1100" b="0" dirty="0">
                  <a:solidFill>
                    <a:srgbClr val="003366"/>
                  </a:solidFill>
                  <a:latin typeface="Arial" pitchFamily="34" charset="0"/>
                  <a:cs typeface="Arial" pitchFamily="34" charset="0"/>
                </a:rPr>
                <a:t>P</a:t>
              </a:r>
              <a:r>
                <a:rPr lang="pl-PL" sz="1100" dirty="0">
                  <a:solidFill>
                    <a:srgbClr val="003366"/>
                  </a:solidFill>
                  <a:latin typeface="Arial" pitchFamily="34" charset="0"/>
                  <a:cs typeface="Arial" pitchFamily="34" charset="0"/>
                </a:rPr>
                <a:t> </a:t>
              </a:r>
              <a:r>
                <a:rPr lang="pl-PL" sz="1100" b="0" dirty="0">
                  <a:solidFill>
                    <a:srgbClr val="003366"/>
                  </a:solidFill>
                  <a:latin typeface="Arial" pitchFamily="34" charset="0"/>
                  <a:cs typeface="Arial" pitchFamily="34" charset="0"/>
                </a:rPr>
                <a:t> </a:t>
              </a:r>
            </a:p>
            <a:p>
              <a:pPr algn="ctr" eaLnBrk="1" fontAlgn="auto" hangingPunct="1">
                <a:spcBef>
                  <a:spcPct val="20000"/>
                </a:spcBef>
                <a:spcAft>
                  <a:spcPts val="0"/>
                </a:spcAft>
                <a:buFont typeface="Arial" pitchFamily="34" charset="0"/>
                <a:buNone/>
                <a:defRPr/>
              </a:pPr>
              <a:endParaRPr lang="pl-PL" sz="1100" b="0" dirty="0">
                <a:solidFill>
                  <a:schemeClr val="tx1">
                    <a:tint val="75000"/>
                  </a:schemeClr>
                </a:solidFill>
                <a:latin typeface="Arial" pitchFamily="34" charset="0"/>
                <a:cs typeface="Arial" pitchFamily="34" charset="0"/>
              </a:endParaRPr>
            </a:p>
          </p:txBody>
        </p:sp>
        <p:cxnSp>
          <p:nvCxnSpPr>
            <p:cNvPr id="27" name="Łącznik prosty 60">
              <a:extLst>
                <a:ext uri="{FF2B5EF4-FFF2-40B4-BE49-F238E27FC236}">
                  <a16:creationId xmlns:a16="http://schemas.microsoft.com/office/drawing/2014/main" id="{F34F4646-FDC5-04A9-91FD-DBD5EECDA1C3}"/>
                </a:ext>
              </a:extLst>
            </p:cNvPr>
            <p:cNvCxnSpPr/>
            <p:nvPr/>
          </p:nvCxnSpPr>
          <p:spPr>
            <a:xfrm>
              <a:off x="714375" y="5184578"/>
              <a:ext cx="8072438" cy="1588"/>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Łącznik prosty ze strzałką 64">
              <a:extLst>
                <a:ext uri="{FF2B5EF4-FFF2-40B4-BE49-F238E27FC236}">
                  <a16:creationId xmlns:a16="http://schemas.microsoft.com/office/drawing/2014/main" id="{533D9C2E-51CE-3119-A6C3-EB18DA1E496E}"/>
                </a:ext>
              </a:extLst>
            </p:cNvPr>
            <p:cNvCxnSpPr/>
            <p:nvPr/>
          </p:nvCxnSpPr>
          <p:spPr>
            <a:xfrm rot="5400000" flipH="1" flipV="1">
              <a:off x="2464594" y="3720110"/>
              <a:ext cx="4071937"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9" name="Łącznik prosty ze strzałką 65">
              <a:extLst>
                <a:ext uri="{FF2B5EF4-FFF2-40B4-BE49-F238E27FC236}">
                  <a16:creationId xmlns:a16="http://schemas.microsoft.com/office/drawing/2014/main" id="{C094A59F-2B3B-0F6B-1B2B-4E8D6B93ADF9}"/>
                </a:ext>
              </a:extLst>
            </p:cNvPr>
            <p:cNvCxnSpPr/>
            <p:nvPr/>
          </p:nvCxnSpPr>
          <p:spPr>
            <a:xfrm>
              <a:off x="4500563" y="5613203"/>
              <a:ext cx="428625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30" name="Łącznik prosty 66">
              <a:extLst>
                <a:ext uri="{FF2B5EF4-FFF2-40B4-BE49-F238E27FC236}">
                  <a16:creationId xmlns:a16="http://schemas.microsoft.com/office/drawing/2014/main" id="{B217111D-49A4-6438-2B80-3D4D598C2DCA}"/>
                </a:ext>
              </a:extLst>
            </p:cNvPr>
            <p:cNvCxnSpPr/>
            <p:nvPr/>
          </p:nvCxnSpPr>
          <p:spPr>
            <a:xfrm>
              <a:off x="4500563" y="3398641"/>
              <a:ext cx="4071937" cy="2214562"/>
            </a:xfrm>
            <a:prstGeom prst="line">
              <a:avLst/>
            </a:prstGeom>
          </p:spPr>
          <p:style>
            <a:lnRef idx="3">
              <a:schemeClr val="accent3"/>
            </a:lnRef>
            <a:fillRef idx="0">
              <a:schemeClr val="accent3"/>
            </a:fillRef>
            <a:effectRef idx="2">
              <a:schemeClr val="accent3"/>
            </a:effectRef>
            <a:fontRef idx="minor">
              <a:schemeClr val="tx1"/>
            </a:fontRef>
          </p:style>
        </p:cxnSp>
        <p:sp>
          <p:nvSpPr>
            <p:cNvPr id="31" name="Prostokąt 73">
              <a:extLst>
                <a:ext uri="{FF2B5EF4-FFF2-40B4-BE49-F238E27FC236}">
                  <a16:creationId xmlns:a16="http://schemas.microsoft.com/office/drawing/2014/main" id="{5E5B48CC-38F0-3513-78B8-A9652A2BFCF3}"/>
                </a:ext>
              </a:extLst>
            </p:cNvPr>
            <p:cNvSpPr/>
            <p:nvPr/>
          </p:nvSpPr>
          <p:spPr>
            <a:xfrm>
              <a:off x="4500563" y="4184453"/>
              <a:ext cx="1500187" cy="1428750"/>
            </a:xfrm>
            <a:prstGeom prst="rect">
              <a:avLst/>
            </a:prstGeom>
            <a:solidFill>
              <a:schemeClr val="accent2">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r>
                <a:rPr lang="pl-PL" sz="1100" dirty="0" err="1">
                  <a:solidFill>
                    <a:srgbClr val="003366"/>
                  </a:solidFill>
                  <a:latin typeface="Arial" pitchFamily="34" charset="0"/>
                  <a:cs typeface="Arial" pitchFamily="34" charset="0"/>
                </a:rPr>
                <a:t>usage</a:t>
              </a:r>
              <a:r>
                <a:rPr lang="pl-PL" sz="1100" dirty="0">
                  <a:solidFill>
                    <a:srgbClr val="003366"/>
                  </a:solidFill>
                  <a:latin typeface="Arial" pitchFamily="34" charset="0"/>
                  <a:cs typeface="Arial" pitchFamily="34" charset="0"/>
                </a:rPr>
                <a:t> </a:t>
              </a:r>
              <a:r>
                <a:rPr lang="pl-PL" sz="1100" dirty="0" err="1">
                  <a:solidFill>
                    <a:srgbClr val="003366"/>
                  </a:solidFill>
                  <a:latin typeface="Arial" pitchFamily="34" charset="0"/>
                  <a:cs typeface="Arial" pitchFamily="34" charset="0"/>
                </a:rPr>
                <a:t>charges</a:t>
              </a:r>
              <a:endParaRPr lang="pl-PL" sz="1100" dirty="0">
                <a:latin typeface="Arial" pitchFamily="34" charset="0"/>
                <a:cs typeface="Arial" pitchFamily="34" charset="0"/>
              </a:endParaRPr>
            </a:p>
          </p:txBody>
        </p:sp>
        <p:sp>
          <p:nvSpPr>
            <p:cNvPr id="32" name="Trójkąt równoramienny 27">
              <a:extLst>
                <a:ext uri="{FF2B5EF4-FFF2-40B4-BE49-F238E27FC236}">
                  <a16:creationId xmlns:a16="http://schemas.microsoft.com/office/drawing/2014/main" id="{B134C621-57E8-69DF-C537-80877EECDD08}"/>
                </a:ext>
              </a:extLst>
            </p:cNvPr>
            <p:cNvSpPr/>
            <p:nvPr/>
          </p:nvSpPr>
          <p:spPr>
            <a:xfrm>
              <a:off x="857250" y="2041328"/>
              <a:ext cx="2000250" cy="2428875"/>
            </a:xfrm>
            <a:prstGeom prst="triangle">
              <a:avLst>
                <a:gd name="adj" fmla="val 647"/>
              </a:avLst>
            </a:prstGeom>
            <a:solidFill>
              <a:schemeClr val="bg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pl-PL" sz="1100" dirty="0" err="1">
                  <a:latin typeface="Arial" pitchFamily="34" charset="0"/>
                  <a:cs typeface="Arial" pitchFamily="34" charset="0"/>
                </a:rPr>
                <a:t>subscription</a:t>
              </a:r>
              <a:r>
                <a:rPr lang="pl-PL" sz="1100" dirty="0">
                  <a:latin typeface="Arial" pitchFamily="34" charset="0"/>
                  <a:cs typeface="Arial" pitchFamily="34" charset="0"/>
                </a:rPr>
                <a:t> </a:t>
              </a:r>
              <a:r>
                <a:rPr lang="pl-PL" sz="1100" dirty="0" err="1">
                  <a:latin typeface="Arial" pitchFamily="34" charset="0"/>
                  <a:cs typeface="Arial" pitchFamily="34" charset="0"/>
                </a:rPr>
                <a:t>fee</a:t>
              </a:r>
              <a:r>
                <a:rPr lang="pl-PL" sz="1100" dirty="0">
                  <a:latin typeface="Arial" pitchFamily="34" charset="0"/>
                  <a:cs typeface="Arial" pitchFamily="34" charset="0"/>
                </a:rPr>
                <a:t> </a:t>
              </a:r>
            </a:p>
          </p:txBody>
        </p:sp>
        <p:sp>
          <p:nvSpPr>
            <p:cNvPr id="33" name="Trójkąt równoramienny 28">
              <a:extLst>
                <a:ext uri="{FF2B5EF4-FFF2-40B4-BE49-F238E27FC236}">
                  <a16:creationId xmlns:a16="http://schemas.microsoft.com/office/drawing/2014/main" id="{FB00BBBE-91E2-A8B4-2EEA-A11DAC2D1E04}"/>
                </a:ext>
              </a:extLst>
            </p:cNvPr>
            <p:cNvSpPr/>
            <p:nvPr/>
          </p:nvSpPr>
          <p:spPr>
            <a:xfrm>
              <a:off x="4500562" y="3398641"/>
              <a:ext cx="1428751" cy="785811"/>
            </a:xfrm>
            <a:prstGeom prst="triangle">
              <a:avLst>
                <a:gd name="adj" fmla="val 0"/>
              </a:avLst>
            </a:prstGeom>
            <a:solidFill>
              <a:schemeClr val="bg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pl-PL" sz="600" dirty="0" err="1">
                  <a:latin typeface="Arial" pitchFamily="34" charset="0"/>
                  <a:cs typeface="Arial" pitchFamily="34" charset="0"/>
                </a:rPr>
                <a:t>subscription</a:t>
              </a:r>
              <a:r>
                <a:rPr lang="pl-PL" sz="600" dirty="0">
                  <a:latin typeface="Arial" pitchFamily="34" charset="0"/>
                  <a:cs typeface="Arial" pitchFamily="34" charset="0"/>
                </a:rPr>
                <a:t> </a:t>
              </a:r>
              <a:r>
                <a:rPr lang="pl-PL" sz="600" dirty="0" err="1">
                  <a:latin typeface="Arial" pitchFamily="34" charset="0"/>
                  <a:cs typeface="Arial" pitchFamily="34" charset="0"/>
                </a:rPr>
                <a:t>fee</a:t>
              </a:r>
              <a:r>
                <a:rPr lang="pl-PL" sz="600" dirty="0">
                  <a:latin typeface="Arial" pitchFamily="34" charset="0"/>
                  <a:cs typeface="Arial" pitchFamily="34" charset="0"/>
                </a:rPr>
                <a:t> </a:t>
              </a:r>
            </a:p>
          </p:txBody>
        </p:sp>
        <p:cxnSp>
          <p:nvCxnSpPr>
            <p:cNvPr id="34" name="Łącznik prosty 32">
              <a:extLst>
                <a:ext uri="{FF2B5EF4-FFF2-40B4-BE49-F238E27FC236}">
                  <a16:creationId xmlns:a16="http://schemas.microsoft.com/office/drawing/2014/main" id="{82554836-C2F2-E393-E6C7-97E6DEEABCAF}"/>
                </a:ext>
              </a:extLst>
            </p:cNvPr>
            <p:cNvCxnSpPr>
              <a:endCxn id="32" idx="4"/>
            </p:cNvCxnSpPr>
            <p:nvPr/>
          </p:nvCxnSpPr>
          <p:spPr>
            <a:xfrm rot="5400000" flipH="1" flipV="1">
              <a:off x="2285207" y="5042497"/>
              <a:ext cx="11430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35" name="Podtytuł 2">
              <a:extLst>
                <a:ext uri="{FF2B5EF4-FFF2-40B4-BE49-F238E27FC236}">
                  <a16:creationId xmlns:a16="http://schemas.microsoft.com/office/drawing/2014/main" id="{4F8C1A7F-FB85-C43B-F2C2-F80A06AABC4F}"/>
                </a:ext>
              </a:extLst>
            </p:cNvPr>
            <p:cNvSpPr txBox="1">
              <a:spLocks/>
            </p:cNvSpPr>
            <p:nvPr/>
          </p:nvSpPr>
          <p:spPr>
            <a:xfrm>
              <a:off x="5687083" y="2199735"/>
              <a:ext cx="2428874" cy="1254809"/>
            </a:xfrm>
            <a:prstGeom prst="rect">
              <a:avLst/>
            </a:prstGeom>
          </p:spPr>
          <p:txBody>
            <a:bodyPr>
              <a:normAutofit/>
            </a:bodyPr>
            <a:lstStyle/>
            <a:p>
              <a:pPr algn="ctr" eaLnBrk="1" fontAlgn="auto" hangingPunct="1">
                <a:spcBef>
                  <a:spcPct val="20000"/>
                </a:spcBef>
                <a:spcAft>
                  <a:spcPts val="0"/>
                </a:spcAft>
                <a:buFont typeface="Arial" pitchFamily="34" charset="0"/>
                <a:buNone/>
                <a:defRPr/>
              </a:pPr>
              <a:r>
                <a:rPr lang="en-US" sz="1400" b="0" dirty="0">
                  <a:solidFill>
                    <a:srgbClr val="003366"/>
                  </a:solidFill>
                  <a:latin typeface="Arial" pitchFamily="34" charset="0"/>
                  <a:cs typeface="Arial" pitchFamily="34" charset="0"/>
                </a:rPr>
                <a:t>low subscription fees with high usage charges</a:t>
              </a:r>
              <a:endParaRPr lang="pl-PL" sz="1400" b="0" dirty="0">
                <a:solidFill>
                  <a:schemeClr val="tx1">
                    <a:tint val="75000"/>
                  </a:schemeClr>
                </a:solidFill>
                <a:latin typeface="Arial" pitchFamily="34" charset="0"/>
                <a:cs typeface="Arial" pitchFamily="34" charset="0"/>
              </a:endParaRPr>
            </a:p>
          </p:txBody>
        </p:sp>
        <p:sp>
          <p:nvSpPr>
            <p:cNvPr id="36" name="Podtytuł 2">
              <a:extLst>
                <a:ext uri="{FF2B5EF4-FFF2-40B4-BE49-F238E27FC236}">
                  <a16:creationId xmlns:a16="http://schemas.microsoft.com/office/drawing/2014/main" id="{2FB0CCE3-29F3-D926-831A-F4DFCF03B44A}"/>
                </a:ext>
              </a:extLst>
            </p:cNvPr>
            <p:cNvSpPr txBox="1">
              <a:spLocks/>
            </p:cNvSpPr>
            <p:nvPr/>
          </p:nvSpPr>
          <p:spPr>
            <a:xfrm>
              <a:off x="1476327" y="1232536"/>
              <a:ext cx="2700335" cy="1653184"/>
            </a:xfrm>
            <a:prstGeom prst="rect">
              <a:avLst/>
            </a:prstGeom>
          </p:spPr>
          <p:txBody>
            <a:bodyPr/>
            <a:lstStyle/>
            <a:p>
              <a:pPr algn="ctr" eaLnBrk="1" fontAlgn="auto" hangingPunct="1">
                <a:spcBef>
                  <a:spcPct val="20000"/>
                </a:spcBef>
                <a:spcAft>
                  <a:spcPts val="0"/>
                </a:spcAft>
                <a:buFont typeface="Arial" pitchFamily="34" charset="0"/>
                <a:buNone/>
                <a:defRPr/>
              </a:pPr>
              <a:r>
                <a:rPr lang="en-US" sz="1400" b="0" dirty="0">
                  <a:solidFill>
                    <a:srgbClr val="003366"/>
                  </a:solidFill>
                  <a:latin typeface="Arial" pitchFamily="34" charset="0"/>
                  <a:cs typeface="Arial" pitchFamily="34" charset="0"/>
                </a:rPr>
                <a:t>the high subscription fee combined with low usage charges</a:t>
              </a:r>
              <a:endParaRPr lang="pl-PL" sz="1400" b="0" dirty="0">
                <a:solidFill>
                  <a:schemeClr val="tx1">
                    <a:tint val="75000"/>
                  </a:schemeClr>
                </a:solidFill>
                <a:latin typeface="Arial" pitchFamily="34" charset="0"/>
                <a:cs typeface="Arial" pitchFamily="34" charset="0"/>
              </a:endParaRPr>
            </a:p>
          </p:txBody>
        </p:sp>
      </p:grpSp>
    </p:spTree>
    <p:extLst>
      <p:ext uri="{BB962C8B-B14F-4D97-AF65-F5344CB8AC3E}">
        <p14:creationId xmlns:p14="http://schemas.microsoft.com/office/powerpoint/2010/main" val="3911421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DA143-7A4C-C532-ECC0-D108B42C20A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8DD393E6-1D3B-B428-A1AE-25BA56362460}"/>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err="1">
                <a:solidFill>
                  <a:srgbClr val="4BACC6">
                    <a:lumMod val="50000"/>
                  </a:srgbClr>
                </a:solidFill>
              </a:rPr>
              <a:t>Two</a:t>
            </a:r>
            <a:r>
              <a:rPr lang="pl-PL" b="1" noProof="0" dirty="0">
                <a:solidFill>
                  <a:srgbClr val="4BACC6">
                    <a:lumMod val="50000"/>
                  </a:srgbClr>
                </a:solidFill>
              </a:rPr>
              <a:t>-Part </a:t>
            </a:r>
            <a:r>
              <a:rPr lang="pl-PL" b="1" noProof="0" dirty="0" err="1">
                <a:solidFill>
                  <a:srgbClr val="4BACC6">
                    <a:lumMod val="50000"/>
                  </a:srgbClr>
                </a:solidFill>
              </a:rPr>
              <a:t>Tariff</a:t>
            </a:r>
            <a:r>
              <a:rPr lang="pl-PL" b="1" noProof="0" dirty="0">
                <a:solidFill>
                  <a:srgbClr val="4BACC6">
                    <a:lumMod val="50000"/>
                  </a:srgbClr>
                </a:solidFill>
              </a:rPr>
              <a:t> </a:t>
            </a:r>
            <a:r>
              <a:rPr lang="pl-PL" b="1" noProof="0" dirty="0" err="1">
                <a:solidFill>
                  <a:srgbClr val="4BACC6">
                    <a:lumMod val="50000"/>
                  </a:srgbClr>
                </a:solidFill>
              </a:rPr>
              <a:t>Pricing</a:t>
            </a:r>
            <a:r>
              <a:rPr lang="pl-PL" b="1" noProof="0" dirty="0">
                <a:solidFill>
                  <a:srgbClr val="4BACC6">
                    <a:lumMod val="50000"/>
                  </a:srgbClr>
                </a:solidFill>
              </a:rPr>
              <a:t> </a:t>
            </a:r>
            <a:r>
              <a:rPr lang="pl-PL" b="1" noProof="0" dirty="0" err="1">
                <a:solidFill>
                  <a:srgbClr val="4BACC6">
                    <a:lumMod val="50000"/>
                  </a:srgbClr>
                </a:solidFill>
              </a:rPr>
              <a:t>Strategy</a:t>
            </a:r>
            <a:endParaRPr lang="pl-PL" b="1" noProof="0" dirty="0">
              <a:solidFill>
                <a:srgbClr val="4BACC6">
                  <a:lumMod val="50000"/>
                </a:srgbClr>
              </a:solidFill>
            </a:endParaRPr>
          </a:p>
        </p:txBody>
      </p:sp>
      <p:sp>
        <p:nvSpPr>
          <p:cNvPr id="59" name="TextBox 58">
            <a:extLst>
              <a:ext uri="{FF2B5EF4-FFF2-40B4-BE49-F238E27FC236}">
                <a16:creationId xmlns:a16="http://schemas.microsoft.com/office/drawing/2014/main" id="{BAA70788-C3E4-8072-D18D-7D528C4B650E}"/>
              </a:ext>
            </a:extLst>
          </p:cNvPr>
          <p:cNvSpPr txBox="1"/>
          <p:nvPr/>
        </p:nvSpPr>
        <p:spPr>
          <a:xfrm>
            <a:off x="233680" y="1542063"/>
            <a:ext cx="6990079" cy="4708981"/>
          </a:xfrm>
          <a:prstGeom prst="rect">
            <a:avLst/>
          </a:prstGeom>
          <a:noFill/>
        </p:spPr>
        <p:txBody>
          <a:bodyPr wrap="square">
            <a:spAutoFit/>
          </a:bodyPr>
          <a:lstStyle/>
          <a:p>
            <a:pPr algn="just"/>
            <a:r>
              <a:rPr lang="en-US" sz="2000" dirty="0">
                <a:solidFill>
                  <a:schemeClr val="accent5">
                    <a:lumMod val="50000"/>
                  </a:schemeClr>
                </a:solidFill>
              </a:rPr>
              <a:t>This example simulates a two-part tariff pricing strategy for a hypothetical company with 1,000 customers. The goal is to explore how different combinations of fixed fees and unit fees maximize revenue, given customer usage patterns and willingness to pay (WTP).</a:t>
            </a:r>
            <a:endParaRPr lang="pl-PL" sz="2000" dirty="0">
              <a:solidFill>
                <a:schemeClr val="accent5">
                  <a:lumMod val="50000"/>
                </a:schemeClr>
              </a:solidFill>
            </a:endParaRPr>
          </a:p>
          <a:p>
            <a:pPr algn="just"/>
            <a:endParaRPr lang="pl-PL" sz="2000" dirty="0">
              <a:solidFill>
                <a:schemeClr val="accent5">
                  <a:lumMod val="50000"/>
                </a:schemeClr>
              </a:solidFill>
            </a:endParaRPr>
          </a:p>
          <a:p>
            <a:pPr algn="just"/>
            <a:r>
              <a:rPr lang="en-US" sz="2000" dirty="0">
                <a:solidFill>
                  <a:schemeClr val="accent5">
                    <a:lumMod val="50000"/>
                  </a:schemeClr>
                </a:solidFill>
              </a:rPr>
              <a:t>Customer Usage:</a:t>
            </a:r>
            <a:r>
              <a:rPr lang="pl-PL" sz="2000" dirty="0">
                <a:solidFill>
                  <a:schemeClr val="accent5">
                    <a:lumMod val="50000"/>
                  </a:schemeClr>
                </a:solidFill>
              </a:rPr>
              <a:t> </a:t>
            </a:r>
            <a:r>
              <a:rPr lang="en-US" sz="2000" dirty="0">
                <a:solidFill>
                  <a:schemeClr val="accent5">
                    <a:lumMod val="50000"/>
                  </a:schemeClr>
                </a:solidFill>
              </a:rPr>
              <a:t>is modeled using a Poisson distribution with an average of 20 units per customer.</a:t>
            </a:r>
            <a:r>
              <a:rPr lang="pl-PL" sz="2000" dirty="0">
                <a:solidFill>
                  <a:schemeClr val="accent5">
                    <a:lumMod val="50000"/>
                  </a:schemeClr>
                </a:solidFill>
              </a:rPr>
              <a:t> </a:t>
            </a:r>
            <a:r>
              <a:rPr lang="en-US" sz="2000" dirty="0">
                <a:solidFill>
                  <a:schemeClr val="accent5">
                    <a:lumMod val="50000"/>
                  </a:schemeClr>
                </a:solidFill>
              </a:rPr>
              <a:t>The histogram shows the distribution of customer usage, highlighting that most customers consume around 20 units, with a small number of heavy users.</a:t>
            </a:r>
          </a:p>
          <a:p>
            <a:pPr algn="just"/>
            <a:endParaRPr lang="en-US" sz="2000" dirty="0">
              <a:solidFill>
                <a:schemeClr val="accent5">
                  <a:lumMod val="50000"/>
                </a:schemeClr>
              </a:solidFill>
            </a:endParaRPr>
          </a:p>
          <a:p>
            <a:pPr algn="just"/>
            <a:r>
              <a:rPr lang="en-US" sz="2000" dirty="0">
                <a:solidFill>
                  <a:schemeClr val="accent5">
                    <a:lumMod val="50000"/>
                  </a:schemeClr>
                </a:solidFill>
              </a:rPr>
              <a:t>Willingness to Pay (WTP</a:t>
            </a:r>
            <a:r>
              <a:rPr lang="pl-PL" sz="2000" dirty="0">
                <a:solidFill>
                  <a:schemeClr val="accent5">
                    <a:lumMod val="50000"/>
                  </a:schemeClr>
                </a:solidFill>
              </a:rPr>
              <a:t>) </a:t>
            </a:r>
            <a:r>
              <a:rPr lang="en-US" sz="2000" dirty="0">
                <a:solidFill>
                  <a:schemeClr val="accent5">
                    <a:lumMod val="50000"/>
                  </a:schemeClr>
                </a:solidFill>
              </a:rPr>
              <a:t>is modeled using a normal distribution with a mean of 150 and a standard deviation of 30.</a:t>
            </a:r>
            <a:r>
              <a:rPr lang="pl-PL" sz="2000" dirty="0">
                <a:solidFill>
                  <a:schemeClr val="accent5">
                    <a:lumMod val="50000"/>
                  </a:schemeClr>
                </a:solidFill>
              </a:rPr>
              <a:t> </a:t>
            </a:r>
            <a:r>
              <a:rPr lang="en-US" sz="2000" dirty="0">
                <a:solidFill>
                  <a:schemeClr val="accent5">
                    <a:lumMod val="50000"/>
                  </a:schemeClr>
                </a:solidFill>
              </a:rPr>
              <a:t>The histogram of WTP illustrates the range of prices customers are willing to pay, centering around $150.</a:t>
            </a:r>
            <a:endParaRPr lang="en-US" sz="2800" dirty="0">
              <a:solidFill>
                <a:schemeClr val="accent5">
                  <a:lumMod val="50000"/>
                </a:schemeClr>
              </a:solidFill>
            </a:endParaRPr>
          </a:p>
        </p:txBody>
      </p:sp>
      <p:pic>
        <p:nvPicPr>
          <p:cNvPr id="3" name="Picture 2">
            <a:extLst>
              <a:ext uri="{FF2B5EF4-FFF2-40B4-BE49-F238E27FC236}">
                <a16:creationId xmlns:a16="http://schemas.microsoft.com/office/drawing/2014/main" id="{C8EC4DFC-037B-7442-FC4E-7E7AB35344B2}"/>
              </a:ext>
            </a:extLst>
          </p:cNvPr>
          <p:cNvPicPr>
            <a:picLocks noChangeAspect="1"/>
          </p:cNvPicPr>
          <p:nvPr/>
        </p:nvPicPr>
        <p:blipFill>
          <a:blip r:embed="rId2"/>
          <a:stretch>
            <a:fillRect/>
          </a:stretch>
        </p:blipFill>
        <p:spPr>
          <a:xfrm>
            <a:off x="7680960" y="1439049"/>
            <a:ext cx="3599179" cy="2348245"/>
          </a:xfrm>
          <a:prstGeom prst="rect">
            <a:avLst/>
          </a:prstGeom>
        </p:spPr>
      </p:pic>
      <p:pic>
        <p:nvPicPr>
          <p:cNvPr id="4" name="Picture 3">
            <a:extLst>
              <a:ext uri="{FF2B5EF4-FFF2-40B4-BE49-F238E27FC236}">
                <a16:creationId xmlns:a16="http://schemas.microsoft.com/office/drawing/2014/main" id="{8DB9CAC6-4FCF-C1B3-4B88-3B81A7F77E03}"/>
              </a:ext>
            </a:extLst>
          </p:cNvPr>
          <p:cNvPicPr>
            <a:picLocks noChangeAspect="1"/>
          </p:cNvPicPr>
          <p:nvPr/>
        </p:nvPicPr>
        <p:blipFill>
          <a:blip r:embed="rId3"/>
          <a:stretch>
            <a:fillRect/>
          </a:stretch>
        </p:blipFill>
        <p:spPr>
          <a:xfrm>
            <a:off x="7445309" y="3985276"/>
            <a:ext cx="4109149" cy="2680969"/>
          </a:xfrm>
          <a:prstGeom prst="rect">
            <a:avLst/>
          </a:prstGeom>
        </p:spPr>
      </p:pic>
    </p:spTree>
    <p:extLst>
      <p:ext uri="{BB962C8B-B14F-4D97-AF65-F5344CB8AC3E}">
        <p14:creationId xmlns:p14="http://schemas.microsoft.com/office/powerpoint/2010/main" val="145564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D23FF-77F0-EC66-2F58-BA53B8EF8095}"/>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5B39D505-DD09-69F7-AB49-0FD91293D0C6}"/>
              </a:ext>
            </a:extLst>
          </p:cNvPr>
          <p:cNvSpPr>
            <a:spLocks noGrp="1"/>
          </p:cNvSpPr>
          <p:nvPr/>
        </p:nvSpPr>
        <p:spPr>
          <a:xfrm>
            <a:off x="0" y="0"/>
            <a:ext cx="12192000" cy="120904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b="1" noProof="0" dirty="0" err="1">
                <a:solidFill>
                  <a:srgbClr val="4BACC6">
                    <a:lumMod val="50000"/>
                  </a:srgbClr>
                </a:solidFill>
              </a:rPr>
              <a:t>Two</a:t>
            </a:r>
            <a:r>
              <a:rPr lang="pl-PL" b="1" noProof="0" dirty="0">
                <a:solidFill>
                  <a:srgbClr val="4BACC6">
                    <a:lumMod val="50000"/>
                  </a:srgbClr>
                </a:solidFill>
              </a:rPr>
              <a:t>-Part </a:t>
            </a:r>
            <a:r>
              <a:rPr lang="pl-PL" b="1" noProof="0" dirty="0" err="1">
                <a:solidFill>
                  <a:srgbClr val="4BACC6">
                    <a:lumMod val="50000"/>
                  </a:srgbClr>
                </a:solidFill>
              </a:rPr>
              <a:t>Tariff</a:t>
            </a:r>
            <a:r>
              <a:rPr lang="pl-PL" b="1" noProof="0" dirty="0">
                <a:solidFill>
                  <a:srgbClr val="4BACC6">
                    <a:lumMod val="50000"/>
                  </a:srgbClr>
                </a:solidFill>
              </a:rPr>
              <a:t> </a:t>
            </a:r>
            <a:r>
              <a:rPr lang="pl-PL" b="1" noProof="0" dirty="0" err="1">
                <a:solidFill>
                  <a:srgbClr val="4BACC6">
                    <a:lumMod val="50000"/>
                  </a:srgbClr>
                </a:solidFill>
              </a:rPr>
              <a:t>Pricing</a:t>
            </a:r>
            <a:r>
              <a:rPr lang="pl-PL" b="1" noProof="0" dirty="0">
                <a:solidFill>
                  <a:srgbClr val="4BACC6">
                    <a:lumMod val="50000"/>
                  </a:srgbClr>
                </a:solidFill>
              </a:rPr>
              <a:t> </a:t>
            </a:r>
            <a:r>
              <a:rPr lang="pl-PL" b="1" noProof="0" dirty="0" err="1">
                <a:solidFill>
                  <a:srgbClr val="4BACC6">
                    <a:lumMod val="50000"/>
                  </a:srgbClr>
                </a:solidFill>
              </a:rPr>
              <a:t>Strategy</a:t>
            </a:r>
            <a:endParaRPr lang="pl-PL" b="1" noProof="0" dirty="0">
              <a:solidFill>
                <a:srgbClr val="4BACC6">
                  <a:lumMod val="50000"/>
                </a:srgbClr>
              </a:solidFill>
            </a:endParaRPr>
          </a:p>
        </p:txBody>
      </p:sp>
      <p:sp>
        <p:nvSpPr>
          <p:cNvPr id="59" name="TextBox 58">
            <a:extLst>
              <a:ext uri="{FF2B5EF4-FFF2-40B4-BE49-F238E27FC236}">
                <a16:creationId xmlns:a16="http://schemas.microsoft.com/office/drawing/2014/main" id="{6F88D742-BF11-D859-5EBD-803B44B59F19}"/>
              </a:ext>
            </a:extLst>
          </p:cNvPr>
          <p:cNvSpPr txBox="1"/>
          <p:nvPr/>
        </p:nvSpPr>
        <p:spPr>
          <a:xfrm>
            <a:off x="279399" y="1209040"/>
            <a:ext cx="11633201" cy="5324535"/>
          </a:xfrm>
          <a:prstGeom prst="rect">
            <a:avLst/>
          </a:prstGeom>
          <a:noFill/>
        </p:spPr>
        <p:txBody>
          <a:bodyPr wrap="square">
            <a:spAutoFit/>
          </a:bodyPr>
          <a:lstStyle/>
          <a:p>
            <a:pPr algn="just"/>
            <a:r>
              <a:rPr lang="en-US" sz="2000" dirty="0">
                <a:solidFill>
                  <a:schemeClr val="accent5">
                    <a:lumMod val="50000"/>
                  </a:schemeClr>
                </a:solidFill>
              </a:rPr>
              <a:t>Subscriptions have become a widespread pricing model, extending to products like Thermomix, photography equipment, and software, sparking significant controversies. Thermomix, once a one-time purchase, now charges subscription fees for recipe access and software updates, creating dependency on recurring payments for full functionality. In photography, advanced features, cloud storage, or firmware updates for cameras are increasingly locked behind subscriptions, frustrating users who feel forced to pay repeatedly for tools they already own.</a:t>
            </a:r>
          </a:p>
          <a:p>
            <a:pPr algn="just"/>
            <a:endParaRPr lang="en-US" sz="2000" dirty="0">
              <a:solidFill>
                <a:schemeClr val="accent5">
                  <a:lumMod val="50000"/>
                </a:schemeClr>
              </a:solidFill>
            </a:endParaRPr>
          </a:p>
          <a:p>
            <a:pPr algn="just"/>
            <a:r>
              <a:rPr lang="en-US" sz="2000" dirty="0">
                <a:solidFill>
                  <a:schemeClr val="accent5">
                    <a:lumMod val="50000"/>
                  </a:schemeClr>
                </a:solidFill>
              </a:rPr>
              <a:t>In software, giants like Adobe and Microsoft have shifted entirely to subscription models, offering benefits like regular updates and cloud access. However, this approach often costs long-term users more than perpetual licenses, with the added risk of losing access to their tools or files if payments stop. The loss of ownership, recurring charges for basic features, and customer lock-in have led to growing dissatisfaction, as users feel exploited by business models that prioritize recurring revenue over consumer choice.</a:t>
            </a:r>
            <a:endParaRPr lang="pl-PL" sz="2000" dirty="0">
              <a:solidFill>
                <a:schemeClr val="accent5">
                  <a:lumMod val="50000"/>
                </a:schemeClr>
              </a:solidFill>
            </a:endParaRPr>
          </a:p>
          <a:p>
            <a:pPr algn="just"/>
            <a:endParaRPr lang="pl-PL" sz="2000" dirty="0">
              <a:solidFill>
                <a:schemeClr val="accent5">
                  <a:lumMod val="50000"/>
                </a:schemeClr>
              </a:solidFill>
            </a:endParaRPr>
          </a:p>
          <a:p>
            <a:pPr algn="just"/>
            <a:r>
              <a:rPr lang="en-US" sz="2000" dirty="0">
                <a:solidFill>
                  <a:schemeClr val="accent5">
                    <a:lumMod val="50000"/>
                  </a:schemeClr>
                </a:solidFill>
                <a:hlinkClick r:id="rId2"/>
              </a:rPr>
              <a:t>https://www.washingtonpost.com/business/2025/01/18/snoo-bassinet-subscriptions/</a:t>
            </a:r>
            <a:endParaRPr lang="pl-PL" sz="2000" dirty="0">
              <a:solidFill>
                <a:schemeClr val="accent5">
                  <a:lumMod val="50000"/>
                </a:schemeClr>
              </a:solidFill>
            </a:endParaRPr>
          </a:p>
          <a:p>
            <a:pPr algn="just"/>
            <a:r>
              <a:rPr lang="en-US" sz="2000" dirty="0">
                <a:solidFill>
                  <a:schemeClr val="accent5">
                    <a:lumMod val="50000"/>
                  </a:schemeClr>
                </a:solidFill>
                <a:hlinkClick r:id="rId3"/>
              </a:rPr>
              <a:t>https://www.forbes.com/sites/nathanpettijohn/2024/05/07/the-recurring-problems-with-subscription-services/</a:t>
            </a:r>
            <a:endParaRPr lang="pl-PL" sz="2000" dirty="0">
              <a:solidFill>
                <a:schemeClr val="accent5">
                  <a:lumMod val="50000"/>
                </a:schemeClr>
              </a:solidFill>
            </a:endParaRPr>
          </a:p>
          <a:p>
            <a:pPr algn="just"/>
            <a:endParaRPr lang="en-US" sz="2000" dirty="0">
              <a:solidFill>
                <a:schemeClr val="accent5">
                  <a:lumMod val="50000"/>
                </a:schemeClr>
              </a:solidFill>
            </a:endParaRPr>
          </a:p>
        </p:txBody>
      </p:sp>
    </p:spTree>
    <p:extLst>
      <p:ext uri="{BB962C8B-B14F-4D97-AF65-F5344CB8AC3E}">
        <p14:creationId xmlns:p14="http://schemas.microsoft.com/office/powerpoint/2010/main" val="2280752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994122"/>
          </a:xfrm>
          <a:solidFill>
            <a:schemeClr val="accent5">
              <a:lumMod val="20000"/>
              <a:lumOff val="80000"/>
            </a:schemeClr>
          </a:solidFill>
        </p:spPr>
        <p:txBody>
          <a:bodyPr>
            <a:noAutofit/>
          </a:bodyPr>
          <a:lstStyle/>
          <a:p>
            <a:r>
              <a:rPr lang="pl-PL" sz="4000" b="1" dirty="0">
                <a:solidFill>
                  <a:schemeClr val="accent5">
                    <a:lumMod val="50000"/>
                  </a:schemeClr>
                </a:solidFill>
              </a:rPr>
              <a:t>B</a:t>
            </a:r>
            <a:r>
              <a:rPr lang="en-GB" sz="4000" b="1" dirty="0" err="1">
                <a:solidFill>
                  <a:schemeClr val="accent5">
                    <a:lumMod val="50000"/>
                  </a:schemeClr>
                </a:solidFill>
              </a:rPr>
              <a:t>undling</a:t>
            </a:r>
            <a:r>
              <a:rPr lang="en-GB" sz="4000" b="1" dirty="0">
                <a:solidFill>
                  <a:schemeClr val="accent5">
                    <a:lumMod val="50000"/>
                  </a:schemeClr>
                </a:solidFill>
              </a:rPr>
              <a:t>?</a:t>
            </a:r>
          </a:p>
        </p:txBody>
      </p:sp>
      <p:sp>
        <p:nvSpPr>
          <p:cNvPr id="3" name="Symbol zastępczy zawartości 2"/>
          <p:cNvSpPr>
            <a:spLocks noGrp="1"/>
          </p:cNvSpPr>
          <p:nvPr>
            <p:ph idx="1"/>
          </p:nvPr>
        </p:nvSpPr>
        <p:spPr>
          <a:xfrm>
            <a:off x="599440" y="1316008"/>
            <a:ext cx="10708640" cy="4708872"/>
          </a:xfrm>
        </p:spPr>
        <p:txBody>
          <a:bodyPr>
            <a:normAutofit/>
          </a:bodyPr>
          <a:lstStyle/>
          <a:p>
            <a:pPr marL="0" indent="0">
              <a:buNone/>
            </a:pPr>
            <a:endParaRPr lang="pl-PL" sz="2800" b="1" dirty="0">
              <a:solidFill>
                <a:schemeClr val="accent5">
                  <a:lumMod val="50000"/>
                </a:schemeClr>
              </a:solidFill>
            </a:endParaRPr>
          </a:p>
          <a:p>
            <a:pPr marL="0" indent="0">
              <a:buNone/>
            </a:pPr>
            <a:r>
              <a:rPr lang="en-GB" sz="2800" b="1" dirty="0">
                <a:solidFill>
                  <a:schemeClr val="accent5">
                    <a:lumMod val="50000"/>
                  </a:schemeClr>
                </a:solidFill>
              </a:rPr>
              <a:t>Bundling is a monopolistic price strategy to sell two or more goods together as one product. </a:t>
            </a:r>
          </a:p>
          <a:p>
            <a:pPr marL="0" indent="0">
              <a:buNone/>
            </a:pPr>
            <a:endParaRPr lang="en-GB" sz="2800" b="1" dirty="0">
              <a:solidFill>
                <a:schemeClr val="accent5">
                  <a:lumMod val="50000"/>
                </a:schemeClr>
              </a:solidFill>
            </a:endParaRPr>
          </a:p>
          <a:p>
            <a:pPr marL="0" indent="0">
              <a:buNone/>
            </a:pPr>
            <a:r>
              <a:rPr lang="en-GB" sz="2800" b="1" dirty="0">
                <a:solidFill>
                  <a:schemeClr val="accent5">
                    <a:lumMod val="50000"/>
                  </a:schemeClr>
                </a:solidFill>
              </a:rPr>
              <a:t>Economists by constructing this model are trying to answer the question: </a:t>
            </a:r>
          </a:p>
          <a:p>
            <a:pPr>
              <a:buFont typeface="Wingdings"/>
              <a:buChar char="à"/>
            </a:pPr>
            <a:r>
              <a:rPr lang="en-GB" sz="2800" dirty="0">
                <a:solidFill>
                  <a:schemeClr val="accent5">
                    <a:lumMod val="50000"/>
                  </a:schemeClr>
                </a:solidFill>
              </a:rPr>
              <a:t>It is good or bad practice for economy? </a:t>
            </a:r>
          </a:p>
          <a:p>
            <a:pPr>
              <a:buFont typeface="Wingdings"/>
              <a:buChar char="à"/>
            </a:pPr>
            <a:r>
              <a:rPr lang="en-GB" sz="2800" dirty="0">
                <a:solidFill>
                  <a:schemeClr val="accent5">
                    <a:lumMod val="50000"/>
                  </a:schemeClr>
                </a:solidFill>
              </a:rPr>
              <a:t>Is this practice hurting consumers? </a:t>
            </a:r>
          </a:p>
          <a:p>
            <a:pPr lvl="1">
              <a:buFont typeface="Wingdings"/>
              <a:buChar char="à"/>
            </a:pPr>
            <a:r>
              <a:rPr lang="pl-PL" dirty="0">
                <a:solidFill>
                  <a:schemeClr val="accent5">
                    <a:lumMod val="50000"/>
                  </a:schemeClr>
                </a:solidFill>
              </a:rPr>
              <a:t> </a:t>
            </a:r>
            <a:r>
              <a:rPr lang="en-GB" dirty="0">
                <a:solidFill>
                  <a:schemeClr val="accent5">
                    <a:lumMod val="50000"/>
                  </a:schemeClr>
                </a:solidFill>
              </a:rPr>
              <a:t>Should we stop this practice ???</a:t>
            </a:r>
          </a:p>
        </p:txBody>
      </p:sp>
    </p:spTree>
    <p:extLst>
      <p:ext uri="{BB962C8B-B14F-4D97-AF65-F5344CB8AC3E}">
        <p14:creationId xmlns:p14="http://schemas.microsoft.com/office/powerpoint/2010/main" val="3764565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ytuł 1"/>
          <p:cNvSpPr>
            <a:spLocks noGrp="1"/>
          </p:cNvSpPr>
          <p:nvPr>
            <p:ph type="title"/>
          </p:nvPr>
        </p:nvSpPr>
        <p:spPr>
          <a:xfrm>
            <a:off x="0" y="5617"/>
            <a:ext cx="12192000" cy="1143000"/>
          </a:xfrm>
          <a:solidFill>
            <a:schemeClr val="accent5">
              <a:lumMod val="20000"/>
              <a:lumOff val="80000"/>
            </a:schemeClr>
          </a:solidFill>
        </p:spPr>
        <p:txBody>
          <a:bodyPr>
            <a:normAutofit/>
          </a:bodyPr>
          <a:lstStyle/>
          <a:p>
            <a:r>
              <a:rPr lang="en-US" b="1" dirty="0">
                <a:solidFill>
                  <a:schemeClr val="accent5">
                    <a:lumMod val="50000"/>
                  </a:schemeClr>
                </a:solidFill>
              </a:rPr>
              <a:t>A bit of history of economic thought</a:t>
            </a:r>
          </a:p>
        </p:txBody>
      </p:sp>
      <p:sp>
        <p:nvSpPr>
          <p:cNvPr id="9" name="Symbol zastępczy zawartości 2"/>
          <p:cNvSpPr>
            <a:spLocks noGrp="1"/>
          </p:cNvSpPr>
          <p:nvPr>
            <p:ph idx="1"/>
          </p:nvPr>
        </p:nvSpPr>
        <p:spPr>
          <a:xfrm>
            <a:off x="1264568" y="1525424"/>
            <a:ext cx="9662864" cy="4680520"/>
          </a:xfrm>
        </p:spPr>
        <p:txBody>
          <a:bodyPr>
            <a:normAutofit fontScale="92500" lnSpcReduction="20000"/>
          </a:bodyPr>
          <a:lstStyle/>
          <a:p>
            <a:pPr marL="0" indent="0" algn="just">
              <a:buNone/>
            </a:pPr>
            <a:r>
              <a:rPr lang="en-GB" sz="3000" b="1" dirty="0">
                <a:solidFill>
                  <a:schemeClr val="accent5">
                    <a:lumMod val="50000"/>
                  </a:schemeClr>
                </a:solidFill>
                <a:sym typeface="Wingdings" panose="05000000000000000000" pitchFamily="2" charset="2"/>
              </a:rPr>
              <a:t>Example 1: </a:t>
            </a:r>
            <a:r>
              <a:rPr lang="en-GB" sz="3000" dirty="0" err="1">
                <a:solidFill>
                  <a:schemeClr val="accent5">
                    <a:lumMod val="50000"/>
                  </a:schemeClr>
                </a:solidFill>
              </a:rPr>
              <a:t>Cournot</a:t>
            </a:r>
            <a:r>
              <a:rPr lang="en-GB" sz="3000" dirty="0">
                <a:solidFill>
                  <a:schemeClr val="accent5">
                    <a:lumMod val="50000"/>
                  </a:schemeClr>
                </a:solidFill>
              </a:rPr>
              <a:t> effect. Should cupper and zinc be produced separately in two smelters or only in one smelter should produce this two metals and their mixture - brass. </a:t>
            </a:r>
          </a:p>
          <a:p>
            <a:pPr marL="0" indent="0">
              <a:buNone/>
            </a:pPr>
            <a:endParaRPr lang="en-GB" sz="3000" dirty="0">
              <a:solidFill>
                <a:schemeClr val="accent5">
                  <a:lumMod val="50000"/>
                </a:schemeClr>
              </a:solidFill>
            </a:endParaRPr>
          </a:p>
          <a:p>
            <a:pPr marL="0" indent="0">
              <a:buNone/>
            </a:pPr>
            <a:r>
              <a:rPr lang="en-GB" sz="3000" b="1" dirty="0">
                <a:solidFill>
                  <a:schemeClr val="accent5">
                    <a:lumMod val="50000"/>
                  </a:schemeClr>
                </a:solidFill>
              </a:rPr>
              <a:t>Pros: </a:t>
            </a:r>
            <a:r>
              <a:rPr lang="en-GB" sz="3000" dirty="0">
                <a:solidFill>
                  <a:schemeClr val="accent5">
                    <a:lumMod val="50000"/>
                  </a:schemeClr>
                </a:solidFill>
              </a:rPr>
              <a:t>The scope economics – monopolist is able to produce cheaper these two metal in one factory </a:t>
            </a:r>
          </a:p>
          <a:p>
            <a:pPr marL="0" indent="0">
              <a:buNone/>
            </a:pPr>
            <a:r>
              <a:rPr lang="en-GB" sz="3000" b="1" dirty="0">
                <a:solidFill>
                  <a:schemeClr val="accent5">
                    <a:lumMod val="50000"/>
                  </a:schemeClr>
                </a:solidFill>
              </a:rPr>
              <a:t>Cons:  </a:t>
            </a:r>
            <a:r>
              <a:rPr lang="en-GB" sz="3000" dirty="0">
                <a:solidFill>
                  <a:schemeClr val="accent5">
                    <a:lumMod val="50000"/>
                  </a:schemeClr>
                </a:solidFill>
              </a:rPr>
              <a:t>Monopolist can create price strategy which can hurt consumers</a:t>
            </a:r>
          </a:p>
          <a:p>
            <a:pPr marL="0" indent="0">
              <a:buNone/>
            </a:pPr>
            <a:endParaRPr lang="en-GB" sz="3000" b="1" dirty="0">
              <a:solidFill>
                <a:schemeClr val="accent5">
                  <a:lumMod val="50000"/>
                </a:schemeClr>
              </a:solidFill>
            </a:endParaRPr>
          </a:p>
          <a:p>
            <a:pPr marL="0" indent="0">
              <a:buNone/>
            </a:pPr>
            <a:r>
              <a:rPr lang="en-GB" sz="3000" b="1" dirty="0">
                <a:solidFill>
                  <a:schemeClr val="accent5">
                    <a:lumMod val="50000"/>
                  </a:schemeClr>
                </a:solidFill>
              </a:rPr>
              <a:t>Example 2: </a:t>
            </a:r>
            <a:r>
              <a:rPr lang="en-GB" sz="3000" dirty="0">
                <a:solidFill>
                  <a:schemeClr val="accent5">
                    <a:lumMod val="50000"/>
                  </a:schemeClr>
                </a:solidFill>
              </a:rPr>
              <a:t>Stigler examined the antitrust law in which the is no possibility to sell films as a bundle (Block-Booking) </a:t>
            </a:r>
          </a:p>
          <a:p>
            <a:pPr marL="0" indent="0">
              <a:buNone/>
            </a:pPr>
            <a:endParaRPr lang="en-GB" b="1" dirty="0">
              <a:solidFill>
                <a:schemeClr val="accent5">
                  <a:lumMod val="50000"/>
                </a:schemeClr>
              </a:solidFill>
            </a:endParaRPr>
          </a:p>
          <a:p>
            <a:pPr marL="0" indent="0">
              <a:buNone/>
            </a:pPr>
            <a:endParaRPr lang="en-GB" b="1" dirty="0">
              <a:solidFill>
                <a:schemeClr val="accent5">
                  <a:lumMod val="50000"/>
                </a:schemeClr>
              </a:solidFill>
            </a:endParaRPr>
          </a:p>
          <a:p>
            <a:pPr marL="0" indent="0">
              <a:buNone/>
            </a:pPr>
            <a:endParaRPr lang="en-GB" b="1" dirty="0">
              <a:solidFill>
                <a:schemeClr val="accent5">
                  <a:lumMod val="50000"/>
                </a:schemeClr>
              </a:solidFill>
            </a:endParaRPr>
          </a:p>
          <a:p>
            <a:pPr marL="0" indent="0">
              <a:buNone/>
            </a:pPr>
            <a:endParaRPr lang="en-GB" b="1" dirty="0">
              <a:solidFill>
                <a:schemeClr val="accent5">
                  <a:lumMod val="50000"/>
                </a:schemeClr>
              </a:solidFill>
            </a:endParaRPr>
          </a:p>
          <a:p>
            <a:pPr marL="0" indent="0">
              <a:buNone/>
            </a:pPr>
            <a:endParaRPr lang="en-GB" b="1" dirty="0">
              <a:solidFill>
                <a:schemeClr val="accent5">
                  <a:lumMod val="50000"/>
                </a:schemeClr>
              </a:solidFill>
            </a:endParaRPr>
          </a:p>
          <a:p>
            <a:pPr marL="0" indent="0">
              <a:buNone/>
            </a:pPr>
            <a:endParaRPr lang="en-GB" b="1" dirty="0">
              <a:solidFill>
                <a:schemeClr val="accent5">
                  <a:lumMod val="50000"/>
                </a:schemeClr>
              </a:solidFill>
            </a:endParaRPr>
          </a:p>
          <a:p>
            <a:pPr marL="0" indent="0">
              <a:buNone/>
            </a:pPr>
            <a:endParaRPr lang="en-GB" b="1" dirty="0">
              <a:solidFill>
                <a:schemeClr val="accent5">
                  <a:lumMod val="50000"/>
                </a:schemeClr>
              </a:solidFill>
            </a:endParaRPr>
          </a:p>
          <a:p>
            <a:pPr marL="0" indent="0">
              <a:buNone/>
            </a:pPr>
            <a:endParaRPr lang="en-GB" b="1" dirty="0">
              <a:solidFill>
                <a:schemeClr val="accent5">
                  <a:lumMod val="50000"/>
                </a:schemeClr>
              </a:solidFill>
            </a:endParaRPr>
          </a:p>
          <a:p>
            <a:pPr marL="0" indent="0">
              <a:buNone/>
            </a:pPr>
            <a:endParaRPr lang="en-GB" b="1" dirty="0">
              <a:solidFill>
                <a:schemeClr val="accent5">
                  <a:lumMod val="50000"/>
                </a:schemeClr>
              </a:solidFill>
            </a:endParaRPr>
          </a:p>
        </p:txBody>
      </p:sp>
    </p:spTree>
    <p:extLst>
      <p:ext uri="{BB962C8B-B14F-4D97-AF65-F5344CB8AC3E}">
        <p14:creationId xmlns:p14="http://schemas.microsoft.com/office/powerpoint/2010/main" val="3719971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ymbol zastępczy numeru slajdu 5"/>
          <p:cNvSpPr>
            <a:spLocks noGrp="1"/>
          </p:cNvSpPr>
          <p:nvPr>
            <p:ph type="sldNum" sz="quarter" idx="12"/>
          </p:nvPr>
        </p:nvSpPr>
        <p:spPr>
          <a:noFill/>
        </p:spPr>
        <p:txBody>
          <a:bodyPr/>
          <a:lstStyle/>
          <a:p>
            <a:fld id="{6343AABC-F10A-4B7E-925B-C88150FA78F4}" type="slidenum">
              <a:rPr lang="pl-PL" smtClean="0"/>
              <a:pPr/>
              <a:t>37</a:t>
            </a:fld>
            <a:endParaRPr lang="pl-PL"/>
          </a:p>
        </p:txBody>
      </p:sp>
      <p:sp>
        <p:nvSpPr>
          <p:cNvPr id="14339" name="Rectangle 2"/>
          <p:cNvSpPr>
            <a:spLocks noGrp="1" noChangeArrowheads="1"/>
          </p:cNvSpPr>
          <p:nvPr>
            <p:ph type="title"/>
          </p:nvPr>
        </p:nvSpPr>
        <p:spPr>
          <a:xfrm>
            <a:off x="-71120" y="0"/>
            <a:ext cx="12263120" cy="1196752"/>
          </a:xfrm>
          <a:solidFill>
            <a:schemeClr val="accent5">
              <a:lumMod val="20000"/>
              <a:lumOff val="80000"/>
            </a:schemeClr>
          </a:solidFill>
        </p:spPr>
        <p:txBody>
          <a:bodyPr>
            <a:normAutofit/>
          </a:bodyPr>
          <a:lstStyle/>
          <a:p>
            <a:r>
              <a:rPr lang="en-GB" sz="3200" b="1" dirty="0">
                <a:solidFill>
                  <a:schemeClr val="accent5">
                    <a:lumMod val="50000"/>
                  </a:schemeClr>
                </a:solidFill>
              </a:rPr>
              <a:t>Bundling of films </a:t>
            </a:r>
            <a:br>
              <a:rPr lang="en-GB" sz="3200" b="1" dirty="0">
                <a:solidFill>
                  <a:schemeClr val="accent5">
                    <a:lumMod val="50000"/>
                  </a:schemeClr>
                </a:solidFill>
              </a:rPr>
            </a:br>
            <a:r>
              <a:rPr lang="en-GB" sz="3200" b="1" dirty="0">
                <a:solidFill>
                  <a:schemeClr val="accent5">
                    <a:lumMod val="50000"/>
                  </a:schemeClr>
                </a:solidFill>
              </a:rPr>
              <a:t>(textbook example of films distributed in 1977)    </a:t>
            </a:r>
          </a:p>
        </p:txBody>
      </p:sp>
      <p:sp>
        <p:nvSpPr>
          <p:cNvPr id="5" name="Symbol zastępczy zawartości 2"/>
          <p:cNvSpPr txBox="1">
            <a:spLocks/>
          </p:cNvSpPr>
          <p:nvPr/>
        </p:nvSpPr>
        <p:spPr bwMode="auto">
          <a:xfrm>
            <a:off x="2255767" y="2003104"/>
            <a:ext cx="7858125" cy="928687"/>
          </a:xfrm>
          <a:prstGeom prst="rect">
            <a:avLst/>
          </a:prstGeom>
          <a:noFill/>
          <a:ln w="9525">
            <a:noFill/>
            <a:miter lim="800000"/>
            <a:headEnd/>
            <a:tailEnd/>
          </a:ln>
        </p:spPr>
        <p:txBody>
          <a:bodyPr/>
          <a:lstStyle/>
          <a:p>
            <a:pPr marL="469900" indent="-469900" eaLnBrk="0" hangingPunct="0">
              <a:spcBef>
                <a:spcPct val="20000"/>
              </a:spcBef>
              <a:buClr>
                <a:srgbClr val="992035"/>
              </a:buClr>
              <a:buSzPct val="150000"/>
              <a:buFont typeface="Wingdings" pitchFamily="2" charset="2"/>
              <a:buChar char="§"/>
              <a:defRPr/>
            </a:pPr>
            <a:endParaRPr lang="pl-PL" sz="2400" b="1" kern="0" dirty="0">
              <a:solidFill>
                <a:schemeClr val="accent5">
                  <a:lumMod val="50000"/>
                </a:schemeClr>
              </a:solidFill>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84828" y="1288180"/>
            <a:ext cx="1603375" cy="20907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Prostokąt 1"/>
          <p:cNvSpPr/>
          <p:nvPr/>
        </p:nvSpPr>
        <p:spPr>
          <a:xfrm>
            <a:off x="5549946" y="3512816"/>
            <a:ext cx="3718006" cy="461665"/>
          </a:xfrm>
          <a:prstGeom prst="rect">
            <a:avLst/>
          </a:prstGeom>
        </p:spPr>
        <p:txBody>
          <a:bodyPr wrap="none">
            <a:spAutoFit/>
          </a:bodyPr>
          <a:lstStyle/>
          <a:p>
            <a:r>
              <a:rPr lang="en-US" sz="2400" b="1" dirty="0">
                <a:solidFill>
                  <a:schemeClr val="accent5">
                    <a:lumMod val="50000"/>
                  </a:schemeClr>
                </a:solidFill>
              </a:rPr>
              <a:t>The Other Side of Midnight </a:t>
            </a:r>
            <a:endParaRPr lang="pl-PL" sz="2400" b="1" dirty="0">
              <a:solidFill>
                <a:schemeClr val="accent5">
                  <a:lumMod val="50000"/>
                </a:schemeClr>
              </a:solidFill>
            </a:endParaRPr>
          </a:p>
        </p:txBody>
      </p:sp>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37600" y="1338263"/>
            <a:ext cx="3064046" cy="204065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Prostokąt 11"/>
          <p:cNvSpPr/>
          <p:nvPr/>
        </p:nvSpPr>
        <p:spPr>
          <a:xfrm>
            <a:off x="10042772" y="3527618"/>
            <a:ext cx="1413913" cy="461665"/>
          </a:xfrm>
          <a:prstGeom prst="rect">
            <a:avLst/>
          </a:prstGeom>
        </p:spPr>
        <p:txBody>
          <a:bodyPr wrap="none">
            <a:spAutoFit/>
          </a:bodyPr>
          <a:lstStyle/>
          <a:p>
            <a:r>
              <a:rPr lang="pl-PL" sz="2400" b="1" dirty="0">
                <a:solidFill>
                  <a:schemeClr val="accent5">
                    <a:lumMod val="50000"/>
                  </a:schemeClr>
                </a:solidFill>
              </a:rPr>
              <a:t>Star Wars</a:t>
            </a:r>
          </a:p>
        </p:txBody>
      </p:sp>
      <p:sp>
        <p:nvSpPr>
          <p:cNvPr id="13" name="Prostokąt 12"/>
          <p:cNvSpPr/>
          <p:nvPr/>
        </p:nvSpPr>
        <p:spPr>
          <a:xfrm>
            <a:off x="7437120" y="4426559"/>
            <a:ext cx="4145280" cy="1200329"/>
          </a:xfrm>
          <a:prstGeom prst="rect">
            <a:avLst/>
          </a:prstGeom>
        </p:spPr>
        <p:txBody>
          <a:bodyPr wrap="square">
            <a:spAutoFit/>
          </a:bodyPr>
          <a:lstStyle/>
          <a:p>
            <a:r>
              <a:rPr lang="en-US" sz="2400" b="1" dirty="0">
                <a:solidFill>
                  <a:schemeClr val="accent5">
                    <a:lumMod val="50000"/>
                  </a:schemeClr>
                </a:solidFill>
              </a:rPr>
              <a:t>Question:  Which film was the „Blockbuster”  for 20th Century Fox</a:t>
            </a:r>
            <a:r>
              <a:rPr lang="pl-PL" sz="2400" b="1" dirty="0">
                <a:solidFill>
                  <a:schemeClr val="accent5">
                    <a:lumMod val="50000"/>
                  </a:schemeClr>
                </a:solidFill>
              </a:rPr>
              <a:t> in 1976</a:t>
            </a:r>
            <a:r>
              <a:rPr lang="en-US" sz="2400" b="1" dirty="0">
                <a:solidFill>
                  <a:schemeClr val="accent5">
                    <a:lumMod val="50000"/>
                  </a:schemeClr>
                </a:solidFill>
              </a:rPr>
              <a:t>?  </a:t>
            </a:r>
          </a:p>
        </p:txBody>
      </p:sp>
      <p:pic>
        <p:nvPicPr>
          <p:cNvPr id="6" name="Picture 2" descr="http://t3.gstatic.com/images?q=tbn:ANd9GcTmYMqXSmMXuICfDnrcS8YRfLhsilfne0wFoIo4b1Wl3e1g4fo&amp;t=1&amp;usg=__GZeGi1PU_KXibWvjfoZJ2flpZf8=">
            <a:extLst>
              <a:ext uri="{FF2B5EF4-FFF2-40B4-BE49-F238E27FC236}">
                <a16:creationId xmlns:a16="http://schemas.microsoft.com/office/drawing/2014/main" id="{95DA206C-246B-B7C8-ED1C-B7F08A66FF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029" y="1372960"/>
            <a:ext cx="2486025"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http://t3.gstatic.com/images?q=tbn:ANd9GcTAqc5ZBMbj7_hKyNFcIkiby7yOPBqSa8iX_ZtqCcEC2hke_cc&amp;t=1&amp;usg=__iNOGXefYvyIk5VNlf-29WNvWeWg=">
            <a:extLst>
              <a:ext uri="{FF2B5EF4-FFF2-40B4-BE49-F238E27FC236}">
                <a16:creationId xmlns:a16="http://schemas.microsoft.com/office/drawing/2014/main" id="{AE6F6F1A-BF78-1A9D-2349-4F134F1201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1646" y="1288180"/>
            <a:ext cx="19145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Prostokąt 12">
            <a:extLst>
              <a:ext uri="{FF2B5EF4-FFF2-40B4-BE49-F238E27FC236}">
                <a16:creationId xmlns:a16="http://schemas.microsoft.com/office/drawing/2014/main" id="{49659C34-4B00-E641-E0DA-A03E583B1C7D}"/>
              </a:ext>
            </a:extLst>
          </p:cNvPr>
          <p:cNvSpPr/>
          <p:nvPr/>
        </p:nvSpPr>
        <p:spPr>
          <a:xfrm>
            <a:off x="169053" y="3668595"/>
            <a:ext cx="2832593" cy="1200329"/>
          </a:xfrm>
          <a:prstGeom prst="rect">
            <a:avLst/>
          </a:prstGeom>
        </p:spPr>
        <p:txBody>
          <a:bodyPr wrap="square">
            <a:spAutoFit/>
          </a:bodyPr>
          <a:lstStyle/>
          <a:p>
            <a:r>
              <a:rPr lang="pl-PL" sz="2400" b="1" dirty="0" err="1">
                <a:solidFill>
                  <a:schemeClr val="accent5">
                    <a:lumMod val="50000"/>
                  </a:schemeClr>
                </a:solidFill>
              </a:rPr>
              <a:t>What</a:t>
            </a:r>
            <a:r>
              <a:rPr lang="pl-PL" sz="2400" b="1" dirty="0">
                <a:solidFill>
                  <a:schemeClr val="accent5">
                    <a:lumMod val="50000"/>
                  </a:schemeClr>
                </a:solidFill>
              </a:rPr>
              <a:t> was the </a:t>
            </a:r>
            <a:r>
              <a:rPr lang="pl-PL" sz="2400" b="1" dirty="0" err="1">
                <a:solidFill>
                  <a:schemeClr val="accent5">
                    <a:lumMod val="50000"/>
                  </a:schemeClr>
                </a:solidFill>
              </a:rPr>
              <a:t>title</a:t>
            </a:r>
            <a:r>
              <a:rPr lang="pl-PL" sz="2400" b="1" dirty="0">
                <a:solidFill>
                  <a:schemeClr val="accent5">
                    <a:lumMod val="50000"/>
                  </a:schemeClr>
                </a:solidFill>
              </a:rPr>
              <a:t> of „</a:t>
            </a:r>
            <a:r>
              <a:rPr lang="en-US" sz="2400" b="1" dirty="0">
                <a:solidFill>
                  <a:schemeClr val="accent5">
                    <a:lumMod val="50000"/>
                  </a:schemeClr>
                </a:solidFill>
              </a:rPr>
              <a:t>Little movie</a:t>
            </a:r>
            <a:r>
              <a:rPr lang="pl-PL" sz="2400" b="1" dirty="0">
                <a:solidFill>
                  <a:schemeClr val="accent5">
                    <a:lumMod val="50000"/>
                  </a:schemeClr>
                </a:solidFill>
              </a:rPr>
              <a:t>” in 1976</a:t>
            </a:r>
            <a:r>
              <a:rPr lang="en-US" sz="2400" b="1" dirty="0">
                <a:solidFill>
                  <a:schemeClr val="accent5">
                    <a:lumMod val="50000"/>
                  </a:schemeClr>
                </a:solidFill>
              </a:rPr>
              <a:t>?  </a:t>
            </a:r>
          </a:p>
        </p:txBody>
      </p:sp>
    </p:spTree>
    <p:extLst>
      <p:ext uri="{BB962C8B-B14F-4D97-AF65-F5344CB8AC3E}">
        <p14:creationId xmlns:p14="http://schemas.microsoft.com/office/powerpoint/2010/main" val="83402748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ymbol zastępczy numeru slajdu 5"/>
          <p:cNvSpPr>
            <a:spLocks noGrp="1"/>
          </p:cNvSpPr>
          <p:nvPr>
            <p:ph type="sldNum" sz="quarter" idx="12"/>
          </p:nvPr>
        </p:nvSpPr>
        <p:spPr>
          <a:noFill/>
        </p:spPr>
        <p:txBody>
          <a:bodyPr/>
          <a:lstStyle/>
          <a:p>
            <a:fld id="{6343AABC-F10A-4B7E-925B-C88150FA78F4}" type="slidenum">
              <a:rPr lang="pl-PL" smtClean="0"/>
              <a:pPr/>
              <a:t>38</a:t>
            </a:fld>
            <a:endParaRPr lang="pl-PL"/>
          </a:p>
        </p:txBody>
      </p:sp>
      <p:sp>
        <p:nvSpPr>
          <p:cNvPr id="14339" name="Rectangle 2"/>
          <p:cNvSpPr>
            <a:spLocks noGrp="1" noChangeArrowheads="1"/>
          </p:cNvSpPr>
          <p:nvPr>
            <p:ph type="title"/>
          </p:nvPr>
        </p:nvSpPr>
        <p:spPr>
          <a:xfrm>
            <a:off x="0" y="0"/>
            <a:ext cx="12120880" cy="1012974"/>
          </a:xfrm>
          <a:solidFill>
            <a:schemeClr val="accent5">
              <a:lumMod val="20000"/>
              <a:lumOff val="80000"/>
            </a:schemeClr>
          </a:solidFill>
        </p:spPr>
        <p:txBody>
          <a:bodyPr>
            <a:normAutofit/>
          </a:bodyPr>
          <a:lstStyle/>
          <a:p>
            <a:r>
              <a:rPr lang="en-US" sz="3600" b="1" dirty="0">
                <a:solidFill>
                  <a:schemeClr val="accent5">
                    <a:lumMod val="50000"/>
                  </a:schemeClr>
                </a:solidFill>
              </a:rPr>
              <a:t>Bundling of films</a:t>
            </a:r>
          </a:p>
        </p:txBody>
      </p:sp>
      <p:sp>
        <p:nvSpPr>
          <p:cNvPr id="5" name="Symbol zastępczy zawartości 2"/>
          <p:cNvSpPr txBox="1">
            <a:spLocks/>
          </p:cNvSpPr>
          <p:nvPr/>
        </p:nvSpPr>
        <p:spPr bwMode="auto">
          <a:xfrm>
            <a:off x="2238376" y="1643064"/>
            <a:ext cx="7858125" cy="928687"/>
          </a:xfrm>
          <a:prstGeom prst="rect">
            <a:avLst/>
          </a:prstGeom>
          <a:noFill/>
          <a:ln w="9525">
            <a:noFill/>
            <a:miter lim="800000"/>
            <a:headEnd/>
            <a:tailEnd/>
          </a:ln>
        </p:spPr>
        <p:txBody>
          <a:bodyPr/>
          <a:lstStyle/>
          <a:p>
            <a:pPr marL="469900" indent="-469900" eaLnBrk="0" hangingPunct="0">
              <a:spcBef>
                <a:spcPct val="20000"/>
              </a:spcBef>
              <a:buClr>
                <a:srgbClr val="992035"/>
              </a:buClr>
              <a:buSzPct val="150000"/>
              <a:buFont typeface="Wingdings" pitchFamily="2" charset="2"/>
              <a:buChar char="§"/>
              <a:defRPr/>
            </a:pPr>
            <a:endParaRPr lang="pl-PL" sz="2400" b="1" kern="0" dirty="0">
              <a:solidFill>
                <a:schemeClr val="accent5">
                  <a:lumMod val="50000"/>
                </a:schemeClr>
              </a:solidFill>
            </a:endParaRPr>
          </a:p>
        </p:txBody>
      </p:sp>
      <p:graphicFrame>
        <p:nvGraphicFramePr>
          <p:cNvPr id="6" name="Tabela 5"/>
          <p:cNvGraphicFramePr>
            <a:graphicFrameLocks noGrp="1"/>
          </p:cNvGraphicFramePr>
          <p:nvPr/>
        </p:nvGraphicFramePr>
        <p:xfrm>
          <a:off x="2252764" y="2348880"/>
          <a:ext cx="7659660" cy="2199148"/>
        </p:xfrm>
        <a:graphic>
          <a:graphicData uri="http://schemas.openxmlformats.org/drawingml/2006/table">
            <a:tbl>
              <a:tblPr firstRow="1" bandRow="1">
                <a:tableStyleId>{0E3FDE45-AF77-4B5C-9715-49D594BDF05E}</a:tableStyleId>
              </a:tblPr>
              <a:tblGrid>
                <a:gridCol w="1914915">
                  <a:extLst>
                    <a:ext uri="{9D8B030D-6E8A-4147-A177-3AD203B41FA5}">
                      <a16:colId xmlns:a16="http://schemas.microsoft.com/office/drawing/2014/main" val="20000"/>
                    </a:ext>
                  </a:extLst>
                </a:gridCol>
                <a:gridCol w="1914915">
                  <a:extLst>
                    <a:ext uri="{9D8B030D-6E8A-4147-A177-3AD203B41FA5}">
                      <a16:colId xmlns:a16="http://schemas.microsoft.com/office/drawing/2014/main" val="20001"/>
                    </a:ext>
                  </a:extLst>
                </a:gridCol>
                <a:gridCol w="1914915">
                  <a:extLst>
                    <a:ext uri="{9D8B030D-6E8A-4147-A177-3AD203B41FA5}">
                      <a16:colId xmlns:a16="http://schemas.microsoft.com/office/drawing/2014/main" val="20002"/>
                    </a:ext>
                  </a:extLst>
                </a:gridCol>
                <a:gridCol w="1914915">
                  <a:extLst>
                    <a:ext uri="{9D8B030D-6E8A-4147-A177-3AD203B41FA5}">
                      <a16:colId xmlns:a16="http://schemas.microsoft.com/office/drawing/2014/main" val="20003"/>
                    </a:ext>
                  </a:extLst>
                </a:gridCol>
              </a:tblGrid>
              <a:tr h="622906">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 </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a:t>
                      </a:r>
                      <a:r>
                        <a:rPr lang="pl-PL" b="1" dirty="0" err="1">
                          <a:solidFill>
                            <a:schemeClr val="accent5">
                              <a:lumMod val="50000"/>
                            </a:schemeClr>
                          </a:solidFill>
                          <a:effectLst>
                            <a:outerShdw blurRad="38100" dist="38100" dir="2700000" algn="tl">
                              <a:srgbClr val="000000">
                                <a:alpha val="43137"/>
                              </a:srgbClr>
                            </a:outerShdw>
                          </a:effectLst>
                        </a:rPr>
                        <a:t>Blockbuster</a:t>
                      </a:r>
                      <a:r>
                        <a:rPr lang="pl-PL" b="1" dirty="0">
                          <a:solidFill>
                            <a:schemeClr val="accent5">
                              <a:lumMod val="50000"/>
                            </a:schemeClr>
                          </a:solidFill>
                          <a:effectLst>
                            <a:outerShdw blurRad="38100" dist="38100" dir="2700000" algn="tl">
                              <a:srgbClr val="000000">
                                <a:alpha val="43137"/>
                              </a:srgbClr>
                            </a:outerShdw>
                          </a:effectLst>
                        </a:rPr>
                        <a:t>”</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„Little </a:t>
                      </a:r>
                      <a:r>
                        <a:rPr lang="pl-PL" b="1" dirty="0" err="1">
                          <a:solidFill>
                            <a:schemeClr val="accent5">
                              <a:lumMod val="50000"/>
                            </a:schemeClr>
                          </a:solidFill>
                          <a:effectLst>
                            <a:outerShdw blurRad="38100" dist="38100" dir="2700000" algn="tl">
                              <a:srgbClr val="000000">
                                <a:alpha val="43137"/>
                              </a:srgbClr>
                            </a:outerShdw>
                          </a:effectLst>
                        </a:rPr>
                        <a:t>movie</a:t>
                      </a:r>
                      <a:r>
                        <a:rPr lang="pl-PL" b="1" dirty="0">
                          <a:solidFill>
                            <a:schemeClr val="accent5">
                              <a:lumMod val="50000"/>
                            </a:schemeClr>
                          </a:solidFill>
                          <a:effectLst>
                            <a:outerShdw blurRad="38100" dist="38100" dir="2700000" algn="tl">
                              <a:srgbClr val="000000">
                                <a:alpha val="43137"/>
                              </a:srgbClr>
                            </a:outerShdw>
                          </a:effectLst>
                        </a:rPr>
                        <a:t>”</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Bundle</a:t>
                      </a:r>
                    </a:p>
                  </a:txBody>
                  <a:tcPr/>
                </a:tc>
                <a:extLst>
                  <a:ext uri="{0D108BD9-81ED-4DB2-BD59-A6C34878D82A}">
                    <a16:rowId xmlns:a16="http://schemas.microsoft.com/office/drawing/2014/main" val="10000"/>
                  </a:ext>
                </a:extLst>
              </a:tr>
              <a:tr h="525414">
                <a:tc>
                  <a:txBody>
                    <a:bodyPr/>
                    <a:lstStyle/>
                    <a:p>
                      <a:pPr algn="ctr"/>
                      <a:r>
                        <a:rPr lang="pl-PL" b="1" dirty="0" err="1">
                          <a:solidFill>
                            <a:schemeClr val="accent5">
                              <a:lumMod val="50000"/>
                            </a:schemeClr>
                          </a:solidFill>
                          <a:effectLst>
                            <a:outerShdw blurRad="38100" dist="38100" dir="2700000" algn="tl">
                              <a:srgbClr val="000000">
                                <a:alpha val="43137"/>
                              </a:srgbClr>
                            </a:outerShdw>
                          </a:effectLst>
                        </a:rPr>
                        <a:t>Cinema</a:t>
                      </a:r>
                      <a:r>
                        <a:rPr lang="pl-PL" b="1" dirty="0">
                          <a:solidFill>
                            <a:schemeClr val="accent5">
                              <a:lumMod val="50000"/>
                            </a:schemeClr>
                          </a:solidFill>
                          <a:effectLst>
                            <a:outerShdw blurRad="38100" dist="38100" dir="2700000" algn="tl">
                              <a:srgbClr val="000000">
                                <a:alpha val="43137"/>
                              </a:srgbClr>
                            </a:outerShdw>
                          </a:effectLst>
                        </a:rPr>
                        <a:t> A</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70</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35</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90</a:t>
                      </a:r>
                    </a:p>
                  </a:txBody>
                  <a:tcPr/>
                </a:tc>
                <a:extLst>
                  <a:ext uri="{0D108BD9-81ED-4DB2-BD59-A6C34878D82A}">
                    <a16:rowId xmlns:a16="http://schemas.microsoft.com/office/drawing/2014/main" val="10001"/>
                  </a:ext>
                </a:extLst>
              </a:tr>
              <a:tr h="525414">
                <a:tc>
                  <a:txBody>
                    <a:bodyPr/>
                    <a:lstStyle/>
                    <a:p>
                      <a:pPr algn="ctr"/>
                      <a:r>
                        <a:rPr lang="pl-PL" b="1" dirty="0" err="1">
                          <a:solidFill>
                            <a:schemeClr val="accent5">
                              <a:lumMod val="50000"/>
                            </a:schemeClr>
                          </a:solidFill>
                          <a:effectLst>
                            <a:outerShdw blurRad="38100" dist="38100" dir="2700000" algn="tl">
                              <a:srgbClr val="000000">
                                <a:alpha val="43137"/>
                              </a:srgbClr>
                            </a:outerShdw>
                          </a:effectLst>
                        </a:rPr>
                        <a:t>Cinema</a:t>
                      </a:r>
                      <a:r>
                        <a:rPr lang="pl-PL" b="1" dirty="0">
                          <a:solidFill>
                            <a:schemeClr val="accent5">
                              <a:lumMod val="50000"/>
                            </a:schemeClr>
                          </a:solidFill>
                          <a:effectLst>
                            <a:outerShdw blurRad="38100" dist="38100" dir="2700000" algn="tl">
                              <a:srgbClr val="000000">
                                <a:alpha val="43137"/>
                              </a:srgbClr>
                            </a:outerShdw>
                          </a:effectLst>
                        </a:rPr>
                        <a:t> B</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40</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65</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90</a:t>
                      </a:r>
                    </a:p>
                  </a:txBody>
                  <a:tcPr/>
                </a:tc>
                <a:extLst>
                  <a:ext uri="{0D108BD9-81ED-4DB2-BD59-A6C34878D82A}">
                    <a16:rowId xmlns:a16="http://schemas.microsoft.com/office/drawing/2014/main" val="10002"/>
                  </a:ext>
                </a:extLst>
              </a:tr>
              <a:tr h="525414">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 </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(2*40)=80</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(2*35)</a:t>
                      </a:r>
                      <a:r>
                        <a:rPr lang="pl-PL" b="1" baseline="0" dirty="0">
                          <a:solidFill>
                            <a:schemeClr val="accent5">
                              <a:lumMod val="50000"/>
                            </a:schemeClr>
                          </a:solidFill>
                          <a:effectLst>
                            <a:outerShdw blurRad="38100" dist="38100" dir="2700000" algn="tl">
                              <a:srgbClr val="000000">
                                <a:alpha val="43137"/>
                              </a:srgbClr>
                            </a:outerShdw>
                          </a:effectLst>
                        </a:rPr>
                        <a:t> =</a:t>
                      </a:r>
                      <a:r>
                        <a:rPr lang="pl-PL" b="1" dirty="0">
                          <a:solidFill>
                            <a:schemeClr val="accent5">
                              <a:lumMod val="50000"/>
                            </a:schemeClr>
                          </a:solidFill>
                          <a:effectLst>
                            <a:outerShdw blurRad="38100" dist="38100" dir="2700000" algn="tl">
                              <a:srgbClr val="000000">
                                <a:alpha val="43137"/>
                              </a:srgbClr>
                            </a:outerShdw>
                          </a:effectLst>
                        </a:rPr>
                        <a:t>70</a:t>
                      </a:r>
                    </a:p>
                  </a:txBody>
                  <a:tcPr/>
                </a:tc>
                <a:tc>
                  <a:txBody>
                    <a:bodyPr/>
                    <a:lstStyle/>
                    <a:p>
                      <a:pPr algn="ctr"/>
                      <a:r>
                        <a:rPr lang="pl-PL" b="1" dirty="0">
                          <a:solidFill>
                            <a:schemeClr val="accent5">
                              <a:lumMod val="50000"/>
                            </a:schemeClr>
                          </a:solidFill>
                          <a:effectLst>
                            <a:outerShdw blurRad="38100" dist="38100" dir="2700000" algn="tl">
                              <a:srgbClr val="000000">
                                <a:alpha val="43137"/>
                              </a:srgbClr>
                            </a:outerShdw>
                          </a:effectLst>
                        </a:rPr>
                        <a:t>150/180</a:t>
                      </a:r>
                    </a:p>
                  </a:txBody>
                  <a:tcPr/>
                </a:tc>
                <a:extLst>
                  <a:ext uri="{0D108BD9-81ED-4DB2-BD59-A6C34878D82A}">
                    <a16:rowId xmlns:a16="http://schemas.microsoft.com/office/drawing/2014/main" val="10003"/>
                  </a:ext>
                </a:extLst>
              </a:tr>
            </a:tbl>
          </a:graphicData>
        </a:graphic>
      </p:graphicFrame>
      <p:sp>
        <p:nvSpPr>
          <p:cNvPr id="13" name="Prostokąt 12"/>
          <p:cNvSpPr/>
          <p:nvPr/>
        </p:nvSpPr>
        <p:spPr>
          <a:xfrm>
            <a:off x="613262" y="5134057"/>
            <a:ext cx="8977779" cy="830997"/>
          </a:xfrm>
          <a:prstGeom prst="rect">
            <a:avLst/>
          </a:prstGeom>
        </p:spPr>
        <p:txBody>
          <a:bodyPr wrap="none">
            <a:spAutoFit/>
          </a:bodyPr>
          <a:lstStyle/>
          <a:p>
            <a:r>
              <a:rPr lang="en-GB" sz="2400" b="1" dirty="0">
                <a:solidFill>
                  <a:schemeClr val="accent5">
                    <a:lumMod val="50000"/>
                  </a:schemeClr>
                </a:solidFill>
              </a:rPr>
              <a:t>If the </a:t>
            </a:r>
            <a:r>
              <a:rPr lang="pl-PL" sz="2400" b="1" dirty="0" err="1">
                <a:solidFill>
                  <a:schemeClr val="accent5">
                    <a:lumMod val="50000"/>
                  </a:schemeClr>
                </a:solidFill>
              </a:rPr>
              <a:t>cinema</a:t>
            </a:r>
            <a:r>
              <a:rPr lang="pl-PL" sz="2400" b="1" dirty="0">
                <a:solidFill>
                  <a:schemeClr val="accent5">
                    <a:lumMod val="50000"/>
                  </a:schemeClr>
                </a:solidFill>
              </a:rPr>
              <a:t> </a:t>
            </a:r>
            <a:r>
              <a:rPr lang="en-GB" sz="2400" b="1" dirty="0">
                <a:solidFill>
                  <a:schemeClr val="accent5">
                    <a:lumMod val="50000"/>
                  </a:schemeClr>
                </a:solidFill>
              </a:rPr>
              <a:t>owners</a:t>
            </a:r>
            <a:r>
              <a:rPr lang="pl-PL" sz="2400" b="1" dirty="0">
                <a:solidFill>
                  <a:schemeClr val="accent5">
                    <a:lumMod val="50000"/>
                  </a:schemeClr>
                </a:solidFill>
              </a:rPr>
              <a:t>’</a:t>
            </a:r>
            <a:r>
              <a:rPr lang="en-GB" sz="2400" b="1" dirty="0">
                <a:solidFill>
                  <a:schemeClr val="accent5">
                    <a:lumMod val="50000"/>
                  </a:schemeClr>
                </a:solidFill>
              </a:rPr>
              <a:t> valuation of the films are negatively correlated </a:t>
            </a:r>
          </a:p>
          <a:p>
            <a:r>
              <a:rPr lang="en-GB" sz="2400" b="1" dirty="0">
                <a:solidFill>
                  <a:schemeClr val="accent5">
                    <a:lumMod val="50000"/>
                  </a:schemeClr>
                </a:solidFill>
              </a:rPr>
              <a:t>then cinemas and film distributors are gaining</a:t>
            </a:r>
            <a:r>
              <a:rPr lang="pl-PL" sz="2400" b="1" dirty="0">
                <a:solidFill>
                  <a:schemeClr val="accent5">
                    <a:lumMod val="50000"/>
                  </a:schemeClr>
                </a:solidFill>
              </a:rPr>
              <a:t>.</a:t>
            </a:r>
            <a:endParaRPr lang="en-GB" sz="2400" b="1" dirty="0">
              <a:solidFill>
                <a:schemeClr val="accent5">
                  <a:lumMod val="50000"/>
                </a:schemeClr>
              </a:solidFill>
            </a:endParaRPr>
          </a:p>
        </p:txBody>
      </p:sp>
      <p:sp>
        <p:nvSpPr>
          <p:cNvPr id="15" name="Prostokąt 14"/>
          <p:cNvSpPr/>
          <p:nvPr/>
        </p:nvSpPr>
        <p:spPr>
          <a:xfrm>
            <a:off x="686435" y="1180181"/>
            <a:ext cx="10103485" cy="584775"/>
          </a:xfrm>
          <a:prstGeom prst="rect">
            <a:avLst/>
          </a:prstGeom>
        </p:spPr>
        <p:txBody>
          <a:bodyPr wrap="square">
            <a:spAutoFit/>
          </a:bodyPr>
          <a:lstStyle/>
          <a:p>
            <a:r>
              <a:rPr lang="en-GB" sz="3200" b="1" dirty="0">
                <a:solidFill>
                  <a:schemeClr val="accent5">
                    <a:lumMod val="50000"/>
                  </a:schemeClr>
                </a:solidFill>
              </a:rPr>
              <a:t>Expected value of films for the </a:t>
            </a:r>
            <a:r>
              <a:rPr lang="pl-PL" sz="3200" b="1" dirty="0">
                <a:solidFill>
                  <a:schemeClr val="accent5">
                    <a:lumMod val="50000"/>
                  </a:schemeClr>
                </a:solidFill>
              </a:rPr>
              <a:t>„</a:t>
            </a:r>
            <a:r>
              <a:rPr lang="pl-PL" sz="3200" b="1" dirty="0" err="1">
                <a:solidFill>
                  <a:schemeClr val="accent5">
                    <a:lumMod val="50000"/>
                  </a:schemeClr>
                </a:solidFill>
              </a:rPr>
              <a:t>typical</a:t>
            </a:r>
            <a:r>
              <a:rPr lang="pl-PL" sz="3200" b="1" dirty="0">
                <a:solidFill>
                  <a:schemeClr val="accent5">
                    <a:lumMod val="50000"/>
                  </a:schemeClr>
                </a:solidFill>
              </a:rPr>
              <a:t>” </a:t>
            </a:r>
            <a:r>
              <a:rPr lang="en-GB" sz="3200" b="1" dirty="0">
                <a:solidFill>
                  <a:schemeClr val="accent5">
                    <a:lumMod val="50000"/>
                  </a:schemeClr>
                </a:solidFill>
              </a:rPr>
              <a:t>cinema owners.   </a:t>
            </a:r>
          </a:p>
        </p:txBody>
      </p:sp>
    </p:spTree>
    <p:extLst>
      <p:ext uri="{BB962C8B-B14F-4D97-AF65-F5344CB8AC3E}">
        <p14:creationId xmlns:p14="http://schemas.microsoft.com/office/powerpoint/2010/main" val="255140862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ytuł 1"/>
          <p:cNvSpPr>
            <a:spLocks noGrp="1"/>
          </p:cNvSpPr>
          <p:nvPr>
            <p:ph type="title"/>
          </p:nvPr>
        </p:nvSpPr>
        <p:spPr>
          <a:xfrm>
            <a:off x="-81280" y="5617"/>
            <a:ext cx="12273280" cy="1143000"/>
          </a:xfrm>
          <a:solidFill>
            <a:schemeClr val="accent5">
              <a:lumMod val="20000"/>
              <a:lumOff val="80000"/>
            </a:schemeClr>
          </a:solidFill>
        </p:spPr>
        <p:txBody>
          <a:bodyPr>
            <a:normAutofit/>
          </a:bodyPr>
          <a:lstStyle/>
          <a:p>
            <a:r>
              <a:rPr lang="pl-PL" b="1" dirty="0">
                <a:solidFill>
                  <a:schemeClr val="accent5">
                    <a:lumMod val="50000"/>
                  </a:schemeClr>
                </a:solidFill>
              </a:rPr>
              <a:t>NOW – </a:t>
            </a:r>
            <a:r>
              <a:rPr lang="pl-PL" b="1" dirty="0" err="1">
                <a:solidFill>
                  <a:schemeClr val="accent5">
                    <a:lumMod val="50000"/>
                  </a:schemeClr>
                </a:solidFill>
              </a:rPr>
              <a:t>bundles</a:t>
            </a:r>
            <a:r>
              <a:rPr lang="pl-PL" b="1" dirty="0">
                <a:solidFill>
                  <a:schemeClr val="accent5">
                    <a:lumMod val="50000"/>
                  </a:schemeClr>
                </a:solidFill>
              </a:rPr>
              <a:t> </a:t>
            </a:r>
            <a:r>
              <a:rPr lang="pl-PL" b="1" dirty="0" err="1">
                <a:solidFill>
                  <a:schemeClr val="accent5">
                    <a:lumMod val="50000"/>
                  </a:schemeClr>
                </a:solidFill>
              </a:rPr>
              <a:t>are</a:t>
            </a:r>
            <a:r>
              <a:rPr lang="pl-PL" b="1" dirty="0">
                <a:solidFill>
                  <a:schemeClr val="accent5">
                    <a:lumMod val="50000"/>
                  </a:schemeClr>
                </a:solidFill>
              </a:rPr>
              <a:t> </a:t>
            </a:r>
            <a:r>
              <a:rPr lang="pl-PL" b="1" dirty="0" err="1">
                <a:solidFill>
                  <a:schemeClr val="accent5">
                    <a:lumMod val="50000"/>
                  </a:schemeClr>
                </a:solidFill>
              </a:rPr>
              <a:t>everywhere</a:t>
            </a:r>
            <a:endParaRPr lang="en-US" b="1" dirty="0">
              <a:solidFill>
                <a:schemeClr val="accent5">
                  <a:lumMod val="50000"/>
                </a:schemeClr>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465" y="1394375"/>
            <a:ext cx="2604361"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7728" y="1484784"/>
            <a:ext cx="3086100" cy="1485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3669" y="1158567"/>
            <a:ext cx="3009900"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descr="Image result for bundling mcdonald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51984" y="3465142"/>
            <a:ext cx="4609770" cy="3060202"/>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9576" y="3204218"/>
            <a:ext cx="3312368"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0066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ymbol zastępczy numeru slajdu 5"/>
          <p:cNvSpPr>
            <a:spLocks noGrp="1"/>
          </p:cNvSpPr>
          <p:nvPr>
            <p:ph type="sldNum" sz="quarter" idx="12"/>
          </p:nvPr>
        </p:nvSpPr>
        <p:spPr>
          <a:noFill/>
        </p:spPr>
        <p:txBody>
          <a:bodyPr/>
          <a:lstStyle/>
          <a:p>
            <a:fld id="{6343AABC-F10A-4B7E-925B-C88150FA78F4}" type="slidenum">
              <a:rPr lang="pl-PL" smtClean="0"/>
              <a:pPr/>
              <a:t>40</a:t>
            </a:fld>
            <a:endParaRPr lang="pl-PL"/>
          </a:p>
        </p:txBody>
      </p:sp>
      <p:sp>
        <p:nvSpPr>
          <p:cNvPr id="13" name="Prostokąt 12"/>
          <p:cNvSpPr/>
          <p:nvPr/>
        </p:nvSpPr>
        <p:spPr>
          <a:xfrm>
            <a:off x="883920" y="1358425"/>
            <a:ext cx="10627360" cy="4893647"/>
          </a:xfrm>
          <a:prstGeom prst="rect">
            <a:avLst/>
          </a:prstGeom>
        </p:spPr>
        <p:txBody>
          <a:bodyPr wrap="square">
            <a:spAutoFit/>
          </a:bodyPr>
          <a:lstStyle/>
          <a:p>
            <a:pPr algn="just"/>
            <a:r>
              <a:rPr lang="en-GB" sz="2400" b="1" dirty="0">
                <a:solidFill>
                  <a:schemeClr val="accent5">
                    <a:lumMod val="50000"/>
                  </a:schemeClr>
                </a:solidFill>
              </a:rPr>
              <a:t>Adams and Yellen (1976) presented more formal analysis </a:t>
            </a:r>
          </a:p>
          <a:p>
            <a:pPr algn="just"/>
            <a:r>
              <a:rPr lang="en-GB" sz="2400" b="1" dirty="0">
                <a:solidFill>
                  <a:schemeClr val="accent5">
                    <a:lumMod val="50000"/>
                  </a:schemeClr>
                </a:solidFill>
              </a:rPr>
              <a:t>of the problem </a:t>
            </a:r>
          </a:p>
          <a:p>
            <a:endParaRPr lang="en-GB" sz="2400" b="1" dirty="0">
              <a:solidFill>
                <a:schemeClr val="accent5">
                  <a:lumMod val="50000"/>
                </a:schemeClr>
              </a:solidFill>
            </a:endParaRPr>
          </a:p>
          <a:p>
            <a:r>
              <a:rPr lang="en-GB" sz="2400" b="1" dirty="0">
                <a:solidFill>
                  <a:schemeClr val="accent5">
                    <a:lumMod val="50000"/>
                  </a:schemeClr>
                </a:solidFill>
              </a:rPr>
              <a:t>Monopolistic firm</a:t>
            </a:r>
          </a:p>
          <a:p>
            <a:pPr marL="342900" indent="-342900">
              <a:buFont typeface="Arial" panose="020B0604020202020204" pitchFamily="34" charset="0"/>
              <a:buChar char="•"/>
            </a:pPr>
            <a:r>
              <a:rPr lang="en-GB" sz="2400" dirty="0">
                <a:solidFill>
                  <a:schemeClr val="accent5">
                    <a:lumMod val="50000"/>
                  </a:schemeClr>
                </a:solidFill>
              </a:rPr>
              <a:t>produces two goods x</a:t>
            </a:r>
            <a:r>
              <a:rPr lang="en-GB" sz="2400" baseline="-25000" dirty="0">
                <a:solidFill>
                  <a:schemeClr val="accent5">
                    <a:lumMod val="50000"/>
                  </a:schemeClr>
                </a:solidFill>
              </a:rPr>
              <a:t>1</a:t>
            </a:r>
            <a:r>
              <a:rPr lang="en-GB" sz="2400" dirty="0">
                <a:solidFill>
                  <a:schemeClr val="accent5">
                    <a:lumMod val="50000"/>
                  </a:schemeClr>
                </a:solidFill>
              </a:rPr>
              <a:t>, x</a:t>
            </a:r>
            <a:r>
              <a:rPr lang="en-GB" sz="2400" baseline="-25000" dirty="0">
                <a:solidFill>
                  <a:schemeClr val="accent5">
                    <a:lumMod val="50000"/>
                  </a:schemeClr>
                </a:solidFill>
              </a:rPr>
              <a:t>2</a:t>
            </a:r>
          </a:p>
          <a:p>
            <a:pPr marL="342900" indent="-342900">
              <a:buFont typeface="Arial" panose="020B0604020202020204" pitchFamily="34" charset="0"/>
              <a:buChar char="•"/>
            </a:pPr>
            <a:r>
              <a:rPr lang="en-GB" sz="2400" dirty="0">
                <a:solidFill>
                  <a:schemeClr val="accent5">
                    <a:lumMod val="50000"/>
                  </a:schemeClr>
                </a:solidFill>
              </a:rPr>
              <a:t>marginal cost of production is c</a:t>
            </a:r>
            <a:r>
              <a:rPr lang="en-GB" sz="2400" baseline="-25000" dirty="0">
                <a:solidFill>
                  <a:schemeClr val="accent5">
                    <a:lumMod val="50000"/>
                  </a:schemeClr>
                </a:solidFill>
              </a:rPr>
              <a:t>1</a:t>
            </a:r>
            <a:r>
              <a:rPr lang="en-GB" sz="2400" dirty="0">
                <a:solidFill>
                  <a:schemeClr val="accent5">
                    <a:lumMod val="50000"/>
                  </a:schemeClr>
                </a:solidFill>
              </a:rPr>
              <a:t> = c</a:t>
            </a:r>
            <a:r>
              <a:rPr lang="en-GB" sz="2400" baseline="-25000" dirty="0">
                <a:solidFill>
                  <a:schemeClr val="accent5">
                    <a:lumMod val="50000"/>
                  </a:schemeClr>
                </a:solidFill>
              </a:rPr>
              <a:t>2</a:t>
            </a:r>
            <a:r>
              <a:rPr lang="en-GB" sz="2400" dirty="0">
                <a:solidFill>
                  <a:schemeClr val="accent5">
                    <a:lumMod val="50000"/>
                  </a:schemeClr>
                </a:solidFill>
              </a:rPr>
              <a:t>, </a:t>
            </a:r>
          </a:p>
          <a:p>
            <a:pPr marL="342900" indent="-342900">
              <a:buFont typeface="Arial" panose="020B0604020202020204" pitchFamily="34" charset="0"/>
              <a:buChar char="•"/>
            </a:pPr>
            <a:r>
              <a:rPr lang="en-GB" sz="2400" dirty="0">
                <a:solidFill>
                  <a:schemeClr val="accent5">
                    <a:lumMod val="50000"/>
                  </a:schemeClr>
                </a:solidFill>
              </a:rPr>
              <a:t>no economies of scale and scope /cost of bundle equals sum of separate costs </a:t>
            </a:r>
            <a:r>
              <a:rPr lang="en-GB" sz="2400" dirty="0" err="1">
                <a:solidFill>
                  <a:schemeClr val="accent5">
                    <a:lumMod val="50000"/>
                  </a:schemeClr>
                </a:solidFill>
              </a:rPr>
              <a:t>c</a:t>
            </a:r>
            <a:r>
              <a:rPr lang="en-GB" sz="2400" baseline="-25000" dirty="0" err="1">
                <a:solidFill>
                  <a:schemeClr val="accent5">
                    <a:lumMod val="50000"/>
                  </a:schemeClr>
                </a:solidFill>
              </a:rPr>
              <a:t>b</a:t>
            </a:r>
            <a:r>
              <a:rPr lang="en-GB" sz="2400" dirty="0">
                <a:solidFill>
                  <a:schemeClr val="accent5">
                    <a:lumMod val="50000"/>
                  </a:schemeClr>
                </a:solidFill>
              </a:rPr>
              <a:t> = c</a:t>
            </a:r>
            <a:r>
              <a:rPr lang="en-GB" sz="2400" baseline="-25000" dirty="0">
                <a:solidFill>
                  <a:schemeClr val="accent5">
                    <a:lumMod val="50000"/>
                  </a:schemeClr>
                </a:solidFill>
              </a:rPr>
              <a:t>1</a:t>
            </a:r>
            <a:r>
              <a:rPr lang="en-GB" sz="2400" dirty="0">
                <a:solidFill>
                  <a:schemeClr val="accent5">
                    <a:lumMod val="50000"/>
                  </a:schemeClr>
                </a:solidFill>
              </a:rPr>
              <a:t> + c</a:t>
            </a:r>
            <a:r>
              <a:rPr lang="en-GB" sz="2400" baseline="-25000" dirty="0">
                <a:solidFill>
                  <a:schemeClr val="accent5">
                    <a:lumMod val="50000"/>
                  </a:schemeClr>
                </a:solidFill>
              </a:rPr>
              <a:t>2</a:t>
            </a:r>
            <a:r>
              <a:rPr lang="en-GB" sz="2400" dirty="0">
                <a:solidFill>
                  <a:schemeClr val="accent5">
                    <a:lumMod val="50000"/>
                  </a:schemeClr>
                </a:solidFill>
              </a:rPr>
              <a:t> </a:t>
            </a:r>
          </a:p>
          <a:p>
            <a:r>
              <a:rPr lang="en-GB" sz="2400" b="1" dirty="0">
                <a:solidFill>
                  <a:schemeClr val="accent5">
                    <a:lumMod val="50000"/>
                  </a:schemeClr>
                </a:solidFill>
              </a:rPr>
              <a:t>Consumers</a:t>
            </a:r>
          </a:p>
          <a:p>
            <a:pPr marL="342900" indent="-342900">
              <a:buFont typeface="Arial" panose="020B0604020202020204" pitchFamily="34" charset="0"/>
              <a:buChar char="•"/>
            </a:pPr>
            <a:r>
              <a:rPr lang="en-GB" sz="2400" dirty="0">
                <a:solidFill>
                  <a:schemeClr val="accent5">
                    <a:lumMod val="50000"/>
                  </a:schemeClr>
                </a:solidFill>
              </a:rPr>
              <a:t>want </a:t>
            </a:r>
            <a:r>
              <a:rPr lang="pl-PL" sz="2400" dirty="0">
                <a:solidFill>
                  <a:schemeClr val="accent5">
                    <a:lumMod val="50000"/>
                  </a:schemeClr>
                </a:solidFill>
              </a:rPr>
              <a:t>to </a:t>
            </a:r>
            <a:r>
              <a:rPr lang="en-GB" sz="2400" dirty="0">
                <a:solidFill>
                  <a:schemeClr val="accent5">
                    <a:lumMod val="50000"/>
                  </a:schemeClr>
                </a:solidFill>
              </a:rPr>
              <a:t>buy only one unit of good x1 and x2, marginal utility of a second unit of each good = 0</a:t>
            </a:r>
          </a:p>
          <a:p>
            <a:pPr marL="342900" indent="-342900">
              <a:buFont typeface="Arial" panose="020B0604020202020204" pitchFamily="34" charset="0"/>
              <a:buChar char="•"/>
            </a:pPr>
            <a:r>
              <a:rPr lang="en-GB" sz="2400" dirty="0">
                <a:solidFill>
                  <a:schemeClr val="accent5">
                    <a:lumMod val="50000"/>
                  </a:schemeClr>
                </a:solidFill>
              </a:rPr>
              <a:t>good</a:t>
            </a:r>
            <a:r>
              <a:rPr lang="pl-PL" sz="2400" dirty="0">
                <a:solidFill>
                  <a:schemeClr val="accent5">
                    <a:lumMod val="50000"/>
                  </a:schemeClr>
                </a:solidFill>
              </a:rPr>
              <a:t>s</a:t>
            </a:r>
            <a:r>
              <a:rPr lang="en-GB" sz="2400" dirty="0">
                <a:solidFill>
                  <a:schemeClr val="accent5">
                    <a:lumMod val="50000"/>
                  </a:schemeClr>
                </a:solidFill>
              </a:rPr>
              <a:t> x1, x2 are neither substitutes or complements to each other / reservation price of bundle equals sum of separate reservation prices </a:t>
            </a:r>
            <a:r>
              <a:rPr lang="en-GB" sz="2400" b="1" dirty="0" err="1">
                <a:solidFill>
                  <a:schemeClr val="accent5">
                    <a:lumMod val="50000"/>
                  </a:schemeClr>
                </a:solidFill>
              </a:rPr>
              <a:t>r</a:t>
            </a:r>
            <a:r>
              <a:rPr lang="en-GB" sz="2400" b="1" baseline="-25000" dirty="0" err="1">
                <a:solidFill>
                  <a:schemeClr val="accent5">
                    <a:lumMod val="50000"/>
                  </a:schemeClr>
                </a:solidFill>
              </a:rPr>
              <a:t>b</a:t>
            </a:r>
            <a:r>
              <a:rPr lang="en-GB" sz="2400" b="1" baseline="-25000" dirty="0">
                <a:solidFill>
                  <a:schemeClr val="accent5">
                    <a:lumMod val="50000"/>
                  </a:schemeClr>
                </a:solidFill>
              </a:rPr>
              <a:t> </a:t>
            </a:r>
            <a:r>
              <a:rPr lang="en-GB" sz="2400" b="1" dirty="0">
                <a:solidFill>
                  <a:schemeClr val="accent5">
                    <a:lumMod val="50000"/>
                  </a:schemeClr>
                </a:solidFill>
              </a:rPr>
              <a:t>= r</a:t>
            </a:r>
            <a:r>
              <a:rPr lang="en-GB" sz="2400" b="1" baseline="-25000" dirty="0">
                <a:solidFill>
                  <a:schemeClr val="accent5">
                    <a:lumMod val="50000"/>
                  </a:schemeClr>
                </a:solidFill>
              </a:rPr>
              <a:t>1</a:t>
            </a:r>
            <a:r>
              <a:rPr lang="en-GB" sz="2400" b="1" dirty="0">
                <a:solidFill>
                  <a:schemeClr val="accent5">
                    <a:lumMod val="50000"/>
                  </a:schemeClr>
                </a:solidFill>
              </a:rPr>
              <a:t> +  r</a:t>
            </a:r>
            <a:r>
              <a:rPr lang="en-GB" sz="2400" b="1" baseline="-25000" dirty="0">
                <a:solidFill>
                  <a:schemeClr val="accent5">
                    <a:lumMod val="50000"/>
                  </a:schemeClr>
                </a:solidFill>
              </a:rPr>
              <a:t>2</a:t>
            </a:r>
            <a:r>
              <a:rPr lang="en-GB" sz="2400" b="1" dirty="0">
                <a:solidFill>
                  <a:schemeClr val="accent5">
                    <a:lumMod val="50000"/>
                  </a:schemeClr>
                </a:solidFill>
              </a:rPr>
              <a:t> </a:t>
            </a:r>
          </a:p>
        </p:txBody>
      </p:sp>
      <p:sp>
        <p:nvSpPr>
          <p:cNvPr id="3" name="Tytuł 2"/>
          <p:cNvSpPr>
            <a:spLocks noGrp="1"/>
          </p:cNvSpPr>
          <p:nvPr>
            <p:ph type="title"/>
          </p:nvPr>
        </p:nvSpPr>
        <p:spPr>
          <a:xfrm>
            <a:off x="0" y="0"/>
            <a:ext cx="12192000" cy="908720"/>
          </a:xfrm>
          <a:solidFill>
            <a:schemeClr val="accent5">
              <a:lumMod val="20000"/>
              <a:lumOff val="80000"/>
            </a:schemeClr>
          </a:solidFill>
        </p:spPr>
        <p:txBody>
          <a:bodyPr>
            <a:normAutofit/>
          </a:bodyPr>
          <a:lstStyle/>
          <a:p>
            <a:r>
              <a:rPr lang="en-US" sz="3600" b="1" dirty="0">
                <a:solidFill>
                  <a:schemeClr val="accent5">
                    <a:lumMod val="50000"/>
                  </a:schemeClr>
                </a:solidFill>
              </a:rPr>
              <a:t>Formal model of bundling (1) </a:t>
            </a:r>
          </a:p>
        </p:txBody>
      </p:sp>
    </p:spTree>
    <p:extLst>
      <p:ext uri="{BB962C8B-B14F-4D97-AF65-F5344CB8AC3E}">
        <p14:creationId xmlns:p14="http://schemas.microsoft.com/office/powerpoint/2010/main" val="334416051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rostokąt 12"/>
          <p:cNvSpPr/>
          <p:nvPr/>
        </p:nvSpPr>
        <p:spPr>
          <a:xfrm>
            <a:off x="1361408" y="963228"/>
            <a:ext cx="8640960" cy="954107"/>
          </a:xfrm>
          <a:prstGeom prst="rect">
            <a:avLst/>
          </a:prstGeom>
        </p:spPr>
        <p:txBody>
          <a:bodyPr wrap="square">
            <a:spAutoFit/>
          </a:bodyPr>
          <a:lstStyle/>
          <a:p>
            <a:r>
              <a:rPr lang="en-US" sz="2800" b="1" dirty="0">
                <a:solidFill>
                  <a:schemeClr val="accent5">
                    <a:lumMod val="50000"/>
                  </a:schemeClr>
                </a:solidFill>
              </a:rPr>
              <a:t>The </a:t>
            </a:r>
            <a:r>
              <a:rPr lang="pl-PL" sz="2800" b="1" dirty="0">
                <a:solidFill>
                  <a:schemeClr val="accent5">
                    <a:lumMod val="50000"/>
                  </a:schemeClr>
                </a:solidFill>
              </a:rPr>
              <a:t>firm</a:t>
            </a:r>
            <a:r>
              <a:rPr lang="en-US" sz="2800" b="1" dirty="0">
                <a:solidFill>
                  <a:schemeClr val="accent5">
                    <a:lumMod val="50000"/>
                  </a:schemeClr>
                </a:solidFill>
              </a:rPr>
              <a:t> can apply three pricing strategies sale of these two goods</a:t>
            </a:r>
            <a:r>
              <a:rPr lang="pl-PL" sz="2800" b="1" dirty="0">
                <a:solidFill>
                  <a:schemeClr val="accent5">
                    <a:lumMod val="50000"/>
                  </a:schemeClr>
                </a:solidFill>
              </a:rPr>
              <a:t>: </a:t>
            </a:r>
          </a:p>
        </p:txBody>
      </p:sp>
      <p:sp>
        <p:nvSpPr>
          <p:cNvPr id="3" name="Tytuł 2"/>
          <p:cNvSpPr>
            <a:spLocks noGrp="1"/>
          </p:cNvSpPr>
          <p:nvPr>
            <p:ph type="title"/>
          </p:nvPr>
        </p:nvSpPr>
        <p:spPr>
          <a:xfrm>
            <a:off x="0" y="0"/>
            <a:ext cx="12192000" cy="908720"/>
          </a:xfrm>
          <a:solidFill>
            <a:schemeClr val="accent5">
              <a:lumMod val="20000"/>
              <a:lumOff val="80000"/>
            </a:schemeClr>
          </a:solidFill>
        </p:spPr>
        <p:txBody>
          <a:bodyPr/>
          <a:lstStyle/>
          <a:p>
            <a:r>
              <a:rPr lang="en-US" b="1" dirty="0">
                <a:solidFill>
                  <a:schemeClr val="accent5">
                    <a:lumMod val="50000"/>
                  </a:schemeClr>
                </a:solidFill>
              </a:rPr>
              <a:t>Formal model of bundling (</a:t>
            </a:r>
            <a:r>
              <a:rPr lang="pl-PL" b="1" dirty="0">
                <a:solidFill>
                  <a:schemeClr val="accent5">
                    <a:lumMod val="50000"/>
                  </a:schemeClr>
                </a:solidFill>
              </a:rPr>
              <a:t>2</a:t>
            </a:r>
            <a:r>
              <a:rPr lang="en-US" b="1" dirty="0">
                <a:solidFill>
                  <a:schemeClr val="accent5">
                    <a:lumMod val="50000"/>
                  </a:schemeClr>
                </a:solidFill>
              </a:rPr>
              <a:t>) </a:t>
            </a:r>
            <a:endParaRPr lang="pl-PL" b="1" dirty="0">
              <a:solidFill>
                <a:schemeClr val="accent5">
                  <a:lumMod val="50000"/>
                </a:schemeClr>
              </a:solidFill>
            </a:endParaRPr>
          </a:p>
        </p:txBody>
      </p:sp>
      <p:sp>
        <p:nvSpPr>
          <p:cNvPr id="4" name="Prostokąt 3"/>
          <p:cNvSpPr/>
          <p:nvPr/>
        </p:nvSpPr>
        <p:spPr>
          <a:xfrm>
            <a:off x="1755739" y="2170006"/>
            <a:ext cx="3102669" cy="2185214"/>
          </a:xfrm>
          <a:prstGeom prst="rect">
            <a:avLst/>
          </a:prstGeom>
        </p:spPr>
        <p:txBody>
          <a:bodyPr wrap="square">
            <a:spAutoFit/>
          </a:bodyPr>
          <a:lstStyle/>
          <a:p>
            <a:r>
              <a:rPr lang="en-US" sz="2800" b="1" dirty="0">
                <a:solidFill>
                  <a:schemeClr val="accent5">
                    <a:lumMod val="50000"/>
                  </a:schemeClr>
                </a:solidFill>
              </a:rPr>
              <a:t>Pure Bundle</a:t>
            </a:r>
          </a:p>
          <a:p>
            <a:r>
              <a:rPr lang="pl-PL" sz="2800" dirty="0">
                <a:solidFill>
                  <a:schemeClr val="accent5">
                    <a:lumMod val="50000"/>
                  </a:schemeClr>
                </a:solidFill>
              </a:rPr>
              <a:t>Firm </a:t>
            </a:r>
            <a:r>
              <a:rPr lang="en-US" sz="2800" dirty="0">
                <a:solidFill>
                  <a:schemeClr val="accent5">
                    <a:lumMod val="50000"/>
                  </a:schemeClr>
                </a:solidFill>
              </a:rPr>
              <a:t>sells </a:t>
            </a:r>
            <a:endParaRPr lang="pl-PL" sz="2800" dirty="0">
              <a:solidFill>
                <a:schemeClr val="accent5">
                  <a:lumMod val="50000"/>
                </a:schemeClr>
              </a:solidFill>
            </a:endParaRPr>
          </a:p>
          <a:p>
            <a:r>
              <a:rPr lang="en-US" sz="2800" dirty="0">
                <a:solidFill>
                  <a:schemeClr val="accent5">
                    <a:lumMod val="50000"/>
                  </a:schemeClr>
                </a:solidFill>
              </a:rPr>
              <a:t>only the bundle </a:t>
            </a:r>
            <a:endParaRPr lang="pl-PL" sz="2800" dirty="0">
              <a:solidFill>
                <a:schemeClr val="accent5">
                  <a:lumMod val="50000"/>
                </a:schemeClr>
              </a:solidFill>
            </a:endParaRPr>
          </a:p>
          <a:p>
            <a:r>
              <a:rPr lang="en-US" sz="2800" dirty="0">
                <a:solidFill>
                  <a:schemeClr val="accent5">
                    <a:lumMod val="50000"/>
                  </a:schemeClr>
                </a:solidFill>
              </a:rPr>
              <a:t>at a price </a:t>
            </a:r>
            <a:r>
              <a:rPr lang="en-US" sz="2800" dirty="0" err="1">
                <a:solidFill>
                  <a:schemeClr val="accent5">
                    <a:lumMod val="50000"/>
                  </a:schemeClr>
                </a:solidFill>
              </a:rPr>
              <a:t>p</a:t>
            </a:r>
            <a:r>
              <a:rPr lang="en-US" sz="2800" baseline="-25000" dirty="0" err="1">
                <a:solidFill>
                  <a:schemeClr val="accent5">
                    <a:lumMod val="50000"/>
                  </a:schemeClr>
                </a:solidFill>
              </a:rPr>
              <a:t>b</a:t>
            </a:r>
            <a:endParaRPr lang="pl-PL" sz="2800" baseline="-25000" dirty="0">
              <a:solidFill>
                <a:schemeClr val="accent5">
                  <a:lumMod val="50000"/>
                </a:schemeClr>
              </a:solidFill>
            </a:endParaRPr>
          </a:p>
          <a:p>
            <a:r>
              <a:rPr lang="pl-PL" sz="2400" b="1" dirty="0">
                <a:solidFill>
                  <a:schemeClr val="accent5">
                    <a:lumMod val="50000"/>
                  </a:schemeClr>
                </a:solidFill>
              </a:rPr>
              <a:t> </a:t>
            </a:r>
          </a:p>
        </p:txBody>
      </p:sp>
      <p:grpSp>
        <p:nvGrpSpPr>
          <p:cNvPr id="7" name="Grupa 6"/>
          <p:cNvGrpSpPr/>
          <p:nvPr/>
        </p:nvGrpSpPr>
        <p:grpSpPr>
          <a:xfrm>
            <a:off x="4873558" y="2024706"/>
            <a:ext cx="5128810" cy="4291696"/>
            <a:chOff x="3691662" y="1268760"/>
            <a:chExt cx="5128810" cy="4291698"/>
          </a:xfrm>
        </p:grpSpPr>
        <p:grpSp>
          <p:nvGrpSpPr>
            <p:cNvPr id="6" name="Grupa 5"/>
            <p:cNvGrpSpPr/>
            <p:nvPr/>
          </p:nvGrpSpPr>
          <p:grpSpPr>
            <a:xfrm>
              <a:off x="3691662" y="1268760"/>
              <a:ext cx="5128810" cy="4291698"/>
              <a:chOff x="4699724" y="2313335"/>
              <a:chExt cx="5128810" cy="4291698"/>
            </a:xfrm>
          </p:grpSpPr>
          <p:sp>
            <p:nvSpPr>
              <p:cNvPr id="14" name="Line 7"/>
              <p:cNvSpPr>
                <a:spLocks noChangeShapeType="1"/>
              </p:cNvSpPr>
              <p:nvPr/>
            </p:nvSpPr>
            <p:spPr bwMode="auto">
              <a:xfrm>
                <a:off x="5219700" y="2313335"/>
                <a:ext cx="0" cy="3850928"/>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l-PL" b="1">
                  <a:solidFill>
                    <a:schemeClr val="accent5">
                      <a:lumMod val="50000"/>
                    </a:schemeClr>
                  </a:solidFill>
                </a:endParaRPr>
              </a:p>
            </p:txBody>
          </p:sp>
          <p:sp>
            <p:nvSpPr>
              <p:cNvPr id="15" name="Line 8"/>
              <p:cNvSpPr>
                <a:spLocks noChangeShapeType="1"/>
              </p:cNvSpPr>
              <p:nvPr/>
            </p:nvSpPr>
            <p:spPr bwMode="auto">
              <a:xfrm flipV="1">
                <a:off x="5219700" y="6164262"/>
                <a:ext cx="4608834" cy="1"/>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l-PL" b="1">
                  <a:solidFill>
                    <a:schemeClr val="accent5">
                      <a:lumMod val="50000"/>
                    </a:schemeClr>
                  </a:solidFill>
                </a:endParaRPr>
              </a:p>
            </p:txBody>
          </p:sp>
          <p:sp>
            <p:nvSpPr>
              <p:cNvPr id="17" name="Line 10"/>
              <p:cNvSpPr>
                <a:spLocks noChangeShapeType="1"/>
              </p:cNvSpPr>
              <p:nvPr/>
            </p:nvSpPr>
            <p:spPr bwMode="auto">
              <a:xfrm>
                <a:off x="5175699" y="2953126"/>
                <a:ext cx="2792355" cy="3211137"/>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endParaRPr lang="pl-PL" b="1">
                  <a:solidFill>
                    <a:schemeClr val="accent5">
                      <a:lumMod val="50000"/>
                    </a:schemeClr>
                  </a:solidFill>
                </a:endParaRPr>
              </a:p>
            </p:txBody>
          </p:sp>
          <p:sp>
            <p:nvSpPr>
              <p:cNvPr id="18" name="Text Box 12"/>
              <p:cNvSpPr txBox="1">
                <a:spLocks noChangeArrowheads="1"/>
              </p:cNvSpPr>
              <p:nvPr/>
            </p:nvSpPr>
            <p:spPr bwMode="auto">
              <a:xfrm>
                <a:off x="9329868" y="6238319"/>
                <a:ext cx="360363" cy="366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a:solidFill>
                      <a:schemeClr val="accent5">
                        <a:lumMod val="50000"/>
                      </a:schemeClr>
                    </a:solidFill>
                  </a:rPr>
                  <a:t>r</a:t>
                </a:r>
                <a:r>
                  <a:rPr lang="en-NZ" altLang="pl-PL" b="1" baseline="-25000">
                    <a:solidFill>
                      <a:schemeClr val="accent5">
                        <a:lumMod val="50000"/>
                      </a:schemeClr>
                    </a:solidFill>
                  </a:rPr>
                  <a:t>1</a:t>
                </a:r>
                <a:endParaRPr lang="en-NZ" altLang="pl-PL" b="1">
                  <a:solidFill>
                    <a:schemeClr val="accent5">
                      <a:lumMod val="50000"/>
                    </a:schemeClr>
                  </a:solidFill>
                </a:endParaRPr>
              </a:p>
            </p:txBody>
          </p:sp>
          <p:sp>
            <p:nvSpPr>
              <p:cNvPr id="19" name="Text Box 13"/>
              <p:cNvSpPr txBox="1">
                <a:spLocks noChangeArrowheads="1"/>
              </p:cNvSpPr>
              <p:nvPr/>
            </p:nvSpPr>
            <p:spPr bwMode="auto">
              <a:xfrm>
                <a:off x="4699724" y="2315084"/>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dirty="0">
                    <a:solidFill>
                      <a:schemeClr val="accent5">
                        <a:lumMod val="50000"/>
                      </a:schemeClr>
                    </a:solidFill>
                  </a:rPr>
                  <a:t>r</a:t>
                </a:r>
                <a:r>
                  <a:rPr lang="en-NZ" altLang="pl-PL" b="1" baseline="-25000" dirty="0">
                    <a:solidFill>
                      <a:schemeClr val="accent5">
                        <a:lumMod val="50000"/>
                      </a:schemeClr>
                    </a:solidFill>
                  </a:rPr>
                  <a:t>2</a:t>
                </a:r>
                <a:endParaRPr lang="en-NZ" altLang="pl-PL" b="1" dirty="0">
                  <a:solidFill>
                    <a:schemeClr val="accent5">
                      <a:lumMod val="50000"/>
                    </a:schemeClr>
                  </a:solidFill>
                </a:endParaRPr>
              </a:p>
            </p:txBody>
          </p:sp>
          <p:sp>
            <p:nvSpPr>
              <p:cNvPr id="20" name="Text Box 15"/>
              <p:cNvSpPr txBox="1">
                <a:spLocks noChangeArrowheads="1"/>
              </p:cNvSpPr>
              <p:nvPr/>
            </p:nvSpPr>
            <p:spPr bwMode="auto">
              <a:xfrm>
                <a:off x="7667438" y="6235701"/>
                <a:ext cx="6012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NZ" altLang="pl-PL" b="1" dirty="0">
                    <a:solidFill>
                      <a:schemeClr val="accent5">
                        <a:lumMod val="50000"/>
                      </a:schemeClr>
                    </a:solidFill>
                  </a:rPr>
                  <a:t>p</a:t>
                </a:r>
                <a:r>
                  <a:rPr lang="pl-PL" altLang="pl-PL" b="1" baseline="-25000" dirty="0">
                    <a:solidFill>
                      <a:schemeClr val="accent5">
                        <a:lumMod val="50000"/>
                      </a:schemeClr>
                    </a:solidFill>
                  </a:rPr>
                  <a:t>b</a:t>
                </a:r>
                <a:endParaRPr lang="en-NZ" altLang="pl-PL" b="1" baseline="-25000" dirty="0">
                  <a:solidFill>
                    <a:schemeClr val="accent5">
                      <a:lumMod val="50000"/>
                    </a:schemeClr>
                  </a:solidFill>
                </a:endParaRPr>
              </a:p>
            </p:txBody>
          </p:sp>
          <p:sp>
            <p:nvSpPr>
              <p:cNvPr id="21" name="Text Box 16"/>
              <p:cNvSpPr txBox="1">
                <a:spLocks noChangeArrowheads="1"/>
              </p:cNvSpPr>
              <p:nvPr/>
            </p:nvSpPr>
            <p:spPr bwMode="auto">
              <a:xfrm>
                <a:off x="6320935" y="3214581"/>
                <a:ext cx="332570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pl-PL" b="1" dirty="0">
                    <a:solidFill>
                      <a:schemeClr val="accent5">
                        <a:lumMod val="50000"/>
                      </a:schemeClr>
                    </a:solidFill>
                  </a:rPr>
                  <a:t>Bundle is purchased</a:t>
                </a:r>
              </a:p>
              <a:p>
                <a:r>
                  <a:rPr lang="en-GB" b="1" dirty="0" err="1">
                    <a:solidFill>
                      <a:schemeClr val="accent5">
                        <a:lumMod val="50000"/>
                      </a:schemeClr>
                    </a:solidFill>
                  </a:rPr>
                  <a:t>r</a:t>
                </a:r>
                <a:r>
                  <a:rPr lang="en-GB" b="1" baseline="-25000" dirty="0" err="1">
                    <a:solidFill>
                      <a:schemeClr val="accent5">
                        <a:lumMod val="50000"/>
                      </a:schemeClr>
                    </a:solidFill>
                  </a:rPr>
                  <a:t>b</a:t>
                </a:r>
                <a:r>
                  <a:rPr lang="en-GB" b="1" baseline="-25000" dirty="0">
                    <a:solidFill>
                      <a:schemeClr val="accent5">
                        <a:lumMod val="50000"/>
                      </a:schemeClr>
                    </a:solidFill>
                  </a:rPr>
                  <a:t> </a:t>
                </a:r>
                <a:r>
                  <a:rPr lang="en-GB" b="1" dirty="0">
                    <a:solidFill>
                      <a:schemeClr val="accent5">
                        <a:lumMod val="50000"/>
                      </a:schemeClr>
                    </a:solidFill>
                  </a:rPr>
                  <a:t>= r</a:t>
                </a:r>
                <a:r>
                  <a:rPr lang="en-GB" b="1" baseline="-25000" dirty="0">
                    <a:solidFill>
                      <a:schemeClr val="accent5">
                        <a:lumMod val="50000"/>
                      </a:schemeClr>
                    </a:solidFill>
                  </a:rPr>
                  <a:t>1</a:t>
                </a:r>
                <a:r>
                  <a:rPr lang="en-GB" b="1" dirty="0">
                    <a:solidFill>
                      <a:schemeClr val="accent5">
                        <a:lumMod val="50000"/>
                      </a:schemeClr>
                    </a:solidFill>
                  </a:rPr>
                  <a:t> +  r</a:t>
                </a:r>
                <a:r>
                  <a:rPr lang="en-GB" b="1" baseline="-25000" dirty="0">
                    <a:solidFill>
                      <a:schemeClr val="accent5">
                        <a:lumMod val="50000"/>
                      </a:schemeClr>
                    </a:solidFill>
                  </a:rPr>
                  <a:t>2</a:t>
                </a:r>
                <a:r>
                  <a:rPr lang="en-GB" b="1" dirty="0">
                    <a:solidFill>
                      <a:schemeClr val="accent5">
                        <a:lumMod val="50000"/>
                      </a:schemeClr>
                    </a:solidFill>
                  </a:rPr>
                  <a:t> &gt;= </a:t>
                </a:r>
                <a:r>
                  <a:rPr lang="en-GB" b="1" dirty="0" err="1">
                    <a:solidFill>
                      <a:schemeClr val="accent5">
                        <a:lumMod val="50000"/>
                      </a:schemeClr>
                    </a:solidFill>
                  </a:rPr>
                  <a:t>pb</a:t>
                </a:r>
                <a:endParaRPr lang="en-GB" b="1" dirty="0">
                  <a:solidFill>
                    <a:schemeClr val="accent5">
                      <a:lumMod val="50000"/>
                    </a:schemeClr>
                  </a:solidFill>
                </a:endParaRPr>
              </a:p>
              <a:p>
                <a:endParaRPr lang="pl-PL" b="1" dirty="0">
                  <a:solidFill>
                    <a:schemeClr val="accent5">
                      <a:lumMod val="50000"/>
                    </a:schemeClr>
                  </a:solidFill>
                </a:endParaRPr>
              </a:p>
            </p:txBody>
          </p:sp>
        </p:grpSp>
        <p:sp>
          <p:nvSpPr>
            <p:cNvPr id="25" name="Text Box 14"/>
            <p:cNvSpPr txBox="1">
              <a:spLocks noChangeArrowheads="1"/>
            </p:cNvSpPr>
            <p:nvPr/>
          </p:nvSpPr>
          <p:spPr bwMode="auto">
            <a:xfrm>
              <a:off x="3706813" y="1986650"/>
              <a:ext cx="504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dirty="0">
                  <a:solidFill>
                    <a:schemeClr val="accent5">
                      <a:lumMod val="50000"/>
                    </a:schemeClr>
                  </a:solidFill>
                </a:rPr>
                <a:t>p</a:t>
              </a:r>
              <a:r>
                <a:rPr lang="pl-PL" altLang="pl-PL" b="1" baseline="-25000" dirty="0">
                  <a:solidFill>
                    <a:schemeClr val="accent5">
                      <a:lumMod val="50000"/>
                    </a:schemeClr>
                  </a:solidFill>
                </a:rPr>
                <a:t>b</a:t>
              </a:r>
              <a:endParaRPr lang="en-NZ" altLang="pl-PL" b="1" dirty="0">
                <a:solidFill>
                  <a:schemeClr val="accent5">
                    <a:lumMod val="50000"/>
                  </a:schemeClr>
                </a:solidFill>
              </a:endParaRPr>
            </a:p>
          </p:txBody>
        </p:sp>
      </p:grpSp>
      <p:sp>
        <p:nvSpPr>
          <p:cNvPr id="9" name="Prostokąt 8"/>
          <p:cNvSpPr/>
          <p:nvPr/>
        </p:nvSpPr>
        <p:spPr>
          <a:xfrm>
            <a:off x="5591944" y="4081630"/>
            <a:ext cx="1440160" cy="646331"/>
          </a:xfrm>
          <a:prstGeom prst="rect">
            <a:avLst/>
          </a:prstGeom>
        </p:spPr>
        <p:txBody>
          <a:bodyPr wrap="square">
            <a:spAutoFit/>
          </a:bodyPr>
          <a:lstStyle/>
          <a:p>
            <a:r>
              <a:rPr lang="en-US" b="1" dirty="0">
                <a:solidFill>
                  <a:schemeClr val="accent5">
                    <a:lumMod val="50000"/>
                  </a:schemeClr>
                </a:solidFill>
              </a:rPr>
              <a:t>Nothing is purchased</a:t>
            </a:r>
          </a:p>
        </p:txBody>
      </p:sp>
    </p:spTree>
    <p:extLst>
      <p:ext uri="{BB962C8B-B14F-4D97-AF65-F5344CB8AC3E}">
        <p14:creationId xmlns:p14="http://schemas.microsoft.com/office/powerpoint/2010/main" val="232476196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ostokąt 3"/>
          <p:cNvSpPr/>
          <p:nvPr/>
        </p:nvSpPr>
        <p:spPr>
          <a:xfrm>
            <a:off x="892740" y="2340625"/>
            <a:ext cx="3539495" cy="1815882"/>
          </a:xfrm>
          <a:prstGeom prst="rect">
            <a:avLst/>
          </a:prstGeom>
        </p:spPr>
        <p:txBody>
          <a:bodyPr wrap="none">
            <a:spAutoFit/>
          </a:bodyPr>
          <a:lstStyle/>
          <a:p>
            <a:r>
              <a:rPr lang="en-GB" sz="2800" b="1" dirty="0">
                <a:solidFill>
                  <a:schemeClr val="accent5">
                    <a:lumMod val="50000"/>
                  </a:schemeClr>
                </a:solidFill>
              </a:rPr>
              <a:t>Pure Components</a:t>
            </a:r>
          </a:p>
          <a:p>
            <a:r>
              <a:rPr lang="en-GB" sz="2800" dirty="0">
                <a:solidFill>
                  <a:schemeClr val="accent5">
                    <a:lumMod val="50000"/>
                  </a:schemeClr>
                </a:solidFill>
              </a:rPr>
              <a:t>Firm sells good</a:t>
            </a:r>
            <a:r>
              <a:rPr lang="pl-PL" sz="2800" dirty="0">
                <a:solidFill>
                  <a:schemeClr val="accent5">
                    <a:lumMod val="50000"/>
                  </a:schemeClr>
                </a:solidFill>
              </a:rPr>
              <a:t>s</a:t>
            </a:r>
            <a:r>
              <a:rPr lang="en-GB" sz="2800" dirty="0">
                <a:solidFill>
                  <a:schemeClr val="accent5">
                    <a:lumMod val="50000"/>
                  </a:schemeClr>
                </a:solidFill>
              </a:rPr>
              <a:t> </a:t>
            </a:r>
          </a:p>
          <a:p>
            <a:r>
              <a:rPr lang="en-GB" sz="2800" dirty="0">
                <a:solidFill>
                  <a:schemeClr val="accent5">
                    <a:lumMod val="50000"/>
                  </a:schemeClr>
                </a:solidFill>
              </a:rPr>
              <a:t>separately </a:t>
            </a:r>
          </a:p>
          <a:p>
            <a:r>
              <a:rPr lang="en-GB" sz="2800" dirty="0">
                <a:solidFill>
                  <a:schemeClr val="accent5">
                    <a:lumMod val="50000"/>
                  </a:schemeClr>
                </a:solidFill>
              </a:rPr>
              <a:t>at their separate prices</a:t>
            </a:r>
          </a:p>
        </p:txBody>
      </p:sp>
      <p:grpSp>
        <p:nvGrpSpPr>
          <p:cNvPr id="7" name="Grupa 6"/>
          <p:cNvGrpSpPr/>
          <p:nvPr/>
        </p:nvGrpSpPr>
        <p:grpSpPr>
          <a:xfrm>
            <a:off x="5173114" y="1663700"/>
            <a:ext cx="4162975" cy="3894138"/>
            <a:chOff x="3649113" y="1663700"/>
            <a:chExt cx="4162975" cy="3894140"/>
          </a:xfrm>
        </p:grpSpPr>
        <p:grpSp>
          <p:nvGrpSpPr>
            <p:cNvPr id="6" name="Grupa 5"/>
            <p:cNvGrpSpPr/>
            <p:nvPr/>
          </p:nvGrpSpPr>
          <p:grpSpPr>
            <a:xfrm>
              <a:off x="3779838" y="1663700"/>
              <a:ext cx="4032250" cy="3894140"/>
              <a:chOff x="4787900" y="2708275"/>
              <a:chExt cx="4032250" cy="3894140"/>
            </a:xfrm>
          </p:grpSpPr>
          <p:sp>
            <p:nvSpPr>
              <p:cNvPr id="14" name="Line 7"/>
              <p:cNvSpPr>
                <a:spLocks noChangeShapeType="1"/>
              </p:cNvSpPr>
              <p:nvPr/>
            </p:nvSpPr>
            <p:spPr bwMode="auto">
              <a:xfrm>
                <a:off x="5219700" y="2708275"/>
                <a:ext cx="0" cy="3455988"/>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l-PL" b="1">
                  <a:solidFill>
                    <a:schemeClr val="accent5">
                      <a:lumMod val="50000"/>
                    </a:schemeClr>
                  </a:solidFill>
                </a:endParaRPr>
              </a:p>
            </p:txBody>
          </p:sp>
          <p:sp>
            <p:nvSpPr>
              <p:cNvPr id="15" name="Line 8"/>
              <p:cNvSpPr>
                <a:spLocks noChangeShapeType="1"/>
              </p:cNvSpPr>
              <p:nvPr/>
            </p:nvSpPr>
            <p:spPr bwMode="auto">
              <a:xfrm>
                <a:off x="5219700" y="6164263"/>
                <a:ext cx="360045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l-PL" b="1">
                  <a:solidFill>
                    <a:schemeClr val="accent5">
                      <a:lumMod val="50000"/>
                    </a:schemeClr>
                  </a:solidFill>
                </a:endParaRPr>
              </a:p>
            </p:txBody>
          </p:sp>
          <p:sp>
            <p:nvSpPr>
              <p:cNvPr id="16" name="Line 9"/>
              <p:cNvSpPr>
                <a:spLocks noChangeShapeType="1"/>
              </p:cNvSpPr>
              <p:nvPr/>
            </p:nvSpPr>
            <p:spPr bwMode="auto">
              <a:xfrm>
                <a:off x="6948488" y="2708275"/>
                <a:ext cx="0" cy="3455988"/>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endParaRPr lang="pl-PL" b="1">
                  <a:solidFill>
                    <a:schemeClr val="accent5">
                      <a:lumMod val="50000"/>
                    </a:schemeClr>
                  </a:solidFill>
                </a:endParaRPr>
              </a:p>
            </p:txBody>
          </p:sp>
          <p:sp>
            <p:nvSpPr>
              <p:cNvPr id="17" name="Line 10"/>
              <p:cNvSpPr>
                <a:spLocks noChangeShapeType="1"/>
              </p:cNvSpPr>
              <p:nvPr/>
            </p:nvSpPr>
            <p:spPr bwMode="auto">
              <a:xfrm>
                <a:off x="5219700" y="4724400"/>
                <a:ext cx="3529013" cy="0"/>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endParaRPr lang="pl-PL" b="1">
                  <a:solidFill>
                    <a:schemeClr val="accent5">
                      <a:lumMod val="50000"/>
                    </a:schemeClr>
                  </a:solidFill>
                </a:endParaRPr>
              </a:p>
            </p:txBody>
          </p:sp>
          <p:sp>
            <p:nvSpPr>
              <p:cNvPr id="18" name="Text Box 12"/>
              <p:cNvSpPr txBox="1">
                <a:spLocks noChangeArrowheads="1"/>
              </p:cNvSpPr>
              <p:nvPr/>
            </p:nvSpPr>
            <p:spPr bwMode="auto">
              <a:xfrm>
                <a:off x="8316912" y="6235700"/>
                <a:ext cx="360363" cy="366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a:solidFill>
                      <a:schemeClr val="accent5">
                        <a:lumMod val="50000"/>
                      </a:schemeClr>
                    </a:solidFill>
                  </a:rPr>
                  <a:t>r</a:t>
                </a:r>
                <a:r>
                  <a:rPr lang="en-NZ" altLang="pl-PL" b="1" baseline="-25000">
                    <a:solidFill>
                      <a:schemeClr val="accent5">
                        <a:lumMod val="50000"/>
                      </a:schemeClr>
                    </a:solidFill>
                  </a:rPr>
                  <a:t>1</a:t>
                </a:r>
                <a:endParaRPr lang="en-NZ" altLang="pl-PL" b="1">
                  <a:solidFill>
                    <a:schemeClr val="accent5">
                      <a:lumMod val="50000"/>
                    </a:schemeClr>
                  </a:solidFill>
                </a:endParaRPr>
              </a:p>
            </p:txBody>
          </p:sp>
          <p:sp>
            <p:nvSpPr>
              <p:cNvPr id="19" name="Text Box 13"/>
              <p:cNvSpPr txBox="1">
                <a:spLocks noChangeArrowheads="1"/>
              </p:cNvSpPr>
              <p:nvPr/>
            </p:nvSpPr>
            <p:spPr bwMode="auto">
              <a:xfrm>
                <a:off x="4787900" y="2852738"/>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a:solidFill>
                      <a:schemeClr val="accent5">
                        <a:lumMod val="50000"/>
                      </a:schemeClr>
                    </a:solidFill>
                  </a:rPr>
                  <a:t>r</a:t>
                </a:r>
                <a:r>
                  <a:rPr lang="en-NZ" altLang="pl-PL" b="1" baseline="-25000">
                    <a:solidFill>
                      <a:schemeClr val="accent5">
                        <a:lumMod val="50000"/>
                      </a:schemeClr>
                    </a:solidFill>
                  </a:rPr>
                  <a:t>2</a:t>
                </a:r>
                <a:endParaRPr lang="en-NZ" altLang="pl-PL" b="1">
                  <a:solidFill>
                    <a:schemeClr val="accent5">
                      <a:lumMod val="50000"/>
                    </a:schemeClr>
                  </a:solidFill>
                </a:endParaRPr>
              </a:p>
            </p:txBody>
          </p:sp>
          <p:sp>
            <p:nvSpPr>
              <p:cNvPr id="20" name="Text Box 15"/>
              <p:cNvSpPr txBox="1">
                <a:spLocks noChangeArrowheads="1"/>
              </p:cNvSpPr>
              <p:nvPr/>
            </p:nvSpPr>
            <p:spPr bwMode="auto">
              <a:xfrm>
                <a:off x="6732588" y="6235701"/>
                <a:ext cx="504825" cy="366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a:solidFill>
                      <a:schemeClr val="accent5">
                        <a:lumMod val="50000"/>
                      </a:schemeClr>
                    </a:solidFill>
                  </a:rPr>
                  <a:t>p</a:t>
                </a:r>
                <a:r>
                  <a:rPr lang="en-NZ" altLang="pl-PL" b="1" baseline="-25000">
                    <a:solidFill>
                      <a:schemeClr val="accent5">
                        <a:lumMod val="50000"/>
                      </a:schemeClr>
                    </a:solidFill>
                  </a:rPr>
                  <a:t>1</a:t>
                </a:r>
                <a:r>
                  <a:rPr lang="en-NZ" altLang="pl-PL" b="1">
                    <a:solidFill>
                      <a:schemeClr val="accent5">
                        <a:lumMod val="50000"/>
                      </a:schemeClr>
                    </a:solidFill>
                  </a:rPr>
                  <a:t>*</a:t>
                </a:r>
              </a:p>
            </p:txBody>
          </p:sp>
          <p:sp>
            <p:nvSpPr>
              <p:cNvPr id="21" name="Text Box 16"/>
              <p:cNvSpPr txBox="1">
                <a:spLocks noChangeArrowheads="1"/>
              </p:cNvSpPr>
              <p:nvPr/>
            </p:nvSpPr>
            <p:spPr bwMode="auto">
              <a:xfrm>
                <a:off x="5341177" y="2886933"/>
                <a:ext cx="1486330" cy="1477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pl-PL" altLang="pl-PL" b="1" dirty="0" err="1">
                    <a:solidFill>
                      <a:schemeClr val="accent5">
                        <a:lumMod val="50000"/>
                      </a:schemeClr>
                    </a:solidFill>
                  </a:rPr>
                  <a:t>Only</a:t>
                </a:r>
                <a:r>
                  <a:rPr lang="pl-PL" altLang="pl-PL" b="1" dirty="0">
                    <a:solidFill>
                      <a:schemeClr val="accent5">
                        <a:lumMod val="50000"/>
                      </a:schemeClr>
                    </a:solidFill>
                  </a:rPr>
                  <a:t> </a:t>
                </a:r>
                <a:r>
                  <a:rPr lang="en-GB" altLang="pl-PL" b="1" dirty="0">
                    <a:solidFill>
                      <a:schemeClr val="accent5">
                        <a:lumMod val="50000"/>
                      </a:schemeClr>
                    </a:solidFill>
                  </a:rPr>
                  <a:t>x2  is purchased</a:t>
                </a:r>
              </a:p>
              <a:p>
                <a:pPr>
                  <a:spcBef>
                    <a:spcPct val="50000"/>
                  </a:spcBef>
                </a:pPr>
                <a:r>
                  <a:rPr lang="en-GB" altLang="pl-PL" b="1" dirty="0">
                    <a:solidFill>
                      <a:schemeClr val="accent5">
                        <a:lumMod val="50000"/>
                      </a:schemeClr>
                    </a:solidFill>
                  </a:rPr>
                  <a:t>r2 &gt;= p2 and</a:t>
                </a:r>
              </a:p>
              <a:p>
                <a:pPr>
                  <a:spcBef>
                    <a:spcPct val="50000"/>
                  </a:spcBef>
                </a:pPr>
                <a:r>
                  <a:rPr lang="en-GB" altLang="pl-PL" b="1" dirty="0">
                    <a:solidFill>
                      <a:schemeClr val="accent5">
                        <a:lumMod val="50000"/>
                      </a:schemeClr>
                    </a:solidFill>
                  </a:rPr>
                  <a:t>r1 &lt; p1</a:t>
                </a:r>
              </a:p>
            </p:txBody>
          </p:sp>
          <p:sp>
            <p:nvSpPr>
              <p:cNvPr id="22" name="Text Box 17"/>
              <p:cNvSpPr txBox="1">
                <a:spLocks noChangeArrowheads="1"/>
              </p:cNvSpPr>
              <p:nvPr/>
            </p:nvSpPr>
            <p:spPr bwMode="auto">
              <a:xfrm>
                <a:off x="7032446" y="2720689"/>
                <a:ext cx="1787703" cy="1754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pl-PL" b="1" dirty="0">
                    <a:solidFill>
                      <a:schemeClr val="accent5">
                        <a:lumMod val="50000"/>
                      </a:schemeClr>
                    </a:solidFill>
                  </a:rPr>
                  <a:t>x</a:t>
                </a:r>
                <a:r>
                  <a:rPr lang="en-GB" altLang="pl-PL" b="1" baseline="-25000" dirty="0">
                    <a:solidFill>
                      <a:schemeClr val="accent5">
                        <a:lumMod val="50000"/>
                      </a:schemeClr>
                    </a:solidFill>
                  </a:rPr>
                  <a:t>1</a:t>
                </a:r>
                <a:r>
                  <a:rPr lang="en-GB" altLang="pl-PL" b="1" dirty="0">
                    <a:solidFill>
                      <a:schemeClr val="accent5">
                        <a:lumMod val="50000"/>
                      </a:schemeClr>
                    </a:solidFill>
                  </a:rPr>
                  <a:t> and x</a:t>
                </a:r>
                <a:r>
                  <a:rPr lang="en-GB" altLang="pl-PL" b="1" baseline="-25000" dirty="0">
                    <a:solidFill>
                      <a:schemeClr val="accent5">
                        <a:lumMod val="50000"/>
                      </a:schemeClr>
                    </a:solidFill>
                  </a:rPr>
                  <a:t>2</a:t>
                </a:r>
                <a:r>
                  <a:rPr lang="en-GB" altLang="pl-PL" b="1" dirty="0">
                    <a:solidFill>
                      <a:schemeClr val="accent5">
                        <a:lumMod val="50000"/>
                      </a:schemeClr>
                    </a:solidFill>
                  </a:rPr>
                  <a:t> are purchased</a:t>
                </a:r>
                <a:r>
                  <a:rPr lang="pl-PL" altLang="pl-PL" b="1" dirty="0">
                    <a:solidFill>
                      <a:schemeClr val="accent5">
                        <a:lumMod val="50000"/>
                      </a:schemeClr>
                    </a:solidFill>
                  </a:rPr>
                  <a:t> </a:t>
                </a:r>
                <a:r>
                  <a:rPr lang="pl-PL" altLang="pl-PL" b="1" dirty="0" err="1">
                    <a:solidFill>
                      <a:schemeClr val="accent5">
                        <a:lumMod val="50000"/>
                      </a:schemeClr>
                    </a:solidFill>
                  </a:rPr>
                  <a:t>sepratly</a:t>
                </a:r>
                <a:endParaRPr lang="en-GB" altLang="pl-PL" b="1" dirty="0">
                  <a:solidFill>
                    <a:schemeClr val="accent5">
                      <a:lumMod val="50000"/>
                    </a:schemeClr>
                  </a:solidFill>
                </a:endParaRPr>
              </a:p>
              <a:p>
                <a:pPr>
                  <a:spcBef>
                    <a:spcPct val="50000"/>
                  </a:spcBef>
                </a:pPr>
                <a:r>
                  <a:rPr lang="en-GB" altLang="pl-PL" b="1" dirty="0">
                    <a:solidFill>
                      <a:schemeClr val="accent5">
                        <a:lumMod val="50000"/>
                      </a:schemeClr>
                    </a:solidFill>
                  </a:rPr>
                  <a:t>r</a:t>
                </a:r>
                <a:r>
                  <a:rPr lang="en-GB" altLang="pl-PL" b="1" baseline="-25000" dirty="0">
                    <a:solidFill>
                      <a:schemeClr val="accent5">
                        <a:lumMod val="50000"/>
                      </a:schemeClr>
                    </a:solidFill>
                  </a:rPr>
                  <a:t>1</a:t>
                </a:r>
                <a:r>
                  <a:rPr lang="en-GB" altLang="pl-PL" b="1" dirty="0">
                    <a:solidFill>
                      <a:schemeClr val="accent5">
                        <a:lumMod val="50000"/>
                      </a:schemeClr>
                    </a:solidFill>
                  </a:rPr>
                  <a:t> &gt;= p</a:t>
                </a:r>
                <a:r>
                  <a:rPr lang="en-GB" altLang="pl-PL" b="1" baseline="-25000" dirty="0">
                    <a:solidFill>
                      <a:schemeClr val="accent5">
                        <a:lumMod val="50000"/>
                      </a:schemeClr>
                    </a:solidFill>
                  </a:rPr>
                  <a:t>1</a:t>
                </a:r>
                <a:endParaRPr lang="en-GB" altLang="pl-PL" b="1" dirty="0">
                  <a:solidFill>
                    <a:schemeClr val="accent5">
                      <a:lumMod val="50000"/>
                    </a:schemeClr>
                  </a:solidFill>
                </a:endParaRPr>
              </a:p>
              <a:p>
                <a:pPr>
                  <a:spcBef>
                    <a:spcPct val="50000"/>
                  </a:spcBef>
                </a:pPr>
                <a:r>
                  <a:rPr lang="en-GB" altLang="pl-PL" b="1" dirty="0">
                    <a:solidFill>
                      <a:schemeClr val="accent5">
                        <a:lumMod val="50000"/>
                      </a:schemeClr>
                    </a:solidFill>
                  </a:rPr>
                  <a:t>and</a:t>
                </a:r>
                <a:r>
                  <a:rPr lang="pl-PL" altLang="pl-PL" b="1" dirty="0">
                    <a:solidFill>
                      <a:schemeClr val="accent5">
                        <a:lumMod val="50000"/>
                      </a:schemeClr>
                    </a:solidFill>
                  </a:rPr>
                  <a:t> </a:t>
                </a:r>
                <a:r>
                  <a:rPr lang="en-GB" altLang="pl-PL" b="1" dirty="0">
                    <a:solidFill>
                      <a:schemeClr val="accent5">
                        <a:lumMod val="50000"/>
                      </a:schemeClr>
                    </a:solidFill>
                  </a:rPr>
                  <a:t>r1 &gt;= p1</a:t>
                </a:r>
              </a:p>
            </p:txBody>
          </p:sp>
        </p:grpSp>
        <p:sp>
          <p:nvSpPr>
            <p:cNvPr id="25" name="Text Box 14"/>
            <p:cNvSpPr txBox="1">
              <a:spLocks noChangeArrowheads="1"/>
            </p:cNvSpPr>
            <p:nvPr/>
          </p:nvSpPr>
          <p:spPr bwMode="auto">
            <a:xfrm>
              <a:off x="3649113" y="3428866"/>
              <a:ext cx="504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dirty="0">
                  <a:solidFill>
                    <a:schemeClr val="accent5">
                      <a:lumMod val="50000"/>
                    </a:schemeClr>
                  </a:solidFill>
                </a:rPr>
                <a:t>p</a:t>
              </a:r>
              <a:r>
                <a:rPr lang="en-NZ" altLang="pl-PL" b="1" baseline="-25000" dirty="0">
                  <a:solidFill>
                    <a:schemeClr val="accent5">
                      <a:lumMod val="50000"/>
                    </a:schemeClr>
                  </a:solidFill>
                </a:rPr>
                <a:t>2</a:t>
              </a:r>
              <a:endParaRPr lang="en-NZ" altLang="pl-PL" b="1" dirty="0">
                <a:solidFill>
                  <a:schemeClr val="accent5">
                    <a:lumMod val="50000"/>
                  </a:schemeClr>
                </a:solidFill>
              </a:endParaRPr>
            </a:p>
          </p:txBody>
        </p:sp>
      </p:grpSp>
      <p:sp>
        <p:nvSpPr>
          <p:cNvPr id="27" name="Text Box 16"/>
          <p:cNvSpPr txBox="1">
            <a:spLocks noChangeArrowheads="1"/>
          </p:cNvSpPr>
          <p:nvPr/>
        </p:nvSpPr>
        <p:spPr bwMode="auto">
          <a:xfrm>
            <a:off x="7686834" y="4042961"/>
            <a:ext cx="2585630"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pl-PL" altLang="pl-PL" b="1" dirty="0" err="1">
                <a:solidFill>
                  <a:schemeClr val="accent5">
                    <a:lumMod val="50000"/>
                  </a:schemeClr>
                </a:solidFill>
              </a:rPr>
              <a:t>Only</a:t>
            </a:r>
            <a:r>
              <a:rPr lang="pl-PL" altLang="pl-PL" b="1" dirty="0">
                <a:solidFill>
                  <a:schemeClr val="accent5">
                    <a:lumMod val="50000"/>
                  </a:schemeClr>
                </a:solidFill>
              </a:rPr>
              <a:t> x1 </a:t>
            </a:r>
            <a:r>
              <a:rPr lang="en-US" altLang="pl-PL" b="1" dirty="0">
                <a:solidFill>
                  <a:schemeClr val="accent5">
                    <a:lumMod val="50000"/>
                  </a:schemeClr>
                </a:solidFill>
              </a:rPr>
              <a:t> is purchased</a:t>
            </a:r>
          </a:p>
          <a:p>
            <a:pPr>
              <a:spcBef>
                <a:spcPct val="50000"/>
              </a:spcBef>
            </a:pPr>
            <a:r>
              <a:rPr lang="en-US" altLang="pl-PL" b="1" dirty="0">
                <a:solidFill>
                  <a:schemeClr val="accent5">
                    <a:lumMod val="50000"/>
                  </a:schemeClr>
                </a:solidFill>
              </a:rPr>
              <a:t>r</a:t>
            </a:r>
            <a:r>
              <a:rPr lang="pl-PL" altLang="pl-PL" b="1" dirty="0">
                <a:solidFill>
                  <a:schemeClr val="accent5">
                    <a:lumMod val="50000"/>
                  </a:schemeClr>
                </a:solidFill>
              </a:rPr>
              <a:t>1</a:t>
            </a:r>
            <a:r>
              <a:rPr lang="en-US" altLang="pl-PL" b="1" dirty="0">
                <a:solidFill>
                  <a:schemeClr val="accent5">
                    <a:lumMod val="50000"/>
                  </a:schemeClr>
                </a:solidFill>
              </a:rPr>
              <a:t> &gt;= p1</a:t>
            </a:r>
            <a:r>
              <a:rPr lang="pl-PL" altLang="pl-PL" b="1" dirty="0">
                <a:solidFill>
                  <a:schemeClr val="accent5">
                    <a:lumMod val="50000"/>
                  </a:schemeClr>
                </a:solidFill>
              </a:rPr>
              <a:t>  </a:t>
            </a:r>
            <a:r>
              <a:rPr lang="en-US" altLang="pl-PL" b="1" dirty="0">
                <a:solidFill>
                  <a:schemeClr val="accent5">
                    <a:lumMod val="50000"/>
                  </a:schemeClr>
                </a:solidFill>
              </a:rPr>
              <a:t>and</a:t>
            </a:r>
            <a:r>
              <a:rPr lang="pl-PL" altLang="pl-PL" b="1" dirty="0">
                <a:solidFill>
                  <a:schemeClr val="accent5">
                    <a:lumMod val="50000"/>
                  </a:schemeClr>
                </a:solidFill>
              </a:rPr>
              <a:t> </a:t>
            </a:r>
            <a:r>
              <a:rPr lang="en-US" altLang="pl-PL" b="1" dirty="0">
                <a:solidFill>
                  <a:schemeClr val="accent5">
                    <a:lumMod val="50000"/>
                  </a:schemeClr>
                </a:solidFill>
              </a:rPr>
              <a:t>r</a:t>
            </a:r>
            <a:r>
              <a:rPr lang="pl-PL" altLang="pl-PL" b="1" dirty="0">
                <a:solidFill>
                  <a:schemeClr val="accent5">
                    <a:lumMod val="50000"/>
                  </a:schemeClr>
                </a:solidFill>
              </a:rPr>
              <a:t>2</a:t>
            </a:r>
            <a:r>
              <a:rPr lang="en-US" altLang="pl-PL" b="1" dirty="0">
                <a:solidFill>
                  <a:schemeClr val="accent5">
                    <a:lumMod val="50000"/>
                  </a:schemeClr>
                </a:solidFill>
              </a:rPr>
              <a:t> </a:t>
            </a:r>
            <a:r>
              <a:rPr lang="pl-PL" altLang="pl-PL" b="1" dirty="0">
                <a:solidFill>
                  <a:schemeClr val="accent5">
                    <a:lumMod val="50000"/>
                  </a:schemeClr>
                </a:solidFill>
              </a:rPr>
              <a:t>&lt;</a:t>
            </a:r>
            <a:r>
              <a:rPr lang="en-US" altLang="pl-PL" b="1" dirty="0">
                <a:solidFill>
                  <a:schemeClr val="accent5">
                    <a:lumMod val="50000"/>
                  </a:schemeClr>
                </a:solidFill>
              </a:rPr>
              <a:t> p</a:t>
            </a:r>
            <a:r>
              <a:rPr lang="pl-PL" altLang="pl-PL" b="1" dirty="0">
                <a:solidFill>
                  <a:schemeClr val="accent5">
                    <a:lumMod val="50000"/>
                  </a:schemeClr>
                </a:solidFill>
              </a:rPr>
              <a:t>2</a:t>
            </a:r>
            <a:endParaRPr lang="en-US" altLang="pl-PL" b="1" dirty="0">
              <a:solidFill>
                <a:schemeClr val="accent5">
                  <a:lumMod val="50000"/>
                </a:schemeClr>
              </a:solidFill>
            </a:endParaRPr>
          </a:p>
        </p:txBody>
      </p:sp>
      <p:sp>
        <p:nvSpPr>
          <p:cNvPr id="30" name="Prostokąt 29"/>
          <p:cNvSpPr/>
          <p:nvPr/>
        </p:nvSpPr>
        <p:spPr>
          <a:xfrm>
            <a:off x="5903285" y="4031716"/>
            <a:ext cx="1440160" cy="646331"/>
          </a:xfrm>
          <a:prstGeom prst="rect">
            <a:avLst/>
          </a:prstGeom>
        </p:spPr>
        <p:txBody>
          <a:bodyPr wrap="square">
            <a:spAutoFit/>
          </a:bodyPr>
          <a:lstStyle/>
          <a:p>
            <a:r>
              <a:rPr lang="en-US" b="1" dirty="0">
                <a:solidFill>
                  <a:schemeClr val="accent5">
                    <a:lumMod val="50000"/>
                  </a:schemeClr>
                </a:solidFill>
              </a:rPr>
              <a:t>Nothing is purchased</a:t>
            </a:r>
          </a:p>
        </p:txBody>
      </p:sp>
      <p:sp>
        <p:nvSpPr>
          <p:cNvPr id="23" name="Tytuł 2"/>
          <p:cNvSpPr txBox="1">
            <a:spLocks/>
          </p:cNvSpPr>
          <p:nvPr/>
        </p:nvSpPr>
        <p:spPr>
          <a:xfrm>
            <a:off x="0" y="-16695"/>
            <a:ext cx="12192000" cy="90872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5">
                    <a:lumMod val="50000"/>
                  </a:schemeClr>
                </a:solidFill>
              </a:rPr>
              <a:t>Formal model of bundling (</a:t>
            </a:r>
            <a:r>
              <a:rPr lang="pl-PL" b="1" dirty="0">
                <a:solidFill>
                  <a:schemeClr val="accent5">
                    <a:lumMod val="50000"/>
                  </a:schemeClr>
                </a:solidFill>
              </a:rPr>
              <a:t>3</a:t>
            </a:r>
            <a:r>
              <a:rPr lang="en-US" b="1" dirty="0">
                <a:solidFill>
                  <a:schemeClr val="accent5">
                    <a:lumMod val="50000"/>
                  </a:schemeClr>
                </a:solidFill>
              </a:rPr>
              <a:t>) </a:t>
            </a:r>
            <a:endParaRPr lang="pl-PL" b="1" dirty="0">
              <a:solidFill>
                <a:schemeClr val="accent5">
                  <a:lumMod val="50000"/>
                </a:schemeClr>
              </a:solidFill>
            </a:endParaRPr>
          </a:p>
        </p:txBody>
      </p:sp>
    </p:spTree>
    <p:extLst>
      <p:ext uri="{BB962C8B-B14F-4D97-AF65-F5344CB8AC3E}">
        <p14:creationId xmlns:p14="http://schemas.microsoft.com/office/powerpoint/2010/main" val="32971039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ymbol zastępczy numeru slajdu 5"/>
          <p:cNvSpPr>
            <a:spLocks noGrp="1"/>
          </p:cNvSpPr>
          <p:nvPr>
            <p:ph type="sldNum" sz="quarter" idx="12"/>
          </p:nvPr>
        </p:nvSpPr>
        <p:spPr>
          <a:noFill/>
        </p:spPr>
        <p:txBody>
          <a:bodyPr/>
          <a:lstStyle/>
          <a:p>
            <a:fld id="{6343AABC-F10A-4B7E-925B-C88150FA78F4}" type="slidenum">
              <a:rPr lang="pl-PL" smtClean="0"/>
              <a:pPr/>
              <a:t>43</a:t>
            </a:fld>
            <a:endParaRPr lang="pl-PL"/>
          </a:p>
        </p:txBody>
      </p:sp>
      <p:sp>
        <p:nvSpPr>
          <p:cNvPr id="3" name="Tytuł 2"/>
          <p:cNvSpPr>
            <a:spLocks noGrp="1"/>
          </p:cNvSpPr>
          <p:nvPr>
            <p:ph type="title"/>
          </p:nvPr>
        </p:nvSpPr>
        <p:spPr>
          <a:xfrm>
            <a:off x="-1" y="0"/>
            <a:ext cx="12191999" cy="980728"/>
          </a:xfrm>
          <a:solidFill>
            <a:schemeClr val="accent5">
              <a:lumMod val="20000"/>
              <a:lumOff val="80000"/>
            </a:schemeClr>
          </a:solidFill>
        </p:spPr>
        <p:txBody>
          <a:bodyPr/>
          <a:lstStyle/>
          <a:p>
            <a:r>
              <a:rPr lang="en-US" b="1" dirty="0">
                <a:solidFill>
                  <a:schemeClr val="accent5">
                    <a:lumMod val="50000"/>
                  </a:schemeClr>
                </a:solidFill>
              </a:rPr>
              <a:t>Formal model of bundling (</a:t>
            </a:r>
            <a:r>
              <a:rPr lang="pl-PL" b="1" dirty="0">
                <a:solidFill>
                  <a:schemeClr val="accent5">
                    <a:lumMod val="50000"/>
                  </a:schemeClr>
                </a:solidFill>
              </a:rPr>
              <a:t>4</a:t>
            </a:r>
            <a:r>
              <a:rPr lang="en-US" b="1" dirty="0">
                <a:solidFill>
                  <a:schemeClr val="accent5">
                    <a:lumMod val="50000"/>
                  </a:schemeClr>
                </a:solidFill>
              </a:rPr>
              <a:t>) </a:t>
            </a:r>
            <a:endParaRPr lang="pl-PL" b="1" dirty="0">
              <a:solidFill>
                <a:schemeClr val="accent5">
                  <a:lumMod val="50000"/>
                </a:schemeClr>
              </a:solidFill>
            </a:endParaRPr>
          </a:p>
        </p:txBody>
      </p:sp>
      <p:sp>
        <p:nvSpPr>
          <p:cNvPr id="4" name="Prostokąt 3"/>
          <p:cNvSpPr/>
          <p:nvPr/>
        </p:nvSpPr>
        <p:spPr>
          <a:xfrm>
            <a:off x="1919536" y="2618490"/>
            <a:ext cx="2516458" cy="1815882"/>
          </a:xfrm>
          <a:prstGeom prst="rect">
            <a:avLst/>
          </a:prstGeom>
        </p:spPr>
        <p:txBody>
          <a:bodyPr wrap="none">
            <a:spAutoFit/>
          </a:bodyPr>
          <a:lstStyle/>
          <a:p>
            <a:r>
              <a:rPr lang="en-GB" sz="2800" b="1" dirty="0">
                <a:solidFill>
                  <a:schemeClr val="accent5">
                    <a:lumMod val="50000"/>
                  </a:schemeClr>
                </a:solidFill>
              </a:rPr>
              <a:t>Mixed Bundling</a:t>
            </a:r>
          </a:p>
          <a:p>
            <a:r>
              <a:rPr lang="en-GB" sz="2800" dirty="0">
                <a:solidFill>
                  <a:schemeClr val="accent5">
                    <a:lumMod val="50000"/>
                  </a:schemeClr>
                </a:solidFill>
              </a:rPr>
              <a:t>Firm sells good </a:t>
            </a:r>
          </a:p>
          <a:p>
            <a:r>
              <a:rPr lang="en-GB" sz="2800" dirty="0">
                <a:solidFill>
                  <a:schemeClr val="accent5">
                    <a:lumMod val="50000"/>
                  </a:schemeClr>
                </a:solidFill>
              </a:rPr>
              <a:t>separately </a:t>
            </a:r>
          </a:p>
          <a:p>
            <a:r>
              <a:rPr lang="en-GB" sz="2800" dirty="0">
                <a:solidFill>
                  <a:schemeClr val="accent5">
                    <a:lumMod val="50000"/>
                  </a:schemeClr>
                </a:solidFill>
              </a:rPr>
              <a:t>or as a bundle </a:t>
            </a:r>
          </a:p>
        </p:txBody>
      </p:sp>
      <p:grpSp>
        <p:nvGrpSpPr>
          <p:cNvPr id="2" name="Grupa 1"/>
          <p:cNvGrpSpPr/>
          <p:nvPr/>
        </p:nvGrpSpPr>
        <p:grpSpPr>
          <a:xfrm>
            <a:off x="4218152" y="1386091"/>
            <a:ext cx="5468987" cy="4423518"/>
            <a:chOff x="3126605" y="1758961"/>
            <a:chExt cx="5468987" cy="4423518"/>
          </a:xfrm>
        </p:grpSpPr>
        <p:grpSp>
          <p:nvGrpSpPr>
            <p:cNvPr id="7" name="Grupa 6"/>
            <p:cNvGrpSpPr/>
            <p:nvPr/>
          </p:nvGrpSpPr>
          <p:grpSpPr>
            <a:xfrm>
              <a:off x="3126605" y="1758961"/>
              <a:ext cx="5241703" cy="4423518"/>
              <a:chOff x="3706813" y="1663700"/>
              <a:chExt cx="4105275" cy="3848771"/>
            </a:xfrm>
          </p:grpSpPr>
          <p:grpSp>
            <p:nvGrpSpPr>
              <p:cNvPr id="6" name="Grupa 5"/>
              <p:cNvGrpSpPr/>
              <p:nvPr/>
            </p:nvGrpSpPr>
            <p:grpSpPr>
              <a:xfrm>
                <a:off x="3779838" y="1663700"/>
                <a:ext cx="4032250" cy="3848771"/>
                <a:chOff x="4787900" y="2708275"/>
                <a:chExt cx="4032250" cy="3848771"/>
              </a:xfrm>
            </p:grpSpPr>
            <p:sp>
              <p:nvSpPr>
                <p:cNvPr id="14" name="Line 7"/>
                <p:cNvSpPr>
                  <a:spLocks noChangeShapeType="1"/>
                </p:cNvSpPr>
                <p:nvPr/>
              </p:nvSpPr>
              <p:spPr bwMode="auto">
                <a:xfrm>
                  <a:off x="5219700" y="2708275"/>
                  <a:ext cx="0" cy="3455988"/>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l-PL" b="1">
                    <a:solidFill>
                      <a:schemeClr val="accent5">
                        <a:lumMod val="50000"/>
                      </a:schemeClr>
                    </a:solidFill>
                  </a:endParaRPr>
                </a:p>
              </p:txBody>
            </p:sp>
            <p:sp>
              <p:nvSpPr>
                <p:cNvPr id="15" name="Line 8"/>
                <p:cNvSpPr>
                  <a:spLocks noChangeShapeType="1"/>
                </p:cNvSpPr>
                <p:nvPr/>
              </p:nvSpPr>
              <p:spPr bwMode="auto">
                <a:xfrm>
                  <a:off x="5219700" y="6164263"/>
                  <a:ext cx="360045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l-PL" b="1">
                    <a:solidFill>
                      <a:schemeClr val="accent5">
                        <a:lumMod val="50000"/>
                      </a:schemeClr>
                    </a:solidFill>
                  </a:endParaRPr>
                </a:p>
              </p:txBody>
            </p:sp>
            <p:sp>
              <p:nvSpPr>
                <p:cNvPr id="16" name="Line 9"/>
                <p:cNvSpPr>
                  <a:spLocks noChangeShapeType="1"/>
                </p:cNvSpPr>
                <p:nvPr/>
              </p:nvSpPr>
              <p:spPr bwMode="auto">
                <a:xfrm flipH="1">
                  <a:off x="7019924" y="5539670"/>
                  <a:ext cx="2" cy="624590"/>
                </a:xfrm>
                <a:prstGeom prst="line">
                  <a:avLst/>
                </a:prstGeom>
                <a:ln>
                  <a:headEnd/>
                  <a:tailEnd/>
                </a:ln>
              </p:spPr>
              <p:style>
                <a:lnRef idx="3">
                  <a:schemeClr val="accent3"/>
                </a:lnRef>
                <a:fillRef idx="0">
                  <a:schemeClr val="accent3"/>
                </a:fillRef>
                <a:effectRef idx="2">
                  <a:schemeClr val="accent3"/>
                </a:effectRef>
                <a:fontRef idx="minor">
                  <a:schemeClr val="tx1"/>
                </a:fontRef>
              </p:style>
              <p:txBody>
                <a:bodyPr/>
                <a:lstStyle/>
                <a:p>
                  <a:endParaRPr lang="pl-PL" b="1">
                    <a:solidFill>
                      <a:schemeClr val="accent5">
                        <a:lumMod val="50000"/>
                      </a:schemeClr>
                    </a:solidFill>
                  </a:endParaRPr>
                </a:p>
              </p:txBody>
            </p:sp>
            <p:sp>
              <p:nvSpPr>
                <p:cNvPr id="17" name="Line 10"/>
                <p:cNvSpPr>
                  <a:spLocks noChangeShapeType="1"/>
                </p:cNvSpPr>
                <p:nvPr/>
              </p:nvSpPr>
              <p:spPr bwMode="auto">
                <a:xfrm>
                  <a:off x="5183981" y="3614769"/>
                  <a:ext cx="2412305" cy="2549492"/>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endParaRPr lang="pl-PL" b="1">
                    <a:solidFill>
                      <a:schemeClr val="accent5">
                        <a:lumMod val="50000"/>
                      </a:schemeClr>
                    </a:solidFill>
                  </a:endParaRPr>
                </a:p>
              </p:txBody>
            </p:sp>
            <p:sp>
              <p:nvSpPr>
                <p:cNvPr id="18" name="Text Box 12"/>
                <p:cNvSpPr txBox="1">
                  <a:spLocks noChangeArrowheads="1"/>
                </p:cNvSpPr>
                <p:nvPr/>
              </p:nvSpPr>
              <p:spPr bwMode="auto">
                <a:xfrm>
                  <a:off x="8316912" y="6235700"/>
                  <a:ext cx="360363" cy="32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a:solidFill>
                        <a:schemeClr val="accent5">
                          <a:lumMod val="50000"/>
                        </a:schemeClr>
                      </a:solidFill>
                    </a:rPr>
                    <a:t>r</a:t>
                  </a:r>
                  <a:r>
                    <a:rPr lang="en-NZ" altLang="pl-PL" b="1" baseline="-25000">
                      <a:solidFill>
                        <a:schemeClr val="accent5">
                          <a:lumMod val="50000"/>
                        </a:schemeClr>
                      </a:solidFill>
                    </a:rPr>
                    <a:t>1</a:t>
                  </a:r>
                  <a:endParaRPr lang="en-NZ" altLang="pl-PL" b="1">
                    <a:solidFill>
                      <a:schemeClr val="accent5">
                        <a:lumMod val="50000"/>
                      </a:schemeClr>
                    </a:solidFill>
                  </a:endParaRPr>
                </a:p>
              </p:txBody>
            </p:sp>
            <p:sp>
              <p:nvSpPr>
                <p:cNvPr id="19" name="Text Box 13"/>
                <p:cNvSpPr txBox="1">
                  <a:spLocks noChangeArrowheads="1"/>
                </p:cNvSpPr>
                <p:nvPr/>
              </p:nvSpPr>
              <p:spPr bwMode="auto">
                <a:xfrm>
                  <a:off x="4787900" y="2852738"/>
                  <a:ext cx="360363" cy="32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a:solidFill>
                        <a:schemeClr val="accent5">
                          <a:lumMod val="50000"/>
                        </a:schemeClr>
                      </a:solidFill>
                    </a:rPr>
                    <a:t>r</a:t>
                  </a:r>
                  <a:r>
                    <a:rPr lang="en-NZ" altLang="pl-PL" b="1" baseline="-25000">
                      <a:solidFill>
                        <a:schemeClr val="accent5">
                          <a:lumMod val="50000"/>
                        </a:schemeClr>
                      </a:solidFill>
                    </a:rPr>
                    <a:t>2</a:t>
                  </a:r>
                  <a:endParaRPr lang="en-NZ" altLang="pl-PL" b="1">
                    <a:solidFill>
                      <a:schemeClr val="accent5">
                        <a:lumMod val="50000"/>
                      </a:schemeClr>
                    </a:solidFill>
                  </a:endParaRPr>
                </a:p>
              </p:txBody>
            </p:sp>
            <p:sp>
              <p:nvSpPr>
                <p:cNvPr id="20" name="Text Box 15"/>
                <p:cNvSpPr txBox="1">
                  <a:spLocks noChangeArrowheads="1"/>
                </p:cNvSpPr>
                <p:nvPr/>
              </p:nvSpPr>
              <p:spPr bwMode="auto">
                <a:xfrm>
                  <a:off x="6732588" y="6235701"/>
                  <a:ext cx="504825" cy="32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dirty="0">
                      <a:solidFill>
                        <a:schemeClr val="accent5">
                          <a:lumMod val="50000"/>
                        </a:schemeClr>
                      </a:solidFill>
                    </a:rPr>
                    <a:t>p</a:t>
                  </a:r>
                  <a:r>
                    <a:rPr lang="en-NZ" altLang="pl-PL" b="1" baseline="-25000" dirty="0">
                      <a:solidFill>
                        <a:schemeClr val="accent5">
                          <a:lumMod val="50000"/>
                        </a:schemeClr>
                      </a:solidFill>
                    </a:rPr>
                    <a:t>1</a:t>
                  </a:r>
                  <a:endParaRPr lang="en-NZ" altLang="pl-PL" b="1" dirty="0">
                    <a:solidFill>
                      <a:schemeClr val="accent5">
                        <a:lumMod val="50000"/>
                      </a:schemeClr>
                    </a:solidFill>
                  </a:endParaRPr>
                </a:p>
              </p:txBody>
            </p:sp>
            <p:sp>
              <p:nvSpPr>
                <p:cNvPr id="21" name="Text Box 16"/>
                <p:cNvSpPr txBox="1">
                  <a:spLocks noChangeArrowheads="1"/>
                </p:cNvSpPr>
                <p:nvPr/>
              </p:nvSpPr>
              <p:spPr bwMode="auto">
                <a:xfrm>
                  <a:off x="5259629" y="2991831"/>
                  <a:ext cx="953211" cy="56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pl-PL" altLang="pl-PL" b="1" dirty="0">
                      <a:solidFill>
                        <a:schemeClr val="accent5">
                          <a:lumMod val="50000"/>
                        </a:schemeClr>
                      </a:solidFill>
                    </a:rPr>
                    <a:t>x2 </a:t>
                  </a:r>
                  <a:r>
                    <a:rPr lang="en-US" altLang="pl-PL" b="1" dirty="0">
                      <a:solidFill>
                        <a:schemeClr val="accent5">
                          <a:lumMod val="50000"/>
                        </a:schemeClr>
                      </a:solidFill>
                    </a:rPr>
                    <a:t> is </a:t>
                  </a:r>
                  <a:r>
                    <a:rPr lang="pl-PL" altLang="pl-PL" b="1" dirty="0">
                      <a:solidFill>
                        <a:schemeClr val="accent5">
                          <a:lumMod val="50000"/>
                        </a:schemeClr>
                      </a:solidFill>
                    </a:rPr>
                    <a:t>p</a:t>
                  </a:r>
                  <a:r>
                    <a:rPr lang="en-US" altLang="pl-PL" b="1" dirty="0" err="1">
                      <a:solidFill>
                        <a:schemeClr val="accent5">
                          <a:lumMod val="50000"/>
                        </a:schemeClr>
                      </a:solidFill>
                    </a:rPr>
                    <a:t>urchased</a:t>
                  </a:r>
                  <a:endParaRPr lang="en-US" altLang="pl-PL" b="1" dirty="0">
                    <a:solidFill>
                      <a:schemeClr val="accent5">
                        <a:lumMod val="50000"/>
                      </a:schemeClr>
                    </a:solidFill>
                  </a:endParaRPr>
                </a:p>
              </p:txBody>
            </p:sp>
            <p:sp>
              <p:nvSpPr>
                <p:cNvPr id="22" name="Text Box 17"/>
                <p:cNvSpPr txBox="1">
                  <a:spLocks noChangeArrowheads="1"/>
                </p:cNvSpPr>
                <p:nvPr/>
              </p:nvSpPr>
              <p:spPr bwMode="auto">
                <a:xfrm>
                  <a:off x="6716062" y="4008168"/>
                  <a:ext cx="1464646" cy="80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pl-PL" altLang="pl-PL" b="1" dirty="0">
                      <a:solidFill>
                        <a:schemeClr val="accent5">
                          <a:lumMod val="50000"/>
                        </a:schemeClr>
                      </a:solidFill>
                    </a:rPr>
                    <a:t>x</a:t>
                  </a:r>
                  <a:r>
                    <a:rPr lang="pl-PL" altLang="pl-PL" b="1" baseline="-25000" dirty="0">
                      <a:solidFill>
                        <a:schemeClr val="accent5">
                          <a:lumMod val="50000"/>
                        </a:schemeClr>
                      </a:solidFill>
                    </a:rPr>
                    <a:t>1</a:t>
                  </a:r>
                  <a:r>
                    <a:rPr lang="pl-PL" altLang="pl-PL" b="1" dirty="0">
                      <a:solidFill>
                        <a:schemeClr val="accent5">
                          <a:lumMod val="50000"/>
                        </a:schemeClr>
                      </a:solidFill>
                    </a:rPr>
                    <a:t> and x</a:t>
                  </a:r>
                  <a:r>
                    <a:rPr lang="pl-PL" altLang="pl-PL" b="1" baseline="-25000" dirty="0">
                      <a:solidFill>
                        <a:schemeClr val="accent5">
                          <a:lumMod val="50000"/>
                        </a:schemeClr>
                      </a:solidFill>
                    </a:rPr>
                    <a:t>2</a:t>
                  </a:r>
                  <a:r>
                    <a:rPr lang="en-US" altLang="pl-PL" b="1" dirty="0">
                      <a:solidFill>
                        <a:schemeClr val="accent5">
                          <a:lumMod val="50000"/>
                        </a:schemeClr>
                      </a:solidFill>
                    </a:rPr>
                    <a:t> </a:t>
                  </a:r>
                  <a:r>
                    <a:rPr lang="pl-PL" altLang="pl-PL" b="1" dirty="0" err="1">
                      <a:solidFill>
                        <a:schemeClr val="accent5">
                          <a:lumMod val="50000"/>
                        </a:schemeClr>
                      </a:solidFill>
                    </a:rPr>
                    <a:t>are</a:t>
                  </a:r>
                  <a:r>
                    <a:rPr lang="en-US" altLang="pl-PL" b="1" dirty="0">
                      <a:solidFill>
                        <a:schemeClr val="accent5">
                          <a:lumMod val="50000"/>
                        </a:schemeClr>
                      </a:solidFill>
                    </a:rPr>
                    <a:t> purchased</a:t>
                  </a:r>
                  <a:r>
                    <a:rPr lang="pl-PL" altLang="pl-PL" b="1" dirty="0">
                      <a:solidFill>
                        <a:schemeClr val="accent5">
                          <a:lumMod val="50000"/>
                        </a:schemeClr>
                      </a:solidFill>
                    </a:rPr>
                    <a:t> (as </a:t>
                  </a:r>
                  <a:r>
                    <a:rPr lang="pl-PL" altLang="pl-PL" b="1" dirty="0" err="1">
                      <a:solidFill>
                        <a:schemeClr val="accent5">
                          <a:lumMod val="50000"/>
                        </a:schemeClr>
                      </a:solidFill>
                    </a:rPr>
                    <a:t>bundle</a:t>
                  </a:r>
                  <a:r>
                    <a:rPr lang="pl-PL" altLang="pl-PL" b="1" dirty="0">
                      <a:solidFill>
                        <a:schemeClr val="accent5">
                          <a:lumMod val="50000"/>
                        </a:schemeClr>
                      </a:solidFill>
                    </a:rPr>
                    <a:t>)</a:t>
                  </a:r>
                  <a:endParaRPr lang="en-US" altLang="pl-PL" b="1" dirty="0">
                    <a:solidFill>
                      <a:schemeClr val="accent5">
                        <a:lumMod val="50000"/>
                      </a:schemeClr>
                    </a:solidFill>
                  </a:endParaRPr>
                </a:p>
              </p:txBody>
            </p:sp>
          </p:grpSp>
          <p:sp>
            <p:nvSpPr>
              <p:cNvPr id="25" name="Text Box 14"/>
              <p:cNvSpPr txBox="1">
                <a:spLocks noChangeArrowheads="1"/>
              </p:cNvSpPr>
              <p:nvPr/>
            </p:nvSpPr>
            <p:spPr bwMode="auto">
              <a:xfrm>
                <a:off x="3706813" y="3468458"/>
                <a:ext cx="504825" cy="32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altLang="pl-PL" b="1" dirty="0">
                    <a:solidFill>
                      <a:schemeClr val="accent5">
                        <a:lumMod val="50000"/>
                      </a:schemeClr>
                    </a:solidFill>
                  </a:rPr>
                  <a:t>p</a:t>
                </a:r>
                <a:r>
                  <a:rPr lang="pl-PL" altLang="pl-PL" b="1" baseline="-25000" dirty="0">
                    <a:solidFill>
                      <a:schemeClr val="accent5">
                        <a:lumMod val="50000"/>
                      </a:schemeClr>
                    </a:solidFill>
                  </a:rPr>
                  <a:t>2</a:t>
                </a:r>
                <a:endParaRPr lang="en-NZ" altLang="pl-PL" b="1" dirty="0">
                  <a:solidFill>
                    <a:schemeClr val="accent5">
                      <a:lumMod val="50000"/>
                    </a:schemeClr>
                  </a:solidFill>
                </a:endParaRPr>
              </a:p>
            </p:txBody>
          </p:sp>
        </p:grpSp>
        <p:sp>
          <p:nvSpPr>
            <p:cNvPr id="27" name="Text Box 16"/>
            <p:cNvSpPr txBox="1">
              <a:spLocks noChangeArrowheads="1"/>
            </p:cNvSpPr>
            <p:nvPr/>
          </p:nvSpPr>
          <p:spPr bwMode="auto">
            <a:xfrm>
              <a:off x="6660232" y="5150956"/>
              <a:ext cx="19353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pl-PL" altLang="pl-PL" b="1" dirty="0">
                  <a:solidFill>
                    <a:schemeClr val="accent5">
                      <a:lumMod val="50000"/>
                    </a:schemeClr>
                  </a:solidFill>
                </a:rPr>
                <a:t>x1 </a:t>
              </a:r>
              <a:r>
                <a:rPr lang="en-US" altLang="pl-PL" b="1" dirty="0">
                  <a:solidFill>
                    <a:schemeClr val="accent5">
                      <a:lumMod val="50000"/>
                    </a:schemeClr>
                  </a:solidFill>
                </a:rPr>
                <a:t> is purchased</a:t>
              </a:r>
            </a:p>
          </p:txBody>
        </p:sp>
        <p:sp>
          <p:nvSpPr>
            <p:cNvPr id="30" name="Prostokąt 29"/>
            <p:cNvSpPr/>
            <p:nvPr/>
          </p:nvSpPr>
          <p:spPr>
            <a:xfrm>
              <a:off x="4035105" y="4504625"/>
              <a:ext cx="1440160" cy="646331"/>
            </a:xfrm>
            <a:prstGeom prst="rect">
              <a:avLst/>
            </a:prstGeom>
          </p:spPr>
          <p:txBody>
            <a:bodyPr wrap="square">
              <a:spAutoFit/>
            </a:bodyPr>
            <a:lstStyle/>
            <a:p>
              <a:r>
                <a:rPr lang="en-US" b="1" dirty="0">
                  <a:solidFill>
                    <a:schemeClr val="accent5">
                      <a:lumMod val="50000"/>
                    </a:schemeClr>
                  </a:solidFill>
                </a:rPr>
                <a:t>Nothing is purchased</a:t>
              </a:r>
            </a:p>
          </p:txBody>
        </p:sp>
        <p:sp>
          <p:nvSpPr>
            <p:cNvPr id="38" name="Line 9"/>
            <p:cNvSpPr>
              <a:spLocks noChangeShapeType="1"/>
            </p:cNvSpPr>
            <p:nvPr/>
          </p:nvSpPr>
          <p:spPr bwMode="auto">
            <a:xfrm flipH="1">
              <a:off x="3780727" y="4017894"/>
              <a:ext cx="1258512" cy="0"/>
            </a:xfrm>
            <a:prstGeom prst="line">
              <a:avLst/>
            </a:prstGeom>
            <a:ln>
              <a:headEnd/>
              <a:tailEnd/>
            </a:ln>
          </p:spPr>
          <p:style>
            <a:lnRef idx="2">
              <a:schemeClr val="accent3"/>
            </a:lnRef>
            <a:fillRef idx="0">
              <a:schemeClr val="accent3"/>
            </a:fillRef>
            <a:effectRef idx="1">
              <a:schemeClr val="accent3"/>
            </a:effectRef>
            <a:fontRef idx="minor">
              <a:schemeClr val="tx1"/>
            </a:fontRef>
          </p:style>
          <p:txBody>
            <a:bodyPr/>
            <a:lstStyle/>
            <a:p>
              <a:endParaRPr lang="pl-PL" b="1">
                <a:solidFill>
                  <a:schemeClr val="accent5">
                    <a:lumMod val="50000"/>
                  </a:schemeClr>
                </a:solidFill>
              </a:endParaRPr>
            </a:p>
          </p:txBody>
        </p:sp>
        <p:sp>
          <p:nvSpPr>
            <p:cNvPr id="39" name="Line 9"/>
            <p:cNvSpPr>
              <a:spLocks noChangeShapeType="1"/>
            </p:cNvSpPr>
            <p:nvPr/>
          </p:nvSpPr>
          <p:spPr bwMode="auto">
            <a:xfrm flipH="1" flipV="1">
              <a:off x="5024704" y="4017894"/>
              <a:ext cx="1045037" cy="995282"/>
            </a:xfrm>
            <a:prstGeom prst="line">
              <a:avLst/>
            </a:prstGeom>
            <a:ln>
              <a:headEnd/>
              <a:tailEnd/>
            </a:ln>
          </p:spPr>
          <p:style>
            <a:lnRef idx="3">
              <a:schemeClr val="accent3"/>
            </a:lnRef>
            <a:fillRef idx="0">
              <a:schemeClr val="accent3"/>
            </a:fillRef>
            <a:effectRef idx="2">
              <a:schemeClr val="accent3"/>
            </a:effectRef>
            <a:fontRef idx="minor">
              <a:schemeClr val="tx1"/>
            </a:fontRef>
          </p:style>
          <p:txBody>
            <a:bodyPr/>
            <a:lstStyle/>
            <a:p>
              <a:endParaRPr lang="pl-PL" b="1">
                <a:solidFill>
                  <a:schemeClr val="accent5">
                    <a:lumMod val="50000"/>
                  </a:schemeClr>
                </a:solidFill>
              </a:endParaRPr>
            </a:p>
          </p:txBody>
        </p:sp>
      </p:grpSp>
      <p:sp>
        <p:nvSpPr>
          <p:cNvPr id="23" name="Line 9"/>
          <p:cNvSpPr>
            <a:spLocks noChangeShapeType="1"/>
          </p:cNvSpPr>
          <p:nvPr/>
        </p:nvSpPr>
        <p:spPr bwMode="auto">
          <a:xfrm flipH="1" flipV="1">
            <a:off x="6077338" y="1509994"/>
            <a:ext cx="0" cy="2085433"/>
          </a:xfrm>
          <a:prstGeom prst="line">
            <a:avLst/>
          </a:prstGeom>
          <a:ln>
            <a:headEnd/>
            <a:tailEnd/>
          </a:ln>
        </p:spPr>
        <p:style>
          <a:lnRef idx="2">
            <a:schemeClr val="accent3"/>
          </a:lnRef>
          <a:fillRef idx="0">
            <a:schemeClr val="accent3"/>
          </a:fillRef>
          <a:effectRef idx="1">
            <a:schemeClr val="accent3"/>
          </a:effectRef>
          <a:fontRef idx="minor">
            <a:schemeClr val="tx1"/>
          </a:fontRef>
        </p:style>
        <p:txBody>
          <a:bodyPr/>
          <a:lstStyle/>
          <a:p>
            <a:endParaRPr lang="pl-PL" b="1">
              <a:solidFill>
                <a:schemeClr val="accent5">
                  <a:lumMod val="50000"/>
                </a:schemeClr>
              </a:solidFill>
            </a:endParaRPr>
          </a:p>
        </p:txBody>
      </p:sp>
      <p:sp>
        <p:nvSpPr>
          <p:cNvPr id="24" name="Line 9"/>
          <p:cNvSpPr>
            <a:spLocks noChangeShapeType="1"/>
          </p:cNvSpPr>
          <p:nvPr/>
        </p:nvSpPr>
        <p:spPr bwMode="auto">
          <a:xfrm flipH="1">
            <a:off x="7161287" y="4640306"/>
            <a:ext cx="2679129" cy="0"/>
          </a:xfrm>
          <a:prstGeom prst="line">
            <a:avLst/>
          </a:prstGeom>
          <a:ln>
            <a:headEnd/>
            <a:tailEnd/>
          </a:ln>
        </p:spPr>
        <p:style>
          <a:lnRef idx="2">
            <a:schemeClr val="accent3"/>
          </a:lnRef>
          <a:fillRef idx="0">
            <a:schemeClr val="accent3"/>
          </a:fillRef>
          <a:effectRef idx="1">
            <a:schemeClr val="accent3"/>
          </a:effectRef>
          <a:fontRef idx="minor">
            <a:schemeClr val="tx1"/>
          </a:fontRef>
        </p:style>
        <p:txBody>
          <a:bodyPr/>
          <a:lstStyle/>
          <a:p>
            <a:endParaRPr lang="pl-PL" b="1">
              <a:solidFill>
                <a:schemeClr val="accent5">
                  <a:lumMod val="50000"/>
                </a:schemeClr>
              </a:solidFill>
            </a:endParaRPr>
          </a:p>
        </p:txBody>
      </p:sp>
    </p:spTree>
    <p:extLst>
      <p:ext uri="{BB962C8B-B14F-4D97-AF65-F5344CB8AC3E}">
        <p14:creationId xmlns:p14="http://schemas.microsoft.com/office/powerpoint/2010/main" val="424005563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908720"/>
          </a:xfrm>
          <a:solidFill>
            <a:schemeClr val="accent5">
              <a:lumMod val="20000"/>
              <a:lumOff val="80000"/>
            </a:schemeClr>
          </a:solidFill>
        </p:spPr>
        <p:txBody>
          <a:bodyPr>
            <a:normAutofit/>
          </a:bodyPr>
          <a:lstStyle/>
          <a:p>
            <a:r>
              <a:rPr lang="en-US" b="1" i="1" dirty="0">
                <a:solidFill>
                  <a:schemeClr val="accent5">
                    <a:lumMod val="50000"/>
                  </a:schemeClr>
                </a:solidFill>
              </a:rPr>
              <a:t>Ad hock </a:t>
            </a:r>
            <a:r>
              <a:rPr lang="en-US" b="1" dirty="0">
                <a:solidFill>
                  <a:schemeClr val="accent5">
                    <a:lumMod val="50000"/>
                  </a:schemeClr>
                </a:solidFill>
              </a:rPr>
              <a:t>research</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1154865"/>
            <a:ext cx="8603714"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72433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908720"/>
          </a:xfrm>
          <a:solidFill>
            <a:schemeClr val="accent5">
              <a:lumMod val="20000"/>
              <a:lumOff val="80000"/>
            </a:schemeClr>
          </a:solidFill>
        </p:spPr>
        <p:txBody>
          <a:bodyPr>
            <a:normAutofit/>
          </a:bodyPr>
          <a:lstStyle/>
          <a:p>
            <a:r>
              <a:rPr lang="en-US" b="1" i="1" dirty="0">
                <a:solidFill>
                  <a:schemeClr val="accent5">
                    <a:lumMod val="50000"/>
                  </a:schemeClr>
                </a:solidFill>
              </a:rPr>
              <a:t>Ad hock </a:t>
            </a:r>
            <a:r>
              <a:rPr lang="en-US" b="1" dirty="0">
                <a:solidFill>
                  <a:schemeClr val="accent5">
                    <a:lumMod val="50000"/>
                  </a:schemeClr>
                </a:solidFill>
              </a:rPr>
              <a:t>research</a:t>
            </a:r>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5" y="1052736"/>
            <a:ext cx="8917471" cy="518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13408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121920" y="0"/>
            <a:ext cx="12313920" cy="908720"/>
          </a:xfrm>
          <a:solidFill>
            <a:schemeClr val="accent5">
              <a:lumMod val="20000"/>
              <a:lumOff val="80000"/>
            </a:schemeClr>
          </a:solidFill>
        </p:spPr>
        <p:txBody>
          <a:bodyPr>
            <a:normAutofit/>
          </a:bodyPr>
          <a:lstStyle/>
          <a:p>
            <a:r>
              <a:rPr lang="en-US" b="1" i="1" dirty="0">
                <a:solidFill>
                  <a:schemeClr val="accent5">
                    <a:lumMod val="50000"/>
                  </a:schemeClr>
                </a:solidFill>
              </a:rPr>
              <a:t>Ad hock </a:t>
            </a:r>
            <a:r>
              <a:rPr lang="en-US" b="1" dirty="0">
                <a:solidFill>
                  <a:schemeClr val="accent5">
                    <a:lumMod val="50000"/>
                  </a:schemeClr>
                </a:solidFill>
              </a:rPr>
              <a:t>research</a:t>
            </a:r>
          </a:p>
        </p:txBody>
      </p:sp>
      <p:sp>
        <p:nvSpPr>
          <p:cNvPr id="4" name="Prostokąt 3"/>
          <p:cNvSpPr/>
          <p:nvPr/>
        </p:nvSpPr>
        <p:spPr>
          <a:xfrm>
            <a:off x="1991544" y="908721"/>
            <a:ext cx="4680520" cy="830997"/>
          </a:xfrm>
          <a:prstGeom prst="rect">
            <a:avLst/>
          </a:prstGeom>
        </p:spPr>
        <p:txBody>
          <a:bodyPr wrap="square">
            <a:spAutoFit/>
          </a:bodyPr>
          <a:lstStyle/>
          <a:p>
            <a:r>
              <a:rPr lang="en-GB" sz="1600" dirty="0"/>
              <a:t>&gt; summary(</a:t>
            </a:r>
            <a:r>
              <a:rPr lang="en-GB" sz="1600" dirty="0" err="1"/>
              <a:t>dane_cable$p_INT</a:t>
            </a:r>
            <a:r>
              <a:rPr lang="en-GB" sz="1600" dirty="0"/>
              <a:t>)</a:t>
            </a:r>
          </a:p>
          <a:p>
            <a:r>
              <a:rPr lang="en-GB" sz="1600" dirty="0"/>
              <a:t>   Min. 1st Qu.  Median    Mean 3rd Qu.    Max. </a:t>
            </a:r>
          </a:p>
          <a:p>
            <a:r>
              <a:rPr lang="en-GB" sz="1600" dirty="0"/>
              <a:t>   0.00   35.00   50.00   57.05   60.00 1249.11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3824" y="1844824"/>
            <a:ext cx="7431225"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2913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908720"/>
          </a:xfrm>
          <a:solidFill>
            <a:schemeClr val="accent5">
              <a:lumMod val="20000"/>
              <a:lumOff val="80000"/>
            </a:schemeClr>
          </a:solidFill>
        </p:spPr>
        <p:txBody>
          <a:bodyPr>
            <a:normAutofit/>
          </a:bodyPr>
          <a:lstStyle/>
          <a:p>
            <a:r>
              <a:rPr lang="en-US" b="1" i="1" dirty="0">
                <a:solidFill>
                  <a:schemeClr val="accent5">
                    <a:lumMod val="50000"/>
                  </a:schemeClr>
                </a:solidFill>
              </a:rPr>
              <a:t>Ad hock </a:t>
            </a:r>
            <a:r>
              <a:rPr lang="en-US" b="1" dirty="0">
                <a:solidFill>
                  <a:schemeClr val="accent5">
                    <a:lumMod val="50000"/>
                  </a:schemeClr>
                </a:solidFill>
              </a:rPr>
              <a:t>research</a:t>
            </a:r>
          </a:p>
        </p:txBody>
      </p:sp>
      <p:sp>
        <p:nvSpPr>
          <p:cNvPr id="4" name="Prostokąt 3"/>
          <p:cNvSpPr/>
          <p:nvPr/>
        </p:nvSpPr>
        <p:spPr>
          <a:xfrm>
            <a:off x="680904" y="1379632"/>
            <a:ext cx="4680520" cy="923330"/>
          </a:xfrm>
          <a:prstGeom prst="rect">
            <a:avLst/>
          </a:prstGeom>
        </p:spPr>
        <p:txBody>
          <a:bodyPr wrap="square">
            <a:spAutoFit/>
          </a:bodyPr>
          <a:lstStyle/>
          <a:p>
            <a:r>
              <a:rPr lang="en-GB" dirty="0"/>
              <a:t>&gt; summary(</a:t>
            </a:r>
            <a:r>
              <a:rPr lang="en-GB" dirty="0" err="1"/>
              <a:t>dane_cable$p_TV</a:t>
            </a:r>
            <a:r>
              <a:rPr lang="en-GB" dirty="0"/>
              <a:t>)</a:t>
            </a:r>
          </a:p>
          <a:p>
            <a:r>
              <a:rPr lang="en-GB" dirty="0"/>
              <a:t>   Min. 1st Qu.  Median    Mean 3rd Qu.    Max. </a:t>
            </a:r>
          </a:p>
          <a:p>
            <a:r>
              <a:rPr lang="en-GB" dirty="0"/>
              <a:t>   0.00   25.00   40.00   62.07   70.00 3442.50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584" y="2120082"/>
            <a:ext cx="7488832" cy="4353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35312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908720"/>
          </a:xfrm>
          <a:solidFill>
            <a:schemeClr val="accent5">
              <a:lumMod val="20000"/>
              <a:lumOff val="80000"/>
            </a:schemeClr>
          </a:solidFill>
        </p:spPr>
        <p:txBody>
          <a:bodyPr>
            <a:normAutofit/>
          </a:bodyPr>
          <a:lstStyle/>
          <a:p>
            <a:r>
              <a:rPr lang="en-US" b="1" i="1" dirty="0">
                <a:solidFill>
                  <a:schemeClr val="accent5">
                    <a:lumMod val="50000"/>
                  </a:schemeClr>
                </a:solidFill>
              </a:rPr>
              <a:t>Ad hock </a:t>
            </a:r>
            <a:r>
              <a:rPr lang="en-US" b="1" dirty="0">
                <a:solidFill>
                  <a:schemeClr val="accent5">
                    <a:lumMod val="50000"/>
                  </a:schemeClr>
                </a:solidFill>
              </a:rPr>
              <a:t>research</a:t>
            </a:r>
          </a:p>
        </p:txBody>
      </p:sp>
      <p:sp>
        <p:nvSpPr>
          <p:cNvPr id="4" name="Prostokąt 3"/>
          <p:cNvSpPr/>
          <p:nvPr/>
        </p:nvSpPr>
        <p:spPr>
          <a:xfrm>
            <a:off x="945064" y="1460912"/>
            <a:ext cx="4680520" cy="923330"/>
          </a:xfrm>
          <a:prstGeom prst="rect">
            <a:avLst/>
          </a:prstGeom>
        </p:spPr>
        <p:txBody>
          <a:bodyPr wrap="square">
            <a:spAutoFit/>
          </a:bodyPr>
          <a:lstStyle/>
          <a:p>
            <a:r>
              <a:rPr lang="en-GB" dirty="0"/>
              <a:t>&gt; summary(</a:t>
            </a:r>
            <a:r>
              <a:rPr lang="en-GB" dirty="0" err="1"/>
              <a:t>dane_cable$p_INT_TV</a:t>
            </a:r>
            <a:r>
              <a:rPr lang="en-GB" dirty="0"/>
              <a:t>)</a:t>
            </a:r>
          </a:p>
          <a:p>
            <a:r>
              <a:rPr lang="en-GB" dirty="0"/>
              <a:t>   Min. 1st Qu.  Median    Mean 3rd Qu.    Max. </a:t>
            </a:r>
          </a:p>
          <a:p>
            <a:r>
              <a:rPr lang="en-GB" dirty="0"/>
              <a:t>   0.00   55.00   80.00   95.84  120.00 2165.12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8" y="2251752"/>
            <a:ext cx="7272808" cy="42283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67319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908720"/>
          </a:xfrm>
          <a:solidFill>
            <a:schemeClr val="accent5">
              <a:lumMod val="20000"/>
              <a:lumOff val="80000"/>
            </a:schemeClr>
          </a:solidFill>
        </p:spPr>
        <p:txBody>
          <a:bodyPr>
            <a:normAutofit/>
          </a:bodyPr>
          <a:lstStyle/>
          <a:p>
            <a:r>
              <a:rPr lang="en-US" b="1" i="1" dirty="0">
                <a:solidFill>
                  <a:schemeClr val="accent5">
                    <a:lumMod val="50000"/>
                  </a:schemeClr>
                </a:solidFill>
              </a:rPr>
              <a:t>Ad hock </a:t>
            </a:r>
            <a:r>
              <a:rPr lang="en-US" b="1" dirty="0">
                <a:solidFill>
                  <a:schemeClr val="accent5">
                    <a:lumMod val="50000"/>
                  </a:schemeClr>
                </a:solidFill>
              </a:rPr>
              <a:t>research</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504" y="1124744"/>
            <a:ext cx="8898317" cy="5040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1635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ymbol zastępczy numeru slajdu 5"/>
          <p:cNvSpPr>
            <a:spLocks noGrp="1"/>
          </p:cNvSpPr>
          <p:nvPr>
            <p:ph type="sldNum" sz="quarter" idx="12"/>
          </p:nvPr>
        </p:nvSpPr>
        <p:spPr>
          <a:noFill/>
        </p:spPr>
        <p:txBody>
          <a:bodyPr/>
          <a:lstStyle/>
          <a:p>
            <a:fld id="{6343AABC-F10A-4B7E-925B-C88150FA78F4}" type="slidenum">
              <a:rPr lang="pl-PL" smtClean="0"/>
              <a:pPr/>
              <a:t>50</a:t>
            </a:fld>
            <a:endParaRPr lang="pl-PL"/>
          </a:p>
        </p:txBody>
      </p:sp>
      <p:sp>
        <p:nvSpPr>
          <p:cNvPr id="3" name="Tytuł 2"/>
          <p:cNvSpPr>
            <a:spLocks noGrp="1"/>
          </p:cNvSpPr>
          <p:nvPr>
            <p:ph type="title"/>
          </p:nvPr>
        </p:nvSpPr>
        <p:spPr>
          <a:xfrm>
            <a:off x="0" y="0"/>
            <a:ext cx="12192000" cy="980728"/>
          </a:xfrm>
          <a:solidFill>
            <a:schemeClr val="accent5">
              <a:lumMod val="20000"/>
              <a:lumOff val="80000"/>
            </a:schemeClr>
          </a:solidFill>
        </p:spPr>
        <p:txBody>
          <a:bodyPr/>
          <a:lstStyle/>
          <a:p>
            <a:r>
              <a:rPr lang="pl-PL" b="1" dirty="0" err="1">
                <a:solidFill>
                  <a:schemeClr val="accent5">
                    <a:lumMod val="50000"/>
                  </a:schemeClr>
                </a:solidFill>
              </a:rPr>
              <a:t>Un</a:t>
            </a:r>
            <a:r>
              <a:rPr lang="en-US" b="1" dirty="0">
                <a:solidFill>
                  <a:schemeClr val="accent5">
                    <a:lumMod val="50000"/>
                  </a:schemeClr>
                </a:solidFill>
              </a:rPr>
              <a:t>bundling </a:t>
            </a:r>
            <a:r>
              <a:rPr lang="pl-PL" b="1" dirty="0">
                <a:solidFill>
                  <a:schemeClr val="accent5">
                    <a:lumMod val="50000"/>
                  </a:schemeClr>
                </a:solidFill>
              </a:rPr>
              <a:t>/</a:t>
            </a:r>
            <a:r>
              <a:rPr lang="pl-PL" b="1" dirty="0" err="1">
                <a:solidFill>
                  <a:schemeClr val="accent5">
                    <a:lumMod val="50000"/>
                  </a:schemeClr>
                </a:solidFill>
              </a:rPr>
              <a:t>cost</a:t>
            </a:r>
            <a:r>
              <a:rPr lang="pl-PL" b="1" dirty="0">
                <a:solidFill>
                  <a:schemeClr val="accent5">
                    <a:lumMod val="50000"/>
                  </a:schemeClr>
                </a:solidFill>
              </a:rPr>
              <a:t>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157" y="1617803"/>
            <a:ext cx="4224073" cy="2828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157" y="4297817"/>
            <a:ext cx="4168693" cy="24236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a:extLst>
              <a:ext uri="{FF2B5EF4-FFF2-40B4-BE49-F238E27FC236}">
                <a16:creationId xmlns:a16="http://schemas.microsoft.com/office/drawing/2014/main" id="{B179C5F2-35E6-4B91-2D5A-BEAF09D4E847}"/>
              </a:ext>
            </a:extLst>
          </p:cNvPr>
          <p:cNvSpPr txBox="1"/>
          <p:nvPr/>
        </p:nvSpPr>
        <p:spPr>
          <a:xfrm>
            <a:off x="4653280" y="1171636"/>
            <a:ext cx="7219563" cy="5293757"/>
          </a:xfrm>
          <a:prstGeom prst="rect">
            <a:avLst/>
          </a:prstGeom>
          <a:noFill/>
        </p:spPr>
        <p:txBody>
          <a:bodyPr wrap="square">
            <a:spAutoFit/>
          </a:bodyPr>
          <a:lstStyle/>
          <a:p>
            <a:pPr algn="just"/>
            <a:r>
              <a:rPr lang="en-US" sz="2000" dirty="0">
                <a:solidFill>
                  <a:schemeClr val="accent5">
                    <a:lumMod val="50000"/>
                  </a:schemeClr>
                </a:solidFill>
              </a:rPr>
              <a:t>Single-item (pure components) sales become more profitable than bundling when marginal and average costs are high relative to consumer valuations.</a:t>
            </a:r>
          </a:p>
          <a:p>
            <a:pPr algn="just"/>
            <a:endParaRPr lang="en-US" sz="2000" dirty="0">
              <a:solidFill>
                <a:schemeClr val="accent5">
                  <a:lumMod val="50000"/>
                </a:schemeClr>
              </a:solidFill>
            </a:endParaRPr>
          </a:p>
          <a:p>
            <a:pPr algn="just"/>
            <a:r>
              <a:rPr lang="en-US" sz="2000" dirty="0">
                <a:solidFill>
                  <a:schemeClr val="accent5">
                    <a:lumMod val="50000"/>
                  </a:schemeClr>
                </a:solidFill>
              </a:rPr>
              <a:t>In such cases, the cost of producing or selling an additional unit is significant, reducing the incentives for bundling, as the economies of scale do not offset these costs effectively. Firms can instead maximize profits by selling items individually, pricing each closer to the consumer's willingness to pay.</a:t>
            </a:r>
          </a:p>
          <a:p>
            <a:pPr algn="just"/>
            <a:endParaRPr lang="en-US" sz="2000" dirty="0">
              <a:solidFill>
                <a:schemeClr val="accent5">
                  <a:lumMod val="50000"/>
                </a:schemeClr>
              </a:solidFill>
            </a:endParaRPr>
          </a:p>
          <a:p>
            <a:pPr algn="just"/>
            <a:r>
              <a:rPr lang="en-US" sz="2000" dirty="0">
                <a:solidFill>
                  <a:schemeClr val="accent5">
                    <a:lumMod val="50000"/>
                  </a:schemeClr>
                </a:solidFill>
              </a:rPr>
              <a:t>This approach is particularly suited to markets with high production costs or significant heterogeneity in consumer preferences, where bundling fails to capture the maximum consumer surplus. It is increasingly prevalent in digital goods and services, where personalization and dynamic pricing enable firms to optimize revenue by targeting individual consumers.</a:t>
            </a:r>
          </a:p>
          <a:p>
            <a:pPr algn="just"/>
            <a:endParaRPr lang="en-US" sz="2000" dirty="0">
              <a:solidFill>
                <a:schemeClr val="accent5">
                  <a:lumMod val="50000"/>
                </a:schemeClr>
              </a:solidFill>
            </a:endParaRPr>
          </a:p>
        </p:txBody>
      </p:sp>
    </p:spTree>
    <p:extLst>
      <p:ext uri="{BB962C8B-B14F-4D97-AF65-F5344CB8AC3E}">
        <p14:creationId xmlns:p14="http://schemas.microsoft.com/office/powerpoint/2010/main" val="367043047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ymbol zastępczy numeru slajdu 5"/>
          <p:cNvSpPr>
            <a:spLocks noGrp="1"/>
          </p:cNvSpPr>
          <p:nvPr>
            <p:ph type="sldNum" sz="quarter" idx="12"/>
          </p:nvPr>
        </p:nvSpPr>
        <p:spPr>
          <a:noFill/>
        </p:spPr>
        <p:txBody>
          <a:bodyPr/>
          <a:lstStyle/>
          <a:p>
            <a:fld id="{6343AABC-F10A-4B7E-925B-C88150FA78F4}" type="slidenum">
              <a:rPr lang="pl-PL" smtClean="0"/>
              <a:pPr/>
              <a:t>51</a:t>
            </a:fld>
            <a:endParaRPr lang="pl-PL"/>
          </a:p>
        </p:txBody>
      </p:sp>
      <p:sp>
        <p:nvSpPr>
          <p:cNvPr id="3" name="Tytuł 2"/>
          <p:cNvSpPr>
            <a:spLocks noGrp="1"/>
          </p:cNvSpPr>
          <p:nvPr>
            <p:ph type="title"/>
          </p:nvPr>
        </p:nvSpPr>
        <p:spPr>
          <a:xfrm>
            <a:off x="0" y="0"/>
            <a:ext cx="12192000" cy="980728"/>
          </a:xfrm>
          <a:solidFill>
            <a:schemeClr val="accent5">
              <a:lumMod val="20000"/>
              <a:lumOff val="80000"/>
            </a:schemeClr>
          </a:solidFill>
        </p:spPr>
        <p:txBody>
          <a:bodyPr/>
          <a:lstStyle/>
          <a:p>
            <a:r>
              <a:rPr lang="pl-PL" b="1" dirty="0">
                <a:solidFill>
                  <a:schemeClr val="accent5">
                    <a:lumMod val="50000"/>
                  </a:schemeClr>
                </a:solidFill>
              </a:rPr>
              <a:t>Airlines – </a:t>
            </a:r>
            <a:r>
              <a:rPr lang="pl-PL" b="1" dirty="0" err="1">
                <a:solidFill>
                  <a:schemeClr val="accent5">
                    <a:lumMod val="50000"/>
                  </a:schemeClr>
                </a:solidFill>
              </a:rPr>
              <a:t>unbundling</a:t>
            </a:r>
            <a:r>
              <a:rPr lang="pl-PL" b="1" dirty="0">
                <a:solidFill>
                  <a:schemeClr val="accent5">
                    <a:lumMod val="50000"/>
                  </a:schemeClr>
                </a:solidFill>
              </a:rPr>
              <a:t> 2008</a:t>
            </a:r>
          </a:p>
        </p:txBody>
      </p:sp>
      <p:pic>
        <p:nvPicPr>
          <p:cNvPr id="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1922" b="9152"/>
          <a:stretch/>
        </p:blipFill>
        <p:spPr bwMode="auto">
          <a:xfrm>
            <a:off x="262569" y="2103120"/>
            <a:ext cx="6171230" cy="3220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2CE484FD-8848-D81E-0947-740EE8D5F720}"/>
              </a:ext>
            </a:extLst>
          </p:cNvPr>
          <p:cNvSpPr txBox="1"/>
          <p:nvPr/>
        </p:nvSpPr>
        <p:spPr>
          <a:xfrm>
            <a:off x="6583681" y="1120676"/>
            <a:ext cx="5171439" cy="5693866"/>
          </a:xfrm>
          <a:prstGeom prst="rect">
            <a:avLst/>
          </a:prstGeom>
          <a:noFill/>
        </p:spPr>
        <p:txBody>
          <a:bodyPr wrap="square">
            <a:spAutoFit/>
          </a:bodyPr>
          <a:lstStyle/>
          <a:p>
            <a:pPr algn="just"/>
            <a:r>
              <a:rPr lang="en-US" sz="2800" dirty="0">
                <a:solidFill>
                  <a:schemeClr val="accent5">
                    <a:lumMod val="50000"/>
                  </a:schemeClr>
                </a:solidFill>
              </a:rPr>
              <a:t>An example of this shift is seen in the airline industry after 2008, where unbundling practices became widespread. Airlines began charging separately for services that were traditionally included in the ticket price—such as checked baggage, in-flight meals, and seat selection—allowing them to generate additional revenue by tailoring prices to individual customers’ willingness to pay.</a:t>
            </a:r>
            <a:endParaRPr lang="pl-PL" sz="2800" dirty="0">
              <a:solidFill>
                <a:schemeClr val="accent5">
                  <a:lumMod val="50000"/>
                </a:schemeClr>
              </a:solidFill>
            </a:endParaRPr>
          </a:p>
        </p:txBody>
      </p:sp>
    </p:spTree>
    <p:extLst>
      <p:ext uri="{BB962C8B-B14F-4D97-AF65-F5344CB8AC3E}">
        <p14:creationId xmlns:p14="http://schemas.microsoft.com/office/powerpoint/2010/main" val="149342259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EE0E-C628-E241-90EF-F64FF7DDD898}"/>
            </a:ext>
          </a:extLst>
        </p:cNvPr>
        <p:cNvGrpSpPr/>
        <p:nvPr/>
      </p:nvGrpSpPr>
      <p:grpSpPr>
        <a:xfrm>
          <a:off x="0" y="0"/>
          <a:ext cx="0" cy="0"/>
          <a:chOff x="0" y="0"/>
          <a:chExt cx="0" cy="0"/>
        </a:xfrm>
      </p:grpSpPr>
      <p:sp>
        <p:nvSpPr>
          <p:cNvPr id="14338" name="Symbol zastępczy numeru slajdu 5">
            <a:extLst>
              <a:ext uri="{FF2B5EF4-FFF2-40B4-BE49-F238E27FC236}">
                <a16:creationId xmlns:a16="http://schemas.microsoft.com/office/drawing/2014/main" id="{BECBD980-BCD6-73FA-9082-42F168A2768C}"/>
              </a:ext>
            </a:extLst>
          </p:cNvPr>
          <p:cNvSpPr>
            <a:spLocks noGrp="1"/>
          </p:cNvSpPr>
          <p:nvPr>
            <p:ph type="sldNum" sz="quarter" idx="12"/>
          </p:nvPr>
        </p:nvSpPr>
        <p:spPr>
          <a:noFill/>
        </p:spPr>
        <p:txBody>
          <a:bodyPr/>
          <a:lstStyle/>
          <a:p>
            <a:fld id="{6343AABC-F10A-4B7E-925B-C88150FA78F4}" type="slidenum">
              <a:rPr lang="pl-PL" smtClean="0"/>
              <a:pPr/>
              <a:t>52</a:t>
            </a:fld>
            <a:endParaRPr lang="pl-PL"/>
          </a:p>
        </p:txBody>
      </p:sp>
      <p:sp>
        <p:nvSpPr>
          <p:cNvPr id="3" name="Tytuł 2">
            <a:extLst>
              <a:ext uri="{FF2B5EF4-FFF2-40B4-BE49-F238E27FC236}">
                <a16:creationId xmlns:a16="http://schemas.microsoft.com/office/drawing/2014/main" id="{C0A525AB-BCFE-856B-262D-DDB326FC2255}"/>
              </a:ext>
            </a:extLst>
          </p:cNvPr>
          <p:cNvSpPr>
            <a:spLocks noGrp="1"/>
          </p:cNvSpPr>
          <p:nvPr>
            <p:ph type="title"/>
          </p:nvPr>
        </p:nvSpPr>
        <p:spPr>
          <a:xfrm>
            <a:off x="0" y="0"/>
            <a:ext cx="12192000" cy="980728"/>
          </a:xfrm>
          <a:solidFill>
            <a:schemeClr val="accent5">
              <a:lumMod val="20000"/>
              <a:lumOff val="80000"/>
            </a:schemeClr>
          </a:solidFill>
        </p:spPr>
        <p:txBody>
          <a:bodyPr/>
          <a:lstStyle/>
          <a:p>
            <a:r>
              <a:rPr lang="pl-PL" b="1" dirty="0">
                <a:solidFill>
                  <a:schemeClr val="accent5">
                    <a:lumMod val="50000"/>
                  </a:schemeClr>
                </a:solidFill>
              </a:rPr>
              <a:t>Airlines – </a:t>
            </a:r>
            <a:r>
              <a:rPr lang="pl-PL" b="1" dirty="0" err="1">
                <a:solidFill>
                  <a:schemeClr val="accent5">
                    <a:lumMod val="50000"/>
                  </a:schemeClr>
                </a:solidFill>
              </a:rPr>
              <a:t>unbundling</a:t>
            </a:r>
            <a:r>
              <a:rPr lang="pl-PL" b="1" dirty="0">
                <a:solidFill>
                  <a:schemeClr val="accent5">
                    <a:lumMod val="50000"/>
                  </a:schemeClr>
                </a:solidFill>
              </a:rPr>
              <a:t> 2008</a:t>
            </a:r>
          </a:p>
        </p:txBody>
      </p:sp>
      <p:sp>
        <p:nvSpPr>
          <p:cNvPr id="7" name="TextBox 6">
            <a:extLst>
              <a:ext uri="{FF2B5EF4-FFF2-40B4-BE49-F238E27FC236}">
                <a16:creationId xmlns:a16="http://schemas.microsoft.com/office/drawing/2014/main" id="{DED99DD1-A595-C490-387E-0B23DF94A751}"/>
              </a:ext>
            </a:extLst>
          </p:cNvPr>
          <p:cNvSpPr txBox="1"/>
          <p:nvPr/>
        </p:nvSpPr>
        <p:spPr>
          <a:xfrm>
            <a:off x="284480" y="1148250"/>
            <a:ext cx="10800080" cy="954107"/>
          </a:xfrm>
          <a:prstGeom prst="rect">
            <a:avLst/>
          </a:prstGeom>
          <a:noFill/>
        </p:spPr>
        <p:txBody>
          <a:bodyPr wrap="square">
            <a:spAutoFit/>
          </a:bodyPr>
          <a:lstStyle/>
          <a:p>
            <a:r>
              <a:rPr lang="pl-PL" sz="2800" dirty="0"/>
              <a:t>Draft of the report </a:t>
            </a:r>
            <a:r>
              <a:rPr lang="pl-PL" sz="2800" dirty="0" err="1"/>
              <a:t>based</a:t>
            </a:r>
            <a:r>
              <a:rPr lang="pl-PL" sz="2800" dirty="0"/>
              <a:t> on the </a:t>
            </a:r>
            <a:r>
              <a:rPr lang="pl-PL" sz="2800" dirty="0" err="1"/>
              <a:t>pen</a:t>
            </a:r>
            <a:r>
              <a:rPr lang="pl-PL" sz="2800" dirty="0"/>
              <a:t> </a:t>
            </a:r>
            <a:r>
              <a:rPr lang="pl-PL" sz="2800" dirty="0" err="1"/>
              <a:t>experiment</a:t>
            </a:r>
            <a:r>
              <a:rPr lang="pl-PL" sz="2800" dirty="0"/>
              <a:t> :/ https://microeconomics.shinyapps.io/bundling_03_PL/#section-a-pc</a:t>
            </a:r>
          </a:p>
        </p:txBody>
      </p:sp>
      <p:pic>
        <p:nvPicPr>
          <p:cNvPr id="9" name="Picture 8">
            <a:extLst>
              <a:ext uri="{FF2B5EF4-FFF2-40B4-BE49-F238E27FC236}">
                <a16:creationId xmlns:a16="http://schemas.microsoft.com/office/drawing/2014/main" id="{A7928446-133E-A4B6-724D-CB0B3FF0A8D9}"/>
              </a:ext>
            </a:extLst>
          </p:cNvPr>
          <p:cNvPicPr>
            <a:picLocks noChangeAspect="1"/>
          </p:cNvPicPr>
          <p:nvPr/>
        </p:nvPicPr>
        <p:blipFill>
          <a:blip r:embed="rId3"/>
          <a:stretch>
            <a:fillRect/>
          </a:stretch>
        </p:blipFill>
        <p:spPr>
          <a:xfrm>
            <a:off x="1300480" y="2602532"/>
            <a:ext cx="8209280" cy="3486784"/>
          </a:xfrm>
          <a:prstGeom prst="rect">
            <a:avLst/>
          </a:prstGeom>
        </p:spPr>
      </p:pic>
    </p:spTree>
    <p:extLst>
      <p:ext uri="{BB962C8B-B14F-4D97-AF65-F5344CB8AC3E}">
        <p14:creationId xmlns:p14="http://schemas.microsoft.com/office/powerpoint/2010/main" val="932876535"/>
      </p:ext>
    </p:extLst>
  </p:cSld>
  <p:clrMapOvr>
    <a:masterClrMapping/>
  </p:clrMapOvr>
  <p:transition/>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2417</TotalTime>
  <Words>7029</Words>
  <Application>Microsoft Office PowerPoint</Application>
  <PresentationFormat>Widescreen</PresentationFormat>
  <Paragraphs>631</Paragraphs>
  <Slides>52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Aptos</vt:lpstr>
      <vt:lpstr>Arial</vt:lpstr>
      <vt:lpstr>Calibri</vt:lpstr>
      <vt:lpstr>Cambria Math</vt:lpstr>
      <vt:lpstr>Garamond</vt:lpstr>
      <vt:lpstr>Symbol</vt:lpstr>
      <vt:lpstr>Wingdings</vt:lpstr>
      <vt:lpstr>Motyw pakietu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Bundling?</vt:lpstr>
      <vt:lpstr>A bit of history of economic thought</vt:lpstr>
      <vt:lpstr>Bundling of films  (textbook example of films distributed in 1977)    </vt:lpstr>
      <vt:lpstr>Bundling of films</vt:lpstr>
      <vt:lpstr>NOW – bundles are everywhere</vt:lpstr>
      <vt:lpstr>Formal model of bundling (1) </vt:lpstr>
      <vt:lpstr>Formal model of bundling (2) </vt:lpstr>
      <vt:lpstr>PowerPoint Presentation</vt:lpstr>
      <vt:lpstr>Formal model of bundling (4) </vt:lpstr>
      <vt:lpstr>Ad hock research</vt:lpstr>
      <vt:lpstr>Ad hock research</vt:lpstr>
      <vt:lpstr>Ad hock research</vt:lpstr>
      <vt:lpstr>Ad hock research</vt:lpstr>
      <vt:lpstr>Ad hock research</vt:lpstr>
      <vt:lpstr>Ad hock research</vt:lpstr>
      <vt:lpstr>Unbundling /cost </vt:lpstr>
      <vt:lpstr>Airlines – unbundling 2008</vt:lpstr>
      <vt:lpstr>Airlines – unbundling 2008</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Tomasz Kopczewski</dc:creator>
  <cp:lastModifiedBy>Tomasz Kopczewski</cp:lastModifiedBy>
  <cp:revision>11</cp:revision>
  <dcterms:created xsi:type="dcterms:W3CDTF">2025-01-22T07:33:32Z</dcterms:created>
  <dcterms:modified xsi:type="dcterms:W3CDTF">2025-01-24T15:51:51Z</dcterms:modified>
</cp:coreProperties>
</file>