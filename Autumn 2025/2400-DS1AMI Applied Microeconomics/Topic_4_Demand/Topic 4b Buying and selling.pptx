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97" r:id="rId3"/>
    <p:sldId id="441" r:id="rId4"/>
    <p:sldId id="446" r:id="rId5"/>
    <p:sldId id="442" r:id="rId6"/>
    <p:sldId id="443" r:id="rId7"/>
    <p:sldId id="259" r:id="rId8"/>
    <p:sldId id="447" r:id="rId9"/>
    <p:sldId id="305" r:id="rId10"/>
    <p:sldId id="431" r:id="rId11"/>
    <p:sldId id="448" r:id="rId12"/>
    <p:sldId id="432" r:id="rId13"/>
    <p:sldId id="433" r:id="rId14"/>
    <p:sldId id="450" r:id="rId15"/>
    <p:sldId id="449" r:id="rId16"/>
    <p:sldId id="451" r:id="rId17"/>
    <p:sldId id="452" r:id="rId18"/>
    <p:sldId id="453" r:id="rId19"/>
    <p:sldId id="454" r:id="rId20"/>
    <p:sldId id="462" r:id="rId21"/>
    <p:sldId id="455" r:id="rId22"/>
    <p:sldId id="457" r:id="rId23"/>
    <p:sldId id="456" r:id="rId24"/>
    <p:sldId id="458" r:id="rId25"/>
    <p:sldId id="459" r:id="rId26"/>
    <p:sldId id="460" r:id="rId27"/>
    <p:sldId id="314" r:id="rId28"/>
    <p:sldId id="260" r:id="rId29"/>
    <p:sldId id="461" r:id="rId30"/>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3E969B-DFA6-41A0-A2DF-502447D9BD50}" type="datetimeFigureOut">
              <a:rPr lang="pl-PL" smtClean="0"/>
              <a:t>24.11.2025</a:t>
            </a:fld>
            <a:endParaRPr lang="pl-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17D32-A9BE-414B-8E57-8E9960CC130B}" type="slidenum">
              <a:rPr lang="pl-PL" smtClean="0"/>
              <a:t>‹#›</a:t>
            </a:fld>
            <a:endParaRPr lang="pl-PL"/>
          </a:p>
        </p:txBody>
      </p:sp>
    </p:spTree>
    <p:extLst>
      <p:ext uri="{BB962C8B-B14F-4D97-AF65-F5344CB8AC3E}">
        <p14:creationId xmlns:p14="http://schemas.microsoft.com/office/powerpoint/2010/main" val="1874102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685800" y="4343400"/>
            <a:ext cx="5486400" cy="4114800"/>
          </a:xfrm>
          <a:prstGeom prst="rect">
            <a:avLst/>
          </a:prstGeom>
          <a:noFill/>
          <a:ln>
            <a:noFill/>
          </a:ln>
        </p:spPr>
      </p:sp>
      <p:sp>
        <p:nvSpPr>
          <p:cNvPr id="156" name="CustomShape 2"/>
          <p:cNvSpPr/>
          <p:nvPr/>
        </p:nvSpPr>
        <p:spPr>
          <a:xfrm>
            <a:off x="3884760" y="8685360"/>
            <a:ext cx="2971800" cy="457200"/>
          </a:xfrm>
          <a:noFill/>
          <a:ln>
            <a:noFill/>
          </a:ln>
        </p:spPr>
        <p:style>
          <a:lnRef idx="0">
            <a:scrgbClr r="0" g="0" b="0"/>
          </a:lnRef>
          <a:fillRef idx="0">
            <a:scrgbClr r="0" g="0" b="0"/>
          </a:fillRef>
          <a:effectRef idx="0">
            <a:scrgbClr r="0" g="0" b="0"/>
          </a:effectRef>
          <a:fontRef idx="minor"/>
        </p:style>
        <p:txBody>
          <a:bodyPr lIns="89997" tIns="46798" rIns="89997" bIns="46798" anchor="b"/>
          <a:lstStyle/>
          <a:p>
            <a:pPr marL="0" marR="0" lvl="0" indent="0" algn="r" defTabSz="914400" rtl="0" eaLnBrk="1" fontAlgn="auto" latinLnBrk="0" hangingPunct="1">
              <a:lnSpc>
                <a:spcPct val="100000"/>
              </a:lnSpc>
              <a:spcBef>
                <a:spcPts val="0"/>
              </a:spcBef>
              <a:spcAft>
                <a:spcPts val="0"/>
              </a:spcAft>
              <a:buClrTx/>
              <a:buSzTx/>
              <a:buFontTx/>
              <a:buNone/>
              <a:tabLst/>
              <a:defRPr/>
            </a:pPr>
            <a:fld id="{2BF4C38F-350D-4F27-90DB-48D8DDCA7592}" type="slidenum">
              <a:rPr kumimoji="0" lang="pl-PL" sz="1200" b="0" i="0" u="none" strike="noStrike" kern="1200" cap="none" spc="-1"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5084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54B8-3D11-9E1C-5BC5-1488C3B6A9A8}"/>
            </a:ext>
          </a:extLst>
        </p:cNvPr>
        <p:cNvGrpSpPr/>
        <p:nvPr/>
      </p:nvGrpSpPr>
      <p:grpSpPr>
        <a:xfrm>
          <a:off x="0" y="0"/>
          <a:ext cx="0" cy="0"/>
          <a:chOff x="0" y="0"/>
          <a:chExt cx="0" cy="0"/>
        </a:xfrm>
      </p:grpSpPr>
      <p:sp>
        <p:nvSpPr>
          <p:cNvPr id="59394" name="Symbol zastępczy obrazu slajdu 1">
            <a:extLst>
              <a:ext uri="{FF2B5EF4-FFF2-40B4-BE49-F238E27FC236}">
                <a16:creationId xmlns:a16="http://schemas.microsoft.com/office/drawing/2014/main" id="{132579D8-3443-B857-DBC6-083881F8FA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Symbol zastępczy notatek 2">
            <a:extLst>
              <a:ext uri="{FF2B5EF4-FFF2-40B4-BE49-F238E27FC236}">
                <a16:creationId xmlns:a16="http://schemas.microsoft.com/office/drawing/2014/main" id="{4A00BDE0-8B09-5F80-7C34-524F458AA0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Tree>
    <p:extLst>
      <p:ext uri="{BB962C8B-B14F-4D97-AF65-F5344CB8AC3E}">
        <p14:creationId xmlns:p14="http://schemas.microsoft.com/office/powerpoint/2010/main" val="2913723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6A2AD-A51E-53A4-3307-B5B72919DBB7}"/>
            </a:ext>
          </a:extLst>
        </p:cNvPr>
        <p:cNvGrpSpPr/>
        <p:nvPr/>
      </p:nvGrpSpPr>
      <p:grpSpPr>
        <a:xfrm>
          <a:off x="0" y="0"/>
          <a:ext cx="0" cy="0"/>
          <a:chOff x="0" y="0"/>
          <a:chExt cx="0" cy="0"/>
        </a:xfrm>
      </p:grpSpPr>
      <p:sp>
        <p:nvSpPr>
          <p:cNvPr id="59394" name="Symbol zastępczy obrazu slajdu 1">
            <a:extLst>
              <a:ext uri="{FF2B5EF4-FFF2-40B4-BE49-F238E27FC236}">
                <a16:creationId xmlns:a16="http://schemas.microsoft.com/office/drawing/2014/main" id="{27C34AA3-D6F5-DB43-E8CC-A128EBFCAA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Symbol zastępczy notatek 2">
            <a:extLst>
              <a:ext uri="{FF2B5EF4-FFF2-40B4-BE49-F238E27FC236}">
                <a16:creationId xmlns:a16="http://schemas.microsoft.com/office/drawing/2014/main" id="{F6EFD4C7-CDFE-E1E2-183F-3D22C140AB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Tree>
    <p:extLst>
      <p:ext uri="{BB962C8B-B14F-4D97-AF65-F5344CB8AC3E}">
        <p14:creationId xmlns:p14="http://schemas.microsoft.com/office/powerpoint/2010/main" val="1616062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B617-0C19-0358-699C-E41CA4103B2B}"/>
            </a:ext>
          </a:extLst>
        </p:cNvPr>
        <p:cNvGrpSpPr/>
        <p:nvPr/>
      </p:nvGrpSpPr>
      <p:grpSpPr>
        <a:xfrm>
          <a:off x="0" y="0"/>
          <a:ext cx="0" cy="0"/>
          <a:chOff x="0" y="0"/>
          <a:chExt cx="0" cy="0"/>
        </a:xfrm>
      </p:grpSpPr>
      <p:sp>
        <p:nvSpPr>
          <p:cNvPr id="59394" name="Symbol zastępczy obrazu slajdu 1">
            <a:extLst>
              <a:ext uri="{FF2B5EF4-FFF2-40B4-BE49-F238E27FC236}">
                <a16:creationId xmlns:a16="http://schemas.microsoft.com/office/drawing/2014/main" id="{4C687198-20BE-F60A-71CE-922AFEAAD5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Symbol zastępczy notatek 2">
            <a:extLst>
              <a:ext uri="{FF2B5EF4-FFF2-40B4-BE49-F238E27FC236}">
                <a16:creationId xmlns:a16="http://schemas.microsoft.com/office/drawing/2014/main" id="{AC06DEA9-F161-3729-7A01-C750D45CC6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Tree>
    <p:extLst>
      <p:ext uri="{BB962C8B-B14F-4D97-AF65-F5344CB8AC3E}">
        <p14:creationId xmlns:p14="http://schemas.microsoft.com/office/powerpoint/2010/main" val="3879968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93DB-AB96-F8B0-B36B-044E8A3EB15F}"/>
            </a:ext>
          </a:extLst>
        </p:cNvPr>
        <p:cNvGrpSpPr/>
        <p:nvPr/>
      </p:nvGrpSpPr>
      <p:grpSpPr>
        <a:xfrm>
          <a:off x="0" y="0"/>
          <a:ext cx="0" cy="0"/>
          <a:chOff x="0" y="0"/>
          <a:chExt cx="0" cy="0"/>
        </a:xfrm>
      </p:grpSpPr>
      <p:sp>
        <p:nvSpPr>
          <p:cNvPr id="59394" name="Symbol zastępczy obrazu slajdu 1">
            <a:extLst>
              <a:ext uri="{FF2B5EF4-FFF2-40B4-BE49-F238E27FC236}">
                <a16:creationId xmlns:a16="http://schemas.microsoft.com/office/drawing/2014/main" id="{470C5115-E7BA-6138-04EC-56AE4D073E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Symbol zastępczy notatek 2">
            <a:extLst>
              <a:ext uri="{FF2B5EF4-FFF2-40B4-BE49-F238E27FC236}">
                <a16:creationId xmlns:a16="http://schemas.microsoft.com/office/drawing/2014/main" id="{FB9FCBFE-E33F-F443-39A8-25E3B03127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Tree>
    <p:extLst>
      <p:ext uri="{BB962C8B-B14F-4D97-AF65-F5344CB8AC3E}">
        <p14:creationId xmlns:p14="http://schemas.microsoft.com/office/powerpoint/2010/main" val="1569298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32684-8AF5-3650-E801-230ABDDEF918}"/>
            </a:ext>
          </a:extLst>
        </p:cNvPr>
        <p:cNvGrpSpPr/>
        <p:nvPr/>
      </p:nvGrpSpPr>
      <p:grpSpPr>
        <a:xfrm>
          <a:off x="0" y="0"/>
          <a:ext cx="0" cy="0"/>
          <a:chOff x="0" y="0"/>
          <a:chExt cx="0" cy="0"/>
        </a:xfrm>
      </p:grpSpPr>
      <p:sp>
        <p:nvSpPr>
          <p:cNvPr id="60418" name="Symbol zastępczy obrazu slajdu 1">
            <a:extLst>
              <a:ext uri="{FF2B5EF4-FFF2-40B4-BE49-F238E27FC236}">
                <a16:creationId xmlns:a16="http://schemas.microsoft.com/office/drawing/2014/main" id="{D8E35E1B-C930-72A8-618A-2AAC69D5AE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Symbol zastępczy notatek 2">
            <a:extLst>
              <a:ext uri="{FF2B5EF4-FFF2-40B4-BE49-F238E27FC236}">
                <a16:creationId xmlns:a16="http://schemas.microsoft.com/office/drawing/2014/main" id="{613CCEAA-18A6-9C3E-D0BD-B085ABCE3D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Tree>
    <p:extLst>
      <p:ext uri="{BB962C8B-B14F-4D97-AF65-F5344CB8AC3E}">
        <p14:creationId xmlns:p14="http://schemas.microsoft.com/office/powerpoint/2010/main" val="4270007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ymbol zastępczy obrazu slajdu 1">
            <a:extLst>
              <a:ext uri="{FF2B5EF4-FFF2-40B4-BE49-F238E27FC236}">
                <a16:creationId xmlns:a16="http://schemas.microsoft.com/office/drawing/2014/main" id="{E33B3F9B-F6D9-73C7-5C02-60B54AE6E8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Symbol zastępczy notatek 2">
            <a:extLst>
              <a:ext uri="{FF2B5EF4-FFF2-40B4-BE49-F238E27FC236}">
                <a16:creationId xmlns:a16="http://schemas.microsoft.com/office/drawing/2014/main" id="{B9246A27-79CD-348C-43AB-81B3730161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Tree>
    <p:extLst>
      <p:ext uri="{BB962C8B-B14F-4D97-AF65-F5344CB8AC3E}">
        <p14:creationId xmlns:p14="http://schemas.microsoft.com/office/powerpoint/2010/main" val="2329650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ymbol zastępczy obrazu slajdu 1">
            <a:extLst>
              <a:ext uri="{FF2B5EF4-FFF2-40B4-BE49-F238E27FC236}">
                <a16:creationId xmlns:a16="http://schemas.microsoft.com/office/drawing/2014/main" id="{961C94AA-D57D-3C46-DD92-C1534852EC92}"/>
              </a:ext>
            </a:extLst>
          </p:cNvPr>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Symbol zastępczy notatek 2">
            <a:extLst>
              <a:ext uri="{FF2B5EF4-FFF2-40B4-BE49-F238E27FC236}">
                <a16:creationId xmlns:a16="http://schemas.microsoft.com/office/drawing/2014/main" id="{6D7C981A-E6FA-7656-5EBD-136A18AB1A5F}"/>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latin typeface="Times New Roman" panose="02020603050405020304" pitchFamily="18" charset="0"/>
            </a:endParaRPr>
          </a:p>
        </p:txBody>
      </p:sp>
    </p:spTree>
    <p:extLst>
      <p:ext uri="{BB962C8B-B14F-4D97-AF65-F5344CB8AC3E}">
        <p14:creationId xmlns:p14="http://schemas.microsoft.com/office/powerpoint/2010/main" val="1874037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57C5A-860D-B3AC-153F-E75FDB35E831}"/>
            </a:ext>
          </a:extLst>
        </p:cNvPr>
        <p:cNvGrpSpPr/>
        <p:nvPr/>
      </p:nvGrpSpPr>
      <p:grpSpPr>
        <a:xfrm>
          <a:off x="0" y="0"/>
          <a:ext cx="0" cy="0"/>
          <a:chOff x="0" y="0"/>
          <a:chExt cx="0" cy="0"/>
        </a:xfrm>
      </p:grpSpPr>
      <p:sp>
        <p:nvSpPr>
          <p:cNvPr id="111618" name="Symbol zastępczy obrazu slajdu 1">
            <a:extLst>
              <a:ext uri="{FF2B5EF4-FFF2-40B4-BE49-F238E27FC236}">
                <a16:creationId xmlns:a16="http://schemas.microsoft.com/office/drawing/2014/main" id="{A8C9D75A-99FE-6995-EAFA-E9737BEA7022}"/>
              </a:ext>
            </a:extLst>
          </p:cNvPr>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Symbol zastępczy notatek 2">
            <a:extLst>
              <a:ext uri="{FF2B5EF4-FFF2-40B4-BE49-F238E27FC236}">
                <a16:creationId xmlns:a16="http://schemas.microsoft.com/office/drawing/2014/main" id="{2449DAF8-9625-23B5-39B3-82EFA66A3517}"/>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latin typeface="Times New Roman" panose="02020603050405020304" pitchFamily="18" charset="0"/>
            </a:endParaRPr>
          </a:p>
        </p:txBody>
      </p:sp>
    </p:spTree>
    <p:extLst>
      <p:ext uri="{BB962C8B-B14F-4D97-AF65-F5344CB8AC3E}">
        <p14:creationId xmlns:p14="http://schemas.microsoft.com/office/powerpoint/2010/main" val="3979115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ymbol zastępczy obrazu slajdu 1">
            <a:extLst>
              <a:ext uri="{FF2B5EF4-FFF2-40B4-BE49-F238E27FC236}">
                <a16:creationId xmlns:a16="http://schemas.microsoft.com/office/drawing/2014/main" id="{36847AF5-D1E3-2723-8F33-377E7A5AED80}"/>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Symbol zastępczy notatek 2">
            <a:extLst>
              <a:ext uri="{FF2B5EF4-FFF2-40B4-BE49-F238E27FC236}">
                <a16:creationId xmlns:a16="http://schemas.microsoft.com/office/drawing/2014/main" id="{CFB3FB8D-92A2-383F-7BF9-FDF83DA499CC}"/>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55175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A4E86D54-ABA3-7FD5-7495-F4B2EDA8BDB5}"/>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696682A5-358E-D773-E806-933789533D18}"/>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1998479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45DC5-FBE3-B814-D3A3-00B8CEE18FF9}"/>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C4879988-136A-10CB-018B-BEB2C6DD73A0}"/>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E2DAD2D7-EEE7-AC4B-968F-6AC1B9EC454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2192707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AA422-7804-EEBA-4652-0C9630F18DBD}"/>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1150D6BE-F234-AE97-7231-5150CAEC60DD}"/>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3C9EF174-222F-1473-13AC-64EBC02FA03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3233011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8A173-EF62-9CC6-8DCB-0CF09D2771FD}"/>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E8591DC0-D6D1-D8A1-8A75-C9B79BB1F886}"/>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91659B2B-CC9B-4DF9-9BC9-5610D4058224}"/>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427601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5E255-1114-9EA5-5D98-F016B26217C5}"/>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8C628F75-1AED-9615-6E40-DCD571AB1CA3}"/>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FF84481F-70E7-98F6-CE3D-8EB5ABD85952}"/>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1720134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6634A-C9D3-41B2-9F9E-9F9140A05B1A}"/>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EDA3AD29-91FA-5F15-6E46-D2CB01ECF844}"/>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19DCC943-61C3-0028-5742-9076E2085113}"/>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3957290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6F8E-0639-1105-0ABE-991F395235FF}"/>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4D0208AC-45D5-200C-5831-F4A9134E34F4}"/>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A0556E98-7E96-A0A1-A54D-99926946CE74}"/>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3718228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061F-EC5A-47E4-099D-5A13BCA1AB3F}"/>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D491D704-CDEA-FD72-AC40-B229173A702E}"/>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E5416EB0-6984-A846-AE33-4F20102E3A51}"/>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1791087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94FE4-CA18-9816-3F0F-ECF151E6EE99}"/>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1E00C0B1-8E3C-9AAE-1CB4-DBBED99DB20B}"/>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09A2F4F8-6270-2055-F620-4A8FC68437D8}"/>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21908570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5D735-8394-DDF0-D4C1-358032EE704B}"/>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4025023F-69AD-D8D6-71AE-EDA448FE41E6}"/>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7D2ECF1E-9C98-BEF9-98CD-F651CB7CDF0F}"/>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1878845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8C8FD-5AFE-E4D9-C7FC-38A52A784F46}"/>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3F458359-4A33-A050-7B13-D6A29085B0E0}"/>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BC801192-AAD0-4098-D5EA-AB79F8F56666}"/>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2951419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CD800-EA1E-0FEE-EF7E-DAD9A1A43ACA}"/>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DE9A5BB7-F21F-D7F7-03A2-407AEAE0A9A4}"/>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0723618F-B540-4139-91A9-D7EACBE100E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1371374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79310-F88A-ED49-8951-28B33F3B58D8}"/>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53FCAD00-420A-4C6E-32CA-7342ACC2DC8E}"/>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E7394E54-1A8D-EFAB-7B92-3093342B9296}"/>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5931183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5A8A-62A3-BA31-BB4A-350AFBFBBE09}"/>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47C61353-BCA4-64DA-4F0A-0FE5154DB772}"/>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97CA9EA9-E3FC-A386-130C-3A9BAB2748BE}"/>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2062970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ymbol zastępczy obrazu slajdu 1">
            <a:extLst>
              <a:ext uri="{FF2B5EF4-FFF2-40B4-BE49-F238E27FC236}">
                <a16:creationId xmlns:a16="http://schemas.microsoft.com/office/drawing/2014/main" id="{2F51CC7B-6716-49D9-E698-7ABE92D45F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Symbol zastępczy notatek 2">
            <a:extLst>
              <a:ext uri="{FF2B5EF4-FFF2-40B4-BE49-F238E27FC236}">
                <a16:creationId xmlns:a16="http://schemas.microsoft.com/office/drawing/2014/main" id="{0F5932AF-C658-75F4-6E58-44FD8984BA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7892" name="Symbol zastępczy numeru slajdu 3">
            <a:extLst>
              <a:ext uri="{FF2B5EF4-FFF2-40B4-BE49-F238E27FC236}">
                <a16:creationId xmlns:a16="http://schemas.microsoft.com/office/drawing/2014/main" id="{57872E88-A763-3B29-A6BA-8E252186FE1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60D0C3-2077-47C1-AD03-95B2097E91AB}" type="slidenum">
              <a:rPr lang="pl-PL" altLang="pl-PL">
                <a:latin typeface="Calibri" panose="020F0502020204030204" pitchFamily="34" charset="0"/>
              </a:rPr>
              <a:pPr eaLnBrk="1" hangingPunct="1"/>
              <a:t>26</a:t>
            </a:fld>
            <a:endParaRPr lang="pl-PL" altLang="pl-PL">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ymbol zastępczy obrazu slajdu 1">
            <a:extLst>
              <a:ext uri="{FF2B5EF4-FFF2-40B4-BE49-F238E27FC236}">
                <a16:creationId xmlns:a16="http://schemas.microsoft.com/office/drawing/2014/main" id="{9DBE64F1-B773-F429-265C-1F87660956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Symbol zastępczy notatek 2">
            <a:extLst>
              <a:ext uri="{FF2B5EF4-FFF2-40B4-BE49-F238E27FC236}">
                <a16:creationId xmlns:a16="http://schemas.microsoft.com/office/drawing/2014/main" id="{288856BF-056C-7BE4-E5D9-371EEE8735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7892" name="Symbol zastępczy numeru slajdu 3">
            <a:extLst>
              <a:ext uri="{FF2B5EF4-FFF2-40B4-BE49-F238E27FC236}">
                <a16:creationId xmlns:a16="http://schemas.microsoft.com/office/drawing/2014/main" id="{BD5E05BA-B81D-F3ED-7B80-BE254FE1855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D0F7E1-B502-432D-936E-33B95303D51C}" type="slidenum">
              <a:rPr lang="pl-PL" altLang="pl-PL">
                <a:latin typeface="Calibri" panose="020F0502020204030204" pitchFamily="34" charset="0"/>
              </a:rPr>
              <a:pPr eaLnBrk="1" hangingPunct="1"/>
              <a:t>27</a:t>
            </a:fld>
            <a:endParaRPr lang="pl-PL" altLang="pl-PL">
              <a:latin typeface="Calibri" panose="020F050202020403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65C1B-0E14-7BA8-C330-5C629FF601A5}"/>
            </a:ext>
          </a:extLst>
        </p:cNvPr>
        <p:cNvGrpSpPr/>
        <p:nvPr/>
      </p:nvGrpSpPr>
      <p:grpSpPr>
        <a:xfrm>
          <a:off x="0" y="0"/>
          <a:ext cx="0" cy="0"/>
          <a:chOff x="0" y="0"/>
          <a:chExt cx="0" cy="0"/>
        </a:xfrm>
      </p:grpSpPr>
      <p:sp>
        <p:nvSpPr>
          <p:cNvPr id="113666" name="Symbol zastępczy obrazu slajdu 1">
            <a:extLst>
              <a:ext uri="{FF2B5EF4-FFF2-40B4-BE49-F238E27FC236}">
                <a16:creationId xmlns:a16="http://schemas.microsoft.com/office/drawing/2014/main" id="{E279B374-EB46-3054-50FB-037961343BB5}"/>
              </a:ext>
            </a:extLst>
          </p:cNvPr>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Symbol zastępczy notatek 2">
            <a:extLst>
              <a:ext uri="{FF2B5EF4-FFF2-40B4-BE49-F238E27FC236}">
                <a16:creationId xmlns:a16="http://schemas.microsoft.com/office/drawing/2014/main" id="{C60A0015-AEBD-D8E8-DDB1-1ECC15CEB41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pl-PL" altLang="pl-PL">
              <a:latin typeface="Times New Roman" panose="02020603050405020304" pitchFamily="18" charset="0"/>
            </a:endParaRPr>
          </a:p>
        </p:txBody>
      </p:sp>
    </p:spTree>
    <p:extLst>
      <p:ext uri="{BB962C8B-B14F-4D97-AF65-F5344CB8AC3E}">
        <p14:creationId xmlns:p14="http://schemas.microsoft.com/office/powerpoint/2010/main" val="1693833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48EBA-6C12-178D-FF08-5D983AB8889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pl-PL"/>
          </a:p>
        </p:txBody>
      </p:sp>
      <p:sp>
        <p:nvSpPr>
          <p:cNvPr id="3" name="Subtitle 2">
            <a:extLst>
              <a:ext uri="{FF2B5EF4-FFF2-40B4-BE49-F238E27FC236}">
                <a16:creationId xmlns:a16="http://schemas.microsoft.com/office/drawing/2014/main" id="{5E96880E-A95F-64F2-2D38-5C6D641101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pl-PL"/>
          </a:p>
        </p:txBody>
      </p:sp>
      <p:sp>
        <p:nvSpPr>
          <p:cNvPr id="4" name="Date Placeholder 3">
            <a:extLst>
              <a:ext uri="{FF2B5EF4-FFF2-40B4-BE49-F238E27FC236}">
                <a16:creationId xmlns:a16="http://schemas.microsoft.com/office/drawing/2014/main" id="{BDFD0604-3E1F-44EC-8B9F-3ADC1980000B}"/>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5" name="Footer Placeholder 4">
            <a:extLst>
              <a:ext uri="{FF2B5EF4-FFF2-40B4-BE49-F238E27FC236}">
                <a16:creationId xmlns:a16="http://schemas.microsoft.com/office/drawing/2014/main" id="{3B59B059-8D7E-803C-130C-95E2497600C9}"/>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EC64B5FF-02AC-1822-6AF3-A3D716591E10}"/>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3831836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FE7C7-3495-ABA5-3D94-13B219E6BAD8}"/>
              </a:ext>
            </a:extLst>
          </p:cNvPr>
          <p:cNvSpPr>
            <a:spLocks noGrp="1"/>
          </p:cNvSpPr>
          <p:nvPr>
            <p:ph type="title"/>
          </p:nvPr>
        </p:nvSpPr>
        <p:spPr/>
        <p:txBody>
          <a:bodyPr/>
          <a:lstStyle/>
          <a:p>
            <a:r>
              <a:rPr lang="en-GB"/>
              <a:t>Click to edit Master title style</a:t>
            </a:r>
            <a:endParaRPr lang="pl-PL"/>
          </a:p>
        </p:txBody>
      </p:sp>
      <p:sp>
        <p:nvSpPr>
          <p:cNvPr id="3" name="Content Placeholder 2">
            <a:extLst>
              <a:ext uri="{FF2B5EF4-FFF2-40B4-BE49-F238E27FC236}">
                <a16:creationId xmlns:a16="http://schemas.microsoft.com/office/drawing/2014/main" id="{DE86857C-A5A7-DD91-DC44-A28A0DBA44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4" name="Date Placeholder 3">
            <a:extLst>
              <a:ext uri="{FF2B5EF4-FFF2-40B4-BE49-F238E27FC236}">
                <a16:creationId xmlns:a16="http://schemas.microsoft.com/office/drawing/2014/main" id="{D4EDF3B3-05FA-2658-7127-0530DB8A91AD}"/>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5" name="Footer Placeholder 4">
            <a:extLst>
              <a:ext uri="{FF2B5EF4-FFF2-40B4-BE49-F238E27FC236}">
                <a16:creationId xmlns:a16="http://schemas.microsoft.com/office/drawing/2014/main" id="{12B93E2E-2DA6-6D15-A6FA-1C6D0D0916A5}"/>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E6A76B94-540C-6B49-D03F-63B809B4F2AF}"/>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2600229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4187C-2521-C45D-173F-2BF86E523EC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pl-PL"/>
          </a:p>
        </p:txBody>
      </p:sp>
      <p:sp>
        <p:nvSpPr>
          <p:cNvPr id="3" name="Text Placeholder 2">
            <a:extLst>
              <a:ext uri="{FF2B5EF4-FFF2-40B4-BE49-F238E27FC236}">
                <a16:creationId xmlns:a16="http://schemas.microsoft.com/office/drawing/2014/main" id="{77EE1BC5-5260-185A-2B46-0E3ED17924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29AC7F-9051-46A4-87E9-A785F2A5D7E6}"/>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5" name="Footer Placeholder 4">
            <a:extLst>
              <a:ext uri="{FF2B5EF4-FFF2-40B4-BE49-F238E27FC236}">
                <a16:creationId xmlns:a16="http://schemas.microsoft.com/office/drawing/2014/main" id="{58F6B0D0-A6EC-0342-3DC0-168E1B261A6A}"/>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D9740D60-A818-5A00-B894-3802C243C868}"/>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2346322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42DF-EC85-23E4-4AB8-D77E7DDBFA42}"/>
              </a:ext>
            </a:extLst>
          </p:cNvPr>
          <p:cNvSpPr>
            <a:spLocks noGrp="1"/>
          </p:cNvSpPr>
          <p:nvPr>
            <p:ph type="title"/>
          </p:nvPr>
        </p:nvSpPr>
        <p:spPr/>
        <p:txBody>
          <a:bodyPr/>
          <a:lstStyle/>
          <a:p>
            <a:r>
              <a:rPr lang="en-GB"/>
              <a:t>Click to edit Master title style</a:t>
            </a:r>
            <a:endParaRPr lang="pl-PL"/>
          </a:p>
        </p:txBody>
      </p:sp>
      <p:sp>
        <p:nvSpPr>
          <p:cNvPr id="3" name="Content Placeholder 2">
            <a:extLst>
              <a:ext uri="{FF2B5EF4-FFF2-40B4-BE49-F238E27FC236}">
                <a16:creationId xmlns:a16="http://schemas.microsoft.com/office/drawing/2014/main" id="{CAD18A06-32C2-1C8D-0987-6212397594C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4" name="Content Placeholder 3">
            <a:extLst>
              <a:ext uri="{FF2B5EF4-FFF2-40B4-BE49-F238E27FC236}">
                <a16:creationId xmlns:a16="http://schemas.microsoft.com/office/drawing/2014/main" id="{BDB1CB42-397B-C98E-B20A-253FC71D6C4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5" name="Date Placeholder 4">
            <a:extLst>
              <a:ext uri="{FF2B5EF4-FFF2-40B4-BE49-F238E27FC236}">
                <a16:creationId xmlns:a16="http://schemas.microsoft.com/office/drawing/2014/main" id="{8D7A5214-947B-A270-B209-A05A652C51E4}"/>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6" name="Footer Placeholder 5">
            <a:extLst>
              <a:ext uri="{FF2B5EF4-FFF2-40B4-BE49-F238E27FC236}">
                <a16:creationId xmlns:a16="http://schemas.microsoft.com/office/drawing/2014/main" id="{E3FAF8AA-92BA-818E-D4DB-40BCF8D287AF}"/>
              </a:ext>
            </a:extLst>
          </p:cNvPr>
          <p:cNvSpPr>
            <a:spLocks noGrp="1"/>
          </p:cNvSpPr>
          <p:nvPr>
            <p:ph type="ftr" sz="quarter" idx="11"/>
          </p:nvPr>
        </p:nvSpPr>
        <p:spPr/>
        <p:txBody>
          <a:bodyPr/>
          <a:lstStyle/>
          <a:p>
            <a:endParaRPr lang="pl-PL"/>
          </a:p>
        </p:txBody>
      </p:sp>
      <p:sp>
        <p:nvSpPr>
          <p:cNvPr id="7" name="Slide Number Placeholder 6">
            <a:extLst>
              <a:ext uri="{FF2B5EF4-FFF2-40B4-BE49-F238E27FC236}">
                <a16:creationId xmlns:a16="http://schemas.microsoft.com/office/drawing/2014/main" id="{7E23EC94-5BBB-1AB0-858D-A9D69A965FCA}"/>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1374335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31E26-8A45-7251-C8E3-F8263090E8DF}"/>
              </a:ext>
            </a:extLst>
          </p:cNvPr>
          <p:cNvSpPr>
            <a:spLocks noGrp="1"/>
          </p:cNvSpPr>
          <p:nvPr>
            <p:ph type="title"/>
          </p:nvPr>
        </p:nvSpPr>
        <p:spPr>
          <a:xfrm>
            <a:off x="839788" y="365125"/>
            <a:ext cx="10515600" cy="1325563"/>
          </a:xfrm>
        </p:spPr>
        <p:txBody>
          <a:bodyPr/>
          <a:lstStyle/>
          <a:p>
            <a:r>
              <a:rPr lang="en-GB"/>
              <a:t>Click to edit Master title style</a:t>
            </a:r>
            <a:endParaRPr lang="pl-PL"/>
          </a:p>
        </p:txBody>
      </p:sp>
      <p:sp>
        <p:nvSpPr>
          <p:cNvPr id="3" name="Text Placeholder 2">
            <a:extLst>
              <a:ext uri="{FF2B5EF4-FFF2-40B4-BE49-F238E27FC236}">
                <a16:creationId xmlns:a16="http://schemas.microsoft.com/office/drawing/2014/main" id="{40C51BAE-E6F5-6B44-7F11-075399DFC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BB0534C-A39D-8A2F-ACE4-3B1E07E0257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5" name="Text Placeholder 4">
            <a:extLst>
              <a:ext uri="{FF2B5EF4-FFF2-40B4-BE49-F238E27FC236}">
                <a16:creationId xmlns:a16="http://schemas.microsoft.com/office/drawing/2014/main" id="{B3AD24A0-26CD-1449-729F-FD84B8D855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306C679-836C-468E-C635-472BA4967DE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7" name="Date Placeholder 6">
            <a:extLst>
              <a:ext uri="{FF2B5EF4-FFF2-40B4-BE49-F238E27FC236}">
                <a16:creationId xmlns:a16="http://schemas.microsoft.com/office/drawing/2014/main" id="{785F909E-E559-EE76-2F60-F0B36610A263}"/>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8" name="Footer Placeholder 7">
            <a:extLst>
              <a:ext uri="{FF2B5EF4-FFF2-40B4-BE49-F238E27FC236}">
                <a16:creationId xmlns:a16="http://schemas.microsoft.com/office/drawing/2014/main" id="{D2974CEE-F9E0-A943-A7F0-3FC48F1F7BFD}"/>
              </a:ext>
            </a:extLst>
          </p:cNvPr>
          <p:cNvSpPr>
            <a:spLocks noGrp="1"/>
          </p:cNvSpPr>
          <p:nvPr>
            <p:ph type="ftr" sz="quarter" idx="11"/>
          </p:nvPr>
        </p:nvSpPr>
        <p:spPr/>
        <p:txBody>
          <a:bodyPr/>
          <a:lstStyle/>
          <a:p>
            <a:endParaRPr lang="pl-PL"/>
          </a:p>
        </p:txBody>
      </p:sp>
      <p:sp>
        <p:nvSpPr>
          <p:cNvPr id="9" name="Slide Number Placeholder 8">
            <a:extLst>
              <a:ext uri="{FF2B5EF4-FFF2-40B4-BE49-F238E27FC236}">
                <a16:creationId xmlns:a16="http://schemas.microsoft.com/office/drawing/2014/main" id="{AFCA7450-80E2-F1C2-4585-44DEEEF2A313}"/>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3891312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27F73-8487-FBCA-44AC-81DF380627DB}"/>
              </a:ext>
            </a:extLst>
          </p:cNvPr>
          <p:cNvSpPr>
            <a:spLocks noGrp="1"/>
          </p:cNvSpPr>
          <p:nvPr>
            <p:ph type="title"/>
          </p:nvPr>
        </p:nvSpPr>
        <p:spPr/>
        <p:txBody>
          <a:bodyPr/>
          <a:lstStyle/>
          <a:p>
            <a:r>
              <a:rPr lang="en-GB"/>
              <a:t>Click to edit Master title style</a:t>
            </a:r>
            <a:endParaRPr lang="pl-PL"/>
          </a:p>
        </p:txBody>
      </p:sp>
      <p:sp>
        <p:nvSpPr>
          <p:cNvPr id="3" name="Date Placeholder 2">
            <a:extLst>
              <a:ext uri="{FF2B5EF4-FFF2-40B4-BE49-F238E27FC236}">
                <a16:creationId xmlns:a16="http://schemas.microsoft.com/office/drawing/2014/main" id="{23CF3E33-2F0B-C209-49FC-0E783952D0AB}"/>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4" name="Footer Placeholder 3">
            <a:extLst>
              <a:ext uri="{FF2B5EF4-FFF2-40B4-BE49-F238E27FC236}">
                <a16:creationId xmlns:a16="http://schemas.microsoft.com/office/drawing/2014/main" id="{62A89E5E-867E-7053-B326-56F738F1AC52}"/>
              </a:ext>
            </a:extLst>
          </p:cNvPr>
          <p:cNvSpPr>
            <a:spLocks noGrp="1"/>
          </p:cNvSpPr>
          <p:nvPr>
            <p:ph type="ftr" sz="quarter" idx="11"/>
          </p:nvPr>
        </p:nvSpPr>
        <p:spPr/>
        <p:txBody>
          <a:bodyPr/>
          <a:lstStyle/>
          <a:p>
            <a:endParaRPr lang="pl-PL"/>
          </a:p>
        </p:txBody>
      </p:sp>
      <p:sp>
        <p:nvSpPr>
          <p:cNvPr id="5" name="Slide Number Placeholder 4">
            <a:extLst>
              <a:ext uri="{FF2B5EF4-FFF2-40B4-BE49-F238E27FC236}">
                <a16:creationId xmlns:a16="http://schemas.microsoft.com/office/drawing/2014/main" id="{934319A9-B643-E8B2-626B-FD5BFF4AB516}"/>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1059580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B4E34-4A58-0B43-4B3E-D01D67D0E85A}"/>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3" name="Footer Placeholder 2">
            <a:extLst>
              <a:ext uri="{FF2B5EF4-FFF2-40B4-BE49-F238E27FC236}">
                <a16:creationId xmlns:a16="http://schemas.microsoft.com/office/drawing/2014/main" id="{00BAABDD-7F73-E8BA-15F8-4F6A9978162A}"/>
              </a:ext>
            </a:extLst>
          </p:cNvPr>
          <p:cNvSpPr>
            <a:spLocks noGrp="1"/>
          </p:cNvSpPr>
          <p:nvPr>
            <p:ph type="ftr" sz="quarter" idx="11"/>
          </p:nvPr>
        </p:nvSpPr>
        <p:spPr/>
        <p:txBody>
          <a:bodyPr/>
          <a:lstStyle/>
          <a:p>
            <a:endParaRPr lang="pl-PL"/>
          </a:p>
        </p:txBody>
      </p:sp>
      <p:sp>
        <p:nvSpPr>
          <p:cNvPr id="4" name="Slide Number Placeholder 3">
            <a:extLst>
              <a:ext uri="{FF2B5EF4-FFF2-40B4-BE49-F238E27FC236}">
                <a16:creationId xmlns:a16="http://schemas.microsoft.com/office/drawing/2014/main" id="{1D5A8C2A-C1C5-3604-C3C1-2C540532F715}"/>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369732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1662-41FC-DF88-A118-6441E69909D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pl-PL"/>
          </a:p>
        </p:txBody>
      </p:sp>
      <p:sp>
        <p:nvSpPr>
          <p:cNvPr id="3" name="Content Placeholder 2">
            <a:extLst>
              <a:ext uri="{FF2B5EF4-FFF2-40B4-BE49-F238E27FC236}">
                <a16:creationId xmlns:a16="http://schemas.microsoft.com/office/drawing/2014/main" id="{D1CDC687-069C-CD6D-1872-7A21987BC9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4" name="Text Placeholder 3">
            <a:extLst>
              <a:ext uri="{FF2B5EF4-FFF2-40B4-BE49-F238E27FC236}">
                <a16:creationId xmlns:a16="http://schemas.microsoft.com/office/drawing/2014/main" id="{58559DF3-3242-64F4-C990-280BDD487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D4D81F4-4920-EC45-844E-A18391D806DD}"/>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6" name="Footer Placeholder 5">
            <a:extLst>
              <a:ext uri="{FF2B5EF4-FFF2-40B4-BE49-F238E27FC236}">
                <a16:creationId xmlns:a16="http://schemas.microsoft.com/office/drawing/2014/main" id="{98F8BD70-ECCB-0727-D258-D35C8271DA81}"/>
              </a:ext>
            </a:extLst>
          </p:cNvPr>
          <p:cNvSpPr>
            <a:spLocks noGrp="1"/>
          </p:cNvSpPr>
          <p:nvPr>
            <p:ph type="ftr" sz="quarter" idx="11"/>
          </p:nvPr>
        </p:nvSpPr>
        <p:spPr/>
        <p:txBody>
          <a:bodyPr/>
          <a:lstStyle/>
          <a:p>
            <a:endParaRPr lang="pl-PL"/>
          </a:p>
        </p:txBody>
      </p:sp>
      <p:sp>
        <p:nvSpPr>
          <p:cNvPr id="7" name="Slide Number Placeholder 6">
            <a:extLst>
              <a:ext uri="{FF2B5EF4-FFF2-40B4-BE49-F238E27FC236}">
                <a16:creationId xmlns:a16="http://schemas.microsoft.com/office/drawing/2014/main" id="{939AC943-A144-391B-553B-580AA72512D6}"/>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3634513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125D-14BB-1165-6A21-79301DC2AD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pl-PL"/>
          </a:p>
        </p:txBody>
      </p:sp>
      <p:sp>
        <p:nvSpPr>
          <p:cNvPr id="3" name="Picture Placeholder 2">
            <a:extLst>
              <a:ext uri="{FF2B5EF4-FFF2-40B4-BE49-F238E27FC236}">
                <a16:creationId xmlns:a16="http://schemas.microsoft.com/office/drawing/2014/main" id="{CC4D2A5E-20BC-13E2-8EBF-B5DE4EAF6D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Text Placeholder 3">
            <a:extLst>
              <a:ext uri="{FF2B5EF4-FFF2-40B4-BE49-F238E27FC236}">
                <a16:creationId xmlns:a16="http://schemas.microsoft.com/office/drawing/2014/main" id="{C968C592-0C9C-6F2E-652A-450E6F38E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AB249B-10CC-252C-7BE8-C00BDCEA2557}"/>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6" name="Footer Placeholder 5">
            <a:extLst>
              <a:ext uri="{FF2B5EF4-FFF2-40B4-BE49-F238E27FC236}">
                <a16:creationId xmlns:a16="http://schemas.microsoft.com/office/drawing/2014/main" id="{0ADA31E8-5CB4-87A0-2CFE-D54F9EFEAF46}"/>
              </a:ext>
            </a:extLst>
          </p:cNvPr>
          <p:cNvSpPr>
            <a:spLocks noGrp="1"/>
          </p:cNvSpPr>
          <p:nvPr>
            <p:ph type="ftr" sz="quarter" idx="11"/>
          </p:nvPr>
        </p:nvSpPr>
        <p:spPr/>
        <p:txBody>
          <a:bodyPr/>
          <a:lstStyle/>
          <a:p>
            <a:endParaRPr lang="pl-PL"/>
          </a:p>
        </p:txBody>
      </p:sp>
      <p:sp>
        <p:nvSpPr>
          <p:cNvPr id="7" name="Slide Number Placeholder 6">
            <a:extLst>
              <a:ext uri="{FF2B5EF4-FFF2-40B4-BE49-F238E27FC236}">
                <a16:creationId xmlns:a16="http://schemas.microsoft.com/office/drawing/2014/main" id="{3A0F7DFE-CA10-7C07-9B10-259A7E5E8F30}"/>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1654254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913AC-14D2-6EDB-F4C2-9E854611296D}"/>
              </a:ext>
            </a:extLst>
          </p:cNvPr>
          <p:cNvSpPr>
            <a:spLocks noGrp="1"/>
          </p:cNvSpPr>
          <p:nvPr>
            <p:ph type="title"/>
          </p:nvPr>
        </p:nvSpPr>
        <p:spPr/>
        <p:txBody>
          <a:bodyPr/>
          <a:lstStyle/>
          <a:p>
            <a:r>
              <a:rPr lang="en-GB"/>
              <a:t>Click to edit Master title style</a:t>
            </a:r>
            <a:endParaRPr lang="pl-PL"/>
          </a:p>
        </p:txBody>
      </p:sp>
      <p:sp>
        <p:nvSpPr>
          <p:cNvPr id="3" name="Vertical Text Placeholder 2">
            <a:extLst>
              <a:ext uri="{FF2B5EF4-FFF2-40B4-BE49-F238E27FC236}">
                <a16:creationId xmlns:a16="http://schemas.microsoft.com/office/drawing/2014/main" id="{D1062776-E5F5-E90C-E276-48D2C6502A7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4" name="Date Placeholder 3">
            <a:extLst>
              <a:ext uri="{FF2B5EF4-FFF2-40B4-BE49-F238E27FC236}">
                <a16:creationId xmlns:a16="http://schemas.microsoft.com/office/drawing/2014/main" id="{8450D8D8-E03F-0243-D3D6-BF0E9E3717EC}"/>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5" name="Footer Placeholder 4">
            <a:extLst>
              <a:ext uri="{FF2B5EF4-FFF2-40B4-BE49-F238E27FC236}">
                <a16:creationId xmlns:a16="http://schemas.microsoft.com/office/drawing/2014/main" id="{98FCD71E-EBFA-40D4-6BBE-610FEC267C8F}"/>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A397E4ED-EF48-DA3C-E1B0-86ACCD164F2E}"/>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3411393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EEA4D7-97E2-BBCD-0C7B-41F0728D553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pl-PL"/>
          </a:p>
        </p:txBody>
      </p:sp>
      <p:sp>
        <p:nvSpPr>
          <p:cNvPr id="3" name="Vertical Text Placeholder 2">
            <a:extLst>
              <a:ext uri="{FF2B5EF4-FFF2-40B4-BE49-F238E27FC236}">
                <a16:creationId xmlns:a16="http://schemas.microsoft.com/office/drawing/2014/main" id="{1944732D-0BC1-7183-8AC3-4F93E3D9B01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4" name="Date Placeholder 3">
            <a:extLst>
              <a:ext uri="{FF2B5EF4-FFF2-40B4-BE49-F238E27FC236}">
                <a16:creationId xmlns:a16="http://schemas.microsoft.com/office/drawing/2014/main" id="{7A22F8A6-C540-FA9A-16D2-810670634552}"/>
              </a:ext>
            </a:extLst>
          </p:cNvPr>
          <p:cNvSpPr>
            <a:spLocks noGrp="1"/>
          </p:cNvSpPr>
          <p:nvPr>
            <p:ph type="dt" sz="half" idx="10"/>
          </p:nvPr>
        </p:nvSpPr>
        <p:spPr/>
        <p:txBody>
          <a:bodyPr/>
          <a:lstStyle/>
          <a:p>
            <a:fld id="{B9AEEF01-D8D1-45E7-B463-1A2C3FE05365}" type="datetimeFigureOut">
              <a:rPr lang="pl-PL" smtClean="0"/>
              <a:t>24.11.2025</a:t>
            </a:fld>
            <a:endParaRPr lang="pl-PL"/>
          </a:p>
        </p:txBody>
      </p:sp>
      <p:sp>
        <p:nvSpPr>
          <p:cNvPr id="5" name="Footer Placeholder 4">
            <a:extLst>
              <a:ext uri="{FF2B5EF4-FFF2-40B4-BE49-F238E27FC236}">
                <a16:creationId xmlns:a16="http://schemas.microsoft.com/office/drawing/2014/main" id="{6CA50764-8178-B1D7-F84D-F7FE60474CE7}"/>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4E3CAC21-1BF1-F0F0-340C-B1A3B9FF4CD1}"/>
              </a:ext>
            </a:extLst>
          </p:cNvPr>
          <p:cNvSpPr>
            <a:spLocks noGrp="1"/>
          </p:cNvSpPr>
          <p:nvPr>
            <p:ph type="sldNum" sz="quarter" idx="12"/>
          </p:nvPr>
        </p:nvSpPr>
        <p:spPr/>
        <p:txBody>
          <a:bodyPr/>
          <a:lstStyle/>
          <a:p>
            <a:fld id="{BD10868A-2E5E-4CF4-8FA1-E751E514242E}" type="slidenum">
              <a:rPr lang="pl-PL" smtClean="0"/>
              <a:t>‹#›</a:t>
            </a:fld>
            <a:endParaRPr lang="pl-PL"/>
          </a:p>
        </p:txBody>
      </p:sp>
    </p:spTree>
    <p:extLst>
      <p:ext uri="{BB962C8B-B14F-4D97-AF65-F5344CB8AC3E}">
        <p14:creationId xmlns:p14="http://schemas.microsoft.com/office/powerpoint/2010/main" val="63825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a:extLst>
              <a:ext uri="{FF2B5EF4-FFF2-40B4-BE49-F238E27FC236}">
                <a16:creationId xmlns:a16="http://schemas.microsoft.com/office/drawing/2014/main" id="{33501D7C-AD43-D237-6BAF-E184AEC2319F}"/>
              </a:ext>
            </a:extLst>
          </p:cNvPr>
          <p:cNvSpPr>
            <a:spLocks noGrp="1"/>
          </p:cNvSpPr>
          <p:nvPr>
            <p:ph type="dt" sz="half" idx="10"/>
          </p:nvPr>
        </p:nvSpPr>
        <p:spPr/>
        <p:txBody>
          <a:bodyPr/>
          <a:lstStyle>
            <a:lvl1pPr>
              <a:defRPr/>
            </a:lvl1pPr>
          </a:lstStyle>
          <a:p>
            <a:pPr>
              <a:defRPr/>
            </a:pPr>
            <a:endParaRPr lang="en-US"/>
          </a:p>
        </p:txBody>
      </p:sp>
      <p:sp>
        <p:nvSpPr>
          <p:cNvPr id="5" name="Symbol zastępczy stopki 4">
            <a:extLst>
              <a:ext uri="{FF2B5EF4-FFF2-40B4-BE49-F238E27FC236}">
                <a16:creationId xmlns:a16="http://schemas.microsoft.com/office/drawing/2014/main" id="{ED585C1A-54F1-8BDA-013A-B3D4511C621B}"/>
              </a:ext>
            </a:extLst>
          </p:cNvPr>
          <p:cNvSpPr>
            <a:spLocks noGrp="1"/>
          </p:cNvSpPr>
          <p:nvPr>
            <p:ph type="ftr" sz="quarter" idx="11"/>
          </p:nvPr>
        </p:nvSpPr>
        <p:spPr/>
        <p:txBody>
          <a:bodyPr/>
          <a:lstStyle>
            <a:lvl1pPr>
              <a:defRPr/>
            </a:lvl1pPr>
          </a:lstStyle>
          <a:p>
            <a:pPr>
              <a:defRPr/>
            </a:pPr>
            <a:endParaRPr lang="en-US"/>
          </a:p>
        </p:txBody>
      </p:sp>
      <p:sp>
        <p:nvSpPr>
          <p:cNvPr id="6" name="Symbol zastępczy numeru slajdu 5">
            <a:extLst>
              <a:ext uri="{FF2B5EF4-FFF2-40B4-BE49-F238E27FC236}">
                <a16:creationId xmlns:a16="http://schemas.microsoft.com/office/drawing/2014/main" id="{1F0A48C1-CCB5-6190-40AD-2D59A497EB98}"/>
              </a:ext>
            </a:extLst>
          </p:cNvPr>
          <p:cNvSpPr>
            <a:spLocks noGrp="1"/>
          </p:cNvSpPr>
          <p:nvPr>
            <p:ph type="sldNum" sz="quarter" idx="12"/>
          </p:nvPr>
        </p:nvSpPr>
        <p:spPr/>
        <p:txBody>
          <a:bodyPr/>
          <a:lstStyle>
            <a:lvl1pPr>
              <a:defRPr/>
            </a:lvl1pPr>
          </a:lstStyle>
          <a:p>
            <a:fld id="{D37CBFC4-D1F3-46C4-BA7B-CDCF892C9C8E}" type="slidenum">
              <a:rPr lang="en-US" altLang="pl-PL"/>
              <a:pPr/>
              <a:t>‹#›</a:t>
            </a:fld>
            <a:endParaRPr lang="en-US" altLang="pl-PL"/>
          </a:p>
        </p:txBody>
      </p:sp>
    </p:spTree>
    <p:extLst>
      <p:ext uri="{BB962C8B-B14F-4D97-AF65-F5344CB8AC3E}">
        <p14:creationId xmlns:p14="http://schemas.microsoft.com/office/powerpoint/2010/main" val="3789709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00B55A6E-FDC2-4237-EFE2-FDDB6D49B8C0}"/>
              </a:ext>
            </a:extLst>
          </p:cNvPr>
          <p:cNvSpPr>
            <a:spLocks noGrp="1"/>
          </p:cNvSpPr>
          <p:nvPr>
            <p:ph type="dt" sz="half" idx="10"/>
          </p:nvPr>
        </p:nvSpPr>
        <p:spPr/>
        <p:txBody>
          <a:bodyPr/>
          <a:lstStyle>
            <a:lvl1pPr>
              <a:defRPr/>
            </a:lvl1pPr>
          </a:lstStyle>
          <a:p>
            <a:pPr>
              <a:defRPr/>
            </a:pPr>
            <a:endParaRPr lang="en-US"/>
          </a:p>
        </p:txBody>
      </p:sp>
      <p:sp>
        <p:nvSpPr>
          <p:cNvPr id="5" name="Symbol zastępczy stopki 4">
            <a:extLst>
              <a:ext uri="{FF2B5EF4-FFF2-40B4-BE49-F238E27FC236}">
                <a16:creationId xmlns:a16="http://schemas.microsoft.com/office/drawing/2014/main" id="{5742FDAE-FF75-938E-DF21-CDC84178F2FC}"/>
              </a:ext>
            </a:extLst>
          </p:cNvPr>
          <p:cNvSpPr>
            <a:spLocks noGrp="1"/>
          </p:cNvSpPr>
          <p:nvPr>
            <p:ph type="ftr" sz="quarter" idx="11"/>
          </p:nvPr>
        </p:nvSpPr>
        <p:spPr/>
        <p:txBody>
          <a:bodyPr/>
          <a:lstStyle>
            <a:lvl1pPr>
              <a:defRPr/>
            </a:lvl1pPr>
          </a:lstStyle>
          <a:p>
            <a:pPr>
              <a:defRPr/>
            </a:pPr>
            <a:endParaRPr lang="en-US"/>
          </a:p>
        </p:txBody>
      </p:sp>
      <p:sp>
        <p:nvSpPr>
          <p:cNvPr id="6" name="Symbol zastępczy numeru slajdu 5">
            <a:extLst>
              <a:ext uri="{FF2B5EF4-FFF2-40B4-BE49-F238E27FC236}">
                <a16:creationId xmlns:a16="http://schemas.microsoft.com/office/drawing/2014/main" id="{37A71D4D-FC97-EF1B-C573-E814993E8129}"/>
              </a:ext>
            </a:extLst>
          </p:cNvPr>
          <p:cNvSpPr>
            <a:spLocks noGrp="1"/>
          </p:cNvSpPr>
          <p:nvPr>
            <p:ph type="sldNum" sz="quarter" idx="12"/>
          </p:nvPr>
        </p:nvSpPr>
        <p:spPr/>
        <p:txBody>
          <a:bodyPr/>
          <a:lstStyle>
            <a:lvl1pPr>
              <a:defRPr/>
            </a:lvl1pPr>
          </a:lstStyle>
          <a:p>
            <a:fld id="{B0196C46-17A1-48EF-9B51-3EC9C1B24134}" type="slidenum">
              <a:rPr lang="en-US" altLang="pl-PL"/>
              <a:pPr/>
              <a:t>‹#›</a:t>
            </a:fld>
            <a:endParaRPr lang="en-US" altLang="pl-PL"/>
          </a:p>
        </p:txBody>
      </p:sp>
    </p:spTree>
    <p:extLst>
      <p:ext uri="{BB962C8B-B14F-4D97-AF65-F5344CB8AC3E}">
        <p14:creationId xmlns:p14="http://schemas.microsoft.com/office/powerpoint/2010/main" val="4175553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E2DB965D-9D12-857D-E94D-44881A22B6FC}"/>
              </a:ext>
            </a:extLst>
          </p:cNvPr>
          <p:cNvSpPr>
            <a:spLocks noGrp="1"/>
          </p:cNvSpPr>
          <p:nvPr>
            <p:ph type="dt" sz="half" idx="10"/>
          </p:nvPr>
        </p:nvSpPr>
        <p:spPr/>
        <p:txBody>
          <a:bodyPr/>
          <a:lstStyle>
            <a:lvl1pPr>
              <a:defRPr/>
            </a:lvl1pPr>
          </a:lstStyle>
          <a:p>
            <a:pPr>
              <a:defRPr/>
            </a:pPr>
            <a:endParaRPr lang="en-US"/>
          </a:p>
        </p:txBody>
      </p:sp>
      <p:sp>
        <p:nvSpPr>
          <p:cNvPr id="5" name="Symbol zastępczy stopki 4">
            <a:extLst>
              <a:ext uri="{FF2B5EF4-FFF2-40B4-BE49-F238E27FC236}">
                <a16:creationId xmlns:a16="http://schemas.microsoft.com/office/drawing/2014/main" id="{140B569E-ABE4-54B4-8868-1B4D417A1D7E}"/>
              </a:ext>
            </a:extLst>
          </p:cNvPr>
          <p:cNvSpPr>
            <a:spLocks noGrp="1"/>
          </p:cNvSpPr>
          <p:nvPr>
            <p:ph type="ftr" sz="quarter" idx="11"/>
          </p:nvPr>
        </p:nvSpPr>
        <p:spPr/>
        <p:txBody>
          <a:bodyPr/>
          <a:lstStyle>
            <a:lvl1pPr>
              <a:defRPr/>
            </a:lvl1pPr>
          </a:lstStyle>
          <a:p>
            <a:pPr>
              <a:defRPr/>
            </a:pPr>
            <a:endParaRPr lang="en-US"/>
          </a:p>
        </p:txBody>
      </p:sp>
      <p:sp>
        <p:nvSpPr>
          <p:cNvPr id="6" name="Symbol zastępczy numeru slajdu 5">
            <a:extLst>
              <a:ext uri="{FF2B5EF4-FFF2-40B4-BE49-F238E27FC236}">
                <a16:creationId xmlns:a16="http://schemas.microsoft.com/office/drawing/2014/main" id="{07A3469A-BFEC-C620-CDF9-64C73642CBDE}"/>
              </a:ext>
            </a:extLst>
          </p:cNvPr>
          <p:cNvSpPr>
            <a:spLocks noGrp="1"/>
          </p:cNvSpPr>
          <p:nvPr>
            <p:ph type="sldNum" sz="quarter" idx="12"/>
          </p:nvPr>
        </p:nvSpPr>
        <p:spPr/>
        <p:txBody>
          <a:bodyPr/>
          <a:lstStyle>
            <a:lvl1pPr>
              <a:defRPr/>
            </a:lvl1pPr>
          </a:lstStyle>
          <a:p>
            <a:fld id="{9CA74476-8248-457B-8FD1-C74A626B8A40}" type="slidenum">
              <a:rPr lang="en-US" altLang="pl-PL"/>
              <a:pPr/>
              <a:t>‹#›</a:t>
            </a:fld>
            <a:endParaRPr lang="en-US" altLang="pl-PL"/>
          </a:p>
        </p:txBody>
      </p:sp>
    </p:spTree>
    <p:extLst>
      <p:ext uri="{BB962C8B-B14F-4D97-AF65-F5344CB8AC3E}">
        <p14:creationId xmlns:p14="http://schemas.microsoft.com/office/powerpoint/2010/main" val="301049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3">
            <a:extLst>
              <a:ext uri="{FF2B5EF4-FFF2-40B4-BE49-F238E27FC236}">
                <a16:creationId xmlns:a16="http://schemas.microsoft.com/office/drawing/2014/main" id="{741E68E3-02BB-15B5-6344-62EF83B787DA}"/>
              </a:ext>
            </a:extLst>
          </p:cNvPr>
          <p:cNvSpPr>
            <a:spLocks noGrp="1"/>
          </p:cNvSpPr>
          <p:nvPr>
            <p:ph type="dt" sz="half" idx="10"/>
          </p:nvPr>
        </p:nvSpPr>
        <p:spPr/>
        <p:txBody>
          <a:bodyPr/>
          <a:lstStyle>
            <a:lvl1pPr>
              <a:defRPr/>
            </a:lvl1pPr>
          </a:lstStyle>
          <a:p>
            <a:pPr>
              <a:defRPr/>
            </a:pPr>
            <a:endParaRPr lang="en-US"/>
          </a:p>
        </p:txBody>
      </p:sp>
      <p:sp>
        <p:nvSpPr>
          <p:cNvPr id="6" name="Symbol zastępczy stopki 4">
            <a:extLst>
              <a:ext uri="{FF2B5EF4-FFF2-40B4-BE49-F238E27FC236}">
                <a16:creationId xmlns:a16="http://schemas.microsoft.com/office/drawing/2014/main" id="{30690895-FEE6-9585-6139-B8BB52ECACB7}"/>
              </a:ext>
            </a:extLst>
          </p:cNvPr>
          <p:cNvSpPr>
            <a:spLocks noGrp="1"/>
          </p:cNvSpPr>
          <p:nvPr>
            <p:ph type="ftr" sz="quarter" idx="11"/>
          </p:nvPr>
        </p:nvSpPr>
        <p:spPr/>
        <p:txBody>
          <a:bodyPr/>
          <a:lstStyle>
            <a:lvl1pPr>
              <a:defRPr/>
            </a:lvl1pPr>
          </a:lstStyle>
          <a:p>
            <a:pPr>
              <a:defRPr/>
            </a:pPr>
            <a:endParaRPr lang="en-US"/>
          </a:p>
        </p:txBody>
      </p:sp>
      <p:sp>
        <p:nvSpPr>
          <p:cNvPr id="7" name="Symbol zastępczy numeru slajdu 5">
            <a:extLst>
              <a:ext uri="{FF2B5EF4-FFF2-40B4-BE49-F238E27FC236}">
                <a16:creationId xmlns:a16="http://schemas.microsoft.com/office/drawing/2014/main" id="{BAD58616-7298-BC38-C2C9-B2C7BD7275C2}"/>
              </a:ext>
            </a:extLst>
          </p:cNvPr>
          <p:cNvSpPr>
            <a:spLocks noGrp="1"/>
          </p:cNvSpPr>
          <p:nvPr>
            <p:ph type="sldNum" sz="quarter" idx="12"/>
          </p:nvPr>
        </p:nvSpPr>
        <p:spPr/>
        <p:txBody>
          <a:bodyPr/>
          <a:lstStyle>
            <a:lvl1pPr>
              <a:defRPr/>
            </a:lvl1pPr>
          </a:lstStyle>
          <a:p>
            <a:fld id="{92372835-9650-4643-85F2-622E74D5BEBA}" type="slidenum">
              <a:rPr lang="en-US" altLang="pl-PL"/>
              <a:pPr/>
              <a:t>‹#›</a:t>
            </a:fld>
            <a:endParaRPr lang="en-US" altLang="pl-PL"/>
          </a:p>
        </p:txBody>
      </p:sp>
    </p:spTree>
    <p:extLst>
      <p:ext uri="{BB962C8B-B14F-4D97-AF65-F5344CB8AC3E}">
        <p14:creationId xmlns:p14="http://schemas.microsoft.com/office/powerpoint/2010/main" val="3780605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3">
            <a:extLst>
              <a:ext uri="{FF2B5EF4-FFF2-40B4-BE49-F238E27FC236}">
                <a16:creationId xmlns:a16="http://schemas.microsoft.com/office/drawing/2014/main" id="{0AD7316E-E16C-2FF8-0AFA-B33C4310276A}"/>
              </a:ext>
            </a:extLst>
          </p:cNvPr>
          <p:cNvSpPr>
            <a:spLocks noGrp="1"/>
          </p:cNvSpPr>
          <p:nvPr>
            <p:ph type="dt" sz="half" idx="10"/>
          </p:nvPr>
        </p:nvSpPr>
        <p:spPr/>
        <p:txBody>
          <a:bodyPr/>
          <a:lstStyle>
            <a:lvl1pPr>
              <a:defRPr/>
            </a:lvl1pPr>
          </a:lstStyle>
          <a:p>
            <a:pPr>
              <a:defRPr/>
            </a:pPr>
            <a:endParaRPr lang="en-US"/>
          </a:p>
        </p:txBody>
      </p:sp>
      <p:sp>
        <p:nvSpPr>
          <p:cNvPr id="8" name="Symbol zastępczy stopki 4">
            <a:extLst>
              <a:ext uri="{FF2B5EF4-FFF2-40B4-BE49-F238E27FC236}">
                <a16:creationId xmlns:a16="http://schemas.microsoft.com/office/drawing/2014/main" id="{8680FF46-CDFA-E5B5-8457-892A91F36D09}"/>
              </a:ext>
            </a:extLst>
          </p:cNvPr>
          <p:cNvSpPr>
            <a:spLocks noGrp="1"/>
          </p:cNvSpPr>
          <p:nvPr>
            <p:ph type="ftr" sz="quarter" idx="11"/>
          </p:nvPr>
        </p:nvSpPr>
        <p:spPr/>
        <p:txBody>
          <a:bodyPr/>
          <a:lstStyle>
            <a:lvl1pPr>
              <a:defRPr/>
            </a:lvl1pPr>
          </a:lstStyle>
          <a:p>
            <a:pPr>
              <a:defRPr/>
            </a:pPr>
            <a:endParaRPr lang="en-US"/>
          </a:p>
        </p:txBody>
      </p:sp>
      <p:sp>
        <p:nvSpPr>
          <p:cNvPr id="9" name="Symbol zastępczy numeru slajdu 5">
            <a:extLst>
              <a:ext uri="{FF2B5EF4-FFF2-40B4-BE49-F238E27FC236}">
                <a16:creationId xmlns:a16="http://schemas.microsoft.com/office/drawing/2014/main" id="{2A414BF3-37DE-066D-FC0B-C1499A20D0DC}"/>
              </a:ext>
            </a:extLst>
          </p:cNvPr>
          <p:cNvSpPr>
            <a:spLocks noGrp="1"/>
          </p:cNvSpPr>
          <p:nvPr>
            <p:ph type="sldNum" sz="quarter" idx="12"/>
          </p:nvPr>
        </p:nvSpPr>
        <p:spPr/>
        <p:txBody>
          <a:bodyPr/>
          <a:lstStyle>
            <a:lvl1pPr>
              <a:defRPr/>
            </a:lvl1pPr>
          </a:lstStyle>
          <a:p>
            <a:fld id="{DD746F2F-AF6D-4D76-A37F-4EA8A0581C44}" type="slidenum">
              <a:rPr lang="en-US" altLang="pl-PL"/>
              <a:pPr/>
              <a:t>‹#›</a:t>
            </a:fld>
            <a:endParaRPr lang="en-US" altLang="pl-PL"/>
          </a:p>
        </p:txBody>
      </p:sp>
    </p:spTree>
    <p:extLst>
      <p:ext uri="{BB962C8B-B14F-4D97-AF65-F5344CB8AC3E}">
        <p14:creationId xmlns:p14="http://schemas.microsoft.com/office/powerpoint/2010/main" val="338614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3">
            <a:extLst>
              <a:ext uri="{FF2B5EF4-FFF2-40B4-BE49-F238E27FC236}">
                <a16:creationId xmlns:a16="http://schemas.microsoft.com/office/drawing/2014/main" id="{5E0F00DB-51A9-6829-4A18-940FCE21F56E}"/>
              </a:ext>
            </a:extLst>
          </p:cNvPr>
          <p:cNvSpPr>
            <a:spLocks noGrp="1"/>
          </p:cNvSpPr>
          <p:nvPr>
            <p:ph type="dt" sz="half" idx="10"/>
          </p:nvPr>
        </p:nvSpPr>
        <p:spPr/>
        <p:txBody>
          <a:bodyPr/>
          <a:lstStyle>
            <a:lvl1pPr>
              <a:defRPr/>
            </a:lvl1pPr>
          </a:lstStyle>
          <a:p>
            <a:pPr>
              <a:defRPr/>
            </a:pPr>
            <a:endParaRPr lang="en-US"/>
          </a:p>
        </p:txBody>
      </p:sp>
      <p:sp>
        <p:nvSpPr>
          <p:cNvPr id="4" name="Symbol zastępczy stopki 4">
            <a:extLst>
              <a:ext uri="{FF2B5EF4-FFF2-40B4-BE49-F238E27FC236}">
                <a16:creationId xmlns:a16="http://schemas.microsoft.com/office/drawing/2014/main" id="{9F6B1430-8C8C-8952-8AEF-5EE046C7F309}"/>
              </a:ext>
            </a:extLst>
          </p:cNvPr>
          <p:cNvSpPr>
            <a:spLocks noGrp="1"/>
          </p:cNvSpPr>
          <p:nvPr>
            <p:ph type="ftr" sz="quarter" idx="11"/>
          </p:nvPr>
        </p:nvSpPr>
        <p:spPr/>
        <p:txBody>
          <a:bodyPr/>
          <a:lstStyle>
            <a:lvl1pPr>
              <a:defRPr/>
            </a:lvl1pPr>
          </a:lstStyle>
          <a:p>
            <a:pPr>
              <a:defRPr/>
            </a:pPr>
            <a:endParaRPr lang="en-US"/>
          </a:p>
        </p:txBody>
      </p:sp>
      <p:sp>
        <p:nvSpPr>
          <p:cNvPr id="5" name="Symbol zastępczy numeru slajdu 5">
            <a:extLst>
              <a:ext uri="{FF2B5EF4-FFF2-40B4-BE49-F238E27FC236}">
                <a16:creationId xmlns:a16="http://schemas.microsoft.com/office/drawing/2014/main" id="{75BD2C78-B605-7B62-006B-FE6F47918891}"/>
              </a:ext>
            </a:extLst>
          </p:cNvPr>
          <p:cNvSpPr>
            <a:spLocks noGrp="1"/>
          </p:cNvSpPr>
          <p:nvPr>
            <p:ph type="sldNum" sz="quarter" idx="12"/>
          </p:nvPr>
        </p:nvSpPr>
        <p:spPr/>
        <p:txBody>
          <a:bodyPr/>
          <a:lstStyle>
            <a:lvl1pPr>
              <a:defRPr/>
            </a:lvl1pPr>
          </a:lstStyle>
          <a:p>
            <a:fld id="{9650134D-318C-48E5-BBE2-A084FE74D679}" type="slidenum">
              <a:rPr lang="en-US" altLang="pl-PL"/>
              <a:pPr/>
              <a:t>‹#›</a:t>
            </a:fld>
            <a:endParaRPr lang="en-US" altLang="pl-PL"/>
          </a:p>
        </p:txBody>
      </p:sp>
    </p:spTree>
    <p:extLst>
      <p:ext uri="{BB962C8B-B14F-4D97-AF65-F5344CB8AC3E}">
        <p14:creationId xmlns:p14="http://schemas.microsoft.com/office/powerpoint/2010/main" val="2696833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3">
            <a:extLst>
              <a:ext uri="{FF2B5EF4-FFF2-40B4-BE49-F238E27FC236}">
                <a16:creationId xmlns:a16="http://schemas.microsoft.com/office/drawing/2014/main" id="{BD60140E-347B-211F-41EB-AD87A5E0C2DC}"/>
              </a:ext>
            </a:extLst>
          </p:cNvPr>
          <p:cNvSpPr>
            <a:spLocks noGrp="1"/>
          </p:cNvSpPr>
          <p:nvPr>
            <p:ph type="dt" sz="half" idx="10"/>
          </p:nvPr>
        </p:nvSpPr>
        <p:spPr/>
        <p:txBody>
          <a:bodyPr/>
          <a:lstStyle>
            <a:lvl1pPr>
              <a:defRPr/>
            </a:lvl1pPr>
          </a:lstStyle>
          <a:p>
            <a:pPr>
              <a:defRPr/>
            </a:pPr>
            <a:endParaRPr lang="en-US"/>
          </a:p>
        </p:txBody>
      </p:sp>
      <p:sp>
        <p:nvSpPr>
          <p:cNvPr id="3" name="Symbol zastępczy stopki 4">
            <a:extLst>
              <a:ext uri="{FF2B5EF4-FFF2-40B4-BE49-F238E27FC236}">
                <a16:creationId xmlns:a16="http://schemas.microsoft.com/office/drawing/2014/main" id="{CE229BD0-3B0E-ACA5-6F7B-4152B6E40259}"/>
              </a:ext>
            </a:extLst>
          </p:cNvPr>
          <p:cNvSpPr>
            <a:spLocks noGrp="1"/>
          </p:cNvSpPr>
          <p:nvPr>
            <p:ph type="ftr" sz="quarter" idx="11"/>
          </p:nvPr>
        </p:nvSpPr>
        <p:spPr/>
        <p:txBody>
          <a:bodyPr/>
          <a:lstStyle>
            <a:lvl1pPr>
              <a:defRPr/>
            </a:lvl1pPr>
          </a:lstStyle>
          <a:p>
            <a:pPr>
              <a:defRPr/>
            </a:pPr>
            <a:endParaRPr lang="en-US"/>
          </a:p>
        </p:txBody>
      </p:sp>
      <p:sp>
        <p:nvSpPr>
          <p:cNvPr id="4" name="Symbol zastępczy numeru slajdu 5">
            <a:extLst>
              <a:ext uri="{FF2B5EF4-FFF2-40B4-BE49-F238E27FC236}">
                <a16:creationId xmlns:a16="http://schemas.microsoft.com/office/drawing/2014/main" id="{FAD686EF-94EC-B4C2-84EE-02646FC4939E}"/>
              </a:ext>
            </a:extLst>
          </p:cNvPr>
          <p:cNvSpPr>
            <a:spLocks noGrp="1"/>
          </p:cNvSpPr>
          <p:nvPr>
            <p:ph type="sldNum" sz="quarter" idx="12"/>
          </p:nvPr>
        </p:nvSpPr>
        <p:spPr/>
        <p:txBody>
          <a:bodyPr/>
          <a:lstStyle>
            <a:lvl1pPr>
              <a:defRPr/>
            </a:lvl1pPr>
          </a:lstStyle>
          <a:p>
            <a:fld id="{98A03B48-F573-45A3-BD6E-29D7CE7B01A2}" type="slidenum">
              <a:rPr lang="en-US" altLang="pl-PL"/>
              <a:pPr/>
              <a:t>‹#›</a:t>
            </a:fld>
            <a:endParaRPr lang="en-US" altLang="pl-PL"/>
          </a:p>
        </p:txBody>
      </p:sp>
    </p:spTree>
    <p:extLst>
      <p:ext uri="{BB962C8B-B14F-4D97-AF65-F5344CB8AC3E}">
        <p14:creationId xmlns:p14="http://schemas.microsoft.com/office/powerpoint/2010/main" val="102137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3">
            <a:extLst>
              <a:ext uri="{FF2B5EF4-FFF2-40B4-BE49-F238E27FC236}">
                <a16:creationId xmlns:a16="http://schemas.microsoft.com/office/drawing/2014/main" id="{B667CF40-A7F4-E1DB-3D77-63F7825EB86E}"/>
              </a:ext>
            </a:extLst>
          </p:cNvPr>
          <p:cNvSpPr>
            <a:spLocks noGrp="1"/>
          </p:cNvSpPr>
          <p:nvPr>
            <p:ph type="dt" sz="half" idx="10"/>
          </p:nvPr>
        </p:nvSpPr>
        <p:spPr/>
        <p:txBody>
          <a:bodyPr/>
          <a:lstStyle>
            <a:lvl1pPr>
              <a:defRPr/>
            </a:lvl1pPr>
          </a:lstStyle>
          <a:p>
            <a:pPr>
              <a:defRPr/>
            </a:pPr>
            <a:endParaRPr lang="en-US"/>
          </a:p>
        </p:txBody>
      </p:sp>
      <p:sp>
        <p:nvSpPr>
          <p:cNvPr id="6" name="Symbol zastępczy stopki 4">
            <a:extLst>
              <a:ext uri="{FF2B5EF4-FFF2-40B4-BE49-F238E27FC236}">
                <a16:creationId xmlns:a16="http://schemas.microsoft.com/office/drawing/2014/main" id="{85D6057A-AF39-2552-3707-4CDB98819151}"/>
              </a:ext>
            </a:extLst>
          </p:cNvPr>
          <p:cNvSpPr>
            <a:spLocks noGrp="1"/>
          </p:cNvSpPr>
          <p:nvPr>
            <p:ph type="ftr" sz="quarter" idx="11"/>
          </p:nvPr>
        </p:nvSpPr>
        <p:spPr/>
        <p:txBody>
          <a:bodyPr/>
          <a:lstStyle>
            <a:lvl1pPr>
              <a:defRPr/>
            </a:lvl1pPr>
          </a:lstStyle>
          <a:p>
            <a:pPr>
              <a:defRPr/>
            </a:pPr>
            <a:endParaRPr lang="en-US"/>
          </a:p>
        </p:txBody>
      </p:sp>
      <p:sp>
        <p:nvSpPr>
          <p:cNvPr id="7" name="Symbol zastępczy numeru slajdu 5">
            <a:extLst>
              <a:ext uri="{FF2B5EF4-FFF2-40B4-BE49-F238E27FC236}">
                <a16:creationId xmlns:a16="http://schemas.microsoft.com/office/drawing/2014/main" id="{AE35C51E-7CF6-F68B-69B1-F9A61AB1F0AF}"/>
              </a:ext>
            </a:extLst>
          </p:cNvPr>
          <p:cNvSpPr>
            <a:spLocks noGrp="1"/>
          </p:cNvSpPr>
          <p:nvPr>
            <p:ph type="sldNum" sz="quarter" idx="12"/>
          </p:nvPr>
        </p:nvSpPr>
        <p:spPr/>
        <p:txBody>
          <a:bodyPr/>
          <a:lstStyle>
            <a:lvl1pPr>
              <a:defRPr/>
            </a:lvl1pPr>
          </a:lstStyle>
          <a:p>
            <a:fld id="{44F69D41-FEED-4B68-AAEF-80EC0E1324FC}" type="slidenum">
              <a:rPr lang="en-US" altLang="pl-PL"/>
              <a:pPr/>
              <a:t>‹#›</a:t>
            </a:fld>
            <a:endParaRPr lang="en-US" altLang="pl-PL"/>
          </a:p>
        </p:txBody>
      </p:sp>
    </p:spTree>
    <p:extLst>
      <p:ext uri="{BB962C8B-B14F-4D97-AF65-F5344CB8AC3E}">
        <p14:creationId xmlns:p14="http://schemas.microsoft.com/office/powerpoint/2010/main" val="1839143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3">
            <a:extLst>
              <a:ext uri="{FF2B5EF4-FFF2-40B4-BE49-F238E27FC236}">
                <a16:creationId xmlns:a16="http://schemas.microsoft.com/office/drawing/2014/main" id="{2A32E383-1BDD-DDA6-1338-DC9F43C8668D}"/>
              </a:ext>
            </a:extLst>
          </p:cNvPr>
          <p:cNvSpPr>
            <a:spLocks noGrp="1"/>
          </p:cNvSpPr>
          <p:nvPr>
            <p:ph type="dt" sz="half" idx="10"/>
          </p:nvPr>
        </p:nvSpPr>
        <p:spPr/>
        <p:txBody>
          <a:bodyPr/>
          <a:lstStyle>
            <a:lvl1pPr>
              <a:defRPr/>
            </a:lvl1pPr>
          </a:lstStyle>
          <a:p>
            <a:pPr>
              <a:defRPr/>
            </a:pPr>
            <a:endParaRPr lang="en-US"/>
          </a:p>
        </p:txBody>
      </p:sp>
      <p:sp>
        <p:nvSpPr>
          <p:cNvPr id="6" name="Symbol zastępczy stopki 4">
            <a:extLst>
              <a:ext uri="{FF2B5EF4-FFF2-40B4-BE49-F238E27FC236}">
                <a16:creationId xmlns:a16="http://schemas.microsoft.com/office/drawing/2014/main" id="{EE3456A2-F52E-71C8-71F1-70B9B415B827}"/>
              </a:ext>
            </a:extLst>
          </p:cNvPr>
          <p:cNvSpPr>
            <a:spLocks noGrp="1"/>
          </p:cNvSpPr>
          <p:nvPr>
            <p:ph type="ftr" sz="quarter" idx="11"/>
          </p:nvPr>
        </p:nvSpPr>
        <p:spPr/>
        <p:txBody>
          <a:bodyPr/>
          <a:lstStyle>
            <a:lvl1pPr>
              <a:defRPr/>
            </a:lvl1pPr>
          </a:lstStyle>
          <a:p>
            <a:pPr>
              <a:defRPr/>
            </a:pPr>
            <a:endParaRPr lang="en-US"/>
          </a:p>
        </p:txBody>
      </p:sp>
      <p:sp>
        <p:nvSpPr>
          <p:cNvPr id="7" name="Symbol zastępczy numeru slajdu 5">
            <a:extLst>
              <a:ext uri="{FF2B5EF4-FFF2-40B4-BE49-F238E27FC236}">
                <a16:creationId xmlns:a16="http://schemas.microsoft.com/office/drawing/2014/main" id="{02D3F984-AE22-A6B2-37CE-A9872FE6105C}"/>
              </a:ext>
            </a:extLst>
          </p:cNvPr>
          <p:cNvSpPr>
            <a:spLocks noGrp="1"/>
          </p:cNvSpPr>
          <p:nvPr>
            <p:ph type="sldNum" sz="quarter" idx="12"/>
          </p:nvPr>
        </p:nvSpPr>
        <p:spPr/>
        <p:txBody>
          <a:bodyPr/>
          <a:lstStyle>
            <a:lvl1pPr>
              <a:defRPr/>
            </a:lvl1pPr>
          </a:lstStyle>
          <a:p>
            <a:fld id="{EE712989-AD17-464D-BE18-76AC7BC3675A}" type="slidenum">
              <a:rPr lang="en-US" altLang="pl-PL"/>
              <a:pPr/>
              <a:t>‹#›</a:t>
            </a:fld>
            <a:endParaRPr lang="en-US" altLang="pl-PL"/>
          </a:p>
        </p:txBody>
      </p:sp>
    </p:spTree>
    <p:extLst>
      <p:ext uri="{BB962C8B-B14F-4D97-AF65-F5344CB8AC3E}">
        <p14:creationId xmlns:p14="http://schemas.microsoft.com/office/powerpoint/2010/main" val="854484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06CBA96-E18A-03B0-650D-30409C7E360F}"/>
              </a:ext>
            </a:extLst>
          </p:cNvPr>
          <p:cNvSpPr>
            <a:spLocks noGrp="1"/>
          </p:cNvSpPr>
          <p:nvPr>
            <p:ph type="dt" sz="half" idx="10"/>
          </p:nvPr>
        </p:nvSpPr>
        <p:spPr/>
        <p:txBody>
          <a:bodyPr/>
          <a:lstStyle>
            <a:lvl1pPr>
              <a:defRPr/>
            </a:lvl1pPr>
          </a:lstStyle>
          <a:p>
            <a:pPr>
              <a:defRPr/>
            </a:pPr>
            <a:endParaRPr lang="en-US"/>
          </a:p>
        </p:txBody>
      </p:sp>
      <p:sp>
        <p:nvSpPr>
          <p:cNvPr id="5" name="Symbol zastępczy stopki 4">
            <a:extLst>
              <a:ext uri="{FF2B5EF4-FFF2-40B4-BE49-F238E27FC236}">
                <a16:creationId xmlns:a16="http://schemas.microsoft.com/office/drawing/2014/main" id="{2BFB1CFC-AB94-9911-1D04-B687D20B085B}"/>
              </a:ext>
            </a:extLst>
          </p:cNvPr>
          <p:cNvSpPr>
            <a:spLocks noGrp="1"/>
          </p:cNvSpPr>
          <p:nvPr>
            <p:ph type="ftr" sz="quarter" idx="11"/>
          </p:nvPr>
        </p:nvSpPr>
        <p:spPr/>
        <p:txBody>
          <a:bodyPr/>
          <a:lstStyle>
            <a:lvl1pPr>
              <a:defRPr/>
            </a:lvl1pPr>
          </a:lstStyle>
          <a:p>
            <a:pPr>
              <a:defRPr/>
            </a:pPr>
            <a:endParaRPr lang="en-US"/>
          </a:p>
        </p:txBody>
      </p:sp>
      <p:sp>
        <p:nvSpPr>
          <p:cNvPr id="6" name="Symbol zastępczy numeru slajdu 5">
            <a:extLst>
              <a:ext uri="{FF2B5EF4-FFF2-40B4-BE49-F238E27FC236}">
                <a16:creationId xmlns:a16="http://schemas.microsoft.com/office/drawing/2014/main" id="{FC904FB8-3163-2711-46A1-3012213101DF}"/>
              </a:ext>
            </a:extLst>
          </p:cNvPr>
          <p:cNvSpPr>
            <a:spLocks noGrp="1"/>
          </p:cNvSpPr>
          <p:nvPr>
            <p:ph type="sldNum" sz="quarter" idx="12"/>
          </p:nvPr>
        </p:nvSpPr>
        <p:spPr/>
        <p:txBody>
          <a:bodyPr/>
          <a:lstStyle>
            <a:lvl1pPr>
              <a:defRPr/>
            </a:lvl1pPr>
          </a:lstStyle>
          <a:p>
            <a:fld id="{221092D5-96F3-4FB2-941B-FDE32ED55C06}" type="slidenum">
              <a:rPr lang="en-US" altLang="pl-PL"/>
              <a:pPr/>
              <a:t>‹#›</a:t>
            </a:fld>
            <a:endParaRPr lang="en-US" altLang="pl-PL"/>
          </a:p>
        </p:txBody>
      </p:sp>
    </p:spTree>
    <p:extLst>
      <p:ext uri="{BB962C8B-B14F-4D97-AF65-F5344CB8AC3E}">
        <p14:creationId xmlns:p14="http://schemas.microsoft.com/office/powerpoint/2010/main" val="7222499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098AC2E0-FAA6-7668-0AC6-898D5C3AA387}"/>
              </a:ext>
            </a:extLst>
          </p:cNvPr>
          <p:cNvSpPr>
            <a:spLocks noGrp="1"/>
          </p:cNvSpPr>
          <p:nvPr>
            <p:ph type="dt" sz="half" idx="10"/>
          </p:nvPr>
        </p:nvSpPr>
        <p:spPr/>
        <p:txBody>
          <a:bodyPr/>
          <a:lstStyle>
            <a:lvl1pPr>
              <a:defRPr/>
            </a:lvl1pPr>
          </a:lstStyle>
          <a:p>
            <a:pPr>
              <a:defRPr/>
            </a:pPr>
            <a:endParaRPr lang="en-US"/>
          </a:p>
        </p:txBody>
      </p:sp>
      <p:sp>
        <p:nvSpPr>
          <p:cNvPr id="5" name="Symbol zastępczy stopki 4">
            <a:extLst>
              <a:ext uri="{FF2B5EF4-FFF2-40B4-BE49-F238E27FC236}">
                <a16:creationId xmlns:a16="http://schemas.microsoft.com/office/drawing/2014/main" id="{84B77168-8A82-E4FB-2478-B9F657B93629}"/>
              </a:ext>
            </a:extLst>
          </p:cNvPr>
          <p:cNvSpPr>
            <a:spLocks noGrp="1"/>
          </p:cNvSpPr>
          <p:nvPr>
            <p:ph type="ftr" sz="quarter" idx="11"/>
          </p:nvPr>
        </p:nvSpPr>
        <p:spPr/>
        <p:txBody>
          <a:bodyPr/>
          <a:lstStyle>
            <a:lvl1pPr>
              <a:defRPr/>
            </a:lvl1pPr>
          </a:lstStyle>
          <a:p>
            <a:pPr>
              <a:defRPr/>
            </a:pPr>
            <a:endParaRPr lang="en-US"/>
          </a:p>
        </p:txBody>
      </p:sp>
      <p:sp>
        <p:nvSpPr>
          <p:cNvPr id="6" name="Symbol zastępczy numeru slajdu 5">
            <a:extLst>
              <a:ext uri="{FF2B5EF4-FFF2-40B4-BE49-F238E27FC236}">
                <a16:creationId xmlns:a16="http://schemas.microsoft.com/office/drawing/2014/main" id="{0B3CF3B1-20EB-D197-C753-460B7C380033}"/>
              </a:ext>
            </a:extLst>
          </p:cNvPr>
          <p:cNvSpPr>
            <a:spLocks noGrp="1"/>
          </p:cNvSpPr>
          <p:nvPr>
            <p:ph type="sldNum" sz="quarter" idx="12"/>
          </p:nvPr>
        </p:nvSpPr>
        <p:spPr/>
        <p:txBody>
          <a:bodyPr/>
          <a:lstStyle>
            <a:lvl1pPr>
              <a:defRPr/>
            </a:lvl1pPr>
          </a:lstStyle>
          <a:p>
            <a:fld id="{DF2EA0E4-1ED4-4E61-9A9B-491900FF00F0}" type="slidenum">
              <a:rPr lang="en-US" altLang="pl-PL"/>
              <a:pPr/>
              <a:t>‹#›</a:t>
            </a:fld>
            <a:endParaRPr lang="en-US" altLang="pl-PL"/>
          </a:p>
        </p:txBody>
      </p:sp>
    </p:spTree>
    <p:extLst>
      <p:ext uri="{BB962C8B-B14F-4D97-AF65-F5344CB8AC3E}">
        <p14:creationId xmlns:p14="http://schemas.microsoft.com/office/powerpoint/2010/main" val="2265225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AC1947-AA0E-A457-5B80-34688021D1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pl-PL"/>
          </a:p>
        </p:txBody>
      </p:sp>
      <p:sp>
        <p:nvSpPr>
          <p:cNvPr id="3" name="Text Placeholder 2">
            <a:extLst>
              <a:ext uri="{FF2B5EF4-FFF2-40B4-BE49-F238E27FC236}">
                <a16:creationId xmlns:a16="http://schemas.microsoft.com/office/drawing/2014/main" id="{FEFCDB32-05EA-9175-9A49-949F4CB6B9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4" name="Date Placeholder 3">
            <a:extLst>
              <a:ext uri="{FF2B5EF4-FFF2-40B4-BE49-F238E27FC236}">
                <a16:creationId xmlns:a16="http://schemas.microsoft.com/office/drawing/2014/main" id="{7ABE094A-B70D-41D8-3A00-CF07C87977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AEEF01-D8D1-45E7-B463-1A2C3FE05365}" type="datetimeFigureOut">
              <a:rPr lang="pl-PL" smtClean="0"/>
              <a:t>24.11.2025</a:t>
            </a:fld>
            <a:endParaRPr lang="pl-PL"/>
          </a:p>
        </p:txBody>
      </p:sp>
      <p:sp>
        <p:nvSpPr>
          <p:cNvPr id="5" name="Footer Placeholder 4">
            <a:extLst>
              <a:ext uri="{FF2B5EF4-FFF2-40B4-BE49-F238E27FC236}">
                <a16:creationId xmlns:a16="http://schemas.microsoft.com/office/drawing/2014/main" id="{E75993A6-97EF-960F-139B-46D0DBF5DE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lide Number Placeholder 5">
            <a:extLst>
              <a:ext uri="{FF2B5EF4-FFF2-40B4-BE49-F238E27FC236}">
                <a16:creationId xmlns:a16="http://schemas.microsoft.com/office/drawing/2014/main" id="{CCC77D1E-3E4D-0E19-D955-0349D315B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10868A-2E5E-4CF4-8FA1-E751E514242E}" type="slidenum">
              <a:rPr lang="pl-PL" smtClean="0"/>
              <a:t>‹#›</a:t>
            </a:fld>
            <a:endParaRPr lang="pl-PL"/>
          </a:p>
        </p:txBody>
      </p:sp>
    </p:spTree>
    <p:extLst>
      <p:ext uri="{BB962C8B-B14F-4D97-AF65-F5344CB8AC3E}">
        <p14:creationId xmlns:p14="http://schemas.microsoft.com/office/powerpoint/2010/main" val="2230615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ymbol zastępczy tytułu 1">
            <a:extLst>
              <a:ext uri="{FF2B5EF4-FFF2-40B4-BE49-F238E27FC236}">
                <a16:creationId xmlns:a16="http://schemas.microsoft.com/office/drawing/2014/main" id="{EE490CB3-89E8-DFC0-49DF-C98767931DBF}"/>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p>
        </p:txBody>
      </p:sp>
      <p:sp>
        <p:nvSpPr>
          <p:cNvPr id="1027" name="Symbol zastępczy tekstu 2">
            <a:extLst>
              <a:ext uri="{FF2B5EF4-FFF2-40B4-BE49-F238E27FC236}">
                <a16:creationId xmlns:a16="http://schemas.microsoft.com/office/drawing/2014/main" id="{22C40823-5409-FE5C-2C43-F2E0F297511C}"/>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Kliknij, aby edytować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p>
        </p:txBody>
      </p:sp>
      <p:sp>
        <p:nvSpPr>
          <p:cNvPr id="4" name="Symbol zastępczy daty 3">
            <a:extLst>
              <a:ext uri="{FF2B5EF4-FFF2-40B4-BE49-F238E27FC236}">
                <a16:creationId xmlns:a16="http://schemas.microsoft.com/office/drawing/2014/main" id="{02F7A1A2-0197-B2E4-2D27-2163B529D557}"/>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endParaRPr lang="en-US"/>
          </a:p>
        </p:txBody>
      </p:sp>
      <p:sp>
        <p:nvSpPr>
          <p:cNvPr id="5" name="Symbol zastępczy stopki 4">
            <a:extLst>
              <a:ext uri="{FF2B5EF4-FFF2-40B4-BE49-F238E27FC236}">
                <a16:creationId xmlns:a16="http://schemas.microsoft.com/office/drawing/2014/main" id="{B6FEDEE2-4957-22B5-950C-B0A85129CE23}"/>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endParaRPr lang="en-US"/>
          </a:p>
        </p:txBody>
      </p:sp>
      <p:sp>
        <p:nvSpPr>
          <p:cNvPr id="6" name="Symbol zastępczy numeru slajdu 5">
            <a:extLst>
              <a:ext uri="{FF2B5EF4-FFF2-40B4-BE49-F238E27FC236}">
                <a16:creationId xmlns:a16="http://schemas.microsoft.com/office/drawing/2014/main" id="{0FCD6EF4-A42C-0B36-699E-D08B28BF8599}"/>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4798702-133D-4412-8A71-A8CC4896E061}" type="slidenum">
              <a:rPr lang="en-US" altLang="pl-PL"/>
              <a:pPr/>
              <a:t>‹#›</a:t>
            </a:fld>
            <a:endParaRPr lang="en-US" altLang="pl-PL"/>
          </a:p>
        </p:txBody>
      </p:sp>
    </p:spTree>
    <p:extLst>
      <p:ext uri="{BB962C8B-B14F-4D97-AF65-F5344CB8AC3E}">
        <p14:creationId xmlns:p14="http://schemas.microsoft.com/office/powerpoint/2010/main" val="24717316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emf"/><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oleObject" Target="../embeddings/oleObject4.bin"/><Relationship Id="rId5" Type="http://schemas.openxmlformats.org/officeDocument/2006/relationships/image" Target="../media/image19.emf"/><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stomShape 1"/>
          <p:cNvSpPr/>
          <p:nvPr/>
        </p:nvSpPr>
        <p:spPr>
          <a:xfrm>
            <a:off x="1868380" y="2669660"/>
            <a:ext cx="9307619" cy="15467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1" i="1" u="none" strike="noStrike" kern="1200" cap="none" spc="-1" normalizeH="0" baseline="0" noProof="0" dirty="0">
                <a:ln>
                  <a:noFill/>
                </a:ln>
                <a:solidFill>
                  <a:srgbClr val="215968"/>
                </a:solidFill>
                <a:effectLst/>
                <a:uLnTx/>
                <a:uFillTx/>
                <a:latin typeface="Calibri"/>
                <a:ea typeface="+mn-ea"/>
                <a:cs typeface="+mn-cs"/>
              </a:rPr>
              <a:t>Topic 4b: Consumer Choice Buying and Selling; exchange economy</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CustomShape 2"/>
          <p:cNvSpPr/>
          <p:nvPr/>
        </p:nvSpPr>
        <p:spPr>
          <a:xfrm>
            <a:off x="1716240" y="696960"/>
            <a:ext cx="8616960" cy="72072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1" normalizeH="0" baseline="0" noProof="0" dirty="0">
                <a:ln>
                  <a:noFill/>
                </a:ln>
                <a:solidFill>
                  <a:srgbClr val="FFFFFF"/>
                </a:solidFill>
                <a:effectLst/>
                <a:uLnTx/>
                <a:uFillTx/>
                <a:latin typeface="Calibri"/>
                <a:ea typeface="+mn-ea"/>
                <a:cs typeface="+mn-cs"/>
              </a:rPr>
              <a:t>WNE UW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7" name="Picture 3"/>
          <p:cNvPicPr/>
          <p:nvPr/>
        </p:nvPicPr>
        <p:blipFill>
          <a:blip r:embed="rId3"/>
          <a:stretch/>
        </p:blipFill>
        <p:spPr>
          <a:xfrm>
            <a:off x="7536000" y="247680"/>
            <a:ext cx="2338200" cy="1898640"/>
          </a:xfrm>
          <a:prstGeom prst="rect">
            <a:avLst/>
          </a:prstGeom>
          <a:ln>
            <a:noFill/>
          </a:ln>
          <a:effectLst>
            <a:outerShdw dist="139498" dir="2700000">
              <a:srgbClr val="333333">
                <a:alpha val="65000"/>
              </a:srgbClr>
            </a:outerShdw>
          </a:effectLst>
        </p:spPr>
      </p:pic>
    </p:spTree>
    <p:extLst>
      <p:ext uri="{BB962C8B-B14F-4D97-AF65-F5344CB8AC3E}">
        <p14:creationId xmlns:p14="http://schemas.microsoft.com/office/powerpoint/2010/main" val="81376763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6740-EB99-4B28-EFAC-C5A18A0DF12D}"/>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67B3BA87-94E1-BCF9-3204-745FF9A027EC}"/>
              </a:ext>
            </a:extLst>
          </p:cNvPr>
          <p:cNvSpPr txBox="1"/>
          <p:nvPr/>
        </p:nvSpPr>
        <p:spPr>
          <a:xfrm>
            <a:off x="0" y="0"/>
            <a:ext cx="12192000" cy="1143000"/>
          </a:xfrm>
          <a:prstGeom prst="rect">
            <a:avLst/>
          </a:prstGeom>
          <a:solidFill>
            <a:srgbClr val="DBEEF4"/>
          </a:solidFill>
          <a:ln>
            <a:noFill/>
          </a:ln>
        </p:spPr>
        <p:txBody>
          <a:bodyPr anchor="ctr"/>
          <a:lstStyle/>
          <a:p>
            <a:pPr algn="ctr"/>
            <a:r>
              <a:rPr lang="en-GB" sz="3600" b="1" i="1" spc="-1" noProof="0" dirty="0">
                <a:solidFill>
                  <a:srgbClr val="215968"/>
                </a:solidFill>
                <a:latin typeface="Calibri"/>
              </a:rPr>
              <a:t>The simplest building block of general equilibrium</a:t>
            </a:r>
            <a:endParaRPr lang="en-GB" sz="2400" b="1" i="1" noProof="0" dirty="0">
              <a:solidFill>
                <a:prstClr val="black"/>
              </a:solidFill>
              <a:latin typeface="Calibri"/>
            </a:endParaRPr>
          </a:p>
        </p:txBody>
      </p:sp>
      <p:sp>
        <p:nvSpPr>
          <p:cNvPr id="3" name="Rectangle 12">
            <a:extLst>
              <a:ext uri="{FF2B5EF4-FFF2-40B4-BE49-F238E27FC236}">
                <a16:creationId xmlns:a16="http://schemas.microsoft.com/office/drawing/2014/main" id="{4850501D-ABD0-61ED-8521-3681EB9B527B}"/>
              </a:ext>
            </a:extLst>
          </p:cNvPr>
          <p:cNvSpPr>
            <a:spLocks noChangeArrowheads="1"/>
          </p:cNvSpPr>
          <p:nvPr/>
        </p:nvSpPr>
        <p:spPr bwMode="auto">
          <a:xfrm>
            <a:off x="792480" y="1579880"/>
            <a:ext cx="9738360" cy="452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just" eaLnBrk="1" hangingPunct="1">
              <a:spcBef>
                <a:spcPct val="0"/>
              </a:spcBef>
              <a:buNone/>
              <a:defRPr/>
            </a:pPr>
            <a:r>
              <a:rPr lang="en-GB" b="1" noProof="0" dirty="0">
                <a:solidFill>
                  <a:srgbClr val="4BACC6">
                    <a:lumMod val="50000"/>
                  </a:srgbClr>
                </a:solidFill>
                <a:latin typeface="+mn-lt"/>
              </a:rPr>
              <a:t>From standard budget constraint to endowment budget constraint.</a:t>
            </a:r>
          </a:p>
          <a:p>
            <a:pPr algn="just" eaLnBrk="1" hangingPunct="1">
              <a:spcBef>
                <a:spcPct val="0"/>
              </a:spcBef>
              <a:buNone/>
              <a:defRPr/>
            </a:pPr>
            <a:endParaRPr lang="en-GB" b="1" noProof="0" dirty="0">
              <a:solidFill>
                <a:srgbClr val="4BACC6">
                  <a:lumMod val="50000"/>
                </a:srgbClr>
              </a:solidFill>
              <a:latin typeface="+mn-lt"/>
            </a:endParaRPr>
          </a:p>
          <a:p>
            <a:pPr algn="just" eaLnBrk="1" hangingPunct="1">
              <a:spcBef>
                <a:spcPct val="0"/>
              </a:spcBef>
              <a:buNone/>
              <a:defRPr/>
            </a:pPr>
            <a:r>
              <a:rPr lang="en-GB" b="1" noProof="0" dirty="0">
                <a:solidFill>
                  <a:srgbClr val="4BACC6">
                    <a:lumMod val="50000"/>
                  </a:srgbClr>
                </a:solidFill>
                <a:latin typeface="+mn-lt"/>
              </a:rPr>
              <a:t>From individual demand and supply to an exchange economy with many markets.</a:t>
            </a:r>
          </a:p>
          <a:p>
            <a:pPr marL="342900" indent="-342900" algn="just" eaLnBrk="1" hangingPunct="1">
              <a:spcBef>
                <a:spcPct val="0"/>
              </a:spcBef>
              <a:defRPr/>
            </a:pPr>
            <a:endParaRPr lang="en-GB" b="1" noProof="0" dirty="0">
              <a:solidFill>
                <a:srgbClr val="4BACC6">
                  <a:lumMod val="50000"/>
                </a:srgbClr>
              </a:solidFill>
              <a:latin typeface="+mn-lt"/>
            </a:endParaRPr>
          </a:p>
          <a:p>
            <a:pPr algn="just" eaLnBrk="1" hangingPunct="1">
              <a:spcBef>
                <a:spcPct val="0"/>
              </a:spcBef>
              <a:buNone/>
              <a:defRPr/>
            </a:pPr>
            <a:endParaRPr lang="en-GB" b="1" noProof="0" dirty="0">
              <a:solidFill>
                <a:srgbClr val="4BACC6">
                  <a:lumMod val="50000"/>
                </a:srgbClr>
              </a:solidFill>
              <a:latin typeface="+mn-lt"/>
            </a:endParaRPr>
          </a:p>
          <a:p>
            <a:pPr algn="just" eaLnBrk="1" hangingPunct="1">
              <a:spcBef>
                <a:spcPct val="0"/>
              </a:spcBef>
              <a:buNone/>
              <a:defRPr/>
            </a:pPr>
            <a:r>
              <a:rPr lang="en-GB" b="1" noProof="0" dirty="0">
                <a:solidFill>
                  <a:srgbClr val="4BACC6">
                    <a:lumMod val="50000"/>
                  </a:srgbClr>
                </a:solidFill>
                <a:latin typeface="+mn-lt"/>
              </a:rPr>
              <a:t>Goal: build the simplest working building block of general equilibrium – a pure exchange economy.</a:t>
            </a:r>
          </a:p>
        </p:txBody>
      </p:sp>
    </p:spTree>
    <p:extLst>
      <p:ext uri="{BB962C8B-B14F-4D97-AF65-F5344CB8AC3E}">
        <p14:creationId xmlns:p14="http://schemas.microsoft.com/office/powerpoint/2010/main" val="897107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EA088-A577-FA64-D537-366F4AC494D4}"/>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406A0254-79C0-37EB-FC26-5A7CF5B0DB43}"/>
              </a:ext>
            </a:extLst>
          </p:cNvPr>
          <p:cNvSpPr txBox="1"/>
          <p:nvPr/>
        </p:nvSpPr>
        <p:spPr>
          <a:xfrm>
            <a:off x="0" y="0"/>
            <a:ext cx="12192000" cy="1143000"/>
          </a:xfrm>
          <a:prstGeom prst="rect">
            <a:avLst/>
          </a:prstGeom>
          <a:solidFill>
            <a:srgbClr val="DBEEF4"/>
          </a:solidFill>
          <a:ln>
            <a:noFill/>
          </a:ln>
        </p:spPr>
        <p:txBody>
          <a:bodyPr anchor="ctr"/>
          <a:lstStyle/>
          <a:p>
            <a:pPr algn="ctr"/>
            <a:r>
              <a:rPr lang="en-US" sz="3600" b="1" i="1" spc="-1" noProof="0" dirty="0">
                <a:solidFill>
                  <a:srgbClr val="215968"/>
                </a:solidFill>
                <a:latin typeface="Calibri"/>
              </a:rPr>
              <a:t>The simplest building block of general equilibrium</a:t>
            </a:r>
          </a:p>
        </p:txBody>
      </p:sp>
      <p:sp>
        <p:nvSpPr>
          <p:cNvPr id="3" name="Rectangle 12">
            <a:extLst>
              <a:ext uri="{FF2B5EF4-FFF2-40B4-BE49-F238E27FC236}">
                <a16:creationId xmlns:a16="http://schemas.microsoft.com/office/drawing/2014/main" id="{B0F6526F-3E62-9E6E-0AFF-323CE9EA95DF}"/>
              </a:ext>
            </a:extLst>
          </p:cNvPr>
          <p:cNvSpPr>
            <a:spLocks noChangeArrowheads="1"/>
          </p:cNvSpPr>
          <p:nvPr/>
        </p:nvSpPr>
        <p:spPr bwMode="auto">
          <a:xfrm>
            <a:off x="370840" y="1348157"/>
            <a:ext cx="11313160" cy="5509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just" eaLnBrk="1" hangingPunct="1">
              <a:spcBef>
                <a:spcPct val="0"/>
              </a:spcBef>
              <a:buNone/>
              <a:defRPr/>
            </a:pPr>
            <a:r>
              <a:rPr lang="en-GB" b="1" noProof="0" dirty="0">
                <a:solidFill>
                  <a:srgbClr val="4BACC6">
                    <a:lumMod val="50000"/>
                  </a:srgbClr>
                </a:solidFill>
                <a:latin typeface="+mn-lt"/>
              </a:rPr>
              <a:t>To get the simplest functioning element of general equilibrium we only need two ingredients:</a:t>
            </a:r>
          </a:p>
          <a:p>
            <a:pPr algn="just" eaLnBrk="1" hangingPunct="1">
              <a:spcBef>
                <a:spcPct val="0"/>
              </a:spcBef>
              <a:buNone/>
              <a:defRPr/>
            </a:pPr>
            <a:endParaRPr lang="en-GB" b="1" noProof="0" dirty="0">
              <a:solidFill>
                <a:srgbClr val="4BACC6">
                  <a:lumMod val="50000"/>
                </a:srgbClr>
              </a:solidFill>
              <a:latin typeface="+mn-lt"/>
            </a:endParaRPr>
          </a:p>
          <a:p>
            <a:pPr lvl="1" algn="just" eaLnBrk="1" hangingPunct="1">
              <a:spcBef>
                <a:spcPct val="0"/>
              </a:spcBef>
              <a:buNone/>
              <a:defRPr/>
            </a:pPr>
            <a:r>
              <a:rPr lang="en-GB" sz="3200" b="1" noProof="0" dirty="0">
                <a:solidFill>
                  <a:srgbClr val="4BACC6">
                    <a:lumMod val="50000"/>
                  </a:srgbClr>
                </a:solidFill>
                <a:latin typeface="+mn-lt"/>
              </a:rPr>
              <a:t>1. Endowment budget constraint.</a:t>
            </a:r>
          </a:p>
          <a:p>
            <a:pPr lvl="1" algn="just" eaLnBrk="1" hangingPunct="1">
              <a:spcBef>
                <a:spcPct val="0"/>
              </a:spcBef>
              <a:buNone/>
              <a:defRPr/>
            </a:pPr>
            <a:r>
              <a:rPr lang="en-GB" sz="3200" b="1" noProof="0" dirty="0">
                <a:solidFill>
                  <a:srgbClr val="4BACC6">
                    <a:lumMod val="50000"/>
                  </a:srgbClr>
                </a:solidFill>
                <a:latin typeface="+mn-lt"/>
              </a:rPr>
              <a:t>2. Walras's law.</a:t>
            </a:r>
          </a:p>
          <a:p>
            <a:pPr algn="just" eaLnBrk="1" hangingPunct="1">
              <a:spcBef>
                <a:spcPct val="0"/>
              </a:spcBef>
              <a:buNone/>
              <a:defRPr/>
            </a:pPr>
            <a:endParaRPr lang="en-GB" b="1" noProof="0" dirty="0">
              <a:solidFill>
                <a:srgbClr val="4BACC6">
                  <a:lumMod val="50000"/>
                </a:srgbClr>
              </a:solidFill>
              <a:latin typeface="+mn-lt"/>
            </a:endParaRPr>
          </a:p>
          <a:p>
            <a:pPr algn="just" eaLnBrk="1" hangingPunct="1">
              <a:spcBef>
                <a:spcPct val="0"/>
              </a:spcBef>
              <a:buNone/>
              <a:defRPr/>
            </a:pPr>
            <a:r>
              <a:rPr lang="en-GB" b="1" noProof="0" dirty="0">
                <a:solidFill>
                  <a:srgbClr val="4BACC6">
                    <a:lumMod val="50000"/>
                  </a:srgbClr>
                </a:solidFill>
                <a:latin typeface="+mn-lt"/>
              </a:rPr>
              <a:t>Together they give us the simplest model of an exchange economy. From today’s perspective it looks trivial, but at the end of the 19th century it changed how economists thought. Economics became mathematical instead of purely descriptive or deductive. </a:t>
            </a:r>
          </a:p>
        </p:txBody>
      </p:sp>
    </p:spTree>
    <p:extLst>
      <p:ext uri="{BB962C8B-B14F-4D97-AF65-F5344CB8AC3E}">
        <p14:creationId xmlns:p14="http://schemas.microsoft.com/office/powerpoint/2010/main" val="838923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49825-4C3E-CD66-5EF0-A597C4FD8ECD}"/>
            </a:ext>
          </a:extLst>
        </p:cNvPr>
        <p:cNvGrpSpPr/>
        <p:nvPr/>
      </p:nvGrpSpPr>
      <p:grpSpPr>
        <a:xfrm>
          <a:off x="0" y="0"/>
          <a:ext cx="0" cy="0"/>
          <a:chOff x="0" y="0"/>
          <a:chExt cx="0" cy="0"/>
        </a:xfrm>
      </p:grpSpPr>
      <p:grpSp>
        <p:nvGrpSpPr>
          <p:cNvPr id="6151" name="Grupa 21">
            <a:extLst>
              <a:ext uri="{FF2B5EF4-FFF2-40B4-BE49-F238E27FC236}">
                <a16:creationId xmlns:a16="http://schemas.microsoft.com/office/drawing/2014/main" id="{3A806F41-4607-073D-B917-BB3186503199}"/>
              </a:ext>
            </a:extLst>
          </p:cNvPr>
          <p:cNvGrpSpPr>
            <a:grpSpLocks/>
          </p:cNvGrpSpPr>
          <p:nvPr/>
        </p:nvGrpSpPr>
        <p:grpSpPr bwMode="auto">
          <a:xfrm>
            <a:off x="8340091" y="1987542"/>
            <a:ext cx="3399895" cy="3678238"/>
            <a:chOff x="627048" y="1000125"/>
            <a:chExt cx="3527766" cy="4604171"/>
          </a:xfrm>
        </p:grpSpPr>
        <p:sp>
          <p:nvSpPr>
            <p:cNvPr id="10" name="Line 3">
              <a:extLst>
                <a:ext uri="{FF2B5EF4-FFF2-40B4-BE49-F238E27FC236}">
                  <a16:creationId xmlns:a16="http://schemas.microsoft.com/office/drawing/2014/main" id="{648529E6-5B33-EFBB-9E42-D6B28695B5F5}"/>
                </a:ext>
              </a:extLst>
            </p:cNvPr>
            <p:cNvSpPr>
              <a:spLocks noChangeShapeType="1"/>
            </p:cNvSpPr>
            <p:nvPr/>
          </p:nvSpPr>
          <p:spPr bwMode="auto">
            <a:xfrm>
              <a:off x="1376654" y="1379667"/>
              <a:ext cx="0" cy="3761629"/>
            </a:xfrm>
            <a:prstGeom prst="line">
              <a:avLst/>
            </a:prstGeom>
            <a:ln>
              <a:headEnd type="stealth" w="med" len="lg"/>
              <a:tailEnd type="none" w="sm" len="sm"/>
            </a:ln>
          </p:spPr>
          <p:style>
            <a:lnRef idx="3">
              <a:schemeClr val="dk1"/>
            </a:lnRef>
            <a:fillRef idx="0">
              <a:schemeClr val="dk1"/>
            </a:fillRef>
            <a:effectRef idx="2">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2" name="Line 4">
              <a:extLst>
                <a:ext uri="{FF2B5EF4-FFF2-40B4-BE49-F238E27FC236}">
                  <a16:creationId xmlns:a16="http://schemas.microsoft.com/office/drawing/2014/main" id="{1C9D7F92-A1D5-705F-AFCD-96CEE411BBF0}"/>
                </a:ext>
              </a:extLst>
            </p:cNvPr>
            <p:cNvSpPr>
              <a:spLocks noChangeShapeType="1"/>
            </p:cNvSpPr>
            <p:nvPr/>
          </p:nvSpPr>
          <p:spPr bwMode="auto">
            <a:xfrm>
              <a:off x="1188373" y="5014118"/>
              <a:ext cx="2556399" cy="17851"/>
            </a:xfrm>
            <a:prstGeom prst="line">
              <a:avLst/>
            </a:prstGeom>
            <a:ln>
              <a:headEnd type="none" w="sm" len="sm"/>
              <a:tailEnd type="stealth" w="med" len="lg"/>
            </a:ln>
          </p:spPr>
          <p:style>
            <a:lnRef idx="3">
              <a:schemeClr val="dk1"/>
            </a:lnRef>
            <a:fillRef idx="0">
              <a:schemeClr val="dk1"/>
            </a:fillRef>
            <a:effectRef idx="2">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3" name="Line 5">
              <a:extLst>
                <a:ext uri="{FF2B5EF4-FFF2-40B4-BE49-F238E27FC236}">
                  <a16:creationId xmlns:a16="http://schemas.microsoft.com/office/drawing/2014/main" id="{D1D36F30-69CC-DCE3-BF4A-90E8818607EA}"/>
                </a:ext>
              </a:extLst>
            </p:cNvPr>
            <p:cNvSpPr>
              <a:spLocks noChangeShapeType="1"/>
            </p:cNvSpPr>
            <p:nvPr/>
          </p:nvSpPr>
          <p:spPr bwMode="auto">
            <a:xfrm>
              <a:off x="1369615" y="1755233"/>
              <a:ext cx="1703329" cy="3260874"/>
            </a:xfrm>
            <a:prstGeom prst="line">
              <a:avLst/>
            </a:prstGeom>
            <a:ln>
              <a:headEnd type="none" w="sm" len="sm"/>
              <a:tailEnd type="none" w="sm" len="sm"/>
            </a:ln>
          </p:spPr>
          <p:style>
            <a:lnRef idx="3">
              <a:schemeClr val="accent1"/>
            </a:lnRef>
            <a:fillRef idx="0">
              <a:schemeClr val="accent1"/>
            </a:fillRef>
            <a:effectRef idx="2">
              <a:schemeClr val="accent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4" name="Line 6">
              <a:extLst>
                <a:ext uri="{FF2B5EF4-FFF2-40B4-BE49-F238E27FC236}">
                  <a16:creationId xmlns:a16="http://schemas.microsoft.com/office/drawing/2014/main" id="{B5CC5D5E-A47A-29D9-23C7-3717E0078839}"/>
                </a:ext>
              </a:extLst>
            </p:cNvPr>
            <p:cNvSpPr>
              <a:spLocks noChangeShapeType="1"/>
            </p:cNvSpPr>
            <p:nvPr/>
          </p:nvSpPr>
          <p:spPr bwMode="auto">
            <a:xfrm>
              <a:off x="2207203" y="3400573"/>
              <a:ext cx="0" cy="1601623"/>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15" name="Line 7">
              <a:extLst>
                <a:ext uri="{FF2B5EF4-FFF2-40B4-BE49-F238E27FC236}">
                  <a16:creationId xmlns:a16="http://schemas.microsoft.com/office/drawing/2014/main" id="{FFFC44CB-8707-F635-6AAD-B64DFC6467DA}"/>
                </a:ext>
              </a:extLst>
            </p:cNvPr>
            <p:cNvSpPr>
              <a:spLocks noChangeShapeType="1"/>
            </p:cNvSpPr>
            <p:nvPr/>
          </p:nvSpPr>
          <p:spPr bwMode="auto">
            <a:xfrm flipH="1">
              <a:off x="1369615" y="3400573"/>
              <a:ext cx="837587" cy="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16" name="Oval 8">
              <a:extLst>
                <a:ext uri="{FF2B5EF4-FFF2-40B4-BE49-F238E27FC236}">
                  <a16:creationId xmlns:a16="http://schemas.microsoft.com/office/drawing/2014/main" id="{C7B1A257-C2CC-D638-DB8D-B4915E71129A}"/>
                </a:ext>
              </a:extLst>
            </p:cNvPr>
            <p:cNvSpPr>
              <a:spLocks noChangeArrowheads="1"/>
            </p:cNvSpPr>
            <p:nvPr/>
          </p:nvSpPr>
          <p:spPr bwMode="auto">
            <a:xfrm>
              <a:off x="2129778" y="3317114"/>
              <a:ext cx="149570" cy="156984"/>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17" name="Rectangle 9">
              <a:extLst>
                <a:ext uri="{FF2B5EF4-FFF2-40B4-BE49-F238E27FC236}">
                  <a16:creationId xmlns:a16="http://schemas.microsoft.com/office/drawing/2014/main" id="{08DC9185-ACD2-0424-EEB5-E87EB03D5D94}"/>
                </a:ext>
              </a:extLst>
            </p:cNvPr>
            <p:cNvSpPr>
              <a:spLocks noChangeArrowheads="1"/>
            </p:cNvSpPr>
            <p:nvPr/>
          </p:nvSpPr>
          <p:spPr bwMode="auto">
            <a:xfrm>
              <a:off x="831166" y="1000125"/>
              <a:ext cx="443429" cy="463001"/>
            </a:xfrm>
            <a:prstGeom prst="rect">
              <a:avLst/>
            </a:prstGeom>
            <a:noFill/>
            <a:ln w="9525">
              <a:noFill/>
              <a:miter lim="800000"/>
              <a:headEnd/>
              <a:tailEnd/>
            </a:ln>
          </p:spPr>
          <p:txBody>
            <a:bodyPr wrap="none" lIns="92075" tIns="46038" rIns="92075" bIns="46038">
              <a:spAutoFit/>
            </a:bodyPr>
            <a:lstStyle/>
            <a:p>
              <a:pPr>
                <a:defRPr/>
              </a:pPr>
              <a:r>
                <a:rPr lang="en-GB" noProof="0" dirty="0">
                  <a:solidFill>
                    <a:schemeClr val="accent1">
                      <a:lumMod val="50000"/>
                    </a:schemeClr>
                  </a:solidFill>
                  <a:latin typeface="Arial" charset="0"/>
                </a:rPr>
                <a:t>x</a:t>
              </a:r>
              <a:r>
                <a:rPr lang="en-GB" baseline="-25000" noProof="0" dirty="0">
                  <a:solidFill>
                    <a:schemeClr val="accent1">
                      <a:lumMod val="50000"/>
                    </a:schemeClr>
                  </a:solidFill>
                  <a:latin typeface="Arial" charset="0"/>
                </a:rPr>
                <a:t>2</a:t>
              </a:r>
            </a:p>
          </p:txBody>
        </p:sp>
        <p:sp>
          <p:nvSpPr>
            <p:cNvPr id="18" name="Rectangle 10">
              <a:extLst>
                <a:ext uri="{FF2B5EF4-FFF2-40B4-BE49-F238E27FC236}">
                  <a16:creationId xmlns:a16="http://schemas.microsoft.com/office/drawing/2014/main" id="{EB5A47C6-AD3D-A2CE-ADCF-11C1D51D3CA6}"/>
                </a:ext>
              </a:extLst>
            </p:cNvPr>
            <p:cNvSpPr>
              <a:spLocks noChangeArrowheads="1"/>
            </p:cNvSpPr>
            <p:nvPr/>
          </p:nvSpPr>
          <p:spPr bwMode="auto">
            <a:xfrm>
              <a:off x="3713146" y="5141295"/>
              <a:ext cx="441668" cy="463001"/>
            </a:xfrm>
            <a:prstGeom prst="rect">
              <a:avLst/>
            </a:prstGeom>
            <a:noFill/>
            <a:ln w="9525">
              <a:noFill/>
              <a:miter lim="800000"/>
              <a:headEnd/>
              <a:tailEnd/>
            </a:ln>
          </p:spPr>
          <p:txBody>
            <a:bodyPr wrap="none" lIns="92075" tIns="46038" rIns="92075" bIns="46038">
              <a:spAutoFit/>
            </a:bodyPr>
            <a:lstStyle/>
            <a:p>
              <a:pPr>
                <a:defRPr/>
              </a:pPr>
              <a:r>
                <a:rPr lang="en-GB" noProof="0" dirty="0">
                  <a:solidFill>
                    <a:schemeClr val="accent1">
                      <a:lumMod val="50000"/>
                    </a:schemeClr>
                  </a:solidFill>
                  <a:latin typeface="Arial" charset="0"/>
                </a:rPr>
                <a:t>x</a:t>
              </a:r>
              <a:r>
                <a:rPr lang="en-GB" baseline="-25000" noProof="0" dirty="0">
                  <a:solidFill>
                    <a:schemeClr val="accent1">
                      <a:lumMod val="50000"/>
                    </a:schemeClr>
                  </a:solidFill>
                  <a:latin typeface="Arial" charset="0"/>
                </a:rPr>
                <a:t>1</a:t>
              </a:r>
            </a:p>
          </p:txBody>
        </p:sp>
        <p:sp>
          <p:nvSpPr>
            <p:cNvPr id="20" name="Rectangle 12">
              <a:extLst>
                <a:ext uri="{FF2B5EF4-FFF2-40B4-BE49-F238E27FC236}">
                  <a16:creationId xmlns:a16="http://schemas.microsoft.com/office/drawing/2014/main" id="{0642B187-44A3-B49D-2270-E2CC4638A1CD}"/>
                </a:ext>
              </a:extLst>
            </p:cNvPr>
            <p:cNvSpPr>
              <a:spLocks noChangeArrowheads="1"/>
            </p:cNvSpPr>
            <p:nvPr/>
          </p:nvSpPr>
          <p:spPr bwMode="auto">
            <a:xfrm>
              <a:off x="1981969" y="5045913"/>
              <a:ext cx="466305" cy="463001"/>
            </a:xfrm>
            <a:prstGeom prst="rect">
              <a:avLst/>
            </a:prstGeom>
            <a:noFill/>
            <a:ln w="9525">
              <a:noFill/>
              <a:miter lim="800000"/>
              <a:headEnd/>
              <a:tailEnd/>
            </a:ln>
          </p:spPr>
          <p:txBody>
            <a:bodyPr wrap="none" lIns="92075" tIns="46038" rIns="92075" bIns="46038">
              <a:spAutoFit/>
            </a:bodyPr>
            <a:lstStyle/>
            <a:p>
              <a:pPr>
                <a:defRPr/>
              </a:pPr>
              <a:r>
                <a:rPr lang="en-GB" i="1" noProof="0" dirty="0">
                  <a:solidFill>
                    <a:schemeClr val="accent1">
                      <a:lumMod val="50000"/>
                    </a:schemeClr>
                  </a:solidFill>
                  <a:latin typeface="Symbol" pitchFamily="18" charset="2"/>
                </a:rPr>
                <a:t>w</a:t>
              </a:r>
              <a:r>
                <a:rPr lang="en-GB" baseline="-25000" noProof="0" dirty="0">
                  <a:solidFill>
                    <a:schemeClr val="accent1">
                      <a:lumMod val="50000"/>
                    </a:schemeClr>
                  </a:solidFill>
                  <a:latin typeface="Symbol" pitchFamily="18" charset="2"/>
                </a:rPr>
                <a:t>1</a:t>
              </a:r>
            </a:p>
          </p:txBody>
        </p:sp>
        <p:sp>
          <p:nvSpPr>
            <p:cNvPr id="22" name="Rectangle 14">
              <a:extLst>
                <a:ext uri="{FF2B5EF4-FFF2-40B4-BE49-F238E27FC236}">
                  <a16:creationId xmlns:a16="http://schemas.microsoft.com/office/drawing/2014/main" id="{B5B2DCB4-2B5C-AE77-A4D1-547A6A16F8F9}"/>
                </a:ext>
              </a:extLst>
            </p:cNvPr>
            <p:cNvSpPr>
              <a:spLocks noChangeArrowheads="1"/>
            </p:cNvSpPr>
            <p:nvPr/>
          </p:nvSpPr>
          <p:spPr bwMode="auto">
            <a:xfrm>
              <a:off x="627048" y="3126350"/>
              <a:ext cx="705615" cy="463001"/>
            </a:xfrm>
            <a:prstGeom prst="rect">
              <a:avLst/>
            </a:prstGeom>
            <a:noFill/>
            <a:ln w="9525">
              <a:noFill/>
              <a:miter lim="800000"/>
              <a:headEnd/>
              <a:tailEnd/>
            </a:ln>
          </p:spPr>
          <p:txBody>
            <a:bodyPr lIns="92075" tIns="46038" rIns="92075" bIns="46038">
              <a:spAutoFit/>
            </a:bodyPr>
            <a:lstStyle/>
            <a:p>
              <a:pPr>
                <a:defRPr/>
              </a:pPr>
              <a:r>
                <a:rPr lang="en-GB" i="1" noProof="0" dirty="0">
                  <a:solidFill>
                    <a:schemeClr val="accent1">
                      <a:lumMod val="50000"/>
                    </a:schemeClr>
                  </a:solidFill>
                  <a:latin typeface="Symbol" pitchFamily="18" charset="2"/>
                </a:rPr>
                <a:t>w</a:t>
              </a:r>
              <a:r>
                <a:rPr lang="en-GB" baseline="-25000" noProof="0" dirty="0">
                  <a:solidFill>
                    <a:schemeClr val="accent1">
                      <a:lumMod val="50000"/>
                    </a:schemeClr>
                  </a:solidFill>
                  <a:latin typeface="Symbol" pitchFamily="18" charset="2"/>
                </a:rPr>
                <a:t>2</a:t>
              </a:r>
            </a:p>
          </p:txBody>
        </p:sp>
      </p:grpSp>
      <p:sp>
        <p:nvSpPr>
          <p:cNvPr id="2" name="TextShape 1">
            <a:extLst>
              <a:ext uri="{FF2B5EF4-FFF2-40B4-BE49-F238E27FC236}">
                <a16:creationId xmlns:a16="http://schemas.microsoft.com/office/drawing/2014/main" id="{7EEE17B6-72C8-857B-13B4-19E6EA5A1B46}"/>
              </a:ext>
            </a:extLst>
          </p:cNvPr>
          <p:cNvSpPr txBox="1"/>
          <p:nvPr/>
        </p:nvSpPr>
        <p:spPr>
          <a:xfrm>
            <a:off x="0" y="0"/>
            <a:ext cx="12192000" cy="1143000"/>
          </a:xfrm>
          <a:prstGeom prst="rect">
            <a:avLst/>
          </a:prstGeom>
          <a:solidFill>
            <a:srgbClr val="DBEEF4"/>
          </a:solidFill>
          <a:ln>
            <a:noFill/>
          </a:ln>
        </p:spPr>
        <p:txBody>
          <a:bodyPr anchor="ctr"/>
          <a:lstStyle/>
          <a:p>
            <a:pPr algn="ctr"/>
            <a:r>
              <a:rPr lang="en-GB" sz="3600" b="1" i="1" spc="-1" noProof="0" dirty="0">
                <a:solidFill>
                  <a:srgbClr val="215968"/>
                </a:solidFill>
                <a:latin typeface="Calibri"/>
              </a:rPr>
              <a:t>Endowment budget constraint</a:t>
            </a:r>
            <a:endParaRPr lang="en-GB" sz="2400" b="1" i="1" noProof="0" dirty="0">
              <a:solidFill>
                <a:prstClr val="black"/>
              </a:solidFill>
              <a:latin typeface="Calibri"/>
            </a:endParaRPr>
          </a:p>
        </p:txBody>
      </p:sp>
      <mc:AlternateContent xmlns:mc="http://schemas.openxmlformats.org/markup-compatibility/2006">
        <mc:Choice xmlns:a14="http://schemas.microsoft.com/office/drawing/2010/main" Requires="a14">
          <p:sp>
            <p:nvSpPr>
              <p:cNvPr id="4" name="Rectangle 12">
                <a:extLst>
                  <a:ext uri="{FF2B5EF4-FFF2-40B4-BE49-F238E27FC236}">
                    <a16:creationId xmlns:a16="http://schemas.microsoft.com/office/drawing/2014/main" id="{92AEC6A3-C1F2-09FA-C7B0-22976175A070}"/>
                  </a:ext>
                </a:extLst>
              </p:cNvPr>
              <p:cNvSpPr>
                <a:spLocks noChangeArrowheads="1"/>
              </p:cNvSpPr>
              <p:nvPr/>
            </p:nvSpPr>
            <p:spPr bwMode="auto">
              <a:xfrm>
                <a:off x="283846" y="1602895"/>
                <a:ext cx="8124419" cy="48250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ts val="900"/>
                  </a:spcBef>
                  <a:spcAft>
                    <a:spcPts val="900"/>
                  </a:spcAft>
                  <a:buNone/>
                </a:pP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We do not start with money, but with some amounts of goods </a:t>
                </a:r>
                <a14:m>
                  <m:oMath xmlns:m="http://schemas.openxmlformats.org/officeDocument/2006/math">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oMath>
                </a14:m>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and </a:t>
                </a:r>
                <a14:m>
                  <m:oMath xmlns:m="http://schemas.openxmlformats.org/officeDocument/2006/math">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oMath>
                </a14:m>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We call this initial bundle an endowment</a:t>
                </a:r>
              </a:p>
              <a:p>
                <a:pPr>
                  <a:spcBef>
                    <a:spcPts val="900"/>
                  </a:spcBef>
                  <a:spcAft>
                    <a:spcPts val="900"/>
                  </a:spcAft>
                  <a:buNone/>
                </a:pPr>
                <a14:m>
                  <m:oMathPara xmlns:m="http://schemas.openxmlformats.org/officeDocument/2006/math">
                    <m:oMathParaPr>
                      <m:jc m:val="centerGroup"/>
                    </m:oMathParaPr>
                    <m:oMath xmlns:m="http://schemas.openxmlformats.org/officeDocument/2006/math">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endParaRPr>
              </a:p>
              <a:p>
                <a:pPr>
                  <a:spcBef>
                    <a:spcPts val="900"/>
                  </a:spcBef>
                  <a:spcAft>
                    <a:spcPts val="900"/>
                  </a:spcAft>
                  <a:buNone/>
                </a:pP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Now comes the trick:</a:t>
                </a:r>
                <a:b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b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we imagine that we sell the whole endowment at market prices </a:t>
                </a:r>
                <a14:m>
                  <m:oMath xmlns:m="http://schemas.openxmlformats.org/officeDocument/2006/math">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oMath>
                </a14:m>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This gives us </a:t>
                </a:r>
                <a:r>
                  <a:rPr lang="pl-PL"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a:t>
                </a:r>
                <a:r>
                  <a:rPr lang="pl-PL" sz="2000" b="1" noProof="0" dirty="0" err="1">
                    <a:solidFill>
                      <a:schemeClr val="accent5">
                        <a:lumMod val="50000"/>
                      </a:schemeClr>
                    </a:solidFill>
                    <a:effectLst/>
                    <a:latin typeface="+mn-lt"/>
                    <a:ea typeface="Aptos" panose="020B0004020202020204" pitchFamily="34" charset="0"/>
                    <a:cs typeface="Times New Roman" panose="02020603050405020304" pitchFamily="18" charset="0"/>
                  </a:rPr>
                  <a:t>tipical</a:t>
                </a:r>
                <a:r>
                  <a:rPr lang="pl-PL"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a:t>
                </a: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income</a:t>
                </a:r>
                <a:r>
                  <a:rPr lang="pl-PL" sz="2000" b="1" dirty="0">
                    <a:solidFill>
                      <a:schemeClr val="accent5">
                        <a:lumMod val="50000"/>
                      </a:schemeClr>
                    </a:solidFill>
                    <a:latin typeface="+mn-lt"/>
                    <a:ea typeface="Aptos" panose="020B0004020202020204" pitchFamily="34" charset="0"/>
                    <a:cs typeface="Times New Roman" panose="02020603050405020304" pitchFamily="18" charset="0"/>
                  </a:rPr>
                  <a:t> in </a:t>
                </a:r>
                <a:r>
                  <a:rPr lang="pl-PL" sz="2000" b="1" dirty="0" err="1">
                    <a:solidFill>
                      <a:schemeClr val="accent5">
                        <a:lumMod val="50000"/>
                      </a:schemeClr>
                    </a:solidFill>
                    <a:latin typeface="+mn-lt"/>
                    <a:ea typeface="Aptos" panose="020B0004020202020204" pitchFamily="34" charset="0"/>
                    <a:cs typeface="Times New Roman" panose="02020603050405020304" pitchFamily="18" charset="0"/>
                  </a:rPr>
                  <a:t>nominal</a:t>
                </a:r>
                <a:r>
                  <a:rPr lang="pl-PL" sz="2000" b="1" dirty="0">
                    <a:solidFill>
                      <a:schemeClr val="accent5">
                        <a:lumMod val="50000"/>
                      </a:schemeClr>
                    </a:solidFill>
                    <a:latin typeface="+mn-lt"/>
                    <a:ea typeface="Aptos" panose="020B0004020202020204" pitchFamily="34" charset="0"/>
                    <a:cs typeface="Times New Roman" panose="02020603050405020304" pitchFamily="18" charset="0"/>
                  </a:rPr>
                  <a:t> </a:t>
                </a:r>
                <a:r>
                  <a:rPr lang="pl-PL" sz="2000" b="1" dirty="0" err="1">
                    <a:solidFill>
                      <a:schemeClr val="accent5">
                        <a:lumMod val="50000"/>
                      </a:schemeClr>
                    </a:solidFill>
                    <a:latin typeface="+mn-lt"/>
                    <a:ea typeface="Aptos" panose="020B0004020202020204" pitchFamily="34" charset="0"/>
                    <a:cs typeface="Times New Roman" panose="02020603050405020304" pitchFamily="18" charset="0"/>
                  </a:rPr>
                  <a:t>terms</a:t>
                </a:r>
                <a:r>
                  <a:rPr lang="pl-PL" sz="2000" b="1" dirty="0">
                    <a:solidFill>
                      <a:schemeClr val="accent5">
                        <a:lumMod val="50000"/>
                      </a:schemeClr>
                    </a:solidFill>
                    <a:latin typeface="+mn-lt"/>
                    <a:ea typeface="Aptos" panose="020B0004020202020204" pitchFamily="34" charset="0"/>
                    <a:cs typeface="Times New Roman" panose="02020603050405020304" pitchFamily="18" charset="0"/>
                  </a:rPr>
                  <a:t> ($)</a:t>
                </a:r>
                <a:endPar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endParaRPr>
              </a:p>
              <a:p>
                <a:pPr>
                  <a:spcBef>
                    <a:spcPts val="900"/>
                  </a:spcBef>
                  <a:spcAft>
                    <a:spcPts val="900"/>
                  </a:spcAft>
                  <a:buNone/>
                </a:pPr>
                <a14:m>
                  <m:oMathPara xmlns:m="http://schemas.openxmlformats.org/officeDocument/2006/math">
                    <m:oMathParaPr>
                      <m:jc m:val="centerGroup"/>
                    </m:oMathParaPr>
                    <m:oMath xmlns:m="http://schemas.openxmlformats.org/officeDocument/2006/math">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𝑴</m:t>
                      </m:r>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endParaRPr>
              </a:p>
              <a:p>
                <a:pPr>
                  <a:spcBef>
                    <a:spcPts val="900"/>
                  </a:spcBef>
                  <a:spcAft>
                    <a:spcPts val="900"/>
                  </a:spcAft>
                  <a:buNone/>
                </a:pP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With this income </a:t>
                </a:r>
                <a14:m>
                  <m:oMath xmlns:m="http://schemas.openxmlformats.org/officeDocument/2006/math">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𝑴</m:t>
                    </m:r>
                  </m:oMath>
                </a14:m>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we can buy any bundle </a:t>
                </a:r>
                <a14:m>
                  <m:oMath xmlns:m="http://schemas.openxmlformats.org/officeDocument/2006/math">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a14:m>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that satisfies our usual budget constraint</a:t>
                </a: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𝑴</m:t>
                      </m:r>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endParaRPr>
              </a:p>
              <a:p>
                <a:pPr>
                  <a:spcBef>
                    <a:spcPts val="900"/>
                  </a:spcBef>
                  <a:spcAft>
                    <a:spcPts val="900"/>
                  </a:spcAft>
                  <a:buNone/>
                </a:pP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On the diagram the budget line goes (have to go) through the</a:t>
                </a:r>
                <a:r>
                  <a:rPr lang="pl-PL"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 </a:t>
                </a:r>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endowment point </a:t>
                </a:r>
                <a14:m>
                  <m:oMath xmlns:m="http://schemas.openxmlformats.org/officeDocument/2006/math">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a14:m>
                <a:r>
                  <a:rPr lang="en-GB" sz="2000" b="1" noProof="0" dirty="0">
                    <a:solidFill>
                      <a:schemeClr val="accent5">
                        <a:lumMod val="50000"/>
                      </a:schemeClr>
                    </a:solidFill>
                    <a:effectLst/>
                    <a:latin typeface="+mn-lt"/>
                    <a:ea typeface="Aptos" panose="020B0004020202020204" pitchFamily="34" charset="0"/>
                    <a:cs typeface="Times New Roman" panose="02020603050405020304" pitchFamily="18" charset="0"/>
                  </a:rPr>
                  <a:t>.</a:t>
                </a:r>
              </a:p>
            </p:txBody>
          </p:sp>
        </mc:Choice>
        <mc:Fallback>
          <p:sp>
            <p:nvSpPr>
              <p:cNvPr id="4" name="Rectangle 12">
                <a:extLst>
                  <a:ext uri="{FF2B5EF4-FFF2-40B4-BE49-F238E27FC236}">
                    <a16:creationId xmlns:a16="http://schemas.microsoft.com/office/drawing/2014/main" id="{92AEC6A3-C1F2-09FA-C7B0-22976175A070}"/>
                  </a:ext>
                </a:extLst>
              </p:cNvPr>
              <p:cNvSpPr>
                <a:spLocks noRot="1" noChangeAspect="1" noMove="1" noResize="1" noEditPoints="1" noAdjustHandles="1" noChangeArrowheads="1" noChangeShapeType="1" noTextEdit="1"/>
              </p:cNvSpPr>
              <p:nvPr/>
            </p:nvSpPr>
            <p:spPr bwMode="auto">
              <a:xfrm>
                <a:off x="283846" y="1602895"/>
                <a:ext cx="8124419" cy="4825040"/>
              </a:xfrm>
              <a:prstGeom prst="rect">
                <a:avLst/>
              </a:prstGeom>
              <a:blipFill>
                <a:blip r:embed="rId3"/>
                <a:stretch>
                  <a:fillRect l="-826" t="-759" r="-90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l-PL">
                    <a:noFill/>
                  </a:rPr>
                  <a:t> </a:t>
                </a:r>
              </a:p>
            </p:txBody>
          </p:sp>
        </mc:Fallback>
      </mc:AlternateContent>
    </p:spTree>
    <p:extLst>
      <p:ext uri="{BB962C8B-B14F-4D97-AF65-F5344CB8AC3E}">
        <p14:creationId xmlns:p14="http://schemas.microsoft.com/office/powerpoint/2010/main" val="235349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E8E92-5427-E223-EA28-214C0D55950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B0BCFB3-C1A7-F3EB-0324-7255C78AF868}"/>
              </a:ext>
            </a:extLst>
          </p:cNvPr>
          <p:cNvGrpSpPr/>
          <p:nvPr/>
        </p:nvGrpSpPr>
        <p:grpSpPr>
          <a:xfrm>
            <a:off x="7561581" y="2347694"/>
            <a:ext cx="4356506" cy="2990937"/>
            <a:chOff x="7065239" y="3273426"/>
            <a:chExt cx="4356506" cy="2990937"/>
          </a:xfrm>
        </p:grpSpPr>
        <p:grpSp>
          <p:nvGrpSpPr>
            <p:cNvPr id="6152" name="Grupa 21">
              <a:extLst>
                <a:ext uri="{FF2B5EF4-FFF2-40B4-BE49-F238E27FC236}">
                  <a16:creationId xmlns:a16="http://schemas.microsoft.com/office/drawing/2014/main" id="{6BD489C7-E62D-3CAD-00B7-DF6E417DC200}"/>
                </a:ext>
              </a:extLst>
            </p:cNvPr>
            <p:cNvGrpSpPr>
              <a:grpSpLocks/>
            </p:cNvGrpSpPr>
            <p:nvPr/>
          </p:nvGrpSpPr>
          <p:grpSpPr bwMode="auto">
            <a:xfrm>
              <a:off x="7065239" y="3273426"/>
              <a:ext cx="4356506" cy="2990937"/>
              <a:chOff x="627048" y="1000125"/>
              <a:chExt cx="5648417" cy="4648823"/>
            </a:xfrm>
          </p:grpSpPr>
          <p:sp>
            <p:nvSpPr>
              <p:cNvPr id="25" name="Line 3">
                <a:extLst>
                  <a:ext uri="{FF2B5EF4-FFF2-40B4-BE49-F238E27FC236}">
                    <a16:creationId xmlns:a16="http://schemas.microsoft.com/office/drawing/2014/main" id="{72E79BEA-FA7F-CCD0-DA65-C59A2BA951B0}"/>
                  </a:ext>
                </a:extLst>
              </p:cNvPr>
              <p:cNvSpPr>
                <a:spLocks noChangeShapeType="1"/>
              </p:cNvSpPr>
              <p:nvPr/>
            </p:nvSpPr>
            <p:spPr bwMode="auto">
              <a:xfrm>
                <a:off x="1376258" y="1380113"/>
                <a:ext cx="0" cy="3762871"/>
              </a:xfrm>
              <a:prstGeom prst="line">
                <a:avLst/>
              </a:prstGeom>
              <a:ln>
                <a:headEnd type="stealth" w="med" len="lg"/>
                <a:tailEnd type="none" w="sm" len="sm"/>
              </a:ln>
            </p:spPr>
            <p:style>
              <a:lnRef idx="3">
                <a:schemeClr val="dk1"/>
              </a:lnRef>
              <a:fillRef idx="0">
                <a:schemeClr val="dk1"/>
              </a:fillRef>
              <a:effectRef idx="2">
                <a:schemeClr val="dk1"/>
              </a:effectRef>
              <a:fontRef idx="minor">
                <a:schemeClr val="tx1"/>
              </a:fontRef>
            </p:style>
            <p:txBody>
              <a:bodyPr wrap="none" anchor="ctr"/>
              <a:lstStyle/>
              <a:p>
                <a:pPr>
                  <a:defRPr/>
                </a:pPr>
                <a:endParaRPr lang="en-GB" b="1" noProof="0" dirty="0">
                  <a:solidFill>
                    <a:schemeClr val="accent5">
                      <a:lumMod val="50000"/>
                    </a:schemeClr>
                  </a:solidFill>
                  <a:latin typeface="Arial" pitchFamily="34" charset="0"/>
                  <a:cs typeface="Arial" pitchFamily="34" charset="0"/>
                </a:endParaRPr>
              </a:p>
            </p:txBody>
          </p:sp>
          <p:sp>
            <p:nvSpPr>
              <p:cNvPr id="26" name="Line 4">
                <a:extLst>
                  <a:ext uri="{FF2B5EF4-FFF2-40B4-BE49-F238E27FC236}">
                    <a16:creationId xmlns:a16="http://schemas.microsoft.com/office/drawing/2014/main" id="{E6D8BB73-8284-DC5E-AFAD-2C637838CE92}"/>
                  </a:ext>
                </a:extLst>
              </p:cNvPr>
              <p:cNvSpPr>
                <a:spLocks noChangeShapeType="1"/>
              </p:cNvSpPr>
              <p:nvPr/>
            </p:nvSpPr>
            <p:spPr bwMode="auto">
              <a:xfrm>
                <a:off x="1188955" y="5014677"/>
                <a:ext cx="4571416" cy="0"/>
              </a:xfrm>
              <a:prstGeom prst="line">
                <a:avLst/>
              </a:prstGeom>
              <a:ln>
                <a:headEnd type="none" w="sm" len="sm"/>
                <a:tailEnd type="stealth" w="med" len="lg"/>
              </a:ln>
            </p:spPr>
            <p:style>
              <a:lnRef idx="3">
                <a:schemeClr val="dk1"/>
              </a:lnRef>
              <a:fillRef idx="0">
                <a:schemeClr val="dk1"/>
              </a:fillRef>
              <a:effectRef idx="2">
                <a:schemeClr val="dk1"/>
              </a:effectRef>
              <a:fontRef idx="minor">
                <a:schemeClr val="tx1"/>
              </a:fontRef>
            </p:style>
            <p:txBody>
              <a:bodyPr wrap="none" anchor="ctr"/>
              <a:lstStyle/>
              <a:p>
                <a:pPr>
                  <a:defRPr/>
                </a:pPr>
                <a:endParaRPr lang="en-GB" b="1" noProof="0" dirty="0">
                  <a:solidFill>
                    <a:schemeClr val="accent5">
                      <a:lumMod val="50000"/>
                    </a:schemeClr>
                  </a:solidFill>
                  <a:latin typeface="Arial" pitchFamily="34" charset="0"/>
                  <a:cs typeface="Arial" pitchFamily="34" charset="0"/>
                </a:endParaRPr>
              </a:p>
            </p:txBody>
          </p:sp>
          <p:sp>
            <p:nvSpPr>
              <p:cNvPr id="27" name="Line 5">
                <a:extLst>
                  <a:ext uri="{FF2B5EF4-FFF2-40B4-BE49-F238E27FC236}">
                    <a16:creationId xmlns:a16="http://schemas.microsoft.com/office/drawing/2014/main" id="{B8192DF7-CDFB-72C5-35F2-6B74D29F8B93}"/>
                  </a:ext>
                </a:extLst>
              </p:cNvPr>
              <p:cNvSpPr>
                <a:spLocks noChangeShapeType="1"/>
              </p:cNvSpPr>
              <p:nvPr/>
            </p:nvSpPr>
            <p:spPr bwMode="auto">
              <a:xfrm>
                <a:off x="1370082" y="1755167"/>
                <a:ext cx="1704247" cy="3261977"/>
              </a:xfrm>
              <a:prstGeom prst="line">
                <a:avLst/>
              </a:prstGeom>
              <a:ln>
                <a:headEnd type="none" w="sm" len="sm"/>
                <a:tailEnd type="none" w="sm" len="sm"/>
              </a:ln>
            </p:spPr>
            <p:style>
              <a:lnRef idx="3">
                <a:schemeClr val="accent1"/>
              </a:lnRef>
              <a:fillRef idx="0">
                <a:schemeClr val="accent1"/>
              </a:fillRef>
              <a:effectRef idx="2">
                <a:schemeClr val="accent1"/>
              </a:effectRef>
              <a:fontRef idx="minor">
                <a:schemeClr val="tx1"/>
              </a:fontRef>
            </p:style>
            <p:txBody>
              <a:bodyPr wrap="none" anchor="ctr"/>
              <a:lstStyle/>
              <a:p>
                <a:pPr>
                  <a:defRPr/>
                </a:pPr>
                <a:endParaRPr lang="en-GB" b="1" noProof="0" dirty="0">
                  <a:solidFill>
                    <a:schemeClr val="accent5">
                      <a:lumMod val="50000"/>
                    </a:schemeClr>
                  </a:solidFill>
                  <a:latin typeface="Arial" pitchFamily="34" charset="0"/>
                  <a:cs typeface="Arial" pitchFamily="34" charset="0"/>
                </a:endParaRPr>
              </a:p>
            </p:txBody>
          </p:sp>
          <p:sp>
            <p:nvSpPr>
              <p:cNvPr id="28" name="Line 6">
                <a:extLst>
                  <a:ext uri="{FF2B5EF4-FFF2-40B4-BE49-F238E27FC236}">
                    <a16:creationId xmlns:a16="http://schemas.microsoft.com/office/drawing/2014/main" id="{B8CEEEC9-A950-093F-0DC0-8AC9661DEA1E}"/>
                  </a:ext>
                </a:extLst>
              </p:cNvPr>
              <p:cNvSpPr>
                <a:spLocks noChangeShapeType="1"/>
              </p:cNvSpPr>
              <p:nvPr/>
            </p:nvSpPr>
            <p:spPr bwMode="auto">
              <a:xfrm>
                <a:off x="2205740" y="3400960"/>
                <a:ext cx="0" cy="1601378"/>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b="1" noProof="0" dirty="0">
                  <a:solidFill>
                    <a:schemeClr val="accent5">
                      <a:lumMod val="50000"/>
                    </a:schemeClr>
                  </a:solidFill>
                  <a:cs typeface="Arial" pitchFamily="34" charset="0"/>
                </a:endParaRPr>
              </a:p>
            </p:txBody>
          </p:sp>
          <p:sp>
            <p:nvSpPr>
              <p:cNvPr id="29" name="Line 7">
                <a:extLst>
                  <a:ext uri="{FF2B5EF4-FFF2-40B4-BE49-F238E27FC236}">
                    <a16:creationId xmlns:a16="http://schemas.microsoft.com/office/drawing/2014/main" id="{28E427AA-5346-BF2A-D818-17951A29A8AE}"/>
                  </a:ext>
                </a:extLst>
              </p:cNvPr>
              <p:cNvSpPr>
                <a:spLocks noChangeShapeType="1"/>
              </p:cNvSpPr>
              <p:nvPr/>
            </p:nvSpPr>
            <p:spPr bwMode="auto">
              <a:xfrm flipH="1">
                <a:off x="1370082" y="3400960"/>
                <a:ext cx="835657" cy="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b="1" noProof="0" dirty="0">
                  <a:solidFill>
                    <a:schemeClr val="accent5">
                      <a:lumMod val="50000"/>
                    </a:schemeClr>
                  </a:solidFill>
                  <a:cs typeface="Arial" pitchFamily="34" charset="0"/>
                </a:endParaRPr>
              </a:p>
            </p:txBody>
          </p:sp>
          <p:sp>
            <p:nvSpPr>
              <p:cNvPr id="30" name="Oval 8">
                <a:extLst>
                  <a:ext uri="{FF2B5EF4-FFF2-40B4-BE49-F238E27FC236}">
                    <a16:creationId xmlns:a16="http://schemas.microsoft.com/office/drawing/2014/main" id="{2DAF8DDF-4C30-210C-CDAD-C1F1003D069F}"/>
                  </a:ext>
                </a:extLst>
              </p:cNvPr>
              <p:cNvSpPr>
                <a:spLocks noChangeArrowheads="1"/>
              </p:cNvSpPr>
              <p:nvPr/>
            </p:nvSpPr>
            <p:spPr bwMode="auto">
              <a:xfrm>
                <a:off x="2129584" y="3317067"/>
                <a:ext cx="150253" cy="157917"/>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GB" b="1" noProof="0" dirty="0">
                  <a:solidFill>
                    <a:schemeClr val="accent5">
                      <a:lumMod val="50000"/>
                    </a:schemeClr>
                  </a:solidFill>
                  <a:latin typeface="Arial" pitchFamily="34" charset="0"/>
                  <a:cs typeface="Arial" pitchFamily="34" charset="0"/>
                </a:endParaRPr>
              </a:p>
            </p:txBody>
          </p:sp>
          <p:sp>
            <p:nvSpPr>
              <p:cNvPr id="31" name="Rectangle 9">
                <a:extLst>
                  <a:ext uri="{FF2B5EF4-FFF2-40B4-BE49-F238E27FC236}">
                    <a16:creationId xmlns:a16="http://schemas.microsoft.com/office/drawing/2014/main" id="{2EF7E796-EC7B-93DC-CFC9-7E58E5F3DE65}"/>
                  </a:ext>
                </a:extLst>
              </p:cNvPr>
              <p:cNvSpPr>
                <a:spLocks noChangeArrowheads="1"/>
              </p:cNvSpPr>
              <p:nvPr/>
            </p:nvSpPr>
            <p:spPr bwMode="auto">
              <a:xfrm>
                <a:off x="832875" y="1000125"/>
                <a:ext cx="480104" cy="575052"/>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cs typeface="Arial" pitchFamily="34" charset="0"/>
                  </a:rPr>
                  <a:t>x</a:t>
                </a:r>
                <a:r>
                  <a:rPr lang="en-GB" b="1" baseline="-25000" noProof="0" dirty="0">
                    <a:solidFill>
                      <a:schemeClr val="accent5">
                        <a:lumMod val="50000"/>
                      </a:schemeClr>
                    </a:solidFill>
                    <a:cs typeface="Arial" pitchFamily="34" charset="0"/>
                  </a:rPr>
                  <a:t>2</a:t>
                </a:r>
              </a:p>
            </p:txBody>
          </p:sp>
          <p:sp>
            <p:nvSpPr>
              <p:cNvPr id="32" name="Rectangle 10">
                <a:extLst>
                  <a:ext uri="{FF2B5EF4-FFF2-40B4-BE49-F238E27FC236}">
                    <a16:creationId xmlns:a16="http://schemas.microsoft.com/office/drawing/2014/main" id="{A122A552-4A69-6F68-28C6-E9FBA0357699}"/>
                  </a:ext>
                </a:extLst>
              </p:cNvPr>
              <p:cNvSpPr>
                <a:spLocks noChangeArrowheads="1"/>
              </p:cNvSpPr>
              <p:nvPr/>
            </p:nvSpPr>
            <p:spPr bwMode="auto">
              <a:xfrm>
                <a:off x="5795361" y="5073896"/>
                <a:ext cx="480104" cy="575052"/>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cs typeface="Arial" pitchFamily="34" charset="0"/>
                  </a:rPr>
                  <a:t>x</a:t>
                </a:r>
                <a:r>
                  <a:rPr lang="en-GB" b="1" baseline="-25000" noProof="0" dirty="0">
                    <a:solidFill>
                      <a:schemeClr val="accent5">
                        <a:lumMod val="50000"/>
                      </a:schemeClr>
                    </a:solidFill>
                    <a:cs typeface="Arial" pitchFamily="34" charset="0"/>
                  </a:rPr>
                  <a:t>1</a:t>
                </a:r>
              </a:p>
            </p:txBody>
          </p:sp>
          <p:sp>
            <p:nvSpPr>
              <p:cNvPr id="34" name="Rectangle 12">
                <a:extLst>
                  <a:ext uri="{FF2B5EF4-FFF2-40B4-BE49-F238E27FC236}">
                    <a16:creationId xmlns:a16="http://schemas.microsoft.com/office/drawing/2014/main" id="{6A5E660F-2A51-3D43-C0F4-68CC25C675FF}"/>
                  </a:ext>
                </a:extLst>
              </p:cNvPr>
              <p:cNvSpPr>
                <a:spLocks noChangeArrowheads="1"/>
              </p:cNvSpPr>
              <p:nvPr/>
            </p:nvSpPr>
            <p:spPr bwMode="auto">
              <a:xfrm>
                <a:off x="1981389" y="5044286"/>
                <a:ext cx="584548" cy="574916"/>
              </a:xfrm>
              <a:prstGeom prst="rect">
                <a:avLst/>
              </a:prstGeom>
              <a:noFill/>
              <a:ln w="9525">
                <a:noFill/>
                <a:miter lim="800000"/>
                <a:headEnd/>
                <a:tailEnd/>
              </a:ln>
            </p:spPr>
            <p:txBody>
              <a:bodyPr wrap="none" lIns="92075" tIns="46038" rIns="92075" bIns="46038">
                <a:spAutoFit/>
              </a:bodyPr>
              <a:lstStyle/>
              <a:p>
                <a:pPr>
                  <a:defRPr/>
                </a:pPr>
                <a:r>
                  <a:rPr lang="en-GB" b="1" i="1" noProof="0" dirty="0">
                    <a:solidFill>
                      <a:schemeClr val="accent5">
                        <a:lumMod val="50000"/>
                      </a:schemeClr>
                    </a:solidFill>
                    <a:cs typeface="Arial" pitchFamily="34" charset="0"/>
                  </a:rPr>
                  <a:t>w</a:t>
                </a:r>
                <a:r>
                  <a:rPr lang="en-GB" b="1" baseline="-25000" noProof="0" dirty="0">
                    <a:solidFill>
                      <a:schemeClr val="accent5">
                        <a:lumMod val="50000"/>
                      </a:schemeClr>
                    </a:solidFill>
                    <a:cs typeface="Arial" pitchFamily="34" charset="0"/>
                  </a:rPr>
                  <a:t>1</a:t>
                </a:r>
              </a:p>
            </p:txBody>
          </p:sp>
          <p:sp>
            <p:nvSpPr>
              <p:cNvPr id="36" name="Rectangle 14">
                <a:extLst>
                  <a:ext uri="{FF2B5EF4-FFF2-40B4-BE49-F238E27FC236}">
                    <a16:creationId xmlns:a16="http://schemas.microsoft.com/office/drawing/2014/main" id="{A5E4CA37-5122-4E72-4F20-A38A20C88380}"/>
                  </a:ext>
                </a:extLst>
              </p:cNvPr>
              <p:cNvSpPr>
                <a:spLocks noChangeArrowheads="1"/>
              </p:cNvSpPr>
              <p:nvPr/>
            </p:nvSpPr>
            <p:spPr bwMode="auto">
              <a:xfrm>
                <a:off x="627048" y="3124605"/>
                <a:ext cx="703928" cy="577385"/>
              </a:xfrm>
              <a:prstGeom prst="rect">
                <a:avLst/>
              </a:prstGeom>
              <a:noFill/>
              <a:ln w="9525">
                <a:noFill/>
                <a:miter lim="800000"/>
                <a:headEnd/>
                <a:tailEnd/>
              </a:ln>
            </p:spPr>
            <p:txBody>
              <a:bodyPr lIns="92075" tIns="46038" rIns="92075" bIns="46038">
                <a:spAutoFit/>
              </a:bodyPr>
              <a:lstStyle/>
              <a:p>
                <a:pPr>
                  <a:defRPr/>
                </a:pPr>
                <a:r>
                  <a:rPr lang="en-GB" b="1" i="1" noProof="0" dirty="0">
                    <a:solidFill>
                      <a:schemeClr val="accent5">
                        <a:lumMod val="50000"/>
                      </a:schemeClr>
                    </a:solidFill>
                    <a:cs typeface="Arial" pitchFamily="34" charset="0"/>
                  </a:rPr>
                  <a:t>w</a:t>
                </a:r>
                <a:r>
                  <a:rPr lang="en-GB" b="1" baseline="-25000" noProof="0" dirty="0">
                    <a:solidFill>
                      <a:schemeClr val="accent5">
                        <a:lumMod val="50000"/>
                      </a:schemeClr>
                    </a:solidFill>
                    <a:cs typeface="Arial" pitchFamily="34" charset="0"/>
                  </a:rPr>
                  <a:t>2</a:t>
                </a:r>
              </a:p>
            </p:txBody>
          </p:sp>
        </p:grpSp>
        <p:cxnSp>
          <p:nvCxnSpPr>
            <p:cNvPr id="39" name="Łącznik prosty 38">
              <a:extLst>
                <a:ext uri="{FF2B5EF4-FFF2-40B4-BE49-F238E27FC236}">
                  <a16:creationId xmlns:a16="http://schemas.microsoft.com/office/drawing/2014/main" id="{EB688747-F633-6FC5-5686-EE9E22A6B863}"/>
                </a:ext>
              </a:extLst>
            </p:cNvPr>
            <p:cNvCxnSpPr/>
            <p:nvPr/>
          </p:nvCxnSpPr>
          <p:spPr>
            <a:xfrm>
              <a:off x="7641502" y="4527551"/>
              <a:ext cx="3114675" cy="1331913"/>
            </a:xfrm>
            <a:prstGeom prst="line">
              <a:avLst/>
            </a:prstGeom>
          </p:spPr>
          <p:style>
            <a:lnRef idx="3">
              <a:schemeClr val="accent2"/>
            </a:lnRef>
            <a:fillRef idx="0">
              <a:schemeClr val="accent2"/>
            </a:fillRef>
            <a:effectRef idx="2">
              <a:schemeClr val="accent2"/>
            </a:effectRef>
            <a:fontRef idx="minor">
              <a:schemeClr val="tx1"/>
            </a:fontRef>
          </p:style>
        </p:cxnSp>
      </p:grpSp>
      <p:sp>
        <p:nvSpPr>
          <p:cNvPr id="2" name="TextShape 1">
            <a:extLst>
              <a:ext uri="{FF2B5EF4-FFF2-40B4-BE49-F238E27FC236}">
                <a16:creationId xmlns:a16="http://schemas.microsoft.com/office/drawing/2014/main" id="{DF52A1DE-1BE8-BE76-0E7F-8EED8C89CA6E}"/>
              </a:ext>
            </a:extLst>
          </p:cNvPr>
          <p:cNvSpPr txBox="1"/>
          <p:nvPr/>
        </p:nvSpPr>
        <p:spPr>
          <a:xfrm>
            <a:off x="0" y="0"/>
            <a:ext cx="12192000" cy="1143000"/>
          </a:xfrm>
          <a:prstGeom prst="rect">
            <a:avLst/>
          </a:prstGeom>
          <a:solidFill>
            <a:srgbClr val="DBEEF4"/>
          </a:solidFill>
          <a:ln>
            <a:noFill/>
          </a:ln>
        </p:spPr>
        <p:txBody>
          <a:bodyPr anchor="ctr"/>
          <a:lstStyle/>
          <a:p>
            <a:pPr algn="ctr"/>
            <a:r>
              <a:rPr lang="en-GB" sz="3600" b="1" i="1" spc="-1" noProof="0" dirty="0">
                <a:solidFill>
                  <a:srgbClr val="215968"/>
                </a:solidFill>
                <a:latin typeface="Calibri"/>
              </a:rPr>
              <a:t>Endowment budget constraint – price change</a:t>
            </a:r>
            <a:endParaRPr lang="en-GB" sz="2400" b="1" i="1" noProof="0" dirty="0">
              <a:solidFill>
                <a:prstClr val="black"/>
              </a:solidFill>
              <a:latin typeface="Calibri"/>
            </a:endParaRPr>
          </a:p>
        </p:txBody>
      </p:sp>
      <mc:AlternateContent xmlns:mc="http://schemas.openxmlformats.org/markup-compatibility/2006">
        <mc:Choice xmlns:a14="http://schemas.microsoft.com/office/drawing/2010/main" Requires="a14">
          <p:sp>
            <p:nvSpPr>
              <p:cNvPr id="3" name="Rectangle 12">
                <a:extLst>
                  <a:ext uri="{FF2B5EF4-FFF2-40B4-BE49-F238E27FC236}">
                    <a16:creationId xmlns:a16="http://schemas.microsoft.com/office/drawing/2014/main" id="{BD35DFF5-DE34-32B3-7751-C45FBDEE910F}"/>
                  </a:ext>
                </a:extLst>
              </p:cNvPr>
              <p:cNvSpPr>
                <a:spLocks noChangeArrowheads="1"/>
              </p:cNvSpPr>
              <p:nvPr/>
            </p:nvSpPr>
            <p:spPr bwMode="auto">
              <a:xfrm>
                <a:off x="667773" y="1535286"/>
                <a:ext cx="6573927" cy="453470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ts val="900"/>
                  </a:spcBef>
                  <a:spcAft>
                    <a:spcPts val="900"/>
                  </a:spcAft>
                  <a:buNone/>
                </a:pPr>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Now suppose that the price of good 1 falls from </a:t>
                </a:r>
                <a14:m>
                  <m:oMath xmlns:m="http://schemas.openxmlformats.org/officeDocument/2006/math">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oMath>
                </a14:m>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 to </a:t>
                </a:r>
                <a14:m>
                  <m:oMath xmlns:m="http://schemas.openxmlformats.org/officeDocument/2006/math">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&lt;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oMath>
                </a14:m>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 while the endowment </a:t>
                </a:r>
                <a14:m>
                  <m:oMath xmlns:m="http://schemas.openxmlformats.org/officeDocument/2006/math">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a14:m>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 stays the same.</a:t>
                </a:r>
              </a:p>
              <a:p>
                <a:pPr>
                  <a:spcBef>
                    <a:spcPts val="900"/>
                  </a:spcBef>
                  <a:spcAft>
                    <a:spcPts val="900"/>
                  </a:spcAft>
                  <a:buNone/>
                </a:pPr>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If we sell the whole endowment at the new prices, our nominal income is </a:t>
                </a:r>
                <a14:m>
                  <m:oMath xmlns:m="http://schemas.openxmlformats.org/officeDocument/2006/math">
                    <m:sSup>
                      <m:sSup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𝑴</m:t>
                        </m:r>
                      </m:e>
                      <m:sup>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a14:m>
                <a:endParaRPr lang="en-GB" sz="2000" b="1" noProof="0" dirty="0">
                  <a:solidFill>
                    <a:schemeClr val="accent5">
                      <a:lumMod val="50000"/>
                    </a:schemeClr>
                  </a:solidFill>
                  <a:latin typeface="+mn-lt"/>
                  <a:ea typeface="Aptos" panose="020B0004020202020204" pitchFamily="34" charset="0"/>
                  <a:cs typeface="Times New Roman" panose="02020603050405020304" pitchFamily="18" charset="0"/>
                </a:endParaRPr>
              </a:p>
              <a:p>
                <a:pPr>
                  <a:spcBef>
                    <a:spcPts val="900"/>
                  </a:spcBef>
                  <a:spcAft>
                    <a:spcPts val="900"/>
                  </a:spcAft>
                  <a:buNone/>
                </a:pPr>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The new budget constraint is </a:t>
                </a:r>
                <a14:m>
                  <m:oMath xmlns:m="http://schemas.openxmlformats.org/officeDocument/2006/math">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𝒙</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p>
                      <m:sSup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𝑴</m:t>
                        </m:r>
                      </m:e>
                      <m:sup>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a14:m>
                <a:endParaRPr lang="en-GB" sz="2000" b="1" noProof="0" dirty="0">
                  <a:solidFill>
                    <a:schemeClr val="accent5">
                      <a:lumMod val="50000"/>
                    </a:schemeClr>
                  </a:solidFill>
                  <a:latin typeface="+mn-lt"/>
                  <a:ea typeface="Aptos" panose="020B0004020202020204" pitchFamily="34" charset="0"/>
                  <a:cs typeface="Times New Roman" panose="02020603050405020304" pitchFamily="18" charset="0"/>
                </a:endParaRPr>
              </a:p>
              <a:p>
                <a:pPr>
                  <a:spcBef>
                    <a:spcPts val="900"/>
                  </a:spcBef>
                  <a:spcAft>
                    <a:spcPts val="900"/>
                  </a:spcAft>
                  <a:buNone/>
                </a:pPr>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Notice that the endowment bundle </a:t>
                </a:r>
                <a14:m>
                  <m:oMath xmlns:m="http://schemas.openxmlformats.org/officeDocument/2006/math">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0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20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a14:m>
                <a:r>
                  <a:rPr lang="en-GB" sz="2000" b="1" noProof="0" dirty="0">
                    <a:solidFill>
                      <a:schemeClr val="accent5">
                        <a:lumMod val="50000"/>
                      </a:schemeClr>
                    </a:solidFill>
                    <a:latin typeface="+mn-lt"/>
                    <a:ea typeface="Aptos" panose="020B0004020202020204" pitchFamily="34" charset="0"/>
                    <a:cs typeface="Times New Roman" panose="02020603050405020304" pitchFamily="18" charset="0"/>
                  </a:rPr>
                  <a:t> always satisfies the budget constraint, for any prices. Therefore, it must lie on both the old and the new budget lines.</a:t>
                </a:r>
              </a:p>
              <a:p>
                <a:pPr>
                  <a:spcBef>
                    <a:spcPts val="900"/>
                  </a:spcBef>
                  <a:spcAft>
                    <a:spcPts val="900"/>
                  </a:spcAft>
                  <a:buNone/>
                </a:pPr>
                <a:r>
                  <a:rPr lang="en-GB" sz="1600" b="1" noProof="0" dirty="0">
                    <a:solidFill>
                      <a:schemeClr val="accent5">
                        <a:lumMod val="50000"/>
                      </a:schemeClr>
                    </a:solidFill>
                    <a:latin typeface="+mn-lt"/>
                    <a:ea typeface="Aptos" panose="020B0004020202020204" pitchFamily="34" charset="0"/>
                    <a:cs typeface="Times New Roman" panose="02020603050405020304" pitchFamily="18" charset="0"/>
                  </a:rPr>
                  <a:t>Geometrically, when </a:t>
                </a:r>
                <a14:m>
                  <m:oMath xmlns:m="http://schemas.openxmlformats.org/officeDocument/2006/math">
                    <m:sSub>
                      <m:sSubPr>
                        <m:ctrlP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oMath>
                </a14:m>
                <a:r>
                  <a:rPr lang="en-GB" sz="1600" b="1" noProof="0" dirty="0">
                    <a:solidFill>
                      <a:schemeClr val="accent5">
                        <a:lumMod val="50000"/>
                      </a:schemeClr>
                    </a:solidFill>
                    <a:latin typeface="+mn-lt"/>
                    <a:ea typeface="Aptos" panose="020B0004020202020204" pitchFamily="34" charset="0"/>
                    <a:cs typeface="Times New Roman" panose="02020603050405020304" pitchFamily="18" charset="0"/>
                  </a:rPr>
                  <a:t> changes and the endowment is fixed, the budget line pivots around the endowment point </a:t>
                </a:r>
                <a14:m>
                  <m:oMath xmlns:m="http://schemas.openxmlformats.org/officeDocument/2006/math">
                    <m:r>
                      <a:rPr lang="en-GB" sz="16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16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16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a14:m>
                <a:r>
                  <a:rPr lang="en-GB" sz="1600" b="1" noProof="0" dirty="0">
                    <a:solidFill>
                      <a:schemeClr val="accent5">
                        <a:lumMod val="50000"/>
                      </a:schemeClr>
                    </a:solidFill>
                    <a:latin typeface="+mn-lt"/>
                    <a:ea typeface="Aptos" panose="020B0004020202020204" pitchFamily="34" charset="0"/>
                    <a:cs typeface="Times New Roman" panose="02020603050405020304" pitchFamily="18" charset="0"/>
                  </a:rPr>
                  <a:t>. For a lower price </a:t>
                </a:r>
                <a14:m>
                  <m:oMath xmlns:m="http://schemas.openxmlformats.org/officeDocument/2006/math">
                    <m:sSub>
                      <m:sSubPr>
                        <m:ctrlP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16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oMath>
                </a14:m>
                <a:r>
                  <a:rPr lang="en-GB" sz="1600" b="1" noProof="0" dirty="0">
                    <a:solidFill>
                      <a:schemeClr val="accent5">
                        <a:lumMod val="50000"/>
                      </a:schemeClr>
                    </a:solidFill>
                    <a:latin typeface="+mn-lt"/>
                    <a:ea typeface="Aptos" panose="020B0004020202020204" pitchFamily="34" charset="0"/>
                    <a:cs typeface="Times New Roman" panose="02020603050405020304" pitchFamily="18" charset="0"/>
                  </a:rPr>
                  <a:t>, the line becomes flatter and swings outward from the endowment.</a:t>
                </a:r>
              </a:p>
            </p:txBody>
          </p:sp>
        </mc:Choice>
        <mc:Fallback>
          <p:sp>
            <p:nvSpPr>
              <p:cNvPr id="3" name="Rectangle 12">
                <a:extLst>
                  <a:ext uri="{FF2B5EF4-FFF2-40B4-BE49-F238E27FC236}">
                    <a16:creationId xmlns:a16="http://schemas.microsoft.com/office/drawing/2014/main" id="{BD35DFF5-DE34-32B3-7751-C45FBDEE910F}"/>
                  </a:ext>
                </a:extLst>
              </p:cNvPr>
              <p:cNvSpPr>
                <a:spLocks noRot="1" noChangeAspect="1" noMove="1" noResize="1" noEditPoints="1" noAdjustHandles="1" noChangeArrowheads="1" noChangeShapeType="1" noTextEdit="1"/>
              </p:cNvSpPr>
              <p:nvPr/>
            </p:nvSpPr>
            <p:spPr bwMode="auto">
              <a:xfrm>
                <a:off x="667773" y="1535286"/>
                <a:ext cx="6573927" cy="4534704"/>
              </a:xfrm>
              <a:prstGeom prst="rect">
                <a:avLst/>
              </a:prstGeom>
              <a:blipFill>
                <a:blip r:embed="rId3"/>
                <a:stretch>
                  <a:fillRect l="-1020" t="-806" b="-8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3B4328F-22E4-E178-7043-2E7CBDDE9BBC}"/>
                  </a:ext>
                </a:extLst>
              </p:cNvPr>
              <p:cNvSpPr txBox="1"/>
              <p:nvPr/>
            </p:nvSpPr>
            <p:spPr>
              <a:xfrm>
                <a:off x="6847840" y="1725818"/>
                <a:ext cx="6096000" cy="3710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𝒙</m:t>
                          </m:r>
                        </m:e>
                        <m:sub>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1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𝒙</m:t>
                          </m:r>
                        </m:e>
                        <m:sub>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r>
                        <a:rPr lang="en-GB" sz="1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𝑴</m:t>
                          </m:r>
                        </m:e>
                        <m:sup>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r>
                        <a:rPr lang="en-GB" sz="1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sSup>
                            <m:sSup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p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e>
                            <m:sup>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up>
                          </m:sSup>
                        </m:sub>
                      </m:sSub>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Sub>
                      <m:r>
                        <a:rPr lang="en-GB" sz="1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1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𝟐</m:t>
                          </m:r>
                        </m:sub>
                      </m:sSub>
                    </m:oMath>
                  </m:oMathPara>
                </a14:m>
                <a:endParaRPr lang="en-GB" noProof="0" dirty="0"/>
              </a:p>
            </p:txBody>
          </p:sp>
        </mc:Choice>
        <mc:Fallback xmlns="">
          <p:sp>
            <p:nvSpPr>
              <p:cNvPr id="6" name="TextBox 5">
                <a:extLst>
                  <a:ext uri="{FF2B5EF4-FFF2-40B4-BE49-F238E27FC236}">
                    <a16:creationId xmlns:a16="http://schemas.microsoft.com/office/drawing/2014/main" id="{F3B4328F-22E4-E178-7043-2E7CBDDE9BBC}"/>
                  </a:ext>
                </a:extLst>
              </p:cNvPr>
              <p:cNvSpPr txBox="1">
                <a:spLocks noRot="1" noChangeAspect="1" noMove="1" noResize="1" noEditPoints="1" noAdjustHandles="1" noChangeArrowheads="1" noChangeShapeType="1" noTextEdit="1"/>
              </p:cNvSpPr>
              <p:nvPr/>
            </p:nvSpPr>
            <p:spPr>
              <a:xfrm>
                <a:off x="6847840" y="1725818"/>
                <a:ext cx="6096000" cy="371064"/>
              </a:xfrm>
              <a:prstGeom prst="rect">
                <a:avLst/>
              </a:prstGeom>
              <a:blipFill>
                <a:blip r:embed="rId4"/>
                <a:stretch>
                  <a:fillRect b="-6557"/>
                </a:stretch>
              </a:blipFill>
            </p:spPr>
            <p:txBody>
              <a:bodyPr/>
              <a:lstStyle/>
              <a:p>
                <a:r>
                  <a:rPr lang="pl-PL">
                    <a:noFill/>
                  </a:rPr>
                  <a:t> </a:t>
                </a:r>
              </a:p>
            </p:txBody>
          </p:sp>
        </mc:Fallback>
      </mc:AlternateContent>
    </p:spTree>
    <p:extLst>
      <p:ext uri="{BB962C8B-B14F-4D97-AF65-F5344CB8AC3E}">
        <p14:creationId xmlns:p14="http://schemas.microsoft.com/office/powerpoint/2010/main" val="438837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58"/>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endParaRPr lang="en-GB" sz="1800" noProof="0" dirty="0">
              <a:solidFill>
                <a:srgbClr val="000000"/>
              </a:solidFill>
              <a:latin typeface="Arial" charset="0"/>
            </a:endParaRPr>
          </a:p>
        </p:txBody>
      </p:sp>
      <p:sp>
        <p:nvSpPr>
          <p:cNvPr id="30" name="TextShape 1"/>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Endowment budget constraint – price change </a:t>
            </a:r>
            <a:endParaRPr lang="en-GB" sz="2400" b="1" i="1" noProof="0" dirty="0">
              <a:solidFill>
                <a:prstClr val="black"/>
              </a:solidFill>
            </a:endParaRPr>
          </a:p>
        </p:txBody>
      </p:sp>
      <p:grpSp>
        <p:nvGrpSpPr>
          <p:cNvPr id="10" name="Group 9">
            <a:extLst>
              <a:ext uri="{FF2B5EF4-FFF2-40B4-BE49-F238E27FC236}">
                <a16:creationId xmlns:a16="http://schemas.microsoft.com/office/drawing/2014/main" id="{31477B0D-096B-5CD1-CFA0-FAE9DB273B3C}"/>
              </a:ext>
            </a:extLst>
          </p:cNvPr>
          <p:cNvGrpSpPr/>
          <p:nvPr/>
        </p:nvGrpSpPr>
        <p:grpSpPr>
          <a:xfrm>
            <a:off x="7021195" y="1821587"/>
            <a:ext cx="5027969" cy="4057883"/>
            <a:chOff x="6804538" y="2067600"/>
            <a:chExt cx="5027969" cy="4057883"/>
          </a:xfrm>
        </p:grpSpPr>
        <p:grpSp>
          <p:nvGrpSpPr>
            <p:cNvPr id="2" name="Grupa 1"/>
            <p:cNvGrpSpPr/>
            <p:nvPr/>
          </p:nvGrpSpPr>
          <p:grpSpPr>
            <a:xfrm>
              <a:off x="6804538" y="2067600"/>
              <a:ext cx="5027969" cy="4057883"/>
              <a:chOff x="1413069" y="1780249"/>
              <a:chExt cx="4266334" cy="3192227"/>
            </a:xfrm>
          </p:grpSpPr>
          <p:sp>
            <p:nvSpPr>
              <p:cNvPr id="57" name="Line 3"/>
              <p:cNvSpPr>
                <a:spLocks noChangeShapeType="1"/>
              </p:cNvSpPr>
              <p:nvPr/>
            </p:nvSpPr>
            <p:spPr bwMode="auto">
              <a:xfrm>
                <a:off x="1961597" y="1823318"/>
                <a:ext cx="0" cy="2755900"/>
              </a:xfrm>
              <a:prstGeom prst="line">
                <a:avLst/>
              </a:prstGeom>
              <a:ln>
                <a:headEnd type="stealth" w="med" len="lg"/>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noProof="0" dirty="0">
                  <a:solidFill>
                    <a:srgbClr val="4F81BD">
                      <a:lumMod val="50000"/>
                    </a:srgbClr>
                  </a:solidFill>
                  <a:latin typeface="Calibri"/>
                </a:endParaRPr>
              </a:p>
            </p:txBody>
          </p:sp>
          <p:sp>
            <p:nvSpPr>
              <p:cNvPr id="58" name="Line 4"/>
              <p:cNvSpPr>
                <a:spLocks noChangeShapeType="1"/>
              </p:cNvSpPr>
              <p:nvPr/>
            </p:nvSpPr>
            <p:spPr bwMode="auto">
              <a:xfrm>
                <a:off x="1869160" y="4510956"/>
                <a:ext cx="3567063" cy="0"/>
              </a:xfrm>
              <a:prstGeom prst="line">
                <a:avLst/>
              </a:prstGeom>
              <a:ln>
                <a:headEnd type="none" w="sm" len="sm"/>
                <a:tailEnd type="stealth" w="med" len="lg"/>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noProof="0" dirty="0">
                  <a:solidFill>
                    <a:srgbClr val="4F81BD">
                      <a:lumMod val="50000"/>
                    </a:srgbClr>
                  </a:solidFill>
                  <a:latin typeface="Calibri"/>
                </a:endParaRPr>
              </a:p>
            </p:txBody>
          </p:sp>
          <p:sp>
            <p:nvSpPr>
              <p:cNvPr id="44047" name="Rectangle 5"/>
              <p:cNvSpPr>
                <a:spLocks noChangeArrowheads="1"/>
              </p:cNvSpPr>
              <p:nvPr/>
            </p:nvSpPr>
            <p:spPr bwMode="auto">
              <a:xfrm>
                <a:off x="1525756" y="1780249"/>
                <a:ext cx="364529" cy="29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GB" sz="1800" noProof="0" dirty="0">
                    <a:solidFill>
                      <a:srgbClr val="254061"/>
                    </a:solidFill>
                    <a:latin typeface="Arial" charset="0"/>
                  </a:rPr>
                  <a:t>x2</a:t>
                </a:r>
              </a:p>
            </p:txBody>
          </p:sp>
          <p:sp>
            <p:nvSpPr>
              <p:cNvPr id="44048" name="Line 10"/>
              <p:cNvSpPr>
                <a:spLocks noChangeShapeType="1"/>
              </p:cNvSpPr>
              <p:nvPr/>
            </p:nvSpPr>
            <p:spPr bwMode="auto">
              <a:xfrm flipV="1">
                <a:off x="3884764" y="3679857"/>
                <a:ext cx="0" cy="792183"/>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noProof="0" dirty="0">
                  <a:solidFill>
                    <a:prstClr val="black"/>
                  </a:solidFill>
                  <a:latin typeface="Calibri"/>
                </a:endParaRPr>
              </a:p>
            </p:txBody>
          </p:sp>
          <p:sp>
            <p:nvSpPr>
              <p:cNvPr id="44049" name="Line 11"/>
              <p:cNvSpPr>
                <a:spLocks noChangeShapeType="1"/>
              </p:cNvSpPr>
              <p:nvPr/>
            </p:nvSpPr>
            <p:spPr bwMode="auto">
              <a:xfrm flipV="1">
                <a:off x="1919543" y="3626347"/>
                <a:ext cx="196522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noProof="0" dirty="0">
                  <a:solidFill>
                    <a:prstClr val="black"/>
                  </a:solidFill>
                  <a:latin typeface="Calibri"/>
                </a:endParaRPr>
              </a:p>
            </p:txBody>
          </p:sp>
          <p:sp>
            <p:nvSpPr>
              <p:cNvPr id="44051" name="Line 14"/>
              <p:cNvSpPr>
                <a:spLocks noChangeShapeType="1"/>
              </p:cNvSpPr>
              <p:nvPr/>
            </p:nvSpPr>
            <p:spPr bwMode="auto">
              <a:xfrm flipH="1" flipV="1">
                <a:off x="1960408" y="2276962"/>
                <a:ext cx="3215929" cy="2246261"/>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noProof="0" dirty="0">
                  <a:solidFill>
                    <a:prstClr val="black"/>
                  </a:solidFill>
                  <a:latin typeface="Calibri"/>
                </a:endParaRPr>
              </a:p>
            </p:txBody>
          </p:sp>
          <p:sp>
            <p:nvSpPr>
              <p:cNvPr id="67" name="Oval 16"/>
              <p:cNvSpPr>
                <a:spLocks noChangeArrowheads="1"/>
              </p:cNvSpPr>
              <p:nvPr/>
            </p:nvSpPr>
            <p:spPr bwMode="auto">
              <a:xfrm>
                <a:off x="3830137" y="3574331"/>
                <a:ext cx="166717" cy="106362"/>
              </a:xfrm>
              <a:prstGeom prst="ellipse">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defRPr/>
                </a:pPr>
                <a:endParaRPr lang="en-GB" noProof="0" dirty="0">
                  <a:solidFill>
                    <a:srgbClr val="4F81BD">
                      <a:lumMod val="50000"/>
                    </a:srgbClr>
                  </a:solidFill>
                  <a:latin typeface="Calibri"/>
                </a:endParaRPr>
              </a:p>
            </p:txBody>
          </p:sp>
          <p:sp>
            <p:nvSpPr>
              <p:cNvPr id="69" name="Arc 21"/>
              <p:cNvSpPr>
                <a:spLocks/>
              </p:cNvSpPr>
              <p:nvPr/>
            </p:nvSpPr>
            <p:spPr bwMode="auto">
              <a:xfrm rot="10800000">
                <a:off x="2536024" y="2202731"/>
                <a:ext cx="1949422" cy="1220787"/>
              </a:xfrm>
              <a:custGeom>
                <a:avLst/>
                <a:gdLst>
                  <a:gd name="T0" fmla="*/ 0 w 21600"/>
                  <a:gd name="T1" fmla="*/ 0 h 21600"/>
                  <a:gd name="T2" fmla="*/ 2500313 w 21600"/>
                  <a:gd name="T3" fmla="*/ 1666875 h 21600"/>
                  <a:gd name="T4" fmla="*/ 0 w 21600"/>
                  <a:gd name="T5" fmla="*/ 16668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GB" noProof="0" dirty="0">
                  <a:solidFill>
                    <a:srgbClr val="4F81BD">
                      <a:lumMod val="50000"/>
                    </a:srgbClr>
                  </a:solidFill>
                  <a:latin typeface="Calibri"/>
                </a:endParaRPr>
              </a:p>
            </p:txBody>
          </p:sp>
          <p:sp>
            <p:nvSpPr>
              <p:cNvPr id="44055" name="Line 22"/>
              <p:cNvSpPr>
                <a:spLocks noChangeShapeType="1"/>
              </p:cNvSpPr>
              <p:nvPr/>
            </p:nvSpPr>
            <p:spPr bwMode="auto">
              <a:xfrm>
                <a:off x="3098428" y="3045879"/>
                <a:ext cx="0" cy="1424997"/>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noProof="0" dirty="0">
                  <a:solidFill>
                    <a:prstClr val="black"/>
                  </a:solidFill>
                  <a:latin typeface="Calibri"/>
                </a:endParaRPr>
              </a:p>
            </p:txBody>
          </p:sp>
          <p:sp>
            <p:nvSpPr>
              <p:cNvPr id="44056" name="Line 23"/>
              <p:cNvSpPr>
                <a:spLocks noChangeShapeType="1"/>
              </p:cNvSpPr>
              <p:nvPr/>
            </p:nvSpPr>
            <p:spPr bwMode="auto">
              <a:xfrm flipH="1">
                <a:off x="1918304" y="2993532"/>
                <a:ext cx="1067436"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noProof="0" dirty="0">
                  <a:solidFill>
                    <a:prstClr val="black"/>
                  </a:solidFill>
                  <a:latin typeface="Calibri"/>
                </a:endParaRPr>
              </a:p>
            </p:txBody>
          </p:sp>
          <p:sp>
            <p:nvSpPr>
              <p:cNvPr id="72" name="Oval 24"/>
              <p:cNvSpPr>
                <a:spLocks noChangeArrowheads="1"/>
              </p:cNvSpPr>
              <p:nvPr/>
            </p:nvSpPr>
            <p:spPr bwMode="auto">
              <a:xfrm>
                <a:off x="2985002" y="2940918"/>
                <a:ext cx="171668" cy="130175"/>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GB" noProof="0" dirty="0">
                  <a:solidFill>
                    <a:srgbClr val="4F81BD">
                      <a:lumMod val="50000"/>
                    </a:srgbClr>
                  </a:solidFill>
                  <a:latin typeface="Calibri"/>
                </a:endParaRPr>
              </a:p>
            </p:txBody>
          </p:sp>
          <p:sp>
            <p:nvSpPr>
              <p:cNvPr id="44058" name="Rectangle 25"/>
              <p:cNvSpPr>
                <a:spLocks noChangeArrowheads="1"/>
              </p:cNvSpPr>
              <p:nvPr/>
            </p:nvSpPr>
            <p:spPr bwMode="auto">
              <a:xfrm>
                <a:off x="1413069" y="3468143"/>
                <a:ext cx="473343" cy="29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GB" sz="1800" noProof="0" dirty="0">
                    <a:solidFill>
                      <a:srgbClr val="254061"/>
                    </a:solidFill>
                    <a:latin typeface="Arial" charset="0"/>
                  </a:rPr>
                  <a:t>ω 2</a:t>
                </a:r>
              </a:p>
            </p:txBody>
          </p:sp>
          <p:sp>
            <p:nvSpPr>
              <p:cNvPr id="44059" name="Rectangle 28"/>
              <p:cNvSpPr>
                <a:spLocks noChangeArrowheads="1"/>
              </p:cNvSpPr>
              <p:nvPr/>
            </p:nvSpPr>
            <p:spPr bwMode="auto">
              <a:xfrm>
                <a:off x="1413069" y="2835328"/>
                <a:ext cx="440699" cy="29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GB" sz="1800" noProof="0" dirty="0">
                    <a:solidFill>
                      <a:srgbClr val="254061"/>
                    </a:solidFill>
                    <a:latin typeface="Arial" charset="0"/>
                  </a:rPr>
                  <a:t>x2*</a:t>
                </a:r>
              </a:p>
            </p:txBody>
          </p:sp>
          <p:sp>
            <p:nvSpPr>
              <p:cNvPr id="77" name="Prostokąt 76"/>
              <p:cNvSpPr/>
              <p:nvPr/>
            </p:nvSpPr>
            <p:spPr bwMode="auto">
              <a:xfrm>
                <a:off x="3098898" y="4417293"/>
                <a:ext cx="798916" cy="746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GB" noProof="0" dirty="0">
                  <a:solidFill>
                    <a:srgbClr val="4F81BD">
                      <a:lumMod val="50000"/>
                    </a:srgbClr>
                  </a:solidFill>
                  <a:latin typeface="Calibri"/>
                </a:endParaRPr>
              </a:p>
            </p:txBody>
          </p:sp>
          <p:sp>
            <p:nvSpPr>
              <p:cNvPr id="44041" name="Rectangle 25"/>
              <p:cNvSpPr>
                <a:spLocks noChangeArrowheads="1"/>
              </p:cNvSpPr>
              <p:nvPr/>
            </p:nvSpPr>
            <p:spPr bwMode="auto">
              <a:xfrm>
                <a:off x="3773315" y="4681427"/>
                <a:ext cx="418936" cy="29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GB" sz="1800" noProof="0" dirty="0">
                    <a:solidFill>
                      <a:srgbClr val="254061"/>
                    </a:solidFill>
                    <a:latin typeface="Arial" charset="0"/>
                  </a:rPr>
                  <a:t>ω1</a:t>
                </a:r>
              </a:p>
            </p:txBody>
          </p:sp>
          <p:sp>
            <p:nvSpPr>
              <p:cNvPr id="44042" name="Rectangle 28"/>
              <p:cNvSpPr>
                <a:spLocks noChangeArrowheads="1"/>
              </p:cNvSpPr>
              <p:nvPr/>
            </p:nvSpPr>
            <p:spPr bwMode="auto">
              <a:xfrm>
                <a:off x="2874291" y="4681427"/>
                <a:ext cx="440699" cy="29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GB" sz="1800" noProof="0" dirty="0">
                    <a:solidFill>
                      <a:srgbClr val="254061"/>
                    </a:solidFill>
                    <a:latin typeface="Arial" charset="0"/>
                  </a:rPr>
                  <a:t>x1*</a:t>
                </a:r>
              </a:p>
            </p:txBody>
          </p:sp>
          <p:sp>
            <p:nvSpPr>
              <p:cNvPr id="44043" name="Rectangle 5"/>
              <p:cNvSpPr>
                <a:spLocks noChangeArrowheads="1"/>
              </p:cNvSpPr>
              <p:nvPr/>
            </p:nvSpPr>
            <p:spPr bwMode="auto">
              <a:xfrm>
                <a:off x="5314874" y="4579060"/>
                <a:ext cx="364529" cy="29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GB" sz="1800" noProof="0" dirty="0">
                    <a:solidFill>
                      <a:srgbClr val="254061"/>
                    </a:solidFill>
                    <a:latin typeface="Arial" charset="0"/>
                  </a:rPr>
                  <a:t>x1</a:t>
                </a:r>
              </a:p>
            </p:txBody>
          </p:sp>
        </p:grpSp>
        <p:sp>
          <p:nvSpPr>
            <p:cNvPr id="3" name="Prostokąt 76">
              <a:extLst>
                <a:ext uri="{FF2B5EF4-FFF2-40B4-BE49-F238E27FC236}">
                  <a16:creationId xmlns:a16="http://schemas.microsoft.com/office/drawing/2014/main" id="{0468BA3F-8F3C-753C-8515-091F8D0F03F1}"/>
                </a:ext>
              </a:extLst>
            </p:cNvPr>
            <p:cNvSpPr/>
            <p:nvPr/>
          </p:nvSpPr>
          <p:spPr bwMode="auto">
            <a:xfrm rot="16200000">
              <a:off x="7122971" y="3945032"/>
              <a:ext cx="788307" cy="1190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GB" sz="1600" noProof="0" dirty="0">
                <a:solidFill>
                  <a:srgbClr val="4F81BD">
                    <a:lumMod val="50000"/>
                  </a:srgbClr>
                </a:solidFill>
                <a:latin typeface="Calibri"/>
              </a:endParaRPr>
            </a:p>
          </p:txBody>
        </p:sp>
      </p:grpSp>
      <p:sp>
        <p:nvSpPr>
          <p:cNvPr id="9" name="TextBox 8">
            <a:extLst>
              <a:ext uri="{FF2B5EF4-FFF2-40B4-BE49-F238E27FC236}">
                <a16:creationId xmlns:a16="http://schemas.microsoft.com/office/drawing/2014/main" id="{6EDB80BC-1ECD-40B3-9AB4-6A314C1F925A}"/>
              </a:ext>
            </a:extLst>
          </p:cNvPr>
          <p:cNvSpPr txBox="1"/>
          <p:nvPr/>
        </p:nvSpPr>
        <p:spPr>
          <a:xfrm>
            <a:off x="142836" y="1403706"/>
            <a:ext cx="6821148" cy="4893647"/>
          </a:xfrm>
          <a:prstGeom prst="rect">
            <a:avLst/>
          </a:prstGeom>
          <a:noFill/>
        </p:spPr>
        <p:txBody>
          <a:bodyPr wrap="square">
            <a:spAutoFit/>
          </a:bodyPr>
          <a:lstStyle/>
          <a:p>
            <a:pPr algn="just"/>
            <a:r>
              <a:rPr lang="en-GB" sz="2400" b="1" noProof="0" dirty="0">
                <a:solidFill>
                  <a:schemeClr val="accent5">
                    <a:lumMod val="50000"/>
                  </a:schemeClr>
                </a:solidFill>
              </a:rPr>
              <a:t>Given prices p</a:t>
            </a:r>
            <a:r>
              <a:rPr lang="en-GB" sz="2400" b="1" baseline="-25000" noProof="0" dirty="0">
                <a:solidFill>
                  <a:schemeClr val="accent5">
                    <a:lumMod val="50000"/>
                  </a:schemeClr>
                </a:solidFill>
              </a:rPr>
              <a:t>1</a:t>
            </a:r>
            <a:r>
              <a:rPr lang="en-GB" sz="2400" b="1" noProof="0" dirty="0">
                <a:solidFill>
                  <a:schemeClr val="accent5">
                    <a:lumMod val="50000"/>
                  </a:schemeClr>
                </a:solidFill>
              </a:rPr>
              <a:t>, p</a:t>
            </a:r>
            <a:r>
              <a:rPr lang="en-GB" sz="2400" b="1" baseline="-25000" noProof="0" dirty="0">
                <a:solidFill>
                  <a:schemeClr val="accent5">
                    <a:lumMod val="50000"/>
                  </a:schemeClr>
                </a:solidFill>
              </a:rPr>
              <a:t>2</a:t>
            </a:r>
            <a:r>
              <a:rPr lang="en-GB" sz="2400" b="1" noProof="0" dirty="0">
                <a:solidFill>
                  <a:schemeClr val="accent5">
                    <a:lumMod val="50000"/>
                  </a:schemeClr>
                </a:solidFill>
              </a:rPr>
              <a:t> and endowment ω = (ω</a:t>
            </a:r>
            <a:r>
              <a:rPr lang="en-GB" sz="2400" b="1" baseline="-25000" noProof="0" dirty="0">
                <a:solidFill>
                  <a:schemeClr val="accent5">
                    <a:lumMod val="50000"/>
                  </a:schemeClr>
                </a:solidFill>
              </a:rPr>
              <a:t>1</a:t>
            </a:r>
            <a:r>
              <a:rPr lang="en-GB" sz="2400" b="1" noProof="0" dirty="0">
                <a:solidFill>
                  <a:schemeClr val="accent5">
                    <a:lumMod val="50000"/>
                  </a:schemeClr>
                </a:solidFill>
              </a:rPr>
              <a:t>, ω</a:t>
            </a:r>
            <a:r>
              <a:rPr lang="en-GB" sz="2400" b="1" baseline="-25000" noProof="0" dirty="0">
                <a:solidFill>
                  <a:schemeClr val="accent5">
                    <a:lumMod val="50000"/>
                  </a:schemeClr>
                </a:solidFill>
              </a:rPr>
              <a:t>2</a:t>
            </a:r>
            <a:r>
              <a:rPr lang="en-GB" sz="2400" b="1" noProof="0" dirty="0">
                <a:solidFill>
                  <a:schemeClr val="accent5">
                    <a:lumMod val="50000"/>
                  </a:schemeClr>
                </a:solidFill>
              </a:rPr>
              <a:t>) the consumer chooses an optimal bundle (x</a:t>
            </a:r>
            <a:r>
              <a:rPr lang="en-GB" sz="2400" b="1" baseline="-25000" noProof="0" dirty="0">
                <a:solidFill>
                  <a:schemeClr val="accent5">
                    <a:lumMod val="50000"/>
                  </a:schemeClr>
                </a:solidFill>
              </a:rPr>
              <a:t>1</a:t>
            </a:r>
            <a:r>
              <a:rPr lang="en-GB" sz="2400" b="1" noProof="0" dirty="0">
                <a:solidFill>
                  <a:schemeClr val="accent5">
                    <a:lumMod val="50000"/>
                  </a:schemeClr>
                </a:solidFill>
              </a:rPr>
              <a:t>*, x</a:t>
            </a:r>
            <a:r>
              <a:rPr lang="en-GB" sz="2400" b="1" baseline="-25000" noProof="0" dirty="0">
                <a:solidFill>
                  <a:schemeClr val="accent5">
                    <a:lumMod val="50000"/>
                  </a:schemeClr>
                </a:solidFill>
              </a:rPr>
              <a:t>2</a:t>
            </a:r>
            <a:r>
              <a:rPr lang="en-GB" sz="2400" b="1" noProof="0" dirty="0">
                <a:solidFill>
                  <a:schemeClr val="accent5">
                    <a:lumMod val="50000"/>
                  </a:schemeClr>
                </a:solidFill>
              </a:rPr>
              <a:t>*).</a:t>
            </a:r>
          </a:p>
          <a:p>
            <a:pPr algn="just"/>
            <a:endParaRPr lang="en-GB" sz="2400" b="1" noProof="0" dirty="0">
              <a:solidFill>
                <a:schemeClr val="accent5">
                  <a:lumMod val="50000"/>
                </a:schemeClr>
              </a:solidFill>
            </a:endParaRPr>
          </a:p>
          <a:p>
            <a:pPr algn="just"/>
            <a:r>
              <a:rPr lang="en-GB" sz="2400" b="1" noProof="0" dirty="0">
                <a:solidFill>
                  <a:schemeClr val="accent5">
                    <a:lumMod val="50000"/>
                  </a:schemeClr>
                </a:solidFill>
              </a:rPr>
              <a:t>Define net demand (excess demand) for good i:</a:t>
            </a:r>
          </a:p>
          <a:p>
            <a:pPr algn="just"/>
            <a:r>
              <a:rPr lang="en-GB" sz="2400" b="1" noProof="0" dirty="0">
                <a:solidFill>
                  <a:schemeClr val="accent5">
                    <a:lumMod val="50000"/>
                  </a:schemeClr>
                </a:solidFill>
              </a:rPr>
              <a:t>z</a:t>
            </a:r>
            <a:r>
              <a:rPr lang="en-GB" sz="2400" b="1" baseline="-25000" noProof="0" dirty="0">
                <a:solidFill>
                  <a:schemeClr val="accent5">
                    <a:lumMod val="50000"/>
                  </a:schemeClr>
                </a:solidFill>
              </a:rPr>
              <a:t>i</a:t>
            </a:r>
            <a:r>
              <a:rPr lang="en-GB" sz="2400" b="1" noProof="0" dirty="0">
                <a:solidFill>
                  <a:schemeClr val="accent5">
                    <a:lumMod val="50000"/>
                  </a:schemeClr>
                </a:solidFill>
              </a:rPr>
              <a:t> = x</a:t>
            </a:r>
            <a:r>
              <a:rPr lang="en-GB" sz="2400" b="1" baseline="-25000" noProof="0" dirty="0">
                <a:solidFill>
                  <a:schemeClr val="accent5">
                    <a:lumMod val="50000"/>
                  </a:schemeClr>
                </a:solidFill>
              </a:rPr>
              <a:t>i</a:t>
            </a:r>
            <a:r>
              <a:rPr lang="en-GB" sz="2400" b="1" noProof="0" dirty="0">
                <a:solidFill>
                  <a:schemeClr val="accent5">
                    <a:lumMod val="50000"/>
                  </a:schemeClr>
                </a:solidFill>
              </a:rPr>
              <a:t>* − </a:t>
            </a:r>
            <a:r>
              <a:rPr lang="en-GB" sz="2400" b="1" noProof="0" dirty="0" err="1">
                <a:solidFill>
                  <a:schemeClr val="accent5">
                    <a:lumMod val="50000"/>
                  </a:schemeClr>
                </a:solidFill>
              </a:rPr>
              <a:t>ω</a:t>
            </a:r>
            <a:r>
              <a:rPr lang="en-GB" sz="2400" b="1" baseline="-25000" noProof="0" dirty="0" err="1">
                <a:solidFill>
                  <a:schemeClr val="accent5">
                    <a:lumMod val="50000"/>
                  </a:schemeClr>
                </a:solidFill>
              </a:rPr>
              <a:t>i</a:t>
            </a:r>
            <a:r>
              <a:rPr lang="en-GB" sz="2400" b="1" noProof="0" dirty="0">
                <a:solidFill>
                  <a:schemeClr val="accent5">
                    <a:lumMod val="50000"/>
                  </a:schemeClr>
                </a:solidFill>
              </a:rPr>
              <a:t>   for </a:t>
            </a:r>
            <a:r>
              <a:rPr lang="en-GB" sz="2400" b="1" noProof="0" dirty="0" err="1">
                <a:solidFill>
                  <a:schemeClr val="accent5">
                    <a:lumMod val="50000"/>
                  </a:schemeClr>
                </a:solidFill>
              </a:rPr>
              <a:t>i</a:t>
            </a:r>
            <a:r>
              <a:rPr lang="en-GB" sz="2400" b="1" noProof="0" dirty="0">
                <a:solidFill>
                  <a:schemeClr val="accent5">
                    <a:lumMod val="50000"/>
                  </a:schemeClr>
                </a:solidFill>
              </a:rPr>
              <a:t> = 1, 2</a:t>
            </a:r>
          </a:p>
          <a:p>
            <a:pPr algn="just"/>
            <a:endParaRPr lang="en-GB" sz="2400" b="1" noProof="0" dirty="0">
              <a:solidFill>
                <a:schemeClr val="accent5">
                  <a:lumMod val="50000"/>
                </a:schemeClr>
              </a:solidFill>
            </a:endParaRPr>
          </a:p>
          <a:p>
            <a:pPr algn="just"/>
            <a:r>
              <a:rPr lang="en-GB" sz="2400" b="1" noProof="0" dirty="0">
                <a:solidFill>
                  <a:schemeClr val="accent5">
                    <a:lumMod val="50000"/>
                  </a:schemeClr>
                </a:solidFill>
              </a:rPr>
              <a:t>If z</a:t>
            </a:r>
            <a:r>
              <a:rPr lang="en-GB" sz="2400" b="1" baseline="-25000" noProof="0" dirty="0">
                <a:solidFill>
                  <a:schemeClr val="accent5">
                    <a:lumMod val="50000"/>
                  </a:schemeClr>
                </a:solidFill>
              </a:rPr>
              <a:t>i</a:t>
            </a:r>
            <a:r>
              <a:rPr lang="en-GB" sz="2400" b="1" noProof="0" dirty="0">
                <a:solidFill>
                  <a:schemeClr val="accent5">
                    <a:lumMod val="50000"/>
                  </a:schemeClr>
                </a:solidFill>
              </a:rPr>
              <a:t> &gt; 0: the consumer is a net buyer of good </a:t>
            </a:r>
            <a:r>
              <a:rPr lang="en-GB" sz="2400" b="1" noProof="0" dirty="0" err="1">
                <a:solidFill>
                  <a:schemeClr val="accent5">
                    <a:lumMod val="50000"/>
                  </a:schemeClr>
                </a:solidFill>
              </a:rPr>
              <a:t>i</a:t>
            </a:r>
            <a:r>
              <a:rPr lang="en-GB" sz="2400" b="1" noProof="0" dirty="0">
                <a:solidFill>
                  <a:schemeClr val="accent5">
                    <a:lumMod val="50000"/>
                  </a:schemeClr>
                </a:solidFill>
              </a:rPr>
              <a:t> (demands z</a:t>
            </a:r>
            <a:r>
              <a:rPr lang="en-GB" sz="2400" b="1" baseline="-25000" noProof="0" dirty="0">
                <a:solidFill>
                  <a:schemeClr val="accent5">
                    <a:lumMod val="50000"/>
                  </a:schemeClr>
                </a:solidFill>
              </a:rPr>
              <a:t>i</a:t>
            </a:r>
            <a:r>
              <a:rPr lang="en-GB" sz="2400" b="1" noProof="0" dirty="0">
                <a:solidFill>
                  <a:schemeClr val="accent5">
                    <a:lumMod val="50000"/>
                  </a:schemeClr>
                </a:solidFill>
              </a:rPr>
              <a:t> units).</a:t>
            </a:r>
          </a:p>
          <a:p>
            <a:pPr algn="just"/>
            <a:r>
              <a:rPr lang="en-GB" sz="2400" b="1" noProof="0" dirty="0">
                <a:solidFill>
                  <a:schemeClr val="accent5">
                    <a:lumMod val="50000"/>
                  </a:schemeClr>
                </a:solidFill>
              </a:rPr>
              <a:t>If z</a:t>
            </a:r>
            <a:r>
              <a:rPr lang="en-GB" sz="2400" b="1" baseline="-25000" noProof="0" dirty="0">
                <a:solidFill>
                  <a:schemeClr val="accent5">
                    <a:lumMod val="50000"/>
                  </a:schemeClr>
                </a:solidFill>
              </a:rPr>
              <a:t>i</a:t>
            </a:r>
            <a:r>
              <a:rPr lang="en-GB" sz="2400" b="1" noProof="0" dirty="0">
                <a:solidFill>
                  <a:schemeClr val="accent5">
                    <a:lumMod val="50000"/>
                  </a:schemeClr>
                </a:solidFill>
              </a:rPr>
              <a:t> &lt; 0: the consumer is a net seller of good </a:t>
            </a:r>
            <a:r>
              <a:rPr lang="en-GB" sz="2400" b="1" noProof="0" dirty="0" err="1">
                <a:solidFill>
                  <a:schemeClr val="accent5">
                    <a:lumMod val="50000"/>
                  </a:schemeClr>
                </a:solidFill>
              </a:rPr>
              <a:t>i</a:t>
            </a:r>
            <a:r>
              <a:rPr lang="en-GB" sz="2400" b="1" noProof="0" dirty="0">
                <a:solidFill>
                  <a:schemeClr val="accent5">
                    <a:lumMod val="50000"/>
                  </a:schemeClr>
                </a:solidFill>
              </a:rPr>
              <a:t> (supplies −z</a:t>
            </a:r>
            <a:r>
              <a:rPr lang="en-GB" sz="2400" b="1" baseline="-25000" noProof="0" dirty="0">
                <a:solidFill>
                  <a:schemeClr val="accent5">
                    <a:lumMod val="50000"/>
                  </a:schemeClr>
                </a:solidFill>
              </a:rPr>
              <a:t>i</a:t>
            </a:r>
            <a:r>
              <a:rPr lang="en-GB" sz="2400" b="1" noProof="0" dirty="0">
                <a:solidFill>
                  <a:schemeClr val="accent5">
                    <a:lumMod val="50000"/>
                  </a:schemeClr>
                </a:solidFill>
              </a:rPr>
              <a:t>).</a:t>
            </a:r>
          </a:p>
          <a:p>
            <a:pPr algn="just"/>
            <a:endParaRPr lang="en-GB" sz="2400" b="1" noProof="0" dirty="0">
              <a:solidFill>
                <a:schemeClr val="accent5">
                  <a:lumMod val="50000"/>
                </a:schemeClr>
              </a:solidFill>
            </a:endParaRPr>
          </a:p>
          <a:p>
            <a:pPr algn="just"/>
            <a:r>
              <a:rPr lang="en-GB" sz="2400" b="1" noProof="0" dirty="0">
                <a:solidFill>
                  <a:schemeClr val="accent5">
                    <a:lumMod val="50000"/>
                  </a:schemeClr>
                </a:solidFill>
              </a:rPr>
              <a:t>On the diagram, the distance between </a:t>
            </a:r>
            <a:r>
              <a:rPr lang="en-GB" sz="2400" b="1" noProof="0" dirty="0" err="1">
                <a:solidFill>
                  <a:schemeClr val="accent5">
                    <a:lumMod val="50000"/>
                  </a:schemeClr>
                </a:solidFill>
              </a:rPr>
              <a:t>ω</a:t>
            </a:r>
            <a:r>
              <a:rPr lang="en-GB" sz="2400" b="1" baseline="-25000" noProof="0" dirty="0" err="1">
                <a:solidFill>
                  <a:schemeClr val="accent5">
                    <a:lumMod val="50000"/>
                  </a:schemeClr>
                </a:solidFill>
              </a:rPr>
              <a:t>i</a:t>
            </a:r>
            <a:r>
              <a:rPr lang="en-GB" sz="2400" b="1" noProof="0" dirty="0">
                <a:solidFill>
                  <a:schemeClr val="accent5">
                    <a:lumMod val="50000"/>
                  </a:schemeClr>
                </a:solidFill>
              </a:rPr>
              <a:t> and x</a:t>
            </a:r>
            <a:r>
              <a:rPr lang="en-GB" sz="2400" b="1" baseline="-25000" noProof="0" dirty="0">
                <a:solidFill>
                  <a:schemeClr val="accent5">
                    <a:lumMod val="50000"/>
                  </a:schemeClr>
                </a:solidFill>
              </a:rPr>
              <a:t>i</a:t>
            </a:r>
            <a:r>
              <a:rPr lang="en-GB" sz="2400" b="1" noProof="0" dirty="0">
                <a:solidFill>
                  <a:schemeClr val="accent5">
                    <a:lumMod val="50000"/>
                  </a:schemeClr>
                </a:solidFill>
              </a:rPr>
              <a:t>* shows z</a:t>
            </a:r>
            <a:r>
              <a:rPr lang="en-GB" sz="2400" b="1" baseline="-25000" noProof="0" dirty="0">
                <a:solidFill>
                  <a:schemeClr val="accent5">
                    <a:lumMod val="50000"/>
                  </a:schemeClr>
                </a:solidFill>
              </a:rPr>
              <a:t>i</a:t>
            </a:r>
            <a:r>
              <a:rPr lang="en-GB" sz="2400" b="1" noProof="0" dirty="0">
                <a:solidFill>
                  <a:schemeClr val="accent5">
                    <a:lumMod val="50000"/>
                  </a:schemeClr>
                </a:solidFill>
              </a:rPr>
              <a:t>.</a:t>
            </a:r>
          </a:p>
        </p:txBody>
      </p:sp>
      <p:sp>
        <p:nvSpPr>
          <p:cNvPr id="12" name="TextBox 11">
            <a:extLst>
              <a:ext uri="{FF2B5EF4-FFF2-40B4-BE49-F238E27FC236}">
                <a16:creationId xmlns:a16="http://schemas.microsoft.com/office/drawing/2014/main" id="{95D77F19-D769-9203-9813-F346A4B58087}"/>
              </a:ext>
            </a:extLst>
          </p:cNvPr>
          <p:cNvSpPr txBox="1"/>
          <p:nvPr/>
        </p:nvSpPr>
        <p:spPr>
          <a:xfrm>
            <a:off x="7793320" y="3549068"/>
            <a:ext cx="1148080" cy="369332"/>
          </a:xfrm>
          <a:prstGeom prst="rect">
            <a:avLst/>
          </a:prstGeom>
          <a:noFill/>
        </p:spPr>
        <p:txBody>
          <a:bodyPr wrap="square">
            <a:spAutoFit/>
          </a:bodyPr>
          <a:lstStyle/>
          <a:p>
            <a:r>
              <a:rPr lang="en-GB" noProof="0" dirty="0"/>
              <a:t>net buyer </a:t>
            </a:r>
          </a:p>
        </p:txBody>
      </p:sp>
      <p:sp>
        <p:nvSpPr>
          <p:cNvPr id="14" name="TextBox 13">
            <a:extLst>
              <a:ext uri="{FF2B5EF4-FFF2-40B4-BE49-F238E27FC236}">
                <a16:creationId xmlns:a16="http://schemas.microsoft.com/office/drawing/2014/main" id="{B68E0C70-0117-5FE6-B83C-41219ADD4640}"/>
              </a:ext>
            </a:extLst>
          </p:cNvPr>
          <p:cNvSpPr txBox="1"/>
          <p:nvPr/>
        </p:nvSpPr>
        <p:spPr>
          <a:xfrm>
            <a:off x="8940867" y="4638247"/>
            <a:ext cx="1075769" cy="369332"/>
          </a:xfrm>
          <a:prstGeom prst="rect">
            <a:avLst/>
          </a:prstGeom>
          <a:noFill/>
        </p:spPr>
        <p:txBody>
          <a:bodyPr wrap="square">
            <a:spAutoFit/>
          </a:bodyPr>
          <a:lstStyle/>
          <a:p>
            <a:r>
              <a:rPr lang="en-GB" noProof="0" dirty="0"/>
              <a:t>net seller </a:t>
            </a:r>
          </a:p>
        </p:txBody>
      </p:sp>
    </p:spTree>
    <p:extLst>
      <p:ext uri="{BB962C8B-B14F-4D97-AF65-F5344CB8AC3E}">
        <p14:creationId xmlns:p14="http://schemas.microsoft.com/office/powerpoint/2010/main" val="1189995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FE733-268A-6997-8CF1-CA7073DFFEA6}"/>
            </a:ext>
          </a:extLst>
        </p:cNvPr>
        <p:cNvGrpSpPr/>
        <p:nvPr/>
      </p:nvGrpSpPr>
      <p:grpSpPr>
        <a:xfrm>
          <a:off x="0" y="0"/>
          <a:ext cx="0" cy="0"/>
          <a:chOff x="0" y="0"/>
          <a:chExt cx="0" cy="0"/>
        </a:xfrm>
      </p:grpSpPr>
      <p:grpSp>
        <p:nvGrpSpPr>
          <p:cNvPr id="7170" name="Grupa 27">
            <a:extLst>
              <a:ext uri="{FF2B5EF4-FFF2-40B4-BE49-F238E27FC236}">
                <a16:creationId xmlns:a16="http://schemas.microsoft.com/office/drawing/2014/main" id="{A2E27A4F-02D5-91EE-3359-E983E88037A3}"/>
              </a:ext>
            </a:extLst>
          </p:cNvPr>
          <p:cNvGrpSpPr>
            <a:grpSpLocks/>
          </p:cNvGrpSpPr>
          <p:nvPr/>
        </p:nvGrpSpPr>
        <p:grpSpPr bwMode="auto">
          <a:xfrm>
            <a:off x="168292" y="1238879"/>
            <a:ext cx="4881972" cy="3208337"/>
            <a:chOff x="661988" y="1533524"/>
            <a:chExt cx="6841210" cy="4745039"/>
          </a:xfrm>
        </p:grpSpPr>
        <p:sp>
          <p:nvSpPr>
            <p:cNvPr id="4100" name="Line 3">
              <a:extLst>
                <a:ext uri="{FF2B5EF4-FFF2-40B4-BE49-F238E27FC236}">
                  <a16:creationId xmlns:a16="http://schemas.microsoft.com/office/drawing/2014/main" id="{283A0163-2743-817C-3AF1-6B3E08BF7C57}"/>
                </a:ext>
              </a:extLst>
            </p:cNvPr>
            <p:cNvSpPr>
              <a:spLocks noChangeShapeType="1"/>
            </p:cNvSpPr>
            <p:nvPr/>
          </p:nvSpPr>
          <p:spPr bwMode="auto">
            <a:xfrm>
              <a:off x="1547378" y="1939704"/>
              <a:ext cx="0" cy="3761283"/>
            </a:xfrm>
            <a:prstGeom prst="line">
              <a:avLst/>
            </a:prstGeom>
            <a:ln>
              <a:headEnd type="stealth" w="med" len="lg"/>
              <a:tailEnd type="none" w="sm" len="sm"/>
            </a:ln>
          </p:spPr>
          <p:style>
            <a:lnRef idx="3">
              <a:schemeClr val="dk1"/>
            </a:lnRef>
            <a:fillRef idx="0">
              <a:schemeClr val="dk1"/>
            </a:fillRef>
            <a:effectRef idx="2">
              <a:schemeClr val="dk1"/>
            </a:effectRef>
            <a:fontRef idx="minor">
              <a:schemeClr val="tx1"/>
            </a:fontRef>
          </p:style>
          <p:txBody>
            <a:bodyPr wrap="none" anchor="ctr"/>
            <a:lstStyle/>
            <a:p>
              <a:pPr algn="just">
                <a:defRPr/>
              </a:pPr>
              <a:endParaRPr lang="en-GB" b="1" noProof="0" dirty="0">
                <a:solidFill>
                  <a:schemeClr val="accent5">
                    <a:lumMod val="50000"/>
                  </a:schemeClr>
                </a:solidFill>
              </a:endParaRPr>
            </a:p>
          </p:txBody>
        </p:sp>
        <p:sp>
          <p:nvSpPr>
            <p:cNvPr id="4101" name="Line 4">
              <a:extLst>
                <a:ext uri="{FF2B5EF4-FFF2-40B4-BE49-F238E27FC236}">
                  <a16:creationId xmlns:a16="http://schemas.microsoft.com/office/drawing/2014/main" id="{738F721D-611B-6F88-47FD-875D466949B2}"/>
                </a:ext>
              </a:extLst>
            </p:cNvPr>
            <p:cNvSpPr>
              <a:spLocks noChangeShapeType="1"/>
            </p:cNvSpPr>
            <p:nvPr/>
          </p:nvSpPr>
          <p:spPr bwMode="auto">
            <a:xfrm>
              <a:off x="1409453" y="5548377"/>
              <a:ext cx="4571547" cy="0"/>
            </a:xfrm>
            <a:prstGeom prst="line">
              <a:avLst/>
            </a:prstGeom>
            <a:ln>
              <a:headEnd type="none" w="sm" len="sm"/>
              <a:tailEnd type="stealth" w="med" len="lg"/>
            </a:ln>
          </p:spPr>
          <p:style>
            <a:lnRef idx="3">
              <a:schemeClr val="dk1"/>
            </a:lnRef>
            <a:fillRef idx="0">
              <a:schemeClr val="dk1"/>
            </a:fillRef>
            <a:effectRef idx="2">
              <a:schemeClr val="dk1"/>
            </a:effectRef>
            <a:fontRef idx="minor">
              <a:schemeClr val="tx1"/>
            </a:fontRef>
          </p:style>
          <p:txBody>
            <a:bodyPr wrap="none" anchor="ctr"/>
            <a:lstStyle/>
            <a:p>
              <a:pPr algn="just">
                <a:defRPr/>
              </a:pPr>
              <a:endParaRPr lang="en-GB" b="1" noProof="0" dirty="0">
                <a:solidFill>
                  <a:schemeClr val="accent5">
                    <a:lumMod val="50000"/>
                  </a:schemeClr>
                </a:solidFill>
              </a:endParaRPr>
            </a:p>
          </p:txBody>
        </p:sp>
        <p:sp>
          <p:nvSpPr>
            <p:cNvPr id="4102" name="Line 5">
              <a:extLst>
                <a:ext uri="{FF2B5EF4-FFF2-40B4-BE49-F238E27FC236}">
                  <a16:creationId xmlns:a16="http://schemas.microsoft.com/office/drawing/2014/main" id="{C48A419C-B142-80B0-C5D3-0496B7F433F2}"/>
                </a:ext>
              </a:extLst>
            </p:cNvPr>
            <p:cNvSpPr>
              <a:spLocks noChangeShapeType="1"/>
            </p:cNvSpPr>
            <p:nvPr/>
          </p:nvSpPr>
          <p:spPr bwMode="auto">
            <a:xfrm>
              <a:off x="1540703" y="2289537"/>
              <a:ext cx="1704042" cy="3261187"/>
            </a:xfrm>
            <a:prstGeom prst="line">
              <a:avLst/>
            </a:prstGeom>
            <a:ln>
              <a:headEnd type="none" w="sm" len="sm"/>
              <a:tailEnd type="none" w="sm" len="sm"/>
            </a:ln>
          </p:spPr>
          <p:style>
            <a:lnRef idx="2">
              <a:schemeClr val="accent2"/>
            </a:lnRef>
            <a:fillRef idx="0">
              <a:schemeClr val="accent2"/>
            </a:fillRef>
            <a:effectRef idx="1">
              <a:schemeClr val="accent2"/>
            </a:effectRef>
            <a:fontRef idx="minor">
              <a:schemeClr val="tx1"/>
            </a:fontRef>
          </p:style>
          <p:txBody>
            <a:bodyPr wrap="none" anchor="ctr"/>
            <a:lstStyle/>
            <a:p>
              <a:pPr algn="just">
                <a:defRPr/>
              </a:pPr>
              <a:endParaRPr lang="en-GB" b="1" noProof="0" dirty="0">
                <a:solidFill>
                  <a:schemeClr val="accent5">
                    <a:lumMod val="50000"/>
                  </a:schemeClr>
                </a:solidFill>
              </a:endParaRPr>
            </a:p>
          </p:txBody>
        </p:sp>
        <p:sp>
          <p:nvSpPr>
            <p:cNvPr id="4103" name="Line 6">
              <a:extLst>
                <a:ext uri="{FF2B5EF4-FFF2-40B4-BE49-F238E27FC236}">
                  <a16:creationId xmlns:a16="http://schemas.microsoft.com/office/drawing/2014/main" id="{84DB2C1D-D4B4-67CF-20B9-01AE2C5497A0}"/>
                </a:ext>
              </a:extLst>
            </p:cNvPr>
            <p:cNvSpPr>
              <a:spLocks noChangeShapeType="1"/>
            </p:cNvSpPr>
            <p:nvPr/>
          </p:nvSpPr>
          <p:spPr bwMode="auto">
            <a:xfrm>
              <a:off x="2377152" y="3933044"/>
              <a:ext cx="0" cy="1603593"/>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104" name="Line 7">
              <a:extLst>
                <a:ext uri="{FF2B5EF4-FFF2-40B4-BE49-F238E27FC236}">
                  <a16:creationId xmlns:a16="http://schemas.microsoft.com/office/drawing/2014/main" id="{84E41035-697C-3098-7C3A-48AEDCB6C306}"/>
                </a:ext>
              </a:extLst>
            </p:cNvPr>
            <p:cNvSpPr>
              <a:spLocks noChangeShapeType="1"/>
            </p:cNvSpPr>
            <p:nvPr/>
          </p:nvSpPr>
          <p:spPr bwMode="auto">
            <a:xfrm flipH="1">
              <a:off x="1540703" y="3933044"/>
              <a:ext cx="836449" cy="0"/>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105" name="Rectangle 8">
              <a:extLst>
                <a:ext uri="{FF2B5EF4-FFF2-40B4-BE49-F238E27FC236}">
                  <a16:creationId xmlns:a16="http://schemas.microsoft.com/office/drawing/2014/main" id="{134B32EB-B6E5-89C3-B8E0-17FB758AED35}"/>
                </a:ext>
              </a:extLst>
            </p:cNvPr>
            <p:cNvSpPr>
              <a:spLocks noChangeArrowheads="1"/>
            </p:cNvSpPr>
            <p:nvPr/>
          </p:nvSpPr>
          <p:spPr bwMode="auto">
            <a:xfrm>
              <a:off x="1002351" y="1533524"/>
              <a:ext cx="518901" cy="547181"/>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2</a:t>
              </a:r>
            </a:p>
          </p:txBody>
        </p:sp>
        <p:sp>
          <p:nvSpPr>
            <p:cNvPr id="4106" name="Rectangle 9">
              <a:extLst>
                <a:ext uri="{FF2B5EF4-FFF2-40B4-BE49-F238E27FC236}">
                  <a16:creationId xmlns:a16="http://schemas.microsoft.com/office/drawing/2014/main" id="{88969BBB-D1E3-FF10-10DF-9E3EE46EE174}"/>
                </a:ext>
              </a:extLst>
            </p:cNvPr>
            <p:cNvSpPr>
              <a:spLocks noChangeArrowheads="1"/>
            </p:cNvSpPr>
            <p:nvPr/>
          </p:nvSpPr>
          <p:spPr bwMode="auto">
            <a:xfrm>
              <a:off x="5418177" y="5607073"/>
              <a:ext cx="518901" cy="547181"/>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1</a:t>
              </a:r>
            </a:p>
          </p:txBody>
        </p:sp>
        <p:sp>
          <p:nvSpPr>
            <p:cNvPr id="4108" name="Rectangle 11">
              <a:extLst>
                <a:ext uri="{FF2B5EF4-FFF2-40B4-BE49-F238E27FC236}">
                  <a16:creationId xmlns:a16="http://schemas.microsoft.com/office/drawing/2014/main" id="{8E965E98-8102-EEC0-C13A-9FC8B19CB828}"/>
                </a:ext>
              </a:extLst>
            </p:cNvPr>
            <p:cNvSpPr>
              <a:spLocks noChangeArrowheads="1"/>
            </p:cNvSpPr>
            <p:nvPr/>
          </p:nvSpPr>
          <p:spPr bwMode="auto">
            <a:xfrm>
              <a:off x="2152468" y="5578899"/>
              <a:ext cx="611000" cy="547181"/>
            </a:xfrm>
            <a:prstGeom prst="rect">
              <a:avLst/>
            </a:prstGeom>
            <a:noFill/>
            <a:ln w="9525">
              <a:noFill/>
              <a:miter lim="800000"/>
              <a:headEnd/>
              <a:tailEnd/>
            </a:ln>
          </p:spPr>
          <p:txBody>
            <a:bodyPr wrap="none" lIns="92075" tIns="46038" rIns="92075" bIns="46038">
              <a:spAutoFit/>
            </a:bodyPr>
            <a:lstStyle/>
            <a:p>
              <a:pPr algn="just">
                <a:defRPr/>
              </a:pPr>
              <a:r>
                <a:rPr lang="en-GB" b="1" i="1" noProof="0" dirty="0">
                  <a:solidFill>
                    <a:schemeClr val="accent5">
                      <a:lumMod val="50000"/>
                    </a:schemeClr>
                  </a:solidFill>
                </a:rPr>
                <a:t>w</a:t>
              </a:r>
              <a:r>
                <a:rPr lang="en-GB" b="1" baseline="-25000" noProof="0" dirty="0">
                  <a:solidFill>
                    <a:schemeClr val="accent5">
                      <a:lumMod val="50000"/>
                    </a:schemeClr>
                  </a:solidFill>
                </a:rPr>
                <a:t>1</a:t>
              </a:r>
            </a:p>
          </p:txBody>
        </p:sp>
        <p:sp>
          <p:nvSpPr>
            <p:cNvPr id="4110" name="Rectangle 13">
              <a:extLst>
                <a:ext uri="{FF2B5EF4-FFF2-40B4-BE49-F238E27FC236}">
                  <a16:creationId xmlns:a16="http://schemas.microsoft.com/office/drawing/2014/main" id="{5E8C0552-1C85-4E09-6FC3-55AEACD484EB}"/>
                </a:ext>
              </a:extLst>
            </p:cNvPr>
            <p:cNvSpPr>
              <a:spLocks noChangeArrowheads="1"/>
            </p:cNvSpPr>
            <p:nvPr/>
          </p:nvSpPr>
          <p:spPr bwMode="auto">
            <a:xfrm>
              <a:off x="953410" y="3658343"/>
              <a:ext cx="611000" cy="547181"/>
            </a:xfrm>
            <a:prstGeom prst="rect">
              <a:avLst/>
            </a:prstGeom>
            <a:noFill/>
            <a:ln w="9525">
              <a:noFill/>
              <a:miter lim="800000"/>
              <a:headEnd/>
              <a:tailEnd/>
            </a:ln>
          </p:spPr>
          <p:txBody>
            <a:bodyPr wrap="none" lIns="92075" tIns="46038" rIns="92075" bIns="46038">
              <a:spAutoFit/>
            </a:bodyPr>
            <a:lstStyle/>
            <a:p>
              <a:pPr algn="just">
                <a:defRPr/>
              </a:pPr>
              <a:r>
                <a:rPr lang="en-GB" b="1" i="1" noProof="0" dirty="0">
                  <a:solidFill>
                    <a:schemeClr val="accent5">
                      <a:lumMod val="50000"/>
                    </a:schemeClr>
                  </a:solidFill>
                </a:rPr>
                <a:t>w</a:t>
              </a:r>
              <a:r>
                <a:rPr lang="en-GB" b="1" baseline="-25000" noProof="0" dirty="0">
                  <a:solidFill>
                    <a:schemeClr val="accent5">
                      <a:lumMod val="50000"/>
                    </a:schemeClr>
                  </a:solidFill>
                </a:rPr>
                <a:t>2</a:t>
              </a:r>
            </a:p>
          </p:txBody>
        </p:sp>
        <p:graphicFrame>
          <p:nvGraphicFramePr>
            <p:cNvPr id="7204" name="Object 14">
              <a:extLst>
                <a:ext uri="{FF2B5EF4-FFF2-40B4-BE49-F238E27FC236}">
                  <a16:creationId xmlns:a16="http://schemas.microsoft.com/office/drawing/2014/main" id="{3894AA83-0848-AFA0-3564-C2B5326D50F5}"/>
                </a:ext>
              </a:extLst>
            </p:cNvPr>
            <p:cNvGraphicFramePr>
              <a:graphicFrameLocks/>
            </p:cNvGraphicFramePr>
            <p:nvPr/>
          </p:nvGraphicFramePr>
          <p:xfrm>
            <a:off x="2759115" y="3045295"/>
            <a:ext cx="4744083" cy="827402"/>
          </p:xfrm>
          <a:graphic>
            <a:graphicData uri="http://schemas.openxmlformats.org/presentationml/2006/ole">
              <mc:AlternateContent xmlns:mc="http://schemas.openxmlformats.org/markup-compatibility/2006">
                <mc:Choice xmlns:v="urn:schemas-microsoft-com:vml" Requires="v">
                  <p:oleObj name="Równanie" r:id="rId3" imgW="1668726" imgH="129609" progId="Equation.3">
                    <p:embed/>
                  </p:oleObj>
                </mc:Choice>
                <mc:Fallback>
                  <p:oleObj name="Równanie" r:id="rId3" imgW="1668726" imgH="129609" progId="Equation.3">
                    <p:embed/>
                    <p:pic>
                      <p:nvPicPr>
                        <p:cNvPr id="7204" name="Object 14">
                          <a:extLst>
                            <a:ext uri="{FF2B5EF4-FFF2-40B4-BE49-F238E27FC236}">
                              <a16:creationId xmlns:a16="http://schemas.microsoft.com/office/drawing/2014/main" id="{590DE0EC-90B2-A37A-FCB8-602F3131784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9115" y="3045295"/>
                          <a:ext cx="4744083" cy="827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12" name="Arc 16">
              <a:extLst>
                <a:ext uri="{FF2B5EF4-FFF2-40B4-BE49-F238E27FC236}">
                  <a16:creationId xmlns:a16="http://schemas.microsoft.com/office/drawing/2014/main" id="{395710C4-AF95-2811-9C44-F1D4A5B45334}"/>
                </a:ext>
              </a:extLst>
            </p:cNvPr>
            <p:cNvSpPr>
              <a:spLocks/>
            </p:cNvSpPr>
            <p:nvPr/>
          </p:nvSpPr>
          <p:spPr bwMode="auto">
            <a:xfrm rot="10800000">
              <a:off x="1694201" y="2547803"/>
              <a:ext cx="2378094" cy="1974556"/>
            </a:xfrm>
            <a:custGeom>
              <a:avLst/>
              <a:gdLst>
                <a:gd name="T0" fmla="*/ 79361 w 21575"/>
                <a:gd name="T1" fmla="*/ 0 h 21588"/>
                <a:gd name="T2" fmla="*/ 2378075 w 21575"/>
                <a:gd name="T3" fmla="*/ 1879620 h 21588"/>
                <a:gd name="T4" fmla="*/ 0 w 21575"/>
                <a:gd name="T5" fmla="*/ 1974850 h 21588"/>
                <a:gd name="T6" fmla="*/ 0 60000 65536"/>
                <a:gd name="T7" fmla="*/ 0 60000 65536"/>
                <a:gd name="T8" fmla="*/ 0 60000 65536"/>
                <a:gd name="T9" fmla="*/ 0 w 21575"/>
                <a:gd name="T10" fmla="*/ 0 h 21588"/>
                <a:gd name="T11" fmla="*/ 21575 w 21575"/>
                <a:gd name="T12" fmla="*/ 21588 h 21588"/>
              </a:gdLst>
              <a:ahLst/>
              <a:cxnLst>
                <a:cxn ang="T6">
                  <a:pos x="T0" y="T1"/>
                </a:cxn>
                <a:cxn ang="T7">
                  <a:pos x="T2" y="T3"/>
                </a:cxn>
                <a:cxn ang="T8">
                  <a:pos x="T4" y="T5"/>
                </a:cxn>
              </a:cxnLst>
              <a:rect l="T9" t="T10" r="T11" b="T12"/>
              <a:pathLst>
                <a:path w="21575" h="21588" fill="none" extrusionOk="0">
                  <a:moveTo>
                    <a:pt x="719" y="0"/>
                  </a:moveTo>
                  <a:cubicBezTo>
                    <a:pt x="11960" y="374"/>
                    <a:pt x="21032" y="9312"/>
                    <a:pt x="21574" y="20547"/>
                  </a:cubicBezTo>
                </a:path>
                <a:path w="21575" h="21588" stroke="0" extrusionOk="0">
                  <a:moveTo>
                    <a:pt x="719" y="0"/>
                  </a:moveTo>
                  <a:cubicBezTo>
                    <a:pt x="11960" y="374"/>
                    <a:pt x="21032" y="9312"/>
                    <a:pt x="21574" y="20547"/>
                  </a:cubicBezTo>
                  <a:lnTo>
                    <a:pt x="0" y="21588"/>
                  </a:lnTo>
                  <a:close/>
                </a:path>
              </a:pathLst>
            </a:custGeom>
            <a:noFill/>
            <a:ln w="25400" cap="rnd">
              <a:solidFill>
                <a:schemeClr val="accent3">
                  <a:lumMod val="50000"/>
                </a:schemeClr>
              </a:solidFill>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113" name="Arc 17">
              <a:extLst>
                <a:ext uri="{FF2B5EF4-FFF2-40B4-BE49-F238E27FC236}">
                  <a16:creationId xmlns:a16="http://schemas.microsoft.com/office/drawing/2014/main" id="{F233DF37-B7AD-D620-849C-933A02227F8D}"/>
                </a:ext>
              </a:extLst>
            </p:cNvPr>
            <p:cNvSpPr>
              <a:spLocks/>
            </p:cNvSpPr>
            <p:nvPr/>
          </p:nvSpPr>
          <p:spPr bwMode="auto">
            <a:xfrm rot="10800000">
              <a:off x="1798757" y="2310667"/>
              <a:ext cx="2378095" cy="1974557"/>
            </a:xfrm>
            <a:custGeom>
              <a:avLst/>
              <a:gdLst>
                <a:gd name="T0" fmla="*/ 79361 w 21575"/>
                <a:gd name="T1" fmla="*/ 0 h 21588"/>
                <a:gd name="T2" fmla="*/ 2378075 w 21575"/>
                <a:gd name="T3" fmla="*/ 1879620 h 21588"/>
                <a:gd name="T4" fmla="*/ 0 w 21575"/>
                <a:gd name="T5" fmla="*/ 1974850 h 21588"/>
                <a:gd name="T6" fmla="*/ 0 60000 65536"/>
                <a:gd name="T7" fmla="*/ 0 60000 65536"/>
                <a:gd name="T8" fmla="*/ 0 60000 65536"/>
                <a:gd name="T9" fmla="*/ 0 w 21575"/>
                <a:gd name="T10" fmla="*/ 0 h 21588"/>
                <a:gd name="T11" fmla="*/ 21575 w 21575"/>
                <a:gd name="T12" fmla="*/ 21588 h 21588"/>
              </a:gdLst>
              <a:ahLst/>
              <a:cxnLst>
                <a:cxn ang="T6">
                  <a:pos x="T0" y="T1"/>
                </a:cxn>
                <a:cxn ang="T7">
                  <a:pos x="T2" y="T3"/>
                </a:cxn>
                <a:cxn ang="T8">
                  <a:pos x="T4" y="T5"/>
                </a:cxn>
              </a:cxnLst>
              <a:rect l="T9" t="T10" r="T11" b="T12"/>
              <a:pathLst>
                <a:path w="21575" h="21588" fill="none" extrusionOk="0">
                  <a:moveTo>
                    <a:pt x="719" y="0"/>
                  </a:moveTo>
                  <a:cubicBezTo>
                    <a:pt x="11960" y="374"/>
                    <a:pt x="21032" y="9312"/>
                    <a:pt x="21574" y="20547"/>
                  </a:cubicBezTo>
                </a:path>
                <a:path w="21575" h="21588" stroke="0" extrusionOk="0">
                  <a:moveTo>
                    <a:pt x="719" y="0"/>
                  </a:moveTo>
                  <a:cubicBezTo>
                    <a:pt x="11960" y="374"/>
                    <a:pt x="21032" y="9312"/>
                    <a:pt x="21574" y="20547"/>
                  </a:cubicBezTo>
                  <a:lnTo>
                    <a:pt x="0" y="21588"/>
                  </a:lnTo>
                  <a:close/>
                </a:path>
              </a:pathLst>
            </a:custGeom>
            <a:noFill/>
            <a:ln w="25400" cap="rnd">
              <a:solidFill>
                <a:schemeClr val="accent3">
                  <a:lumMod val="50000"/>
                </a:schemeClr>
              </a:solidFill>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114" name="Line 18">
              <a:extLst>
                <a:ext uri="{FF2B5EF4-FFF2-40B4-BE49-F238E27FC236}">
                  <a16:creationId xmlns:a16="http://schemas.microsoft.com/office/drawing/2014/main" id="{05A14888-8685-CE82-F7C8-8658BD4DE450}"/>
                </a:ext>
              </a:extLst>
            </p:cNvPr>
            <p:cNvSpPr>
              <a:spLocks noChangeShapeType="1"/>
            </p:cNvSpPr>
            <p:nvPr/>
          </p:nvSpPr>
          <p:spPr bwMode="auto">
            <a:xfrm>
              <a:off x="1945580" y="3083116"/>
              <a:ext cx="0" cy="2467608"/>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115" name="Line 19">
              <a:extLst>
                <a:ext uri="{FF2B5EF4-FFF2-40B4-BE49-F238E27FC236}">
                  <a16:creationId xmlns:a16="http://schemas.microsoft.com/office/drawing/2014/main" id="{43B1EBDA-8FD4-A3EF-2E93-57B52538A25C}"/>
                </a:ext>
              </a:extLst>
            </p:cNvPr>
            <p:cNvSpPr>
              <a:spLocks noChangeShapeType="1"/>
            </p:cNvSpPr>
            <p:nvPr/>
          </p:nvSpPr>
          <p:spPr bwMode="auto">
            <a:xfrm flipH="1">
              <a:off x="1540703" y="3083116"/>
              <a:ext cx="404877" cy="0"/>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118" name="Rectangle 22">
              <a:extLst>
                <a:ext uri="{FF2B5EF4-FFF2-40B4-BE49-F238E27FC236}">
                  <a16:creationId xmlns:a16="http://schemas.microsoft.com/office/drawing/2014/main" id="{D0671EBF-B06B-20FB-FED8-717689529F90}"/>
                </a:ext>
              </a:extLst>
            </p:cNvPr>
            <p:cNvSpPr>
              <a:spLocks noChangeArrowheads="1"/>
            </p:cNvSpPr>
            <p:nvPr/>
          </p:nvSpPr>
          <p:spPr bwMode="auto">
            <a:xfrm>
              <a:off x="886672" y="2787285"/>
              <a:ext cx="685176" cy="547052"/>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2</a:t>
              </a:r>
              <a:r>
                <a:rPr lang="en-GB" b="1" noProof="0" dirty="0">
                  <a:solidFill>
                    <a:schemeClr val="accent5">
                      <a:lumMod val="50000"/>
                    </a:schemeClr>
                  </a:solidFill>
                </a:rPr>
                <a:t>*</a:t>
              </a:r>
            </a:p>
          </p:txBody>
        </p:sp>
        <p:sp>
          <p:nvSpPr>
            <p:cNvPr id="4119" name="Rectangle 23">
              <a:extLst>
                <a:ext uri="{FF2B5EF4-FFF2-40B4-BE49-F238E27FC236}">
                  <a16:creationId xmlns:a16="http://schemas.microsoft.com/office/drawing/2014/main" id="{B8176449-1F96-8FC9-4139-B84DE5725847}"/>
                </a:ext>
              </a:extLst>
            </p:cNvPr>
            <p:cNvSpPr>
              <a:spLocks noChangeArrowheads="1"/>
            </p:cNvSpPr>
            <p:nvPr/>
          </p:nvSpPr>
          <p:spPr bwMode="auto">
            <a:xfrm>
              <a:off x="1649709" y="5574203"/>
              <a:ext cx="685176" cy="547054"/>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1</a:t>
              </a:r>
              <a:r>
                <a:rPr lang="en-GB" b="1" noProof="0" dirty="0">
                  <a:solidFill>
                    <a:schemeClr val="accent5">
                      <a:lumMod val="50000"/>
                    </a:schemeClr>
                  </a:solidFill>
                </a:rPr>
                <a:t>*</a:t>
              </a:r>
            </a:p>
          </p:txBody>
        </p:sp>
        <p:sp>
          <p:nvSpPr>
            <p:cNvPr id="4120" name="AutoShape 24">
              <a:extLst>
                <a:ext uri="{FF2B5EF4-FFF2-40B4-BE49-F238E27FC236}">
                  <a16:creationId xmlns:a16="http://schemas.microsoft.com/office/drawing/2014/main" id="{A9CD82CF-5377-807D-A0D0-4D3EF7B780CB}"/>
                </a:ext>
              </a:extLst>
            </p:cNvPr>
            <p:cNvSpPr>
              <a:spLocks noChangeArrowheads="1"/>
            </p:cNvSpPr>
            <p:nvPr/>
          </p:nvSpPr>
          <p:spPr bwMode="auto">
            <a:xfrm>
              <a:off x="661988" y="3090159"/>
              <a:ext cx="233582" cy="838189"/>
            </a:xfrm>
            <a:prstGeom prst="upArrow">
              <a:avLst>
                <a:gd name="adj1" fmla="val 50000"/>
                <a:gd name="adj2" fmla="val 179576"/>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just">
                <a:defRPr/>
              </a:pPr>
              <a:endParaRPr lang="en-GB" b="1" noProof="0" dirty="0">
                <a:solidFill>
                  <a:schemeClr val="accent5">
                    <a:lumMod val="50000"/>
                  </a:schemeClr>
                </a:solidFill>
              </a:endParaRPr>
            </a:p>
          </p:txBody>
        </p:sp>
        <p:sp>
          <p:nvSpPr>
            <p:cNvPr id="4121" name="AutoShape 25">
              <a:extLst>
                <a:ext uri="{FF2B5EF4-FFF2-40B4-BE49-F238E27FC236}">
                  <a16:creationId xmlns:a16="http://schemas.microsoft.com/office/drawing/2014/main" id="{428EEFB9-56D2-B8C2-5D8B-CF09D1DEA801}"/>
                </a:ext>
              </a:extLst>
            </p:cNvPr>
            <p:cNvSpPr>
              <a:spLocks noChangeArrowheads="1"/>
            </p:cNvSpPr>
            <p:nvPr/>
          </p:nvSpPr>
          <p:spPr bwMode="auto">
            <a:xfrm>
              <a:off x="1952254" y="6046125"/>
              <a:ext cx="413775" cy="232438"/>
            </a:xfrm>
            <a:prstGeom prst="leftArrow">
              <a:avLst>
                <a:gd name="adj1" fmla="val 50000"/>
                <a:gd name="adj2" fmla="val 8903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just">
                <a:defRPr/>
              </a:pPr>
              <a:endParaRPr lang="en-GB" b="1" noProof="0" dirty="0">
                <a:solidFill>
                  <a:schemeClr val="accent5">
                    <a:lumMod val="50000"/>
                  </a:schemeClr>
                </a:solidFill>
              </a:endParaRPr>
            </a:p>
          </p:txBody>
        </p:sp>
        <p:sp>
          <p:nvSpPr>
            <p:cNvPr id="4123" name="Oval 27">
              <a:extLst>
                <a:ext uri="{FF2B5EF4-FFF2-40B4-BE49-F238E27FC236}">
                  <a16:creationId xmlns:a16="http://schemas.microsoft.com/office/drawing/2014/main" id="{AA35A4D7-8206-2A1E-7175-917C018FA599}"/>
                </a:ext>
              </a:extLst>
            </p:cNvPr>
            <p:cNvSpPr>
              <a:spLocks noChangeArrowheads="1"/>
            </p:cNvSpPr>
            <p:nvPr/>
          </p:nvSpPr>
          <p:spPr bwMode="auto">
            <a:xfrm>
              <a:off x="1925559" y="2993897"/>
              <a:ext cx="122352" cy="140872"/>
            </a:xfrm>
            <a:prstGeom prst="ellipse">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algn="just">
                <a:defRPr/>
              </a:pPr>
              <a:endParaRPr lang="en-GB" b="1" noProof="0" dirty="0">
                <a:solidFill>
                  <a:schemeClr val="accent5">
                    <a:lumMod val="50000"/>
                  </a:schemeClr>
                </a:solidFill>
              </a:endParaRPr>
            </a:p>
          </p:txBody>
        </p:sp>
        <p:sp>
          <p:nvSpPr>
            <p:cNvPr id="4111" name="Oval 15">
              <a:extLst>
                <a:ext uri="{FF2B5EF4-FFF2-40B4-BE49-F238E27FC236}">
                  <a16:creationId xmlns:a16="http://schemas.microsoft.com/office/drawing/2014/main" id="{B5EAF307-022D-DD4B-C695-85599B3DF78D}"/>
                </a:ext>
              </a:extLst>
            </p:cNvPr>
            <p:cNvSpPr>
              <a:spLocks noChangeArrowheads="1"/>
            </p:cNvSpPr>
            <p:nvPr/>
          </p:nvSpPr>
          <p:spPr bwMode="auto">
            <a:xfrm>
              <a:off x="2341558" y="3879043"/>
              <a:ext cx="151273" cy="157308"/>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just">
                <a:defRPr/>
              </a:pPr>
              <a:endParaRPr lang="en-GB" b="1" noProof="0" dirty="0">
                <a:solidFill>
                  <a:schemeClr val="accent5">
                    <a:lumMod val="50000"/>
                  </a:schemeClr>
                </a:solidFill>
              </a:endParaRPr>
            </a:p>
          </p:txBody>
        </p:sp>
      </p:grpSp>
      <p:grpSp>
        <p:nvGrpSpPr>
          <p:cNvPr id="7172" name="Grupa 29">
            <a:extLst>
              <a:ext uri="{FF2B5EF4-FFF2-40B4-BE49-F238E27FC236}">
                <a16:creationId xmlns:a16="http://schemas.microsoft.com/office/drawing/2014/main" id="{65987C27-F4C3-41BD-A184-2EEA45F28235}"/>
              </a:ext>
            </a:extLst>
          </p:cNvPr>
          <p:cNvGrpSpPr>
            <a:grpSpLocks/>
          </p:cNvGrpSpPr>
          <p:nvPr/>
        </p:nvGrpSpPr>
        <p:grpSpPr bwMode="auto">
          <a:xfrm>
            <a:off x="6302358" y="1223797"/>
            <a:ext cx="4629557" cy="3751263"/>
            <a:chOff x="701675" y="1533525"/>
            <a:chExt cx="5722741" cy="4792663"/>
          </a:xfrm>
        </p:grpSpPr>
        <p:sp>
          <p:nvSpPr>
            <p:cNvPr id="31" name="Line 3">
              <a:extLst>
                <a:ext uri="{FF2B5EF4-FFF2-40B4-BE49-F238E27FC236}">
                  <a16:creationId xmlns:a16="http://schemas.microsoft.com/office/drawing/2014/main" id="{A80041C9-82F3-5B1C-9FF7-AE631BB529D4}"/>
                </a:ext>
              </a:extLst>
            </p:cNvPr>
            <p:cNvSpPr>
              <a:spLocks noChangeShapeType="1"/>
            </p:cNvSpPr>
            <p:nvPr/>
          </p:nvSpPr>
          <p:spPr bwMode="auto">
            <a:xfrm>
              <a:off x="1547452" y="1894547"/>
              <a:ext cx="0" cy="3762332"/>
            </a:xfrm>
            <a:prstGeom prst="line">
              <a:avLst/>
            </a:prstGeom>
            <a:ln>
              <a:headEnd type="stealth" w="med" len="lg"/>
              <a:tailEnd type="none" w="sm" len="sm"/>
            </a:ln>
          </p:spPr>
          <p:style>
            <a:lnRef idx="3">
              <a:schemeClr val="dk1"/>
            </a:lnRef>
            <a:fillRef idx="0">
              <a:schemeClr val="dk1"/>
            </a:fillRef>
            <a:effectRef idx="2">
              <a:schemeClr val="dk1"/>
            </a:effectRef>
            <a:fontRef idx="minor">
              <a:schemeClr val="tx1"/>
            </a:fontRef>
          </p:style>
          <p:txBody>
            <a:bodyPr wrap="none" anchor="ctr"/>
            <a:lstStyle/>
            <a:p>
              <a:pPr algn="just">
                <a:defRPr/>
              </a:pPr>
              <a:endParaRPr lang="en-GB" b="1" noProof="0" dirty="0">
                <a:solidFill>
                  <a:schemeClr val="accent5">
                    <a:lumMod val="50000"/>
                  </a:schemeClr>
                </a:solidFill>
              </a:endParaRPr>
            </a:p>
          </p:txBody>
        </p:sp>
        <p:sp>
          <p:nvSpPr>
            <p:cNvPr id="32" name="Line 4">
              <a:extLst>
                <a:ext uri="{FF2B5EF4-FFF2-40B4-BE49-F238E27FC236}">
                  <a16:creationId xmlns:a16="http://schemas.microsoft.com/office/drawing/2014/main" id="{A4C9715B-4263-8C43-DD35-43C1A7A13DA6}"/>
                </a:ext>
              </a:extLst>
            </p:cNvPr>
            <p:cNvSpPr>
              <a:spLocks noChangeShapeType="1"/>
            </p:cNvSpPr>
            <p:nvPr/>
          </p:nvSpPr>
          <p:spPr bwMode="auto">
            <a:xfrm>
              <a:off x="1425786" y="5539242"/>
              <a:ext cx="4572295" cy="0"/>
            </a:xfrm>
            <a:prstGeom prst="line">
              <a:avLst/>
            </a:prstGeom>
            <a:ln>
              <a:headEnd type="none" w="sm" len="sm"/>
              <a:tailEnd type="stealth" w="med" len="lg"/>
            </a:ln>
          </p:spPr>
          <p:style>
            <a:lnRef idx="3">
              <a:schemeClr val="dk1"/>
            </a:lnRef>
            <a:fillRef idx="0">
              <a:schemeClr val="dk1"/>
            </a:fillRef>
            <a:effectRef idx="2">
              <a:schemeClr val="dk1"/>
            </a:effectRef>
            <a:fontRef idx="minor">
              <a:schemeClr val="tx1"/>
            </a:fontRef>
          </p:style>
          <p:txBody>
            <a:bodyPr wrap="none" anchor="ctr"/>
            <a:lstStyle/>
            <a:p>
              <a:pPr algn="just">
                <a:defRPr/>
              </a:pPr>
              <a:endParaRPr lang="en-GB" b="1" noProof="0" dirty="0">
                <a:solidFill>
                  <a:schemeClr val="accent5">
                    <a:lumMod val="50000"/>
                  </a:schemeClr>
                </a:solidFill>
              </a:endParaRPr>
            </a:p>
          </p:txBody>
        </p:sp>
        <p:sp>
          <p:nvSpPr>
            <p:cNvPr id="33" name="Line 5">
              <a:extLst>
                <a:ext uri="{FF2B5EF4-FFF2-40B4-BE49-F238E27FC236}">
                  <a16:creationId xmlns:a16="http://schemas.microsoft.com/office/drawing/2014/main" id="{EEF5FB11-23BB-3D22-A605-0760837D378C}"/>
                </a:ext>
              </a:extLst>
            </p:cNvPr>
            <p:cNvSpPr>
              <a:spLocks noChangeShapeType="1"/>
            </p:cNvSpPr>
            <p:nvPr/>
          </p:nvSpPr>
          <p:spPr bwMode="auto">
            <a:xfrm>
              <a:off x="2377529" y="3932899"/>
              <a:ext cx="0" cy="1602287"/>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34" name="Line 6">
              <a:extLst>
                <a:ext uri="{FF2B5EF4-FFF2-40B4-BE49-F238E27FC236}">
                  <a16:creationId xmlns:a16="http://schemas.microsoft.com/office/drawing/2014/main" id="{414F5B83-17D2-841F-A484-D87375875108}"/>
                </a:ext>
              </a:extLst>
            </p:cNvPr>
            <p:cNvSpPr>
              <a:spLocks noChangeShapeType="1"/>
            </p:cNvSpPr>
            <p:nvPr/>
          </p:nvSpPr>
          <p:spPr bwMode="auto">
            <a:xfrm flipH="1">
              <a:off x="1541564" y="3932899"/>
              <a:ext cx="835965" cy="0"/>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35" name="Rectangle 7">
              <a:extLst>
                <a:ext uri="{FF2B5EF4-FFF2-40B4-BE49-F238E27FC236}">
                  <a16:creationId xmlns:a16="http://schemas.microsoft.com/office/drawing/2014/main" id="{D13D9D71-3B2D-9968-43A1-725584159B20}"/>
                </a:ext>
              </a:extLst>
            </p:cNvPr>
            <p:cNvSpPr>
              <a:spLocks noChangeArrowheads="1"/>
            </p:cNvSpPr>
            <p:nvPr/>
          </p:nvSpPr>
          <p:spPr bwMode="auto">
            <a:xfrm>
              <a:off x="1003878" y="1533525"/>
              <a:ext cx="457732" cy="472684"/>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2</a:t>
              </a:r>
            </a:p>
          </p:txBody>
        </p:sp>
        <p:sp>
          <p:nvSpPr>
            <p:cNvPr id="36" name="Rectangle 8">
              <a:extLst>
                <a:ext uri="{FF2B5EF4-FFF2-40B4-BE49-F238E27FC236}">
                  <a16:creationId xmlns:a16="http://schemas.microsoft.com/office/drawing/2014/main" id="{C5656709-D977-D99E-987A-8A925E32C8D8}"/>
                </a:ext>
              </a:extLst>
            </p:cNvPr>
            <p:cNvSpPr>
              <a:spLocks noChangeArrowheads="1"/>
            </p:cNvSpPr>
            <p:nvPr/>
          </p:nvSpPr>
          <p:spPr bwMode="auto">
            <a:xfrm>
              <a:off x="5966684" y="5606172"/>
              <a:ext cx="457732" cy="472684"/>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1</a:t>
              </a:r>
            </a:p>
          </p:txBody>
        </p:sp>
        <p:sp>
          <p:nvSpPr>
            <p:cNvPr id="38" name="Rectangle 10">
              <a:extLst>
                <a:ext uri="{FF2B5EF4-FFF2-40B4-BE49-F238E27FC236}">
                  <a16:creationId xmlns:a16="http://schemas.microsoft.com/office/drawing/2014/main" id="{7C00EB4D-3DAC-BD40-C6E9-1793E03C61A2}"/>
                </a:ext>
              </a:extLst>
            </p:cNvPr>
            <p:cNvSpPr>
              <a:spLocks noChangeArrowheads="1"/>
            </p:cNvSpPr>
            <p:nvPr/>
          </p:nvSpPr>
          <p:spPr bwMode="auto">
            <a:xfrm>
              <a:off x="2151859" y="5577778"/>
              <a:ext cx="538974" cy="472684"/>
            </a:xfrm>
            <a:prstGeom prst="rect">
              <a:avLst/>
            </a:prstGeom>
            <a:noFill/>
            <a:ln w="9525">
              <a:noFill/>
              <a:miter lim="800000"/>
              <a:headEnd/>
              <a:tailEnd/>
            </a:ln>
          </p:spPr>
          <p:txBody>
            <a:bodyPr wrap="none" lIns="92075" tIns="46038" rIns="92075" bIns="46038">
              <a:spAutoFit/>
            </a:bodyPr>
            <a:lstStyle/>
            <a:p>
              <a:pPr algn="just">
                <a:defRPr/>
              </a:pPr>
              <a:r>
                <a:rPr lang="en-GB" b="1" i="1" noProof="0" dirty="0">
                  <a:solidFill>
                    <a:schemeClr val="accent5">
                      <a:lumMod val="50000"/>
                    </a:schemeClr>
                  </a:solidFill>
                </a:rPr>
                <a:t>w</a:t>
              </a:r>
              <a:r>
                <a:rPr lang="en-GB" b="1" baseline="-25000" noProof="0" dirty="0">
                  <a:solidFill>
                    <a:schemeClr val="accent5">
                      <a:lumMod val="50000"/>
                    </a:schemeClr>
                  </a:solidFill>
                </a:rPr>
                <a:t>1</a:t>
              </a:r>
            </a:p>
          </p:txBody>
        </p:sp>
        <p:sp>
          <p:nvSpPr>
            <p:cNvPr id="40" name="Rectangle 12">
              <a:extLst>
                <a:ext uri="{FF2B5EF4-FFF2-40B4-BE49-F238E27FC236}">
                  <a16:creationId xmlns:a16="http://schemas.microsoft.com/office/drawing/2014/main" id="{2B7E1877-32D9-2BC7-FCAA-3FC76CE1F1C4}"/>
                </a:ext>
              </a:extLst>
            </p:cNvPr>
            <p:cNvSpPr>
              <a:spLocks noChangeArrowheads="1"/>
            </p:cNvSpPr>
            <p:nvPr/>
          </p:nvSpPr>
          <p:spPr bwMode="auto">
            <a:xfrm>
              <a:off x="954820" y="3659090"/>
              <a:ext cx="538974" cy="472684"/>
            </a:xfrm>
            <a:prstGeom prst="rect">
              <a:avLst/>
            </a:prstGeom>
            <a:noFill/>
            <a:ln w="9525">
              <a:noFill/>
              <a:miter lim="800000"/>
              <a:headEnd/>
              <a:tailEnd/>
            </a:ln>
          </p:spPr>
          <p:txBody>
            <a:bodyPr wrap="none" lIns="92075" tIns="46038" rIns="92075" bIns="46038">
              <a:spAutoFit/>
            </a:bodyPr>
            <a:lstStyle/>
            <a:p>
              <a:pPr algn="just">
                <a:defRPr/>
              </a:pPr>
              <a:r>
                <a:rPr lang="en-GB" b="1" i="1" noProof="0" dirty="0">
                  <a:solidFill>
                    <a:schemeClr val="accent5">
                      <a:lumMod val="50000"/>
                    </a:schemeClr>
                  </a:solidFill>
                </a:rPr>
                <a:t>w</a:t>
              </a:r>
              <a:r>
                <a:rPr lang="en-GB" b="1" baseline="-25000" noProof="0" dirty="0">
                  <a:solidFill>
                    <a:schemeClr val="accent5">
                      <a:lumMod val="50000"/>
                    </a:schemeClr>
                  </a:solidFill>
                </a:rPr>
                <a:t>2</a:t>
              </a:r>
            </a:p>
          </p:txBody>
        </p:sp>
        <p:sp>
          <p:nvSpPr>
            <p:cNvPr id="41" name="Line 13">
              <a:extLst>
                <a:ext uri="{FF2B5EF4-FFF2-40B4-BE49-F238E27FC236}">
                  <a16:creationId xmlns:a16="http://schemas.microsoft.com/office/drawing/2014/main" id="{E03187F9-A103-906D-A738-B9A7983D4267}"/>
                </a:ext>
              </a:extLst>
            </p:cNvPr>
            <p:cNvSpPr>
              <a:spLocks noChangeShapeType="1"/>
            </p:cNvSpPr>
            <p:nvPr/>
          </p:nvSpPr>
          <p:spPr bwMode="auto">
            <a:xfrm>
              <a:off x="1555302" y="3644893"/>
              <a:ext cx="4487913" cy="1559694"/>
            </a:xfrm>
            <a:prstGeom prst="line">
              <a:avLst/>
            </a:prstGeom>
            <a:noFill/>
            <a:ln w="25400">
              <a:solidFill>
                <a:schemeClr val="hlink"/>
              </a:solidFill>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3" name="Arc 15">
              <a:extLst>
                <a:ext uri="{FF2B5EF4-FFF2-40B4-BE49-F238E27FC236}">
                  <a16:creationId xmlns:a16="http://schemas.microsoft.com/office/drawing/2014/main" id="{B07E233D-4955-A14A-E535-B1A3FAEA77A4}"/>
                </a:ext>
              </a:extLst>
            </p:cNvPr>
            <p:cNvSpPr>
              <a:spLocks/>
            </p:cNvSpPr>
            <p:nvPr/>
          </p:nvSpPr>
          <p:spPr bwMode="auto">
            <a:xfrm rot="10800000">
              <a:off x="1694628" y="2547630"/>
              <a:ext cx="2376417" cy="1975477"/>
            </a:xfrm>
            <a:custGeom>
              <a:avLst/>
              <a:gdLst>
                <a:gd name="T0" fmla="*/ 79361 w 21575"/>
                <a:gd name="T1" fmla="*/ 0 h 21588"/>
                <a:gd name="T2" fmla="*/ 2378075 w 21575"/>
                <a:gd name="T3" fmla="*/ 1879620 h 21588"/>
                <a:gd name="T4" fmla="*/ 0 w 21575"/>
                <a:gd name="T5" fmla="*/ 1974850 h 21588"/>
                <a:gd name="T6" fmla="*/ 0 60000 65536"/>
                <a:gd name="T7" fmla="*/ 0 60000 65536"/>
                <a:gd name="T8" fmla="*/ 0 60000 65536"/>
                <a:gd name="T9" fmla="*/ 0 w 21575"/>
                <a:gd name="T10" fmla="*/ 0 h 21588"/>
                <a:gd name="T11" fmla="*/ 21575 w 21575"/>
                <a:gd name="T12" fmla="*/ 21588 h 21588"/>
              </a:gdLst>
              <a:ahLst/>
              <a:cxnLst>
                <a:cxn ang="T6">
                  <a:pos x="T0" y="T1"/>
                </a:cxn>
                <a:cxn ang="T7">
                  <a:pos x="T2" y="T3"/>
                </a:cxn>
                <a:cxn ang="T8">
                  <a:pos x="T4" y="T5"/>
                </a:cxn>
              </a:cxnLst>
              <a:rect l="T9" t="T10" r="T11" b="T12"/>
              <a:pathLst>
                <a:path w="21575" h="21588" fill="none" extrusionOk="0">
                  <a:moveTo>
                    <a:pt x="719" y="0"/>
                  </a:moveTo>
                  <a:cubicBezTo>
                    <a:pt x="11960" y="374"/>
                    <a:pt x="21032" y="9312"/>
                    <a:pt x="21574" y="20547"/>
                  </a:cubicBezTo>
                </a:path>
                <a:path w="21575" h="21588" stroke="0" extrusionOk="0">
                  <a:moveTo>
                    <a:pt x="719" y="0"/>
                  </a:moveTo>
                  <a:cubicBezTo>
                    <a:pt x="11960" y="374"/>
                    <a:pt x="21032" y="9312"/>
                    <a:pt x="21574" y="20547"/>
                  </a:cubicBezTo>
                  <a:lnTo>
                    <a:pt x="0" y="21588"/>
                  </a:lnTo>
                  <a:close/>
                </a:path>
              </a:pathLst>
            </a:custGeom>
            <a:noFill/>
            <a:ln w="25400" cap="rnd">
              <a:solidFill>
                <a:schemeClr val="accent3">
                  <a:lumMod val="50000"/>
                </a:schemeClr>
              </a:solidFill>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4" name="Arc 16">
              <a:extLst>
                <a:ext uri="{FF2B5EF4-FFF2-40B4-BE49-F238E27FC236}">
                  <a16:creationId xmlns:a16="http://schemas.microsoft.com/office/drawing/2014/main" id="{BE08E444-E473-AB43-C0F6-51E1DE59772B}"/>
                </a:ext>
              </a:extLst>
            </p:cNvPr>
            <p:cNvSpPr>
              <a:spLocks/>
            </p:cNvSpPr>
            <p:nvPr/>
          </p:nvSpPr>
          <p:spPr bwMode="auto">
            <a:xfrm rot="10800000">
              <a:off x="1798634" y="2409712"/>
              <a:ext cx="2378379" cy="1975477"/>
            </a:xfrm>
            <a:custGeom>
              <a:avLst/>
              <a:gdLst>
                <a:gd name="T0" fmla="*/ 79361 w 21575"/>
                <a:gd name="T1" fmla="*/ 0 h 21588"/>
                <a:gd name="T2" fmla="*/ 2378075 w 21575"/>
                <a:gd name="T3" fmla="*/ 1879620 h 21588"/>
                <a:gd name="T4" fmla="*/ 0 w 21575"/>
                <a:gd name="T5" fmla="*/ 1974850 h 21588"/>
                <a:gd name="T6" fmla="*/ 0 60000 65536"/>
                <a:gd name="T7" fmla="*/ 0 60000 65536"/>
                <a:gd name="T8" fmla="*/ 0 60000 65536"/>
                <a:gd name="T9" fmla="*/ 0 w 21575"/>
                <a:gd name="T10" fmla="*/ 0 h 21588"/>
                <a:gd name="T11" fmla="*/ 21575 w 21575"/>
                <a:gd name="T12" fmla="*/ 21588 h 21588"/>
              </a:gdLst>
              <a:ahLst/>
              <a:cxnLst>
                <a:cxn ang="T6">
                  <a:pos x="T0" y="T1"/>
                </a:cxn>
                <a:cxn ang="T7">
                  <a:pos x="T2" y="T3"/>
                </a:cxn>
                <a:cxn ang="T8">
                  <a:pos x="T4" y="T5"/>
                </a:cxn>
              </a:cxnLst>
              <a:rect l="T9" t="T10" r="T11" b="T12"/>
              <a:pathLst>
                <a:path w="21575" h="21588" fill="none" extrusionOk="0">
                  <a:moveTo>
                    <a:pt x="719" y="0"/>
                  </a:moveTo>
                  <a:cubicBezTo>
                    <a:pt x="11960" y="374"/>
                    <a:pt x="21032" y="9312"/>
                    <a:pt x="21574" y="20547"/>
                  </a:cubicBezTo>
                </a:path>
                <a:path w="21575" h="21588" stroke="0" extrusionOk="0">
                  <a:moveTo>
                    <a:pt x="719" y="0"/>
                  </a:moveTo>
                  <a:cubicBezTo>
                    <a:pt x="11960" y="374"/>
                    <a:pt x="21032" y="9312"/>
                    <a:pt x="21574" y="20547"/>
                  </a:cubicBezTo>
                  <a:lnTo>
                    <a:pt x="0" y="21588"/>
                  </a:lnTo>
                  <a:close/>
                </a:path>
              </a:pathLst>
            </a:custGeom>
            <a:noFill/>
            <a:ln w="25400" cap="rnd">
              <a:solidFill>
                <a:schemeClr val="accent3">
                  <a:lumMod val="50000"/>
                </a:schemeClr>
              </a:solidFill>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5" name="Line 17">
              <a:extLst>
                <a:ext uri="{FF2B5EF4-FFF2-40B4-BE49-F238E27FC236}">
                  <a16:creationId xmlns:a16="http://schemas.microsoft.com/office/drawing/2014/main" id="{85A03850-3136-EBCB-5347-E4F12FEAE1BF}"/>
                </a:ext>
              </a:extLst>
            </p:cNvPr>
            <p:cNvSpPr>
              <a:spLocks noChangeShapeType="1"/>
            </p:cNvSpPr>
            <p:nvPr/>
          </p:nvSpPr>
          <p:spPr bwMode="auto">
            <a:xfrm>
              <a:off x="3288064" y="4251328"/>
              <a:ext cx="0" cy="1283858"/>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6" name="Line 18">
              <a:extLst>
                <a:ext uri="{FF2B5EF4-FFF2-40B4-BE49-F238E27FC236}">
                  <a16:creationId xmlns:a16="http://schemas.microsoft.com/office/drawing/2014/main" id="{1D99FB33-4B32-B273-0137-90E1A9F743EB}"/>
                </a:ext>
              </a:extLst>
            </p:cNvPr>
            <p:cNvSpPr>
              <a:spLocks noChangeShapeType="1"/>
            </p:cNvSpPr>
            <p:nvPr/>
          </p:nvSpPr>
          <p:spPr bwMode="auto">
            <a:xfrm flipH="1">
              <a:off x="1541564" y="4251328"/>
              <a:ext cx="1746499" cy="0"/>
            </a:xfrm>
            <a:prstGeom prst="line">
              <a:avLst/>
            </a:prstGeom>
            <a:noFill/>
            <a:ln w="12700">
              <a:solidFill>
                <a:schemeClr val="tx1"/>
              </a:solidFill>
              <a:prstDash val="dash"/>
              <a:round/>
              <a:headEnd type="none" w="sm" len="sm"/>
              <a:tailEnd type="none" w="sm" len="sm"/>
            </a:ln>
          </p:spPr>
          <p:txBody>
            <a:bodyPr wrap="none" anchor="ctr"/>
            <a:lstStyle/>
            <a:p>
              <a:pPr algn="just">
                <a:defRPr/>
              </a:pPr>
              <a:endParaRPr lang="en-GB" b="1" noProof="0" dirty="0">
                <a:solidFill>
                  <a:schemeClr val="accent5">
                    <a:lumMod val="50000"/>
                  </a:schemeClr>
                </a:solidFill>
              </a:endParaRPr>
            </a:p>
          </p:txBody>
        </p:sp>
        <p:sp>
          <p:nvSpPr>
            <p:cNvPr id="49" name="Rectangle 21">
              <a:extLst>
                <a:ext uri="{FF2B5EF4-FFF2-40B4-BE49-F238E27FC236}">
                  <a16:creationId xmlns:a16="http://schemas.microsoft.com/office/drawing/2014/main" id="{FCB19FAF-3B9C-3945-7AA8-7ECF478F2706}"/>
                </a:ext>
              </a:extLst>
            </p:cNvPr>
            <p:cNvSpPr>
              <a:spLocks noChangeArrowheads="1"/>
            </p:cNvSpPr>
            <p:nvPr/>
          </p:nvSpPr>
          <p:spPr bwMode="auto">
            <a:xfrm>
              <a:off x="888100" y="4058648"/>
              <a:ext cx="604406" cy="472573"/>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2</a:t>
              </a:r>
              <a:r>
                <a:rPr lang="en-GB" b="1" noProof="0" dirty="0">
                  <a:solidFill>
                    <a:schemeClr val="accent5">
                      <a:lumMod val="50000"/>
                    </a:schemeClr>
                  </a:solidFill>
                </a:rPr>
                <a:t>*</a:t>
              </a:r>
            </a:p>
          </p:txBody>
        </p:sp>
        <p:sp>
          <p:nvSpPr>
            <p:cNvPr id="50" name="Rectangle 22">
              <a:extLst>
                <a:ext uri="{FF2B5EF4-FFF2-40B4-BE49-F238E27FC236}">
                  <a16:creationId xmlns:a16="http://schemas.microsoft.com/office/drawing/2014/main" id="{2DDBB3C8-32A3-35AF-9769-2E358D21FD9A}"/>
                </a:ext>
              </a:extLst>
            </p:cNvPr>
            <p:cNvSpPr>
              <a:spLocks noChangeArrowheads="1"/>
            </p:cNvSpPr>
            <p:nvPr/>
          </p:nvSpPr>
          <p:spPr bwMode="auto">
            <a:xfrm>
              <a:off x="3048656" y="5573721"/>
              <a:ext cx="604406" cy="472574"/>
            </a:xfrm>
            <a:prstGeom prst="rect">
              <a:avLst/>
            </a:prstGeom>
            <a:noFill/>
            <a:ln w="9525">
              <a:noFill/>
              <a:miter lim="800000"/>
              <a:headEnd/>
              <a:tailEnd/>
            </a:ln>
          </p:spPr>
          <p:txBody>
            <a:bodyPr wrap="none" lIns="92075" tIns="46038" rIns="92075" bIns="46038">
              <a:spAutoFit/>
            </a:bodyPr>
            <a:lstStyle/>
            <a:p>
              <a:pPr algn="just">
                <a:defRPr/>
              </a:pPr>
              <a:r>
                <a:rPr lang="en-GB" b="1" noProof="0" dirty="0">
                  <a:solidFill>
                    <a:schemeClr val="accent5">
                      <a:lumMod val="50000"/>
                    </a:schemeClr>
                  </a:solidFill>
                </a:rPr>
                <a:t>x</a:t>
              </a:r>
              <a:r>
                <a:rPr lang="en-GB" b="1" baseline="-25000" noProof="0" dirty="0">
                  <a:solidFill>
                    <a:schemeClr val="accent5">
                      <a:lumMod val="50000"/>
                    </a:schemeClr>
                  </a:solidFill>
                </a:rPr>
                <a:t>1</a:t>
              </a:r>
              <a:r>
                <a:rPr lang="en-GB" b="1" noProof="0" dirty="0">
                  <a:solidFill>
                    <a:schemeClr val="accent5">
                      <a:lumMod val="50000"/>
                    </a:schemeClr>
                  </a:solidFill>
                </a:rPr>
                <a:t>*</a:t>
              </a:r>
            </a:p>
          </p:txBody>
        </p:sp>
        <p:sp>
          <p:nvSpPr>
            <p:cNvPr id="51" name="AutoShape 23">
              <a:extLst>
                <a:ext uri="{FF2B5EF4-FFF2-40B4-BE49-F238E27FC236}">
                  <a16:creationId xmlns:a16="http://schemas.microsoft.com/office/drawing/2014/main" id="{583BBAD1-D5D7-3AC0-E7D1-0E4637E14179}"/>
                </a:ext>
              </a:extLst>
            </p:cNvPr>
            <p:cNvSpPr>
              <a:spLocks noChangeArrowheads="1"/>
            </p:cNvSpPr>
            <p:nvPr/>
          </p:nvSpPr>
          <p:spPr bwMode="auto">
            <a:xfrm>
              <a:off x="701675" y="3955209"/>
              <a:ext cx="253145" cy="304232"/>
            </a:xfrm>
            <a:prstGeom prst="downArrow">
              <a:avLst>
                <a:gd name="adj1" fmla="val 50000"/>
                <a:gd name="adj2" fmla="val 6038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just">
                <a:defRPr/>
              </a:pPr>
              <a:endParaRPr lang="en-GB" b="1" noProof="0" dirty="0">
                <a:solidFill>
                  <a:schemeClr val="accent5">
                    <a:lumMod val="50000"/>
                  </a:schemeClr>
                </a:solidFill>
              </a:endParaRPr>
            </a:p>
          </p:txBody>
        </p:sp>
        <p:sp>
          <p:nvSpPr>
            <p:cNvPr id="52" name="AutoShape 24">
              <a:extLst>
                <a:ext uri="{FF2B5EF4-FFF2-40B4-BE49-F238E27FC236}">
                  <a16:creationId xmlns:a16="http://schemas.microsoft.com/office/drawing/2014/main" id="{8D8DB105-5494-D4BE-A38A-86DBCF2B5221}"/>
                </a:ext>
              </a:extLst>
            </p:cNvPr>
            <p:cNvSpPr>
              <a:spLocks noChangeArrowheads="1"/>
            </p:cNvSpPr>
            <p:nvPr/>
          </p:nvSpPr>
          <p:spPr bwMode="auto">
            <a:xfrm>
              <a:off x="2401078" y="6058464"/>
              <a:ext cx="894836" cy="267724"/>
            </a:xfrm>
            <a:prstGeom prst="rightArrow">
              <a:avLst>
                <a:gd name="adj1" fmla="val 50000"/>
                <a:gd name="adj2" fmla="val 166879"/>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just">
                <a:defRPr/>
              </a:pPr>
              <a:endParaRPr lang="en-GB" b="1" noProof="0" dirty="0">
                <a:solidFill>
                  <a:schemeClr val="accent5">
                    <a:lumMod val="50000"/>
                  </a:schemeClr>
                </a:solidFill>
              </a:endParaRPr>
            </a:p>
          </p:txBody>
        </p:sp>
        <p:sp>
          <p:nvSpPr>
            <p:cNvPr id="53" name="Oval 26">
              <a:extLst>
                <a:ext uri="{FF2B5EF4-FFF2-40B4-BE49-F238E27FC236}">
                  <a16:creationId xmlns:a16="http://schemas.microsoft.com/office/drawing/2014/main" id="{215008C4-F39E-008E-C70D-F65E293587FB}"/>
                </a:ext>
              </a:extLst>
            </p:cNvPr>
            <p:cNvSpPr>
              <a:spLocks noChangeArrowheads="1"/>
            </p:cNvSpPr>
            <p:nvPr/>
          </p:nvSpPr>
          <p:spPr bwMode="auto">
            <a:xfrm>
              <a:off x="2283336" y="3829460"/>
              <a:ext cx="147178" cy="164286"/>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just">
                <a:defRPr/>
              </a:pPr>
              <a:endParaRPr lang="en-GB" b="1" noProof="0" dirty="0">
                <a:solidFill>
                  <a:schemeClr val="accent5">
                    <a:lumMod val="50000"/>
                  </a:schemeClr>
                </a:solidFill>
              </a:endParaRPr>
            </a:p>
          </p:txBody>
        </p:sp>
        <p:sp>
          <p:nvSpPr>
            <p:cNvPr id="54" name="Oval 27">
              <a:extLst>
                <a:ext uri="{FF2B5EF4-FFF2-40B4-BE49-F238E27FC236}">
                  <a16:creationId xmlns:a16="http://schemas.microsoft.com/office/drawing/2014/main" id="{778D42E2-FC25-D953-2B8C-3DC8322000BB}"/>
                </a:ext>
              </a:extLst>
            </p:cNvPr>
            <p:cNvSpPr>
              <a:spLocks noChangeArrowheads="1"/>
            </p:cNvSpPr>
            <p:nvPr/>
          </p:nvSpPr>
          <p:spPr bwMode="auto">
            <a:xfrm>
              <a:off x="3215457" y="4153973"/>
              <a:ext cx="139327" cy="141975"/>
            </a:xfrm>
            <a:prstGeom prst="ellipse">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pPr algn="just">
                <a:defRPr/>
              </a:pPr>
              <a:endParaRPr lang="en-GB" b="1" noProof="0" dirty="0">
                <a:solidFill>
                  <a:schemeClr val="accent5">
                    <a:lumMod val="50000"/>
                  </a:schemeClr>
                </a:solidFill>
              </a:endParaRPr>
            </a:p>
          </p:txBody>
        </p:sp>
      </p:grpSp>
      <p:graphicFrame>
        <p:nvGraphicFramePr>
          <p:cNvPr id="7173" name="Object 29">
            <a:extLst>
              <a:ext uri="{FF2B5EF4-FFF2-40B4-BE49-F238E27FC236}">
                <a16:creationId xmlns:a16="http://schemas.microsoft.com/office/drawing/2014/main" id="{69CC5C38-B225-3376-8CCB-08AED14E4790}"/>
              </a:ext>
            </a:extLst>
          </p:cNvPr>
          <p:cNvGraphicFramePr>
            <a:graphicFrameLocks/>
          </p:cNvGraphicFramePr>
          <p:nvPr/>
        </p:nvGraphicFramePr>
        <p:xfrm>
          <a:off x="7972375" y="2249321"/>
          <a:ext cx="3476625" cy="471488"/>
        </p:xfrm>
        <a:graphic>
          <a:graphicData uri="http://schemas.openxmlformats.org/presentationml/2006/ole">
            <mc:AlternateContent xmlns:mc="http://schemas.openxmlformats.org/markup-compatibility/2006">
              <mc:Choice xmlns:v="urn:schemas-microsoft-com:vml" Requires="v">
                <p:oleObj name="Równanie" r:id="rId5" imgW="1767983" imgH="129609" progId="Equation.3">
                  <p:embed/>
                </p:oleObj>
              </mc:Choice>
              <mc:Fallback>
                <p:oleObj name="Równanie" r:id="rId5" imgW="1767983" imgH="129609" progId="Equation.3">
                  <p:embed/>
                  <p:pic>
                    <p:nvPicPr>
                      <p:cNvPr id="7173" name="Object 29">
                        <a:extLst>
                          <a:ext uri="{FF2B5EF4-FFF2-40B4-BE49-F238E27FC236}">
                            <a16:creationId xmlns:a16="http://schemas.microsoft.com/office/drawing/2014/main" id="{3B06C744-9EFF-38F7-E801-0C0D75397E2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2375" y="2249321"/>
                        <a:ext cx="347662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 name="pole tekstowe 55">
            <a:extLst>
              <a:ext uri="{FF2B5EF4-FFF2-40B4-BE49-F238E27FC236}">
                <a16:creationId xmlns:a16="http://schemas.microsoft.com/office/drawing/2014/main" id="{EEB67A56-8A83-380E-98F8-87381983E616}"/>
              </a:ext>
            </a:extLst>
          </p:cNvPr>
          <p:cNvSpPr txBox="1"/>
          <p:nvPr/>
        </p:nvSpPr>
        <p:spPr>
          <a:xfrm>
            <a:off x="7961279" y="1203772"/>
            <a:ext cx="5052980" cy="92333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just">
              <a:defRPr/>
            </a:pPr>
            <a:r>
              <a:rPr lang="en-GB" b="1" noProof="0" dirty="0">
                <a:solidFill>
                  <a:schemeClr val="accent5">
                    <a:lumMod val="50000"/>
                  </a:schemeClr>
                </a:solidFill>
              </a:rPr>
              <a:t>Case 2: net buyer of x2, net seller of x1:</a:t>
            </a:r>
          </a:p>
          <a:p>
            <a:pPr algn="just">
              <a:defRPr/>
            </a:pPr>
            <a:r>
              <a:rPr lang="en-GB" b="1" noProof="0" dirty="0">
                <a:solidFill>
                  <a:schemeClr val="accent5">
                    <a:lumMod val="50000"/>
                  </a:schemeClr>
                </a:solidFill>
              </a:rPr>
              <a:t>    z2 = x2* − ω2 &gt; 0  (buys x2)</a:t>
            </a:r>
          </a:p>
          <a:p>
            <a:pPr algn="just">
              <a:defRPr/>
            </a:pPr>
            <a:r>
              <a:rPr lang="en-GB" b="1" noProof="0" dirty="0">
                <a:solidFill>
                  <a:schemeClr val="accent5">
                    <a:lumMod val="50000"/>
                  </a:schemeClr>
                </a:solidFill>
              </a:rPr>
              <a:t>    z1 = x1* − ω1 &lt; 0  (sells x1)</a:t>
            </a:r>
          </a:p>
        </p:txBody>
      </p:sp>
      <p:sp>
        <p:nvSpPr>
          <p:cNvPr id="57" name="pole tekstowe 56">
            <a:extLst>
              <a:ext uri="{FF2B5EF4-FFF2-40B4-BE49-F238E27FC236}">
                <a16:creationId xmlns:a16="http://schemas.microsoft.com/office/drawing/2014/main" id="{EE41AE18-0576-A597-E78B-18B7B26E1217}"/>
              </a:ext>
            </a:extLst>
          </p:cNvPr>
          <p:cNvSpPr txBox="1"/>
          <p:nvPr/>
        </p:nvSpPr>
        <p:spPr>
          <a:xfrm>
            <a:off x="1505125" y="1234539"/>
            <a:ext cx="4067001" cy="92333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just">
              <a:defRPr/>
            </a:pPr>
            <a:r>
              <a:rPr lang="en-GB" b="1" noProof="0" dirty="0">
                <a:solidFill>
                  <a:schemeClr val="accent5">
                    <a:lumMod val="50000"/>
                  </a:schemeClr>
                </a:solidFill>
              </a:rPr>
              <a:t>Case 1: net buyer of x1, net seller of x2:</a:t>
            </a:r>
          </a:p>
          <a:p>
            <a:pPr algn="just">
              <a:defRPr/>
            </a:pPr>
            <a:r>
              <a:rPr lang="en-GB" b="1" noProof="0" dirty="0">
                <a:solidFill>
                  <a:schemeClr val="accent5">
                    <a:lumMod val="50000"/>
                  </a:schemeClr>
                </a:solidFill>
              </a:rPr>
              <a:t>    z1 = x1* − ω1 &gt; 0  (buys x1)</a:t>
            </a:r>
          </a:p>
          <a:p>
            <a:pPr algn="just">
              <a:defRPr/>
            </a:pPr>
            <a:r>
              <a:rPr lang="en-GB" b="1" noProof="0" dirty="0">
                <a:solidFill>
                  <a:schemeClr val="accent5">
                    <a:lumMod val="50000"/>
                  </a:schemeClr>
                </a:solidFill>
              </a:rPr>
              <a:t>    z2 = x2* − ω2 &lt; 0  (sells x2)</a:t>
            </a:r>
          </a:p>
        </p:txBody>
      </p:sp>
      <p:sp>
        <p:nvSpPr>
          <p:cNvPr id="3" name="TextShape 1">
            <a:extLst>
              <a:ext uri="{FF2B5EF4-FFF2-40B4-BE49-F238E27FC236}">
                <a16:creationId xmlns:a16="http://schemas.microsoft.com/office/drawing/2014/main" id="{6D9BD123-1CF7-6A8B-52A0-03A9E91632DF}"/>
              </a:ext>
            </a:extLst>
          </p:cNvPr>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Net buyer / net seller cases </a:t>
            </a:r>
            <a:endParaRPr lang="en-GB" sz="2400" b="1" i="1" noProof="0" dirty="0">
              <a:solidFill>
                <a:prstClr val="black"/>
              </a:solidFill>
            </a:endParaRPr>
          </a:p>
        </p:txBody>
      </p:sp>
      <p:sp>
        <p:nvSpPr>
          <p:cNvPr id="5" name="TextBox 4">
            <a:extLst>
              <a:ext uri="{FF2B5EF4-FFF2-40B4-BE49-F238E27FC236}">
                <a16:creationId xmlns:a16="http://schemas.microsoft.com/office/drawing/2014/main" id="{DE8F43B0-2D11-8E3F-6163-5D59890AB237}"/>
              </a:ext>
            </a:extLst>
          </p:cNvPr>
          <p:cNvSpPr txBox="1"/>
          <p:nvPr/>
        </p:nvSpPr>
        <p:spPr>
          <a:xfrm>
            <a:off x="411179" y="5464804"/>
            <a:ext cx="11099146" cy="954107"/>
          </a:xfrm>
          <a:prstGeom prst="rect">
            <a:avLst/>
          </a:prstGeom>
          <a:noFill/>
        </p:spPr>
        <p:txBody>
          <a:bodyPr wrap="square">
            <a:spAutoFit/>
          </a:bodyPr>
          <a:lstStyle/>
          <a:p>
            <a:pPr algn="just"/>
            <a:r>
              <a:rPr lang="en-GB" sz="2800" b="1" noProof="0" dirty="0">
                <a:solidFill>
                  <a:schemeClr val="accent5">
                    <a:lumMod val="50000"/>
                  </a:schemeClr>
                </a:solidFill>
              </a:rPr>
              <a:t>This is how individual demand and supply are generated from </a:t>
            </a:r>
            <a:r>
              <a:rPr lang="en-GB" sz="2800" b="1" noProof="0" dirty="0">
                <a:solidFill>
                  <a:schemeClr val="accent5">
                    <a:lumMod val="50000"/>
                  </a:schemeClr>
                </a:solidFill>
                <a:sym typeface="Wingdings" panose="05000000000000000000" pitchFamily="2" charset="2"/>
              </a:rPr>
              <a:t> </a:t>
            </a:r>
            <a:r>
              <a:rPr lang="en-GB" sz="2800" b="1" noProof="0" dirty="0">
                <a:solidFill>
                  <a:schemeClr val="accent5">
                    <a:lumMod val="50000"/>
                  </a:schemeClr>
                </a:solidFill>
              </a:rPr>
              <a:t> </a:t>
            </a:r>
          </a:p>
          <a:p>
            <a:pPr algn="just"/>
            <a:r>
              <a:rPr lang="en-GB" sz="2800" b="1" noProof="0" dirty="0">
                <a:solidFill>
                  <a:schemeClr val="accent5">
                    <a:lumMod val="50000"/>
                  </a:schemeClr>
                </a:solidFill>
              </a:rPr>
              <a:t>One optimization problem with an endowment.</a:t>
            </a:r>
          </a:p>
        </p:txBody>
      </p:sp>
    </p:spTree>
    <p:extLst>
      <p:ext uri="{BB962C8B-B14F-4D97-AF65-F5344CB8AC3E}">
        <p14:creationId xmlns:p14="http://schemas.microsoft.com/office/powerpoint/2010/main" val="1393147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Shape 1">
            <a:extLst>
              <a:ext uri="{FF2B5EF4-FFF2-40B4-BE49-F238E27FC236}">
                <a16:creationId xmlns:a16="http://schemas.microsoft.com/office/drawing/2014/main" id="{66882647-19ED-9E5A-FC75-1109681849A0}"/>
              </a:ext>
            </a:extLst>
          </p:cNvPr>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From micro to macro: many markets</a:t>
            </a:r>
            <a:endParaRPr lang="en-GB" sz="2400" b="1" i="1" noProof="0" dirty="0">
              <a:solidFill>
                <a:prstClr val="black"/>
              </a:solidFill>
            </a:endParaRPr>
          </a:p>
        </p:txBody>
      </p:sp>
      <p:sp>
        <p:nvSpPr>
          <p:cNvPr id="5" name="TextBox 4">
            <a:extLst>
              <a:ext uri="{FF2B5EF4-FFF2-40B4-BE49-F238E27FC236}">
                <a16:creationId xmlns:a16="http://schemas.microsoft.com/office/drawing/2014/main" id="{FB1EF8E0-A6CE-54B4-B7CF-D412B3BFE403}"/>
              </a:ext>
            </a:extLst>
          </p:cNvPr>
          <p:cNvSpPr txBox="1"/>
          <p:nvPr/>
        </p:nvSpPr>
        <p:spPr>
          <a:xfrm>
            <a:off x="333066" y="1642267"/>
            <a:ext cx="11525868" cy="3970318"/>
          </a:xfrm>
          <a:prstGeom prst="rect">
            <a:avLst/>
          </a:prstGeom>
          <a:noFill/>
        </p:spPr>
        <p:txBody>
          <a:bodyPr wrap="square">
            <a:spAutoFit/>
          </a:bodyPr>
          <a:lstStyle/>
          <a:p>
            <a:pPr algn="just"/>
            <a:r>
              <a:rPr lang="en-GB" sz="2800" b="1" noProof="0" dirty="0">
                <a:solidFill>
                  <a:schemeClr val="accent5">
                    <a:lumMod val="50000"/>
                  </a:schemeClr>
                </a:solidFill>
              </a:rPr>
              <a:t>We can now scale up from one consumer and two goods to many consumers</a:t>
            </a:r>
            <a:r>
              <a:rPr lang="pl-PL" sz="2800" b="1" noProof="0" dirty="0">
                <a:solidFill>
                  <a:schemeClr val="accent5">
                    <a:lumMod val="50000"/>
                  </a:schemeClr>
                </a:solidFill>
              </a:rPr>
              <a:t> </a:t>
            </a:r>
            <a:r>
              <a:rPr lang="en-GB" sz="2800" b="1" noProof="0" dirty="0">
                <a:solidFill>
                  <a:schemeClr val="accent5">
                    <a:lumMod val="50000"/>
                  </a:schemeClr>
                </a:solidFill>
              </a:rPr>
              <a:t>and many markets.</a:t>
            </a:r>
          </a:p>
          <a:p>
            <a:pPr algn="just"/>
            <a:endParaRPr lang="en-GB" sz="2800" b="1" noProof="0" dirty="0">
              <a:solidFill>
                <a:schemeClr val="accent5">
                  <a:lumMod val="50000"/>
                </a:schemeClr>
              </a:solidFill>
            </a:endParaRPr>
          </a:p>
          <a:p>
            <a:pPr algn="just"/>
            <a:r>
              <a:rPr lang="en-GB" sz="2800" b="1" noProof="0" dirty="0">
                <a:solidFill>
                  <a:schemeClr val="accent5">
                    <a:lumMod val="50000"/>
                  </a:schemeClr>
                </a:solidFill>
              </a:rPr>
              <a:t>Each consumer h:</a:t>
            </a:r>
          </a:p>
          <a:p>
            <a:pPr algn="just"/>
            <a:r>
              <a:rPr lang="en-GB" sz="2800" b="1" noProof="0" dirty="0">
                <a:solidFill>
                  <a:schemeClr val="accent5">
                    <a:lumMod val="50000"/>
                  </a:schemeClr>
                </a:solidFill>
              </a:rPr>
              <a:t>  • maximises utility subject to an endowment budget constraint,</a:t>
            </a:r>
          </a:p>
          <a:p>
            <a:pPr algn="just"/>
            <a:r>
              <a:rPr lang="en-GB" sz="2800" b="1" noProof="0" dirty="0">
                <a:solidFill>
                  <a:schemeClr val="accent5">
                    <a:lumMod val="50000"/>
                  </a:schemeClr>
                </a:solidFill>
              </a:rPr>
              <a:t>  • generates net demands z</a:t>
            </a:r>
            <a:r>
              <a:rPr lang="en-GB" sz="2800" b="1" baseline="-25000" noProof="0" dirty="0">
                <a:solidFill>
                  <a:schemeClr val="accent5">
                    <a:lumMod val="50000"/>
                  </a:schemeClr>
                </a:solidFill>
              </a:rPr>
              <a:t>i</a:t>
            </a:r>
            <a:r>
              <a:rPr lang="en-GB" sz="2800" b="1" noProof="0" dirty="0">
                <a:solidFill>
                  <a:schemeClr val="accent5">
                    <a:lumMod val="50000"/>
                  </a:schemeClr>
                </a:solidFill>
              </a:rPr>
              <a:t>(p) for all goods </a:t>
            </a:r>
            <a:r>
              <a:rPr lang="en-GB" sz="2800" b="1" noProof="0" dirty="0" err="1">
                <a:solidFill>
                  <a:schemeClr val="accent5">
                    <a:lumMod val="50000"/>
                  </a:schemeClr>
                </a:solidFill>
              </a:rPr>
              <a:t>i</a:t>
            </a:r>
            <a:r>
              <a:rPr lang="en-GB" sz="2800" b="1" noProof="0" dirty="0">
                <a:solidFill>
                  <a:schemeClr val="accent5">
                    <a:lumMod val="50000"/>
                  </a:schemeClr>
                </a:solidFill>
              </a:rPr>
              <a:t> = 1,…,N.</a:t>
            </a:r>
          </a:p>
          <a:p>
            <a:pPr algn="just"/>
            <a:endParaRPr lang="en-GB" sz="2800" b="1" noProof="0" dirty="0">
              <a:solidFill>
                <a:schemeClr val="accent5">
                  <a:lumMod val="50000"/>
                </a:schemeClr>
              </a:solidFill>
            </a:endParaRPr>
          </a:p>
          <a:p>
            <a:pPr algn="just"/>
            <a:r>
              <a:rPr lang="en-GB" sz="2800" b="1" noProof="0" dirty="0">
                <a:solidFill>
                  <a:schemeClr val="accent5">
                    <a:lumMod val="50000"/>
                  </a:schemeClr>
                </a:solidFill>
              </a:rPr>
              <a:t>We focus only on exchange and its efficiency and ignore where</a:t>
            </a:r>
            <a:r>
              <a:rPr lang="pl-PL" sz="2800" b="1" noProof="0" dirty="0">
                <a:solidFill>
                  <a:schemeClr val="accent5">
                    <a:lumMod val="50000"/>
                  </a:schemeClr>
                </a:solidFill>
              </a:rPr>
              <a:t> t</a:t>
            </a:r>
            <a:r>
              <a:rPr lang="en-GB" sz="2800" b="1" noProof="0" dirty="0">
                <a:solidFill>
                  <a:schemeClr val="accent5">
                    <a:lumMod val="50000"/>
                  </a:schemeClr>
                </a:solidFill>
              </a:rPr>
              <a:t>he endowments come from.</a:t>
            </a:r>
          </a:p>
        </p:txBody>
      </p:sp>
    </p:spTree>
    <p:extLst>
      <p:ext uri="{BB962C8B-B14F-4D97-AF65-F5344CB8AC3E}">
        <p14:creationId xmlns:p14="http://schemas.microsoft.com/office/powerpoint/2010/main" val="3087324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Prostokąt 29">
            <a:extLst>
              <a:ext uri="{FF2B5EF4-FFF2-40B4-BE49-F238E27FC236}">
                <a16:creationId xmlns:a16="http://schemas.microsoft.com/office/drawing/2014/main" id="{869175F6-3397-F8B1-9DA4-58B2163A4031}"/>
              </a:ext>
            </a:extLst>
          </p:cNvPr>
          <p:cNvSpPr/>
          <p:nvPr/>
        </p:nvSpPr>
        <p:spPr>
          <a:xfrm>
            <a:off x="975678" y="1767730"/>
            <a:ext cx="7599362" cy="3785652"/>
          </a:xfrm>
          <a:prstGeom prst="rect">
            <a:avLst/>
          </a:prstGeom>
        </p:spPr>
        <p:txBody>
          <a:bodyPr wrap="square">
            <a:spAutoFit/>
          </a:bodyPr>
          <a:lstStyle/>
          <a:p>
            <a:pPr algn="just" eaLnBrk="0" fontAlgn="base" hangingPunct="0">
              <a:spcBef>
                <a:spcPct val="0"/>
              </a:spcBef>
              <a:spcAft>
                <a:spcPct val="0"/>
              </a:spcAft>
              <a:defRPr/>
            </a:pPr>
            <a:r>
              <a:rPr lang="en-GB" sz="2400" b="1" noProof="0" dirty="0">
                <a:solidFill>
                  <a:srgbClr val="4BACC6">
                    <a:lumMod val="50000"/>
                  </a:srgbClr>
                </a:solidFill>
                <a:latin typeface="Arial" panose="020B0604020202020204" pitchFamily="34" charset="0"/>
              </a:rPr>
              <a:t>Historically the first fully explicit approach to general equilibrium.</a:t>
            </a:r>
          </a:p>
          <a:p>
            <a:pPr algn="just" eaLnBrk="0" fontAlgn="base" hangingPunct="0">
              <a:spcBef>
                <a:spcPct val="0"/>
              </a:spcBef>
              <a:spcAft>
                <a:spcPct val="0"/>
              </a:spcAft>
              <a:defRPr/>
            </a:pPr>
            <a:endParaRPr lang="en-GB" sz="2400" b="1" noProof="0" dirty="0">
              <a:solidFill>
                <a:srgbClr val="4BACC6">
                  <a:lumMod val="50000"/>
                </a:srgbClr>
              </a:solidFill>
              <a:latin typeface="Arial" panose="020B0604020202020204" pitchFamily="34" charset="0"/>
            </a:endParaRPr>
          </a:p>
          <a:p>
            <a:pPr algn="just" eaLnBrk="0" fontAlgn="base" hangingPunct="0">
              <a:spcBef>
                <a:spcPct val="0"/>
              </a:spcBef>
              <a:spcAft>
                <a:spcPct val="0"/>
              </a:spcAft>
              <a:defRPr/>
            </a:pPr>
            <a:r>
              <a:rPr lang="en-GB" sz="2400" b="1" noProof="0" dirty="0">
                <a:solidFill>
                  <a:srgbClr val="4BACC6">
                    <a:lumMod val="50000"/>
                  </a:srgbClr>
                </a:solidFill>
                <a:latin typeface="Arial" panose="020B0604020202020204" pitchFamily="34" charset="0"/>
              </a:rPr>
              <a:t>Walras modelled an entire economy as a system of markets that clear simultaneously </a:t>
            </a:r>
            <a:r>
              <a:rPr lang="en-GB" sz="2400" b="1" noProof="0" dirty="0">
                <a:solidFill>
                  <a:srgbClr val="C00000"/>
                </a:solidFill>
                <a:latin typeface="Arial" panose="020B0604020202020204" pitchFamily="34" charset="0"/>
              </a:rPr>
              <a:t>via price adjustments</a:t>
            </a:r>
            <a:r>
              <a:rPr lang="en-GB" sz="2400" b="1" noProof="0" dirty="0">
                <a:solidFill>
                  <a:srgbClr val="4BACC6">
                    <a:lumMod val="50000"/>
                  </a:srgbClr>
                </a:solidFill>
                <a:latin typeface="Arial" panose="020B0604020202020204" pitchFamily="34" charset="0"/>
              </a:rPr>
              <a:t>.</a:t>
            </a:r>
          </a:p>
          <a:p>
            <a:pPr algn="just" eaLnBrk="0" fontAlgn="base" hangingPunct="0">
              <a:spcBef>
                <a:spcPct val="0"/>
              </a:spcBef>
              <a:spcAft>
                <a:spcPct val="0"/>
              </a:spcAft>
              <a:defRPr/>
            </a:pPr>
            <a:endParaRPr lang="en-GB" sz="2400" b="1" noProof="0" dirty="0">
              <a:solidFill>
                <a:srgbClr val="4BACC6">
                  <a:lumMod val="50000"/>
                </a:srgbClr>
              </a:solidFill>
              <a:latin typeface="Arial" panose="020B0604020202020204" pitchFamily="34" charset="0"/>
            </a:endParaRPr>
          </a:p>
          <a:p>
            <a:pPr algn="just" eaLnBrk="0" fontAlgn="base" hangingPunct="0">
              <a:spcBef>
                <a:spcPct val="0"/>
              </a:spcBef>
              <a:spcAft>
                <a:spcPct val="0"/>
              </a:spcAft>
              <a:defRPr/>
            </a:pPr>
            <a:r>
              <a:rPr lang="en-GB" sz="2400" b="1" noProof="0" dirty="0">
                <a:solidFill>
                  <a:srgbClr val="4BACC6">
                    <a:lumMod val="50000"/>
                  </a:srgbClr>
                </a:solidFill>
                <a:latin typeface="Arial" panose="020B0604020202020204" pitchFamily="34" charset="0"/>
              </a:rPr>
              <a:t>Central idea: Walras's law</a:t>
            </a:r>
            <a:r>
              <a:rPr lang="pl-PL" sz="2400" b="1" noProof="0" dirty="0">
                <a:solidFill>
                  <a:srgbClr val="4BACC6">
                    <a:lumMod val="50000"/>
                  </a:srgbClr>
                </a:solidFill>
                <a:latin typeface="Arial" panose="020B0604020202020204" pitchFamily="34" charset="0"/>
              </a:rPr>
              <a:t> </a:t>
            </a:r>
            <a:r>
              <a:rPr lang="en-GB" sz="2400" b="1" noProof="0" dirty="0">
                <a:solidFill>
                  <a:srgbClr val="4BACC6">
                    <a:lumMod val="50000"/>
                  </a:srgbClr>
                </a:solidFill>
                <a:latin typeface="Arial" panose="020B0604020202020204" pitchFamily="34" charset="0"/>
              </a:rPr>
              <a:t>– a property of economies in which every agent always satisfies their budget constraint.</a:t>
            </a:r>
          </a:p>
        </p:txBody>
      </p:sp>
      <p:pic>
        <p:nvPicPr>
          <p:cNvPr id="17414" name="Picture 2">
            <a:extLst>
              <a:ext uri="{FF2B5EF4-FFF2-40B4-BE49-F238E27FC236}">
                <a16:creationId xmlns:a16="http://schemas.microsoft.com/office/drawing/2014/main" id="{A6064421-9122-BCA9-7325-44F9310BB724}"/>
              </a:ext>
            </a:extLst>
          </p:cNvPr>
          <p:cNvPicPr>
            <a:picLocks noChangeAspect="1" noChangeArrowheads="1"/>
          </p:cNvPicPr>
          <p:nvPr/>
        </p:nvPicPr>
        <p:blipFill>
          <a:blip r:embed="rId3"/>
          <a:srcRect/>
          <a:stretch>
            <a:fillRect/>
          </a:stretch>
        </p:blipFill>
        <p:spPr bwMode="auto">
          <a:xfrm>
            <a:off x="9901555" y="1334353"/>
            <a:ext cx="1606550" cy="1985962"/>
          </a:xfrm>
          <a:prstGeom prst="rect">
            <a:avLst/>
          </a:prstGeom>
          <a:ln>
            <a:noFill/>
          </a:ln>
          <a:effectLst>
            <a:outerShdw blurRad="292100" dist="139700" dir="2700000" algn="tl" rotWithShape="0">
              <a:srgbClr val="333333">
                <a:alpha val="65000"/>
              </a:srgbClr>
            </a:outerShdw>
          </a:effectLst>
        </p:spPr>
      </p:pic>
      <p:sp>
        <p:nvSpPr>
          <p:cNvPr id="34" name="Prostokąt 33">
            <a:extLst>
              <a:ext uri="{FF2B5EF4-FFF2-40B4-BE49-F238E27FC236}">
                <a16:creationId xmlns:a16="http://schemas.microsoft.com/office/drawing/2014/main" id="{0E13D5D3-ED9C-CD64-1D5D-E65BA6534C5F}"/>
              </a:ext>
            </a:extLst>
          </p:cNvPr>
          <p:cNvSpPr/>
          <p:nvPr/>
        </p:nvSpPr>
        <p:spPr>
          <a:xfrm>
            <a:off x="9787573" y="3475890"/>
            <a:ext cx="2025650" cy="369332"/>
          </a:xfrm>
          <a:prstGeom prst="rect">
            <a:avLst/>
          </a:prstGeom>
        </p:spPr>
        <p:txBody>
          <a:bodyPr>
            <a:spAutoFit/>
          </a:bodyPr>
          <a:lstStyle/>
          <a:p>
            <a:pPr algn="ctr" eaLnBrk="0" fontAlgn="base" hangingPunct="0">
              <a:spcBef>
                <a:spcPct val="0"/>
              </a:spcBef>
              <a:spcAft>
                <a:spcPct val="0"/>
              </a:spcAft>
              <a:defRPr/>
            </a:pPr>
            <a:r>
              <a:rPr lang="en-GB" b="1" noProof="0" dirty="0">
                <a:solidFill>
                  <a:srgbClr val="4BACC6">
                    <a:lumMod val="50000"/>
                  </a:srgbClr>
                </a:solidFill>
                <a:latin typeface="Arial" panose="020B0604020202020204" pitchFamily="34" charset="0"/>
              </a:rPr>
              <a:t>Léon Walras </a:t>
            </a:r>
          </a:p>
        </p:txBody>
      </p:sp>
      <p:sp>
        <p:nvSpPr>
          <p:cNvPr id="2" name="TextShape 1">
            <a:extLst>
              <a:ext uri="{FF2B5EF4-FFF2-40B4-BE49-F238E27FC236}">
                <a16:creationId xmlns:a16="http://schemas.microsoft.com/office/drawing/2014/main" id="{D5F16EDA-68C0-EE87-9A69-5D1B0B16F1CC}"/>
              </a:ext>
            </a:extLst>
          </p:cNvPr>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Léon Walras (1834–1910)</a:t>
            </a:r>
            <a:endParaRPr lang="en-GB" sz="2400" b="1" i="1" noProof="0" dirty="0">
              <a:solidFill>
                <a:prstClr val="black"/>
              </a:solidFill>
            </a:endParaRPr>
          </a:p>
        </p:txBody>
      </p:sp>
    </p:spTree>
    <p:extLst>
      <p:ext uri="{BB962C8B-B14F-4D97-AF65-F5344CB8AC3E}">
        <p14:creationId xmlns:p14="http://schemas.microsoft.com/office/powerpoint/2010/main" val="1431314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3D21-22E6-C7DB-3722-488211E44AA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 name="Prostokąt 29">
                <a:extLst>
                  <a:ext uri="{FF2B5EF4-FFF2-40B4-BE49-F238E27FC236}">
                    <a16:creationId xmlns:a16="http://schemas.microsoft.com/office/drawing/2014/main" id="{875418A5-D55F-2651-D475-B7EE5BD5C9C7}"/>
                  </a:ext>
                </a:extLst>
              </p:cNvPr>
              <p:cNvSpPr/>
              <p:nvPr/>
            </p:nvSpPr>
            <p:spPr>
              <a:xfrm>
                <a:off x="147320" y="1298584"/>
                <a:ext cx="12044680" cy="5446876"/>
              </a:xfrm>
              <a:prstGeom prst="rect">
                <a:avLst/>
              </a:prstGeom>
            </p:spPr>
            <p:txBody>
              <a:bodyPr wrap="square">
                <a:spAutoFit/>
              </a:bodyPr>
              <a:lstStyle/>
              <a:p>
                <a:pPr>
                  <a:buNone/>
                </a:pPr>
                <a:r>
                  <a:rPr lang="en-GB" sz="3200" b="1" noProof="0" dirty="0">
                    <a:solidFill>
                      <a:schemeClr val="accent5">
                        <a:lumMod val="50000"/>
                      </a:schemeClr>
                    </a:solidFill>
                  </a:rPr>
                  <a:t>The value of aggregate excess demand over all markets is identically zero.</a:t>
                </a:r>
              </a:p>
              <a:p>
                <a:pPr>
                  <a:buNone/>
                </a:pPr>
                <a:endParaRPr lang="en-GB" sz="3200" b="1" noProof="0" dirty="0">
                  <a:solidFill>
                    <a:schemeClr val="accent5">
                      <a:lumMod val="50000"/>
                    </a:schemeClr>
                  </a:solidFill>
                </a:endParaRPr>
              </a:p>
              <a:p>
                <a:pPr>
                  <a:buNone/>
                </a:pPr>
                <a:r>
                  <a:rPr lang="en-GB" sz="3200" b="1" noProof="0" dirty="0">
                    <a:solidFill>
                      <a:schemeClr val="accent5">
                        <a:lumMod val="50000"/>
                      </a:schemeClr>
                    </a:solidFill>
                  </a:rPr>
                  <a:t>This holds for all possible price vectors, not only for equilibrium prices.</a:t>
                </a:r>
              </a:p>
              <a:p>
                <a:pPr>
                  <a:buNone/>
                </a:pPr>
                <a:endParaRPr lang="en-GB" sz="3200" b="1" noProof="0" dirty="0">
                  <a:solidFill>
                    <a:schemeClr val="accent5">
                      <a:lumMod val="50000"/>
                    </a:schemeClr>
                  </a:solidFill>
                </a:endParaRPr>
              </a:p>
              <a:p>
                <a:pPr>
                  <a:buNone/>
                </a:pPr>
                <a:r>
                  <a:rPr lang="en-GB" sz="3200" b="1" noProof="0" dirty="0">
                    <a:solidFill>
                      <a:schemeClr val="accent5">
                        <a:lumMod val="50000"/>
                      </a:schemeClr>
                    </a:solidFill>
                  </a:rPr>
                  <a:t>For an </a:t>
                </a:r>
                <a14:m>
                  <m:oMath xmlns:m="http://schemas.openxmlformats.org/officeDocument/2006/math">
                    <m:r>
                      <a:rPr lang="en-GB" sz="3200" b="1" i="1" noProof="0" smtClean="0">
                        <a:solidFill>
                          <a:schemeClr val="accent5">
                            <a:lumMod val="50000"/>
                          </a:schemeClr>
                        </a:solidFill>
                        <a:latin typeface="Cambria Math" panose="02040503050406030204" pitchFamily="18" charset="0"/>
                      </a:rPr>
                      <m:t>𝑵</m:t>
                    </m:r>
                  </m:oMath>
                </a14:m>
                <a:r>
                  <a:rPr lang="en-GB" sz="3200" b="1" noProof="0" dirty="0">
                    <a:solidFill>
                      <a:schemeClr val="accent5">
                        <a:lumMod val="50000"/>
                      </a:schemeClr>
                    </a:solidFill>
                  </a:rPr>
                  <a:t>-good economy, with aggregate excess demand </a:t>
                </a:r>
                <a14:m>
                  <m:oMath xmlns:m="http://schemas.openxmlformats.org/officeDocument/2006/math">
                    <m:sSub>
                      <m:sSubPr>
                        <m:ctrlPr>
                          <a:rPr lang="en-GB" sz="3200" b="1" i="1" noProof="0" smtClean="0">
                            <a:solidFill>
                              <a:schemeClr val="accent5">
                                <a:lumMod val="50000"/>
                              </a:schemeClr>
                            </a:solidFill>
                            <a:latin typeface="Cambria Math" panose="02040503050406030204" pitchFamily="18" charset="0"/>
                          </a:rPr>
                        </m:ctrlPr>
                      </m:sSubPr>
                      <m:e>
                        <m:r>
                          <a:rPr lang="en-GB" sz="3200" b="1" i="1" noProof="0" smtClean="0">
                            <a:solidFill>
                              <a:schemeClr val="accent5">
                                <a:lumMod val="50000"/>
                              </a:schemeClr>
                            </a:solidFill>
                            <a:latin typeface="Cambria Math" panose="02040503050406030204" pitchFamily="18" charset="0"/>
                          </a:rPr>
                          <m:t>𝒛</m:t>
                        </m:r>
                      </m:e>
                      <m:sub>
                        <m:r>
                          <a:rPr lang="en-GB" sz="3200" b="1" i="1" noProof="0" smtClean="0">
                            <a:solidFill>
                              <a:schemeClr val="accent5">
                                <a:lumMod val="50000"/>
                              </a:schemeClr>
                            </a:solidFill>
                            <a:latin typeface="Cambria Math" panose="02040503050406030204" pitchFamily="18" charset="0"/>
                          </a:rPr>
                          <m:t>𝒊</m:t>
                        </m:r>
                      </m:sub>
                    </m:sSub>
                    <m:d>
                      <m:dPr>
                        <m:ctrlPr>
                          <a:rPr lang="en-GB" sz="3200" b="1" i="1" noProof="0" smtClean="0">
                            <a:solidFill>
                              <a:schemeClr val="accent5">
                                <a:lumMod val="50000"/>
                              </a:schemeClr>
                            </a:solidFill>
                            <a:latin typeface="Cambria Math" panose="02040503050406030204" pitchFamily="18" charset="0"/>
                          </a:rPr>
                        </m:ctrlPr>
                      </m:dPr>
                      <m:e>
                        <m:r>
                          <a:rPr lang="en-GB" sz="3200" b="1" i="1" noProof="0" smtClean="0">
                            <a:solidFill>
                              <a:schemeClr val="accent5">
                                <a:lumMod val="50000"/>
                              </a:schemeClr>
                            </a:solidFill>
                            <a:latin typeface="Cambria Math" panose="02040503050406030204" pitchFamily="18" charset="0"/>
                          </a:rPr>
                          <m:t>𝒑</m:t>
                        </m:r>
                      </m:e>
                    </m:d>
                  </m:oMath>
                </a14:m>
                <a:r>
                  <a:rPr lang="en-GB" sz="3200" b="1" noProof="0" dirty="0">
                    <a:solidFill>
                      <a:schemeClr val="accent5">
                        <a:lumMod val="50000"/>
                      </a:schemeClr>
                    </a:solidFill>
                  </a:rPr>
                  <a:t>on each market </a:t>
                </a:r>
                <a14:m>
                  <m:oMath xmlns:m="http://schemas.openxmlformats.org/officeDocument/2006/math">
                    <m:r>
                      <a:rPr lang="en-GB" sz="3200" b="1" i="1" noProof="0" smtClean="0">
                        <a:solidFill>
                          <a:schemeClr val="accent5">
                            <a:lumMod val="50000"/>
                          </a:schemeClr>
                        </a:solidFill>
                        <a:latin typeface="Cambria Math" panose="02040503050406030204" pitchFamily="18" charset="0"/>
                      </a:rPr>
                      <m:t>𝒊</m:t>
                    </m:r>
                  </m:oMath>
                </a14:m>
                <a:r>
                  <a:rPr lang="en-GB" sz="2400" b="1" noProof="0" dirty="0">
                    <a:solidFill>
                      <a:schemeClr val="accent5">
                        <a:lumMod val="50000"/>
                      </a:schemeClr>
                    </a:solidFill>
                  </a:rPr>
                  <a:t>:</a:t>
                </a:r>
              </a:p>
              <a:p>
                <a:pPr>
                  <a:buNone/>
                </a:pPr>
                <a:endParaRPr lang="en-GB" sz="2400" b="1" noProof="0" dirty="0">
                  <a:solidFill>
                    <a:schemeClr val="accent5">
                      <a:lumMod val="50000"/>
                    </a:schemeClr>
                  </a:solidFill>
                </a:endParaRPr>
              </a:p>
              <a:p>
                <a:pPr>
                  <a:buNone/>
                </a:pPr>
                <a14:m>
                  <m:oMathPara xmlns:m="http://schemas.openxmlformats.org/officeDocument/2006/math">
                    <m:oMathParaPr>
                      <m:jc m:val="centerGroup"/>
                    </m:oMathParaPr>
                    <m:oMath xmlns:m="http://schemas.openxmlformats.org/officeDocument/2006/math">
                      <m:nary>
                        <m:naryPr>
                          <m:chr m:val="∑"/>
                          <m:grow m:val="on"/>
                          <m:ctrlPr>
                            <a:rPr lang="en-GB" sz="2400" b="1" i="1" noProof="0" smtClean="0">
                              <a:solidFill>
                                <a:schemeClr val="accent5">
                                  <a:lumMod val="50000"/>
                                </a:schemeClr>
                              </a:solidFill>
                              <a:latin typeface="Cambria Math" panose="02040503050406030204" pitchFamily="18" charset="0"/>
                            </a:rPr>
                          </m:ctrlPr>
                        </m:naryPr>
                        <m:sub>
                          <m:r>
                            <a:rPr lang="en-GB" sz="2400" b="1" i="1" noProof="0" smtClean="0">
                              <a:solidFill>
                                <a:schemeClr val="accent5">
                                  <a:lumMod val="50000"/>
                                </a:schemeClr>
                              </a:solidFill>
                              <a:latin typeface="Cambria Math" panose="02040503050406030204" pitchFamily="18" charset="0"/>
                            </a:rPr>
                            <m:t>𝒊</m:t>
                          </m:r>
                          <m:r>
                            <a:rPr lang="en-GB" sz="2400" b="1" i="0" noProof="0" smtClean="0">
                              <a:solidFill>
                                <a:schemeClr val="accent5">
                                  <a:lumMod val="50000"/>
                                </a:schemeClr>
                              </a:solidFill>
                              <a:latin typeface="Cambria Math" panose="02040503050406030204" pitchFamily="18" charset="0"/>
                            </a:rPr>
                            <m:t>=</m:t>
                          </m:r>
                          <m:r>
                            <a:rPr lang="en-GB" sz="2400" b="1" i="0" noProof="0" smtClean="0">
                              <a:solidFill>
                                <a:schemeClr val="accent5">
                                  <a:lumMod val="50000"/>
                                </a:schemeClr>
                              </a:solidFill>
                              <a:latin typeface="Cambria Math" panose="02040503050406030204" pitchFamily="18" charset="0"/>
                            </a:rPr>
                            <m:t>𝟏</m:t>
                          </m:r>
                        </m:sub>
                        <m:sup>
                          <m:r>
                            <a:rPr lang="en-GB" sz="2400" b="1" i="1" noProof="0" smtClean="0">
                              <a:solidFill>
                                <a:schemeClr val="accent5">
                                  <a:lumMod val="50000"/>
                                </a:schemeClr>
                              </a:solidFill>
                              <a:latin typeface="Cambria Math" panose="02040503050406030204" pitchFamily="18" charset="0"/>
                            </a:rPr>
                            <m:t>𝑵</m:t>
                          </m:r>
                        </m:sup>
                        <m:e>
                          <m:sSub>
                            <m:sSubPr>
                              <m:ctrlPr>
                                <a:rPr lang="en-GB" sz="2400" b="1" i="1" noProof="0" smtClean="0">
                                  <a:solidFill>
                                    <a:schemeClr val="accent5">
                                      <a:lumMod val="50000"/>
                                    </a:schemeClr>
                                  </a:solidFill>
                                  <a:latin typeface="Cambria Math" panose="02040503050406030204" pitchFamily="18" charset="0"/>
                                </a:rPr>
                              </m:ctrlPr>
                            </m:sSubPr>
                            <m:e>
                              <m:r>
                                <a:rPr lang="en-GB" sz="2400" b="1" i="1" noProof="0" smtClean="0">
                                  <a:solidFill>
                                    <a:schemeClr val="accent5">
                                      <a:lumMod val="50000"/>
                                    </a:schemeClr>
                                  </a:solidFill>
                                  <a:latin typeface="Cambria Math" panose="02040503050406030204" pitchFamily="18" charset="0"/>
                                </a:rPr>
                                <m:t>𝒑</m:t>
                              </m:r>
                            </m:e>
                            <m:sub>
                              <m:r>
                                <a:rPr lang="en-GB" sz="2400" b="1" i="1" noProof="0" smtClean="0">
                                  <a:solidFill>
                                    <a:schemeClr val="accent5">
                                      <a:lumMod val="50000"/>
                                    </a:schemeClr>
                                  </a:solidFill>
                                  <a:latin typeface="Cambria Math" panose="02040503050406030204" pitchFamily="18" charset="0"/>
                                </a:rPr>
                                <m:t>𝒊</m:t>
                              </m:r>
                            </m:sub>
                          </m:sSub>
                        </m:e>
                      </m:nary>
                      <m:sSub>
                        <m:sSubPr>
                          <m:ctrlPr>
                            <a:rPr lang="en-GB" sz="2400" b="1" i="1" noProof="0" smtClean="0">
                              <a:solidFill>
                                <a:schemeClr val="accent5">
                                  <a:lumMod val="50000"/>
                                </a:schemeClr>
                              </a:solidFill>
                              <a:latin typeface="Cambria Math" panose="02040503050406030204" pitchFamily="18" charset="0"/>
                            </a:rPr>
                          </m:ctrlPr>
                        </m:sSubPr>
                        <m:e>
                          <m:r>
                            <a:rPr lang="en-GB" sz="2400" b="1" i="1" noProof="0" smtClean="0">
                              <a:solidFill>
                                <a:schemeClr val="accent5">
                                  <a:lumMod val="50000"/>
                                </a:schemeClr>
                              </a:solidFill>
                              <a:latin typeface="Cambria Math" panose="02040503050406030204" pitchFamily="18" charset="0"/>
                            </a:rPr>
                            <m:t>𝒛</m:t>
                          </m:r>
                        </m:e>
                        <m:sub>
                          <m:r>
                            <a:rPr lang="en-GB" sz="2400" b="1" i="1" noProof="0" smtClean="0">
                              <a:solidFill>
                                <a:schemeClr val="accent5">
                                  <a:lumMod val="50000"/>
                                </a:schemeClr>
                              </a:solidFill>
                              <a:latin typeface="Cambria Math" panose="02040503050406030204" pitchFamily="18" charset="0"/>
                            </a:rPr>
                            <m:t>𝒊</m:t>
                          </m:r>
                        </m:sub>
                      </m:sSub>
                      <m:d>
                        <m:dPr>
                          <m:ctrlPr>
                            <a:rPr lang="en-GB" sz="2400" b="1" i="1" noProof="0" smtClean="0">
                              <a:solidFill>
                                <a:schemeClr val="accent5">
                                  <a:lumMod val="50000"/>
                                </a:schemeClr>
                              </a:solidFill>
                              <a:latin typeface="Cambria Math" panose="02040503050406030204" pitchFamily="18" charset="0"/>
                            </a:rPr>
                          </m:ctrlPr>
                        </m:dPr>
                        <m:e>
                          <m:r>
                            <a:rPr lang="en-GB" sz="2400" b="1" i="1" noProof="0" smtClean="0">
                              <a:solidFill>
                                <a:schemeClr val="accent5">
                                  <a:lumMod val="50000"/>
                                </a:schemeClr>
                              </a:solidFill>
                              <a:latin typeface="Cambria Math" panose="02040503050406030204" pitchFamily="18" charset="0"/>
                            </a:rPr>
                            <m:t>𝒑</m:t>
                          </m:r>
                        </m:e>
                      </m:d>
                      <m:r>
                        <a:rPr lang="en-GB" sz="2400" b="1" i="0" noProof="0" smtClean="0">
                          <a:solidFill>
                            <a:schemeClr val="accent5">
                              <a:lumMod val="50000"/>
                            </a:schemeClr>
                          </a:solidFill>
                          <a:latin typeface="Cambria Math" panose="02040503050406030204" pitchFamily="18" charset="0"/>
                        </a:rPr>
                        <m:t>=</m:t>
                      </m:r>
                      <m:r>
                        <a:rPr lang="en-GB" sz="2400" b="1" i="0" noProof="0" smtClean="0">
                          <a:solidFill>
                            <a:schemeClr val="accent5">
                              <a:lumMod val="50000"/>
                            </a:schemeClr>
                          </a:solidFill>
                          <a:latin typeface="Cambria Math" panose="02040503050406030204" pitchFamily="18" charset="0"/>
                        </a:rPr>
                        <m:t>𝟎</m:t>
                      </m:r>
                      <m:r>
                        <a:rPr lang="en-GB" sz="2400" b="1" i="0" noProof="0" smtClean="0">
                          <a:solidFill>
                            <a:schemeClr val="accent5">
                              <a:lumMod val="50000"/>
                            </a:schemeClr>
                          </a:solidFill>
                          <a:latin typeface="Cambria Math" panose="02040503050406030204" pitchFamily="18" charset="0"/>
                        </a:rPr>
                        <m:t> </m:t>
                      </m:r>
                      <m:r>
                        <m:rPr>
                          <m:nor/>
                        </m:rPr>
                        <a:rPr lang="en-GB" sz="2400" b="1" i="1" noProof="0" smtClean="0">
                          <a:solidFill>
                            <a:schemeClr val="accent5">
                              <a:lumMod val="50000"/>
                            </a:schemeClr>
                          </a:solidFill>
                        </a:rPr>
                        <m:t>for</m:t>
                      </m:r>
                      <m:r>
                        <m:rPr>
                          <m:nor/>
                        </m:rPr>
                        <a:rPr lang="en-GB" sz="2400" b="1" i="1" noProof="0" smtClean="0">
                          <a:solidFill>
                            <a:schemeClr val="accent5">
                              <a:lumMod val="50000"/>
                            </a:schemeClr>
                          </a:solidFill>
                        </a:rPr>
                        <m:t> </m:t>
                      </m:r>
                      <m:r>
                        <m:rPr>
                          <m:nor/>
                        </m:rPr>
                        <a:rPr lang="en-GB" sz="2400" b="1" i="1" noProof="0" smtClean="0">
                          <a:solidFill>
                            <a:schemeClr val="accent5">
                              <a:lumMod val="50000"/>
                            </a:schemeClr>
                          </a:solidFill>
                        </a:rPr>
                        <m:t>all</m:t>
                      </m:r>
                      <m:r>
                        <m:rPr>
                          <m:nor/>
                        </m:rPr>
                        <a:rPr lang="en-GB" sz="2400" b="1" i="1" noProof="0" smtClean="0">
                          <a:solidFill>
                            <a:schemeClr val="accent5">
                              <a:lumMod val="50000"/>
                            </a:schemeClr>
                          </a:solidFill>
                        </a:rPr>
                        <m:t> </m:t>
                      </m:r>
                      <m:r>
                        <a:rPr lang="en-GB" sz="2400" b="1" i="1" noProof="0" smtClean="0">
                          <a:solidFill>
                            <a:schemeClr val="accent5">
                              <a:lumMod val="50000"/>
                            </a:schemeClr>
                          </a:solidFill>
                          <a:latin typeface="Cambria Math" panose="02040503050406030204" pitchFamily="18" charset="0"/>
                        </a:rPr>
                        <m:t>𝒑</m:t>
                      </m:r>
                      <m:r>
                        <a:rPr lang="en-GB" sz="2400" b="1" i="0" noProof="0" smtClean="0">
                          <a:solidFill>
                            <a:schemeClr val="accent5">
                              <a:lumMod val="50000"/>
                            </a:schemeClr>
                          </a:solidFill>
                          <a:latin typeface="Cambria Math" panose="02040503050406030204" pitchFamily="18" charset="0"/>
                        </a:rPr>
                        <m:t>≫</m:t>
                      </m:r>
                      <m:r>
                        <a:rPr lang="en-GB" sz="2400" b="1" i="0" noProof="0" smtClean="0">
                          <a:solidFill>
                            <a:schemeClr val="accent5">
                              <a:lumMod val="50000"/>
                            </a:schemeClr>
                          </a:solidFill>
                          <a:latin typeface="Cambria Math" panose="02040503050406030204" pitchFamily="18" charset="0"/>
                        </a:rPr>
                        <m:t>𝟎</m:t>
                      </m:r>
                      <m:r>
                        <a:rPr lang="en-GB" sz="2400" b="1" i="0" noProof="0" smtClean="0">
                          <a:solidFill>
                            <a:schemeClr val="accent5">
                              <a:lumMod val="50000"/>
                            </a:schemeClr>
                          </a:solidFill>
                          <a:latin typeface="Cambria Math" panose="02040503050406030204" pitchFamily="18" charset="0"/>
                        </a:rPr>
                        <m:t>.</m:t>
                      </m:r>
                    </m:oMath>
                  </m:oMathPara>
                </a14:m>
                <a:endParaRPr lang="en-GB" sz="2400" b="1" noProof="0" dirty="0">
                  <a:solidFill>
                    <a:schemeClr val="accent5">
                      <a:lumMod val="50000"/>
                    </a:schemeClr>
                  </a:solidFill>
                </a:endParaRPr>
              </a:p>
            </p:txBody>
          </p:sp>
        </mc:Choice>
        <mc:Fallback>
          <p:sp>
            <p:nvSpPr>
              <p:cNvPr id="30" name="Prostokąt 29">
                <a:extLst>
                  <a:ext uri="{FF2B5EF4-FFF2-40B4-BE49-F238E27FC236}">
                    <a16:creationId xmlns:a16="http://schemas.microsoft.com/office/drawing/2014/main" id="{875418A5-D55F-2651-D475-B7EE5BD5C9C7}"/>
                  </a:ext>
                </a:extLst>
              </p:cNvPr>
              <p:cNvSpPr>
                <a:spLocks noRot="1" noChangeAspect="1" noMove="1" noResize="1" noEditPoints="1" noAdjustHandles="1" noChangeArrowheads="1" noChangeShapeType="1" noTextEdit="1"/>
              </p:cNvSpPr>
              <p:nvPr/>
            </p:nvSpPr>
            <p:spPr>
              <a:xfrm>
                <a:off x="147320" y="1298584"/>
                <a:ext cx="12044680" cy="5446876"/>
              </a:xfrm>
              <a:prstGeom prst="rect">
                <a:avLst/>
              </a:prstGeom>
              <a:blipFill>
                <a:blip r:embed="rId3"/>
                <a:stretch>
                  <a:fillRect l="-1265" t="-1454" r="-962"/>
                </a:stretch>
              </a:blipFill>
            </p:spPr>
            <p:txBody>
              <a:bodyPr/>
              <a:lstStyle/>
              <a:p>
                <a:r>
                  <a:rPr lang="pl-PL">
                    <a:noFill/>
                  </a:rPr>
                  <a:t> </a:t>
                </a:r>
              </a:p>
            </p:txBody>
          </p:sp>
        </mc:Fallback>
      </mc:AlternateContent>
      <p:sp>
        <p:nvSpPr>
          <p:cNvPr id="2" name="TextShape 1">
            <a:extLst>
              <a:ext uri="{FF2B5EF4-FFF2-40B4-BE49-F238E27FC236}">
                <a16:creationId xmlns:a16="http://schemas.microsoft.com/office/drawing/2014/main" id="{39C0365A-11BB-7446-C701-E9C3470E7500}"/>
              </a:ext>
            </a:extLst>
          </p:cNvPr>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Walras' law – basic statement</a:t>
            </a:r>
            <a:endParaRPr lang="en-GB" sz="2400" b="1" i="1" noProof="0" dirty="0">
              <a:solidFill>
                <a:prstClr val="black"/>
              </a:solidFill>
            </a:endParaRPr>
          </a:p>
        </p:txBody>
      </p:sp>
    </p:spTree>
    <p:extLst>
      <p:ext uri="{BB962C8B-B14F-4D97-AF65-F5344CB8AC3E}">
        <p14:creationId xmlns:p14="http://schemas.microsoft.com/office/powerpoint/2010/main" val="97360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 Box 1029">
                <a:extLst>
                  <a:ext uri="{FF2B5EF4-FFF2-40B4-BE49-F238E27FC236}">
                    <a16:creationId xmlns:a16="http://schemas.microsoft.com/office/drawing/2014/main" id="{201F6855-7F0F-FA6B-49E6-097263F181C9}"/>
                  </a:ext>
                </a:extLst>
              </p:cNvPr>
              <p:cNvSpPr txBox="1">
                <a:spLocks noChangeArrowheads="1"/>
              </p:cNvSpPr>
              <p:nvPr/>
            </p:nvSpPr>
            <p:spPr bwMode="auto">
              <a:xfrm>
                <a:off x="814070" y="1465421"/>
                <a:ext cx="10839450" cy="4401205"/>
              </a:xfrm>
              <a:prstGeom prst="rect">
                <a:avLst/>
              </a:prstGeom>
              <a:noFill/>
              <a:ln w="9525">
                <a:noFill/>
                <a:miter lim="800000"/>
                <a:headEnd/>
                <a:tailEnd/>
              </a:ln>
            </p:spPr>
            <p:txBody>
              <a:bodyPr wrap="square">
                <a:spAutoFit/>
              </a:bodyPr>
              <a:lstStyle/>
              <a:p>
                <a:r>
                  <a:rPr lang="en-GB" sz="2800" b="1" noProof="0" dirty="0">
                    <a:solidFill>
                      <a:schemeClr val="accent5">
                        <a:lumMod val="50000"/>
                      </a:schemeClr>
                    </a:solidFill>
                  </a:rPr>
                  <a:t>Perfect competition: each agent takes prices as given.</a:t>
                </a:r>
              </a:p>
              <a:p>
                <a:endParaRPr lang="en-GB" sz="2800" b="1" noProof="0" dirty="0">
                  <a:solidFill>
                    <a:schemeClr val="accent5">
                      <a:lumMod val="50000"/>
                    </a:schemeClr>
                  </a:solidFill>
                </a:endParaRPr>
              </a:p>
              <a:p>
                <a:r>
                  <a:rPr lang="en-GB" sz="2800" b="1" noProof="0" dirty="0">
                    <a:solidFill>
                      <a:schemeClr val="accent5">
                        <a:lumMod val="50000"/>
                      </a:schemeClr>
                    </a:solidFill>
                  </a:rPr>
                  <a:t>Complete information about prices and goods.</a:t>
                </a:r>
              </a:p>
              <a:p>
                <a:endParaRPr lang="en-GB" sz="2800" b="1" noProof="0" dirty="0">
                  <a:solidFill>
                    <a:schemeClr val="accent5">
                      <a:lumMod val="50000"/>
                    </a:schemeClr>
                  </a:solidFill>
                </a:endParaRPr>
              </a:p>
              <a:p>
                <a:r>
                  <a:rPr lang="en-GB" sz="2800" b="1" noProof="0" dirty="0">
                    <a:solidFill>
                      <a:schemeClr val="accent5">
                        <a:lumMod val="50000"/>
                      </a:schemeClr>
                    </a:solidFill>
                  </a:rPr>
                  <a:t>Each consumer has well-defined preferences and an endowment.</a:t>
                </a:r>
              </a:p>
              <a:p>
                <a:endParaRPr lang="en-GB" sz="2800" b="1" noProof="0" dirty="0">
                  <a:solidFill>
                    <a:schemeClr val="accent5">
                      <a:lumMod val="50000"/>
                    </a:schemeClr>
                  </a:solidFill>
                </a:endParaRPr>
              </a:p>
              <a:p>
                <a:r>
                  <a:rPr lang="en-GB" sz="2800" b="1" noProof="0" dirty="0">
                    <a:solidFill>
                      <a:schemeClr val="accent5">
                        <a:lumMod val="50000"/>
                      </a:schemeClr>
                    </a:solidFill>
                  </a:rPr>
                  <a:t>All prices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1" noProof="0" smtClean="0">
                            <a:solidFill>
                              <a:schemeClr val="accent5">
                                <a:lumMod val="50000"/>
                              </a:schemeClr>
                            </a:solidFill>
                            <a:latin typeface="Cambria Math" panose="02040503050406030204" pitchFamily="18" charset="0"/>
                          </a:rPr>
                          <m:t>𝒊</m:t>
                        </m:r>
                      </m:sub>
                    </m:sSub>
                  </m:oMath>
                </a14:m>
                <a:r>
                  <a:rPr lang="en-GB" sz="2800" b="1" noProof="0" dirty="0">
                    <a:solidFill>
                      <a:schemeClr val="accent5">
                        <a:lumMod val="50000"/>
                      </a:schemeClr>
                    </a:solidFill>
                  </a:rPr>
                  <a:t>are strictly positive.</a:t>
                </a:r>
              </a:p>
              <a:p>
                <a:endParaRPr lang="pl-PL" sz="2800" b="1" noProof="0" dirty="0">
                  <a:solidFill>
                    <a:schemeClr val="accent5">
                      <a:lumMod val="50000"/>
                    </a:schemeClr>
                  </a:solidFill>
                </a:endParaRPr>
              </a:p>
              <a:p>
                <a:r>
                  <a:rPr lang="en-GB" sz="2800" b="1" noProof="0" dirty="0">
                    <a:solidFill>
                      <a:schemeClr val="accent5">
                        <a:lumMod val="50000"/>
                      </a:schemeClr>
                    </a:solidFill>
                  </a:rPr>
                  <a:t>Consumers always satisfy their budget constraints and spend the full value of their endowments (no money is thrown away).</a:t>
                </a:r>
              </a:p>
            </p:txBody>
          </p:sp>
        </mc:Choice>
        <mc:Fallback>
          <p:sp>
            <p:nvSpPr>
              <p:cNvPr id="6" name="Text Box 1029">
                <a:extLst>
                  <a:ext uri="{FF2B5EF4-FFF2-40B4-BE49-F238E27FC236}">
                    <a16:creationId xmlns:a16="http://schemas.microsoft.com/office/drawing/2014/main" id="{201F6855-7F0F-FA6B-49E6-097263F181C9}"/>
                  </a:ext>
                </a:extLst>
              </p:cNvPr>
              <p:cNvSpPr txBox="1">
                <a:spLocks noRot="1" noChangeAspect="1" noMove="1" noResize="1" noEditPoints="1" noAdjustHandles="1" noChangeArrowheads="1" noChangeShapeType="1" noTextEdit="1"/>
              </p:cNvSpPr>
              <p:nvPr/>
            </p:nvSpPr>
            <p:spPr bwMode="auto">
              <a:xfrm>
                <a:off x="814070" y="1465421"/>
                <a:ext cx="10839450" cy="4401205"/>
              </a:xfrm>
              <a:prstGeom prst="rect">
                <a:avLst/>
              </a:prstGeom>
              <a:blipFill>
                <a:blip r:embed="rId3"/>
                <a:stretch>
                  <a:fillRect l="-1181" t="-1247" b="-3047"/>
                </a:stretch>
              </a:blipFill>
              <a:ln w="9525">
                <a:noFill/>
                <a:miter lim="800000"/>
                <a:headEnd/>
                <a:tailEnd/>
              </a:ln>
            </p:spPr>
            <p:txBody>
              <a:bodyPr/>
              <a:lstStyle/>
              <a:p>
                <a:r>
                  <a:rPr lang="pl-PL">
                    <a:noFill/>
                  </a:rPr>
                  <a:t> </a:t>
                </a:r>
              </a:p>
            </p:txBody>
          </p:sp>
        </mc:Fallback>
      </mc:AlternateContent>
      <p:sp>
        <p:nvSpPr>
          <p:cNvPr id="2" name="TextShape 1">
            <a:extLst>
              <a:ext uri="{FF2B5EF4-FFF2-40B4-BE49-F238E27FC236}">
                <a16:creationId xmlns:a16="http://schemas.microsoft.com/office/drawing/2014/main" id="{4D09F68D-785D-0354-71D1-FB3925E8D9A3}"/>
              </a:ext>
            </a:extLst>
          </p:cNvPr>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Assumptions of the </a:t>
            </a:r>
            <a:r>
              <a:rPr lang="en-GB" sz="3600" b="1" i="1" spc="-1" noProof="0" dirty="0" err="1">
                <a:solidFill>
                  <a:srgbClr val="215968"/>
                </a:solidFill>
              </a:rPr>
              <a:t>Walrasian</a:t>
            </a:r>
            <a:r>
              <a:rPr lang="en-GB" sz="3600" b="1" i="1" spc="-1" noProof="0" dirty="0">
                <a:solidFill>
                  <a:srgbClr val="215968"/>
                </a:solidFill>
              </a:rPr>
              <a:t> exchange model</a:t>
            </a:r>
          </a:p>
        </p:txBody>
      </p:sp>
    </p:spTree>
    <p:extLst>
      <p:ext uri="{BB962C8B-B14F-4D97-AF65-F5344CB8AC3E}">
        <p14:creationId xmlns:p14="http://schemas.microsoft.com/office/powerpoint/2010/main" val="3205173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Text Box 1029">
                <a:extLst>
                  <a:ext uri="{FF2B5EF4-FFF2-40B4-BE49-F238E27FC236}">
                    <a16:creationId xmlns:a16="http://schemas.microsoft.com/office/drawing/2014/main" id="{F551964D-FF17-45E6-E54D-62A33A62FC94}"/>
                  </a:ext>
                </a:extLst>
              </p:cNvPr>
              <p:cNvSpPr txBox="1">
                <a:spLocks noChangeArrowheads="1"/>
              </p:cNvSpPr>
              <p:nvPr/>
            </p:nvSpPr>
            <p:spPr bwMode="auto">
              <a:xfrm>
                <a:off x="751840" y="1661795"/>
                <a:ext cx="9827260" cy="4262642"/>
              </a:xfrm>
              <a:prstGeom prst="rect">
                <a:avLst/>
              </a:prstGeom>
              <a:noFill/>
              <a:ln w="9525">
                <a:noFill/>
                <a:miter lim="800000"/>
                <a:headEnd/>
                <a:tailEnd/>
              </a:ln>
            </p:spPr>
            <p:txBody>
              <a:bodyPr wrap="square">
                <a:spAutoFit/>
              </a:bodyPr>
              <a:lstStyle/>
              <a:p>
                <a:pPr>
                  <a:buNone/>
                </a:pPr>
                <a:r>
                  <a:rPr lang="en-GB" sz="2800" b="1" noProof="0" dirty="0">
                    <a:solidFill>
                      <a:schemeClr val="accent5">
                        <a:lumMod val="50000"/>
                      </a:schemeClr>
                    </a:solidFill>
                  </a:rPr>
                  <a:t>Two households </a:t>
                </a:r>
                <a14:m>
                  <m:oMath xmlns:m="http://schemas.openxmlformats.org/officeDocument/2006/math">
                    <m:r>
                      <a:rPr lang="en-GB" sz="2800" b="1" i="1" noProof="0" smtClean="0">
                        <a:solidFill>
                          <a:schemeClr val="accent5">
                            <a:lumMod val="50000"/>
                          </a:schemeClr>
                        </a:solidFill>
                      </a:rPr>
                      <m:t>𝑨</m:t>
                    </m:r>
                  </m:oMath>
                </a14:m>
                <a:r>
                  <a:rPr lang="en-GB" sz="2800" b="1" noProof="0" dirty="0">
                    <a:solidFill>
                      <a:schemeClr val="accent5">
                        <a:lumMod val="50000"/>
                      </a:schemeClr>
                    </a:solidFill>
                  </a:rPr>
                  <a:t> and </a:t>
                </a:r>
                <a14:m>
                  <m:oMath xmlns:m="http://schemas.openxmlformats.org/officeDocument/2006/math">
                    <m:r>
                      <a:rPr lang="en-GB" sz="2800" b="1" i="1" noProof="0" smtClean="0">
                        <a:solidFill>
                          <a:schemeClr val="accent5">
                            <a:lumMod val="50000"/>
                          </a:schemeClr>
                        </a:solidFill>
                      </a:rPr>
                      <m:t>𝑩</m:t>
                    </m:r>
                  </m:oMath>
                </a14:m>
                <a:r>
                  <a:rPr lang="en-GB" sz="2800" b="1" noProof="0" dirty="0">
                    <a:solidFill>
                      <a:schemeClr val="accent5">
                        <a:lumMod val="50000"/>
                      </a:schemeClr>
                    </a:solidFill>
                  </a:rPr>
                  <a:t>, two goods </a:t>
                </a:r>
                <a14:m>
                  <m:oMath xmlns:m="http://schemas.openxmlformats.org/officeDocument/2006/math">
                    <m:r>
                      <a:rPr lang="en-GB" sz="2800" b="1" i="1" noProof="0" smtClean="0">
                        <a:solidFill>
                          <a:schemeClr val="accent5">
                            <a:lumMod val="50000"/>
                          </a:schemeClr>
                        </a:solidFill>
                      </a:rPr>
                      <m:t>𝟏</m:t>
                    </m:r>
                  </m:oMath>
                </a14:m>
                <a:r>
                  <a:rPr lang="en-GB" sz="2800" b="1" noProof="0" dirty="0">
                    <a:solidFill>
                      <a:schemeClr val="accent5">
                        <a:lumMod val="50000"/>
                      </a:schemeClr>
                    </a:solidFill>
                  </a:rPr>
                  <a:t>and </a:t>
                </a:r>
                <a14:m>
                  <m:oMath xmlns:m="http://schemas.openxmlformats.org/officeDocument/2006/math">
                    <m:r>
                      <a:rPr lang="en-GB" sz="2800" b="1" i="1" noProof="0" smtClean="0">
                        <a:solidFill>
                          <a:schemeClr val="accent5">
                            <a:lumMod val="50000"/>
                          </a:schemeClr>
                        </a:solidFill>
                      </a:rPr>
                      <m:t>𝟐</m:t>
                    </m:r>
                  </m:oMath>
                </a14:m>
                <a:r>
                  <a:rPr lang="en-GB" sz="2800" b="1" noProof="0" dirty="0">
                    <a:solidFill>
                      <a:schemeClr val="accent5">
                        <a:lumMod val="50000"/>
                      </a:schemeClr>
                    </a:solidFill>
                  </a:rPr>
                  <a:t>with prices </a:t>
                </a:r>
                <a14:m>
                  <m:oMath xmlns:m="http://schemas.openxmlformats.org/officeDocument/2006/math">
                    <m:sSub>
                      <m:sSubPr>
                        <m:ctrlPr>
                          <a:rPr lang="en-GB" sz="2800" b="1" i="1" noProof="0" smtClean="0">
                            <a:solidFill>
                              <a:schemeClr val="accent5">
                                <a:lumMod val="50000"/>
                              </a:schemeClr>
                            </a:solidFill>
                          </a:rPr>
                        </m:ctrlPr>
                      </m:sSubPr>
                      <m:e>
                        <m:r>
                          <a:rPr lang="en-GB" sz="2800" b="1" i="1" noProof="0" smtClean="0">
                            <a:solidFill>
                              <a:schemeClr val="accent5">
                                <a:lumMod val="50000"/>
                              </a:schemeClr>
                            </a:solidFill>
                          </a:rPr>
                          <m:t>𝒑</m:t>
                        </m:r>
                      </m:e>
                      <m:sub>
                        <m:r>
                          <a:rPr lang="en-GB" sz="2800" b="1" i="0" noProof="0" smtClean="0">
                            <a:solidFill>
                              <a:schemeClr val="accent5">
                                <a:lumMod val="50000"/>
                              </a:schemeClr>
                            </a:solidFill>
                          </a:rPr>
                          <m:t>𝟏</m:t>
                        </m:r>
                      </m:sub>
                    </m:sSub>
                    <m:r>
                      <a:rPr lang="en-GB" sz="2800" b="1" i="0" noProof="0" smtClean="0">
                        <a:solidFill>
                          <a:schemeClr val="accent5">
                            <a:lumMod val="50000"/>
                          </a:schemeClr>
                        </a:solidFill>
                      </a:rPr>
                      <m:t>,</m:t>
                    </m:r>
                    <m:sSub>
                      <m:sSubPr>
                        <m:ctrlPr>
                          <a:rPr lang="en-GB" sz="2800" b="1" i="1" noProof="0" smtClean="0">
                            <a:solidFill>
                              <a:schemeClr val="accent5">
                                <a:lumMod val="50000"/>
                              </a:schemeClr>
                            </a:solidFill>
                          </a:rPr>
                        </m:ctrlPr>
                      </m:sSubPr>
                      <m:e>
                        <m:r>
                          <a:rPr lang="en-GB" sz="2800" b="1" i="1" noProof="0" smtClean="0">
                            <a:solidFill>
                              <a:schemeClr val="accent5">
                                <a:lumMod val="50000"/>
                              </a:schemeClr>
                            </a:solidFill>
                          </a:rPr>
                          <m:t>𝒑</m:t>
                        </m:r>
                      </m:e>
                      <m:sub>
                        <m:r>
                          <a:rPr lang="en-GB" sz="2800" b="1" i="0" noProof="0" smtClean="0">
                            <a:solidFill>
                              <a:schemeClr val="accent5">
                                <a:lumMod val="50000"/>
                              </a:schemeClr>
                            </a:solidFill>
                          </a:rPr>
                          <m:t>𝟐</m:t>
                        </m:r>
                      </m:sub>
                    </m:sSub>
                  </m:oMath>
                </a14:m>
                <a:r>
                  <a:rPr lang="en-GB" sz="2800" b="1" noProof="0" dirty="0">
                    <a:solidFill>
                      <a:schemeClr val="accent5">
                        <a:lumMod val="50000"/>
                      </a:schemeClr>
                    </a:solidFill>
                  </a:rPr>
                  <a:t>.</a:t>
                </a:r>
              </a:p>
              <a:p>
                <a:pPr>
                  <a:buNone/>
                </a:pPr>
                <a:endParaRPr lang="en-GB" sz="2800" b="1" noProof="0" dirty="0">
                  <a:solidFill>
                    <a:schemeClr val="accent5">
                      <a:lumMod val="50000"/>
                    </a:schemeClr>
                  </a:solidFill>
                </a:endParaRPr>
              </a:p>
              <a:p>
                <a:pPr>
                  <a:buNone/>
                </a:pPr>
                <a:r>
                  <a:rPr lang="en-GB" sz="2800" b="1" noProof="0" dirty="0">
                    <a:solidFill>
                      <a:schemeClr val="accent5">
                        <a:lumMod val="50000"/>
                      </a:schemeClr>
                    </a:solidFill>
                  </a:rPr>
                  <a:t>Household </a:t>
                </a:r>
                <a14:m>
                  <m:oMath xmlns:m="http://schemas.openxmlformats.org/officeDocument/2006/math">
                    <m:r>
                      <a:rPr lang="en-GB" sz="2800" b="1" i="1" noProof="0" smtClean="0">
                        <a:solidFill>
                          <a:schemeClr val="accent5">
                            <a:lumMod val="50000"/>
                          </a:schemeClr>
                        </a:solidFill>
                      </a:rPr>
                      <m:t>𝒉</m:t>
                    </m:r>
                    <m:r>
                      <a:rPr lang="en-GB" sz="2800" b="1" i="0" noProof="0" smtClean="0">
                        <a:solidFill>
                          <a:schemeClr val="accent5">
                            <a:lumMod val="50000"/>
                          </a:schemeClr>
                        </a:solidFill>
                      </a:rPr>
                      <m:t>∈</m:t>
                    </m:r>
                    <m:d>
                      <m:dPr>
                        <m:begChr m:val="{"/>
                        <m:endChr m:val="}"/>
                        <m:sepChr m:val=","/>
                        <m:ctrlPr>
                          <a:rPr lang="en-GB" sz="2800" b="1" i="1" noProof="0" smtClean="0">
                            <a:solidFill>
                              <a:schemeClr val="accent5">
                                <a:lumMod val="50000"/>
                              </a:schemeClr>
                            </a:solidFill>
                          </a:rPr>
                        </m:ctrlPr>
                      </m:dPr>
                      <m:e>
                        <m:r>
                          <a:rPr lang="en-GB" sz="2800" b="1" i="1" noProof="0" smtClean="0">
                            <a:solidFill>
                              <a:schemeClr val="accent5">
                                <a:lumMod val="50000"/>
                              </a:schemeClr>
                            </a:solidFill>
                          </a:rPr>
                          <m:t>𝑨</m:t>
                        </m:r>
                      </m:e>
                      <m:e>
                        <m:r>
                          <a:rPr lang="en-GB" sz="2800" b="1" i="1" noProof="0" smtClean="0">
                            <a:solidFill>
                              <a:schemeClr val="accent5">
                                <a:lumMod val="50000"/>
                              </a:schemeClr>
                            </a:solidFill>
                          </a:rPr>
                          <m:t>𝑩</m:t>
                        </m:r>
                      </m:e>
                    </m:d>
                  </m:oMath>
                </a14:m>
                <a:r>
                  <a:rPr lang="en-GB" sz="2800" b="1" noProof="0" dirty="0">
                    <a:solidFill>
                      <a:schemeClr val="accent5">
                        <a:lumMod val="50000"/>
                      </a:schemeClr>
                    </a:solidFill>
                  </a:rPr>
                  <a:t> has endowment </a:t>
                </a:r>
                <a14:m>
                  <m:oMath xmlns:m="http://schemas.openxmlformats.org/officeDocument/2006/math">
                    <m:d>
                      <m:dPr>
                        <m:sepChr m:val=","/>
                        <m:ctrlPr>
                          <a:rPr lang="en-GB" sz="2800" b="1" i="1" noProof="0" smtClean="0">
                            <a:solidFill>
                              <a:schemeClr val="accent5">
                                <a:lumMod val="50000"/>
                              </a:schemeClr>
                            </a:solidFill>
                          </a:rPr>
                        </m:ctrlPr>
                      </m:dPr>
                      <m:e>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𝝎</m:t>
                            </m:r>
                          </m:e>
                          <m:sub>
                            <m:r>
                              <a:rPr lang="en-GB" sz="2800" b="1" i="0" noProof="0" smtClean="0">
                                <a:solidFill>
                                  <a:schemeClr val="accent5">
                                    <a:lumMod val="50000"/>
                                  </a:schemeClr>
                                </a:solidFill>
                              </a:rPr>
                              <m:t>𝟏</m:t>
                            </m:r>
                          </m:sub>
                          <m:sup>
                            <m:r>
                              <a:rPr lang="en-GB" sz="2800" b="1" i="1" noProof="0" smtClean="0">
                                <a:solidFill>
                                  <a:schemeClr val="accent5">
                                    <a:lumMod val="50000"/>
                                  </a:schemeClr>
                                </a:solidFill>
                              </a:rPr>
                              <m:t>𝒉</m:t>
                            </m:r>
                          </m:sup>
                        </m:sSubSup>
                      </m:e>
                      <m:e>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𝝎</m:t>
                            </m:r>
                          </m:e>
                          <m:sub>
                            <m:r>
                              <a:rPr lang="en-GB" sz="2800" b="1" i="0" noProof="0" smtClean="0">
                                <a:solidFill>
                                  <a:schemeClr val="accent5">
                                    <a:lumMod val="50000"/>
                                  </a:schemeClr>
                                </a:solidFill>
                              </a:rPr>
                              <m:t>𝟐</m:t>
                            </m:r>
                          </m:sub>
                          <m:sup>
                            <m:r>
                              <a:rPr lang="en-GB" sz="2800" b="1" i="1" noProof="0" smtClean="0">
                                <a:solidFill>
                                  <a:schemeClr val="accent5">
                                    <a:lumMod val="50000"/>
                                  </a:schemeClr>
                                </a:solidFill>
                              </a:rPr>
                              <m:t>𝒉</m:t>
                            </m:r>
                          </m:sup>
                        </m:sSubSup>
                      </m:e>
                    </m:d>
                  </m:oMath>
                </a14:m>
                <a:br>
                  <a:rPr lang="en-GB" sz="2800" b="1" noProof="0" dirty="0">
                    <a:solidFill>
                      <a:schemeClr val="accent5">
                        <a:lumMod val="50000"/>
                      </a:schemeClr>
                    </a:solidFill>
                  </a:rPr>
                </a:br>
                <a:endParaRPr lang="en-GB" sz="2800" b="1" noProof="0" dirty="0">
                  <a:solidFill>
                    <a:schemeClr val="accent5">
                      <a:lumMod val="50000"/>
                    </a:schemeClr>
                  </a:solidFill>
                </a:endParaRPr>
              </a:p>
              <a:p>
                <a:pPr>
                  <a:buNone/>
                </a:pPr>
                <a:r>
                  <a:rPr lang="en-GB" sz="2800" b="1" noProof="0" dirty="0">
                    <a:solidFill>
                      <a:schemeClr val="accent5">
                        <a:lumMod val="50000"/>
                      </a:schemeClr>
                    </a:solidFill>
                  </a:rPr>
                  <a:t>and chooses </a:t>
                </a:r>
                <a14:m>
                  <m:oMath xmlns:m="http://schemas.openxmlformats.org/officeDocument/2006/math">
                    <m:d>
                      <m:dPr>
                        <m:sepChr m:val=","/>
                        <m:ctrlPr>
                          <a:rPr lang="en-GB" sz="2800" b="1" i="1" noProof="0" smtClean="0">
                            <a:solidFill>
                              <a:schemeClr val="accent5">
                                <a:lumMod val="50000"/>
                              </a:schemeClr>
                            </a:solidFill>
                          </a:rPr>
                        </m:ctrlPr>
                      </m:dPr>
                      <m:e>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𝒙</m:t>
                            </m:r>
                          </m:e>
                          <m:sub>
                            <m:r>
                              <a:rPr lang="en-GB" sz="2800" b="1" i="0" noProof="0" smtClean="0">
                                <a:solidFill>
                                  <a:schemeClr val="accent5">
                                    <a:lumMod val="50000"/>
                                  </a:schemeClr>
                                </a:solidFill>
                              </a:rPr>
                              <m:t>𝟏</m:t>
                            </m:r>
                          </m:sub>
                          <m:sup>
                            <m:r>
                              <a:rPr lang="en-GB" sz="2800" b="1" i="1" noProof="0" smtClean="0">
                                <a:solidFill>
                                  <a:schemeClr val="accent5">
                                    <a:lumMod val="50000"/>
                                  </a:schemeClr>
                                </a:solidFill>
                              </a:rPr>
                              <m:t>𝒉</m:t>
                            </m:r>
                          </m:sup>
                        </m:sSubSup>
                      </m:e>
                      <m:e>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𝒙</m:t>
                            </m:r>
                          </m:e>
                          <m:sub>
                            <m:r>
                              <a:rPr lang="en-GB" sz="2800" b="1" i="0" noProof="0" smtClean="0">
                                <a:solidFill>
                                  <a:schemeClr val="accent5">
                                    <a:lumMod val="50000"/>
                                  </a:schemeClr>
                                </a:solidFill>
                              </a:rPr>
                              <m:t>𝟐</m:t>
                            </m:r>
                          </m:sub>
                          <m:sup>
                            <m:r>
                              <a:rPr lang="en-GB" sz="2800" b="1" i="1" noProof="0" smtClean="0">
                                <a:solidFill>
                                  <a:schemeClr val="accent5">
                                    <a:lumMod val="50000"/>
                                  </a:schemeClr>
                                </a:solidFill>
                              </a:rPr>
                              <m:t>𝒉</m:t>
                            </m:r>
                          </m:sup>
                        </m:sSubSup>
                      </m:e>
                    </m:d>
                  </m:oMath>
                </a14:m>
                <a:r>
                  <a:rPr lang="en-GB" sz="2800" b="1" noProof="0" dirty="0">
                    <a:solidFill>
                      <a:schemeClr val="accent5">
                        <a:lumMod val="50000"/>
                      </a:schemeClr>
                    </a:solidFill>
                  </a:rPr>
                  <a:t>.</a:t>
                </a:r>
              </a:p>
              <a:p>
                <a:pPr>
                  <a:buNone/>
                </a:pPr>
                <a:endParaRPr lang="en-GB" sz="2800" b="1" noProof="0" dirty="0">
                  <a:solidFill>
                    <a:schemeClr val="accent5">
                      <a:lumMod val="50000"/>
                    </a:schemeClr>
                  </a:solidFill>
                </a:endParaRPr>
              </a:p>
              <a:p>
                <a:pPr>
                  <a:buNone/>
                </a:pPr>
                <a:endParaRPr lang="en-GB" sz="2800" b="1" noProof="0" dirty="0">
                  <a:solidFill>
                    <a:schemeClr val="accent5">
                      <a:lumMod val="50000"/>
                    </a:schemeClr>
                  </a:solidFill>
                </a:endParaRPr>
              </a:p>
              <a:p>
                <a:pPr>
                  <a:buNone/>
                </a:pPr>
                <a:r>
                  <a:rPr lang="en-GB" sz="2800" b="1" noProof="0" dirty="0">
                    <a:solidFill>
                      <a:schemeClr val="accent5">
                        <a:lumMod val="50000"/>
                      </a:schemeClr>
                    </a:solidFill>
                  </a:rPr>
                  <a:t>Budget constraint of household </a:t>
                </a:r>
                <a14:m>
                  <m:oMath xmlns:m="http://schemas.openxmlformats.org/officeDocument/2006/math">
                    <m:r>
                      <a:rPr lang="en-GB" sz="2800" b="1" i="1" noProof="0" smtClean="0">
                        <a:solidFill>
                          <a:schemeClr val="accent5">
                            <a:lumMod val="50000"/>
                          </a:schemeClr>
                        </a:solidFill>
                      </a:rPr>
                      <m:t>𝒉</m:t>
                    </m:r>
                  </m:oMath>
                </a14:m>
                <a:r>
                  <a:rPr lang="en-GB" sz="2800" b="1" noProof="0" dirty="0">
                    <a:solidFill>
                      <a:schemeClr val="accent5">
                        <a:lumMod val="50000"/>
                      </a:schemeClr>
                    </a:solidFill>
                  </a:rPr>
                  <a:t>:</a:t>
                </a:r>
              </a:p>
              <a:p>
                <a:pPr>
                  <a:buNone/>
                </a:pPr>
                <a14:m>
                  <m:oMathPara xmlns:m="http://schemas.openxmlformats.org/officeDocument/2006/math">
                    <m:oMathParaPr>
                      <m:jc m:val="centerGroup"/>
                    </m:oMathParaPr>
                    <m:oMath xmlns:m="http://schemas.openxmlformats.org/officeDocument/2006/math">
                      <m:sSub>
                        <m:sSubPr>
                          <m:ctrlPr>
                            <a:rPr lang="en-GB" sz="2800" b="1" i="1" noProof="0" smtClean="0">
                              <a:solidFill>
                                <a:schemeClr val="accent5">
                                  <a:lumMod val="50000"/>
                                </a:schemeClr>
                              </a:solidFill>
                            </a:rPr>
                          </m:ctrlPr>
                        </m:sSubPr>
                        <m:e>
                          <m:r>
                            <a:rPr lang="en-GB" sz="2800" b="1" i="1" noProof="0" smtClean="0">
                              <a:solidFill>
                                <a:schemeClr val="accent5">
                                  <a:lumMod val="50000"/>
                                </a:schemeClr>
                              </a:solidFill>
                            </a:rPr>
                            <m:t>𝒑</m:t>
                          </m:r>
                        </m:e>
                        <m:sub>
                          <m:r>
                            <a:rPr lang="en-GB" sz="2800" b="1" i="0" noProof="0" smtClean="0">
                              <a:solidFill>
                                <a:schemeClr val="accent5">
                                  <a:lumMod val="50000"/>
                                </a:schemeClr>
                              </a:solidFill>
                            </a:rPr>
                            <m:t>𝟏</m:t>
                          </m:r>
                        </m:sub>
                      </m:sSub>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𝒙</m:t>
                          </m:r>
                        </m:e>
                        <m:sub>
                          <m:r>
                            <a:rPr lang="en-GB" sz="2800" b="1" i="0" noProof="0" smtClean="0">
                              <a:solidFill>
                                <a:schemeClr val="accent5">
                                  <a:lumMod val="50000"/>
                                </a:schemeClr>
                              </a:solidFill>
                            </a:rPr>
                            <m:t>𝟏</m:t>
                          </m:r>
                        </m:sub>
                        <m:sup>
                          <m:r>
                            <a:rPr lang="en-GB" sz="2800" b="1" i="1" noProof="0" smtClean="0">
                              <a:solidFill>
                                <a:schemeClr val="accent5">
                                  <a:lumMod val="50000"/>
                                </a:schemeClr>
                              </a:solidFill>
                            </a:rPr>
                            <m:t>𝒉</m:t>
                          </m:r>
                        </m:sup>
                      </m:sSubSup>
                      <m:r>
                        <a:rPr lang="en-GB" sz="2800" b="1" i="0" noProof="0" smtClean="0">
                          <a:solidFill>
                            <a:schemeClr val="accent5">
                              <a:lumMod val="50000"/>
                            </a:schemeClr>
                          </a:solidFill>
                        </a:rPr>
                        <m:t>+</m:t>
                      </m:r>
                      <m:sSub>
                        <m:sSubPr>
                          <m:ctrlPr>
                            <a:rPr lang="en-GB" sz="2800" b="1" i="1" noProof="0" smtClean="0">
                              <a:solidFill>
                                <a:schemeClr val="accent5">
                                  <a:lumMod val="50000"/>
                                </a:schemeClr>
                              </a:solidFill>
                            </a:rPr>
                          </m:ctrlPr>
                        </m:sSubPr>
                        <m:e>
                          <m:r>
                            <a:rPr lang="en-GB" sz="2800" b="1" i="1" noProof="0" smtClean="0">
                              <a:solidFill>
                                <a:schemeClr val="accent5">
                                  <a:lumMod val="50000"/>
                                </a:schemeClr>
                              </a:solidFill>
                            </a:rPr>
                            <m:t>𝒑</m:t>
                          </m:r>
                        </m:e>
                        <m:sub>
                          <m:r>
                            <a:rPr lang="en-GB" sz="2800" b="1" i="0" noProof="0" smtClean="0">
                              <a:solidFill>
                                <a:schemeClr val="accent5">
                                  <a:lumMod val="50000"/>
                                </a:schemeClr>
                              </a:solidFill>
                            </a:rPr>
                            <m:t>𝟐</m:t>
                          </m:r>
                        </m:sub>
                      </m:sSub>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𝒙</m:t>
                          </m:r>
                        </m:e>
                        <m:sub>
                          <m:r>
                            <a:rPr lang="en-GB" sz="2800" b="1" i="0" noProof="0" smtClean="0">
                              <a:solidFill>
                                <a:schemeClr val="accent5">
                                  <a:lumMod val="50000"/>
                                </a:schemeClr>
                              </a:solidFill>
                            </a:rPr>
                            <m:t>𝟐</m:t>
                          </m:r>
                        </m:sub>
                        <m:sup>
                          <m:r>
                            <a:rPr lang="en-GB" sz="2800" b="1" i="1" noProof="0" smtClean="0">
                              <a:solidFill>
                                <a:schemeClr val="accent5">
                                  <a:lumMod val="50000"/>
                                </a:schemeClr>
                              </a:solidFill>
                            </a:rPr>
                            <m:t>𝒉</m:t>
                          </m:r>
                        </m:sup>
                      </m:sSubSup>
                      <m:r>
                        <a:rPr lang="en-GB" sz="2800" b="1" i="0" noProof="0" smtClean="0">
                          <a:solidFill>
                            <a:schemeClr val="accent5">
                              <a:lumMod val="50000"/>
                            </a:schemeClr>
                          </a:solidFill>
                        </a:rPr>
                        <m:t>=</m:t>
                      </m:r>
                      <m:sSub>
                        <m:sSubPr>
                          <m:ctrlPr>
                            <a:rPr lang="en-GB" sz="2800" b="1" i="1" noProof="0" smtClean="0">
                              <a:solidFill>
                                <a:schemeClr val="accent5">
                                  <a:lumMod val="50000"/>
                                </a:schemeClr>
                              </a:solidFill>
                            </a:rPr>
                          </m:ctrlPr>
                        </m:sSubPr>
                        <m:e>
                          <m:r>
                            <a:rPr lang="en-GB" sz="2800" b="1" i="1" noProof="0" smtClean="0">
                              <a:solidFill>
                                <a:schemeClr val="accent5">
                                  <a:lumMod val="50000"/>
                                </a:schemeClr>
                              </a:solidFill>
                            </a:rPr>
                            <m:t>𝒑</m:t>
                          </m:r>
                        </m:e>
                        <m:sub>
                          <m:r>
                            <a:rPr lang="en-GB" sz="2800" b="1" i="0" noProof="0" smtClean="0">
                              <a:solidFill>
                                <a:schemeClr val="accent5">
                                  <a:lumMod val="50000"/>
                                </a:schemeClr>
                              </a:solidFill>
                            </a:rPr>
                            <m:t>𝟏</m:t>
                          </m:r>
                        </m:sub>
                      </m:sSub>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𝝎</m:t>
                          </m:r>
                        </m:e>
                        <m:sub>
                          <m:r>
                            <a:rPr lang="en-GB" sz="2800" b="1" i="0" noProof="0" smtClean="0">
                              <a:solidFill>
                                <a:schemeClr val="accent5">
                                  <a:lumMod val="50000"/>
                                </a:schemeClr>
                              </a:solidFill>
                            </a:rPr>
                            <m:t>𝟏</m:t>
                          </m:r>
                        </m:sub>
                        <m:sup>
                          <m:r>
                            <a:rPr lang="en-GB" sz="2800" b="1" i="1" noProof="0" smtClean="0">
                              <a:solidFill>
                                <a:schemeClr val="accent5">
                                  <a:lumMod val="50000"/>
                                </a:schemeClr>
                              </a:solidFill>
                            </a:rPr>
                            <m:t>𝒉</m:t>
                          </m:r>
                        </m:sup>
                      </m:sSubSup>
                      <m:r>
                        <a:rPr lang="en-GB" sz="2800" b="1" i="0" noProof="0" smtClean="0">
                          <a:solidFill>
                            <a:schemeClr val="accent5">
                              <a:lumMod val="50000"/>
                            </a:schemeClr>
                          </a:solidFill>
                        </a:rPr>
                        <m:t>+</m:t>
                      </m:r>
                      <m:sSub>
                        <m:sSubPr>
                          <m:ctrlPr>
                            <a:rPr lang="en-GB" sz="2800" b="1" i="1" noProof="0" smtClean="0">
                              <a:solidFill>
                                <a:schemeClr val="accent5">
                                  <a:lumMod val="50000"/>
                                </a:schemeClr>
                              </a:solidFill>
                            </a:rPr>
                          </m:ctrlPr>
                        </m:sSubPr>
                        <m:e>
                          <m:r>
                            <a:rPr lang="en-GB" sz="2800" b="1" i="1" noProof="0" smtClean="0">
                              <a:solidFill>
                                <a:schemeClr val="accent5">
                                  <a:lumMod val="50000"/>
                                </a:schemeClr>
                              </a:solidFill>
                            </a:rPr>
                            <m:t>𝒑</m:t>
                          </m:r>
                        </m:e>
                        <m:sub>
                          <m:r>
                            <a:rPr lang="en-GB" sz="2800" b="1" i="0" noProof="0" smtClean="0">
                              <a:solidFill>
                                <a:schemeClr val="accent5">
                                  <a:lumMod val="50000"/>
                                </a:schemeClr>
                              </a:solidFill>
                            </a:rPr>
                            <m:t>𝟐</m:t>
                          </m:r>
                        </m:sub>
                      </m:sSub>
                      <m:sSubSup>
                        <m:sSubSupPr>
                          <m:ctrlPr>
                            <a:rPr lang="en-GB" sz="2800" b="1" i="1" noProof="0" smtClean="0">
                              <a:solidFill>
                                <a:schemeClr val="accent5">
                                  <a:lumMod val="50000"/>
                                </a:schemeClr>
                              </a:solidFill>
                            </a:rPr>
                          </m:ctrlPr>
                        </m:sSubSupPr>
                        <m:e>
                          <m:r>
                            <a:rPr lang="en-GB" sz="2800" b="1" i="1" noProof="0" smtClean="0">
                              <a:solidFill>
                                <a:schemeClr val="accent5">
                                  <a:lumMod val="50000"/>
                                </a:schemeClr>
                              </a:solidFill>
                            </a:rPr>
                            <m:t>𝝎</m:t>
                          </m:r>
                        </m:e>
                        <m:sub>
                          <m:r>
                            <a:rPr lang="en-GB" sz="2800" b="1" i="0" noProof="0" smtClean="0">
                              <a:solidFill>
                                <a:schemeClr val="accent5">
                                  <a:lumMod val="50000"/>
                                </a:schemeClr>
                              </a:solidFill>
                            </a:rPr>
                            <m:t>𝟐</m:t>
                          </m:r>
                        </m:sub>
                        <m:sup>
                          <m:r>
                            <a:rPr lang="en-GB" sz="2800" b="1" i="1" noProof="0" smtClean="0">
                              <a:solidFill>
                                <a:schemeClr val="accent5">
                                  <a:lumMod val="50000"/>
                                </a:schemeClr>
                              </a:solidFill>
                            </a:rPr>
                            <m:t>𝒉</m:t>
                          </m:r>
                        </m:sup>
                      </m:sSubSup>
                      <m:r>
                        <a:rPr lang="en-GB" sz="2800" b="1" i="0" noProof="0" smtClean="0">
                          <a:solidFill>
                            <a:schemeClr val="accent5">
                              <a:lumMod val="50000"/>
                            </a:schemeClr>
                          </a:solidFill>
                        </a:rPr>
                        <m:t>.</m:t>
                      </m:r>
                    </m:oMath>
                  </m:oMathPara>
                </a14:m>
                <a:endParaRPr lang="en-GB" sz="2800" b="1" noProof="0" dirty="0">
                  <a:solidFill>
                    <a:schemeClr val="accent5">
                      <a:lumMod val="50000"/>
                    </a:schemeClr>
                  </a:solidFill>
                </a:endParaRPr>
              </a:p>
            </p:txBody>
          </p:sp>
        </mc:Choice>
        <mc:Fallback>
          <p:sp>
            <p:nvSpPr>
              <p:cNvPr id="8" name="Text Box 1029">
                <a:extLst>
                  <a:ext uri="{FF2B5EF4-FFF2-40B4-BE49-F238E27FC236}">
                    <a16:creationId xmlns:a16="http://schemas.microsoft.com/office/drawing/2014/main" id="{F551964D-FF17-45E6-E54D-62A33A62FC94}"/>
                  </a:ext>
                </a:extLst>
              </p:cNvPr>
              <p:cNvSpPr txBox="1">
                <a:spLocks noRot="1" noChangeAspect="1" noMove="1" noResize="1" noEditPoints="1" noAdjustHandles="1" noChangeArrowheads="1" noChangeShapeType="1" noTextEdit="1"/>
              </p:cNvSpPr>
              <p:nvPr/>
            </p:nvSpPr>
            <p:spPr bwMode="auto">
              <a:xfrm>
                <a:off x="751840" y="1661795"/>
                <a:ext cx="9827260" cy="4262642"/>
              </a:xfrm>
              <a:prstGeom prst="rect">
                <a:avLst/>
              </a:prstGeom>
              <a:blipFill>
                <a:blip r:embed="rId3"/>
                <a:stretch>
                  <a:fillRect l="-1241" t="-1431"/>
                </a:stretch>
              </a:blipFill>
              <a:ln w="9525">
                <a:noFill/>
                <a:miter lim="800000"/>
                <a:headEnd/>
                <a:tailEnd/>
              </a:ln>
            </p:spPr>
            <p:txBody>
              <a:bodyPr/>
              <a:lstStyle/>
              <a:p>
                <a:r>
                  <a:rPr lang="pl-PL">
                    <a:noFill/>
                  </a:rPr>
                  <a:t> </a:t>
                </a:r>
              </a:p>
            </p:txBody>
          </p:sp>
        </mc:Fallback>
      </mc:AlternateContent>
      <p:sp>
        <p:nvSpPr>
          <p:cNvPr id="2" name="TextShape 1">
            <a:extLst>
              <a:ext uri="{FF2B5EF4-FFF2-40B4-BE49-F238E27FC236}">
                <a16:creationId xmlns:a16="http://schemas.microsoft.com/office/drawing/2014/main" id="{D8D3CF49-B676-01CA-6F2D-D7E16DAE9B08}"/>
              </a:ext>
            </a:extLst>
          </p:cNvPr>
          <p:cNvSpPr txBox="1"/>
          <p:nvPr/>
        </p:nvSpPr>
        <p:spPr>
          <a:xfrm>
            <a:off x="0" y="-2710"/>
            <a:ext cx="12192000" cy="1143000"/>
          </a:xfrm>
          <a:prstGeom prst="rect">
            <a:avLst/>
          </a:prstGeom>
          <a:solidFill>
            <a:srgbClr val="DBEEF4"/>
          </a:solidFill>
          <a:ln>
            <a:noFill/>
          </a:ln>
        </p:spPr>
        <p:txBody>
          <a:bodyPr anchor="ctr"/>
          <a:lstStyle/>
          <a:p>
            <a:pPr algn="ctr"/>
            <a:r>
              <a:rPr lang="en-GB" sz="3600" b="1" i="1" spc="-1" noProof="0" dirty="0">
                <a:solidFill>
                  <a:srgbClr val="215968"/>
                </a:solidFill>
              </a:rPr>
              <a:t>Budget constraints for two households and two goods</a:t>
            </a:r>
          </a:p>
        </p:txBody>
      </p:sp>
    </p:spTree>
    <p:extLst>
      <p:ext uri="{BB962C8B-B14F-4D97-AF65-F5344CB8AC3E}">
        <p14:creationId xmlns:p14="http://schemas.microsoft.com/office/powerpoint/2010/main" val="1780635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80D8-1C78-ACA6-8BBD-C521BB2EC804}"/>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5F18ED72-5C08-3737-27A1-B41F707223EB}"/>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Walras' law from individual budget constraints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09C171-2294-E03A-7DEC-E0639C72EDE8}"/>
                  </a:ext>
                </a:extLst>
              </p:cNvPr>
              <p:cNvSpPr txBox="1"/>
              <p:nvPr/>
            </p:nvSpPr>
            <p:spPr>
              <a:xfrm>
                <a:off x="1056640" y="1140290"/>
                <a:ext cx="10353040" cy="5593583"/>
              </a:xfrm>
              <a:prstGeom prst="rect">
                <a:avLst/>
              </a:prstGeom>
              <a:noFill/>
            </p:spPr>
            <p:txBody>
              <a:bodyPr wrap="square">
                <a:spAutoFit/>
              </a:bodyPr>
              <a:lstStyle/>
              <a:p>
                <a:pPr>
                  <a:spcBef>
                    <a:spcPts val="900"/>
                  </a:spcBef>
                  <a:spcAft>
                    <a:spcPts val="900"/>
                  </a:spcAft>
                  <a:buNone/>
                </a:pPr>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Add the budget constraints of </a:t>
                </a:r>
                <a14:m>
                  <m:oMath xmlns:m="http://schemas.openxmlformats.org/officeDocument/2006/math">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𝑨</m:t>
                    </m:r>
                  </m:oMath>
                </a14:m>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 and </a:t>
                </a:r>
                <a14:m>
                  <m:oMath xmlns:m="http://schemas.openxmlformats.org/officeDocument/2006/math">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𝑩</m:t>
                    </m:r>
                  </m:oMath>
                </a14:m>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 side by side:</a:t>
                </a: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𝑨</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𝑨</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𝑨</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𝑨</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1600" b="1" noProof="0" dirty="0">
                  <a:solidFill>
                    <a:schemeClr val="accent5">
                      <a:lumMod val="50000"/>
                    </a:schemeClr>
                  </a:solidFill>
                  <a:effectLst/>
                  <a:ea typeface="Aptos" panose="020B0004020202020204" pitchFamily="34" charset="0"/>
                  <a:cs typeface="Times New Roman" panose="02020603050405020304" pitchFamily="18" charset="0"/>
                </a:endParaRP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𝑩</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𝑩</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𝑩</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𝑩</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1600" b="1" noProof="0" dirty="0">
                  <a:solidFill>
                    <a:schemeClr val="accent5">
                      <a:lumMod val="50000"/>
                    </a:schemeClr>
                  </a:solidFill>
                  <a:effectLst/>
                  <a:ea typeface="Aptos" panose="020B0004020202020204" pitchFamily="34" charset="0"/>
                  <a:cs typeface="Times New Roman" panose="02020603050405020304" pitchFamily="18" charset="0"/>
                </a:endParaRPr>
              </a:p>
              <a:p>
                <a:pPr>
                  <a:spcBef>
                    <a:spcPts val="900"/>
                  </a:spcBef>
                  <a:spcAft>
                    <a:spcPts val="900"/>
                  </a:spcAft>
                  <a:buNone/>
                </a:pPr>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Summing over </a:t>
                </a:r>
                <a14:m>
                  <m:oMath xmlns:m="http://schemas.openxmlformats.org/officeDocument/2006/math">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𝑨</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𝑩</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a14:m>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a:t>
                </a:r>
              </a:p>
              <a:p>
                <a:pPr>
                  <a:spcBef>
                    <a:spcPts val="900"/>
                  </a:spcBef>
                  <a:spcAft>
                    <a:spcPts val="900"/>
                  </a:spcAft>
                  <a:buNone/>
                </a:pPr>
                <a14:m>
                  <m:oMathPara xmlns:m="http://schemas.openxmlformats.org/officeDocument/2006/math">
                    <m:oMathParaPr>
                      <m:jc m:val="centerGroup"/>
                    </m:oMathParaPr>
                    <m:oMath xmlns:m="http://schemas.openxmlformats.org/officeDocument/2006/math">
                      <m:nary>
                        <m:naryPr>
                          <m:chr m:val="∑"/>
                          <m:limLoc m:val="undOv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naryPr>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up>
                        <m:e>
                          <m:d>
                            <m:d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e>
                          </m:d>
                        </m:e>
                      </m:nary>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naryPr>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up>
                        <m:e>
                          <m:d>
                            <m:d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e>
                          </m:d>
                        </m:e>
                      </m:nary>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1600" b="1" noProof="0" dirty="0">
                  <a:solidFill>
                    <a:schemeClr val="accent5">
                      <a:lumMod val="50000"/>
                    </a:schemeClr>
                  </a:solidFill>
                  <a:effectLst/>
                  <a:ea typeface="Aptos" panose="020B0004020202020204" pitchFamily="34" charset="0"/>
                  <a:cs typeface="Times New Roman" panose="02020603050405020304" pitchFamily="18" charset="0"/>
                </a:endParaRPr>
              </a:p>
              <a:p>
                <a:pPr>
                  <a:spcBef>
                    <a:spcPts val="900"/>
                  </a:spcBef>
                  <a:spcAft>
                    <a:spcPts val="900"/>
                  </a:spcAft>
                  <a:buNone/>
                </a:pPr>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Rearrange terms:</a:t>
                </a: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nary>
                        <m:naryPr>
                          <m:chr m:val="∑"/>
                          <m:limLoc m:val="undOv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naryPr>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up>
                        <m:e>
                          <m:d>
                            <m:d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e>
                          </m:d>
                        </m:e>
                      </m:nary>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nary>
                        <m:naryPr>
                          <m:chr m:val="∑"/>
                          <m:limLoc m:val="undOv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naryPr>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up>
                        <m:e>
                          <m:d>
                            <m:d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e>
                          </m:d>
                        </m:e>
                      </m:nary>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𝟎</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1600" b="1" noProof="0" dirty="0">
                  <a:solidFill>
                    <a:schemeClr val="accent5">
                      <a:lumMod val="50000"/>
                    </a:schemeClr>
                  </a:solidFill>
                  <a:effectLst/>
                  <a:ea typeface="Aptos" panose="020B0004020202020204" pitchFamily="34" charset="0"/>
                  <a:cs typeface="Times New Roman" panose="02020603050405020304" pitchFamily="18" charset="0"/>
                </a:endParaRPr>
              </a:p>
              <a:p>
                <a:pPr>
                  <a:spcBef>
                    <a:spcPts val="900"/>
                  </a:spcBef>
                  <a:spcAft>
                    <a:spcPts val="900"/>
                  </a:spcAft>
                  <a:buNone/>
                </a:pPr>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Define aggregate excess demand:</a:t>
                </a: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𝒛</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𝒊</m:t>
                          </m:r>
                        </m:sub>
                      </m:sSub>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naryPr>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up>
                        <m:e>
                          <m:d>
                            <m:d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𝒙</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𝒊</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Sup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𝝎</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𝒊</m:t>
                                  </m:r>
                                </m:sub>
                                <m:sup>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𝒉</m:t>
                                  </m:r>
                                </m:sup>
                              </m:sSubSup>
                            </m:e>
                          </m:d>
                        </m:e>
                      </m:nary>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1600" b="1" noProof="0" dirty="0">
                  <a:solidFill>
                    <a:schemeClr val="accent5">
                      <a:lumMod val="50000"/>
                    </a:schemeClr>
                  </a:solidFill>
                  <a:effectLst/>
                  <a:ea typeface="Aptos" panose="020B0004020202020204" pitchFamily="34" charset="0"/>
                  <a:cs typeface="Times New Roman" panose="02020603050405020304" pitchFamily="18" charset="0"/>
                </a:endParaRPr>
              </a:p>
              <a:p>
                <a:pPr>
                  <a:spcBef>
                    <a:spcPts val="900"/>
                  </a:spcBef>
                  <a:spcAft>
                    <a:spcPts val="900"/>
                  </a:spcAft>
                  <a:buNone/>
                </a:pPr>
                <a:r>
                  <a:rPr lang="en-GB" sz="1600" b="1" noProof="0" dirty="0">
                    <a:solidFill>
                      <a:schemeClr val="accent5">
                        <a:lumMod val="50000"/>
                      </a:schemeClr>
                    </a:solidFill>
                    <a:effectLst/>
                    <a:ea typeface="Aptos" panose="020B0004020202020204" pitchFamily="34" charset="0"/>
                    <a:cs typeface="Times New Roman" panose="02020603050405020304" pitchFamily="18" charset="0"/>
                  </a:rPr>
                  <a:t>then Walras’ law becomes</a:t>
                </a: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𝒛</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sub>
                      </m:sSub>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sSub>
                        <m:sSubPr>
                          <m:ctrlP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𝒛</m:t>
                          </m:r>
                        </m:e>
                        <m:sub>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𝟐</m:t>
                          </m:r>
                        </m:sub>
                      </m:sSub>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𝒑</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en-GB" sz="1600" b="1" i="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𝟎</m:t>
                      </m:r>
                      <m:r>
                        <a:rPr lang="en-GB" sz="1600" b="1" noProof="0" smtClean="0">
                          <a:solidFill>
                            <a:schemeClr val="accent5">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1600" b="1" noProof="0" dirty="0">
                  <a:solidFill>
                    <a:schemeClr val="accent5">
                      <a:lumMod val="50000"/>
                    </a:schemeClr>
                  </a:solidFill>
                  <a:effectLst/>
                  <a:ea typeface="Aptos" panose="020B000402020202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509C171-2294-E03A-7DEC-E0639C72EDE8}"/>
                  </a:ext>
                </a:extLst>
              </p:cNvPr>
              <p:cNvSpPr txBox="1">
                <a:spLocks noRot="1" noChangeAspect="1" noMove="1" noResize="1" noEditPoints="1" noAdjustHandles="1" noChangeArrowheads="1" noChangeShapeType="1" noTextEdit="1"/>
              </p:cNvSpPr>
              <p:nvPr/>
            </p:nvSpPr>
            <p:spPr>
              <a:xfrm>
                <a:off x="1056640" y="1140290"/>
                <a:ext cx="10353040" cy="5593583"/>
              </a:xfrm>
              <a:prstGeom prst="rect">
                <a:avLst/>
              </a:prstGeom>
              <a:blipFill>
                <a:blip r:embed="rId3"/>
                <a:stretch>
                  <a:fillRect l="-294" t="-327"/>
                </a:stretch>
              </a:blipFill>
            </p:spPr>
            <p:txBody>
              <a:bodyPr/>
              <a:lstStyle/>
              <a:p>
                <a:r>
                  <a:rPr lang="pl-PL">
                    <a:noFill/>
                  </a:rPr>
                  <a:t> </a:t>
                </a:r>
              </a:p>
            </p:txBody>
          </p:sp>
        </mc:Fallback>
      </mc:AlternateContent>
    </p:spTree>
    <p:extLst>
      <p:ext uri="{BB962C8B-B14F-4D97-AF65-F5344CB8AC3E}">
        <p14:creationId xmlns:p14="http://schemas.microsoft.com/office/powerpoint/2010/main" val="210711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5E1D5-9335-BD9E-68E3-9948E2C45D17}"/>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624C755F-BE23-5759-4AD1-30A1F5A48090}"/>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Walras' law – general N-good form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5731668-FF1D-266C-F5A7-C3B2D131C073}"/>
                  </a:ext>
                </a:extLst>
              </p:cNvPr>
              <p:cNvSpPr txBox="1"/>
              <p:nvPr/>
            </p:nvSpPr>
            <p:spPr>
              <a:xfrm>
                <a:off x="1016000" y="1417669"/>
                <a:ext cx="10353040" cy="4948406"/>
              </a:xfrm>
              <a:prstGeom prst="rect">
                <a:avLst/>
              </a:prstGeom>
              <a:noFill/>
            </p:spPr>
            <p:txBody>
              <a:bodyPr wrap="square">
                <a:spAutoFit/>
              </a:bodyPr>
              <a:lstStyle/>
              <a:p>
                <a:pPr>
                  <a:spcBef>
                    <a:spcPts val="900"/>
                  </a:spcBef>
                  <a:spcAft>
                    <a:spcPts val="900"/>
                  </a:spcAft>
                  <a:buNone/>
                </a:pPr>
                <a:r>
                  <a:rPr lang="en-GB" sz="2800" b="1" noProof="0" dirty="0">
                    <a:solidFill>
                      <a:schemeClr val="accent5">
                        <a:lumMod val="50000"/>
                      </a:schemeClr>
                    </a:solidFill>
                    <a:ea typeface="Aptos" panose="020B0004020202020204" pitchFamily="34" charset="0"/>
                    <a:cs typeface="Times New Roman" panose="02020603050405020304" pitchFamily="18" charset="0"/>
                  </a:rPr>
                  <a:t>For </a:t>
                </a:r>
                <a14:m>
                  <m:oMath xmlns:m="http://schemas.openxmlformats.org/officeDocument/2006/math">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𝑵</m:t>
                    </m:r>
                  </m:oMath>
                </a14:m>
                <a:r>
                  <a:rPr lang="en-GB" sz="2800" b="1" noProof="0" dirty="0">
                    <a:solidFill>
                      <a:schemeClr val="accent5">
                        <a:lumMod val="50000"/>
                      </a:schemeClr>
                    </a:solidFill>
                    <a:ea typeface="Aptos" panose="020B0004020202020204" pitchFamily="34" charset="0"/>
                    <a:cs typeface="Times New Roman" panose="02020603050405020304" pitchFamily="18" charset="0"/>
                  </a:rPr>
                  <a:t> goods and </a:t>
                </a:r>
                <a14:m>
                  <m:oMath xmlns:m="http://schemas.openxmlformats.org/officeDocument/2006/math">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𝑯</m:t>
                    </m:r>
                  </m:oMath>
                </a14:m>
                <a:r>
                  <a:rPr lang="en-GB" sz="2800" b="1" noProof="0" dirty="0">
                    <a:solidFill>
                      <a:schemeClr val="accent5">
                        <a:lumMod val="50000"/>
                      </a:schemeClr>
                    </a:solidFill>
                    <a:ea typeface="Aptos" panose="020B0004020202020204" pitchFamily="34" charset="0"/>
                    <a:cs typeface="Times New Roman" panose="02020603050405020304" pitchFamily="18" charset="0"/>
                  </a:rPr>
                  <a:t> consumers we obtain</a:t>
                </a:r>
              </a:p>
              <a:p>
                <a:pPr>
                  <a:spcBef>
                    <a:spcPts val="900"/>
                  </a:spcBef>
                  <a:spcAft>
                    <a:spcPts val="900"/>
                  </a:spcAft>
                  <a:buNone/>
                </a:pPr>
                <a14:m>
                  <m:oMathPara xmlns:m="http://schemas.openxmlformats.org/officeDocument/2006/math">
                    <m:oMathParaPr>
                      <m:jc m:val="centerGroup"/>
                    </m:oMathParaPr>
                    <m:oMath xmlns:m="http://schemas.openxmlformats.org/officeDocument/2006/math">
                      <m:nary>
                        <m:naryPr>
                          <m:chr m:val="∑"/>
                          <m:limLoc m:val="undOv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naryPr>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𝒊</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up>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𝑵</m:t>
                          </m:r>
                        </m:sup>
                        <m:e>
                          <m:sSub>
                            <m:sSubP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e>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𝒊</m:t>
                              </m:r>
                            </m:sub>
                          </m:sSub>
                        </m:e>
                      </m:nary>
                      <m:sSub>
                        <m:sSubP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𝒛</m:t>
                          </m:r>
                        </m:e>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𝒊</m:t>
                          </m:r>
                        </m:sub>
                      </m:sSub>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𝟎</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 </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for</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 </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all</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 </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price</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 </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vectors</m:t>
                      </m:r>
                      <m:r>
                        <m:rPr>
                          <m:nor/>
                        </m:rPr>
                        <a:rPr lang="en-GB" sz="2800" b="1" noProof="0" smtClean="0">
                          <a:solidFill>
                            <a:schemeClr val="accent5">
                              <a:lumMod val="50000"/>
                            </a:schemeClr>
                          </a:solidFill>
                          <a:ea typeface="Aptos" panose="020B0004020202020204" pitchFamily="34" charset="0"/>
                          <a:cs typeface="Times New Roman" panose="02020603050405020304" pitchFamily="18" charset="0"/>
                        </a:rPr>
                        <m:t> </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𝟎</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2800" b="1" noProof="0" dirty="0">
                  <a:solidFill>
                    <a:schemeClr val="accent5">
                      <a:lumMod val="50000"/>
                    </a:schemeClr>
                  </a:solidFill>
                  <a:ea typeface="Aptos" panose="020B0004020202020204" pitchFamily="34" charset="0"/>
                  <a:cs typeface="Times New Roman" panose="02020603050405020304" pitchFamily="18" charset="0"/>
                </a:endParaRPr>
              </a:p>
              <a:p>
                <a:pPr>
                  <a:spcBef>
                    <a:spcPts val="900"/>
                  </a:spcBef>
                  <a:spcAft>
                    <a:spcPts val="900"/>
                  </a:spcAft>
                  <a:buNone/>
                </a:pPr>
                <a:r>
                  <a:rPr lang="en-GB" sz="2800" b="1" noProof="0" dirty="0">
                    <a:solidFill>
                      <a:schemeClr val="accent5">
                        <a:lumMod val="50000"/>
                      </a:schemeClr>
                    </a:solidFill>
                    <a:ea typeface="Aptos" panose="020B0004020202020204" pitchFamily="34" charset="0"/>
                    <a:cs typeface="Times New Roman" panose="02020603050405020304" pitchFamily="18" charset="0"/>
                  </a:rPr>
                  <a:t>where</a:t>
                </a:r>
              </a:p>
              <a:p>
                <a:pPr>
                  <a:spcBef>
                    <a:spcPts val="900"/>
                  </a:spcBef>
                  <a:spcAft>
                    <a:spcPts val="900"/>
                  </a:spcAft>
                  <a:buNone/>
                </a:pPr>
                <a14:m>
                  <m:oMathPara xmlns:m="http://schemas.openxmlformats.org/officeDocument/2006/math">
                    <m:oMathParaPr>
                      <m:jc m:val="centerGroup"/>
                    </m:oMathParaPr>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Pr>
                        <m:e>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𝒛</m:t>
                          </m:r>
                        </m:e>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𝒊</m:t>
                          </m:r>
                        </m:sub>
                      </m:sSub>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nary>
                        <m:naryPr>
                          <m:chr m:val="∑"/>
                          <m:limLoc m:val="undOv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naryPr>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𝒉</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𝟏</m:t>
                          </m:r>
                        </m:sub>
                        <m:sup>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𝑯</m:t>
                          </m:r>
                        </m:sup>
                        <m:e>
                          <m:d>
                            <m:dP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dPr>
                            <m:e>
                              <m:sSubSup>
                                <m:sSubSupP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SupPr>
                                <m:e>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𝒙</m:t>
                                  </m:r>
                                </m:e>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𝒊</m:t>
                                  </m:r>
                                </m:sub>
                                <m:sup>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𝒉</m:t>
                                  </m:r>
                                </m:sup>
                              </m:sSubSup>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𝒑</m:t>
                              </m:r>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sSubSup>
                                <m:sSubSupPr>
                                  <m:ctrlP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ctrlPr>
                                </m:sSubSupPr>
                                <m:e>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𝝎</m:t>
                                  </m:r>
                                </m:e>
                                <m:sub>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𝒊</m:t>
                                  </m:r>
                                </m:sub>
                                <m:sup>
                                  <m:r>
                                    <a:rPr lang="en-GB" sz="2800" b="1" i="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𝒉</m:t>
                                  </m:r>
                                </m:sup>
                              </m:sSubSup>
                            </m:e>
                          </m:d>
                        </m:e>
                      </m:nary>
                      <m:r>
                        <a:rPr lang="en-GB" sz="2800" b="1" noProof="0" smtClean="0">
                          <a:solidFill>
                            <a:schemeClr val="accent5">
                              <a:lumMod val="50000"/>
                            </a:schemeClr>
                          </a:solidFill>
                          <a:latin typeface="Cambria Math" panose="02040503050406030204" pitchFamily="18" charset="0"/>
                          <a:ea typeface="Aptos" panose="020B0004020202020204" pitchFamily="34" charset="0"/>
                          <a:cs typeface="Times New Roman" panose="02020603050405020304" pitchFamily="18" charset="0"/>
                        </a:rPr>
                        <m:t>.</m:t>
                      </m:r>
                    </m:oMath>
                  </m:oMathPara>
                </a14:m>
                <a:endParaRPr lang="en-GB" sz="2800" b="1" noProof="0" dirty="0">
                  <a:solidFill>
                    <a:schemeClr val="accent5">
                      <a:lumMod val="50000"/>
                    </a:schemeClr>
                  </a:solidFill>
                  <a:ea typeface="Aptos" panose="020B0004020202020204" pitchFamily="34" charset="0"/>
                  <a:cs typeface="Times New Roman" panose="02020603050405020304" pitchFamily="18" charset="0"/>
                </a:endParaRPr>
              </a:p>
              <a:p>
                <a:pPr>
                  <a:spcBef>
                    <a:spcPts val="900"/>
                  </a:spcBef>
                  <a:spcAft>
                    <a:spcPts val="900"/>
                  </a:spcAft>
                  <a:buNone/>
                </a:pPr>
                <a:r>
                  <a:rPr lang="en-GB" sz="2800" b="1" noProof="0" dirty="0">
                    <a:solidFill>
                      <a:schemeClr val="accent5">
                        <a:lumMod val="50000"/>
                      </a:schemeClr>
                    </a:solidFill>
                    <a:ea typeface="Aptos" panose="020B0004020202020204" pitchFamily="34" charset="0"/>
                    <a:cs typeface="Times New Roman" panose="02020603050405020304" pitchFamily="18" charset="0"/>
                  </a:rPr>
                  <a:t>Interpretation: the value of total excess demand across all markets is always zero.</a:t>
                </a:r>
              </a:p>
            </p:txBody>
          </p:sp>
        </mc:Choice>
        <mc:Fallback xmlns="">
          <p:sp>
            <p:nvSpPr>
              <p:cNvPr id="6" name="TextBox 5">
                <a:extLst>
                  <a:ext uri="{FF2B5EF4-FFF2-40B4-BE49-F238E27FC236}">
                    <a16:creationId xmlns:a16="http://schemas.microsoft.com/office/drawing/2014/main" id="{05731668-FF1D-266C-F5A7-C3B2D131C073}"/>
                  </a:ext>
                </a:extLst>
              </p:cNvPr>
              <p:cNvSpPr txBox="1">
                <a:spLocks noRot="1" noChangeAspect="1" noMove="1" noResize="1" noEditPoints="1" noAdjustHandles="1" noChangeArrowheads="1" noChangeShapeType="1" noTextEdit="1"/>
              </p:cNvSpPr>
              <p:nvPr/>
            </p:nvSpPr>
            <p:spPr>
              <a:xfrm>
                <a:off x="1016000" y="1417669"/>
                <a:ext cx="10353040" cy="4948406"/>
              </a:xfrm>
              <a:prstGeom prst="rect">
                <a:avLst/>
              </a:prstGeom>
              <a:blipFill>
                <a:blip r:embed="rId3"/>
                <a:stretch>
                  <a:fillRect l="-1237" t="-1233" r="-1649" b="-2713"/>
                </a:stretch>
              </a:blipFill>
            </p:spPr>
            <p:txBody>
              <a:bodyPr/>
              <a:lstStyle/>
              <a:p>
                <a:r>
                  <a:rPr lang="pl-PL">
                    <a:noFill/>
                  </a:rPr>
                  <a:t> </a:t>
                </a:r>
              </a:p>
            </p:txBody>
          </p:sp>
        </mc:Fallback>
      </mc:AlternateContent>
    </p:spTree>
    <p:extLst>
      <p:ext uri="{BB962C8B-B14F-4D97-AF65-F5344CB8AC3E}">
        <p14:creationId xmlns:p14="http://schemas.microsoft.com/office/powerpoint/2010/main" val="1564588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75FFF-1745-E6E4-452D-CE34CCC3463C}"/>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52B245A5-8189-C617-160B-523DC4125086}"/>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Walras' law – market-clearing implication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EC291D0-DCF4-EEEE-91C9-AA2BB7B3467E}"/>
                  </a:ext>
                </a:extLst>
              </p:cNvPr>
              <p:cNvSpPr txBox="1"/>
              <p:nvPr/>
            </p:nvSpPr>
            <p:spPr>
              <a:xfrm>
                <a:off x="375920" y="1140290"/>
                <a:ext cx="11968480" cy="5498108"/>
              </a:xfrm>
              <a:prstGeom prst="rect">
                <a:avLst/>
              </a:prstGeom>
              <a:noFill/>
            </p:spPr>
            <p:txBody>
              <a:bodyPr wrap="square">
                <a:spAutoFit/>
              </a:bodyPr>
              <a:lstStyle/>
              <a:p>
                <a:pPr>
                  <a:buNone/>
                </a:pPr>
                <a:r>
                  <a:rPr lang="en-GB" sz="2800" b="1" noProof="0" dirty="0">
                    <a:solidFill>
                      <a:schemeClr val="accent5">
                        <a:lumMod val="50000"/>
                      </a:schemeClr>
                    </a:solidFill>
                  </a:rPr>
                  <a:t>Suppose there are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𝑵</m:t>
                    </m:r>
                    <m:r>
                      <a:rPr lang="pl-PL" sz="2800" b="1" i="1" noProof="0" smtClean="0">
                        <a:solidFill>
                          <a:schemeClr val="accent5">
                            <a:lumMod val="50000"/>
                          </a:schemeClr>
                        </a:solidFill>
                        <a:latin typeface="Cambria Math" panose="02040503050406030204" pitchFamily="18" charset="0"/>
                      </a:rPr>
                      <m:t> </m:t>
                    </m:r>
                  </m:oMath>
                </a14:m>
                <a:r>
                  <a:rPr lang="en-GB" sz="2800" b="1" noProof="0" dirty="0">
                    <a:solidFill>
                      <a:schemeClr val="accent5">
                        <a:lumMod val="50000"/>
                      </a:schemeClr>
                    </a:solidFill>
                  </a:rPr>
                  <a:t>markets. If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𝑵</m:t>
                    </m:r>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𝟏</m:t>
                    </m:r>
                  </m:oMath>
                </a14:m>
                <a:r>
                  <a:rPr lang="en-GB" sz="2800" b="1" noProof="0" dirty="0">
                    <a:solidFill>
                      <a:schemeClr val="accent5">
                        <a:lumMod val="50000"/>
                      </a:schemeClr>
                    </a:solidFill>
                  </a:rPr>
                  <a:t> markets are in equilibrium, i.e.</a:t>
                </a:r>
              </a:p>
              <a:p>
                <a:pPr>
                  <a:buNone/>
                </a:pPr>
                <a:endParaRPr lang="en-GB" sz="2800" b="1" noProof="0" dirty="0">
                  <a:solidFill>
                    <a:schemeClr val="accent5">
                      <a:lumMod val="50000"/>
                    </a:schemeClr>
                  </a:solidFill>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𝒛</m:t>
                          </m:r>
                        </m:e>
                        <m:sub>
                          <m:r>
                            <a:rPr lang="en-GB" sz="2800" b="1" i="1" noProof="0" smtClean="0">
                              <a:solidFill>
                                <a:schemeClr val="accent5">
                                  <a:lumMod val="50000"/>
                                </a:schemeClr>
                              </a:solidFill>
                              <a:latin typeface="Cambria Math" panose="02040503050406030204" pitchFamily="18" charset="0"/>
                            </a:rPr>
                            <m:t>𝒊</m:t>
                          </m:r>
                        </m:sub>
                      </m:sSub>
                      <m:d>
                        <m:dPr>
                          <m:ctrlPr>
                            <a:rPr lang="en-GB" sz="2800" b="1" i="1" noProof="0" smtClean="0">
                              <a:solidFill>
                                <a:schemeClr val="accent5">
                                  <a:lumMod val="50000"/>
                                </a:schemeClr>
                              </a:solidFill>
                              <a:latin typeface="Cambria Math" panose="02040503050406030204" pitchFamily="18" charset="0"/>
                            </a:rPr>
                          </m:ctrlPr>
                        </m:dPr>
                        <m:e>
                          <m:sSup>
                            <m:sSupPr>
                              <m:ctrlPr>
                                <a:rPr lang="en-GB" sz="2800" b="1" i="1" noProof="0" smtClean="0">
                                  <a:solidFill>
                                    <a:schemeClr val="accent5">
                                      <a:lumMod val="50000"/>
                                    </a:schemeClr>
                                  </a:solidFill>
                                  <a:latin typeface="Cambria Math" panose="02040503050406030204" pitchFamily="18" charset="0"/>
                                </a:rPr>
                              </m:ctrlPr>
                            </m:sSupPr>
                            <m:e>
                              <m:r>
                                <a:rPr lang="en-GB" sz="2800" b="1" i="1" noProof="0" smtClean="0">
                                  <a:solidFill>
                                    <a:schemeClr val="accent5">
                                      <a:lumMod val="50000"/>
                                    </a:schemeClr>
                                  </a:solidFill>
                                  <a:latin typeface="Cambria Math" panose="02040503050406030204" pitchFamily="18" charset="0"/>
                                </a:rPr>
                                <m:t>𝒑</m:t>
                              </m:r>
                            </m:e>
                            <m:sup>
                              <m:r>
                                <a:rPr lang="en-GB" sz="2800" b="1" noProof="0" smtClean="0">
                                  <a:solidFill>
                                    <a:schemeClr val="accent5">
                                      <a:lumMod val="50000"/>
                                    </a:schemeClr>
                                  </a:solidFill>
                                  <a:latin typeface="Cambria Math" panose="02040503050406030204" pitchFamily="18" charset="0"/>
                                </a:rPr>
                                <m:t>∗</m:t>
                              </m:r>
                            </m:sup>
                          </m:sSup>
                        </m:e>
                      </m:d>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𝟎</m:t>
                      </m:r>
                      <m:r>
                        <a:rPr lang="en-GB" sz="2800" b="1" noProof="0" smtClean="0">
                          <a:solidFill>
                            <a:schemeClr val="accent5">
                              <a:lumMod val="50000"/>
                            </a:schemeClr>
                          </a:solidFill>
                          <a:latin typeface="Cambria Math" panose="02040503050406030204" pitchFamily="18" charset="0"/>
                        </a:rPr>
                        <m:t> </m:t>
                      </m:r>
                      <m:r>
                        <m:rPr>
                          <m:nor/>
                        </m:rPr>
                        <a:rPr lang="en-GB" sz="2800" b="1" i="1" noProof="0" smtClean="0">
                          <a:solidFill>
                            <a:schemeClr val="accent5">
                              <a:lumMod val="50000"/>
                            </a:schemeClr>
                          </a:solidFill>
                          <a:latin typeface="Cambria Math" panose="02040503050406030204" pitchFamily="18" charset="0"/>
                        </a:rPr>
                        <m:t>for</m:t>
                      </m:r>
                      <m:r>
                        <m:rPr>
                          <m:nor/>
                        </m:rPr>
                        <a:rPr lang="en-GB" sz="2800" b="1" i="1" noProof="0" smtClean="0">
                          <a:solidFill>
                            <a:schemeClr val="accent5">
                              <a:lumMod val="50000"/>
                            </a:schemeClr>
                          </a:solidFill>
                          <a:latin typeface="Cambria Math" panose="02040503050406030204" pitchFamily="18" charset="0"/>
                        </a:rPr>
                        <m:t> </m:t>
                      </m:r>
                      <m:r>
                        <a:rPr lang="en-GB" sz="2800" b="1" i="1" noProof="0" smtClean="0">
                          <a:solidFill>
                            <a:schemeClr val="accent5">
                              <a:lumMod val="50000"/>
                            </a:schemeClr>
                          </a:solidFill>
                          <a:latin typeface="Cambria Math" panose="02040503050406030204" pitchFamily="18" charset="0"/>
                        </a:rPr>
                        <m:t>𝒊</m:t>
                      </m:r>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𝟏</m:t>
                      </m:r>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𝑵</m:t>
                      </m:r>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𝟏</m:t>
                      </m:r>
                      <m:r>
                        <a:rPr lang="en-GB" sz="2800" b="1" noProof="0" smtClean="0">
                          <a:solidFill>
                            <a:schemeClr val="accent5">
                              <a:lumMod val="50000"/>
                            </a:schemeClr>
                          </a:solidFill>
                          <a:latin typeface="Cambria Math" panose="02040503050406030204" pitchFamily="18" charset="0"/>
                        </a:rPr>
                        <m:t>,</m:t>
                      </m:r>
                    </m:oMath>
                  </m:oMathPara>
                </a14:m>
                <a:endParaRPr lang="en-GB" sz="2800" b="1" noProof="0" dirty="0">
                  <a:solidFill>
                    <a:schemeClr val="accent5">
                      <a:lumMod val="50000"/>
                    </a:schemeClr>
                  </a:solidFill>
                </a:endParaRPr>
              </a:p>
              <a:p>
                <a:pPr>
                  <a:buNone/>
                </a:pPr>
                <a:endParaRPr lang="en-GB" sz="2800" b="1" noProof="0" dirty="0">
                  <a:solidFill>
                    <a:schemeClr val="accent5">
                      <a:lumMod val="50000"/>
                    </a:schemeClr>
                  </a:solidFill>
                </a:endParaRPr>
              </a:p>
              <a:p>
                <a:pPr>
                  <a:buNone/>
                </a:pPr>
                <a:r>
                  <a:rPr lang="en-GB" sz="2800" b="1" noProof="0" dirty="0">
                    <a:solidFill>
                      <a:schemeClr val="accent5">
                        <a:lumMod val="50000"/>
                      </a:schemeClr>
                    </a:solidFill>
                  </a:rPr>
                  <a:t>then Walras' law implies that the remaining market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𝑵</m:t>
                    </m:r>
                  </m:oMath>
                </a14:m>
                <a:r>
                  <a:rPr lang="en-GB" sz="2800" b="1" noProof="0" dirty="0">
                    <a:solidFill>
                      <a:schemeClr val="accent5">
                        <a:lumMod val="50000"/>
                      </a:schemeClr>
                    </a:solidFill>
                  </a:rPr>
                  <a:t>is also in equilibrium. Reason:</a:t>
                </a:r>
              </a:p>
              <a:p>
                <a:pPr>
                  <a:buNone/>
                </a:pPr>
                <a14:m>
                  <m:oMathPara xmlns:m="http://schemas.openxmlformats.org/officeDocument/2006/math">
                    <m:oMathParaPr>
                      <m:jc m:val="centerGroup"/>
                    </m:oMathParaPr>
                    <m:oMath xmlns:m="http://schemas.openxmlformats.org/officeDocument/2006/math">
                      <m:nary>
                        <m:naryPr>
                          <m:chr m:val="∑"/>
                          <m:grow m:val="on"/>
                          <m:ctrlPr>
                            <a:rPr lang="en-GB" sz="2800" b="1" i="1" noProof="0" smtClean="0">
                              <a:solidFill>
                                <a:schemeClr val="accent5">
                                  <a:lumMod val="50000"/>
                                </a:schemeClr>
                              </a:solidFill>
                              <a:latin typeface="Cambria Math" panose="02040503050406030204" pitchFamily="18" charset="0"/>
                            </a:rPr>
                          </m:ctrlPr>
                        </m:naryPr>
                        <m:sub>
                          <m:r>
                            <a:rPr lang="en-GB" sz="2800" b="1" i="1" noProof="0" smtClean="0">
                              <a:solidFill>
                                <a:schemeClr val="accent5">
                                  <a:lumMod val="50000"/>
                                </a:schemeClr>
                              </a:solidFill>
                              <a:latin typeface="Cambria Math" panose="02040503050406030204" pitchFamily="18" charset="0"/>
                            </a:rPr>
                            <m:t>𝒊</m:t>
                          </m:r>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𝟏</m:t>
                          </m:r>
                        </m:sub>
                        <m:sup>
                          <m:r>
                            <a:rPr lang="en-GB" sz="2800" b="1" i="1" noProof="0" smtClean="0">
                              <a:solidFill>
                                <a:schemeClr val="accent5">
                                  <a:lumMod val="50000"/>
                                </a:schemeClr>
                              </a:solidFill>
                              <a:latin typeface="Cambria Math" panose="02040503050406030204" pitchFamily="18" charset="0"/>
                            </a:rPr>
                            <m:t>𝑵</m:t>
                          </m:r>
                        </m:sup>
                        <m:e>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𝒑</m:t>
                              </m:r>
                            </m:e>
                            <m:sub>
                              <m:r>
                                <a:rPr lang="en-GB" sz="2800" b="1" i="1" noProof="0" smtClean="0">
                                  <a:solidFill>
                                    <a:schemeClr val="accent5">
                                      <a:lumMod val="50000"/>
                                    </a:schemeClr>
                                  </a:solidFill>
                                  <a:latin typeface="Cambria Math" panose="02040503050406030204" pitchFamily="18" charset="0"/>
                                </a:rPr>
                                <m:t>𝒊</m:t>
                              </m:r>
                            </m:sub>
                            <m:sup>
                              <m:r>
                                <a:rPr lang="en-GB" sz="2800" b="1" noProof="0" smtClean="0">
                                  <a:solidFill>
                                    <a:schemeClr val="accent5">
                                      <a:lumMod val="50000"/>
                                    </a:schemeClr>
                                  </a:solidFill>
                                  <a:latin typeface="Cambria Math" panose="02040503050406030204" pitchFamily="18" charset="0"/>
                                </a:rPr>
                                <m:t>∗</m:t>
                              </m:r>
                            </m:sup>
                          </m:sSubSup>
                        </m:e>
                      </m:nary>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𝒛</m:t>
                          </m:r>
                        </m:e>
                        <m:sub>
                          <m:r>
                            <a:rPr lang="en-GB" sz="2800" b="1" i="1" noProof="0" smtClean="0">
                              <a:solidFill>
                                <a:schemeClr val="accent5">
                                  <a:lumMod val="50000"/>
                                </a:schemeClr>
                              </a:solidFill>
                              <a:latin typeface="Cambria Math" panose="02040503050406030204" pitchFamily="18" charset="0"/>
                            </a:rPr>
                            <m:t>𝒊</m:t>
                          </m:r>
                        </m:sub>
                      </m:sSub>
                      <m:d>
                        <m:dPr>
                          <m:ctrlPr>
                            <a:rPr lang="en-GB" sz="2800" b="1" i="1" noProof="0" smtClean="0">
                              <a:solidFill>
                                <a:schemeClr val="accent5">
                                  <a:lumMod val="50000"/>
                                </a:schemeClr>
                              </a:solidFill>
                              <a:latin typeface="Cambria Math" panose="02040503050406030204" pitchFamily="18" charset="0"/>
                            </a:rPr>
                          </m:ctrlPr>
                        </m:dPr>
                        <m:e>
                          <m:sSup>
                            <m:sSupPr>
                              <m:ctrlPr>
                                <a:rPr lang="en-GB" sz="2800" b="1" i="1" noProof="0" smtClean="0">
                                  <a:solidFill>
                                    <a:schemeClr val="accent5">
                                      <a:lumMod val="50000"/>
                                    </a:schemeClr>
                                  </a:solidFill>
                                  <a:latin typeface="Cambria Math" panose="02040503050406030204" pitchFamily="18" charset="0"/>
                                </a:rPr>
                              </m:ctrlPr>
                            </m:sSupPr>
                            <m:e>
                              <m:r>
                                <a:rPr lang="en-GB" sz="2800" b="1" i="1" noProof="0" smtClean="0">
                                  <a:solidFill>
                                    <a:schemeClr val="accent5">
                                      <a:lumMod val="50000"/>
                                    </a:schemeClr>
                                  </a:solidFill>
                                  <a:latin typeface="Cambria Math" panose="02040503050406030204" pitchFamily="18" charset="0"/>
                                </a:rPr>
                                <m:t>𝒑</m:t>
                              </m:r>
                            </m:e>
                            <m:sup>
                              <m:r>
                                <a:rPr lang="en-GB" sz="2800" b="1" noProof="0" smtClean="0">
                                  <a:solidFill>
                                    <a:schemeClr val="accent5">
                                      <a:lumMod val="50000"/>
                                    </a:schemeClr>
                                  </a:solidFill>
                                  <a:latin typeface="Cambria Math" panose="02040503050406030204" pitchFamily="18" charset="0"/>
                                </a:rPr>
                                <m:t>∗</m:t>
                              </m:r>
                            </m:sup>
                          </m:sSup>
                        </m:e>
                      </m:d>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𝟎</m:t>
                      </m:r>
                      <m:r>
                        <a:rPr lang="en-GB" sz="2800" b="1" noProof="0" smtClean="0">
                          <a:solidFill>
                            <a:schemeClr val="accent5">
                              <a:lumMod val="50000"/>
                            </a:schemeClr>
                          </a:solidFill>
                          <a:latin typeface="Cambria Math" panose="02040503050406030204" pitchFamily="18" charset="0"/>
                        </a:rPr>
                        <m:t>, </m:t>
                      </m:r>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𝒑</m:t>
                          </m:r>
                        </m:e>
                        <m:sub>
                          <m:r>
                            <a:rPr lang="en-GB" sz="2800" b="1" i="1" noProof="0" smtClean="0">
                              <a:solidFill>
                                <a:schemeClr val="accent5">
                                  <a:lumMod val="50000"/>
                                </a:schemeClr>
                              </a:solidFill>
                              <a:latin typeface="Cambria Math" panose="02040503050406030204" pitchFamily="18" charset="0"/>
                            </a:rPr>
                            <m:t>𝒊</m:t>
                          </m:r>
                        </m:sub>
                        <m:sup>
                          <m:r>
                            <a:rPr lang="en-GB" sz="2800" b="1" noProof="0" smtClean="0">
                              <a:solidFill>
                                <a:schemeClr val="accent5">
                                  <a:lumMod val="50000"/>
                                </a:schemeClr>
                              </a:solidFill>
                              <a:latin typeface="Cambria Math" panose="02040503050406030204" pitchFamily="18" charset="0"/>
                            </a:rPr>
                            <m:t>∗</m:t>
                          </m:r>
                        </m:sup>
                      </m:sSubSup>
                      <m:r>
                        <a:rPr lang="en-GB" sz="2800" b="1" noProof="0" smtClean="0">
                          <a:solidFill>
                            <a:schemeClr val="accent5">
                              <a:lumMod val="50000"/>
                            </a:schemeClr>
                          </a:solidFill>
                          <a:latin typeface="Cambria Math" panose="02040503050406030204" pitchFamily="18" charset="0"/>
                        </a:rPr>
                        <m:t>&gt;</m:t>
                      </m:r>
                      <m:r>
                        <a:rPr lang="en-GB" sz="2800" b="1" i="1" noProof="0" smtClean="0">
                          <a:solidFill>
                            <a:schemeClr val="accent5">
                              <a:lumMod val="50000"/>
                            </a:schemeClr>
                          </a:solidFill>
                          <a:latin typeface="Cambria Math" panose="02040503050406030204" pitchFamily="18" charset="0"/>
                        </a:rPr>
                        <m:t>𝟎</m:t>
                      </m:r>
                      <m:r>
                        <a:rPr lang="en-GB" sz="2800" b="1" noProof="0" smtClean="0">
                          <a:solidFill>
                            <a:schemeClr val="accent5">
                              <a:lumMod val="50000"/>
                            </a:schemeClr>
                          </a:solidFill>
                          <a:latin typeface="Cambria Math" panose="02040503050406030204" pitchFamily="18" charset="0"/>
                        </a:rPr>
                        <m:t>.</m:t>
                      </m:r>
                    </m:oMath>
                  </m:oMathPara>
                </a14:m>
                <a:endParaRPr lang="en-GB" sz="2800" b="1" noProof="0" dirty="0">
                  <a:solidFill>
                    <a:schemeClr val="accent5">
                      <a:lumMod val="50000"/>
                    </a:schemeClr>
                  </a:solidFill>
                </a:endParaRPr>
              </a:p>
              <a:p>
                <a:pPr>
                  <a:buNone/>
                </a:pPr>
                <a:endParaRPr lang="pl-PL" sz="2800" b="1" noProof="0" dirty="0">
                  <a:solidFill>
                    <a:schemeClr val="accent5">
                      <a:lumMod val="50000"/>
                    </a:schemeClr>
                  </a:solidFill>
                </a:endParaRPr>
              </a:p>
              <a:p>
                <a:pPr>
                  <a:buNone/>
                </a:pPr>
                <a:r>
                  <a:rPr lang="en-GB" sz="2800" b="1" noProof="0" dirty="0">
                    <a:solidFill>
                      <a:schemeClr val="accent5">
                        <a:lumMod val="50000"/>
                      </a:schemeClr>
                    </a:solidFill>
                  </a:rPr>
                  <a:t>If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𝒛</m:t>
                        </m:r>
                      </m:e>
                      <m:sub>
                        <m:r>
                          <a:rPr lang="en-GB" sz="2800" b="1" i="1" noProof="0" smtClean="0">
                            <a:solidFill>
                              <a:schemeClr val="accent5">
                                <a:lumMod val="50000"/>
                              </a:schemeClr>
                            </a:solidFill>
                            <a:latin typeface="Cambria Math" panose="02040503050406030204" pitchFamily="18" charset="0"/>
                          </a:rPr>
                          <m:t>𝒊</m:t>
                        </m:r>
                      </m:sub>
                    </m:sSub>
                    <m:d>
                      <m:dPr>
                        <m:ctrlPr>
                          <a:rPr lang="en-GB" sz="2800" b="1" i="1" noProof="0" smtClean="0">
                            <a:solidFill>
                              <a:schemeClr val="accent5">
                                <a:lumMod val="50000"/>
                              </a:schemeClr>
                            </a:solidFill>
                            <a:latin typeface="Cambria Math" panose="02040503050406030204" pitchFamily="18" charset="0"/>
                          </a:rPr>
                        </m:ctrlPr>
                      </m:dPr>
                      <m:e>
                        <m:sSup>
                          <m:sSupPr>
                            <m:ctrlPr>
                              <a:rPr lang="en-GB" sz="2800" b="1" i="1" noProof="0" smtClean="0">
                                <a:solidFill>
                                  <a:schemeClr val="accent5">
                                    <a:lumMod val="50000"/>
                                  </a:schemeClr>
                                </a:solidFill>
                                <a:latin typeface="Cambria Math" panose="02040503050406030204" pitchFamily="18" charset="0"/>
                              </a:rPr>
                            </m:ctrlPr>
                          </m:sSupPr>
                          <m:e>
                            <m:r>
                              <a:rPr lang="en-GB" sz="2800" b="1" i="1" noProof="0" smtClean="0">
                                <a:solidFill>
                                  <a:schemeClr val="accent5">
                                    <a:lumMod val="50000"/>
                                  </a:schemeClr>
                                </a:solidFill>
                                <a:latin typeface="Cambria Math" panose="02040503050406030204" pitchFamily="18" charset="0"/>
                              </a:rPr>
                              <m:t>𝒑</m:t>
                            </m:r>
                          </m:e>
                          <m:sup>
                            <m:r>
                              <a:rPr lang="en-GB" sz="2800" b="1" noProof="0" smtClean="0">
                                <a:solidFill>
                                  <a:schemeClr val="accent5">
                                    <a:lumMod val="50000"/>
                                  </a:schemeClr>
                                </a:solidFill>
                                <a:latin typeface="Cambria Math" panose="02040503050406030204" pitchFamily="18" charset="0"/>
                              </a:rPr>
                              <m:t>∗</m:t>
                            </m:r>
                          </m:sup>
                        </m:sSup>
                      </m:e>
                    </m:d>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𝟎</m:t>
                    </m:r>
                    <m:r>
                      <a:rPr lang="en-GB" sz="2800" b="1" i="0" noProof="0" smtClean="0">
                        <a:solidFill>
                          <a:schemeClr val="accent5">
                            <a:lumMod val="50000"/>
                          </a:schemeClr>
                        </a:solidFill>
                        <a:latin typeface="Cambria Math" panose="02040503050406030204" pitchFamily="18" charset="0"/>
                      </a:rPr>
                      <m:t> </m:t>
                    </m:r>
                  </m:oMath>
                </a14:m>
                <a:r>
                  <a:rPr lang="en-GB" sz="2800" b="1" noProof="0" dirty="0">
                    <a:solidFill>
                      <a:schemeClr val="accent5">
                        <a:lumMod val="50000"/>
                      </a:schemeClr>
                    </a:solidFill>
                  </a:rPr>
                  <a:t>for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𝒊</m:t>
                    </m:r>
                    <m:r>
                      <a:rPr lang="en-GB" sz="2800" b="1" noProof="0" smtClean="0">
                        <a:solidFill>
                          <a:schemeClr val="accent5">
                            <a:lumMod val="50000"/>
                          </a:schemeClr>
                        </a:solidFill>
                        <a:latin typeface="Cambria Math" panose="02040503050406030204" pitchFamily="18" charset="0"/>
                      </a:rPr>
                      <m:t>&lt;</m:t>
                    </m:r>
                    <m:r>
                      <a:rPr lang="en-GB" sz="2800" b="1" i="1" noProof="0" smtClean="0">
                        <a:solidFill>
                          <a:schemeClr val="accent5">
                            <a:lumMod val="50000"/>
                          </a:schemeClr>
                        </a:solidFill>
                        <a:latin typeface="Cambria Math" panose="02040503050406030204" pitchFamily="18" charset="0"/>
                      </a:rPr>
                      <m:t>𝑵</m:t>
                    </m:r>
                  </m:oMath>
                </a14:m>
                <a:r>
                  <a:rPr lang="en-GB" sz="2800" b="1" noProof="0" dirty="0">
                    <a:solidFill>
                      <a:schemeClr val="accent5">
                        <a:lumMod val="50000"/>
                      </a:schemeClr>
                    </a:solidFill>
                  </a:rPr>
                  <a:t>, then necessarily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𝒛</m:t>
                        </m:r>
                      </m:e>
                      <m:sub>
                        <m:r>
                          <a:rPr lang="en-GB" sz="2800" b="1" i="1" noProof="0" smtClean="0">
                            <a:solidFill>
                              <a:schemeClr val="accent5">
                                <a:lumMod val="50000"/>
                              </a:schemeClr>
                            </a:solidFill>
                            <a:latin typeface="Cambria Math" panose="02040503050406030204" pitchFamily="18" charset="0"/>
                          </a:rPr>
                          <m:t>𝑵</m:t>
                        </m:r>
                      </m:sub>
                    </m:sSub>
                    <m:d>
                      <m:dPr>
                        <m:ctrlPr>
                          <a:rPr lang="en-GB" sz="2800" b="1" i="1" noProof="0" smtClean="0">
                            <a:solidFill>
                              <a:schemeClr val="accent5">
                                <a:lumMod val="50000"/>
                              </a:schemeClr>
                            </a:solidFill>
                            <a:latin typeface="Cambria Math" panose="02040503050406030204" pitchFamily="18" charset="0"/>
                          </a:rPr>
                        </m:ctrlPr>
                      </m:dPr>
                      <m:e>
                        <m:sSup>
                          <m:sSupPr>
                            <m:ctrlPr>
                              <a:rPr lang="en-GB" sz="2800" b="1" i="1" noProof="0" smtClean="0">
                                <a:solidFill>
                                  <a:schemeClr val="accent5">
                                    <a:lumMod val="50000"/>
                                  </a:schemeClr>
                                </a:solidFill>
                                <a:latin typeface="Cambria Math" panose="02040503050406030204" pitchFamily="18" charset="0"/>
                              </a:rPr>
                            </m:ctrlPr>
                          </m:sSupPr>
                          <m:e>
                            <m:r>
                              <a:rPr lang="en-GB" sz="2800" b="1" i="1" noProof="0" smtClean="0">
                                <a:solidFill>
                                  <a:schemeClr val="accent5">
                                    <a:lumMod val="50000"/>
                                  </a:schemeClr>
                                </a:solidFill>
                                <a:latin typeface="Cambria Math" panose="02040503050406030204" pitchFamily="18" charset="0"/>
                              </a:rPr>
                              <m:t>𝒑</m:t>
                            </m:r>
                          </m:e>
                          <m:sup>
                            <m:r>
                              <a:rPr lang="en-GB" sz="2800" b="1" noProof="0" smtClean="0">
                                <a:solidFill>
                                  <a:schemeClr val="accent5">
                                    <a:lumMod val="50000"/>
                                  </a:schemeClr>
                                </a:solidFill>
                                <a:latin typeface="Cambria Math" panose="02040503050406030204" pitchFamily="18" charset="0"/>
                              </a:rPr>
                              <m:t>∗</m:t>
                            </m:r>
                          </m:sup>
                        </m:sSup>
                      </m:e>
                    </m:d>
                    <m:r>
                      <a:rPr lang="en-GB" sz="2800" b="1" noProof="0" smtClean="0">
                        <a:solidFill>
                          <a:schemeClr val="accent5">
                            <a:lumMod val="50000"/>
                          </a:schemeClr>
                        </a:solidFill>
                        <a:latin typeface="Cambria Math" panose="02040503050406030204" pitchFamily="18" charset="0"/>
                      </a:rPr>
                      <m:t>=</m:t>
                    </m:r>
                    <m:r>
                      <a:rPr lang="en-GB" sz="2800" b="1" i="1" noProof="0" smtClean="0">
                        <a:solidFill>
                          <a:schemeClr val="accent5">
                            <a:lumMod val="50000"/>
                          </a:schemeClr>
                        </a:solidFill>
                        <a:latin typeface="Cambria Math" panose="02040503050406030204" pitchFamily="18" charset="0"/>
                      </a:rPr>
                      <m:t>𝟎</m:t>
                    </m:r>
                  </m:oMath>
                </a14:m>
                <a:r>
                  <a:rPr lang="en-GB" sz="2800" b="1" noProof="0" dirty="0">
                    <a:solidFill>
                      <a:schemeClr val="accent5">
                        <a:lumMod val="50000"/>
                      </a:schemeClr>
                    </a:solidFill>
                  </a:rPr>
                  <a:t>.</a:t>
                </a:r>
                <a:endParaRPr lang="en-GB" sz="2400" b="1" noProof="0" dirty="0">
                  <a:solidFill>
                    <a:schemeClr val="accent5">
                      <a:lumMod val="50000"/>
                    </a:schemeClr>
                  </a:solidFill>
                </a:endParaRPr>
              </a:p>
              <a:p>
                <a:pPr>
                  <a:buNone/>
                </a:pPr>
                <a:r>
                  <a:rPr lang="en-GB" sz="2400" b="1" noProof="0" dirty="0">
                    <a:solidFill>
                      <a:schemeClr val="accent5">
                        <a:lumMod val="50000"/>
                      </a:schemeClr>
                    </a:solidFill>
                  </a:rPr>
                  <a:t>Example with two goods: if there is excess supply on market 1 </a:t>
                </a:r>
                <a14:m>
                  <m:oMath xmlns:m="http://schemas.openxmlformats.org/officeDocument/2006/math">
                    <m:d>
                      <m:dPr>
                        <m:ctrlPr>
                          <a:rPr lang="en-GB" sz="2400" b="1" i="1" noProof="0" smtClean="0">
                            <a:solidFill>
                              <a:schemeClr val="accent5">
                                <a:lumMod val="50000"/>
                              </a:schemeClr>
                            </a:solidFill>
                            <a:latin typeface="Cambria Math" panose="02040503050406030204" pitchFamily="18" charset="0"/>
                          </a:rPr>
                        </m:ctrlPr>
                      </m:dPr>
                      <m:e>
                        <m:sSub>
                          <m:sSubPr>
                            <m:ctrlPr>
                              <a:rPr lang="en-GB" sz="2400" b="1" i="1" noProof="0" smtClean="0">
                                <a:solidFill>
                                  <a:schemeClr val="accent5">
                                    <a:lumMod val="50000"/>
                                  </a:schemeClr>
                                </a:solidFill>
                                <a:latin typeface="Cambria Math" panose="02040503050406030204" pitchFamily="18" charset="0"/>
                              </a:rPr>
                            </m:ctrlPr>
                          </m:sSubPr>
                          <m:e>
                            <m:r>
                              <a:rPr lang="en-GB" sz="2400" b="1" i="1" noProof="0" smtClean="0">
                                <a:solidFill>
                                  <a:schemeClr val="accent5">
                                    <a:lumMod val="50000"/>
                                  </a:schemeClr>
                                </a:solidFill>
                                <a:latin typeface="Cambria Math" panose="02040503050406030204" pitchFamily="18" charset="0"/>
                              </a:rPr>
                              <m:t>𝒛</m:t>
                            </m:r>
                          </m:e>
                          <m:sub>
                            <m:r>
                              <a:rPr lang="en-GB" sz="2400" b="1" i="1" noProof="0" smtClean="0">
                                <a:solidFill>
                                  <a:schemeClr val="accent5">
                                    <a:lumMod val="50000"/>
                                  </a:schemeClr>
                                </a:solidFill>
                                <a:latin typeface="Cambria Math" panose="02040503050406030204" pitchFamily="18" charset="0"/>
                              </a:rPr>
                              <m:t>𝟏</m:t>
                            </m:r>
                          </m:sub>
                        </m:sSub>
                        <m:r>
                          <a:rPr lang="en-GB" sz="2400" b="1" noProof="0" smtClean="0">
                            <a:solidFill>
                              <a:schemeClr val="accent5">
                                <a:lumMod val="50000"/>
                              </a:schemeClr>
                            </a:solidFill>
                            <a:latin typeface="Cambria Math" panose="02040503050406030204" pitchFamily="18" charset="0"/>
                          </a:rPr>
                          <m:t>&lt;</m:t>
                        </m:r>
                        <m:r>
                          <a:rPr lang="en-GB" sz="2400" b="1" i="1" noProof="0" smtClean="0">
                            <a:solidFill>
                              <a:schemeClr val="accent5">
                                <a:lumMod val="50000"/>
                              </a:schemeClr>
                            </a:solidFill>
                            <a:latin typeface="Cambria Math" panose="02040503050406030204" pitchFamily="18" charset="0"/>
                          </a:rPr>
                          <m:t>𝟎</m:t>
                        </m:r>
                      </m:e>
                    </m:d>
                  </m:oMath>
                </a14:m>
                <a:r>
                  <a:rPr lang="en-GB" sz="2400" b="1" noProof="0" dirty="0">
                    <a:solidFill>
                      <a:schemeClr val="accent5">
                        <a:lumMod val="50000"/>
                      </a:schemeClr>
                    </a:solidFill>
                  </a:rPr>
                  <a:t>, there must be excess demand on market 2 </a:t>
                </a:r>
                <a14:m>
                  <m:oMath xmlns:m="http://schemas.openxmlformats.org/officeDocument/2006/math">
                    <m:d>
                      <m:dPr>
                        <m:ctrlPr>
                          <a:rPr lang="en-GB" sz="2400" b="1" i="1" noProof="0" smtClean="0">
                            <a:solidFill>
                              <a:schemeClr val="accent5">
                                <a:lumMod val="50000"/>
                              </a:schemeClr>
                            </a:solidFill>
                            <a:latin typeface="Cambria Math" panose="02040503050406030204" pitchFamily="18" charset="0"/>
                          </a:rPr>
                        </m:ctrlPr>
                      </m:dPr>
                      <m:e>
                        <m:sSub>
                          <m:sSubPr>
                            <m:ctrlPr>
                              <a:rPr lang="en-GB" sz="2400" b="1" i="1" noProof="0" smtClean="0">
                                <a:solidFill>
                                  <a:schemeClr val="accent5">
                                    <a:lumMod val="50000"/>
                                  </a:schemeClr>
                                </a:solidFill>
                                <a:latin typeface="Cambria Math" panose="02040503050406030204" pitchFamily="18" charset="0"/>
                              </a:rPr>
                            </m:ctrlPr>
                          </m:sSubPr>
                          <m:e>
                            <m:r>
                              <a:rPr lang="en-GB" sz="2400" b="1" i="1" noProof="0" smtClean="0">
                                <a:solidFill>
                                  <a:schemeClr val="accent5">
                                    <a:lumMod val="50000"/>
                                  </a:schemeClr>
                                </a:solidFill>
                                <a:latin typeface="Cambria Math" panose="02040503050406030204" pitchFamily="18" charset="0"/>
                              </a:rPr>
                              <m:t>𝒛</m:t>
                            </m:r>
                          </m:e>
                          <m:sub>
                            <m:r>
                              <a:rPr lang="en-GB" sz="2400" b="1" i="1" noProof="0" smtClean="0">
                                <a:solidFill>
                                  <a:schemeClr val="accent5">
                                    <a:lumMod val="50000"/>
                                  </a:schemeClr>
                                </a:solidFill>
                                <a:latin typeface="Cambria Math" panose="02040503050406030204" pitchFamily="18" charset="0"/>
                              </a:rPr>
                              <m:t>𝟐</m:t>
                            </m:r>
                          </m:sub>
                        </m:sSub>
                        <m:r>
                          <a:rPr lang="en-GB" sz="2400" b="1" noProof="0" smtClean="0">
                            <a:solidFill>
                              <a:schemeClr val="accent5">
                                <a:lumMod val="50000"/>
                              </a:schemeClr>
                            </a:solidFill>
                            <a:latin typeface="Cambria Math" panose="02040503050406030204" pitchFamily="18" charset="0"/>
                          </a:rPr>
                          <m:t>&gt;</m:t>
                        </m:r>
                        <m:r>
                          <a:rPr lang="en-GB" sz="2400" b="1" i="1" noProof="0" smtClean="0">
                            <a:solidFill>
                              <a:schemeClr val="accent5">
                                <a:lumMod val="50000"/>
                              </a:schemeClr>
                            </a:solidFill>
                            <a:latin typeface="Cambria Math" panose="02040503050406030204" pitchFamily="18" charset="0"/>
                          </a:rPr>
                          <m:t>𝟎</m:t>
                        </m:r>
                      </m:e>
                    </m:d>
                    <m:r>
                      <a:rPr lang="en-GB" sz="2400" b="1" i="0" noProof="0" smtClean="0">
                        <a:solidFill>
                          <a:schemeClr val="accent5">
                            <a:lumMod val="50000"/>
                          </a:schemeClr>
                        </a:solidFill>
                        <a:latin typeface="Cambria Math" panose="02040503050406030204" pitchFamily="18" charset="0"/>
                      </a:rPr>
                      <m:t>,</m:t>
                    </m:r>
                  </m:oMath>
                </a14:m>
                <a:r>
                  <a:rPr lang="en-GB" sz="2400" b="1" noProof="0" dirty="0">
                    <a:solidFill>
                      <a:schemeClr val="accent5">
                        <a:lumMod val="50000"/>
                      </a:schemeClr>
                    </a:solidFill>
                  </a:rPr>
                  <a:t>  and vice versa.</a:t>
                </a:r>
              </a:p>
            </p:txBody>
          </p:sp>
        </mc:Choice>
        <mc:Fallback>
          <p:sp>
            <p:nvSpPr>
              <p:cNvPr id="6" name="TextBox 5">
                <a:extLst>
                  <a:ext uri="{FF2B5EF4-FFF2-40B4-BE49-F238E27FC236}">
                    <a16:creationId xmlns:a16="http://schemas.microsoft.com/office/drawing/2014/main" id="{DEC291D0-DCF4-EEEE-91C9-AA2BB7B3467E}"/>
                  </a:ext>
                </a:extLst>
              </p:cNvPr>
              <p:cNvSpPr txBox="1">
                <a:spLocks noRot="1" noChangeAspect="1" noMove="1" noResize="1" noEditPoints="1" noAdjustHandles="1" noChangeArrowheads="1" noChangeShapeType="1" noTextEdit="1"/>
              </p:cNvSpPr>
              <p:nvPr/>
            </p:nvSpPr>
            <p:spPr>
              <a:xfrm>
                <a:off x="375920" y="1140290"/>
                <a:ext cx="11968480" cy="5498108"/>
              </a:xfrm>
              <a:prstGeom prst="rect">
                <a:avLst/>
              </a:prstGeom>
              <a:blipFill>
                <a:blip r:embed="rId3"/>
                <a:stretch>
                  <a:fillRect l="-1070" t="-998" b="-1552"/>
                </a:stretch>
              </a:blipFill>
            </p:spPr>
            <p:txBody>
              <a:bodyPr/>
              <a:lstStyle/>
              <a:p>
                <a:r>
                  <a:rPr lang="pl-PL">
                    <a:noFill/>
                  </a:rPr>
                  <a:t> </a:t>
                </a:r>
              </a:p>
            </p:txBody>
          </p:sp>
        </mc:Fallback>
      </mc:AlternateContent>
    </p:spTree>
    <p:extLst>
      <p:ext uri="{BB962C8B-B14F-4D97-AF65-F5344CB8AC3E}">
        <p14:creationId xmlns:p14="http://schemas.microsoft.com/office/powerpoint/2010/main" val="80933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1FE3-CADB-D4B6-D105-8995F01D4281}"/>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03F97012-955C-6F69-10DC-7670D48FE34A}"/>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Implications: continuity of excess demand</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78F954F-FD11-FEBB-BF90-5DCD78E0AAE3}"/>
                  </a:ext>
                </a:extLst>
              </p:cNvPr>
              <p:cNvSpPr txBox="1"/>
              <p:nvPr/>
            </p:nvSpPr>
            <p:spPr>
              <a:xfrm>
                <a:off x="345440" y="1678770"/>
                <a:ext cx="11074400" cy="4010009"/>
              </a:xfrm>
              <a:prstGeom prst="rect">
                <a:avLst/>
              </a:prstGeom>
              <a:noFill/>
            </p:spPr>
            <p:txBody>
              <a:bodyPr wrap="square">
                <a:spAutoFit/>
              </a:bodyPr>
              <a:lstStyle/>
              <a:p>
                <a:pPr>
                  <a:buNone/>
                </a:pPr>
                <a:r>
                  <a:rPr lang="en-GB" sz="2800" b="1" noProof="0" dirty="0">
                    <a:solidFill>
                      <a:schemeClr val="accent5">
                        <a:lumMod val="50000"/>
                      </a:schemeClr>
                    </a:solidFill>
                  </a:rPr>
                  <a:t>Mathematically, general equilibrium exists if aggregate excess demand</a:t>
                </a:r>
                <a:br>
                  <a:rPr lang="en-GB" sz="2800" b="1" noProof="0" dirty="0">
                    <a:solidFill>
                      <a:schemeClr val="accent5">
                        <a:lumMod val="50000"/>
                      </a:schemeClr>
                    </a:solidFill>
                  </a:rPr>
                </a:br>
                <a:r>
                  <a:rPr lang="en-GB" sz="2800" b="1" noProof="0" dirty="0">
                    <a:solidFill>
                      <a:schemeClr val="accent5">
                        <a:lumMod val="50000"/>
                      </a:schemeClr>
                    </a:solidFill>
                  </a:rPr>
                  <a:t>functions are continuous.</a:t>
                </a:r>
              </a:p>
              <a:p>
                <a:pPr>
                  <a:buNone/>
                </a:pPr>
                <a:endParaRPr lang="en-GB" sz="2800" b="1" noProof="0" dirty="0">
                  <a:solidFill>
                    <a:schemeClr val="accent5">
                      <a:lumMod val="50000"/>
                    </a:schemeClr>
                  </a:solidFill>
                </a:endParaRPr>
              </a:p>
              <a:p>
                <a:pPr>
                  <a:buNone/>
                </a:pPr>
                <a:r>
                  <a:rPr lang="en-GB" sz="2800" b="1" noProof="0" dirty="0">
                    <a:solidFill>
                      <a:schemeClr val="accent5">
                        <a:lumMod val="50000"/>
                      </a:schemeClr>
                    </a:solidFill>
                  </a:rPr>
                  <a:t>Small changes in prices should not cause huge jumps in demanded quantities.</a:t>
                </a:r>
                <a:r>
                  <a:rPr lang="pl-PL" sz="2800" b="1" noProof="0" dirty="0">
                    <a:solidFill>
                      <a:schemeClr val="accent5">
                        <a:lumMod val="50000"/>
                      </a:schemeClr>
                    </a:solidFill>
                  </a:rPr>
                  <a:t> </a:t>
                </a:r>
                <a:r>
                  <a:rPr lang="en-GB" sz="2800" b="1" noProof="0" dirty="0">
                    <a:solidFill>
                      <a:schemeClr val="accent5">
                        <a:lumMod val="50000"/>
                      </a:schemeClr>
                    </a:solidFill>
                  </a:rPr>
                  <a:t>Two key conditions that guarantee continuity:</a:t>
                </a:r>
              </a:p>
              <a:p>
                <a:pPr lvl="1" algn="just">
                  <a:buFont typeface="Arial" panose="020B0604020202020204" pitchFamily="34" charset="0"/>
                  <a:buChar char="•"/>
                </a:pPr>
                <a:r>
                  <a:rPr lang="en-GB" sz="2800" b="1" noProof="0" dirty="0">
                    <a:solidFill>
                      <a:schemeClr val="accent5">
                        <a:lumMod val="50000"/>
                      </a:schemeClr>
                    </a:solidFill>
                  </a:rPr>
                  <a:t> each individual demand function </a:t>
                </a:r>
                <a14:m>
                  <m:oMath xmlns:m="http://schemas.openxmlformats.org/officeDocument/2006/math">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𝒙</m:t>
                        </m:r>
                      </m:e>
                      <m:sub>
                        <m:r>
                          <a:rPr lang="en-GB" sz="2800" b="1" i="1" noProof="0" smtClean="0">
                            <a:solidFill>
                              <a:schemeClr val="accent5">
                                <a:lumMod val="50000"/>
                              </a:schemeClr>
                            </a:solidFill>
                            <a:latin typeface="Cambria Math" panose="02040503050406030204" pitchFamily="18" charset="0"/>
                          </a:rPr>
                          <m:t>𝒊</m:t>
                        </m:r>
                      </m:sub>
                      <m:sup>
                        <m:r>
                          <a:rPr lang="en-GB" sz="2800" b="1" i="1" noProof="0" smtClean="0">
                            <a:solidFill>
                              <a:schemeClr val="accent5">
                                <a:lumMod val="50000"/>
                              </a:schemeClr>
                            </a:solidFill>
                            <a:latin typeface="Cambria Math" panose="02040503050406030204" pitchFamily="18" charset="0"/>
                          </a:rPr>
                          <m:t>𝒉</m:t>
                        </m:r>
                      </m:sup>
                    </m:sSubSup>
                    <m:d>
                      <m:dPr>
                        <m:ctrlPr>
                          <a:rPr lang="en-GB" sz="2800" b="1" i="1" noProof="0" smtClean="0">
                            <a:solidFill>
                              <a:schemeClr val="accent5">
                                <a:lumMod val="50000"/>
                              </a:schemeClr>
                            </a:solidFill>
                            <a:latin typeface="Cambria Math" panose="02040503050406030204" pitchFamily="18" charset="0"/>
                          </a:rPr>
                        </m:ctrlPr>
                      </m:dPr>
                      <m:e>
                        <m:r>
                          <a:rPr lang="en-GB" sz="2800" b="1" i="1" noProof="0" smtClean="0">
                            <a:solidFill>
                              <a:schemeClr val="accent5">
                                <a:lumMod val="50000"/>
                              </a:schemeClr>
                            </a:solidFill>
                            <a:latin typeface="Cambria Math" panose="02040503050406030204" pitchFamily="18" charset="0"/>
                          </a:rPr>
                          <m:t>𝒑</m:t>
                        </m:r>
                      </m:e>
                    </m:d>
                  </m:oMath>
                </a14:m>
                <a:r>
                  <a:rPr lang="en-GB" sz="2800" b="1" noProof="0" dirty="0">
                    <a:solidFill>
                      <a:schemeClr val="accent5">
                        <a:lumMod val="50000"/>
                      </a:schemeClr>
                    </a:solidFill>
                  </a:rPr>
                  <a:t> is continuous ⇒ preferences of each consumer are convex,</a:t>
                </a:r>
              </a:p>
              <a:p>
                <a:pPr lvl="1">
                  <a:buFont typeface="Arial" panose="020B0604020202020204" pitchFamily="34" charset="0"/>
                  <a:buChar char="•"/>
                </a:pPr>
                <a:r>
                  <a:rPr lang="en-GB" sz="2800" b="1" noProof="0" dirty="0">
                    <a:solidFill>
                      <a:schemeClr val="accent5">
                        <a:lumMod val="50000"/>
                      </a:schemeClr>
                    </a:solidFill>
                  </a:rPr>
                  <a:t> each individual agent is small relative to the whole market (no agent can move prices alone).</a:t>
                </a:r>
              </a:p>
            </p:txBody>
          </p:sp>
        </mc:Choice>
        <mc:Fallback>
          <p:sp>
            <p:nvSpPr>
              <p:cNvPr id="6" name="TextBox 5">
                <a:extLst>
                  <a:ext uri="{FF2B5EF4-FFF2-40B4-BE49-F238E27FC236}">
                    <a16:creationId xmlns:a16="http://schemas.microsoft.com/office/drawing/2014/main" id="{778F954F-FD11-FEBB-BF90-5DCD78E0AAE3}"/>
                  </a:ext>
                </a:extLst>
              </p:cNvPr>
              <p:cNvSpPr txBox="1">
                <a:spLocks noRot="1" noChangeAspect="1" noMove="1" noResize="1" noEditPoints="1" noAdjustHandles="1" noChangeArrowheads="1" noChangeShapeType="1" noTextEdit="1"/>
              </p:cNvSpPr>
              <p:nvPr/>
            </p:nvSpPr>
            <p:spPr>
              <a:xfrm>
                <a:off x="345440" y="1678770"/>
                <a:ext cx="11074400" cy="4010009"/>
              </a:xfrm>
              <a:prstGeom prst="rect">
                <a:avLst/>
              </a:prstGeom>
              <a:blipFill>
                <a:blip r:embed="rId3"/>
                <a:stretch>
                  <a:fillRect l="-1156" t="-1368" r="-1101" b="-3343"/>
                </a:stretch>
              </a:blipFill>
            </p:spPr>
            <p:txBody>
              <a:bodyPr/>
              <a:lstStyle/>
              <a:p>
                <a:r>
                  <a:rPr lang="pl-PL">
                    <a:noFill/>
                  </a:rPr>
                  <a:t> </a:t>
                </a:r>
              </a:p>
            </p:txBody>
          </p:sp>
        </mc:Fallback>
      </mc:AlternateContent>
    </p:spTree>
    <p:extLst>
      <p:ext uri="{BB962C8B-B14F-4D97-AF65-F5344CB8AC3E}">
        <p14:creationId xmlns:p14="http://schemas.microsoft.com/office/powerpoint/2010/main" val="3566384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9E4E-1E07-144B-FBD0-81D6CD43150C}"/>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B02C7CC8-FAE6-C4BE-F5CD-E3E675DB451A}"/>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Implications: numeraire and relative prices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14339DD-714A-4B9F-B0CC-3D4972DD7132}"/>
                  </a:ext>
                </a:extLst>
              </p:cNvPr>
              <p:cNvSpPr txBox="1"/>
              <p:nvPr/>
            </p:nvSpPr>
            <p:spPr>
              <a:xfrm>
                <a:off x="304800" y="1302850"/>
                <a:ext cx="11074400" cy="4832092"/>
              </a:xfrm>
              <a:prstGeom prst="rect">
                <a:avLst/>
              </a:prstGeom>
              <a:noFill/>
            </p:spPr>
            <p:txBody>
              <a:bodyPr wrap="square">
                <a:spAutoFit/>
              </a:bodyPr>
              <a:lstStyle/>
              <a:p>
                <a:pPr>
                  <a:buNone/>
                </a:pPr>
                <a:r>
                  <a:rPr lang="en-GB" sz="2800" b="1" noProof="0" dirty="0">
                    <a:solidFill>
                      <a:schemeClr val="accent5">
                        <a:lumMod val="50000"/>
                      </a:schemeClr>
                    </a:solidFill>
                  </a:rPr>
                  <a:t>Because only relative prices matter, we can choose one good as a numeraire.</a:t>
                </a:r>
              </a:p>
              <a:p>
                <a:pPr>
                  <a:buNone/>
                </a:pPr>
                <a:endParaRPr lang="en-GB" sz="2800" b="1" noProof="0" dirty="0">
                  <a:solidFill>
                    <a:schemeClr val="accent5">
                      <a:lumMod val="50000"/>
                    </a:schemeClr>
                  </a:solidFill>
                </a:endParaRPr>
              </a:p>
              <a:p>
                <a:pPr marL="914400" lvl="1" indent="-457200">
                  <a:buFont typeface="Arial" panose="020B0604020202020204" pitchFamily="34" charset="0"/>
                  <a:buChar char="•"/>
                </a:pPr>
                <a:r>
                  <a:rPr lang="en-GB" sz="2800" b="1" noProof="0" dirty="0">
                    <a:solidFill>
                      <a:schemeClr val="accent5">
                        <a:lumMod val="50000"/>
                      </a:schemeClr>
                    </a:solidFill>
                  </a:rPr>
                  <a:t> To find a </a:t>
                </a:r>
                <a:r>
                  <a:rPr lang="en-GB" sz="2800" b="1" noProof="0" dirty="0" err="1">
                    <a:solidFill>
                      <a:schemeClr val="accent5">
                        <a:lumMod val="50000"/>
                      </a:schemeClr>
                    </a:solidFill>
                  </a:rPr>
                  <a:t>Walrasian</a:t>
                </a:r>
                <a:r>
                  <a:rPr lang="en-GB" sz="2800" b="1" noProof="0" dirty="0">
                    <a:solidFill>
                      <a:schemeClr val="accent5">
                        <a:lumMod val="50000"/>
                      </a:schemeClr>
                    </a:solidFill>
                  </a:rPr>
                  <a:t> equilibrium in an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𝑵</m:t>
                    </m:r>
                  </m:oMath>
                </a14:m>
                <a:r>
                  <a:rPr lang="en-GB" sz="2800" b="1" noProof="0" dirty="0">
                    <a:solidFill>
                      <a:schemeClr val="accent5">
                        <a:lumMod val="50000"/>
                      </a:schemeClr>
                    </a:solidFill>
                  </a:rPr>
                  <a:t>-good economy it is enough to determine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𝑵</m:t>
                    </m:r>
                    <m:r>
                      <a:rPr lang="en-GB" sz="2800" b="1" i="0" noProof="0" smtClean="0">
                        <a:solidFill>
                          <a:schemeClr val="accent5">
                            <a:lumMod val="50000"/>
                          </a:schemeClr>
                        </a:solidFill>
                        <a:latin typeface="Cambria Math" panose="02040503050406030204" pitchFamily="18" charset="0"/>
                      </a:rPr>
                      <m:t>−</m:t>
                    </m:r>
                    <m:r>
                      <a:rPr lang="en-GB" sz="2800" b="1" i="0" noProof="0" smtClean="0">
                        <a:solidFill>
                          <a:schemeClr val="accent5">
                            <a:lumMod val="50000"/>
                          </a:schemeClr>
                        </a:solidFill>
                        <a:latin typeface="Cambria Math" panose="02040503050406030204" pitchFamily="18" charset="0"/>
                      </a:rPr>
                      <m:t>𝟏</m:t>
                    </m:r>
                  </m:oMath>
                </a14:m>
                <a:r>
                  <a:rPr lang="en-GB" sz="2800" b="1" noProof="0" dirty="0">
                    <a:solidFill>
                      <a:schemeClr val="accent5">
                        <a:lumMod val="50000"/>
                      </a:schemeClr>
                    </a:solidFill>
                  </a:rPr>
                  <a:t>relative prices.</a:t>
                </a:r>
              </a:p>
              <a:p>
                <a:pPr marL="914400" lvl="1" indent="-457200">
                  <a:buFont typeface="Arial" panose="020B0604020202020204" pitchFamily="34" charset="0"/>
                  <a:buChar char="•"/>
                </a:pPr>
                <a:endParaRPr lang="en-GB" sz="2800" b="1" noProof="0" dirty="0">
                  <a:solidFill>
                    <a:schemeClr val="accent5">
                      <a:lumMod val="50000"/>
                    </a:schemeClr>
                  </a:solidFill>
                </a:endParaRPr>
              </a:p>
              <a:p>
                <a:pPr marL="914400" lvl="1" indent="-457200">
                  <a:buFont typeface="Arial" panose="020B0604020202020204" pitchFamily="34" charset="0"/>
                  <a:buChar char="•"/>
                </a:pPr>
                <a:r>
                  <a:rPr lang="en-GB" sz="2800" b="1" noProof="0" dirty="0">
                    <a:solidFill>
                      <a:schemeClr val="accent5">
                        <a:lumMod val="50000"/>
                      </a:schemeClr>
                    </a:solidFill>
                  </a:rPr>
                  <a:t> We can normalize one price, for example set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𝟏</m:t>
                        </m:r>
                      </m:sub>
                    </m:sSub>
                    <m:r>
                      <a:rPr lang="en-GB" sz="2800" b="1" i="0" noProof="0" smtClean="0">
                        <a:solidFill>
                          <a:schemeClr val="accent5">
                            <a:lumMod val="50000"/>
                          </a:schemeClr>
                        </a:solidFill>
                        <a:latin typeface="Cambria Math" panose="02040503050406030204" pitchFamily="18" charset="0"/>
                      </a:rPr>
                      <m:t>=</m:t>
                    </m:r>
                    <m:r>
                      <a:rPr lang="en-GB" sz="2800" b="1" i="0" noProof="0" smtClean="0">
                        <a:solidFill>
                          <a:schemeClr val="accent5">
                            <a:lumMod val="50000"/>
                          </a:schemeClr>
                        </a:solidFill>
                        <a:latin typeface="Cambria Math" panose="02040503050406030204" pitchFamily="18" charset="0"/>
                      </a:rPr>
                      <m:t>𝟏</m:t>
                    </m:r>
                  </m:oMath>
                </a14:m>
                <a:r>
                  <a:rPr lang="en-GB" sz="2800" b="1" noProof="0" dirty="0">
                    <a:solidFill>
                      <a:schemeClr val="accent5">
                        <a:lumMod val="50000"/>
                      </a:schemeClr>
                    </a:solidFill>
                  </a:rPr>
                  <a:t>, and express all other prices relative to it.</a:t>
                </a:r>
              </a:p>
              <a:p>
                <a:pPr marL="914400" lvl="1" indent="-457200">
                  <a:buFont typeface="Arial" panose="020B0604020202020204" pitchFamily="34" charset="0"/>
                  <a:buChar char="•"/>
                </a:pPr>
                <a:endParaRPr lang="en-GB" sz="2800" b="1" noProof="0" dirty="0">
                  <a:solidFill>
                    <a:schemeClr val="accent5">
                      <a:lumMod val="50000"/>
                    </a:schemeClr>
                  </a:solidFill>
                </a:endParaRPr>
              </a:p>
              <a:p>
                <a:pPr marL="914400" lvl="1" indent="-457200">
                  <a:buFont typeface="Arial" panose="020B0604020202020204" pitchFamily="34" charset="0"/>
                  <a:buChar char="•"/>
                </a:pPr>
                <a:r>
                  <a:rPr lang="en-GB" sz="2800" b="1" noProof="0" dirty="0">
                    <a:solidFill>
                      <a:schemeClr val="accent5">
                        <a:lumMod val="50000"/>
                      </a:schemeClr>
                    </a:solidFill>
                  </a:rPr>
                  <a:t> Multiplying all prices by the same positive constant does not change anyone's demand or supply.</a:t>
                </a:r>
              </a:p>
            </p:txBody>
          </p:sp>
        </mc:Choice>
        <mc:Fallback xmlns="">
          <p:sp>
            <p:nvSpPr>
              <p:cNvPr id="6" name="TextBox 5">
                <a:extLst>
                  <a:ext uri="{FF2B5EF4-FFF2-40B4-BE49-F238E27FC236}">
                    <a16:creationId xmlns:a16="http://schemas.microsoft.com/office/drawing/2014/main" id="{014339DD-714A-4B9F-B0CC-3D4972DD7132}"/>
                  </a:ext>
                </a:extLst>
              </p:cNvPr>
              <p:cNvSpPr txBox="1">
                <a:spLocks noRot="1" noChangeAspect="1" noMove="1" noResize="1" noEditPoints="1" noAdjustHandles="1" noChangeArrowheads="1" noChangeShapeType="1" noTextEdit="1"/>
              </p:cNvSpPr>
              <p:nvPr/>
            </p:nvSpPr>
            <p:spPr>
              <a:xfrm>
                <a:off x="304800" y="1302850"/>
                <a:ext cx="11074400" cy="4832092"/>
              </a:xfrm>
              <a:prstGeom prst="rect">
                <a:avLst/>
              </a:prstGeom>
              <a:blipFill>
                <a:blip r:embed="rId3"/>
                <a:stretch>
                  <a:fillRect l="-1101" t="-1263" r="-1046" b="-2778"/>
                </a:stretch>
              </a:blipFill>
            </p:spPr>
            <p:txBody>
              <a:bodyPr/>
              <a:lstStyle/>
              <a:p>
                <a:r>
                  <a:rPr lang="pl-PL">
                    <a:noFill/>
                  </a:rPr>
                  <a:t> </a:t>
                </a:r>
              </a:p>
            </p:txBody>
          </p:sp>
        </mc:Fallback>
      </mc:AlternateContent>
    </p:spTree>
    <p:extLst>
      <p:ext uri="{BB962C8B-B14F-4D97-AF65-F5344CB8AC3E}">
        <p14:creationId xmlns:p14="http://schemas.microsoft.com/office/powerpoint/2010/main" val="1244415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5324E-9DCC-0C7E-8A1B-CE165736173C}"/>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5D962872-4FCF-76B8-BE7A-F87970D50CAA}"/>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Implications: link to Pareto efficiency</a:t>
            </a:r>
          </a:p>
        </p:txBody>
      </p:sp>
      <p:sp>
        <p:nvSpPr>
          <p:cNvPr id="6" name="TextBox 5">
            <a:extLst>
              <a:ext uri="{FF2B5EF4-FFF2-40B4-BE49-F238E27FC236}">
                <a16:creationId xmlns:a16="http://schemas.microsoft.com/office/drawing/2014/main" id="{211ACDD2-0C00-3FCF-D315-D0B0B6A2DA81}"/>
              </a:ext>
            </a:extLst>
          </p:cNvPr>
          <p:cNvSpPr txBox="1"/>
          <p:nvPr/>
        </p:nvSpPr>
        <p:spPr>
          <a:xfrm>
            <a:off x="914400" y="1874728"/>
            <a:ext cx="9885680" cy="3108543"/>
          </a:xfrm>
          <a:prstGeom prst="rect">
            <a:avLst/>
          </a:prstGeom>
          <a:noFill/>
        </p:spPr>
        <p:txBody>
          <a:bodyPr wrap="square">
            <a:spAutoFit/>
          </a:bodyPr>
          <a:lstStyle/>
          <a:p>
            <a:pPr algn="just">
              <a:buNone/>
            </a:pPr>
            <a:r>
              <a:rPr lang="en-GB" sz="2800" b="1" noProof="0" dirty="0">
                <a:solidFill>
                  <a:schemeClr val="accent5">
                    <a:lumMod val="50000"/>
                  </a:schemeClr>
                </a:solidFill>
              </a:rPr>
              <a:t>In a pure exchange economy with convex preferences and perfect competition, any </a:t>
            </a:r>
            <a:r>
              <a:rPr lang="en-GB" sz="2800" b="1" noProof="0" dirty="0" err="1">
                <a:solidFill>
                  <a:schemeClr val="accent5">
                    <a:lumMod val="50000"/>
                  </a:schemeClr>
                </a:solidFill>
              </a:rPr>
              <a:t>Walrasian</a:t>
            </a:r>
            <a:r>
              <a:rPr lang="en-GB" sz="2800" b="1" noProof="0" dirty="0">
                <a:solidFill>
                  <a:schemeClr val="accent5">
                    <a:lumMod val="50000"/>
                  </a:schemeClr>
                </a:solidFill>
              </a:rPr>
              <a:t> equilibrium allocation is Pareto-efficient  (First Welfare Theorem).</a:t>
            </a:r>
          </a:p>
          <a:p>
            <a:pPr algn="just">
              <a:buNone/>
            </a:pPr>
            <a:endParaRPr lang="en-GB" sz="2800" b="1" noProof="0" dirty="0">
              <a:solidFill>
                <a:schemeClr val="accent5">
                  <a:lumMod val="50000"/>
                </a:schemeClr>
              </a:solidFill>
            </a:endParaRPr>
          </a:p>
          <a:p>
            <a:pPr algn="just">
              <a:buNone/>
            </a:pPr>
            <a:r>
              <a:rPr lang="en-GB" sz="2800" b="1" noProof="0" dirty="0">
                <a:solidFill>
                  <a:schemeClr val="accent5">
                    <a:lumMod val="50000"/>
                  </a:schemeClr>
                </a:solidFill>
              </a:rPr>
              <a:t>Endowment matters: different initial endowments lead to different efficient allocations, but all of them are Pareto-efficient.</a:t>
            </a:r>
          </a:p>
          <a:p>
            <a:pPr algn="just">
              <a:buNone/>
            </a:pPr>
            <a:r>
              <a:rPr lang="en-GB" sz="2800" b="1" noProof="0" dirty="0">
                <a:solidFill>
                  <a:schemeClr val="accent5">
                    <a:lumMod val="50000"/>
                  </a:schemeClr>
                </a:solidFill>
              </a:rPr>
              <a:t>We will return to this when we discuss </a:t>
            </a:r>
            <a:r>
              <a:rPr lang="en-GB" sz="2800" b="1" noProof="0" dirty="0" err="1">
                <a:solidFill>
                  <a:schemeClr val="accent5">
                    <a:lumMod val="50000"/>
                  </a:schemeClr>
                </a:solidFill>
              </a:rPr>
              <a:t>justes</a:t>
            </a:r>
            <a:r>
              <a:rPr lang="en-GB" sz="2800" b="1" noProof="0" dirty="0">
                <a:solidFill>
                  <a:schemeClr val="accent5">
                    <a:lumMod val="50000"/>
                  </a:schemeClr>
                </a:solidFill>
              </a:rPr>
              <a:t> in economics.</a:t>
            </a:r>
          </a:p>
        </p:txBody>
      </p:sp>
    </p:spTree>
    <p:extLst>
      <p:ext uri="{BB962C8B-B14F-4D97-AF65-F5344CB8AC3E}">
        <p14:creationId xmlns:p14="http://schemas.microsoft.com/office/powerpoint/2010/main" val="2681468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30EEA-6FF2-D8B0-E8FA-622755BABF92}"/>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FED3E4F0-EBCF-479E-60B6-42D40F9AA7A3}"/>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Implications: link to Pareto efficiency</a:t>
            </a:r>
          </a:p>
        </p:txBody>
      </p:sp>
      <p:sp>
        <p:nvSpPr>
          <p:cNvPr id="6" name="TextBox 5">
            <a:extLst>
              <a:ext uri="{FF2B5EF4-FFF2-40B4-BE49-F238E27FC236}">
                <a16:creationId xmlns:a16="http://schemas.microsoft.com/office/drawing/2014/main" id="{D9812182-32CE-96C1-2C36-72BED2F27747}"/>
              </a:ext>
            </a:extLst>
          </p:cNvPr>
          <p:cNvSpPr txBox="1"/>
          <p:nvPr/>
        </p:nvSpPr>
        <p:spPr>
          <a:xfrm>
            <a:off x="436880" y="1305768"/>
            <a:ext cx="11308080" cy="5016758"/>
          </a:xfrm>
          <a:prstGeom prst="rect">
            <a:avLst/>
          </a:prstGeom>
          <a:noFill/>
        </p:spPr>
        <p:txBody>
          <a:bodyPr wrap="square">
            <a:spAutoFit/>
          </a:bodyPr>
          <a:lstStyle/>
          <a:p>
            <a:pPr algn="just">
              <a:buNone/>
            </a:pPr>
            <a:r>
              <a:rPr lang="en-US" sz="2000" i="1" noProof="0" dirty="0">
                <a:solidFill>
                  <a:schemeClr val="accent5">
                    <a:lumMod val="50000"/>
                  </a:schemeClr>
                </a:solidFill>
              </a:rPr>
              <a:t>Walras’ law looks innocent in our diagrams: if all markets clear, the value of total excess demand is zero. But once we leave our two-good exchange world, this becomes a very strong story about how the economy works. In the neoclassical macro narrative, </a:t>
            </a:r>
            <a:r>
              <a:rPr lang="en-US" sz="2000" i="1" noProof="0" dirty="0" err="1">
                <a:solidFill>
                  <a:schemeClr val="accent5">
                    <a:lumMod val="50000"/>
                  </a:schemeClr>
                </a:solidFill>
              </a:rPr>
              <a:t>labour</a:t>
            </a:r>
            <a:r>
              <a:rPr lang="en-US" sz="2000" i="1" noProof="0" dirty="0">
                <a:solidFill>
                  <a:schemeClr val="accent5">
                    <a:lumMod val="50000"/>
                  </a:schemeClr>
                </a:solidFill>
              </a:rPr>
              <a:t> is treated just like any other good. Then, if all goods markets are in equilibrium, Walras’ law seems to force the conclusion that the </a:t>
            </a:r>
            <a:r>
              <a:rPr lang="en-US" sz="2000" i="1" noProof="0" dirty="0" err="1">
                <a:solidFill>
                  <a:schemeClr val="accent5">
                    <a:lumMod val="50000"/>
                  </a:schemeClr>
                </a:solidFill>
              </a:rPr>
              <a:t>labour</a:t>
            </a:r>
            <a:r>
              <a:rPr lang="en-US" sz="2000" i="1" noProof="0" dirty="0">
                <a:solidFill>
                  <a:schemeClr val="accent5">
                    <a:lumMod val="50000"/>
                  </a:schemeClr>
                </a:solidFill>
              </a:rPr>
              <a:t> market must also be in equilibrium – so persistent, involuntary unemployment should not exist.</a:t>
            </a:r>
            <a:endParaRPr lang="pl-PL" sz="2000" i="1" noProof="0" dirty="0">
              <a:solidFill>
                <a:schemeClr val="accent5">
                  <a:lumMod val="50000"/>
                </a:schemeClr>
              </a:solidFill>
            </a:endParaRPr>
          </a:p>
          <a:p>
            <a:pPr algn="just">
              <a:buNone/>
            </a:pPr>
            <a:endParaRPr lang="pl-PL" sz="2000" i="1" dirty="0">
              <a:solidFill>
                <a:schemeClr val="accent5">
                  <a:lumMod val="50000"/>
                </a:schemeClr>
              </a:solidFill>
            </a:endParaRPr>
          </a:p>
          <a:p>
            <a:pPr algn="just">
              <a:buNone/>
            </a:pPr>
            <a:r>
              <a:rPr lang="en-US" sz="2000" i="1" noProof="0" dirty="0">
                <a:solidFill>
                  <a:schemeClr val="accent5">
                    <a:lumMod val="50000"/>
                  </a:schemeClr>
                </a:solidFill>
              </a:rPr>
              <a:t>Keynesian reasoning challenges this story not by rejecting Walras’ law, but by changing the cast of markets in the model. When we add money and financial assets as additional “goods”, Walras’ law only says that the sum of excess demands (for goods, </a:t>
            </a:r>
            <a:r>
              <a:rPr lang="en-US" sz="2000" i="1" noProof="0" dirty="0" err="1">
                <a:solidFill>
                  <a:schemeClr val="accent5">
                    <a:lumMod val="50000"/>
                  </a:schemeClr>
                </a:solidFill>
              </a:rPr>
              <a:t>labour</a:t>
            </a:r>
            <a:r>
              <a:rPr lang="en-US" sz="2000" i="1" noProof="0" dirty="0">
                <a:solidFill>
                  <a:schemeClr val="accent5">
                    <a:lumMod val="50000"/>
                  </a:schemeClr>
                </a:solidFill>
              </a:rPr>
              <a:t>, money, bonds, etc.) is zero. It becomes perfectly possible to have goods markets in equilibrium, excess supply of </a:t>
            </a:r>
            <a:r>
              <a:rPr lang="en-US" sz="2000" i="1" noProof="0" dirty="0" err="1">
                <a:solidFill>
                  <a:schemeClr val="accent5">
                    <a:lumMod val="50000"/>
                  </a:schemeClr>
                </a:solidFill>
              </a:rPr>
              <a:t>labour</a:t>
            </a:r>
            <a:r>
              <a:rPr lang="en-US" sz="2000" i="1" noProof="0" dirty="0">
                <a:solidFill>
                  <a:schemeClr val="accent5">
                    <a:lumMod val="50000"/>
                  </a:schemeClr>
                </a:solidFill>
              </a:rPr>
              <a:t> (unemployment), and at the same time excess demand for money or safe assets (for example, in a liquidity trap).</a:t>
            </a:r>
            <a:endParaRPr lang="pl-PL" sz="2000" i="1" noProof="0" dirty="0">
              <a:solidFill>
                <a:schemeClr val="accent5">
                  <a:lumMod val="50000"/>
                </a:schemeClr>
              </a:solidFill>
            </a:endParaRPr>
          </a:p>
          <a:p>
            <a:pPr algn="just">
              <a:buNone/>
            </a:pPr>
            <a:endParaRPr lang="pl-PL" sz="2000" i="1" dirty="0">
              <a:solidFill>
                <a:schemeClr val="accent5">
                  <a:lumMod val="50000"/>
                </a:schemeClr>
              </a:solidFill>
            </a:endParaRPr>
          </a:p>
          <a:p>
            <a:pPr algn="just">
              <a:buNone/>
            </a:pPr>
            <a:r>
              <a:rPr lang="en-US" sz="2000" i="1" noProof="0" dirty="0">
                <a:solidFill>
                  <a:schemeClr val="accent5">
                    <a:lumMod val="50000"/>
                  </a:schemeClr>
                </a:solidFill>
              </a:rPr>
              <a:t>So</a:t>
            </a:r>
            <a:r>
              <a:rPr lang="pl-PL" sz="2000" i="1" noProof="0" dirty="0">
                <a:solidFill>
                  <a:schemeClr val="accent5">
                    <a:lumMod val="50000"/>
                  </a:schemeClr>
                </a:solidFill>
              </a:rPr>
              <a:t>,</a:t>
            </a:r>
            <a:r>
              <a:rPr lang="en-US" sz="2000" i="1" noProof="0" dirty="0">
                <a:solidFill>
                  <a:schemeClr val="accent5">
                    <a:lumMod val="50000"/>
                  </a:schemeClr>
                </a:solidFill>
              </a:rPr>
              <a:t> the real methodological lesson from Walras’ law is this: the law itself is simple and general, but its implications depend entirely on which markets we choose to model and how we tell the story of the economy. This tension between the neat neoclassical tale and the Keynesian one will be our starting point next time, when we look more closely at equilibrium in a richer setting.</a:t>
            </a:r>
            <a:endParaRPr lang="en-GB" sz="2000" i="1" noProof="0" dirty="0">
              <a:solidFill>
                <a:schemeClr val="accent5">
                  <a:lumMod val="50000"/>
                </a:schemeClr>
              </a:solidFill>
            </a:endParaRPr>
          </a:p>
        </p:txBody>
      </p:sp>
    </p:spTree>
    <p:extLst>
      <p:ext uri="{BB962C8B-B14F-4D97-AF65-F5344CB8AC3E}">
        <p14:creationId xmlns:p14="http://schemas.microsoft.com/office/powerpoint/2010/main" val="3293649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88354-392D-B3DB-3E81-CB7A29C5E553}"/>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FD9ED30E-0B3F-FC96-3FE9-B47825B8F25E}"/>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Simulation of Walras' law – idea</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FE86ACA-6CEB-8915-CED9-F9F8B2DCC543}"/>
                  </a:ext>
                </a:extLst>
              </p:cNvPr>
              <p:cNvSpPr txBox="1"/>
              <p:nvPr/>
            </p:nvSpPr>
            <p:spPr>
              <a:xfrm>
                <a:off x="843280" y="1549608"/>
                <a:ext cx="10353040" cy="4501617"/>
              </a:xfrm>
              <a:prstGeom prst="rect">
                <a:avLst/>
              </a:prstGeom>
              <a:noFill/>
            </p:spPr>
            <p:txBody>
              <a:bodyPr wrap="square">
                <a:spAutoFit/>
              </a:bodyPr>
              <a:lstStyle/>
              <a:p>
                <a:pPr>
                  <a:buNone/>
                </a:pPr>
                <a:r>
                  <a:rPr lang="en-GB" sz="2800" b="1" noProof="0" dirty="0">
                    <a:solidFill>
                      <a:schemeClr val="accent5">
                        <a:lumMod val="50000"/>
                      </a:schemeClr>
                    </a:solidFill>
                  </a:rPr>
                  <a:t>We can check Walras' law numerically in a simple simulation:</a:t>
                </a:r>
              </a:p>
              <a:p>
                <a:pPr>
                  <a:buNone/>
                </a:pPr>
                <a:endParaRPr lang="en-GB" sz="2800" b="1" noProof="0" dirty="0">
                  <a:solidFill>
                    <a:schemeClr val="accent5">
                      <a:lumMod val="50000"/>
                    </a:schemeClr>
                  </a:solidFill>
                </a:endParaRPr>
              </a:p>
              <a:p>
                <a:pPr marL="1371600" lvl="2" indent="-457200">
                  <a:buFont typeface="Arial" panose="020B0604020202020204" pitchFamily="34" charset="0"/>
                  <a:buChar char="•"/>
                </a:pPr>
                <a:r>
                  <a:rPr lang="en-GB" sz="2800" b="1" noProof="0" dirty="0">
                    <a:solidFill>
                      <a:schemeClr val="accent5">
                        <a:lumMod val="50000"/>
                      </a:schemeClr>
                    </a:solidFill>
                  </a:rPr>
                  <a:t>Choose </a:t>
                </a:r>
                <a14:m>
                  <m:oMath xmlns:m="http://schemas.openxmlformats.org/officeDocument/2006/math">
                    <m:r>
                      <a:rPr lang="en-GB" sz="2800" b="1" i="1" noProof="0" smtClean="0">
                        <a:solidFill>
                          <a:schemeClr val="accent5">
                            <a:lumMod val="50000"/>
                          </a:schemeClr>
                        </a:solidFill>
                        <a:latin typeface="Cambria Math" panose="02040503050406030204" pitchFamily="18" charset="0"/>
                      </a:rPr>
                      <m:t>𝑵</m:t>
                    </m:r>
                  </m:oMath>
                </a14:m>
                <a:r>
                  <a:rPr lang="en-GB" sz="2800" b="1" noProof="0" dirty="0">
                    <a:solidFill>
                      <a:schemeClr val="accent5">
                        <a:lumMod val="50000"/>
                      </a:schemeClr>
                    </a:solidFill>
                  </a:rPr>
                  <a:t> consumers with random endowments </a:t>
                </a:r>
                <a14:m>
                  <m:oMath xmlns:m="http://schemas.openxmlformats.org/officeDocument/2006/math">
                    <m:d>
                      <m:dPr>
                        <m:sepChr m:val=","/>
                        <m:ctrlPr>
                          <a:rPr lang="en-GB" sz="2800" b="1" i="1" noProof="0" smtClean="0">
                            <a:solidFill>
                              <a:schemeClr val="accent5">
                                <a:lumMod val="50000"/>
                              </a:schemeClr>
                            </a:solidFill>
                            <a:latin typeface="Cambria Math" panose="02040503050406030204" pitchFamily="18" charset="0"/>
                          </a:rPr>
                        </m:ctrlPr>
                      </m:dPr>
                      <m:e>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𝝎</m:t>
                            </m:r>
                          </m:e>
                          <m:sub>
                            <m:r>
                              <a:rPr lang="en-GB" sz="2800" b="1" i="0" noProof="0" smtClean="0">
                                <a:solidFill>
                                  <a:schemeClr val="accent5">
                                    <a:lumMod val="50000"/>
                                  </a:schemeClr>
                                </a:solidFill>
                                <a:latin typeface="Cambria Math" panose="02040503050406030204" pitchFamily="18" charset="0"/>
                              </a:rPr>
                              <m:t>𝟏</m:t>
                            </m:r>
                          </m:sub>
                          <m:sup>
                            <m:r>
                              <a:rPr lang="en-GB" sz="2800" b="1" i="1" noProof="0" smtClean="0">
                                <a:solidFill>
                                  <a:schemeClr val="accent5">
                                    <a:lumMod val="50000"/>
                                  </a:schemeClr>
                                </a:solidFill>
                                <a:latin typeface="Cambria Math" panose="02040503050406030204" pitchFamily="18" charset="0"/>
                              </a:rPr>
                              <m:t>𝒉</m:t>
                            </m:r>
                          </m:sup>
                        </m:sSubSup>
                      </m:e>
                      <m:e>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𝝎</m:t>
                            </m:r>
                          </m:e>
                          <m:sub>
                            <m:r>
                              <a:rPr lang="en-GB" sz="2800" b="1" i="0" noProof="0" smtClean="0">
                                <a:solidFill>
                                  <a:schemeClr val="accent5">
                                    <a:lumMod val="50000"/>
                                  </a:schemeClr>
                                </a:solidFill>
                                <a:latin typeface="Cambria Math" panose="02040503050406030204" pitchFamily="18" charset="0"/>
                              </a:rPr>
                              <m:t>𝟐</m:t>
                            </m:r>
                          </m:sub>
                          <m:sup>
                            <m:r>
                              <a:rPr lang="en-GB" sz="2800" b="1" i="1" noProof="0" smtClean="0">
                                <a:solidFill>
                                  <a:schemeClr val="accent5">
                                    <a:lumMod val="50000"/>
                                  </a:schemeClr>
                                </a:solidFill>
                                <a:latin typeface="Cambria Math" panose="02040503050406030204" pitchFamily="18" charset="0"/>
                              </a:rPr>
                              <m:t>𝒉</m:t>
                            </m:r>
                          </m:sup>
                        </m:sSubSup>
                      </m:e>
                    </m:d>
                  </m:oMath>
                </a14:m>
                <a:r>
                  <a:rPr lang="en-GB" sz="2800" b="1" noProof="0" dirty="0">
                    <a:solidFill>
                      <a:schemeClr val="accent5">
                        <a:lumMod val="50000"/>
                      </a:schemeClr>
                    </a:solidFill>
                  </a:rPr>
                  <a:t>.</a:t>
                </a:r>
              </a:p>
              <a:p>
                <a:pPr marL="1371600" lvl="2" indent="-457200">
                  <a:buFont typeface="Arial" panose="020B0604020202020204" pitchFamily="34" charset="0"/>
                  <a:buChar char="•"/>
                </a:pPr>
                <a:r>
                  <a:rPr lang="en-GB" sz="2800" b="1" noProof="0" dirty="0">
                    <a:solidFill>
                      <a:schemeClr val="accent5">
                        <a:lumMod val="50000"/>
                      </a:schemeClr>
                    </a:solidFill>
                  </a:rPr>
                  <a:t>Assume Cobb–Douglas preferences with parameters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𝒂</m:t>
                        </m:r>
                      </m:e>
                      <m:sub>
                        <m:r>
                          <a:rPr lang="en-GB" sz="2800" b="1" i="1" noProof="0" smtClean="0">
                            <a:solidFill>
                              <a:schemeClr val="accent5">
                                <a:lumMod val="50000"/>
                              </a:schemeClr>
                            </a:solidFill>
                            <a:latin typeface="Cambria Math" panose="02040503050406030204" pitchFamily="18" charset="0"/>
                          </a:rPr>
                          <m:t>𝒉</m:t>
                        </m:r>
                      </m:sub>
                    </m:sSub>
                    <m:r>
                      <a:rPr lang="en-GB" sz="2800" b="1" i="0" noProof="0" smtClean="0">
                        <a:solidFill>
                          <a:schemeClr val="accent5">
                            <a:lumMod val="50000"/>
                          </a:schemeClr>
                        </a:solidFill>
                        <a:latin typeface="Cambria Math" panose="02040503050406030204" pitchFamily="18" charset="0"/>
                      </a:rPr>
                      <m:t>,</m:t>
                    </m:r>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𝒃</m:t>
                        </m:r>
                      </m:e>
                      <m:sub>
                        <m:r>
                          <a:rPr lang="en-GB" sz="2800" b="1" i="1" noProof="0" smtClean="0">
                            <a:solidFill>
                              <a:schemeClr val="accent5">
                                <a:lumMod val="50000"/>
                              </a:schemeClr>
                            </a:solidFill>
                            <a:latin typeface="Cambria Math" panose="02040503050406030204" pitchFamily="18" charset="0"/>
                          </a:rPr>
                          <m:t>𝒉</m:t>
                        </m:r>
                      </m:sub>
                    </m:sSub>
                  </m:oMath>
                </a14:m>
                <a:r>
                  <a:rPr lang="en-GB" sz="2800" b="1" noProof="0" dirty="0">
                    <a:solidFill>
                      <a:schemeClr val="accent5">
                        <a:lumMod val="50000"/>
                      </a:schemeClr>
                    </a:solidFill>
                  </a:rPr>
                  <a:t>for each consumer.</a:t>
                </a:r>
              </a:p>
              <a:p>
                <a:pPr marL="1371600" lvl="2" indent="-457200">
                  <a:buFont typeface="Arial" panose="020B0604020202020204" pitchFamily="34" charset="0"/>
                  <a:buChar char="•"/>
                </a:pPr>
                <a:r>
                  <a:rPr lang="en-GB" sz="2800" b="1" noProof="0" dirty="0">
                    <a:solidFill>
                      <a:schemeClr val="accent5">
                        <a:lumMod val="50000"/>
                      </a:schemeClr>
                    </a:solidFill>
                  </a:rPr>
                  <a:t>For a grid of prices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𝟏</m:t>
                        </m:r>
                      </m:sub>
                    </m:sSub>
                  </m:oMath>
                </a14:m>
                <a:r>
                  <a:rPr lang="en-GB" sz="2800" b="1" noProof="0" dirty="0">
                    <a:solidFill>
                      <a:schemeClr val="accent5">
                        <a:lumMod val="50000"/>
                      </a:schemeClr>
                    </a:solidFill>
                  </a:rPr>
                  <a:t>(with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𝟐</m:t>
                        </m:r>
                      </m:sub>
                    </m:sSub>
                  </m:oMath>
                </a14:m>
                <a:r>
                  <a:rPr lang="en-GB" sz="2800" b="1" noProof="0" dirty="0">
                    <a:solidFill>
                      <a:schemeClr val="accent5">
                        <a:lumMod val="50000"/>
                      </a:schemeClr>
                    </a:solidFill>
                  </a:rPr>
                  <a:t>fixed), compute optimal demands </a:t>
                </a:r>
                <a14:m>
                  <m:oMath xmlns:m="http://schemas.openxmlformats.org/officeDocument/2006/math">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𝒙</m:t>
                        </m:r>
                      </m:e>
                      <m:sub>
                        <m:r>
                          <a:rPr lang="en-GB" sz="2800" b="1" i="0" noProof="0" smtClean="0">
                            <a:solidFill>
                              <a:schemeClr val="accent5">
                                <a:lumMod val="50000"/>
                              </a:schemeClr>
                            </a:solidFill>
                            <a:latin typeface="Cambria Math" panose="02040503050406030204" pitchFamily="18" charset="0"/>
                          </a:rPr>
                          <m:t>𝟏</m:t>
                        </m:r>
                      </m:sub>
                      <m:sup>
                        <m:r>
                          <a:rPr lang="en-GB" sz="2800" b="1" i="1" noProof="0" smtClean="0">
                            <a:solidFill>
                              <a:schemeClr val="accent5">
                                <a:lumMod val="50000"/>
                              </a:schemeClr>
                            </a:solidFill>
                            <a:latin typeface="Cambria Math" panose="02040503050406030204" pitchFamily="18" charset="0"/>
                          </a:rPr>
                          <m:t>𝒉</m:t>
                        </m:r>
                      </m:sup>
                    </m:sSubSup>
                    <m:d>
                      <m:dPr>
                        <m:ctrlPr>
                          <a:rPr lang="en-GB" sz="2800" b="1" i="1" noProof="0" smtClean="0">
                            <a:solidFill>
                              <a:schemeClr val="accent5">
                                <a:lumMod val="50000"/>
                              </a:schemeClr>
                            </a:solidFill>
                            <a:latin typeface="Cambria Math" panose="02040503050406030204" pitchFamily="18" charset="0"/>
                          </a:rPr>
                        </m:ctrlPr>
                      </m:dPr>
                      <m:e>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𝟏</m:t>
                            </m:r>
                          </m:sub>
                        </m:sSub>
                      </m:e>
                    </m:d>
                    <m:r>
                      <a:rPr lang="en-GB" sz="2800" b="1" i="0" noProof="0" smtClean="0">
                        <a:solidFill>
                          <a:schemeClr val="accent5">
                            <a:lumMod val="50000"/>
                          </a:schemeClr>
                        </a:solidFill>
                        <a:latin typeface="Cambria Math" panose="02040503050406030204" pitchFamily="18" charset="0"/>
                      </a:rPr>
                      <m:t>,</m:t>
                    </m:r>
                    <m:sSubSup>
                      <m:sSubSupPr>
                        <m:ctrlPr>
                          <a:rPr lang="en-GB" sz="2800" b="1" i="1" noProof="0" smtClean="0">
                            <a:solidFill>
                              <a:schemeClr val="accent5">
                                <a:lumMod val="50000"/>
                              </a:schemeClr>
                            </a:solidFill>
                            <a:latin typeface="Cambria Math" panose="02040503050406030204" pitchFamily="18" charset="0"/>
                          </a:rPr>
                        </m:ctrlPr>
                      </m:sSubSupPr>
                      <m:e>
                        <m:r>
                          <a:rPr lang="en-GB" sz="2800" b="1" i="1" noProof="0" smtClean="0">
                            <a:solidFill>
                              <a:schemeClr val="accent5">
                                <a:lumMod val="50000"/>
                              </a:schemeClr>
                            </a:solidFill>
                            <a:latin typeface="Cambria Math" panose="02040503050406030204" pitchFamily="18" charset="0"/>
                          </a:rPr>
                          <m:t>𝒙</m:t>
                        </m:r>
                      </m:e>
                      <m:sub>
                        <m:r>
                          <a:rPr lang="en-GB" sz="2800" b="1" i="0" noProof="0" smtClean="0">
                            <a:solidFill>
                              <a:schemeClr val="accent5">
                                <a:lumMod val="50000"/>
                              </a:schemeClr>
                            </a:solidFill>
                            <a:latin typeface="Cambria Math" panose="02040503050406030204" pitchFamily="18" charset="0"/>
                          </a:rPr>
                          <m:t>𝟐</m:t>
                        </m:r>
                      </m:sub>
                      <m:sup>
                        <m:r>
                          <a:rPr lang="en-GB" sz="2800" b="1" i="1" noProof="0" smtClean="0">
                            <a:solidFill>
                              <a:schemeClr val="accent5">
                                <a:lumMod val="50000"/>
                              </a:schemeClr>
                            </a:solidFill>
                            <a:latin typeface="Cambria Math" panose="02040503050406030204" pitchFamily="18" charset="0"/>
                          </a:rPr>
                          <m:t>𝒉</m:t>
                        </m:r>
                      </m:sup>
                    </m:sSubSup>
                    <m:d>
                      <m:dPr>
                        <m:ctrlPr>
                          <a:rPr lang="en-GB" sz="2800" b="1" i="1" noProof="0" smtClean="0">
                            <a:solidFill>
                              <a:schemeClr val="accent5">
                                <a:lumMod val="50000"/>
                              </a:schemeClr>
                            </a:solidFill>
                            <a:latin typeface="Cambria Math" panose="02040503050406030204" pitchFamily="18" charset="0"/>
                          </a:rPr>
                        </m:ctrlPr>
                      </m:dPr>
                      <m:e>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𝟏</m:t>
                            </m:r>
                          </m:sub>
                        </m:sSub>
                      </m:e>
                    </m:d>
                  </m:oMath>
                </a14:m>
                <a:r>
                  <a:rPr lang="en-GB" sz="2800" b="1" noProof="0" dirty="0">
                    <a:solidFill>
                      <a:schemeClr val="accent5">
                        <a:lumMod val="50000"/>
                      </a:schemeClr>
                    </a:solidFill>
                  </a:rPr>
                  <a:t>.</a:t>
                </a:r>
              </a:p>
              <a:p>
                <a:pPr marL="1371600" lvl="2" indent="-457200">
                  <a:buFont typeface="Arial" panose="020B0604020202020204" pitchFamily="34" charset="0"/>
                  <a:buChar char="•"/>
                </a:pPr>
                <a:r>
                  <a:rPr lang="en-GB" sz="2800" b="1" noProof="0" dirty="0">
                    <a:solidFill>
                      <a:schemeClr val="accent5">
                        <a:lumMod val="50000"/>
                      </a:schemeClr>
                    </a:solidFill>
                  </a:rPr>
                  <a:t>Compute net demands. </a:t>
                </a:r>
              </a:p>
              <a:p>
                <a:pPr marL="1371600" lvl="2" indent="-457200">
                  <a:buFont typeface="Arial" panose="020B0604020202020204" pitchFamily="34" charset="0"/>
                  <a:buChar char="•"/>
                </a:pPr>
                <a:r>
                  <a:rPr lang="en-GB" sz="2800" b="1" noProof="0" dirty="0">
                    <a:solidFill>
                      <a:schemeClr val="accent5">
                        <a:lumMod val="50000"/>
                      </a:schemeClr>
                    </a:solidFill>
                  </a:rPr>
                  <a:t>Plot demand and supply curves for each good.</a:t>
                </a:r>
              </a:p>
              <a:p>
                <a:pPr marL="1371600" lvl="2" indent="-457200">
                  <a:buFont typeface="Arial" panose="020B0604020202020204" pitchFamily="34" charset="0"/>
                  <a:buChar char="•"/>
                </a:pPr>
                <a:r>
                  <a:rPr lang="en-GB" sz="2800" b="1" noProof="0" dirty="0">
                    <a:solidFill>
                      <a:schemeClr val="accent5">
                        <a:lumMod val="50000"/>
                      </a:schemeClr>
                    </a:solidFill>
                  </a:rPr>
                  <a:t>Check that </a:t>
                </a:r>
                <a14:m>
                  <m:oMath xmlns:m="http://schemas.openxmlformats.org/officeDocument/2006/math">
                    <m:nary>
                      <m:naryPr>
                        <m:chr m:val="∑"/>
                        <m:limLoc m:val="subSup"/>
                        <m:grow m:val="on"/>
                        <m:supHide m:val="on"/>
                        <m:ctrlPr>
                          <a:rPr lang="en-GB" sz="2800" b="1" i="1" noProof="0" smtClean="0">
                            <a:solidFill>
                              <a:schemeClr val="accent5">
                                <a:lumMod val="50000"/>
                              </a:schemeClr>
                            </a:solidFill>
                            <a:latin typeface="Cambria Math" panose="02040503050406030204" pitchFamily="18" charset="0"/>
                          </a:rPr>
                        </m:ctrlPr>
                      </m:naryPr>
                      <m:sub>
                        <m:r>
                          <a:rPr lang="en-GB" sz="2800" b="1" i="1" noProof="0" smtClean="0">
                            <a:solidFill>
                              <a:schemeClr val="accent5">
                                <a:lumMod val="50000"/>
                              </a:schemeClr>
                            </a:solidFill>
                            <a:latin typeface="Cambria Math" panose="02040503050406030204" pitchFamily="18" charset="0"/>
                          </a:rPr>
                          <m:t>𝒊</m:t>
                        </m:r>
                      </m:sub>
                      <m:sup/>
                      <m:e>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1" noProof="0" smtClean="0">
                                <a:solidFill>
                                  <a:schemeClr val="accent5">
                                    <a:lumMod val="50000"/>
                                  </a:schemeClr>
                                </a:solidFill>
                                <a:latin typeface="Cambria Math" panose="02040503050406030204" pitchFamily="18" charset="0"/>
                              </a:rPr>
                              <m:t>𝒊</m:t>
                            </m:r>
                          </m:sub>
                        </m:sSub>
                      </m:e>
                    </m:nary>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𝒛</m:t>
                        </m:r>
                      </m:e>
                      <m:sub>
                        <m:r>
                          <a:rPr lang="en-GB" sz="2800" b="1" i="1" noProof="0" smtClean="0">
                            <a:solidFill>
                              <a:schemeClr val="accent5">
                                <a:lumMod val="50000"/>
                              </a:schemeClr>
                            </a:solidFill>
                            <a:latin typeface="Cambria Math" panose="02040503050406030204" pitchFamily="18" charset="0"/>
                          </a:rPr>
                          <m:t>𝒊</m:t>
                        </m:r>
                      </m:sub>
                    </m:sSub>
                    <m:d>
                      <m:dPr>
                        <m:ctrlPr>
                          <a:rPr lang="en-GB" sz="2800" b="1" i="1" noProof="0" smtClean="0">
                            <a:solidFill>
                              <a:schemeClr val="accent5">
                                <a:lumMod val="50000"/>
                              </a:schemeClr>
                            </a:solidFill>
                            <a:latin typeface="Cambria Math" panose="02040503050406030204" pitchFamily="18" charset="0"/>
                          </a:rPr>
                        </m:ctrlPr>
                      </m:dPr>
                      <m:e>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𝟏</m:t>
                            </m:r>
                          </m:sub>
                        </m:sSub>
                      </m:e>
                    </m:d>
                    <m:r>
                      <a:rPr lang="en-GB" sz="2800" b="1" i="0" noProof="0" smtClean="0">
                        <a:solidFill>
                          <a:schemeClr val="accent5">
                            <a:lumMod val="50000"/>
                          </a:schemeClr>
                        </a:solidFill>
                        <a:latin typeface="Cambria Math" panose="02040503050406030204" pitchFamily="18" charset="0"/>
                      </a:rPr>
                      <m:t>≈</m:t>
                    </m:r>
                    <m:r>
                      <a:rPr lang="en-GB" sz="2800" b="1" i="0" noProof="0" smtClean="0">
                        <a:solidFill>
                          <a:schemeClr val="accent5">
                            <a:lumMod val="50000"/>
                          </a:schemeClr>
                        </a:solidFill>
                        <a:latin typeface="Cambria Math" panose="02040503050406030204" pitchFamily="18" charset="0"/>
                      </a:rPr>
                      <m:t>𝟎</m:t>
                    </m:r>
                    <m:r>
                      <a:rPr lang="pl-PL" sz="2800" b="1" i="0" noProof="0" smtClean="0">
                        <a:solidFill>
                          <a:schemeClr val="accent5">
                            <a:lumMod val="50000"/>
                          </a:schemeClr>
                        </a:solidFill>
                        <a:latin typeface="Cambria Math" panose="02040503050406030204" pitchFamily="18" charset="0"/>
                      </a:rPr>
                      <m:t> </m:t>
                    </m:r>
                  </m:oMath>
                </a14:m>
                <a:r>
                  <a:rPr lang="en-GB" sz="2800" b="1" noProof="0" dirty="0">
                    <a:solidFill>
                      <a:schemeClr val="accent5">
                        <a:lumMod val="50000"/>
                      </a:schemeClr>
                    </a:solidFill>
                  </a:rPr>
                  <a:t>for all </a:t>
                </a:r>
                <a14:m>
                  <m:oMath xmlns:m="http://schemas.openxmlformats.org/officeDocument/2006/math">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0" noProof="0" smtClean="0">
                            <a:solidFill>
                              <a:schemeClr val="accent5">
                                <a:lumMod val="50000"/>
                              </a:schemeClr>
                            </a:solidFill>
                            <a:latin typeface="Cambria Math" panose="02040503050406030204" pitchFamily="18" charset="0"/>
                          </a:rPr>
                          <m:t>𝟏</m:t>
                        </m:r>
                      </m:sub>
                    </m:sSub>
                  </m:oMath>
                </a14:m>
                <a:r>
                  <a:rPr lang="en-GB" sz="2800" b="1" noProof="0" dirty="0">
                    <a:solidFill>
                      <a:schemeClr val="accent5">
                        <a:lumMod val="50000"/>
                      </a:schemeClr>
                    </a:solidFill>
                  </a:rPr>
                  <a:t>on the grid.</a:t>
                </a:r>
              </a:p>
            </p:txBody>
          </p:sp>
        </mc:Choice>
        <mc:Fallback>
          <p:sp>
            <p:nvSpPr>
              <p:cNvPr id="6" name="TextBox 5">
                <a:extLst>
                  <a:ext uri="{FF2B5EF4-FFF2-40B4-BE49-F238E27FC236}">
                    <a16:creationId xmlns:a16="http://schemas.microsoft.com/office/drawing/2014/main" id="{5FE86ACA-6CEB-8915-CED9-F9F8B2DCC543}"/>
                  </a:ext>
                </a:extLst>
              </p:cNvPr>
              <p:cNvSpPr txBox="1">
                <a:spLocks noRot="1" noChangeAspect="1" noMove="1" noResize="1" noEditPoints="1" noAdjustHandles="1" noChangeArrowheads="1" noChangeShapeType="1" noTextEdit="1"/>
              </p:cNvSpPr>
              <p:nvPr/>
            </p:nvSpPr>
            <p:spPr>
              <a:xfrm>
                <a:off x="843280" y="1549608"/>
                <a:ext cx="10353040" cy="4501617"/>
              </a:xfrm>
              <a:prstGeom prst="rect">
                <a:avLst/>
              </a:prstGeom>
              <a:blipFill>
                <a:blip r:embed="rId3"/>
                <a:stretch>
                  <a:fillRect l="-1177" t="-1218" b="-2842"/>
                </a:stretch>
              </a:blipFill>
            </p:spPr>
            <p:txBody>
              <a:bodyPr/>
              <a:lstStyle/>
              <a:p>
                <a:r>
                  <a:rPr lang="pl-PL">
                    <a:noFill/>
                  </a:rPr>
                  <a:t> </a:t>
                </a:r>
              </a:p>
            </p:txBody>
          </p:sp>
        </mc:Fallback>
      </mc:AlternateContent>
    </p:spTree>
    <p:extLst>
      <p:ext uri="{BB962C8B-B14F-4D97-AF65-F5344CB8AC3E}">
        <p14:creationId xmlns:p14="http://schemas.microsoft.com/office/powerpoint/2010/main" val="211943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FDD8-95E1-97CE-48E2-1A74520F54E2}"/>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0E767C7D-544A-9851-51C8-E0D38E88F9D1}"/>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Simulation of Walras' law – results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0BB8C1B-0620-7C6D-3645-2FF83B159C64}"/>
                  </a:ext>
                </a:extLst>
              </p:cNvPr>
              <p:cNvSpPr txBox="1"/>
              <p:nvPr/>
            </p:nvSpPr>
            <p:spPr>
              <a:xfrm>
                <a:off x="71120" y="1326088"/>
                <a:ext cx="12120880" cy="5015604"/>
              </a:xfrm>
              <a:prstGeom prst="rect">
                <a:avLst/>
              </a:prstGeom>
              <a:noFill/>
            </p:spPr>
            <p:txBody>
              <a:bodyPr wrap="square">
                <a:spAutoFit/>
              </a:bodyPr>
              <a:lstStyle/>
              <a:p>
                <a:pPr>
                  <a:buNone/>
                </a:pPr>
                <a:r>
                  <a:rPr lang="en-GB" sz="2800" b="1" noProof="0" dirty="0">
                    <a:solidFill>
                      <a:schemeClr val="accent5">
                        <a:lumMod val="50000"/>
                      </a:schemeClr>
                    </a:solidFill>
                  </a:rPr>
                  <a:t>For each run we get upward-sloping supply and downward-sloping demand curves aggregated from individual Cobb–Douglas consumers.</a:t>
                </a:r>
              </a:p>
              <a:p>
                <a:pPr>
                  <a:buNone/>
                </a:pPr>
                <a:endParaRPr lang="en-GB" sz="2800" b="1" noProof="0" dirty="0">
                  <a:solidFill>
                    <a:schemeClr val="accent5">
                      <a:lumMod val="50000"/>
                    </a:schemeClr>
                  </a:solidFill>
                </a:endParaRPr>
              </a:p>
              <a:p>
                <a:pPr>
                  <a:buNone/>
                </a:pPr>
                <a:r>
                  <a:rPr lang="en-GB" sz="2800" b="1" noProof="0" dirty="0">
                    <a:solidFill>
                      <a:schemeClr val="accent5">
                        <a:lumMod val="50000"/>
                      </a:schemeClr>
                    </a:solidFill>
                  </a:rPr>
                  <a:t>The intersection gives the market-clearing price for each good.</a:t>
                </a:r>
              </a:p>
              <a:p>
                <a:pPr>
                  <a:buNone/>
                </a:pPr>
                <a:r>
                  <a:rPr lang="en-GB" sz="2800" b="1" noProof="0" dirty="0">
                    <a:solidFill>
                      <a:schemeClr val="accent5">
                        <a:lumMod val="50000"/>
                      </a:schemeClr>
                    </a:solidFill>
                  </a:rPr>
                  <a:t>If we compute, for each price,</a:t>
                </a:r>
              </a:p>
              <a:p>
                <a:pPr>
                  <a:buNone/>
                </a:pPr>
                <a14:m>
                  <m:oMathPara xmlns:m="http://schemas.openxmlformats.org/officeDocument/2006/math">
                    <m:oMathParaPr>
                      <m:jc m:val="centerGroup"/>
                    </m:oMathParaPr>
                    <m:oMath xmlns:m="http://schemas.openxmlformats.org/officeDocument/2006/math">
                      <m:r>
                        <m:rPr>
                          <m:nor/>
                        </m:rPr>
                        <a:rPr lang="en-GB" sz="2800" b="1" noProof="0" smtClean="0">
                          <a:solidFill>
                            <a:schemeClr val="accent5">
                              <a:lumMod val="50000"/>
                            </a:schemeClr>
                          </a:solidFill>
                        </a:rPr>
                        <m:t>Walras</m:t>
                      </m:r>
                      <m:d>
                        <m:dPr>
                          <m:ctrlPr>
                            <a:rPr lang="en-GB" sz="2800" b="1" i="1" noProof="0" smtClean="0">
                              <a:solidFill>
                                <a:schemeClr val="accent5">
                                  <a:lumMod val="50000"/>
                                </a:schemeClr>
                              </a:solidFill>
                              <a:latin typeface="Cambria Math" panose="02040503050406030204" pitchFamily="18" charset="0"/>
                            </a:rPr>
                          </m:ctrlPr>
                        </m:dPr>
                        <m:e>
                          <m:r>
                            <a:rPr lang="en-GB" sz="2800" b="1" i="1" noProof="0" smtClean="0">
                              <a:solidFill>
                                <a:schemeClr val="accent5">
                                  <a:lumMod val="50000"/>
                                </a:schemeClr>
                              </a:solidFill>
                              <a:latin typeface="Cambria Math" panose="02040503050406030204" pitchFamily="18" charset="0"/>
                            </a:rPr>
                            <m:t>𝒑</m:t>
                          </m:r>
                        </m:e>
                      </m:d>
                      <m:r>
                        <a:rPr lang="en-GB" sz="2800" b="1" i="0" noProof="0" smtClean="0">
                          <a:solidFill>
                            <a:schemeClr val="accent5">
                              <a:lumMod val="50000"/>
                            </a:schemeClr>
                          </a:solidFill>
                          <a:latin typeface="Cambria Math" panose="02040503050406030204" pitchFamily="18" charset="0"/>
                        </a:rPr>
                        <m:t>=</m:t>
                      </m:r>
                      <m:nary>
                        <m:naryPr>
                          <m:chr m:val="∑"/>
                          <m:grow m:val="on"/>
                          <m:supHide m:val="on"/>
                          <m:ctrlPr>
                            <a:rPr lang="en-GB" sz="2800" b="1" i="1" noProof="0" smtClean="0">
                              <a:solidFill>
                                <a:schemeClr val="accent5">
                                  <a:lumMod val="50000"/>
                                </a:schemeClr>
                              </a:solidFill>
                              <a:latin typeface="Cambria Math" panose="02040503050406030204" pitchFamily="18" charset="0"/>
                            </a:rPr>
                          </m:ctrlPr>
                        </m:naryPr>
                        <m:sub>
                          <m:r>
                            <a:rPr lang="en-GB" sz="2800" b="1" i="1" noProof="0" smtClean="0">
                              <a:solidFill>
                                <a:schemeClr val="accent5">
                                  <a:lumMod val="50000"/>
                                </a:schemeClr>
                              </a:solidFill>
                              <a:latin typeface="Cambria Math" panose="02040503050406030204" pitchFamily="18" charset="0"/>
                            </a:rPr>
                            <m:t>𝒊</m:t>
                          </m:r>
                        </m:sub>
                        <m:sup/>
                        <m:e>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𝒑</m:t>
                              </m:r>
                            </m:e>
                            <m:sub>
                              <m:r>
                                <a:rPr lang="en-GB" sz="2800" b="1" i="1" noProof="0" smtClean="0">
                                  <a:solidFill>
                                    <a:schemeClr val="accent5">
                                      <a:lumMod val="50000"/>
                                    </a:schemeClr>
                                  </a:solidFill>
                                  <a:latin typeface="Cambria Math" panose="02040503050406030204" pitchFamily="18" charset="0"/>
                                </a:rPr>
                                <m:t>𝒊</m:t>
                              </m:r>
                            </m:sub>
                          </m:sSub>
                        </m:e>
                      </m:nary>
                      <m:d>
                        <m:dPr>
                          <m:ctrlPr>
                            <a:rPr lang="en-GB" sz="2800" b="1" i="1" noProof="0" smtClean="0">
                              <a:solidFill>
                                <a:schemeClr val="accent5">
                                  <a:lumMod val="50000"/>
                                </a:schemeClr>
                              </a:solidFill>
                              <a:latin typeface="Cambria Math" panose="02040503050406030204" pitchFamily="18" charset="0"/>
                            </a:rPr>
                          </m:ctrlPr>
                        </m:dPr>
                        <m:e>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𝒙</m:t>
                              </m:r>
                            </m:e>
                            <m:sub>
                              <m:r>
                                <a:rPr lang="en-GB" sz="2800" b="1" i="1" noProof="0" smtClean="0">
                                  <a:solidFill>
                                    <a:schemeClr val="accent5">
                                      <a:lumMod val="50000"/>
                                    </a:schemeClr>
                                  </a:solidFill>
                                  <a:latin typeface="Cambria Math" panose="02040503050406030204" pitchFamily="18" charset="0"/>
                                </a:rPr>
                                <m:t>𝒊</m:t>
                              </m:r>
                            </m:sub>
                          </m:sSub>
                          <m:d>
                            <m:dPr>
                              <m:ctrlPr>
                                <a:rPr lang="en-GB" sz="2800" b="1" i="1" noProof="0" smtClean="0">
                                  <a:solidFill>
                                    <a:schemeClr val="accent5">
                                      <a:lumMod val="50000"/>
                                    </a:schemeClr>
                                  </a:solidFill>
                                  <a:latin typeface="Cambria Math" panose="02040503050406030204" pitchFamily="18" charset="0"/>
                                </a:rPr>
                              </m:ctrlPr>
                            </m:dPr>
                            <m:e>
                              <m:r>
                                <a:rPr lang="en-GB" sz="2800" b="1" i="1" noProof="0" smtClean="0">
                                  <a:solidFill>
                                    <a:schemeClr val="accent5">
                                      <a:lumMod val="50000"/>
                                    </a:schemeClr>
                                  </a:solidFill>
                                  <a:latin typeface="Cambria Math" panose="02040503050406030204" pitchFamily="18" charset="0"/>
                                </a:rPr>
                                <m:t>𝒑</m:t>
                              </m:r>
                            </m:e>
                          </m:d>
                          <m:r>
                            <a:rPr lang="en-GB" sz="2800" b="1" i="0" noProof="0" smtClean="0">
                              <a:solidFill>
                                <a:schemeClr val="accent5">
                                  <a:lumMod val="50000"/>
                                </a:schemeClr>
                              </a:solidFill>
                              <a:latin typeface="Cambria Math" panose="02040503050406030204" pitchFamily="18" charset="0"/>
                            </a:rPr>
                            <m:t>−</m:t>
                          </m:r>
                          <m:sSub>
                            <m:sSubPr>
                              <m:ctrlPr>
                                <a:rPr lang="en-GB" sz="2800" b="1" i="1" noProof="0" smtClean="0">
                                  <a:solidFill>
                                    <a:schemeClr val="accent5">
                                      <a:lumMod val="50000"/>
                                    </a:schemeClr>
                                  </a:solidFill>
                                  <a:latin typeface="Cambria Math" panose="02040503050406030204" pitchFamily="18" charset="0"/>
                                </a:rPr>
                              </m:ctrlPr>
                            </m:sSubPr>
                            <m:e>
                              <m:r>
                                <a:rPr lang="en-GB" sz="2800" b="1" i="1" noProof="0" smtClean="0">
                                  <a:solidFill>
                                    <a:schemeClr val="accent5">
                                      <a:lumMod val="50000"/>
                                    </a:schemeClr>
                                  </a:solidFill>
                                  <a:latin typeface="Cambria Math" panose="02040503050406030204" pitchFamily="18" charset="0"/>
                                </a:rPr>
                                <m:t>𝝎</m:t>
                              </m:r>
                            </m:e>
                            <m:sub>
                              <m:r>
                                <a:rPr lang="en-GB" sz="2800" b="1" i="1" noProof="0" smtClean="0">
                                  <a:solidFill>
                                    <a:schemeClr val="accent5">
                                      <a:lumMod val="50000"/>
                                    </a:schemeClr>
                                  </a:solidFill>
                                  <a:latin typeface="Cambria Math" panose="02040503050406030204" pitchFamily="18" charset="0"/>
                                </a:rPr>
                                <m:t>𝒊</m:t>
                              </m:r>
                            </m:sub>
                          </m:sSub>
                        </m:e>
                      </m:d>
                      <m:r>
                        <a:rPr lang="en-GB" sz="2800" b="1" i="0" noProof="0" smtClean="0">
                          <a:solidFill>
                            <a:schemeClr val="accent5">
                              <a:lumMod val="50000"/>
                            </a:schemeClr>
                          </a:solidFill>
                          <a:latin typeface="Cambria Math" panose="02040503050406030204" pitchFamily="18" charset="0"/>
                        </a:rPr>
                        <m:t>,</m:t>
                      </m:r>
                    </m:oMath>
                  </m:oMathPara>
                </a14:m>
                <a:endParaRPr lang="en-GB" sz="2800" b="1" noProof="0" dirty="0">
                  <a:solidFill>
                    <a:schemeClr val="accent5">
                      <a:lumMod val="50000"/>
                    </a:schemeClr>
                  </a:solidFill>
                </a:endParaRPr>
              </a:p>
              <a:p>
                <a:pPr>
                  <a:buNone/>
                </a:pPr>
                <a:r>
                  <a:rPr lang="en-GB" sz="2800" b="1" noProof="0" dirty="0">
                    <a:solidFill>
                      <a:schemeClr val="accent5">
                        <a:lumMod val="50000"/>
                      </a:schemeClr>
                    </a:solidFill>
                  </a:rPr>
                  <a:t>the series </a:t>
                </a:r>
                <a14:m>
                  <m:oMath xmlns:m="http://schemas.openxmlformats.org/officeDocument/2006/math">
                    <m:r>
                      <m:rPr>
                        <m:nor/>
                      </m:rPr>
                      <a:rPr lang="en-GB" sz="2800" b="1" noProof="0" smtClean="0">
                        <a:solidFill>
                          <a:schemeClr val="accent5">
                            <a:lumMod val="50000"/>
                          </a:schemeClr>
                        </a:solidFill>
                      </a:rPr>
                      <m:t>Walras</m:t>
                    </m:r>
                    <m:d>
                      <m:dPr>
                        <m:ctrlPr>
                          <a:rPr lang="en-GB" sz="2800" b="1" i="1" noProof="0" smtClean="0">
                            <a:solidFill>
                              <a:schemeClr val="accent5">
                                <a:lumMod val="50000"/>
                              </a:schemeClr>
                            </a:solidFill>
                            <a:latin typeface="Cambria Math" panose="02040503050406030204" pitchFamily="18" charset="0"/>
                          </a:rPr>
                        </m:ctrlPr>
                      </m:dPr>
                      <m:e>
                        <m:r>
                          <a:rPr lang="en-GB" sz="2800" b="1" i="1" noProof="0" smtClean="0">
                            <a:solidFill>
                              <a:schemeClr val="accent5">
                                <a:lumMod val="50000"/>
                              </a:schemeClr>
                            </a:solidFill>
                            <a:latin typeface="Cambria Math" panose="02040503050406030204" pitchFamily="18" charset="0"/>
                          </a:rPr>
                          <m:t>𝒑</m:t>
                        </m:r>
                      </m:e>
                    </m:d>
                  </m:oMath>
                </a14:m>
                <a:r>
                  <a:rPr lang="en-GB" sz="2800" b="1" noProof="0" dirty="0">
                    <a:solidFill>
                      <a:schemeClr val="accent5">
                        <a:lumMod val="50000"/>
                      </a:schemeClr>
                    </a:solidFill>
                  </a:rPr>
                  <a:t>fluctuates around zero.</a:t>
                </a:r>
              </a:p>
              <a:p>
                <a:pPr>
                  <a:buNone/>
                </a:pPr>
                <a:endParaRPr lang="en-GB" sz="2800" b="1" noProof="0" dirty="0">
                  <a:solidFill>
                    <a:schemeClr val="accent5">
                      <a:lumMod val="50000"/>
                    </a:schemeClr>
                  </a:solidFill>
                </a:endParaRPr>
              </a:p>
              <a:p>
                <a:pPr>
                  <a:buNone/>
                </a:pPr>
                <a:r>
                  <a:rPr lang="en-GB" sz="2800" b="1" noProof="0" dirty="0">
                    <a:solidFill>
                      <a:schemeClr val="accent5">
                        <a:lumMod val="50000"/>
                      </a:schemeClr>
                    </a:solidFill>
                  </a:rPr>
                  <a:t>This is a numerical illustration of Walras' law:  the value of aggregate excess demand is (approximately) zero for all prices.</a:t>
                </a:r>
              </a:p>
            </p:txBody>
          </p:sp>
        </mc:Choice>
        <mc:Fallback xmlns="">
          <p:sp>
            <p:nvSpPr>
              <p:cNvPr id="6" name="TextBox 5">
                <a:extLst>
                  <a:ext uri="{FF2B5EF4-FFF2-40B4-BE49-F238E27FC236}">
                    <a16:creationId xmlns:a16="http://schemas.microsoft.com/office/drawing/2014/main" id="{D0BB8C1B-0620-7C6D-3645-2FF83B159C64}"/>
                  </a:ext>
                </a:extLst>
              </p:cNvPr>
              <p:cNvSpPr txBox="1">
                <a:spLocks noRot="1" noChangeAspect="1" noMove="1" noResize="1" noEditPoints="1" noAdjustHandles="1" noChangeArrowheads="1" noChangeShapeType="1" noTextEdit="1"/>
              </p:cNvSpPr>
              <p:nvPr/>
            </p:nvSpPr>
            <p:spPr>
              <a:xfrm>
                <a:off x="71120" y="1326088"/>
                <a:ext cx="12120880" cy="5015604"/>
              </a:xfrm>
              <a:prstGeom prst="rect">
                <a:avLst/>
              </a:prstGeom>
              <a:blipFill>
                <a:blip r:embed="rId3"/>
                <a:stretch>
                  <a:fillRect l="-1056" t="-1217" b="-2555"/>
                </a:stretch>
              </a:blipFill>
            </p:spPr>
            <p:txBody>
              <a:bodyPr/>
              <a:lstStyle/>
              <a:p>
                <a:r>
                  <a:rPr lang="pl-PL">
                    <a:noFill/>
                  </a:rPr>
                  <a:t> </a:t>
                </a:r>
              </a:p>
            </p:txBody>
          </p:sp>
        </mc:Fallback>
      </mc:AlternateContent>
    </p:spTree>
    <p:extLst>
      <p:ext uri="{BB962C8B-B14F-4D97-AF65-F5344CB8AC3E}">
        <p14:creationId xmlns:p14="http://schemas.microsoft.com/office/powerpoint/2010/main" val="4111713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B2FCD-F3B0-C730-D235-FA4FA0099090}"/>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507EF37F-9F81-D2E7-0E46-EAE1BA17262A}"/>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Simulation of Walras' law – results</a:t>
            </a:r>
          </a:p>
        </p:txBody>
      </p:sp>
      <p:sp>
        <p:nvSpPr>
          <p:cNvPr id="6" name="TextBox 5">
            <a:extLst>
              <a:ext uri="{FF2B5EF4-FFF2-40B4-BE49-F238E27FC236}">
                <a16:creationId xmlns:a16="http://schemas.microsoft.com/office/drawing/2014/main" id="{112A2DEB-8F8D-075F-4B61-0E6DBC559708}"/>
              </a:ext>
            </a:extLst>
          </p:cNvPr>
          <p:cNvSpPr txBox="1"/>
          <p:nvPr/>
        </p:nvSpPr>
        <p:spPr>
          <a:xfrm>
            <a:off x="71120" y="1326088"/>
            <a:ext cx="4053840" cy="5101397"/>
          </a:xfrm>
          <a:prstGeom prst="rect">
            <a:avLst/>
          </a:prstGeom>
          <a:noFill/>
        </p:spPr>
        <p:txBody>
          <a:bodyPr wrap="square">
            <a:spAutoFit/>
          </a:bodyPr>
          <a:lstStyle/>
          <a:p>
            <a:pPr algn="just">
              <a:buNone/>
            </a:pPr>
            <a:r>
              <a:rPr lang="en-GB" sz="1050" b="1" noProof="0" dirty="0">
                <a:solidFill>
                  <a:schemeClr val="accent5">
                    <a:lumMod val="50000"/>
                  </a:schemeClr>
                </a:solidFill>
              </a:rPr>
              <a:t>########### Section 0 ############################################# Check, installation and loading of required packages ##########requiredPackages = c("raster", "lattice", "</a:t>
            </a:r>
            <a:r>
              <a:rPr lang="en-GB" sz="1050" b="1" noProof="0" dirty="0" err="1">
                <a:solidFill>
                  <a:schemeClr val="accent5">
                    <a:lumMod val="50000"/>
                  </a:schemeClr>
                </a:solidFill>
              </a:rPr>
              <a:t>latticeExtra</a:t>
            </a:r>
            <a:r>
              <a:rPr lang="en-GB" sz="1050" b="1" noProof="0" dirty="0">
                <a:solidFill>
                  <a:schemeClr val="accent5">
                    <a:lumMod val="50000"/>
                  </a:schemeClr>
                </a:solidFill>
              </a:rPr>
              <a:t>", "ggplot2", "</a:t>
            </a:r>
            <a:r>
              <a:rPr lang="en-GB" sz="1050" b="1" noProof="0" dirty="0" err="1">
                <a:solidFill>
                  <a:schemeClr val="accent5">
                    <a:lumMod val="50000"/>
                  </a:schemeClr>
                </a:solidFill>
              </a:rPr>
              <a:t>RColorBrewer</a:t>
            </a:r>
            <a:r>
              <a:rPr lang="en-GB" sz="1050" b="1" noProof="0" dirty="0">
                <a:solidFill>
                  <a:schemeClr val="accent5">
                    <a:lumMod val="50000"/>
                  </a:schemeClr>
                </a:solidFill>
              </a:rPr>
              <a:t>") # list of packages add new packages and run the code for(</a:t>
            </a:r>
            <a:r>
              <a:rPr lang="en-GB" sz="1050" b="1" noProof="0" dirty="0" err="1">
                <a:solidFill>
                  <a:schemeClr val="accent5">
                    <a:lumMod val="50000"/>
                  </a:schemeClr>
                </a:solidFill>
              </a:rPr>
              <a:t>i</a:t>
            </a:r>
            <a:r>
              <a:rPr lang="en-GB" sz="1050" b="1" noProof="0" dirty="0">
                <a:solidFill>
                  <a:schemeClr val="accent5">
                    <a:lumMod val="50000"/>
                  </a:schemeClr>
                </a:solidFill>
              </a:rPr>
              <a:t> in </a:t>
            </a:r>
            <a:r>
              <a:rPr lang="en-GB" sz="1050" b="1" noProof="0" dirty="0" err="1">
                <a:solidFill>
                  <a:schemeClr val="accent5">
                    <a:lumMod val="50000"/>
                  </a:schemeClr>
                </a:solidFill>
              </a:rPr>
              <a:t>requiredPackages</a:t>
            </a:r>
            <a:r>
              <a:rPr lang="en-GB" sz="1050" b="1" noProof="0" dirty="0">
                <a:solidFill>
                  <a:schemeClr val="accent5">
                    <a:lumMod val="50000"/>
                  </a:schemeClr>
                </a:solidFill>
              </a:rPr>
              <a:t>) {if(!require(</a:t>
            </a:r>
            <a:r>
              <a:rPr lang="en-GB" sz="1050" b="1" noProof="0" dirty="0" err="1">
                <a:solidFill>
                  <a:schemeClr val="accent5">
                    <a:lumMod val="50000"/>
                  </a:schemeClr>
                </a:solidFill>
              </a:rPr>
              <a:t>i,character.only</a:t>
            </a:r>
            <a:r>
              <a:rPr lang="en-GB" sz="1050" b="1" noProof="0" dirty="0">
                <a:solidFill>
                  <a:schemeClr val="accent5">
                    <a:lumMod val="50000"/>
                  </a:schemeClr>
                </a:solidFill>
              </a:rPr>
              <a:t> = TRUE)) </a:t>
            </a:r>
            <a:r>
              <a:rPr lang="en-GB" sz="1050" b="1" noProof="0" dirty="0" err="1">
                <a:solidFill>
                  <a:schemeClr val="accent5">
                    <a:lumMod val="50000"/>
                  </a:schemeClr>
                </a:solidFill>
              </a:rPr>
              <a:t>install.packages</a:t>
            </a:r>
            <a:r>
              <a:rPr lang="en-GB" sz="1050" b="1" noProof="0" dirty="0">
                <a:solidFill>
                  <a:schemeClr val="accent5">
                    <a:lumMod val="50000"/>
                  </a:schemeClr>
                </a:solidFill>
              </a:rPr>
              <a:t>(</a:t>
            </a:r>
            <a:r>
              <a:rPr lang="en-GB" sz="1050" b="1" noProof="0" dirty="0" err="1">
                <a:solidFill>
                  <a:schemeClr val="accent5">
                    <a:lumMod val="50000"/>
                  </a:schemeClr>
                </a:solidFill>
              </a:rPr>
              <a:t>i</a:t>
            </a:r>
            <a:r>
              <a:rPr lang="en-GB" sz="1050" b="1" noProof="0" dirty="0">
                <a:solidFill>
                  <a:schemeClr val="accent5">
                    <a:lumMod val="50000"/>
                  </a:schemeClr>
                </a:solidFill>
              </a:rPr>
              <a:t>)} for(</a:t>
            </a:r>
            <a:r>
              <a:rPr lang="en-GB" sz="1050" b="1" noProof="0" dirty="0" err="1">
                <a:solidFill>
                  <a:schemeClr val="accent5">
                    <a:lumMod val="50000"/>
                  </a:schemeClr>
                </a:solidFill>
              </a:rPr>
              <a:t>i</a:t>
            </a:r>
            <a:r>
              <a:rPr lang="en-GB" sz="1050" b="1" noProof="0" dirty="0">
                <a:solidFill>
                  <a:schemeClr val="accent5">
                    <a:lumMod val="50000"/>
                  </a:schemeClr>
                </a:solidFill>
              </a:rPr>
              <a:t> in </a:t>
            </a:r>
            <a:r>
              <a:rPr lang="en-GB" sz="1050" b="1" noProof="0" dirty="0" err="1">
                <a:solidFill>
                  <a:schemeClr val="accent5">
                    <a:lumMod val="50000"/>
                  </a:schemeClr>
                </a:solidFill>
              </a:rPr>
              <a:t>requiredPackages</a:t>
            </a:r>
            <a:r>
              <a:rPr lang="en-GB" sz="1050" b="1" noProof="0" dirty="0">
                <a:solidFill>
                  <a:schemeClr val="accent5">
                    <a:lumMod val="50000"/>
                  </a:schemeClr>
                </a:solidFill>
              </a:rPr>
              <a:t>) {library(</a:t>
            </a:r>
            <a:r>
              <a:rPr lang="en-GB" sz="1050" b="1" noProof="0" dirty="0" err="1">
                <a:solidFill>
                  <a:schemeClr val="accent5">
                    <a:lumMod val="50000"/>
                  </a:schemeClr>
                </a:solidFill>
              </a:rPr>
              <a:t>i,character.only</a:t>
            </a:r>
            <a:r>
              <a:rPr lang="en-GB" sz="1050" b="1" noProof="0" dirty="0">
                <a:solidFill>
                  <a:schemeClr val="accent5">
                    <a:lumMod val="50000"/>
                  </a:schemeClr>
                </a:solidFill>
              </a:rPr>
              <a:t> = TRUE)}###################### End ########################################par(mfrow = c(3, 3))for(</a:t>
            </a:r>
            <a:r>
              <a:rPr lang="en-GB" sz="1050" b="1" noProof="0" dirty="0" err="1">
                <a:solidFill>
                  <a:schemeClr val="accent5">
                    <a:lumMod val="50000"/>
                  </a:schemeClr>
                </a:solidFill>
              </a:rPr>
              <a:t>i</a:t>
            </a:r>
            <a:r>
              <a:rPr lang="en-GB" sz="1050" b="1" noProof="0" dirty="0">
                <a:solidFill>
                  <a:schemeClr val="accent5">
                    <a:lumMod val="50000"/>
                  </a:schemeClr>
                </a:solidFill>
              </a:rPr>
              <a:t> in 1:3) {step &lt;- 0.01p1.min.max &lt;- c(0.01,3)p2.min.max &lt;- c(0.01,3)N &lt;- 4p1 &lt;- </a:t>
            </a:r>
            <a:r>
              <a:rPr lang="en-GB" sz="1050" b="1" noProof="0" dirty="0" err="1">
                <a:solidFill>
                  <a:schemeClr val="accent5">
                    <a:lumMod val="50000"/>
                  </a:schemeClr>
                </a:solidFill>
              </a:rPr>
              <a:t>seq</a:t>
            </a:r>
            <a:r>
              <a:rPr lang="en-GB" sz="1050" b="1" noProof="0" dirty="0">
                <a:solidFill>
                  <a:schemeClr val="accent5">
                    <a:lumMod val="50000"/>
                  </a:schemeClr>
                </a:solidFill>
              </a:rPr>
              <a:t>(p1.min.max[1],p1.min.max[2],step)p2 &lt;- 1data &lt;-  </a:t>
            </a:r>
            <a:r>
              <a:rPr lang="en-GB" sz="1050" b="1" noProof="0" dirty="0" err="1">
                <a:solidFill>
                  <a:schemeClr val="accent5">
                    <a:lumMod val="50000"/>
                  </a:schemeClr>
                </a:solidFill>
              </a:rPr>
              <a:t>as.data.frame</a:t>
            </a:r>
            <a:r>
              <a:rPr lang="en-GB" sz="1050" b="1" noProof="0" dirty="0">
                <a:solidFill>
                  <a:schemeClr val="accent5">
                    <a:lumMod val="50000"/>
                  </a:schemeClr>
                </a:solidFill>
              </a:rPr>
              <a:t>(p1)omega1 &lt;-matrix(rep(sample(1:5,N ,replace = TRUE), </a:t>
            </a:r>
            <a:r>
              <a:rPr lang="en-GB" sz="1050" b="1" noProof="0" dirty="0" err="1">
                <a:solidFill>
                  <a:schemeClr val="accent5">
                    <a:lumMod val="50000"/>
                  </a:schemeClr>
                </a:solidFill>
              </a:rPr>
              <a:t>nrow</a:t>
            </a:r>
            <a:r>
              <a:rPr lang="en-GB" sz="1050" b="1" noProof="0" dirty="0">
                <a:solidFill>
                  <a:schemeClr val="accent5">
                    <a:lumMod val="50000"/>
                  </a:schemeClr>
                </a:solidFill>
              </a:rPr>
              <a:t>(data)), </a:t>
            </a:r>
            <a:r>
              <a:rPr lang="en-GB" sz="1050" b="1" noProof="0" dirty="0" err="1">
                <a:solidFill>
                  <a:schemeClr val="accent5">
                    <a:lumMod val="50000"/>
                  </a:schemeClr>
                </a:solidFill>
              </a:rPr>
              <a:t>ncol</a:t>
            </a:r>
            <a:r>
              <a:rPr lang="en-GB" sz="1050" b="1" noProof="0" dirty="0">
                <a:solidFill>
                  <a:schemeClr val="accent5">
                    <a:lumMod val="50000"/>
                  </a:schemeClr>
                </a:solidFill>
              </a:rPr>
              <a:t> = N, </a:t>
            </a:r>
            <a:r>
              <a:rPr lang="en-GB" sz="1050" b="1" noProof="0" dirty="0" err="1">
                <a:solidFill>
                  <a:schemeClr val="accent5">
                    <a:lumMod val="50000"/>
                  </a:schemeClr>
                </a:solidFill>
              </a:rPr>
              <a:t>byrow</a:t>
            </a:r>
            <a:r>
              <a:rPr lang="en-GB" sz="1050" b="1" noProof="0" dirty="0">
                <a:solidFill>
                  <a:schemeClr val="accent5">
                    <a:lumMod val="50000"/>
                  </a:schemeClr>
                </a:solidFill>
              </a:rPr>
              <a:t> = TRUE )omega2 &lt;-matrix(rep(sample(1:5,N ,replace = TRUE), </a:t>
            </a:r>
            <a:r>
              <a:rPr lang="en-GB" sz="1050" b="1" noProof="0" dirty="0" err="1">
                <a:solidFill>
                  <a:schemeClr val="accent5">
                    <a:lumMod val="50000"/>
                  </a:schemeClr>
                </a:solidFill>
              </a:rPr>
              <a:t>nrow</a:t>
            </a:r>
            <a:r>
              <a:rPr lang="en-GB" sz="1050" b="1" noProof="0" dirty="0">
                <a:solidFill>
                  <a:schemeClr val="accent5">
                    <a:lumMod val="50000"/>
                  </a:schemeClr>
                </a:solidFill>
              </a:rPr>
              <a:t>(data)), </a:t>
            </a:r>
            <a:r>
              <a:rPr lang="en-GB" sz="1050" b="1" noProof="0" dirty="0" err="1">
                <a:solidFill>
                  <a:schemeClr val="accent5">
                    <a:lumMod val="50000"/>
                  </a:schemeClr>
                </a:solidFill>
              </a:rPr>
              <a:t>ncol</a:t>
            </a:r>
            <a:r>
              <a:rPr lang="en-GB" sz="1050" b="1" noProof="0" dirty="0">
                <a:solidFill>
                  <a:schemeClr val="accent5">
                    <a:lumMod val="50000"/>
                  </a:schemeClr>
                </a:solidFill>
              </a:rPr>
              <a:t> = N, </a:t>
            </a:r>
            <a:r>
              <a:rPr lang="en-GB" sz="1050" b="1" noProof="0" dirty="0" err="1">
                <a:solidFill>
                  <a:schemeClr val="accent5">
                    <a:lumMod val="50000"/>
                  </a:schemeClr>
                </a:solidFill>
              </a:rPr>
              <a:t>byrow</a:t>
            </a:r>
            <a:r>
              <a:rPr lang="en-GB" sz="1050" b="1" noProof="0" dirty="0">
                <a:solidFill>
                  <a:schemeClr val="accent5">
                    <a:lumMod val="50000"/>
                  </a:schemeClr>
                </a:solidFill>
              </a:rPr>
              <a:t> = TRUE )a &lt;- matrix(rep(sample((3:7)/10,N, replace = TRUE ), </a:t>
            </a:r>
            <a:r>
              <a:rPr lang="en-GB" sz="1050" b="1" noProof="0" dirty="0" err="1">
                <a:solidFill>
                  <a:schemeClr val="accent5">
                    <a:lumMod val="50000"/>
                  </a:schemeClr>
                </a:solidFill>
              </a:rPr>
              <a:t>nrow</a:t>
            </a:r>
            <a:r>
              <a:rPr lang="en-GB" sz="1050" b="1" noProof="0" dirty="0">
                <a:solidFill>
                  <a:schemeClr val="accent5">
                    <a:lumMod val="50000"/>
                  </a:schemeClr>
                </a:solidFill>
              </a:rPr>
              <a:t>(data)), </a:t>
            </a:r>
            <a:r>
              <a:rPr lang="en-GB" sz="1050" b="1" noProof="0" dirty="0" err="1">
                <a:solidFill>
                  <a:schemeClr val="accent5">
                    <a:lumMod val="50000"/>
                  </a:schemeClr>
                </a:solidFill>
              </a:rPr>
              <a:t>ncol</a:t>
            </a:r>
            <a:r>
              <a:rPr lang="en-GB" sz="1050" b="1" noProof="0" dirty="0">
                <a:solidFill>
                  <a:schemeClr val="accent5">
                    <a:lumMod val="50000"/>
                  </a:schemeClr>
                </a:solidFill>
              </a:rPr>
              <a:t> = N, </a:t>
            </a:r>
            <a:r>
              <a:rPr lang="en-GB" sz="1050" b="1" noProof="0" dirty="0" err="1">
                <a:solidFill>
                  <a:schemeClr val="accent5">
                    <a:lumMod val="50000"/>
                  </a:schemeClr>
                </a:solidFill>
              </a:rPr>
              <a:t>byrow</a:t>
            </a:r>
            <a:r>
              <a:rPr lang="en-GB" sz="1050" b="1" noProof="0" dirty="0">
                <a:solidFill>
                  <a:schemeClr val="accent5">
                    <a:lumMod val="50000"/>
                  </a:schemeClr>
                </a:solidFill>
              </a:rPr>
              <a:t> = TRUE)b &lt;- 1.3 - ax1 &lt;- a*(p1*omega1 + p2*omega2)/((</a:t>
            </a:r>
            <a:r>
              <a:rPr lang="en-GB" sz="1050" b="1" noProof="0" dirty="0" err="1">
                <a:solidFill>
                  <a:schemeClr val="accent5">
                    <a:lumMod val="50000"/>
                  </a:schemeClr>
                </a:solidFill>
              </a:rPr>
              <a:t>b+a</a:t>
            </a:r>
            <a:r>
              <a:rPr lang="en-GB" sz="1050" b="1" noProof="0" dirty="0">
                <a:solidFill>
                  <a:schemeClr val="accent5">
                    <a:lumMod val="50000"/>
                  </a:schemeClr>
                </a:solidFill>
              </a:rPr>
              <a:t>)*p1)x2 &lt;- b*(p1*omega1 + p2*omega2)/((</a:t>
            </a:r>
            <a:r>
              <a:rPr lang="en-GB" sz="1050" b="1" noProof="0" dirty="0" err="1">
                <a:solidFill>
                  <a:schemeClr val="accent5">
                    <a:lumMod val="50000"/>
                  </a:schemeClr>
                </a:solidFill>
              </a:rPr>
              <a:t>b+a</a:t>
            </a:r>
            <a:r>
              <a:rPr lang="en-GB" sz="1050" b="1" noProof="0" dirty="0">
                <a:solidFill>
                  <a:schemeClr val="accent5">
                    <a:lumMod val="50000"/>
                  </a:schemeClr>
                </a:solidFill>
              </a:rPr>
              <a:t>)*p2)e.demand.x2 &lt;- (x2 - omega2)demand.x2 &lt;- </a:t>
            </a:r>
            <a:r>
              <a:rPr lang="en-GB" sz="1050" b="1" noProof="0" dirty="0" err="1">
                <a:solidFill>
                  <a:schemeClr val="accent5">
                    <a:lumMod val="50000"/>
                  </a:schemeClr>
                </a:solidFill>
              </a:rPr>
              <a:t>ifelse</a:t>
            </a:r>
            <a:r>
              <a:rPr lang="en-GB" sz="1050" b="1" noProof="0" dirty="0">
                <a:solidFill>
                  <a:schemeClr val="accent5">
                    <a:lumMod val="50000"/>
                  </a:schemeClr>
                </a:solidFill>
              </a:rPr>
              <a:t>(e.demand.x2 &gt; 0,e.demand.x2,0)supply.x2 &lt;- </a:t>
            </a:r>
            <a:r>
              <a:rPr lang="en-GB" sz="1050" b="1" noProof="0" dirty="0" err="1">
                <a:solidFill>
                  <a:schemeClr val="accent5">
                    <a:lumMod val="50000"/>
                  </a:schemeClr>
                </a:solidFill>
              </a:rPr>
              <a:t>ifelse</a:t>
            </a:r>
            <a:r>
              <a:rPr lang="en-GB" sz="1050" b="1" noProof="0" dirty="0">
                <a:solidFill>
                  <a:schemeClr val="accent5">
                    <a:lumMod val="50000"/>
                  </a:schemeClr>
                </a:solidFill>
              </a:rPr>
              <a:t>(e.demand.x2 &lt; 0,e.demand.x2,0)data$demand.x2 &lt;- </a:t>
            </a:r>
            <a:r>
              <a:rPr lang="en-GB" sz="1050" b="1" noProof="0" dirty="0" err="1">
                <a:solidFill>
                  <a:schemeClr val="accent5">
                    <a:lumMod val="50000"/>
                  </a:schemeClr>
                </a:solidFill>
              </a:rPr>
              <a:t>rowSums</a:t>
            </a:r>
            <a:r>
              <a:rPr lang="en-GB" sz="1050" b="1" noProof="0" dirty="0">
                <a:solidFill>
                  <a:schemeClr val="accent5">
                    <a:lumMod val="50000"/>
                  </a:schemeClr>
                </a:solidFill>
              </a:rPr>
              <a:t>(demand.x2)data$supply.x2 &lt;- </a:t>
            </a:r>
            <a:r>
              <a:rPr lang="en-GB" sz="1050" b="1" noProof="0" dirty="0" err="1">
                <a:solidFill>
                  <a:schemeClr val="accent5">
                    <a:lumMod val="50000"/>
                  </a:schemeClr>
                </a:solidFill>
              </a:rPr>
              <a:t>rowSums</a:t>
            </a:r>
            <a:r>
              <a:rPr lang="en-GB" sz="1050" b="1" noProof="0" dirty="0">
                <a:solidFill>
                  <a:schemeClr val="accent5">
                    <a:lumMod val="50000"/>
                  </a:schemeClr>
                </a:solidFill>
              </a:rPr>
              <a:t>(supply.x2)e.demand.x1 &lt;- (x1 - omega1)demand.x1 &lt;- </a:t>
            </a:r>
            <a:r>
              <a:rPr lang="en-GB" sz="1050" b="1" noProof="0" dirty="0" err="1">
                <a:solidFill>
                  <a:schemeClr val="accent5">
                    <a:lumMod val="50000"/>
                  </a:schemeClr>
                </a:solidFill>
              </a:rPr>
              <a:t>ifelse</a:t>
            </a:r>
            <a:r>
              <a:rPr lang="en-GB" sz="1050" b="1" noProof="0" dirty="0">
                <a:solidFill>
                  <a:schemeClr val="accent5">
                    <a:lumMod val="50000"/>
                  </a:schemeClr>
                </a:solidFill>
              </a:rPr>
              <a:t>(e.demand.x1 &gt; 0,e.demand.x1,0)supply.x1 &lt;- </a:t>
            </a:r>
            <a:r>
              <a:rPr lang="en-GB" sz="1050" b="1" noProof="0" dirty="0" err="1">
                <a:solidFill>
                  <a:schemeClr val="accent5">
                    <a:lumMod val="50000"/>
                  </a:schemeClr>
                </a:solidFill>
              </a:rPr>
              <a:t>ifelse</a:t>
            </a:r>
            <a:r>
              <a:rPr lang="en-GB" sz="1050" b="1" noProof="0" dirty="0">
                <a:solidFill>
                  <a:schemeClr val="accent5">
                    <a:lumMod val="50000"/>
                  </a:schemeClr>
                </a:solidFill>
              </a:rPr>
              <a:t>(e.demand.x1 &lt; 0,e.demand.x1,0)data$demand.x1 &lt;- </a:t>
            </a:r>
            <a:r>
              <a:rPr lang="en-GB" sz="1050" b="1" noProof="0" dirty="0" err="1">
                <a:solidFill>
                  <a:schemeClr val="accent5">
                    <a:lumMod val="50000"/>
                  </a:schemeClr>
                </a:solidFill>
              </a:rPr>
              <a:t>rowSums</a:t>
            </a:r>
            <a:r>
              <a:rPr lang="en-GB" sz="1050" b="1" noProof="0" dirty="0">
                <a:solidFill>
                  <a:schemeClr val="accent5">
                    <a:lumMod val="50000"/>
                  </a:schemeClr>
                </a:solidFill>
              </a:rPr>
              <a:t>(demand.x1)data$supply.x1 &lt;- </a:t>
            </a:r>
            <a:r>
              <a:rPr lang="en-GB" sz="1050" b="1" noProof="0" dirty="0" err="1">
                <a:solidFill>
                  <a:schemeClr val="accent5">
                    <a:lumMod val="50000"/>
                  </a:schemeClr>
                </a:solidFill>
              </a:rPr>
              <a:t>rowSums</a:t>
            </a:r>
            <a:r>
              <a:rPr lang="en-GB" sz="1050" b="1" noProof="0" dirty="0">
                <a:solidFill>
                  <a:schemeClr val="accent5">
                    <a:lumMod val="50000"/>
                  </a:schemeClr>
                </a:solidFill>
              </a:rPr>
              <a:t>(supply.x1)plot(- data$supply.x1, data$p1,type = "l", col= "green")lines(data$demand.x1, data$p1,col= "red")plot(- data$supply.x2, data$p2,type = "l", col= "green")lines(data$demand.x2, data$p2,col= "red")</a:t>
            </a:r>
            <a:r>
              <a:rPr lang="en-GB" sz="1050" b="1" noProof="0" dirty="0" err="1">
                <a:solidFill>
                  <a:schemeClr val="accent5">
                    <a:lumMod val="50000"/>
                  </a:schemeClr>
                </a:solidFill>
              </a:rPr>
              <a:t>Warla_t</a:t>
            </a:r>
            <a:r>
              <a:rPr lang="en-GB" sz="1050" b="1" noProof="0" dirty="0">
                <a:solidFill>
                  <a:schemeClr val="accent5">
                    <a:lumMod val="50000"/>
                  </a:schemeClr>
                </a:solidFill>
              </a:rPr>
              <a:t> &lt;- </a:t>
            </a:r>
            <a:r>
              <a:rPr lang="en-GB" sz="1050" b="1" noProof="0" dirty="0" err="1">
                <a:solidFill>
                  <a:schemeClr val="accent5">
                    <a:lumMod val="50000"/>
                  </a:schemeClr>
                </a:solidFill>
              </a:rPr>
              <a:t>rowSums</a:t>
            </a:r>
            <a:r>
              <a:rPr lang="en-GB" sz="1050" b="1" noProof="0" dirty="0">
                <a:solidFill>
                  <a:schemeClr val="accent5">
                    <a:lumMod val="50000"/>
                  </a:schemeClr>
                </a:solidFill>
              </a:rPr>
              <a:t>(round (p1*(x1 - omega1) + p2*(x2 - omega2), 3)) plot(1:length(</a:t>
            </a:r>
            <a:r>
              <a:rPr lang="en-GB" sz="1050" b="1" noProof="0" dirty="0" err="1">
                <a:solidFill>
                  <a:schemeClr val="accent5">
                    <a:lumMod val="50000"/>
                  </a:schemeClr>
                </a:solidFill>
              </a:rPr>
              <a:t>Warla_t</a:t>
            </a:r>
            <a:r>
              <a:rPr lang="en-GB" sz="1050" b="1" noProof="0" dirty="0">
                <a:solidFill>
                  <a:schemeClr val="accent5">
                    <a:lumMod val="50000"/>
                  </a:schemeClr>
                </a:solidFill>
              </a:rPr>
              <a:t>),</a:t>
            </a:r>
            <a:r>
              <a:rPr lang="en-GB" sz="1050" b="1" noProof="0" dirty="0" err="1">
                <a:solidFill>
                  <a:schemeClr val="accent5">
                    <a:lumMod val="50000"/>
                  </a:schemeClr>
                </a:solidFill>
              </a:rPr>
              <a:t>Warla_t</a:t>
            </a:r>
            <a:r>
              <a:rPr lang="en-GB" sz="1050" b="1" noProof="0" dirty="0">
                <a:solidFill>
                  <a:schemeClr val="accent5">
                    <a:lumMod val="50000"/>
                  </a:schemeClr>
                </a:solidFill>
              </a:rPr>
              <a:t> ,type = "l")}</a:t>
            </a:r>
          </a:p>
        </p:txBody>
      </p:sp>
      <p:pic>
        <p:nvPicPr>
          <p:cNvPr id="4" name="Picture 3">
            <a:extLst>
              <a:ext uri="{FF2B5EF4-FFF2-40B4-BE49-F238E27FC236}">
                <a16:creationId xmlns:a16="http://schemas.microsoft.com/office/drawing/2014/main" id="{F34C344C-AA16-EC3B-0749-07C2745863DF}"/>
              </a:ext>
            </a:extLst>
          </p:cNvPr>
          <p:cNvPicPr>
            <a:picLocks noChangeAspect="1"/>
          </p:cNvPicPr>
          <p:nvPr/>
        </p:nvPicPr>
        <p:blipFill>
          <a:blip r:embed="rId3"/>
          <a:stretch>
            <a:fillRect/>
          </a:stretch>
        </p:blipFill>
        <p:spPr>
          <a:xfrm>
            <a:off x="4338320" y="1090086"/>
            <a:ext cx="7217092" cy="5337399"/>
          </a:xfrm>
          <a:prstGeom prst="rect">
            <a:avLst/>
          </a:prstGeom>
        </p:spPr>
      </p:pic>
    </p:spTree>
    <p:extLst>
      <p:ext uri="{BB962C8B-B14F-4D97-AF65-F5344CB8AC3E}">
        <p14:creationId xmlns:p14="http://schemas.microsoft.com/office/powerpoint/2010/main" val="3688504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0A4BA-6E33-7483-C1A1-5C5CE865710E}"/>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9F7FEA73-EE61-4635-B6C5-13BADC4F8DA9}"/>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Application: labour supply from an endowment constraint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1426D8A-ECE8-7F47-9CC3-4E6002357C73}"/>
                  </a:ext>
                </a:extLst>
              </p:cNvPr>
              <p:cNvSpPr txBox="1"/>
              <p:nvPr/>
            </p:nvSpPr>
            <p:spPr>
              <a:xfrm>
                <a:off x="193040" y="1326088"/>
                <a:ext cx="5283199" cy="5016758"/>
              </a:xfrm>
              <a:prstGeom prst="rect">
                <a:avLst/>
              </a:prstGeom>
              <a:noFill/>
            </p:spPr>
            <p:txBody>
              <a:bodyPr wrap="square">
                <a:spAutoFit/>
              </a:bodyPr>
              <a:lstStyle/>
              <a:p>
                <a:pPr>
                  <a:buNone/>
                </a:pPr>
                <a:r>
                  <a:rPr lang="en-GB" sz="2000" b="1" noProof="0" dirty="0">
                    <a:solidFill>
                      <a:schemeClr val="accent5">
                        <a:lumMod val="50000"/>
                      </a:schemeClr>
                    </a:solidFill>
                  </a:rPr>
                  <a:t>Resource endowment of an individual:</a:t>
                </a:r>
              </a:p>
              <a:p>
                <a:pPr lvl="1"/>
                <a14:m>
                  <m:oMath xmlns:m="http://schemas.openxmlformats.org/officeDocument/2006/math">
                    <m:r>
                      <a:rPr lang="en-GB" sz="2000" b="1" i="1" u="sng" noProof="0" smtClean="0">
                        <a:solidFill>
                          <a:schemeClr val="accent5">
                            <a:lumMod val="50000"/>
                          </a:schemeClr>
                        </a:solidFill>
                        <a:latin typeface="Cambria Math" panose="02040503050406030204" pitchFamily="18" charset="0"/>
                      </a:rPr>
                      <m:t>𝑹</m:t>
                    </m:r>
                  </m:oMath>
                </a14:m>
                <a:r>
                  <a:rPr lang="en-GB" sz="2000" b="1" noProof="0" dirty="0">
                    <a:solidFill>
                      <a:schemeClr val="accent5">
                        <a:lumMod val="50000"/>
                      </a:schemeClr>
                    </a:solidFill>
                  </a:rPr>
                  <a:t> hours of time per week (or month), </a:t>
                </a:r>
                <a:endParaRPr lang="en-GB" sz="2000" b="1" i="1" u="sng" noProof="0" dirty="0">
                  <a:solidFill>
                    <a:schemeClr val="accent5">
                      <a:lumMod val="50000"/>
                    </a:schemeClr>
                  </a:solidFill>
                  <a:latin typeface="Cambria Math" panose="02040503050406030204" pitchFamily="18" charset="0"/>
                </a:endParaRPr>
              </a:p>
              <a:p>
                <a:pPr lvl="1"/>
                <a14:m>
                  <m:oMath xmlns:m="http://schemas.openxmlformats.org/officeDocument/2006/math">
                    <m:r>
                      <a:rPr lang="en-GB" sz="2000" b="1" i="1" u="sng" noProof="0" smtClean="0">
                        <a:solidFill>
                          <a:schemeClr val="accent5">
                            <a:lumMod val="50000"/>
                          </a:schemeClr>
                        </a:solidFill>
                        <a:latin typeface="Cambria Math" panose="02040503050406030204" pitchFamily="18" charset="0"/>
                      </a:rPr>
                      <m:t>𝑪</m:t>
                    </m:r>
                  </m:oMath>
                </a14:m>
                <a:r>
                  <a:rPr lang="en-GB" sz="2000" b="1" noProof="0" dirty="0">
                    <a:solidFill>
                      <a:schemeClr val="accent5">
                        <a:lumMod val="50000"/>
                      </a:schemeClr>
                    </a:solidFill>
                  </a:rPr>
                  <a:t> income without working </a:t>
                </a:r>
                <a:r>
                  <a:rPr lang="pl-PL" sz="2000" b="1" noProof="0" dirty="0">
                    <a:solidFill>
                      <a:schemeClr val="accent5">
                        <a:lumMod val="50000"/>
                      </a:schemeClr>
                    </a:solidFill>
                  </a:rPr>
                  <a:t>- </a:t>
                </a:r>
                <a:r>
                  <a:rPr lang="en-GB" sz="2000" b="1" noProof="0" dirty="0">
                    <a:solidFill>
                      <a:schemeClr val="accent5">
                        <a:lumMod val="50000"/>
                      </a:schemeClr>
                    </a:solidFill>
                  </a:rPr>
                  <a:t>autonomous consumption. </a:t>
                </a:r>
              </a:p>
              <a:p>
                <a:endParaRPr lang="en-GB" sz="2000" b="1" noProof="0" dirty="0">
                  <a:solidFill>
                    <a:schemeClr val="accent5">
                      <a:lumMod val="50000"/>
                    </a:schemeClr>
                  </a:solidFill>
                </a:endParaRPr>
              </a:p>
              <a:p>
                <a:r>
                  <a:rPr lang="en-GB" sz="2000" b="1" noProof="0" dirty="0">
                    <a:solidFill>
                      <a:schemeClr val="accent5">
                        <a:lumMod val="50000"/>
                      </a:schemeClr>
                    </a:solidFill>
                  </a:rPr>
                  <a:t>Endowment vector:  𝛚=(</a:t>
                </a:r>
                <a:r>
                  <a:rPr lang="en-GB" sz="2000" b="1" u="sng" noProof="0" dirty="0">
                    <a:solidFill>
                      <a:schemeClr val="accent5">
                        <a:lumMod val="50000"/>
                      </a:schemeClr>
                    </a:solidFill>
                  </a:rPr>
                  <a:t>𝐑</a:t>
                </a:r>
                <a:r>
                  <a:rPr lang="en-GB" sz="2000" b="1" noProof="0" dirty="0">
                    <a:solidFill>
                      <a:schemeClr val="accent5">
                        <a:lumMod val="50000"/>
                      </a:schemeClr>
                    </a:solidFill>
                  </a:rPr>
                  <a:t>, </a:t>
                </a:r>
                <a:r>
                  <a:rPr lang="en-GB" sz="2000" b="1" u="sng" noProof="0" dirty="0">
                    <a:solidFill>
                      <a:schemeClr val="accent5">
                        <a:lumMod val="50000"/>
                      </a:schemeClr>
                    </a:solidFill>
                  </a:rPr>
                  <a:t>𝐂</a:t>
                </a:r>
                <a:r>
                  <a:rPr lang="en-GB" sz="2000" b="1" noProof="0" dirty="0">
                    <a:solidFill>
                      <a:schemeClr val="accent5">
                        <a:lumMod val="50000"/>
                      </a:schemeClr>
                    </a:solidFill>
                  </a:rPr>
                  <a:t>).</a:t>
                </a:r>
              </a:p>
              <a:p>
                <a:endParaRPr lang="en-GB" sz="2000" b="1" noProof="0" dirty="0">
                  <a:solidFill>
                    <a:schemeClr val="accent5">
                      <a:lumMod val="50000"/>
                    </a:schemeClr>
                  </a:solidFill>
                </a:endParaRPr>
              </a:p>
              <a:p>
                <a:pPr>
                  <a:buNone/>
                </a:pPr>
                <a:r>
                  <a:rPr lang="en-GB" sz="2000" b="1" noProof="0" dirty="0">
                    <a:solidFill>
                      <a:schemeClr val="accent5">
                        <a:lumMod val="50000"/>
                      </a:schemeClr>
                    </a:solidFill>
                  </a:rPr>
                  <a:t>Prices:</a:t>
                </a:r>
              </a:p>
              <a:p>
                <a:pPr lvl="1"/>
                <a14:m>
                  <m:oMath xmlns:m="http://schemas.openxmlformats.org/officeDocument/2006/math">
                    <m:r>
                      <a:rPr lang="en-GB" sz="2000" b="1" i="1" noProof="0" smtClean="0">
                        <a:solidFill>
                          <a:schemeClr val="accent5">
                            <a:lumMod val="50000"/>
                          </a:schemeClr>
                        </a:solidFill>
                        <a:latin typeface="Cambria Math" panose="02040503050406030204" pitchFamily="18" charset="0"/>
                      </a:rPr>
                      <m:t>𝒘</m:t>
                    </m:r>
                  </m:oMath>
                </a14:m>
                <a:r>
                  <a:rPr lang="en-GB" sz="2000" b="1" noProof="0" dirty="0">
                    <a:solidFill>
                      <a:schemeClr val="accent5">
                        <a:lumMod val="50000"/>
                      </a:schemeClr>
                    </a:solidFill>
                  </a:rPr>
                  <a:t> – wage rate (price of one hour of work),</a:t>
                </a:r>
              </a:p>
              <a:p>
                <a:pPr lvl="1"/>
                <a14:m>
                  <m:oMath xmlns:m="http://schemas.openxmlformats.org/officeDocument/2006/math">
                    <m:sSub>
                      <m:sSubPr>
                        <m:ctrlPr>
                          <a:rPr lang="en-GB" sz="2000" b="1" i="1" noProof="0" smtClean="0">
                            <a:solidFill>
                              <a:schemeClr val="accent5">
                                <a:lumMod val="50000"/>
                              </a:schemeClr>
                            </a:solidFill>
                            <a:latin typeface="Cambria Math" panose="02040503050406030204" pitchFamily="18" charset="0"/>
                          </a:rPr>
                        </m:ctrlPr>
                      </m:sSubPr>
                      <m:e>
                        <m:r>
                          <a:rPr lang="en-GB" sz="2000" b="1" i="1" noProof="0" smtClean="0">
                            <a:solidFill>
                              <a:schemeClr val="accent5">
                                <a:lumMod val="50000"/>
                              </a:schemeClr>
                            </a:solidFill>
                            <a:latin typeface="Cambria Math" panose="02040503050406030204" pitchFamily="18" charset="0"/>
                          </a:rPr>
                          <m:t>𝒑</m:t>
                        </m:r>
                      </m:e>
                      <m:sub>
                        <m:r>
                          <a:rPr lang="en-GB" sz="2000" b="1" i="1" noProof="0" smtClean="0">
                            <a:solidFill>
                              <a:schemeClr val="accent5">
                                <a:lumMod val="50000"/>
                              </a:schemeClr>
                            </a:solidFill>
                            <a:latin typeface="Cambria Math" panose="02040503050406030204" pitchFamily="18" charset="0"/>
                          </a:rPr>
                          <m:t>𝑪</m:t>
                        </m:r>
                      </m:sub>
                    </m:sSub>
                  </m:oMath>
                </a14:m>
                <a:r>
                  <a:rPr lang="en-GB" sz="2000" b="1" noProof="0" dirty="0">
                    <a:solidFill>
                      <a:schemeClr val="accent5">
                        <a:lumMod val="50000"/>
                      </a:schemeClr>
                    </a:solidFill>
                  </a:rPr>
                  <a:t>– price of the consumption good (often normalized to </a:t>
                </a:r>
                <a14:m>
                  <m:oMath xmlns:m="http://schemas.openxmlformats.org/officeDocument/2006/math">
                    <m:r>
                      <a:rPr lang="en-GB" sz="2000" b="1" i="1" noProof="0" smtClean="0">
                        <a:solidFill>
                          <a:schemeClr val="accent5">
                            <a:lumMod val="50000"/>
                          </a:schemeClr>
                        </a:solidFill>
                        <a:latin typeface="Cambria Math" panose="02040503050406030204" pitchFamily="18" charset="0"/>
                      </a:rPr>
                      <m:t>𝟏</m:t>
                    </m:r>
                  </m:oMath>
                </a14:m>
                <a:r>
                  <a:rPr lang="en-GB" sz="2000" b="1" noProof="0" dirty="0">
                    <a:solidFill>
                      <a:schemeClr val="accent5">
                        <a:lumMod val="50000"/>
                      </a:schemeClr>
                    </a:solidFill>
                  </a:rPr>
                  <a:t>).</a:t>
                </a:r>
              </a:p>
              <a:p>
                <a:endParaRPr lang="en-GB" sz="2000" b="1" i="1" noProof="0" dirty="0">
                  <a:solidFill>
                    <a:schemeClr val="accent5">
                      <a:lumMod val="50000"/>
                    </a:schemeClr>
                  </a:solidFill>
                </a:endParaRPr>
              </a:p>
              <a:p>
                <a:r>
                  <a:rPr lang="en-GB" sz="2000" b="1" noProof="0" dirty="0">
                    <a:solidFill>
                      <a:schemeClr val="accent5">
                        <a:lumMod val="50000"/>
                      </a:schemeClr>
                    </a:solidFill>
                  </a:rPr>
                  <a:t>Choice variables:</a:t>
                </a:r>
              </a:p>
              <a:p>
                <a:pPr lvl="1"/>
                <a:r>
                  <a:rPr lang="en-GB" sz="2000" b="1" noProof="0" dirty="0">
                    <a:solidFill>
                      <a:schemeClr val="accent5">
                        <a:lumMod val="50000"/>
                      </a:schemeClr>
                    </a:solidFill>
                  </a:rPr>
                  <a:t>R hours of leisure </a:t>
                </a:r>
                <a:r>
                  <a:rPr lang="en-GB" sz="2000" b="1" noProof="0" dirty="0">
                    <a:solidFill>
                      <a:schemeClr val="accent5">
                        <a:lumMod val="50000"/>
                      </a:schemeClr>
                    </a:solidFill>
                    <a:sym typeface="Wingdings" panose="05000000000000000000" pitchFamily="2" charset="2"/>
                  </a:rPr>
                  <a:t> </a:t>
                </a:r>
                <a:r>
                  <a:rPr lang="en-GB" sz="2000" b="1" noProof="0" dirty="0">
                    <a:solidFill>
                      <a:schemeClr val="accent5">
                        <a:lumMod val="50000"/>
                      </a:schemeClr>
                    </a:solidFill>
                  </a:rPr>
                  <a:t>hours of labour supplied L =</a:t>
                </a:r>
                <a:r>
                  <a:rPr lang="en-GB" sz="2000" b="1" u="sng" noProof="0" dirty="0">
                    <a:solidFill>
                      <a:schemeClr val="accent5">
                        <a:lumMod val="50000"/>
                      </a:schemeClr>
                    </a:solidFill>
                  </a:rPr>
                  <a:t> R </a:t>
                </a:r>
                <a:r>
                  <a:rPr lang="en-GB" sz="2000" b="1" noProof="0" dirty="0">
                    <a:solidFill>
                      <a:schemeClr val="accent5">
                        <a:lumMod val="50000"/>
                      </a:schemeClr>
                    </a:solidFill>
                  </a:rPr>
                  <a:t>- R</a:t>
                </a:r>
              </a:p>
              <a:p>
                <a:pPr lvl="1"/>
                <a14:m>
                  <m:oMath xmlns:m="http://schemas.openxmlformats.org/officeDocument/2006/math">
                    <m:r>
                      <a:rPr lang="en-GB" sz="2000" b="1" i="0" noProof="0" smtClean="0">
                        <a:solidFill>
                          <a:schemeClr val="accent5">
                            <a:lumMod val="50000"/>
                          </a:schemeClr>
                        </a:solidFill>
                        <a:latin typeface="Cambria Math" panose="02040503050406030204" pitchFamily="18" charset="0"/>
                      </a:rPr>
                      <m:t>𝐂</m:t>
                    </m:r>
                  </m:oMath>
                </a14:m>
                <a:r>
                  <a:rPr lang="en-GB" sz="2000" b="1" noProof="0" dirty="0">
                    <a:solidFill>
                      <a:schemeClr val="accent5">
                        <a:lumMod val="50000"/>
                      </a:schemeClr>
                    </a:solidFill>
                  </a:rPr>
                  <a:t> – consumption.</a:t>
                </a:r>
              </a:p>
            </p:txBody>
          </p:sp>
        </mc:Choice>
        <mc:Fallback>
          <p:sp>
            <p:nvSpPr>
              <p:cNvPr id="6" name="TextBox 5">
                <a:extLst>
                  <a:ext uri="{FF2B5EF4-FFF2-40B4-BE49-F238E27FC236}">
                    <a16:creationId xmlns:a16="http://schemas.microsoft.com/office/drawing/2014/main" id="{E1426D8A-ECE8-7F47-9CC3-4E6002357C73}"/>
                  </a:ext>
                </a:extLst>
              </p:cNvPr>
              <p:cNvSpPr txBox="1">
                <a:spLocks noRot="1" noChangeAspect="1" noMove="1" noResize="1" noEditPoints="1" noAdjustHandles="1" noChangeArrowheads="1" noChangeShapeType="1" noTextEdit="1"/>
              </p:cNvSpPr>
              <p:nvPr/>
            </p:nvSpPr>
            <p:spPr>
              <a:xfrm>
                <a:off x="193040" y="1326088"/>
                <a:ext cx="5283199" cy="5016758"/>
              </a:xfrm>
              <a:prstGeom prst="rect">
                <a:avLst/>
              </a:prstGeom>
              <a:blipFill>
                <a:blip r:embed="rId3"/>
                <a:stretch>
                  <a:fillRect l="-1270" t="-730" b="-1338"/>
                </a:stretch>
              </a:blipFill>
            </p:spPr>
            <p:txBody>
              <a:bodyPr/>
              <a:lstStyle/>
              <a:p>
                <a:r>
                  <a:rPr lang="pl-PL">
                    <a:noFill/>
                  </a:rPr>
                  <a:t> </a:t>
                </a:r>
              </a:p>
            </p:txBody>
          </p:sp>
        </mc:Fallback>
      </mc:AlternateContent>
      <p:sp>
        <p:nvSpPr>
          <p:cNvPr id="3" name="Rectangle 32">
            <a:extLst>
              <a:ext uri="{FF2B5EF4-FFF2-40B4-BE49-F238E27FC236}">
                <a16:creationId xmlns:a16="http://schemas.microsoft.com/office/drawing/2014/main" id="{1B1C2EB5-357A-D7E3-DFC4-15447E11C882}"/>
              </a:ext>
            </a:extLst>
          </p:cNvPr>
          <p:cNvSpPr>
            <a:spLocks noChangeArrowheads="1"/>
          </p:cNvSpPr>
          <p:nvPr/>
        </p:nvSpPr>
        <p:spPr bwMode="auto">
          <a:xfrm>
            <a:off x="6217834" y="5799171"/>
            <a:ext cx="1429879" cy="369974"/>
          </a:xfrm>
          <a:prstGeom prst="rect">
            <a:avLst/>
          </a:prstGeom>
          <a:noFill/>
          <a:ln w="9525">
            <a:noFill/>
            <a:miter lim="800000"/>
            <a:headEnd/>
            <a:tailEnd/>
          </a:ln>
        </p:spPr>
        <p:txBody>
          <a:bodyPr wrap="none" lIns="92075" tIns="46038" rIns="92075" bIns="46038">
            <a:spAutoFit/>
          </a:bodyPr>
          <a:lstStyle/>
          <a:p>
            <a:pPr>
              <a:defRPr/>
            </a:pPr>
            <a:r>
              <a:rPr lang="pl-PL" b="1" noProof="0" dirty="0">
                <a:solidFill>
                  <a:schemeClr val="accent5">
                    <a:lumMod val="50000"/>
                  </a:schemeClr>
                </a:solidFill>
                <a:latin typeface="Arial" charset="0"/>
              </a:rPr>
              <a:t>R </a:t>
            </a:r>
            <a:r>
              <a:rPr lang="en-GB" b="1" noProof="0" dirty="0">
                <a:solidFill>
                  <a:schemeClr val="accent5">
                    <a:lumMod val="50000"/>
                  </a:schemeClr>
                </a:solidFill>
                <a:latin typeface="Arial" charset="0"/>
              </a:rPr>
              <a:t>- </a:t>
            </a:r>
            <a:r>
              <a:rPr lang="en-GB" b="1" noProof="0" dirty="0" err="1">
                <a:solidFill>
                  <a:schemeClr val="accent5">
                    <a:lumMod val="50000"/>
                  </a:schemeClr>
                </a:solidFill>
                <a:latin typeface="Arial" charset="0"/>
              </a:rPr>
              <a:t>leasure</a:t>
            </a:r>
            <a:r>
              <a:rPr lang="en-GB" b="1" noProof="0" dirty="0">
                <a:solidFill>
                  <a:schemeClr val="accent5">
                    <a:lumMod val="50000"/>
                  </a:schemeClr>
                </a:solidFill>
                <a:latin typeface="Arial" charset="0"/>
              </a:rPr>
              <a:t> </a:t>
            </a:r>
          </a:p>
        </p:txBody>
      </p:sp>
      <p:grpSp>
        <p:nvGrpSpPr>
          <p:cNvPr id="4" name="Grupa 25">
            <a:extLst>
              <a:ext uri="{FF2B5EF4-FFF2-40B4-BE49-F238E27FC236}">
                <a16:creationId xmlns:a16="http://schemas.microsoft.com/office/drawing/2014/main" id="{C5ADF4D1-9D54-B9CB-D7FD-BF635E4A3E05}"/>
              </a:ext>
            </a:extLst>
          </p:cNvPr>
          <p:cNvGrpSpPr>
            <a:grpSpLocks/>
          </p:cNvGrpSpPr>
          <p:nvPr/>
        </p:nvGrpSpPr>
        <p:grpSpPr bwMode="auto">
          <a:xfrm>
            <a:off x="5203243" y="1406209"/>
            <a:ext cx="6988901" cy="4870448"/>
            <a:chOff x="549973" y="1081088"/>
            <a:chExt cx="6989380" cy="4870532"/>
          </a:xfrm>
        </p:grpSpPr>
        <p:sp>
          <p:nvSpPr>
            <p:cNvPr id="5" name="Line 3">
              <a:extLst>
                <a:ext uri="{FF2B5EF4-FFF2-40B4-BE49-F238E27FC236}">
                  <a16:creationId xmlns:a16="http://schemas.microsoft.com/office/drawing/2014/main" id="{3CEC73EF-5FEA-4AF9-944F-95BE9BD8B265}"/>
                </a:ext>
              </a:extLst>
            </p:cNvPr>
            <p:cNvSpPr>
              <a:spLocks noChangeShapeType="1"/>
            </p:cNvSpPr>
            <p:nvPr/>
          </p:nvSpPr>
          <p:spPr bwMode="auto">
            <a:xfrm>
              <a:off x="1547891" y="1427169"/>
              <a:ext cx="0" cy="3762440"/>
            </a:xfrm>
            <a:prstGeom prst="line">
              <a:avLst/>
            </a:prstGeom>
            <a:ln>
              <a:headEnd type="stealth" w="med" len="lg"/>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b="1" noProof="0" dirty="0">
                <a:solidFill>
                  <a:schemeClr val="accent5">
                    <a:lumMod val="50000"/>
                  </a:schemeClr>
                </a:solidFill>
              </a:endParaRPr>
            </a:p>
          </p:txBody>
        </p:sp>
        <p:sp>
          <p:nvSpPr>
            <p:cNvPr id="7" name="Line 4">
              <a:extLst>
                <a:ext uri="{FF2B5EF4-FFF2-40B4-BE49-F238E27FC236}">
                  <a16:creationId xmlns:a16="http://schemas.microsoft.com/office/drawing/2014/main" id="{DD61EB28-9E60-145F-BFB0-099D45DEEDC4}"/>
                </a:ext>
              </a:extLst>
            </p:cNvPr>
            <p:cNvSpPr>
              <a:spLocks noChangeShapeType="1"/>
            </p:cNvSpPr>
            <p:nvPr/>
          </p:nvSpPr>
          <p:spPr bwMode="auto">
            <a:xfrm>
              <a:off x="1431995" y="5095944"/>
              <a:ext cx="4572314" cy="0"/>
            </a:xfrm>
            <a:prstGeom prst="line">
              <a:avLst/>
            </a:prstGeom>
            <a:ln>
              <a:headEnd type="none" w="sm" len="sm"/>
              <a:tailEnd type="stealth" w="med" len="lg"/>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b="1" noProof="0" dirty="0">
                <a:solidFill>
                  <a:schemeClr val="accent5">
                    <a:lumMod val="50000"/>
                  </a:schemeClr>
                </a:solidFill>
              </a:endParaRPr>
            </a:p>
          </p:txBody>
        </p:sp>
        <p:sp>
          <p:nvSpPr>
            <p:cNvPr id="8" name="Rectangle 5">
              <a:extLst>
                <a:ext uri="{FF2B5EF4-FFF2-40B4-BE49-F238E27FC236}">
                  <a16:creationId xmlns:a16="http://schemas.microsoft.com/office/drawing/2014/main" id="{BB8CD181-F096-6D52-0C7C-7AB6266178FC}"/>
                </a:ext>
              </a:extLst>
            </p:cNvPr>
            <p:cNvSpPr>
              <a:spLocks noChangeArrowheads="1"/>
            </p:cNvSpPr>
            <p:nvPr/>
          </p:nvSpPr>
          <p:spPr bwMode="auto">
            <a:xfrm>
              <a:off x="1003341" y="1081088"/>
              <a:ext cx="352449" cy="369893"/>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latin typeface="Arial" charset="0"/>
                </a:rPr>
                <a:t>C</a:t>
              </a:r>
            </a:p>
          </p:txBody>
        </p:sp>
        <p:sp>
          <p:nvSpPr>
            <p:cNvPr id="9" name="Rectangle 6">
              <a:extLst>
                <a:ext uri="{FF2B5EF4-FFF2-40B4-BE49-F238E27FC236}">
                  <a16:creationId xmlns:a16="http://schemas.microsoft.com/office/drawing/2014/main" id="{2A1631FD-8536-E59E-881B-F13605225986}"/>
                </a:ext>
              </a:extLst>
            </p:cNvPr>
            <p:cNvSpPr>
              <a:spLocks noChangeArrowheads="1"/>
            </p:cNvSpPr>
            <p:nvPr/>
          </p:nvSpPr>
          <p:spPr bwMode="auto">
            <a:xfrm>
              <a:off x="6085277" y="5154683"/>
              <a:ext cx="352449" cy="369893"/>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latin typeface="Arial" charset="0"/>
                </a:rPr>
                <a:t>R</a:t>
              </a:r>
            </a:p>
          </p:txBody>
        </p:sp>
        <p:sp>
          <p:nvSpPr>
            <p:cNvPr id="10" name="Rectangle 7">
              <a:extLst>
                <a:ext uri="{FF2B5EF4-FFF2-40B4-BE49-F238E27FC236}">
                  <a16:creationId xmlns:a16="http://schemas.microsoft.com/office/drawing/2014/main" id="{DF2E4D3A-3934-9544-2928-E6E85075FDBB}"/>
                </a:ext>
              </a:extLst>
            </p:cNvPr>
            <p:cNvSpPr>
              <a:spLocks noChangeArrowheads="1"/>
            </p:cNvSpPr>
            <p:nvPr/>
          </p:nvSpPr>
          <p:spPr bwMode="auto">
            <a:xfrm>
              <a:off x="5411815" y="5143569"/>
              <a:ext cx="352449" cy="369893"/>
            </a:xfrm>
            <a:prstGeom prst="rect">
              <a:avLst/>
            </a:prstGeom>
            <a:noFill/>
            <a:ln w="9525">
              <a:noFill/>
              <a:miter lim="800000"/>
              <a:headEnd/>
              <a:tailEnd/>
            </a:ln>
          </p:spPr>
          <p:txBody>
            <a:bodyPr wrap="none" lIns="92075" tIns="46038" rIns="92075" bIns="46038">
              <a:spAutoFit/>
            </a:bodyPr>
            <a:lstStyle/>
            <a:p>
              <a:pPr>
                <a:defRPr/>
              </a:pPr>
              <a:r>
                <a:rPr lang="en-GB" b="1" u="sng" noProof="0" dirty="0">
                  <a:solidFill>
                    <a:schemeClr val="accent5">
                      <a:lumMod val="50000"/>
                    </a:schemeClr>
                  </a:solidFill>
                  <a:latin typeface="Arial" charset="0"/>
                </a:rPr>
                <a:t>R</a:t>
              </a:r>
            </a:p>
          </p:txBody>
        </p:sp>
        <p:sp>
          <p:nvSpPr>
            <p:cNvPr id="11" name="Line 10">
              <a:extLst>
                <a:ext uri="{FF2B5EF4-FFF2-40B4-BE49-F238E27FC236}">
                  <a16:creationId xmlns:a16="http://schemas.microsoft.com/office/drawing/2014/main" id="{ACFC59B6-145D-AE9C-4D7B-3D2F1D241102}"/>
                </a:ext>
              </a:extLst>
            </p:cNvPr>
            <p:cNvSpPr>
              <a:spLocks noChangeShapeType="1"/>
            </p:cNvSpPr>
            <p:nvPr/>
          </p:nvSpPr>
          <p:spPr bwMode="auto">
            <a:xfrm flipV="1">
              <a:off x="5572479" y="4229154"/>
              <a:ext cx="0" cy="86679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b="1" noProof="0" dirty="0">
                <a:solidFill>
                  <a:schemeClr val="accent5">
                    <a:lumMod val="50000"/>
                  </a:schemeClr>
                </a:solidFill>
                <a:latin typeface="Arial" charset="0"/>
              </a:endParaRPr>
            </a:p>
          </p:txBody>
        </p:sp>
        <p:sp>
          <p:nvSpPr>
            <p:cNvPr id="12" name="Line 11">
              <a:extLst>
                <a:ext uri="{FF2B5EF4-FFF2-40B4-BE49-F238E27FC236}">
                  <a16:creationId xmlns:a16="http://schemas.microsoft.com/office/drawing/2014/main" id="{65B85E4F-EEC7-DA51-E95A-FF502B7BE20C}"/>
                </a:ext>
              </a:extLst>
            </p:cNvPr>
            <p:cNvSpPr>
              <a:spLocks noChangeShapeType="1"/>
            </p:cNvSpPr>
            <p:nvPr/>
          </p:nvSpPr>
          <p:spPr bwMode="auto">
            <a:xfrm>
              <a:off x="1547891" y="4167241"/>
              <a:ext cx="4024588" cy="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b="1" noProof="0" dirty="0">
                <a:solidFill>
                  <a:schemeClr val="accent5">
                    <a:lumMod val="50000"/>
                  </a:schemeClr>
                </a:solidFill>
                <a:latin typeface="Arial" charset="0"/>
              </a:endParaRPr>
            </a:p>
          </p:txBody>
        </p:sp>
        <p:sp>
          <p:nvSpPr>
            <p:cNvPr id="13" name="Rectangle 12">
              <a:extLst>
                <a:ext uri="{FF2B5EF4-FFF2-40B4-BE49-F238E27FC236}">
                  <a16:creationId xmlns:a16="http://schemas.microsoft.com/office/drawing/2014/main" id="{19183E80-BFE2-FE7E-2009-CDACD618202C}"/>
                </a:ext>
              </a:extLst>
            </p:cNvPr>
            <p:cNvSpPr>
              <a:spLocks noChangeArrowheads="1"/>
            </p:cNvSpPr>
            <p:nvPr/>
          </p:nvSpPr>
          <p:spPr bwMode="auto">
            <a:xfrm>
              <a:off x="5370853" y="3349619"/>
              <a:ext cx="2168500" cy="923988"/>
            </a:xfrm>
            <a:prstGeom prst="rect">
              <a:avLst/>
            </a:prstGeom>
            <a:noFill/>
            <a:ln w="9525">
              <a:noFill/>
              <a:miter lim="800000"/>
              <a:headEnd/>
              <a:tailEnd/>
            </a:ln>
          </p:spPr>
          <p:txBody>
            <a:bodyPr wrap="none" lIns="92075" tIns="46038" rIns="92075" bIns="46038">
              <a:spAutoFit/>
            </a:bodyPr>
            <a:lstStyle/>
            <a:p>
              <a:r>
                <a:rPr lang="en-GB" b="1" noProof="0" dirty="0">
                  <a:solidFill>
                    <a:schemeClr val="accent5">
                      <a:lumMod val="50000"/>
                    </a:schemeClr>
                  </a:solidFill>
                </a:rPr>
                <a:t>Endowment vector:  </a:t>
              </a:r>
            </a:p>
            <a:p>
              <a:r>
                <a:rPr lang="en-GB" b="1" noProof="0" dirty="0">
                  <a:solidFill>
                    <a:schemeClr val="accent5">
                      <a:lumMod val="50000"/>
                    </a:schemeClr>
                  </a:solidFill>
                </a:rPr>
                <a:t>𝛚=(</a:t>
              </a:r>
              <a:r>
                <a:rPr lang="en-GB" b="1" u="sng" noProof="0" dirty="0">
                  <a:solidFill>
                    <a:schemeClr val="accent5">
                      <a:lumMod val="50000"/>
                    </a:schemeClr>
                  </a:solidFill>
                </a:rPr>
                <a:t>𝐑</a:t>
              </a:r>
              <a:r>
                <a:rPr lang="en-GB" b="1" noProof="0" dirty="0">
                  <a:solidFill>
                    <a:schemeClr val="accent5">
                      <a:lumMod val="50000"/>
                    </a:schemeClr>
                  </a:solidFill>
                </a:rPr>
                <a:t>, </a:t>
              </a:r>
              <a:r>
                <a:rPr lang="en-GB" b="1" u="sng" noProof="0" dirty="0">
                  <a:solidFill>
                    <a:schemeClr val="accent5">
                      <a:lumMod val="50000"/>
                    </a:schemeClr>
                  </a:solidFill>
                </a:rPr>
                <a:t>𝐂</a:t>
              </a:r>
              <a:r>
                <a:rPr lang="en-GB" b="1" noProof="0" dirty="0">
                  <a:solidFill>
                    <a:schemeClr val="accent5">
                      <a:lumMod val="50000"/>
                    </a:schemeClr>
                  </a:solidFill>
                </a:rPr>
                <a:t>).</a:t>
              </a:r>
            </a:p>
            <a:p>
              <a:pPr>
                <a:defRPr/>
              </a:pPr>
              <a:endParaRPr lang="en-GB" b="1" noProof="0" dirty="0">
                <a:solidFill>
                  <a:schemeClr val="accent5">
                    <a:lumMod val="50000"/>
                  </a:schemeClr>
                </a:solidFill>
                <a:latin typeface="Arial" charset="0"/>
              </a:endParaRPr>
            </a:p>
          </p:txBody>
        </p:sp>
        <p:graphicFrame>
          <p:nvGraphicFramePr>
            <p:cNvPr id="14" name="Object 13">
              <a:extLst>
                <a:ext uri="{FF2B5EF4-FFF2-40B4-BE49-F238E27FC236}">
                  <a16:creationId xmlns:a16="http://schemas.microsoft.com/office/drawing/2014/main" id="{E382A490-1AF2-D322-6ED1-1F74957B330A}"/>
                </a:ext>
              </a:extLst>
            </p:cNvPr>
            <p:cNvGraphicFramePr>
              <a:graphicFrameLocks/>
            </p:cNvGraphicFramePr>
            <p:nvPr/>
          </p:nvGraphicFramePr>
          <p:xfrm>
            <a:off x="3390900" y="1571625"/>
            <a:ext cx="3057525" cy="1076325"/>
          </p:xfrm>
          <a:graphic>
            <a:graphicData uri="http://schemas.openxmlformats.org/presentationml/2006/ole">
              <mc:AlternateContent xmlns:mc="http://schemas.openxmlformats.org/markup-compatibility/2006">
                <mc:Choice xmlns:v="urn:schemas-microsoft-com:vml" Requires="v">
                  <p:oleObj name="Równanie" r:id="rId4" imgW="1234404" imgH="350403" progId="Equation.3">
                    <p:embed/>
                  </p:oleObj>
                </mc:Choice>
                <mc:Fallback>
                  <p:oleObj name="Równanie" r:id="rId4" imgW="1234404" imgH="350403" progId="Equation.3">
                    <p:embed/>
                    <p:pic>
                      <p:nvPicPr>
                        <p:cNvPr id="10253" name="Object 13">
                          <a:extLst>
                            <a:ext uri="{FF2B5EF4-FFF2-40B4-BE49-F238E27FC236}">
                              <a16:creationId xmlns:a16="http://schemas.microsoft.com/office/drawing/2014/main" id="{6A46AA5D-AEC3-E326-E9CD-69F1AC633A7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0900" y="1571625"/>
                          <a:ext cx="305752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Line 14">
              <a:extLst>
                <a:ext uri="{FF2B5EF4-FFF2-40B4-BE49-F238E27FC236}">
                  <a16:creationId xmlns:a16="http://schemas.microsoft.com/office/drawing/2014/main" id="{15485EF8-4C7A-0C7E-411F-BC48BEC4F7DF}"/>
                </a:ext>
              </a:extLst>
            </p:cNvPr>
            <p:cNvSpPr>
              <a:spLocks noChangeShapeType="1"/>
            </p:cNvSpPr>
            <p:nvPr/>
          </p:nvSpPr>
          <p:spPr bwMode="auto">
            <a:xfrm flipH="1" flipV="1">
              <a:off x="1547891" y="2047892"/>
              <a:ext cx="4024588" cy="2119350"/>
            </a:xfrm>
            <a:prstGeom prst="line">
              <a:avLst/>
            </a:prstGeom>
            <a:noFill/>
            <a:ln w="25400">
              <a:solidFill>
                <a:schemeClr val="tx2"/>
              </a:solidFill>
              <a:round/>
              <a:headEnd type="none" w="sm" len="sm"/>
              <a:tailEnd type="none" w="sm" len="sm"/>
            </a:ln>
          </p:spPr>
          <p:txBody>
            <a:bodyPr wrap="none" anchor="ctr"/>
            <a:lstStyle/>
            <a:p>
              <a:pPr>
                <a:defRPr/>
              </a:pPr>
              <a:endParaRPr lang="en-GB" b="1" noProof="0" dirty="0">
                <a:solidFill>
                  <a:schemeClr val="accent5">
                    <a:lumMod val="50000"/>
                  </a:schemeClr>
                </a:solidFill>
                <a:latin typeface="Arial" charset="0"/>
              </a:endParaRPr>
            </a:p>
          </p:txBody>
        </p:sp>
        <p:sp>
          <p:nvSpPr>
            <p:cNvPr id="16" name="Oval 16">
              <a:extLst>
                <a:ext uri="{FF2B5EF4-FFF2-40B4-BE49-F238E27FC236}">
                  <a16:creationId xmlns:a16="http://schemas.microsoft.com/office/drawing/2014/main" id="{9E2DBC0A-8EC7-8B5A-76B4-7F29E38F4CFB}"/>
                </a:ext>
              </a:extLst>
            </p:cNvPr>
            <p:cNvSpPr>
              <a:spLocks noChangeArrowheads="1"/>
            </p:cNvSpPr>
            <p:nvPr/>
          </p:nvSpPr>
          <p:spPr bwMode="auto">
            <a:xfrm>
              <a:off x="5486748" y="4095802"/>
              <a:ext cx="142885" cy="119065"/>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GB" b="1" noProof="0" dirty="0">
                <a:solidFill>
                  <a:schemeClr val="accent5">
                    <a:lumMod val="50000"/>
                  </a:schemeClr>
                </a:solidFill>
              </a:endParaRPr>
            </a:p>
          </p:txBody>
        </p:sp>
        <p:graphicFrame>
          <p:nvGraphicFramePr>
            <p:cNvPr id="17" name="Object 18">
              <a:extLst>
                <a:ext uri="{FF2B5EF4-FFF2-40B4-BE49-F238E27FC236}">
                  <a16:creationId xmlns:a16="http://schemas.microsoft.com/office/drawing/2014/main" id="{D3B9CEE3-DE0B-2126-49F0-FF9741AF28AD}"/>
                </a:ext>
              </a:extLst>
            </p:cNvPr>
            <p:cNvGraphicFramePr>
              <a:graphicFrameLocks/>
            </p:cNvGraphicFramePr>
            <p:nvPr>
              <p:extLst>
                <p:ext uri="{D42A27DB-BD31-4B8C-83A1-F6EECF244321}">
                  <p14:modId xmlns:p14="http://schemas.microsoft.com/office/powerpoint/2010/main" val="4047707888"/>
                </p:ext>
              </p:extLst>
            </p:nvPr>
          </p:nvGraphicFramePr>
          <p:xfrm>
            <a:off x="549973" y="1676422"/>
            <a:ext cx="957262" cy="569912"/>
          </p:xfrm>
          <a:graphic>
            <a:graphicData uri="http://schemas.openxmlformats.org/presentationml/2006/ole">
              <mc:AlternateContent xmlns:mc="http://schemas.openxmlformats.org/markup-compatibility/2006">
                <mc:Choice xmlns:v="urn:schemas-microsoft-com:vml" Requires="v">
                  <p:oleObj name="Równanie" r:id="rId6" imgW="434322" imgH="350403" progId="Equation.3">
                    <p:embed/>
                  </p:oleObj>
                </mc:Choice>
                <mc:Fallback>
                  <p:oleObj name="Równanie" r:id="rId6" imgW="434322" imgH="350403" progId="Equation.3">
                    <p:embed/>
                    <p:pic>
                      <p:nvPicPr>
                        <p:cNvPr id="10256" name="Object 18">
                          <a:extLst>
                            <a:ext uri="{FF2B5EF4-FFF2-40B4-BE49-F238E27FC236}">
                              <a16:creationId xmlns:a16="http://schemas.microsoft.com/office/drawing/2014/main" id="{F4810F77-3AB7-A404-1D56-4602980A3C1C}"/>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973" y="1676422"/>
                          <a:ext cx="957262"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Arc 21">
              <a:extLst>
                <a:ext uri="{FF2B5EF4-FFF2-40B4-BE49-F238E27FC236}">
                  <a16:creationId xmlns:a16="http://schemas.microsoft.com/office/drawing/2014/main" id="{5F234D7D-33EB-E5EC-8EC1-AFBDB778E910}"/>
                </a:ext>
              </a:extLst>
            </p:cNvPr>
            <p:cNvSpPr>
              <a:spLocks/>
            </p:cNvSpPr>
            <p:nvPr/>
          </p:nvSpPr>
          <p:spPr bwMode="auto">
            <a:xfrm rot="10800000">
              <a:off x="2260727" y="1597034"/>
              <a:ext cx="2500484" cy="1666904"/>
            </a:xfrm>
            <a:custGeom>
              <a:avLst/>
              <a:gdLst>
                <a:gd name="T0" fmla="*/ 0 w 21600"/>
                <a:gd name="T1" fmla="*/ 0 h 21600"/>
                <a:gd name="T2" fmla="*/ 2500313 w 21600"/>
                <a:gd name="T3" fmla="*/ 1666875 h 21600"/>
                <a:gd name="T4" fmla="*/ 0 w 21600"/>
                <a:gd name="T5" fmla="*/ 16668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GB" b="1" noProof="0" dirty="0">
                <a:solidFill>
                  <a:schemeClr val="accent5">
                    <a:lumMod val="50000"/>
                  </a:schemeClr>
                </a:solidFill>
              </a:endParaRPr>
            </a:p>
          </p:txBody>
        </p:sp>
        <p:sp>
          <p:nvSpPr>
            <p:cNvPr id="19" name="Line 22">
              <a:extLst>
                <a:ext uri="{FF2B5EF4-FFF2-40B4-BE49-F238E27FC236}">
                  <a16:creationId xmlns:a16="http://schemas.microsoft.com/office/drawing/2014/main" id="{F4A61597-BBBC-D665-2878-4E3EC565DECA}"/>
                </a:ext>
              </a:extLst>
            </p:cNvPr>
            <p:cNvSpPr>
              <a:spLocks noChangeShapeType="1"/>
            </p:cNvSpPr>
            <p:nvPr/>
          </p:nvSpPr>
          <p:spPr bwMode="auto">
            <a:xfrm>
              <a:off x="3119624" y="2881344"/>
              <a:ext cx="0" cy="221460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b="1" noProof="0" dirty="0">
                <a:solidFill>
                  <a:schemeClr val="accent5">
                    <a:lumMod val="50000"/>
                  </a:schemeClr>
                </a:solidFill>
                <a:latin typeface="Arial" charset="0"/>
              </a:endParaRPr>
            </a:p>
          </p:txBody>
        </p:sp>
        <p:sp>
          <p:nvSpPr>
            <p:cNvPr id="20" name="Line 23">
              <a:extLst>
                <a:ext uri="{FF2B5EF4-FFF2-40B4-BE49-F238E27FC236}">
                  <a16:creationId xmlns:a16="http://schemas.microsoft.com/office/drawing/2014/main" id="{AC18465B-675D-6478-CD8A-E70E006169F9}"/>
                </a:ext>
              </a:extLst>
            </p:cNvPr>
            <p:cNvSpPr>
              <a:spLocks noChangeShapeType="1"/>
            </p:cNvSpPr>
            <p:nvPr/>
          </p:nvSpPr>
          <p:spPr bwMode="auto">
            <a:xfrm flipH="1">
              <a:off x="1571705" y="2881344"/>
              <a:ext cx="1547919" cy="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b="1" noProof="0" dirty="0">
                <a:solidFill>
                  <a:schemeClr val="accent5">
                    <a:lumMod val="50000"/>
                  </a:schemeClr>
                </a:solidFill>
                <a:latin typeface="Arial" charset="0"/>
              </a:endParaRPr>
            </a:p>
          </p:txBody>
        </p:sp>
        <p:sp>
          <p:nvSpPr>
            <p:cNvPr id="21" name="Oval 24">
              <a:extLst>
                <a:ext uri="{FF2B5EF4-FFF2-40B4-BE49-F238E27FC236}">
                  <a16:creationId xmlns:a16="http://schemas.microsoft.com/office/drawing/2014/main" id="{03836FAD-3FAF-239F-3D3F-2878EABD4D3E}"/>
                </a:ext>
              </a:extLst>
            </p:cNvPr>
            <p:cNvSpPr>
              <a:spLocks noChangeArrowheads="1"/>
            </p:cNvSpPr>
            <p:nvPr/>
          </p:nvSpPr>
          <p:spPr bwMode="auto">
            <a:xfrm>
              <a:off x="3010078" y="2790855"/>
              <a:ext cx="219090" cy="176216"/>
            </a:xfrm>
            <a:prstGeom prst="ellipse">
              <a:avLst/>
            </a:prstGeom>
            <a:solidFill>
              <a:schemeClr val="tx2"/>
            </a:solidFill>
            <a:ln w="9525">
              <a:noFill/>
              <a:round/>
              <a:headEnd/>
              <a:tailEnd/>
            </a:ln>
          </p:spPr>
          <p:txBody>
            <a:bodyPr wrap="none" anchor="ctr"/>
            <a:lstStyle/>
            <a:p>
              <a:pPr>
                <a:defRPr/>
              </a:pPr>
              <a:endParaRPr lang="en-GB" b="1" noProof="0" dirty="0">
                <a:solidFill>
                  <a:schemeClr val="accent5">
                    <a:lumMod val="50000"/>
                  </a:schemeClr>
                </a:solidFill>
                <a:latin typeface="Arial" charset="0"/>
              </a:endParaRPr>
            </a:p>
          </p:txBody>
        </p:sp>
        <p:sp>
          <p:nvSpPr>
            <p:cNvPr id="22" name="Rectangle 25">
              <a:extLst>
                <a:ext uri="{FF2B5EF4-FFF2-40B4-BE49-F238E27FC236}">
                  <a16:creationId xmlns:a16="http://schemas.microsoft.com/office/drawing/2014/main" id="{2B2AF43D-E4C8-8463-0B36-3343147EF707}"/>
                </a:ext>
              </a:extLst>
            </p:cNvPr>
            <p:cNvSpPr>
              <a:spLocks noChangeArrowheads="1"/>
            </p:cNvSpPr>
            <p:nvPr/>
          </p:nvSpPr>
          <p:spPr bwMode="auto">
            <a:xfrm>
              <a:off x="1152751" y="3970387"/>
              <a:ext cx="442943" cy="369893"/>
            </a:xfrm>
            <a:prstGeom prst="rect">
              <a:avLst/>
            </a:prstGeom>
            <a:noFill/>
            <a:ln w="9525">
              <a:noFill/>
              <a:miter lim="800000"/>
              <a:headEnd/>
              <a:tailEnd/>
            </a:ln>
          </p:spPr>
          <p:txBody>
            <a:bodyPr wrap="square" lIns="92075" tIns="46038" rIns="92075" bIns="46038">
              <a:spAutoFit/>
            </a:bodyPr>
            <a:lstStyle/>
            <a:p>
              <a:pPr>
                <a:defRPr/>
              </a:pPr>
              <a:r>
                <a:rPr lang="en-GB" b="1" u="sng" noProof="0" dirty="0">
                  <a:solidFill>
                    <a:schemeClr val="accent5">
                      <a:lumMod val="50000"/>
                    </a:schemeClr>
                  </a:solidFill>
                  <a:latin typeface="Arial" charset="0"/>
                </a:rPr>
                <a:t>C</a:t>
              </a:r>
            </a:p>
          </p:txBody>
        </p:sp>
        <p:sp>
          <p:nvSpPr>
            <p:cNvPr id="23" name="Rectangle 28">
              <a:extLst>
                <a:ext uri="{FF2B5EF4-FFF2-40B4-BE49-F238E27FC236}">
                  <a16:creationId xmlns:a16="http://schemas.microsoft.com/office/drawing/2014/main" id="{B5F99A8F-DA4D-AC2E-68E0-30021E7304F3}"/>
                </a:ext>
              </a:extLst>
            </p:cNvPr>
            <p:cNvSpPr>
              <a:spLocks noChangeArrowheads="1"/>
            </p:cNvSpPr>
            <p:nvPr/>
          </p:nvSpPr>
          <p:spPr bwMode="auto">
            <a:xfrm>
              <a:off x="908084" y="2657502"/>
              <a:ext cx="442943" cy="369894"/>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latin typeface="Arial" charset="0"/>
                </a:rPr>
                <a:t>C*</a:t>
              </a:r>
            </a:p>
          </p:txBody>
        </p:sp>
        <p:sp>
          <p:nvSpPr>
            <p:cNvPr id="24" name="Rectangle 29">
              <a:extLst>
                <a:ext uri="{FF2B5EF4-FFF2-40B4-BE49-F238E27FC236}">
                  <a16:creationId xmlns:a16="http://schemas.microsoft.com/office/drawing/2014/main" id="{AA383BE8-A702-EB25-4151-9EF04A43EE94}"/>
                </a:ext>
              </a:extLst>
            </p:cNvPr>
            <p:cNvSpPr>
              <a:spLocks noChangeArrowheads="1"/>
            </p:cNvSpPr>
            <p:nvPr/>
          </p:nvSpPr>
          <p:spPr bwMode="auto">
            <a:xfrm>
              <a:off x="2984043" y="5241997"/>
              <a:ext cx="442942" cy="369893"/>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latin typeface="Arial" charset="0"/>
                </a:rPr>
                <a:t>R*</a:t>
              </a:r>
            </a:p>
          </p:txBody>
        </p:sp>
        <p:sp>
          <p:nvSpPr>
            <p:cNvPr id="25" name="Rectangle 33">
              <a:extLst>
                <a:ext uri="{FF2B5EF4-FFF2-40B4-BE49-F238E27FC236}">
                  <a16:creationId xmlns:a16="http://schemas.microsoft.com/office/drawing/2014/main" id="{25A4FDA7-7325-6492-8649-4E9B494552D3}"/>
                </a:ext>
              </a:extLst>
            </p:cNvPr>
            <p:cNvSpPr>
              <a:spLocks noChangeArrowheads="1"/>
            </p:cNvSpPr>
            <p:nvPr/>
          </p:nvSpPr>
          <p:spPr bwMode="auto">
            <a:xfrm>
              <a:off x="3449940" y="5581640"/>
              <a:ext cx="1920914" cy="369980"/>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latin typeface="Arial" charset="0"/>
                </a:rPr>
                <a:t> </a:t>
              </a:r>
              <a:r>
                <a:rPr lang="en-GB" b="1" noProof="0" dirty="0">
                  <a:solidFill>
                    <a:schemeClr val="accent5">
                      <a:lumMod val="50000"/>
                    </a:schemeClr>
                  </a:solidFill>
                </a:rPr>
                <a:t>hours of labour</a:t>
              </a:r>
              <a:r>
                <a:rPr lang="en-GB" b="1" noProof="0" dirty="0">
                  <a:solidFill>
                    <a:schemeClr val="accent5">
                      <a:lumMod val="50000"/>
                    </a:schemeClr>
                  </a:solidFill>
                  <a:latin typeface="Arial" charset="0"/>
                </a:rPr>
                <a:t> L</a:t>
              </a:r>
            </a:p>
          </p:txBody>
        </p:sp>
        <p:sp>
          <p:nvSpPr>
            <p:cNvPr id="26" name="Prostokąt 35">
              <a:extLst>
                <a:ext uri="{FF2B5EF4-FFF2-40B4-BE49-F238E27FC236}">
                  <a16:creationId xmlns:a16="http://schemas.microsoft.com/office/drawing/2014/main" id="{03D316BE-E587-5038-78DC-57FAC6F48BAC}"/>
                </a:ext>
              </a:extLst>
            </p:cNvPr>
            <p:cNvSpPr/>
            <p:nvPr/>
          </p:nvSpPr>
          <p:spPr>
            <a:xfrm>
              <a:off x="3135500" y="5013393"/>
              <a:ext cx="2427453" cy="9207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GB" b="1" noProof="0" dirty="0">
                <a:solidFill>
                  <a:schemeClr val="accent5">
                    <a:lumMod val="50000"/>
                  </a:schemeClr>
                </a:solidFill>
              </a:endParaRPr>
            </a:p>
          </p:txBody>
        </p:sp>
        <p:sp>
          <p:nvSpPr>
            <p:cNvPr id="27" name="Prostokąt 36">
              <a:extLst>
                <a:ext uri="{FF2B5EF4-FFF2-40B4-BE49-F238E27FC236}">
                  <a16:creationId xmlns:a16="http://schemas.microsoft.com/office/drawing/2014/main" id="{A1BECBE2-E10E-6066-76D7-FDFA39CC5C04}"/>
                </a:ext>
              </a:extLst>
            </p:cNvPr>
            <p:cNvSpPr/>
            <p:nvPr/>
          </p:nvSpPr>
          <p:spPr>
            <a:xfrm>
              <a:off x="1581230" y="5008631"/>
              <a:ext cx="1536805" cy="968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GB" b="1" noProof="0" dirty="0">
                <a:solidFill>
                  <a:schemeClr val="accent5">
                    <a:lumMod val="50000"/>
                  </a:schemeClr>
                </a:solidFill>
              </a:endParaRPr>
            </a:p>
          </p:txBody>
        </p:sp>
      </p:grpSp>
    </p:spTree>
    <p:extLst>
      <p:ext uri="{BB962C8B-B14F-4D97-AF65-F5344CB8AC3E}">
        <p14:creationId xmlns:p14="http://schemas.microsoft.com/office/powerpoint/2010/main" val="2899063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8291D-CED8-9516-AD11-F0AF53CC19AD}"/>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2982A3B4-4093-3562-B596-C7307F72BA68}"/>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Labour supply – classical Cobb–Douglas solution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237C53-D937-2805-98FA-9EE97B77B443}"/>
                  </a:ext>
                </a:extLst>
              </p:cNvPr>
              <p:cNvSpPr txBox="1"/>
              <p:nvPr/>
            </p:nvSpPr>
            <p:spPr>
              <a:xfrm>
                <a:off x="304800" y="1709250"/>
                <a:ext cx="4307840" cy="4093428"/>
              </a:xfrm>
              <a:prstGeom prst="rect">
                <a:avLst/>
              </a:prstGeom>
              <a:noFill/>
            </p:spPr>
            <p:txBody>
              <a:bodyPr wrap="square">
                <a:spAutoFit/>
              </a:bodyPr>
              <a:lstStyle/>
              <a:p>
                <a:pPr algn="just">
                  <a:buNone/>
                </a:pPr>
                <a:r>
                  <a:rPr lang="en-GB" sz="2000" noProof="0" dirty="0">
                    <a:solidFill>
                      <a:schemeClr val="accent5">
                        <a:lumMod val="50000"/>
                      </a:schemeClr>
                    </a:solidFill>
                  </a:rPr>
                  <a:t>For U(C,R) with </a:t>
                </a:r>
                <a14:m>
                  <m:oMath xmlns:m="http://schemas.openxmlformats.org/officeDocument/2006/math">
                    <m:r>
                      <a:rPr lang="en-GB" sz="2000" i="1" noProof="0" smtClean="0">
                        <a:solidFill>
                          <a:schemeClr val="accent5">
                            <a:lumMod val="50000"/>
                          </a:schemeClr>
                        </a:solidFill>
                        <a:latin typeface="Cambria Math" panose="02040503050406030204" pitchFamily="18" charset="0"/>
                      </a:rPr>
                      <m:t>𝑎</m:t>
                    </m:r>
                    <m:r>
                      <a:rPr lang="en-GB" sz="2000" i="0" noProof="0" smtClean="0">
                        <a:solidFill>
                          <a:schemeClr val="accent5">
                            <a:lumMod val="50000"/>
                          </a:schemeClr>
                        </a:solidFill>
                        <a:latin typeface="Cambria Math" panose="02040503050406030204" pitchFamily="18" charset="0"/>
                      </a:rPr>
                      <m:t>+</m:t>
                    </m:r>
                    <m:r>
                      <a:rPr lang="en-GB" sz="2000" i="1" noProof="0" smtClean="0">
                        <a:solidFill>
                          <a:schemeClr val="accent5">
                            <a:lumMod val="50000"/>
                          </a:schemeClr>
                        </a:solidFill>
                        <a:latin typeface="Cambria Math" panose="02040503050406030204" pitchFamily="18" charset="0"/>
                      </a:rPr>
                      <m:t>𝑏</m:t>
                    </m:r>
                    <m:r>
                      <a:rPr lang="en-GB" sz="2000" b="0" i="0" noProof="0" smtClean="0">
                        <a:solidFill>
                          <a:schemeClr val="accent5">
                            <a:lumMod val="50000"/>
                          </a:schemeClr>
                        </a:solidFill>
                        <a:latin typeface="Cambria Math" panose="02040503050406030204" pitchFamily="18" charset="0"/>
                      </a:rPr>
                      <m:t>&lt;1</m:t>
                    </m:r>
                  </m:oMath>
                </a14:m>
                <a:r>
                  <a:rPr lang="en-GB" sz="2000" noProof="0" dirty="0">
                    <a:solidFill>
                      <a:schemeClr val="accent5">
                        <a:lumMod val="50000"/>
                      </a:schemeClr>
                    </a:solidFill>
                  </a:rPr>
                  <a:t> and </a:t>
                </a:r>
                <a14:m>
                  <m:oMath xmlns:m="http://schemas.openxmlformats.org/officeDocument/2006/math">
                    <m:sSub>
                      <m:sSubPr>
                        <m:ctrlPr>
                          <a:rPr lang="en-GB" sz="2000" i="1" noProof="0" smtClean="0">
                            <a:solidFill>
                              <a:schemeClr val="accent5">
                                <a:lumMod val="50000"/>
                              </a:schemeClr>
                            </a:solidFill>
                            <a:latin typeface="Cambria Math" panose="02040503050406030204" pitchFamily="18" charset="0"/>
                          </a:rPr>
                        </m:ctrlPr>
                      </m:sSubPr>
                      <m:e>
                        <m:r>
                          <a:rPr lang="en-GB" sz="2000" i="1" noProof="0" smtClean="0">
                            <a:solidFill>
                              <a:schemeClr val="accent5">
                                <a:lumMod val="50000"/>
                              </a:schemeClr>
                            </a:solidFill>
                            <a:latin typeface="Cambria Math" panose="02040503050406030204" pitchFamily="18" charset="0"/>
                          </a:rPr>
                          <m:t>𝑝</m:t>
                        </m:r>
                      </m:e>
                      <m:sub>
                        <m:r>
                          <a:rPr lang="en-GB" sz="2000" i="1" noProof="0" smtClean="0">
                            <a:solidFill>
                              <a:schemeClr val="accent5">
                                <a:lumMod val="50000"/>
                              </a:schemeClr>
                            </a:solidFill>
                            <a:latin typeface="Cambria Math" panose="02040503050406030204" pitchFamily="18" charset="0"/>
                          </a:rPr>
                          <m:t>𝐶</m:t>
                        </m:r>
                      </m:sub>
                    </m:sSub>
                    <m:r>
                      <a:rPr lang="en-GB" sz="2000" i="0" noProof="0" smtClean="0">
                        <a:solidFill>
                          <a:schemeClr val="accent5">
                            <a:lumMod val="50000"/>
                          </a:schemeClr>
                        </a:solidFill>
                        <a:latin typeface="Cambria Math" panose="02040503050406030204" pitchFamily="18" charset="0"/>
                      </a:rPr>
                      <m:t>=1</m:t>
                    </m:r>
                  </m:oMath>
                </a14:m>
                <a:r>
                  <a:rPr lang="en-GB" sz="2000" noProof="0" dirty="0">
                    <a:solidFill>
                      <a:schemeClr val="accent5">
                        <a:lumMod val="50000"/>
                      </a:schemeClr>
                    </a:solidFill>
                  </a:rPr>
                  <a:t>,  the optimal choices are: </a:t>
                </a:r>
              </a:p>
              <a:p>
                <a:pPr algn="just">
                  <a:buNone/>
                </a:pPr>
                <a:endParaRPr lang="en-GB" sz="2000" noProof="0" dirty="0">
                  <a:solidFill>
                    <a:schemeClr val="accent5">
                      <a:lumMod val="50000"/>
                    </a:schemeClr>
                  </a:solidFill>
                </a:endParaRPr>
              </a:p>
              <a:p>
                <a:pPr algn="just">
                  <a:buNone/>
                </a:pPr>
                <a:endParaRPr lang="en-GB" sz="2000" noProof="0" dirty="0">
                  <a:solidFill>
                    <a:schemeClr val="accent5">
                      <a:lumMod val="50000"/>
                    </a:schemeClr>
                  </a:solidFill>
                </a:endParaRPr>
              </a:p>
              <a:p>
                <a:pPr algn="just">
                  <a:buNone/>
                </a:pPr>
                <a:endParaRPr lang="en-GB" sz="2000" noProof="0" dirty="0">
                  <a:solidFill>
                    <a:schemeClr val="accent5">
                      <a:lumMod val="50000"/>
                    </a:schemeClr>
                  </a:solidFill>
                </a:endParaRPr>
              </a:p>
              <a:p>
                <a:pPr algn="just">
                  <a:buNone/>
                </a:pPr>
                <a:endParaRPr lang="en-GB" sz="2000" noProof="0" dirty="0">
                  <a:solidFill>
                    <a:schemeClr val="accent5">
                      <a:lumMod val="50000"/>
                    </a:schemeClr>
                  </a:solidFill>
                </a:endParaRPr>
              </a:p>
              <a:p>
                <a:pPr algn="just">
                  <a:buNone/>
                </a:pPr>
                <a:endParaRPr lang="en-GB" sz="2000" noProof="0" dirty="0">
                  <a:solidFill>
                    <a:schemeClr val="accent5">
                      <a:lumMod val="50000"/>
                    </a:schemeClr>
                  </a:solidFill>
                </a:endParaRPr>
              </a:p>
              <a:p>
                <a:pPr algn="just">
                  <a:buNone/>
                </a:pPr>
                <a:r>
                  <a:rPr lang="en-GB" sz="2000" noProof="0" dirty="0">
                    <a:solidFill>
                      <a:schemeClr val="accent5">
                        <a:lumMod val="50000"/>
                      </a:schemeClr>
                    </a:solidFill>
                  </a:rPr>
                  <a:t>In this standard case is increasing in the wage 𝑤: the individual labour-supply curve slopes upwards.</a:t>
                </a:r>
              </a:p>
              <a:p>
                <a:pPr algn="just">
                  <a:buNone/>
                </a:pPr>
                <a:endParaRPr lang="en-GB" sz="2000" noProof="0" dirty="0">
                  <a:solidFill>
                    <a:schemeClr val="accent5">
                      <a:lumMod val="50000"/>
                    </a:schemeClr>
                  </a:solidFill>
                </a:endParaRPr>
              </a:p>
              <a:p>
                <a:pPr algn="just">
                  <a:buNone/>
                </a:pPr>
                <a:r>
                  <a:rPr lang="en-GB" sz="2000" noProof="0" dirty="0">
                    <a:solidFill>
                      <a:schemeClr val="accent5">
                        <a:lumMod val="50000"/>
                      </a:schemeClr>
                    </a:solidFill>
                  </a:rPr>
                  <a:t>(Exactly to what Maxima plots as the “classical” labour-supply function.)</a:t>
                </a:r>
              </a:p>
            </p:txBody>
          </p:sp>
        </mc:Choice>
        <mc:Fallback xmlns="">
          <p:sp>
            <p:nvSpPr>
              <p:cNvPr id="6" name="TextBox 5">
                <a:extLst>
                  <a:ext uri="{FF2B5EF4-FFF2-40B4-BE49-F238E27FC236}">
                    <a16:creationId xmlns:a16="http://schemas.microsoft.com/office/drawing/2014/main" id="{45237C53-D937-2805-98FA-9EE97B77B443}"/>
                  </a:ext>
                </a:extLst>
              </p:cNvPr>
              <p:cNvSpPr txBox="1">
                <a:spLocks noRot="1" noChangeAspect="1" noMove="1" noResize="1" noEditPoints="1" noAdjustHandles="1" noChangeArrowheads="1" noChangeShapeType="1" noTextEdit="1"/>
              </p:cNvSpPr>
              <p:nvPr/>
            </p:nvSpPr>
            <p:spPr>
              <a:xfrm>
                <a:off x="304800" y="1709250"/>
                <a:ext cx="4307840" cy="4093428"/>
              </a:xfrm>
              <a:prstGeom prst="rect">
                <a:avLst/>
              </a:prstGeom>
              <a:blipFill>
                <a:blip r:embed="rId3"/>
                <a:stretch>
                  <a:fillRect l="-1414" t="-744" r="-1414" b="-1637"/>
                </a:stretch>
              </a:blipFill>
            </p:spPr>
            <p:txBody>
              <a:bodyPr/>
              <a:lstStyle/>
              <a:p>
                <a:r>
                  <a:rPr lang="pl-PL">
                    <a:noFill/>
                  </a:rPr>
                  <a:t> </a:t>
                </a:r>
              </a:p>
            </p:txBody>
          </p:sp>
        </mc:Fallback>
      </mc:AlternateContent>
      <p:sp>
        <p:nvSpPr>
          <p:cNvPr id="3" name="Prostokąt 12">
            <a:extLst>
              <a:ext uri="{FF2B5EF4-FFF2-40B4-BE49-F238E27FC236}">
                <a16:creationId xmlns:a16="http://schemas.microsoft.com/office/drawing/2014/main" id="{45A3C0E5-3797-75F4-C077-716074A3CC82}"/>
              </a:ext>
            </a:extLst>
          </p:cNvPr>
          <p:cNvSpPr/>
          <p:nvPr/>
        </p:nvSpPr>
        <p:spPr>
          <a:xfrm>
            <a:off x="4876800" y="1173140"/>
            <a:ext cx="3913506" cy="52629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GB" sz="1200" b="1" noProof="0" dirty="0">
                <a:solidFill>
                  <a:schemeClr val="accent5">
                    <a:lumMod val="50000"/>
                  </a:schemeClr>
                </a:solidFill>
                <a:latin typeface="Arial" pitchFamily="34" charset="0"/>
                <a:cs typeface="Arial" pitchFamily="34" charset="0"/>
              </a:rPr>
              <a:t>kill(all)$</a:t>
            </a:r>
          </a:p>
          <a:p>
            <a:pPr>
              <a:defRPr/>
            </a:pPr>
            <a:r>
              <a:rPr lang="en-GB" sz="1200" b="1" noProof="0" dirty="0">
                <a:solidFill>
                  <a:schemeClr val="accent5">
                    <a:lumMod val="50000"/>
                  </a:schemeClr>
                </a:solidFill>
                <a:latin typeface="Arial" pitchFamily="34" charset="0"/>
                <a:cs typeface="Arial" pitchFamily="34" charset="0"/>
              </a:rPr>
              <a:t>load(draw);</a:t>
            </a:r>
          </a:p>
          <a:p>
            <a:pPr>
              <a:defRPr/>
            </a:pPr>
            <a:r>
              <a:rPr lang="en-GB" sz="1200" b="1" noProof="0" dirty="0">
                <a:solidFill>
                  <a:schemeClr val="accent5">
                    <a:lumMod val="50000"/>
                  </a:schemeClr>
                </a:solidFill>
                <a:latin typeface="Arial" pitchFamily="34" charset="0"/>
                <a:cs typeface="Arial" pitchFamily="34" charset="0"/>
              </a:rPr>
              <a:t>assume(R&gt;0, C&gt;0,p&gt;0,w&gt;0,u&gt;0,a&gt;0,a&lt;1,lambda&gt;0, C_A&gt;0)$</a:t>
            </a:r>
          </a:p>
          <a:p>
            <a:pPr>
              <a:defRPr/>
            </a:pPr>
            <a:endParaRPr lang="en-GB" sz="1200" b="1" noProof="0" dirty="0">
              <a:solidFill>
                <a:schemeClr val="accent5">
                  <a:lumMod val="50000"/>
                </a:schemeClr>
              </a:solidFill>
              <a:latin typeface="Arial" pitchFamily="34" charset="0"/>
              <a:cs typeface="Arial" pitchFamily="34" charset="0"/>
            </a:endParaRPr>
          </a:p>
          <a:p>
            <a:pPr>
              <a:defRPr/>
            </a:pPr>
            <a:r>
              <a:rPr lang="en-GB" sz="1200" b="1" noProof="0" dirty="0">
                <a:solidFill>
                  <a:schemeClr val="accent5">
                    <a:lumMod val="50000"/>
                  </a:schemeClr>
                </a:solidFill>
                <a:latin typeface="Arial" pitchFamily="34" charset="0"/>
                <a:cs typeface="Arial" pitchFamily="34" charset="0"/>
              </a:rPr>
              <a:t>U:C^a*R^b;</a:t>
            </a:r>
          </a:p>
          <a:p>
            <a:pPr>
              <a:defRPr/>
            </a:pPr>
            <a:r>
              <a:rPr lang="en-GB" sz="1200" b="1" noProof="0" dirty="0">
                <a:solidFill>
                  <a:schemeClr val="accent5">
                    <a:lumMod val="50000"/>
                  </a:schemeClr>
                </a:solidFill>
                <a:latin typeface="Arial" pitchFamily="34" charset="0"/>
                <a:cs typeface="Arial" pitchFamily="34" charset="0"/>
              </a:rPr>
              <a:t>LAGRANGIAN:(U)+lambda*((w*(1-R)+C_A)-C);</a:t>
            </a:r>
          </a:p>
          <a:p>
            <a:pPr>
              <a:defRPr/>
            </a:pPr>
            <a:r>
              <a:rPr lang="en-GB" sz="1200" b="1" noProof="0" dirty="0">
                <a:solidFill>
                  <a:schemeClr val="accent5">
                    <a:lumMod val="50000"/>
                  </a:schemeClr>
                </a:solidFill>
                <a:latin typeface="Arial" pitchFamily="34" charset="0"/>
                <a:cs typeface="Arial" pitchFamily="34" charset="0"/>
              </a:rPr>
              <a:t>eq1:diff(LAGRANGIAN,C,1)=0;</a:t>
            </a:r>
          </a:p>
          <a:p>
            <a:pPr>
              <a:defRPr/>
            </a:pPr>
            <a:r>
              <a:rPr lang="en-GB" sz="1200" b="1" noProof="0" dirty="0">
                <a:solidFill>
                  <a:schemeClr val="accent5">
                    <a:lumMod val="50000"/>
                  </a:schemeClr>
                </a:solidFill>
                <a:latin typeface="Arial" pitchFamily="34" charset="0"/>
                <a:cs typeface="Arial" pitchFamily="34" charset="0"/>
              </a:rPr>
              <a:t>eq2:diff(LAGRANGIAN,R,1)=0;</a:t>
            </a:r>
          </a:p>
          <a:p>
            <a:pPr>
              <a:defRPr/>
            </a:pPr>
            <a:r>
              <a:rPr lang="en-GB" sz="1200" b="1" noProof="0" dirty="0">
                <a:solidFill>
                  <a:schemeClr val="accent5">
                    <a:lumMod val="50000"/>
                  </a:schemeClr>
                </a:solidFill>
                <a:latin typeface="Arial" pitchFamily="34" charset="0"/>
                <a:cs typeface="Arial" pitchFamily="34" charset="0"/>
              </a:rPr>
              <a:t>eq3:diff(LAGRANGIAN,lambda,1)=0;</a:t>
            </a:r>
          </a:p>
          <a:p>
            <a:pPr>
              <a:defRPr/>
            </a:pPr>
            <a:r>
              <a:rPr lang="en-GB" sz="1200" b="1" noProof="0" dirty="0">
                <a:solidFill>
                  <a:schemeClr val="accent5">
                    <a:lumMod val="50000"/>
                  </a:schemeClr>
                </a:solidFill>
                <a:latin typeface="Arial" pitchFamily="34" charset="0"/>
                <a:cs typeface="Arial" pitchFamily="34" charset="0"/>
              </a:rPr>
              <a:t>solve([eq1,eq2,eq3],[</a:t>
            </a:r>
            <a:r>
              <a:rPr lang="en-GB" sz="1200" b="1" noProof="0" dirty="0" err="1">
                <a:solidFill>
                  <a:schemeClr val="accent5">
                    <a:lumMod val="50000"/>
                  </a:schemeClr>
                </a:solidFill>
                <a:latin typeface="Arial" pitchFamily="34" charset="0"/>
                <a:cs typeface="Arial" pitchFamily="34" charset="0"/>
              </a:rPr>
              <a:t>C,R,lambda</a:t>
            </a:r>
            <a:r>
              <a:rPr lang="en-GB" sz="1200" b="1" noProof="0" dirty="0">
                <a:solidFill>
                  <a:schemeClr val="accent5">
                    <a:lumMod val="50000"/>
                  </a:schemeClr>
                </a:solidFill>
                <a:latin typeface="Arial" pitchFamily="34" charset="0"/>
                <a:cs typeface="Arial" pitchFamily="34" charset="0"/>
              </a:rPr>
              <a:t>]);</a:t>
            </a:r>
          </a:p>
          <a:p>
            <a:pPr>
              <a:defRPr/>
            </a:pPr>
            <a:r>
              <a:rPr lang="en-GB" sz="1200" b="1" noProof="0" dirty="0">
                <a:solidFill>
                  <a:schemeClr val="accent5">
                    <a:lumMod val="50000"/>
                  </a:schemeClr>
                </a:solidFill>
                <a:latin typeface="Arial" pitchFamily="34" charset="0"/>
                <a:cs typeface="Arial" pitchFamily="34" charset="0"/>
              </a:rPr>
              <a:t>FOC:%[1]; /* wyci¹gniecie z </a:t>
            </a:r>
            <a:r>
              <a:rPr lang="en-GB" sz="1200" b="1" noProof="0" dirty="0" err="1">
                <a:solidFill>
                  <a:schemeClr val="accent5">
                    <a:lumMod val="50000"/>
                  </a:schemeClr>
                </a:solidFill>
                <a:latin typeface="Arial" pitchFamily="34" charset="0"/>
                <a:cs typeface="Arial" pitchFamily="34" charset="0"/>
              </a:rPr>
              <a:t>pierwszego</a:t>
            </a:r>
            <a:r>
              <a:rPr lang="en-GB" sz="1200" b="1" noProof="0" dirty="0">
                <a:solidFill>
                  <a:schemeClr val="accent5">
                    <a:lumMod val="50000"/>
                  </a:schemeClr>
                </a:solidFill>
                <a:latin typeface="Arial" pitchFamily="34" charset="0"/>
                <a:cs typeface="Arial" pitchFamily="34" charset="0"/>
              </a:rPr>
              <a:t> </a:t>
            </a:r>
            <a:r>
              <a:rPr lang="en-GB" sz="1200" b="1" noProof="0" dirty="0" err="1">
                <a:solidFill>
                  <a:schemeClr val="accent5">
                    <a:lumMod val="50000"/>
                  </a:schemeClr>
                </a:solidFill>
                <a:latin typeface="Arial" pitchFamily="34" charset="0"/>
                <a:cs typeface="Arial" pitchFamily="34" charset="0"/>
              </a:rPr>
              <a:t>nawiasu</a:t>
            </a:r>
            <a:r>
              <a:rPr lang="en-GB" sz="1200" b="1" noProof="0" dirty="0">
                <a:solidFill>
                  <a:schemeClr val="accent5">
                    <a:lumMod val="50000"/>
                  </a:schemeClr>
                </a:solidFill>
                <a:latin typeface="Arial" pitchFamily="34" charset="0"/>
                <a:cs typeface="Arial" pitchFamily="34" charset="0"/>
              </a:rPr>
              <a:t>*/</a:t>
            </a:r>
          </a:p>
          <a:p>
            <a:pPr>
              <a:defRPr/>
            </a:pPr>
            <a:endParaRPr lang="en-GB" sz="1200" b="1" noProof="0" dirty="0">
              <a:solidFill>
                <a:schemeClr val="accent5">
                  <a:lumMod val="50000"/>
                </a:schemeClr>
              </a:solidFill>
              <a:latin typeface="Arial" pitchFamily="34" charset="0"/>
              <a:cs typeface="Arial" pitchFamily="34" charset="0"/>
            </a:endParaRPr>
          </a:p>
          <a:p>
            <a:pPr>
              <a:defRPr/>
            </a:pPr>
            <a:r>
              <a:rPr lang="en-GB" sz="1200" b="1" noProof="0" dirty="0">
                <a:solidFill>
                  <a:schemeClr val="accent5">
                    <a:lumMod val="50000"/>
                  </a:schemeClr>
                </a:solidFill>
                <a:latin typeface="Arial" pitchFamily="34" charset="0"/>
                <a:cs typeface="Arial" pitchFamily="34" charset="0"/>
              </a:rPr>
              <a:t>C:rhs(FOC[1]);</a:t>
            </a:r>
          </a:p>
          <a:p>
            <a:pPr>
              <a:defRPr/>
            </a:pPr>
            <a:r>
              <a:rPr lang="en-GB" sz="1200" b="1" noProof="0" dirty="0">
                <a:solidFill>
                  <a:schemeClr val="accent5">
                    <a:lumMod val="50000"/>
                  </a:schemeClr>
                </a:solidFill>
                <a:latin typeface="Arial" pitchFamily="34" charset="0"/>
                <a:cs typeface="Arial" pitchFamily="34" charset="0"/>
              </a:rPr>
              <a:t>R:rhs(FOC[2]);</a:t>
            </a:r>
          </a:p>
          <a:p>
            <a:pPr>
              <a:defRPr/>
            </a:pPr>
            <a:r>
              <a:rPr lang="en-GB" sz="1200" b="1" noProof="0" dirty="0" err="1">
                <a:solidFill>
                  <a:schemeClr val="accent5">
                    <a:lumMod val="50000"/>
                  </a:schemeClr>
                </a:solidFill>
                <a:latin typeface="Arial" pitchFamily="34" charset="0"/>
                <a:cs typeface="Arial" pitchFamily="34" charset="0"/>
              </a:rPr>
              <a:t>lambda:rhs</a:t>
            </a:r>
            <a:r>
              <a:rPr lang="en-GB" sz="1200" b="1" noProof="0" dirty="0">
                <a:solidFill>
                  <a:schemeClr val="accent5">
                    <a:lumMod val="50000"/>
                  </a:schemeClr>
                </a:solidFill>
                <a:latin typeface="Arial" pitchFamily="34" charset="0"/>
                <a:cs typeface="Arial" pitchFamily="34" charset="0"/>
              </a:rPr>
              <a:t>(FOC[3]);</a:t>
            </a:r>
          </a:p>
          <a:p>
            <a:pPr>
              <a:defRPr/>
            </a:pPr>
            <a:endParaRPr lang="en-GB" sz="1200" b="1" noProof="0" dirty="0">
              <a:solidFill>
                <a:schemeClr val="accent5">
                  <a:lumMod val="50000"/>
                </a:schemeClr>
              </a:solidFill>
              <a:latin typeface="Arial" pitchFamily="34" charset="0"/>
              <a:cs typeface="Arial" pitchFamily="34" charset="0"/>
            </a:endParaRPr>
          </a:p>
          <a:p>
            <a:pPr>
              <a:defRPr/>
            </a:pPr>
            <a:r>
              <a:rPr lang="en-GB" sz="1200" b="1" noProof="0" dirty="0">
                <a:solidFill>
                  <a:schemeClr val="accent5">
                    <a:lumMod val="50000"/>
                  </a:schemeClr>
                </a:solidFill>
                <a:latin typeface="Arial" pitchFamily="34" charset="0"/>
                <a:cs typeface="Arial" pitchFamily="34" charset="0"/>
              </a:rPr>
              <a:t>C_A:10;</a:t>
            </a:r>
          </a:p>
          <a:p>
            <a:pPr>
              <a:defRPr/>
            </a:pPr>
            <a:r>
              <a:rPr lang="en-GB" sz="1200" b="1" noProof="0" dirty="0">
                <a:solidFill>
                  <a:schemeClr val="accent5">
                    <a:lumMod val="50000"/>
                  </a:schemeClr>
                </a:solidFill>
                <a:latin typeface="Arial" pitchFamily="34" charset="0"/>
                <a:cs typeface="Arial" pitchFamily="34" charset="0"/>
              </a:rPr>
              <a:t>a:0.7;</a:t>
            </a:r>
          </a:p>
          <a:p>
            <a:pPr>
              <a:defRPr/>
            </a:pPr>
            <a:r>
              <a:rPr lang="en-GB" sz="1200" b="1" noProof="0" dirty="0">
                <a:solidFill>
                  <a:schemeClr val="accent5">
                    <a:lumMod val="50000"/>
                  </a:schemeClr>
                </a:solidFill>
                <a:latin typeface="Arial" pitchFamily="34" charset="0"/>
                <a:cs typeface="Arial" pitchFamily="34" charset="0"/>
              </a:rPr>
              <a:t>b:0.3;</a:t>
            </a:r>
          </a:p>
          <a:p>
            <a:pPr>
              <a:defRPr/>
            </a:pPr>
            <a:r>
              <a:rPr lang="en-GB" sz="1200" b="1" noProof="0" dirty="0">
                <a:solidFill>
                  <a:schemeClr val="accent5">
                    <a:lumMod val="50000"/>
                  </a:schemeClr>
                </a:solidFill>
                <a:latin typeface="Arial" pitchFamily="34" charset="0"/>
                <a:cs typeface="Arial" pitchFamily="34" charset="0"/>
              </a:rPr>
              <a:t>eq4:L=1-R;</a:t>
            </a:r>
          </a:p>
          <a:p>
            <a:pPr>
              <a:defRPr/>
            </a:pPr>
            <a:r>
              <a:rPr lang="en-GB" sz="1200" b="1" noProof="0" dirty="0">
                <a:solidFill>
                  <a:schemeClr val="accent5">
                    <a:lumMod val="50000"/>
                  </a:schemeClr>
                </a:solidFill>
                <a:latin typeface="Arial" pitchFamily="34" charset="0"/>
                <a:cs typeface="Arial" pitchFamily="34" charset="0"/>
              </a:rPr>
              <a:t>solve([eq4],[w]);</a:t>
            </a:r>
          </a:p>
          <a:p>
            <a:pPr>
              <a:defRPr/>
            </a:pPr>
            <a:r>
              <a:rPr lang="en-GB" sz="1200" b="1" noProof="0" dirty="0">
                <a:solidFill>
                  <a:schemeClr val="accent5">
                    <a:lumMod val="50000"/>
                  </a:schemeClr>
                </a:solidFill>
                <a:latin typeface="Arial" pitchFamily="34" charset="0"/>
                <a:cs typeface="Arial" pitchFamily="34" charset="0"/>
              </a:rPr>
              <a:t>w:rhs(%[1]);</a:t>
            </a:r>
          </a:p>
          <a:p>
            <a:pPr>
              <a:defRPr/>
            </a:pPr>
            <a:r>
              <a:rPr lang="en-GB" sz="1200" b="1" noProof="0" dirty="0">
                <a:solidFill>
                  <a:schemeClr val="accent5">
                    <a:lumMod val="50000"/>
                  </a:schemeClr>
                </a:solidFill>
                <a:latin typeface="Arial" pitchFamily="34" charset="0"/>
                <a:cs typeface="Arial" pitchFamily="34" charset="0"/>
              </a:rPr>
              <a:t>w:''w;</a:t>
            </a:r>
          </a:p>
          <a:p>
            <a:pPr>
              <a:defRPr/>
            </a:pPr>
            <a:r>
              <a:rPr lang="en-GB" sz="1200" b="1" noProof="0" dirty="0">
                <a:solidFill>
                  <a:schemeClr val="accent5">
                    <a:lumMod val="50000"/>
                  </a:schemeClr>
                </a:solidFill>
                <a:latin typeface="Arial" pitchFamily="34" charset="0"/>
                <a:cs typeface="Arial" pitchFamily="34" charset="0"/>
              </a:rPr>
              <a:t>kill(L);</a:t>
            </a:r>
          </a:p>
          <a:p>
            <a:pPr>
              <a:defRPr/>
            </a:pPr>
            <a:r>
              <a:rPr lang="en-GB" sz="1200" b="1" noProof="0" dirty="0">
                <a:solidFill>
                  <a:schemeClr val="accent5">
                    <a:lumMod val="50000"/>
                  </a:schemeClr>
                </a:solidFill>
                <a:latin typeface="Arial" pitchFamily="34" charset="0"/>
                <a:cs typeface="Arial" pitchFamily="34" charset="0"/>
              </a:rPr>
              <a:t>draw2d(</a:t>
            </a:r>
            <a:r>
              <a:rPr lang="en-GB" sz="1200" b="1" noProof="0" dirty="0" err="1">
                <a:solidFill>
                  <a:schemeClr val="accent5">
                    <a:lumMod val="50000"/>
                  </a:schemeClr>
                </a:solidFill>
                <a:latin typeface="Arial" pitchFamily="34" charset="0"/>
                <a:cs typeface="Arial" pitchFamily="34" charset="0"/>
              </a:rPr>
              <a:t>yrange</a:t>
            </a:r>
            <a:r>
              <a:rPr lang="en-GB" sz="1200" b="1" noProof="0" dirty="0">
                <a:solidFill>
                  <a:schemeClr val="accent5">
                    <a:lumMod val="50000"/>
                  </a:schemeClr>
                </a:solidFill>
                <a:latin typeface="Arial" pitchFamily="34" charset="0"/>
                <a:cs typeface="Arial" pitchFamily="34" charset="0"/>
              </a:rPr>
              <a:t> = [0,50],</a:t>
            </a:r>
            <a:r>
              <a:rPr lang="en-GB" sz="1200" b="1" noProof="0" dirty="0" err="1">
                <a:solidFill>
                  <a:schemeClr val="accent5">
                    <a:lumMod val="50000"/>
                  </a:schemeClr>
                </a:solidFill>
                <a:latin typeface="Arial" pitchFamily="34" charset="0"/>
                <a:cs typeface="Arial" pitchFamily="34" charset="0"/>
              </a:rPr>
              <a:t>xrange</a:t>
            </a:r>
            <a:r>
              <a:rPr lang="en-GB" sz="1200" b="1" noProof="0" dirty="0">
                <a:solidFill>
                  <a:schemeClr val="accent5">
                    <a:lumMod val="50000"/>
                  </a:schemeClr>
                </a:solidFill>
                <a:latin typeface="Arial" pitchFamily="34" charset="0"/>
                <a:cs typeface="Arial" pitchFamily="34" charset="0"/>
              </a:rPr>
              <a:t> = [0,1],grid = true, </a:t>
            </a:r>
            <a:r>
              <a:rPr lang="en-GB" sz="1200" b="1" noProof="0" dirty="0" err="1">
                <a:solidFill>
                  <a:schemeClr val="accent5">
                    <a:lumMod val="50000"/>
                  </a:schemeClr>
                </a:solidFill>
                <a:latin typeface="Arial" pitchFamily="34" charset="0"/>
                <a:cs typeface="Arial" pitchFamily="34" charset="0"/>
              </a:rPr>
              <a:t>xlabel</a:t>
            </a:r>
            <a:r>
              <a:rPr lang="en-GB" sz="1200" b="1" noProof="0" dirty="0">
                <a:solidFill>
                  <a:schemeClr val="accent5">
                    <a:lumMod val="50000"/>
                  </a:schemeClr>
                </a:solidFill>
                <a:latin typeface="Arial" pitchFamily="34" charset="0"/>
                <a:cs typeface="Arial" pitchFamily="34" charset="0"/>
              </a:rPr>
              <a:t> = "L", </a:t>
            </a:r>
            <a:r>
              <a:rPr lang="en-GB" sz="1200" b="1" noProof="0" dirty="0" err="1">
                <a:solidFill>
                  <a:schemeClr val="accent5">
                    <a:lumMod val="50000"/>
                  </a:schemeClr>
                </a:solidFill>
                <a:latin typeface="Arial" pitchFamily="34" charset="0"/>
                <a:cs typeface="Arial" pitchFamily="34" charset="0"/>
              </a:rPr>
              <a:t>ylabel</a:t>
            </a:r>
            <a:r>
              <a:rPr lang="en-GB" sz="1200" b="1" noProof="0" dirty="0">
                <a:solidFill>
                  <a:schemeClr val="accent5">
                    <a:lumMod val="50000"/>
                  </a:schemeClr>
                </a:solidFill>
                <a:latin typeface="Arial" pitchFamily="34" charset="0"/>
                <a:cs typeface="Arial" pitchFamily="34" charset="0"/>
              </a:rPr>
              <a:t> = "w", </a:t>
            </a:r>
            <a:r>
              <a:rPr lang="en-GB" sz="1200" b="1" noProof="0" dirty="0" err="1">
                <a:solidFill>
                  <a:schemeClr val="accent5">
                    <a:lumMod val="50000"/>
                  </a:schemeClr>
                </a:solidFill>
                <a:latin typeface="Arial" pitchFamily="34" charset="0"/>
                <a:cs typeface="Arial" pitchFamily="34" charset="0"/>
              </a:rPr>
              <a:t>line_width</a:t>
            </a:r>
            <a:r>
              <a:rPr lang="en-GB" sz="1200" b="1" noProof="0" dirty="0">
                <a:solidFill>
                  <a:schemeClr val="accent5">
                    <a:lumMod val="50000"/>
                  </a:schemeClr>
                </a:solidFill>
                <a:latin typeface="Arial" pitchFamily="34" charset="0"/>
                <a:cs typeface="Arial" pitchFamily="34" charset="0"/>
              </a:rPr>
              <a:t>  = 2,</a:t>
            </a:r>
          </a:p>
          <a:p>
            <a:pPr>
              <a:defRPr/>
            </a:pPr>
            <a:r>
              <a:rPr lang="en-GB" sz="1200" b="1" noProof="0" dirty="0" err="1">
                <a:solidFill>
                  <a:schemeClr val="accent5">
                    <a:lumMod val="50000"/>
                  </a:schemeClr>
                </a:solidFill>
                <a:latin typeface="Arial" pitchFamily="34" charset="0"/>
                <a:cs typeface="Arial" pitchFamily="34" charset="0"/>
              </a:rPr>
              <a:t>color</a:t>
            </a:r>
            <a:r>
              <a:rPr lang="en-GB" sz="1200" b="1" noProof="0" dirty="0">
                <a:solidFill>
                  <a:schemeClr val="accent5">
                    <a:lumMod val="50000"/>
                  </a:schemeClr>
                </a:solidFill>
                <a:latin typeface="Arial" pitchFamily="34" charset="0"/>
                <a:cs typeface="Arial" pitchFamily="34" charset="0"/>
              </a:rPr>
              <a:t> = brown, key = "</a:t>
            </a:r>
            <a:r>
              <a:rPr lang="en-GB" sz="1200" b="1" noProof="0" dirty="0" err="1">
                <a:solidFill>
                  <a:schemeClr val="accent5">
                    <a:lumMod val="50000"/>
                  </a:schemeClr>
                </a:solidFill>
                <a:latin typeface="Arial" pitchFamily="34" charset="0"/>
                <a:cs typeface="Arial" pitchFamily="34" charset="0"/>
              </a:rPr>
              <a:t>S",explicit</a:t>
            </a:r>
            <a:r>
              <a:rPr lang="en-GB" sz="1200" b="1" noProof="0" dirty="0">
                <a:solidFill>
                  <a:schemeClr val="accent5">
                    <a:lumMod val="50000"/>
                  </a:schemeClr>
                </a:solidFill>
                <a:latin typeface="Arial" pitchFamily="34" charset="0"/>
                <a:cs typeface="Arial" pitchFamily="34" charset="0"/>
              </a:rPr>
              <a:t>(w,L,0.001,130))$</a:t>
            </a:r>
          </a:p>
        </p:txBody>
      </p:sp>
      <p:pic>
        <p:nvPicPr>
          <p:cNvPr id="4" name="Picture 3">
            <a:extLst>
              <a:ext uri="{FF2B5EF4-FFF2-40B4-BE49-F238E27FC236}">
                <a16:creationId xmlns:a16="http://schemas.microsoft.com/office/drawing/2014/main" id="{11E0BBF3-3536-80FC-E7A1-7742414772CD}"/>
              </a:ext>
            </a:extLst>
          </p:cNvPr>
          <p:cNvPicPr>
            <a:picLocks noChangeAspect="1"/>
          </p:cNvPicPr>
          <p:nvPr/>
        </p:nvPicPr>
        <p:blipFill>
          <a:blip r:embed="rId4"/>
          <a:stretch>
            <a:fillRect/>
          </a:stretch>
        </p:blipFill>
        <p:spPr>
          <a:xfrm>
            <a:off x="7540626" y="2731503"/>
            <a:ext cx="4523598" cy="3577030"/>
          </a:xfrm>
          <a:prstGeom prst="rect">
            <a:avLst/>
          </a:prstGeom>
        </p:spPr>
      </p:pic>
      <p:pic>
        <p:nvPicPr>
          <p:cNvPr id="7" name="Picture 6">
            <a:extLst>
              <a:ext uri="{FF2B5EF4-FFF2-40B4-BE49-F238E27FC236}">
                <a16:creationId xmlns:a16="http://schemas.microsoft.com/office/drawing/2014/main" id="{2BAD0CE5-86CF-490B-6636-1D2A7A2A6384}"/>
              </a:ext>
            </a:extLst>
          </p:cNvPr>
          <p:cNvPicPr>
            <a:picLocks noChangeAspect="1"/>
          </p:cNvPicPr>
          <p:nvPr/>
        </p:nvPicPr>
        <p:blipFill>
          <a:blip r:embed="rId5"/>
          <a:stretch>
            <a:fillRect/>
          </a:stretch>
        </p:blipFill>
        <p:spPr>
          <a:xfrm>
            <a:off x="932815" y="2731503"/>
            <a:ext cx="2686050" cy="561975"/>
          </a:xfrm>
          <a:prstGeom prst="rect">
            <a:avLst/>
          </a:prstGeom>
        </p:spPr>
      </p:pic>
      <p:pic>
        <p:nvPicPr>
          <p:cNvPr id="13" name="Picture 12">
            <a:extLst>
              <a:ext uri="{FF2B5EF4-FFF2-40B4-BE49-F238E27FC236}">
                <a16:creationId xmlns:a16="http://schemas.microsoft.com/office/drawing/2014/main" id="{1AA92A68-8EA2-CD46-C2A3-761D03E7F96D}"/>
              </a:ext>
            </a:extLst>
          </p:cNvPr>
          <p:cNvPicPr>
            <a:picLocks noChangeAspect="1"/>
          </p:cNvPicPr>
          <p:nvPr/>
        </p:nvPicPr>
        <p:blipFill>
          <a:blip r:embed="rId6"/>
          <a:stretch>
            <a:fillRect/>
          </a:stretch>
        </p:blipFill>
        <p:spPr>
          <a:xfrm>
            <a:off x="668655" y="2731503"/>
            <a:ext cx="2724530" cy="581106"/>
          </a:xfrm>
          <a:prstGeom prst="rect">
            <a:avLst/>
          </a:prstGeom>
        </p:spPr>
      </p:pic>
    </p:spTree>
    <p:extLst>
      <p:ext uri="{BB962C8B-B14F-4D97-AF65-F5344CB8AC3E}">
        <p14:creationId xmlns:p14="http://schemas.microsoft.com/office/powerpoint/2010/main" val="3234308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3FD10-C5AE-B768-5D4F-F01C514D4EB2}"/>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D5AC2221-221C-8A40-F8F7-CCD2167DB1B0}"/>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Labour supply – when rationality is not enough</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79F521-AC40-E10F-A484-0497CFB99914}"/>
                  </a:ext>
                </a:extLst>
              </p:cNvPr>
              <p:cNvSpPr txBox="1"/>
              <p:nvPr/>
            </p:nvSpPr>
            <p:spPr>
              <a:xfrm>
                <a:off x="92411" y="1140290"/>
                <a:ext cx="4000497" cy="4893647"/>
              </a:xfrm>
              <a:prstGeom prst="rect">
                <a:avLst/>
              </a:prstGeom>
              <a:noFill/>
            </p:spPr>
            <p:txBody>
              <a:bodyPr wrap="square">
                <a:spAutoFit/>
              </a:bodyPr>
              <a:lstStyle/>
              <a:p>
                <a:pPr algn="just">
                  <a:buNone/>
                </a:pPr>
                <a:r>
                  <a:rPr lang="en-GB" sz="2400" noProof="0" dirty="0">
                    <a:solidFill>
                      <a:schemeClr val="accent5">
                        <a:lumMod val="50000"/>
                      </a:schemeClr>
                    </a:solidFill>
                  </a:rPr>
                  <a:t>Even with rational consumers (indifference curves do not cross), labour supply </a:t>
                </a:r>
                <a14:m>
                  <m:oMath xmlns:m="http://schemas.openxmlformats.org/officeDocument/2006/math">
                    <m:sSup>
                      <m:sSupPr>
                        <m:ctrlPr>
                          <a:rPr lang="en-GB" sz="2400" i="1" noProof="0" smtClean="0">
                            <a:solidFill>
                              <a:schemeClr val="accent5">
                                <a:lumMod val="50000"/>
                              </a:schemeClr>
                            </a:solidFill>
                            <a:latin typeface="Cambria Math" panose="02040503050406030204" pitchFamily="18" charset="0"/>
                          </a:rPr>
                        </m:ctrlPr>
                      </m:sSupPr>
                      <m:e>
                        <m:r>
                          <a:rPr lang="en-GB" sz="2400" b="0" i="1" noProof="0" smtClean="0">
                            <a:solidFill>
                              <a:schemeClr val="accent5">
                                <a:lumMod val="50000"/>
                              </a:schemeClr>
                            </a:solidFill>
                            <a:latin typeface="Cambria Math" panose="02040503050406030204" pitchFamily="18" charset="0"/>
                          </a:rPr>
                          <m:t>𝐿</m:t>
                        </m:r>
                      </m:e>
                      <m:sup>
                        <m:r>
                          <a:rPr lang="en-GB" sz="2400" b="0" i="0" noProof="0" smtClean="0">
                            <a:solidFill>
                              <a:schemeClr val="accent5">
                                <a:lumMod val="50000"/>
                              </a:schemeClr>
                            </a:solidFill>
                            <a:latin typeface="Cambria Math" panose="02040503050406030204" pitchFamily="18" charset="0"/>
                          </a:rPr>
                          <m:t>∗</m:t>
                        </m:r>
                      </m:sup>
                    </m:sSup>
                    <m:d>
                      <m:dPr>
                        <m:ctrlPr>
                          <a:rPr lang="en-GB" sz="2400" i="1" noProof="0" smtClean="0">
                            <a:solidFill>
                              <a:schemeClr val="accent5">
                                <a:lumMod val="50000"/>
                              </a:schemeClr>
                            </a:solidFill>
                            <a:latin typeface="Cambria Math" panose="02040503050406030204" pitchFamily="18" charset="0"/>
                          </a:rPr>
                        </m:ctrlPr>
                      </m:dPr>
                      <m:e>
                        <m:r>
                          <a:rPr lang="en-GB" sz="2400" b="0" i="1" noProof="0" smtClean="0">
                            <a:solidFill>
                              <a:schemeClr val="accent5">
                                <a:lumMod val="50000"/>
                              </a:schemeClr>
                            </a:solidFill>
                            <a:latin typeface="Cambria Math" panose="02040503050406030204" pitchFamily="18" charset="0"/>
                          </a:rPr>
                          <m:t>𝑤</m:t>
                        </m:r>
                      </m:e>
                    </m:d>
                  </m:oMath>
                </a14:m>
                <a:r>
                  <a:rPr lang="en-GB" sz="2400" noProof="0" dirty="0">
                    <a:solidFill>
                      <a:schemeClr val="accent5">
                        <a:lumMod val="50000"/>
                      </a:schemeClr>
                    </a:solidFill>
                  </a:rPr>
                  <a:t> does not have to be nicely upward-sloping. </a:t>
                </a:r>
              </a:p>
              <a:p>
                <a:pPr algn="just">
                  <a:buNone/>
                </a:pPr>
                <a:endParaRPr lang="en-GB" sz="2400" noProof="0" dirty="0">
                  <a:solidFill>
                    <a:schemeClr val="accent5">
                      <a:lumMod val="50000"/>
                    </a:schemeClr>
                  </a:solidFill>
                </a:endParaRPr>
              </a:p>
              <a:p>
                <a:pPr algn="just">
                  <a:buNone/>
                </a:pPr>
                <a:r>
                  <a:rPr lang="en-GB" sz="2400" noProof="0" dirty="0">
                    <a:solidFill>
                      <a:schemeClr val="accent5">
                        <a:lumMod val="50000"/>
                      </a:schemeClr>
                    </a:solidFill>
                  </a:rPr>
                  <a:t>With different utility functions (strong income effects, satiation, kinks in preferences) we can obtain backward-bending or even weird</a:t>
                </a:r>
                <a:br>
                  <a:rPr lang="en-GB" sz="2400" noProof="0" dirty="0">
                    <a:solidFill>
                      <a:schemeClr val="accent5">
                        <a:lumMod val="50000"/>
                      </a:schemeClr>
                    </a:solidFill>
                  </a:rPr>
                </a:br>
                <a:r>
                  <a:rPr lang="en-GB" sz="2400" noProof="0" dirty="0">
                    <a:solidFill>
                      <a:schemeClr val="accent5">
                        <a:lumMod val="50000"/>
                      </a:schemeClr>
                    </a:solidFill>
                  </a:rPr>
                  <a:t>multi-valued labour-supply functions. </a:t>
                </a:r>
              </a:p>
            </p:txBody>
          </p:sp>
        </mc:Choice>
        <mc:Fallback xmlns="">
          <p:sp>
            <p:nvSpPr>
              <p:cNvPr id="6" name="TextBox 5">
                <a:extLst>
                  <a:ext uri="{FF2B5EF4-FFF2-40B4-BE49-F238E27FC236}">
                    <a16:creationId xmlns:a16="http://schemas.microsoft.com/office/drawing/2014/main" id="{1779F521-AC40-E10F-A484-0497CFB99914}"/>
                  </a:ext>
                </a:extLst>
              </p:cNvPr>
              <p:cNvSpPr txBox="1">
                <a:spLocks noRot="1" noChangeAspect="1" noMove="1" noResize="1" noEditPoints="1" noAdjustHandles="1" noChangeArrowheads="1" noChangeShapeType="1" noTextEdit="1"/>
              </p:cNvSpPr>
              <p:nvPr/>
            </p:nvSpPr>
            <p:spPr>
              <a:xfrm>
                <a:off x="92411" y="1140290"/>
                <a:ext cx="4000497" cy="4893647"/>
              </a:xfrm>
              <a:prstGeom prst="rect">
                <a:avLst/>
              </a:prstGeom>
              <a:blipFill>
                <a:blip r:embed="rId3"/>
                <a:stretch>
                  <a:fillRect l="-2287" t="-996" r="-2439" b="-1868"/>
                </a:stretch>
              </a:blipFill>
            </p:spPr>
            <p:txBody>
              <a:bodyPr/>
              <a:lstStyle/>
              <a:p>
                <a:r>
                  <a:rPr lang="pl-PL">
                    <a:noFill/>
                  </a:rPr>
                  <a:t> </a:t>
                </a:r>
              </a:p>
            </p:txBody>
          </p:sp>
        </mc:Fallback>
      </mc:AlternateContent>
      <p:grpSp>
        <p:nvGrpSpPr>
          <p:cNvPr id="30" name="Group 29">
            <a:extLst>
              <a:ext uri="{FF2B5EF4-FFF2-40B4-BE49-F238E27FC236}">
                <a16:creationId xmlns:a16="http://schemas.microsoft.com/office/drawing/2014/main" id="{B4298459-245C-F372-8B23-38C1353AFD48}"/>
              </a:ext>
            </a:extLst>
          </p:cNvPr>
          <p:cNvGrpSpPr/>
          <p:nvPr/>
        </p:nvGrpSpPr>
        <p:grpSpPr>
          <a:xfrm>
            <a:off x="4256424" y="1790333"/>
            <a:ext cx="4175125" cy="3629025"/>
            <a:chOff x="6253161" y="1387794"/>
            <a:chExt cx="4175125" cy="3629025"/>
          </a:xfrm>
        </p:grpSpPr>
        <p:grpSp>
          <p:nvGrpSpPr>
            <p:cNvPr id="5" name="Grupa 96">
              <a:extLst>
                <a:ext uri="{FF2B5EF4-FFF2-40B4-BE49-F238E27FC236}">
                  <a16:creationId xmlns:a16="http://schemas.microsoft.com/office/drawing/2014/main" id="{A00C822B-9EF7-3617-092D-13983C2669A8}"/>
                </a:ext>
              </a:extLst>
            </p:cNvPr>
            <p:cNvGrpSpPr>
              <a:grpSpLocks/>
            </p:cNvGrpSpPr>
            <p:nvPr/>
          </p:nvGrpSpPr>
          <p:grpSpPr bwMode="auto">
            <a:xfrm>
              <a:off x="6253161" y="1734349"/>
              <a:ext cx="4175125" cy="3282469"/>
              <a:chOff x="414356" y="398305"/>
              <a:chExt cx="8100430" cy="4601850"/>
            </a:xfrm>
          </p:grpSpPr>
          <p:sp>
            <p:nvSpPr>
              <p:cNvPr id="8" name="Line 3">
                <a:extLst>
                  <a:ext uri="{FF2B5EF4-FFF2-40B4-BE49-F238E27FC236}">
                    <a16:creationId xmlns:a16="http://schemas.microsoft.com/office/drawing/2014/main" id="{A898C5AF-D82A-71AE-FF17-A3ACF3B26BEC}"/>
                  </a:ext>
                </a:extLst>
              </p:cNvPr>
              <p:cNvSpPr>
                <a:spLocks noChangeShapeType="1"/>
              </p:cNvSpPr>
              <p:nvPr/>
            </p:nvSpPr>
            <p:spPr bwMode="auto">
              <a:xfrm>
                <a:off x="968758" y="473301"/>
                <a:ext cx="27719" cy="4148503"/>
              </a:xfrm>
              <a:prstGeom prst="line">
                <a:avLst/>
              </a:prstGeom>
              <a:ln>
                <a:headEnd type="stealth" w="med" len="lg"/>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9" name="Line 4">
                <a:extLst>
                  <a:ext uri="{FF2B5EF4-FFF2-40B4-BE49-F238E27FC236}">
                    <a16:creationId xmlns:a16="http://schemas.microsoft.com/office/drawing/2014/main" id="{0B6FE309-80CF-0B13-3FD6-A0C2C4E6034B}"/>
                  </a:ext>
                </a:extLst>
              </p:cNvPr>
              <p:cNvSpPr>
                <a:spLocks noChangeShapeType="1"/>
              </p:cNvSpPr>
              <p:nvPr/>
            </p:nvSpPr>
            <p:spPr bwMode="auto">
              <a:xfrm>
                <a:off x="842477" y="4490495"/>
                <a:ext cx="7071706" cy="0"/>
              </a:xfrm>
              <a:prstGeom prst="line">
                <a:avLst/>
              </a:prstGeom>
              <a:ln>
                <a:headEnd type="none" w="sm" len="sm"/>
                <a:tailEnd type="stealth" w="med" len="lg"/>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0" name="Rectangle 5">
                <a:extLst>
                  <a:ext uri="{FF2B5EF4-FFF2-40B4-BE49-F238E27FC236}">
                    <a16:creationId xmlns:a16="http://schemas.microsoft.com/office/drawing/2014/main" id="{CB18C17A-47D4-A74E-269B-192F20FE1879}"/>
                  </a:ext>
                </a:extLst>
              </p:cNvPr>
              <p:cNvSpPr>
                <a:spLocks noChangeArrowheads="1"/>
              </p:cNvSpPr>
              <p:nvPr/>
            </p:nvSpPr>
            <p:spPr bwMode="auto">
              <a:xfrm>
                <a:off x="7867984" y="4523878"/>
                <a:ext cx="646802" cy="476277"/>
              </a:xfrm>
              <a:prstGeom prst="rect">
                <a:avLst/>
              </a:prstGeom>
              <a:noFill/>
              <a:ln w="9525">
                <a:noFill/>
                <a:miter lim="800000"/>
                <a:headEnd/>
                <a:tailEnd/>
              </a:ln>
            </p:spPr>
            <p:txBody>
              <a:bodyPr wrap="none" lIns="92075" tIns="46038" rIns="92075" bIns="46038">
                <a:spAutoFit/>
              </a:bodyPr>
              <a:lstStyle/>
              <a:p>
                <a:pPr>
                  <a:defRPr/>
                </a:pPr>
                <a:r>
                  <a:rPr lang="en-GB" sz="1600" noProof="0" dirty="0">
                    <a:solidFill>
                      <a:schemeClr val="accent1">
                        <a:lumMod val="50000"/>
                      </a:schemeClr>
                    </a:solidFill>
                    <a:latin typeface="Arial" charset="0"/>
                  </a:rPr>
                  <a:t>R</a:t>
                </a:r>
                <a:endParaRPr lang="en-GB" sz="1600" baseline="-25000" noProof="0" dirty="0">
                  <a:solidFill>
                    <a:schemeClr val="accent1">
                      <a:lumMod val="50000"/>
                    </a:schemeClr>
                  </a:solidFill>
                  <a:latin typeface="Arial" charset="0"/>
                </a:endParaRPr>
              </a:p>
            </p:txBody>
          </p:sp>
          <p:sp>
            <p:nvSpPr>
              <p:cNvPr id="11" name="Line 6">
                <a:extLst>
                  <a:ext uri="{FF2B5EF4-FFF2-40B4-BE49-F238E27FC236}">
                    <a16:creationId xmlns:a16="http://schemas.microsoft.com/office/drawing/2014/main" id="{C95D669D-4574-D17D-0735-9DFE342AC82E}"/>
                  </a:ext>
                </a:extLst>
              </p:cNvPr>
              <p:cNvSpPr>
                <a:spLocks noChangeShapeType="1"/>
              </p:cNvSpPr>
              <p:nvPr/>
            </p:nvSpPr>
            <p:spPr bwMode="auto">
              <a:xfrm>
                <a:off x="996477" y="3560198"/>
                <a:ext cx="6403345" cy="44512"/>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2" name="Line 9">
                <a:extLst>
                  <a:ext uri="{FF2B5EF4-FFF2-40B4-BE49-F238E27FC236}">
                    <a16:creationId xmlns:a16="http://schemas.microsoft.com/office/drawing/2014/main" id="{BADB2002-B714-EB9E-009D-CFA5EFF84540}"/>
                  </a:ext>
                </a:extLst>
              </p:cNvPr>
              <p:cNvSpPr>
                <a:spLocks noChangeShapeType="1"/>
              </p:cNvSpPr>
              <p:nvPr/>
            </p:nvSpPr>
            <p:spPr bwMode="auto">
              <a:xfrm>
                <a:off x="7399822" y="3604710"/>
                <a:ext cx="0" cy="903590"/>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4" name="Line 14">
                <a:extLst>
                  <a:ext uri="{FF2B5EF4-FFF2-40B4-BE49-F238E27FC236}">
                    <a16:creationId xmlns:a16="http://schemas.microsoft.com/office/drawing/2014/main" id="{D69E4A48-834A-31F6-3C92-ABA797F2F42D}"/>
                  </a:ext>
                </a:extLst>
              </p:cNvPr>
              <p:cNvSpPr>
                <a:spLocks noChangeShapeType="1"/>
              </p:cNvSpPr>
              <p:nvPr/>
            </p:nvSpPr>
            <p:spPr bwMode="auto">
              <a:xfrm>
                <a:off x="996477" y="3157365"/>
                <a:ext cx="6403345" cy="447345"/>
              </a:xfrm>
              <a:prstGeom prst="line">
                <a:avLst/>
              </a:prstGeom>
              <a:ln w="31750">
                <a:prstDash val="sysDash"/>
                <a:headEnd type="none" w="sm" len="sm"/>
                <a:tailEnd type="none" w="sm" len="sm"/>
              </a:ln>
            </p:spPr>
            <p:style>
              <a:lnRef idx="3">
                <a:schemeClr val="dk1"/>
              </a:lnRef>
              <a:fillRef idx="0">
                <a:schemeClr val="dk1"/>
              </a:fillRef>
              <a:effectRef idx="2">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5" name="Line 15">
                <a:extLst>
                  <a:ext uri="{FF2B5EF4-FFF2-40B4-BE49-F238E27FC236}">
                    <a16:creationId xmlns:a16="http://schemas.microsoft.com/office/drawing/2014/main" id="{A9FF6B85-ADCC-568E-677E-A48DB24E8FD8}"/>
                  </a:ext>
                </a:extLst>
              </p:cNvPr>
              <p:cNvSpPr>
                <a:spLocks noChangeShapeType="1"/>
              </p:cNvSpPr>
              <p:nvPr/>
            </p:nvSpPr>
            <p:spPr bwMode="auto">
              <a:xfrm>
                <a:off x="971837" y="1988930"/>
                <a:ext cx="6289383" cy="1513402"/>
              </a:xfrm>
              <a:prstGeom prst="line">
                <a:avLst/>
              </a:prstGeom>
              <a:noFill/>
              <a:ln w="25400">
                <a:solidFill>
                  <a:schemeClr val="tx1">
                    <a:lumMod val="65000"/>
                    <a:lumOff val="3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16" name="Line 16">
                <a:extLst>
                  <a:ext uri="{FF2B5EF4-FFF2-40B4-BE49-F238E27FC236}">
                    <a16:creationId xmlns:a16="http://schemas.microsoft.com/office/drawing/2014/main" id="{F06BB33E-96FE-D310-5B4E-53BFB8EBBA36}"/>
                  </a:ext>
                </a:extLst>
              </p:cNvPr>
              <p:cNvSpPr>
                <a:spLocks noChangeShapeType="1"/>
              </p:cNvSpPr>
              <p:nvPr/>
            </p:nvSpPr>
            <p:spPr bwMode="auto">
              <a:xfrm>
                <a:off x="971837" y="675831"/>
                <a:ext cx="6427985" cy="2826502"/>
              </a:xfrm>
              <a:prstGeom prst="line">
                <a:avLst/>
              </a:prstGeom>
              <a:noFill/>
              <a:ln w="25400">
                <a:solidFill>
                  <a:schemeClr val="tx1">
                    <a:lumMod val="75000"/>
                    <a:lumOff val="2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17" name="Rectangle 21">
                <a:extLst>
                  <a:ext uri="{FF2B5EF4-FFF2-40B4-BE49-F238E27FC236}">
                    <a16:creationId xmlns:a16="http://schemas.microsoft.com/office/drawing/2014/main" id="{0CD7B32B-BB3D-4DC8-4510-B03B0A2C705A}"/>
                  </a:ext>
                </a:extLst>
              </p:cNvPr>
              <p:cNvSpPr>
                <a:spLocks noChangeArrowheads="1"/>
              </p:cNvSpPr>
              <p:nvPr/>
            </p:nvSpPr>
            <p:spPr bwMode="auto">
              <a:xfrm>
                <a:off x="414356" y="500008"/>
                <a:ext cx="720723" cy="563075"/>
              </a:xfrm>
              <a:prstGeom prst="rect">
                <a:avLst/>
              </a:prstGeom>
              <a:noFill/>
              <a:ln w="9525">
                <a:noFill/>
                <a:miter lim="800000"/>
                <a:headEnd/>
                <a:tailEnd/>
              </a:ln>
            </p:spPr>
            <p:txBody>
              <a:bodyPr wrap="none" lIns="92075" tIns="46038" rIns="92075" bIns="46038">
                <a:spAutoFit/>
              </a:bodyPr>
              <a:lstStyle/>
              <a:p>
                <a:pPr>
                  <a:defRPr/>
                </a:pPr>
                <a:r>
                  <a:rPr lang="en-GB" sz="2000" noProof="0" dirty="0">
                    <a:solidFill>
                      <a:schemeClr val="accent1">
                        <a:lumMod val="50000"/>
                      </a:schemeClr>
                    </a:solidFill>
                    <a:latin typeface="Arial" charset="0"/>
                  </a:rPr>
                  <a:t>C</a:t>
                </a:r>
                <a:endParaRPr lang="en-GB" sz="2000" baseline="-25000" noProof="0" dirty="0">
                  <a:solidFill>
                    <a:schemeClr val="accent1">
                      <a:lumMod val="50000"/>
                    </a:schemeClr>
                  </a:solidFill>
                  <a:latin typeface="Arial" charset="0"/>
                </a:endParaRPr>
              </a:p>
            </p:txBody>
          </p:sp>
          <p:sp>
            <p:nvSpPr>
              <p:cNvPr id="18" name="Arc 41">
                <a:extLst>
                  <a:ext uri="{FF2B5EF4-FFF2-40B4-BE49-F238E27FC236}">
                    <a16:creationId xmlns:a16="http://schemas.microsoft.com/office/drawing/2014/main" id="{51BB8B21-4BCB-90A7-8A56-426EEDEBBFF6}"/>
                  </a:ext>
                </a:extLst>
              </p:cNvPr>
              <p:cNvSpPr>
                <a:spLocks/>
              </p:cNvSpPr>
              <p:nvPr/>
            </p:nvSpPr>
            <p:spPr bwMode="auto">
              <a:xfrm rot="10088761">
                <a:off x="1375550" y="398305"/>
                <a:ext cx="4795577" cy="2655130"/>
              </a:xfrm>
              <a:custGeom>
                <a:avLst/>
                <a:gdLst>
                  <a:gd name="T0" fmla="*/ 0 w 21609"/>
                  <a:gd name="T1" fmla="*/ 0 h 21600"/>
                  <a:gd name="T2" fmla="*/ 3810000 w 21609"/>
                  <a:gd name="T3" fmla="*/ 2495602 h 21600"/>
                  <a:gd name="T4" fmla="*/ 1587 w 21609"/>
                  <a:gd name="T5" fmla="*/ 2498725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27" y="0"/>
                      <a:pt x="21594" y="9654"/>
                      <a:pt x="21608" y="21573"/>
                    </a:cubicBezTo>
                  </a:path>
                  <a:path w="21609" h="21600" stroke="0" extrusionOk="0">
                    <a:moveTo>
                      <a:pt x="0" y="0"/>
                    </a:moveTo>
                    <a:cubicBezTo>
                      <a:pt x="3" y="0"/>
                      <a:pt x="6" y="-1"/>
                      <a:pt x="9" y="0"/>
                    </a:cubicBezTo>
                    <a:cubicBezTo>
                      <a:pt x="11927" y="0"/>
                      <a:pt x="21594" y="9654"/>
                      <a:pt x="21608" y="21573"/>
                    </a:cubicBezTo>
                    <a:lnTo>
                      <a:pt x="9" y="21600"/>
                    </a:lnTo>
                    <a:close/>
                  </a:path>
                </a:pathLst>
              </a:custGeom>
              <a:noFill/>
              <a:ln w="25400" cap="rnd">
                <a:solidFill>
                  <a:schemeClr val="accent2">
                    <a:lumMod val="7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19" name="Oval 18">
                <a:extLst>
                  <a:ext uri="{FF2B5EF4-FFF2-40B4-BE49-F238E27FC236}">
                    <a16:creationId xmlns:a16="http://schemas.microsoft.com/office/drawing/2014/main" id="{7B22B7D7-1897-629D-E398-03E6D7CFD2BF}"/>
                  </a:ext>
                </a:extLst>
              </p:cNvPr>
              <p:cNvSpPr>
                <a:spLocks noChangeArrowheads="1"/>
              </p:cNvSpPr>
              <p:nvPr/>
            </p:nvSpPr>
            <p:spPr bwMode="auto">
              <a:xfrm>
                <a:off x="7261220" y="3502332"/>
                <a:ext cx="231002" cy="202528"/>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GB" noProof="0" dirty="0">
                  <a:solidFill>
                    <a:schemeClr val="accent1">
                      <a:lumMod val="50000"/>
                    </a:schemeClr>
                  </a:solidFill>
                </a:endParaRPr>
              </a:p>
            </p:txBody>
          </p:sp>
          <p:cxnSp>
            <p:nvCxnSpPr>
              <p:cNvPr id="20" name="Łącznik prosty ze strzałką 85">
                <a:extLst>
                  <a:ext uri="{FF2B5EF4-FFF2-40B4-BE49-F238E27FC236}">
                    <a16:creationId xmlns:a16="http://schemas.microsoft.com/office/drawing/2014/main" id="{97A543DA-7324-00F9-5A61-A60422B41626}"/>
                  </a:ext>
                </a:extLst>
              </p:cNvPr>
              <p:cNvCxnSpPr/>
              <p:nvPr/>
            </p:nvCxnSpPr>
            <p:spPr>
              <a:xfrm flipH="1">
                <a:off x="3251047" y="4621804"/>
                <a:ext cx="1118045"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
          <p:nvSpPr>
            <p:cNvPr id="21" name="Arc 41">
              <a:extLst>
                <a:ext uri="{FF2B5EF4-FFF2-40B4-BE49-F238E27FC236}">
                  <a16:creationId xmlns:a16="http://schemas.microsoft.com/office/drawing/2014/main" id="{B94F67D3-5471-ACC8-22E7-02463C1F8C19}"/>
                </a:ext>
              </a:extLst>
            </p:cNvPr>
            <p:cNvSpPr>
              <a:spLocks/>
            </p:cNvSpPr>
            <p:nvPr/>
          </p:nvSpPr>
          <p:spPr bwMode="auto">
            <a:xfrm rot="9483353">
              <a:off x="7450138" y="1387794"/>
              <a:ext cx="2179637" cy="2084387"/>
            </a:xfrm>
            <a:custGeom>
              <a:avLst/>
              <a:gdLst>
                <a:gd name="T0" fmla="*/ 0 w 21609"/>
                <a:gd name="T1" fmla="*/ 0 h 21600"/>
                <a:gd name="T2" fmla="*/ 3810000 w 21609"/>
                <a:gd name="T3" fmla="*/ 2495602 h 21600"/>
                <a:gd name="T4" fmla="*/ 1587 w 21609"/>
                <a:gd name="T5" fmla="*/ 2498725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27" y="0"/>
                    <a:pt x="21594" y="9654"/>
                    <a:pt x="21608" y="21573"/>
                  </a:cubicBezTo>
                </a:path>
                <a:path w="21609" h="21600" stroke="0" extrusionOk="0">
                  <a:moveTo>
                    <a:pt x="0" y="0"/>
                  </a:moveTo>
                  <a:cubicBezTo>
                    <a:pt x="3" y="0"/>
                    <a:pt x="6" y="-1"/>
                    <a:pt x="9" y="0"/>
                  </a:cubicBezTo>
                  <a:cubicBezTo>
                    <a:pt x="11927" y="0"/>
                    <a:pt x="21594" y="9654"/>
                    <a:pt x="21608" y="21573"/>
                  </a:cubicBezTo>
                  <a:lnTo>
                    <a:pt x="9" y="21600"/>
                  </a:lnTo>
                  <a:close/>
                </a:path>
              </a:pathLst>
            </a:custGeom>
            <a:noFill/>
            <a:ln w="25400" cap="rnd">
              <a:solidFill>
                <a:schemeClr val="accent2">
                  <a:lumMod val="7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22" name="Oval 18">
              <a:extLst>
                <a:ext uri="{FF2B5EF4-FFF2-40B4-BE49-F238E27FC236}">
                  <a16:creationId xmlns:a16="http://schemas.microsoft.com/office/drawing/2014/main" id="{E6912740-FCA2-C22C-A018-3BAC5F03298B}"/>
                </a:ext>
              </a:extLst>
            </p:cNvPr>
            <p:cNvSpPr>
              <a:spLocks noChangeArrowheads="1"/>
            </p:cNvSpPr>
            <p:nvPr/>
          </p:nvSpPr>
          <p:spPr bwMode="auto">
            <a:xfrm>
              <a:off x="7643812" y="3143568"/>
              <a:ext cx="120650" cy="144462"/>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23" name="Oval 18">
              <a:extLst>
                <a:ext uri="{FF2B5EF4-FFF2-40B4-BE49-F238E27FC236}">
                  <a16:creationId xmlns:a16="http://schemas.microsoft.com/office/drawing/2014/main" id="{317D5E48-2DB0-D629-B77E-09F7BA5FAD5F}"/>
                </a:ext>
              </a:extLst>
            </p:cNvPr>
            <p:cNvSpPr>
              <a:spLocks noChangeArrowheads="1"/>
            </p:cNvSpPr>
            <p:nvPr/>
          </p:nvSpPr>
          <p:spPr bwMode="auto">
            <a:xfrm>
              <a:off x="8075612" y="2856231"/>
              <a:ext cx="120650" cy="144463"/>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24" name="Arc 41">
              <a:extLst>
                <a:ext uri="{FF2B5EF4-FFF2-40B4-BE49-F238E27FC236}">
                  <a16:creationId xmlns:a16="http://schemas.microsoft.com/office/drawing/2014/main" id="{877726D8-ADE6-BC1F-E3DE-F6847CBC39DE}"/>
                </a:ext>
              </a:extLst>
            </p:cNvPr>
            <p:cNvSpPr>
              <a:spLocks/>
            </p:cNvSpPr>
            <p:nvPr/>
          </p:nvSpPr>
          <p:spPr bwMode="auto">
            <a:xfrm rot="9279238">
              <a:off x="6892925" y="2054543"/>
              <a:ext cx="2130425" cy="2093912"/>
            </a:xfrm>
            <a:custGeom>
              <a:avLst/>
              <a:gdLst>
                <a:gd name="T0" fmla="*/ 0 w 21609"/>
                <a:gd name="T1" fmla="*/ 0 h 21600"/>
                <a:gd name="T2" fmla="*/ 3810000 w 21609"/>
                <a:gd name="T3" fmla="*/ 2495602 h 21600"/>
                <a:gd name="T4" fmla="*/ 1587 w 21609"/>
                <a:gd name="T5" fmla="*/ 2498725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27" y="0"/>
                    <a:pt x="21594" y="9654"/>
                    <a:pt x="21608" y="21573"/>
                  </a:cubicBezTo>
                </a:path>
                <a:path w="21609" h="21600" stroke="0" extrusionOk="0">
                  <a:moveTo>
                    <a:pt x="0" y="0"/>
                  </a:moveTo>
                  <a:cubicBezTo>
                    <a:pt x="3" y="0"/>
                    <a:pt x="6" y="-1"/>
                    <a:pt x="9" y="0"/>
                  </a:cubicBezTo>
                  <a:cubicBezTo>
                    <a:pt x="11927" y="0"/>
                    <a:pt x="21594" y="9654"/>
                    <a:pt x="21608" y="21573"/>
                  </a:cubicBezTo>
                  <a:lnTo>
                    <a:pt x="9" y="21600"/>
                  </a:lnTo>
                  <a:close/>
                </a:path>
              </a:pathLst>
            </a:custGeom>
            <a:noFill/>
            <a:ln w="25400" cap="rnd">
              <a:solidFill>
                <a:schemeClr val="accent2">
                  <a:lumMod val="7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cxnSp>
          <p:nvCxnSpPr>
            <p:cNvPr id="25" name="Łącznik prosty ze strzałką 106">
              <a:extLst>
                <a:ext uri="{FF2B5EF4-FFF2-40B4-BE49-F238E27FC236}">
                  <a16:creationId xmlns:a16="http://schemas.microsoft.com/office/drawing/2014/main" id="{AB561FC1-AA3A-71D0-3833-ADC5812EA10C}"/>
                </a:ext>
              </a:extLst>
            </p:cNvPr>
            <p:cNvCxnSpPr/>
            <p:nvPr/>
          </p:nvCxnSpPr>
          <p:spPr bwMode="auto">
            <a:xfrm>
              <a:off x="7715249" y="5016818"/>
              <a:ext cx="433388"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6" name="Line 9">
              <a:extLst>
                <a:ext uri="{FF2B5EF4-FFF2-40B4-BE49-F238E27FC236}">
                  <a16:creationId xmlns:a16="http://schemas.microsoft.com/office/drawing/2014/main" id="{4F625378-698C-474D-1305-2469C4B0D867}"/>
                </a:ext>
              </a:extLst>
            </p:cNvPr>
            <p:cNvSpPr>
              <a:spLocks noChangeShapeType="1"/>
            </p:cNvSpPr>
            <p:nvPr/>
          </p:nvSpPr>
          <p:spPr bwMode="auto">
            <a:xfrm>
              <a:off x="8291512" y="3792855"/>
              <a:ext cx="0" cy="863600"/>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27" name="Line 9">
              <a:extLst>
                <a:ext uri="{FF2B5EF4-FFF2-40B4-BE49-F238E27FC236}">
                  <a16:creationId xmlns:a16="http://schemas.microsoft.com/office/drawing/2014/main" id="{1227A4CF-0131-3AC7-1DA0-E127C8C3C22F}"/>
                </a:ext>
              </a:extLst>
            </p:cNvPr>
            <p:cNvSpPr>
              <a:spLocks noChangeShapeType="1"/>
            </p:cNvSpPr>
            <p:nvPr/>
          </p:nvSpPr>
          <p:spPr bwMode="auto">
            <a:xfrm>
              <a:off x="7715249" y="3288030"/>
              <a:ext cx="0" cy="1728788"/>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28" name="Oval 18">
              <a:extLst>
                <a:ext uri="{FF2B5EF4-FFF2-40B4-BE49-F238E27FC236}">
                  <a16:creationId xmlns:a16="http://schemas.microsoft.com/office/drawing/2014/main" id="{9FD62EBF-552B-405C-7483-95938B2800E3}"/>
                </a:ext>
              </a:extLst>
            </p:cNvPr>
            <p:cNvSpPr>
              <a:spLocks noChangeArrowheads="1"/>
            </p:cNvSpPr>
            <p:nvPr/>
          </p:nvSpPr>
          <p:spPr bwMode="auto">
            <a:xfrm>
              <a:off x="8220074" y="3719831"/>
              <a:ext cx="120650" cy="144463"/>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29" name="Line 9">
              <a:extLst>
                <a:ext uri="{FF2B5EF4-FFF2-40B4-BE49-F238E27FC236}">
                  <a16:creationId xmlns:a16="http://schemas.microsoft.com/office/drawing/2014/main" id="{94CA4BAB-8ACA-0B53-B58E-FA4489BC56C6}"/>
                </a:ext>
              </a:extLst>
            </p:cNvPr>
            <p:cNvSpPr>
              <a:spLocks noChangeShapeType="1"/>
            </p:cNvSpPr>
            <p:nvPr/>
          </p:nvSpPr>
          <p:spPr bwMode="auto">
            <a:xfrm>
              <a:off x="8148637" y="3000694"/>
              <a:ext cx="0" cy="20161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grpSp>
      <p:sp>
        <p:nvSpPr>
          <p:cNvPr id="32" name="TextBox 31">
            <a:extLst>
              <a:ext uri="{FF2B5EF4-FFF2-40B4-BE49-F238E27FC236}">
                <a16:creationId xmlns:a16="http://schemas.microsoft.com/office/drawing/2014/main" id="{8C963FCD-1E60-3BFE-EE50-2D8D1D31006B}"/>
              </a:ext>
            </a:extLst>
          </p:cNvPr>
          <p:cNvSpPr txBox="1"/>
          <p:nvPr/>
        </p:nvSpPr>
        <p:spPr>
          <a:xfrm>
            <a:off x="8218824" y="1302841"/>
            <a:ext cx="3880765" cy="4524315"/>
          </a:xfrm>
          <a:prstGeom prst="rect">
            <a:avLst/>
          </a:prstGeom>
          <a:noFill/>
        </p:spPr>
        <p:txBody>
          <a:bodyPr wrap="square">
            <a:spAutoFit/>
          </a:bodyPr>
          <a:lstStyle/>
          <a:p>
            <a:pPr algn="just"/>
            <a:r>
              <a:rPr lang="en-GB" sz="1600" noProof="0" dirty="0"/>
              <a:t>Even if leisure is a normal good and consumers are fully rational (indifference curves do not cross), labour supply L*(w) does not have to be nicely upward-sloping. </a:t>
            </a:r>
          </a:p>
          <a:p>
            <a:pPr algn="just"/>
            <a:endParaRPr lang="en-GB" sz="1600" noProof="0" dirty="0"/>
          </a:p>
          <a:p>
            <a:pPr algn="just"/>
            <a:r>
              <a:rPr lang="en-GB" sz="1600" noProof="0" dirty="0"/>
              <a:t>Think of leisure time R as a consumption normal good and of the wage </a:t>
            </a:r>
            <a:r>
              <a:rPr lang="en-GB" sz="1600" b="1" i="1" noProof="0" dirty="0"/>
              <a:t>w</a:t>
            </a:r>
            <a:r>
              <a:rPr lang="en-GB" sz="1600" noProof="0" dirty="0"/>
              <a:t> as the “price of leisure”: the opportunity cost of one hour of free time is the wage you give up. </a:t>
            </a:r>
          </a:p>
          <a:p>
            <a:pPr algn="just"/>
            <a:endParaRPr lang="en-GB" sz="1600" noProof="0" dirty="0"/>
          </a:p>
          <a:p>
            <a:pPr algn="just"/>
            <a:r>
              <a:rPr lang="en-GB" sz="1600" noProof="0" dirty="0"/>
              <a:t>When wages are low, a higher w mainly increases the reward from working, so people work more. When wages are already high, a further increase in w also makes it easier to afford more leisure, so beyond some  point people may want to work less and enjoy more free time. </a:t>
            </a:r>
          </a:p>
        </p:txBody>
      </p:sp>
    </p:spTree>
    <p:extLst>
      <p:ext uri="{BB962C8B-B14F-4D97-AF65-F5344CB8AC3E}">
        <p14:creationId xmlns:p14="http://schemas.microsoft.com/office/powerpoint/2010/main" val="591993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40" name="Grupa 121">
            <a:extLst>
              <a:ext uri="{FF2B5EF4-FFF2-40B4-BE49-F238E27FC236}">
                <a16:creationId xmlns:a16="http://schemas.microsoft.com/office/drawing/2014/main" id="{EFCCA2D4-89B2-E0FF-9291-4CFCBA6ED901}"/>
              </a:ext>
            </a:extLst>
          </p:cNvPr>
          <p:cNvGrpSpPr>
            <a:grpSpLocks/>
          </p:cNvGrpSpPr>
          <p:nvPr/>
        </p:nvGrpSpPr>
        <p:grpSpPr bwMode="auto">
          <a:xfrm>
            <a:off x="6088063" y="1503363"/>
            <a:ext cx="4392612" cy="4084142"/>
            <a:chOff x="4306538" y="1268759"/>
            <a:chExt cx="3794022" cy="3555993"/>
          </a:xfrm>
        </p:grpSpPr>
        <p:grpSp>
          <p:nvGrpSpPr>
            <p:cNvPr id="14371" name="Grupa 38">
              <a:extLst>
                <a:ext uri="{FF2B5EF4-FFF2-40B4-BE49-F238E27FC236}">
                  <a16:creationId xmlns:a16="http://schemas.microsoft.com/office/drawing/2014/main" id="{C7375A20-3892-7356-60A9-D71AC436E957}"/>
                </a:ext>
              </a:extLst>
            </p:cNvPr>
            <p:cNvGrpSpPr>
              <a:grpSpLocks/>
            </p:cNvGrpSpPr>
            <p:nvPr/>
          </p:nvGrpSpPr>
          <p:grpSpPr bwMode="auto">
            <a:xfrm>
              <a:off x="4306538" y="1268759"/>
              <a:ext cx="3794022" cy="3555993"/>
              <a:chOff x="6625579" y="2503893"/>
              <a:chExt cx="4622078" cy="1573911"/>
            </a:xfrm>
          </p:grpSpPr>
          <p:grpSp>
            <p:nvGrpSpPr>
              <p:cNvPr id="14376" name="Grupa 34">
                <a:extLst>
                  <a:ext uri="{FF2B5EF4-FFF2-40B4-BE49-F238E27FC236}">
                    <a16:creationId xmlns:a16="http://schemas.microsoft.com/office/drawing/2014/main" id="{781C7A8F-C897-575F-9713-5D9EF9B7B04A}"/>
                  </a:ext>
                </a:extLst>
              </p:cNvPr>
              <p:cNvGrpSpPr>
                <a:grpSpLocks/>
              </p:cNvGrpSpPr>
              <p:nvPr/>
            </p:nvGrpSpPr>
            <p:grpSpPr bwMode="auto">
              <a:xfrm>
                <a:off x="6625579" y="2503893"/>
                <a:ext cx="4622078" cy="1573911"/>
                <a:chOff x="6193531" y="2647909"/>
                <a:chExt cx="4622078" cy="1573911"/>
              </a:xfrm>
            </p:grpSpPr>
            <p:grpSp>
              <p:nvGrpSpPr>
                <p:cNvPr id="14378" name="Grupa 20">
                  <a:extLst>
                    <a:ext uri="{FF2B5EF4-FFF2-40B4-BE49-F238E27FC236}">
                      <a16:creationId xmlns:a16="http://schemas.microsoft.com/office/drawing/2014/main" id="{CD3F468E-7002-A263-76F4-208A1E60103D}"/>
                    </a:ext>
                  </a:extLst>
                </p:cNvPr>
                <p:cNvGrpSpPr>
                  <a:grpSpLocks/>
                </p:cNvGrpSpPr>
                <p:nvPr/>
              </p:nvGrpSpPr>
              <p:grpSpPr bwMode="auto">
                <a:xfrm>
                  <a:off x="6193531" y="2647909"/>
                  <a:ext cx="4622078" cy="1427275"/>
                  <a:chOff x="864321" y="1493146"/>
                  <a:chExt cx="4622078" cy="3154510"/>
                </a:xfrm>
              </p:grpSpPr>
              <p:sp>
                <p:nvSpPr>
                  <p:cNvPr id="67" name="Line 3">
                    <a:extLst>
                      <a:ext uri="{FF2B5EF4-FFF2-40B4-BE49-F238E27FC236}">
                        <a16:creationId xmlns:a16="http://schemas.microsoft.com/office/drawing/2014/main" id="{13CF5FAF-2B8E-5683-EF5C-062AE379A764}"/>
                      </a:ext>
                    </a:extLst>
                  </p:cNvPr>
                  <p:cNvSpPr>
                    <a:spLocks noChangeShapeType="1"/>
                  </p:cNvSpPr>
                  <p:nvPr/>
                </p:nvSpPr>
                <p:spPr bwMode="auto">
                  <a:xfrm>
                    <a:off x="1448971" y="1599964"/>
                    <a:ext cx="0" cy="3047692"/>
                  </a:xfrm>
                  <a:prstGeom prst="line">
                    <a:avLst/>
                  </a:prstGeom>
                  <a:ln>
                    <a:headEnd type="stealth" w="med" len="lg"/>
                    <a:tailEnd type="none" w="sm" len="sm"/>
                  </a:ln>
                </p:spPr>
                <p:style>
                  <a:lnRef idx="2">
                    <a:schemeClr val="accent2"/>
                  </a:lnRef>
                  <a:fillRef idx="0">
                    <a:schemeClr val="accent2"/>
                  </a:fillRef>
                  <a:effectRef idx="1">
                    <a:schemeClr val="accent2"/>
                  </a:effectRef>
                  <a:fontRef idx="minor">
                    <a:schemeClr val="tx1"/>
                  </a:fontRef>
                </p:style>
                <p:txBody>
                  <a:bodyPr wrap="none" anchor="ctr"/>
                  <a:lstStyle/>
                  <a:p>
                    <a:pPr>
                      <a:defRPr/>
                    </a:pPr>
                    <a:endParaRPr lang="en-GB" sz="1600" noProof="0" dirty="0"/>
                  </a:p>
                </p:txBody>
              </p:sp>
              <p:sp>
                <p:nvSpPr>
                  <p:cNvPr id="68" name="Line 4">
                    <a:extLst>
                      <a:ext uri="{FF2B5EF4-FFF2-40B4-BE49-F238E27FC236}">
                        <a16:creationId xmlns:a16="http://schemas.microsoft.com/office/drawing/2014/main" id="{393F86C8-2139-C207-F9AB-B67982397825}"/>
                      </a:ext>
                    </a:extLst>
                  </p:cNvPr>
                  <p:cNvSpPr>
                    <a:spLocks noChangeShapeType="1"/>
                  </p:cNvSpPr>
                  <p:nvPr/>
                </p:nvSpPr>
                <p:spPr bwMode="auto">
                  <a:xfrm>
                    <a:off x="1448971" y="4647656"/>
                    <a:ext cx="4037428" cy="0"/>
                  </a:xfrm>
                  <a:prstGeom prst="line">
                    <a:avLst/>
                  </a:prstGeom>
                  <a:ln>
                    <a:headEnd type="none" w="sm" len="sm"/>
                    <a:tailEnd type="stealth" w="med" len="lg"/>
                  </a:ln>
                </p:spPr>
                <p:style>
                  <a:lnRef idx="2">
                    <a:schemeClr val="accent2"/>
                  </a:lnRef>
                  <a:fillRef idx="0">
                    <a:schemeClr val="accent2"/>
                  </a:fillRef>
                  <a:effectRef idx="1">
                    <a:schemeClr val="accent2"/>
                  </a:effectRef>
                  <a:fontRef idx="minor">
                    <a:schemeClr val="tx1"/>
                  </a:fontRef>
                </p:style>
                <p:txBody>
                  <a:bodyPr wrap="none" anchor="ctr"/>
                  <a:lstStyle/>
                  <a:p>
                    <a:pPr>
                      <a:defRPr/>
                    </a:pPr>
                    <a:endParaRPr lang="en-GB" sz="1600" noProof="0" dirty="0"/>
                  </a:p>
                </p:txBody>
              </p:sp>
              <p:sp>
                <p:nvSpPr>
                  <p:cNvPr id="14382" name="Rectangle 7">
                    <a:extLst>
                      <a:ext uri="{FF2B5EF4-FFF2-40B4-BE49-F238E27FC236}">
                        <a16:creationId xmlns:a16="http://schemas.microsoft.com/office/drawing/2014/main" id="{D65E98E4-7B69-5C27-A06D-E8DFACC9A6DB}"/>
                      </a:ext>
                    </a:extLst>
                  </p:cNvPr>
                  <p:cNvSpPr>
                    <a:spLocks noChangeArrowheads="1"/>
                  </p:cNvSpPr>
                  <p:nvPr/>
                </p:nvSpPr>
                <p:spPr bwMode="auto">
                  <a:xfrm>
                    <a:off x="1015887" y="1493146"/>
                    <a:ext cx="30313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sz="1600" noProof="0" dirty="0"/>
                      <a:t>w</a:t>
                    </a:r>
                  </a:p>
                </p:txBody>
              </p:sp>
              <p:sp>
                <p:nvSpPr>
                  <p:cNvPr id="14383" name="Rectangle 16">
                    <a:extLst>
                      <a:ext uri="{FF2B5EF4-FFF2-40B4-BE49-F238E27FC236}">
                        <a16:creationId xmlns:a16="http://schemas.microsoft.com/office/drawing/2014/main" id="{53BE1167-7CBF-813D-8ACF-1DD7C03F2921}"/>
                      </a:ext>
                    </a:extLst>
                  </p:cNvPr>
                  <p:cNvSpPr>
                    <a:spLocks noChangeArrowheads="1"/>
                  </p:cNvSpPr>
                  <p:nvPr/>
                </p:nvSpPr>
                <p:spPr bwMode="auto">
                  <a:xfrm>
                    <a:off x="864321" y="3763145"/>
                    <a:ext cx="5386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sz="1600" noProof="0" dirty="0"/>
                      <a:t>w*</a:t>
                    </a:r>
                  </a:p>
                </p:txBody>
              </p:sp>
              <p:sp>
                <p:nvSpPr>
                  <p:cNvPr id="14384" name="Rectangle 20">
                    <a:extLst>
                      <a:ext uri="{FF2B5EF4-FFF2-40B4-BE49-F238E27FC236}">
                        <a16:creationId xmlns:a16="http://schemas.microsoft.com/office/drawing/2014/main" id="{29EEB43B-7E17-69D1-2F2A-1DB5767F1DCD}"/>
                      </a:ext>
                    </a:extLst>
                  </p:cNvPr>
                  <p:cNvSpPr>
                    <a:spLocks noChangeArrowheads="1"/>
                  </p:cNvSpPr>
                  <p:nvPr/>
                </p:nvSpPr>
                <p:spPr bwMode="auto">
                  <a:xfrm>
                    <a:off x="2379978" y="2413185"/>
                    <a:ext cx="629831" cy="288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sz="1600" noProof="0" dirty="0"/>
                      <a:t>S</a:t>
                    </a:r>
                  </a:p>
                </p:txBody>
              </p:sp>
            </p:grpSp>
            <p:sp>
              <p:nvSpPr>
                <p:cNvPr id="14379" name="Rectangle 7">
                  <a:extLst>
                    <a:ext uri="{FF2B5EF4-FFF2-40B4-BE49-F238E27FC236}">
                      <a16:creationId xmlns:a16="http://schemas.microsoft.com/office/drawing/2014/main" id="{0482E574-38DA-B904-C6F4-5FBF8C9A6851}"/>
                    </a:ext>
                  </a:extLst>
                </p:cNvPr>
                <p:cNvSpPr>
                  <a:spLocks noChangeArrowheads="1"/>
                </p:cNvSpPr>
                <p:nvPr/>
              </p:nvSpPr>
              <p:spPr bwMode="auto">
                <a:xfrm>
                  <a:off x="10488862" y="4091104"/>
                  <a:ext cx="288032" cy="130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sz="1600" noProof="0" dirty="0"/>
                    <a:t>L</a:t>
                  </a:r>
                </a:p>
              </p:txBody>
            </p:sp>
          </p:grpSp>
          <p:sp>
            <p:nvSpPr>
              <p:cNvPr id="14377" name="Rectangle 20">
                <a:extLst>
                  <a:ext uri="{FF2B5EF4-FFF2-40B4-BE49-F238E27FC236}">
                    <a16:creationId xmlns:a16="http://schemas.microsoft.com/office/drawing/2014/main" id="{7FA1C1D3-A611-6D5D-65AB-5163BD40625A}"/>
                  </a:ext>
                </a:extLst>
              </p:cNvPr>
              <p:cNvSpPr>
                <a:spLocks noChangeArrowheads="1"/>
              </p:cNvSpPr>
              <p:nvPr/>
            </p:nvSpPr>
            <p:spPr bwMode="auto">
              <a:xfrm>
                <a:off x="10542025" y="3687310"/>
                <a:ext cx="440483" cy="130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sz="1600" noProof="0" dirty="0"/>
                  <a:t>D</a:t>
                </a:r>
              </a:p>
            </p:txBody>
          </p:sp>
        </p:grpSp>
        <p:sp>
          <p:nvSpPr>
            <p:cNvPr id="78" name="Dowolny kształt 77">
              <a:extLst>
                <a:ext uri="{FF2B5EF4-FFF2-40B4-BE49-F238E27FC236}">
                  <a16:creationId xmlns:a16="http://schemas.microsoft.com/office/drawing/2014/main" id="{44259717-9112-DF1C-8526-9E6CB6BE59B3}"/>
                </a:ext>
              </a:extLst>
            </p:cNvPr>
            <p:cNvSpPr/>
            <p:nvPr/>
          </p:nvSpPr>
          <p:spPr>
            <a:xfrm>
              <a:off x="4789189" y="2493396"/>
              <a:ext cx="2352925" cy="1831427"/>
            </a:xfrm>
            <a:custGeom>
              <a:avLst/>
              <a:gdLst>
                <a:gd name="connsiteX0" fmla="*/ 1294410 w 2353293"/>
                <a:gd name="connsiteY0" fmla="*/ 1947553 h 1947553"/>
                <a:gd name="connsiteX1" fmla="*/ 2137558 w 2353293"/>
                <a:gd name="connsiteY1" fmla="*/ 795647 h 1947553"/>
                <a:gd name="connsiteX2" fmla="*/ 0 w 2353293"/>
                <a:gd name="connsiteY2" fmla="*/ 0 h 1947553"/>
              </a:gdLst>
              <a:ahLst/>
              <a:cxnLst>
                <a:cxn ang="0">
                  <a:pos x="connsiteX0" y="connsiteY0"/>
                </a:cxn>
                <a:cxn ang="0">
                  <a:pos x="connsiteX1" y="connsiteY1"/>
                </a:cxn>
                <a:cxn ang="0">
                  <a:pos x="connsiteX2" y="connsiteY2"/>
                </a:cxn>
              </a:cxnLst>
              <a:rect l="l" t="t" r="r" b="b"/>
              <a:pathLst>
                <a:path w="2353293" h="1947553">
                  <a:moveTo>
                    <a:pt x="1294410" y="1947553"/>
                  </a:moveTo>
                  <a:cubicBezTo>
                    <a:pt x="1823851" y="1533896"/>
                    <a:pt x="2353293" y="1120239"/>
                    <a:pt x="2137558" y="795647"/>
                  </a:cubicBezTo>
                  <a:cubicBezTo>
                    <a:pt x="1921823" y="471055"/>
                    <a:pt x="443345" y="148442"/>
                    <a:pt x="0" y="0"/>
                  </a:cubicBezTo>
                </a:path>
              </a:pathLst>
            </a:cu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GB" noProof="0" dirty="0"/>
            </a:p>
          </p:txBody>
        </p:sp>
        <p:cxnSp>
          <p:nvCxnSpPr>
            <p:cNvPr id="85" name="Łącznik prosty 84">
              <a:extLst>
                <a:ext uri="{FF2B5EF4-FFF2-40B4-BE49-F238E27FC236}">
                  <a16:creationId xmlns:a16="http://schemas.microsoft.com/office/drawing/2014/main" id="{C7D2D086-5916-92CB-0D91-E80964D57467}"/>
                </a:ext>
              </a:extLst>
            </p:cNvPr>
            <p:cNvCxnSpPr/>
            <p:nvPr/>
          </p:nvCxnSpPr>
          <p:spPr>
            <a:xfrm>
              <a:off x="4804272" y="3463707"/>
              <a:ext cx="26628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Łącznik prosty 99">
              <a:extLst>
                <a:ext uri="{FF2B5EF4-FFF2-40B4-BE49-F238E27FC236}">
                  <a16:creationId xmlns:a16="http://schemas.microsoft.com/office/drawing/2014/main" id="{2486FABA-982D-6ED0-2441-307FEAE5549F}"/>
                </a:ext>
              </a:extLst>
            </p:cNvPr>
            <p:cNvCxnSpPr/>
            <p:nvPr/>
          </p:nvCxnSpPr>
          <p:spPr>
            <a:xfrm>
              <a:off x="4804272" y="3965449"/>
              <a:ext cx="26998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Łącznik prosty 117">
              <a:extLst>
                <a:ext uri="{FF2B5EF4-FFF2-40B4-BE49-F238E27FC236}">
                  <a16:creationId xmlns:a16="http://schemas.microsoft.com/office/drawing/2014/main" id="{97131829-A8FE-655A-9724-7D9784373F99}"/>
                </a:ext>
              </a:extLst>
            </p:cNvPr>
            <p:cNvCxnSpPr/>
            <p:nvPr/>
          </p:nvCxnSpPr>
          <p:spPr>
            <a:xfrm>
              <a:off x="4742569" y="3024165"/>
              <a:ext cx="2662809"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342" name="Grupa 96">
            <a:extLst>
              <a:ext uri="{FF2B5EF4-FFF2-40B4-BE49-F238E27FC236}">
                <a16:creationId xmlns:a16="http://schemas.microsoft.com/office/drawing/2014/main" id="{7EF4EA75-1E53-265F-7D67-FD5B0D5931D3}"/>
              </a:ext>
            </a:extLst>
          </p:cNvPr>
          <p:cNvGrpSpPr>
            <a:grpSpLocks/>
          </p:cNvGrpSpPr>
          <p:nvPr/>
        </p:nvGrpSpPr>
        <p:grpSpPr bwMode="auto">
          <a:xfrm>
            <a:off x="1660526" y="2086769"/>
            <a:ext cx="4175125" cy="3233737"/>
            <a:chOff x="414356" y="466625"/>
            <a:chExt cx="8100430" cy="4533530"/>
          </a:xfrm>
        </p:grpSpPr>
        <p:sp>
          <p:nvSpPr>
            <p:cNvPr id="50" name="Line 3">
              <a:extLst>
                <a:ext uri="{FF2B5EF4-FFF2-40B4-BE49-F238E27FC236}">
                  <a16:creationId xmlns:a16="http://schemas.microsoft.com/office/drawing/2014/main" id="{4C5EE485-C218-0E8B-646D-FFD6C758305C}"/>
                </a:ext>
              </a:extLst>
            </p:cNvPr>
            <p:cNvSpPr>
              <a:spLocks noChangeShapeType="1"/>
            </p:cNvSpPr>
            <p:nvPr/>
          </p:nvSpPr>
          <p:spPr bwMode="auto">
            <a:xfrm>
              <a:off x="968758" y="473301"/>
              <a:ext cx="27719" cy="4148503"/>
            </a:xfrm>
            <a:prstGeom prst="line">
              <a:avLst/>
            </a:prstGeom>
            <a:ln>
              <a:headEnd type="stealth" w="med" len="lg"/>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51" name="Line 4">
              <a:extLst>
                <a:ext uri="{FF2B5EF4-FFF2-40B4-BE49-F238E27FC236}">
                  <a16:creationId xmlns:a16="http://schemas.microsoft.com/office/drawing/2014/main" id="{0ADE03BA-69FD-E287-D760-766E44D1B2A4}"/>
                </a:ext>
              </a:extLst>
            </p:cNvPr>
            <p:cNvSpPr>
              <a:spLocks noChangeShapeType="1"/>
            </p:cNvSpPr>
            <p:nvPr/>
          </p:nvSpPr>
          <p:spPr bwMode="auto">
            <a:xfrm>
              <a:off x="842477" y="4490495"/>
              <a:ext cx="7071706" cy="0"/>
            </a:xfrm>
            <a:prstGeom prst="line">
              <a:avLst/>
            </a:prstGeom>
            <a:ln>
              <a:headEnd type="none" w="sm" len="sm"/>
              <a:tailEnd type="stealth" w="med" len="lg"/>
            </a:ln>
          </p:spPr>
          <p:style>
            <a:lnRef idx="2">
              <a:schemeClr val="dk1"/>
            </a:lnRef>
            <a:fillRef idx="0">
              <a:schemeClr val="dk1"/>
            </a:fillRef>
            <a:effectRef idx="1">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52" name="Rectangle 5">
              <a:extLst>
                <a:ext uri="{FF2B5EF4-FFF2-40B4-BE49-F238E27FC236}">
                  <a16:creationId xmlns:a16="http://schemas.microsoft.com/office/drawing/2014/main" id="{78DDEC4B-6AA7-1BF1-092B-2D3142612623}"/>
                </a:ext>
              </a:extLst>
            </p:cNvPr>
            <p:cNvSpPr>
              <a:spLocks noChangeArrowheads="1"/>
            </p:cNvSpPr>
            <p:nvPr/>
          </p:nvSpPr>
          <p:spPr bwMode="auto">
            <a:xfrm>
              <a:off x="7867984" y="4523878"/>
              <a:ext cx="646802" cy="476277"/>
            </a:xfrm>
            <a:prstGeom prst="rect">
              <a:avLst/>
            </a:prstGeom>
            <a:noFill/>
            <a:ln w="9525">
              <a:noFill/>
              <a:miter lim="800000"/>
              <a:headEnd/>
              <a:tailEnd/>
            </a:ln>
          </p:spPr>
          <p:txBody>
            <a:bodyPr wrap="none" lIns="92075" tIns="46038" rIns="92075" bIns="46038">
              <a:spAutoFit/>
            </a:bodyPr>
            <a:lstStyle/>
            <a:p>
              <a:pPr>
                <a:defRPr/>
              </a:pPr>
              <a:r>
                <a:rPr lang="en-GB" sz="1600" noProof="0" dirty="0">
                  <a:solidFill>
                    <a:schemeClr val="accent1">
                      <a:lumMod val="50000"/>
                    </a:schemeClr>
                  </a:solidFill>
                  <a:latin typeface="Arial" charset="0"/>
                </a:rPr>
                <a:t>R</a:t>
              </a:r>
              <a:endParaRPr lang="en-GB" sz="1600" baseline="-25000" noProof="0" dirty="0">
                <a:solidFill>
                  <a:schemeClr val="accent1">
                    <a:lumMod val="50000"/>
                  </a:schemeClr>
                </a:solidFill>
                <a:latin typeface="Arial" charset="0"/>
              </a:endParaRPr>
            </a:p>
          </p:txBody>
        </p:sp>
        <p:sp>
          <p:nvSpPr>
            <p:cNvPr id="54" name="Line 6">
              <a:extLst>
                <a:ext uri="{FF2B5EF4-FFF2-40B4-BE49-F238E27FC236}">
                  <a16:creationId xmlns:a16="http://schemas.microsoft.com/office/drawing/2014/main" id="{8774C8DE-4A7A-3D63-DA84-37DF0D7C6118}"/>
                </a:ext>
              </a:extLst>
            </p:cNvPr>
            <p:cNvSpPr>
              <a:spLocks noChangeShapeType="1"/>
            </p:cNvSpPr>
            <p:nvPr/>
          </p:nvSpPr>
          <p:spPr bwMode="auto">
            <a:xfrm>
              <a:off x="996477" y="3560198"/>
              <a:ext cx="6403345" cy="44512"/>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57" name="Line 9">
              <a:extLst>
                <a:ext uri="{FF2B5EF4-FFF2-40B4-BE49-F238E27FC236}">
                  <a16:creationId xmlns:a16="http://schemas.microsoft.com/office/drawing/2014/main" id="{6B9B1C59-213D-43AF-5F3B-3D02C29EAC81}"/>
                </a:ext>
              </a:extLst>
            </p:cNvPr>
            <p:cNvSpPr>
              <a:spLocks noChangeShapeType="1"/>
            </p:cNvSpPr>
            <p:nvPr/>
          </p:nvSpPr>
          <p:spPr bwMode="auto">
            <a:xfrm>
              <a:off x="7399822" y="3604710"/>
              <a:ext cx="0" cy="903590"/>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59" name="Line 14">
              <a:extLst>
                <a:ext uri="{FF2B5EF4-FFF2-40B4-BE49-F238E27FC236}">
                  <a16:creationId xmlns:a16="http://schemas.microsoft.com/office/drawing/2014/main" id="{905684E3-E344-73A0-AEEA-AAC91F9E515F}"/>
                </a:ext>
              </a:extLst>
            </p:cNvPr>
            <p:cNvSpPr>
              <a:spLocks noChangeShapeType="1"/>
            </p:cNvSpPr>
            <p:nvPr/>
          </p:nvSpPr>
          <p:spPr bwMode="auto">
            <a:xfrm>
              <a:off x="996477" y="3157365"/>
              <a:ext cx="6403345" cy="447345"/>
            </a:xfrm>
            <a:prstGeom prst="line">
              <a:avLst/>
            </a:prstGeom>
            <a:ln w="31750">
              <a:prstDash val="sysDash"/>
              <a:headEnd type="none" w="sm" len="sm"/>
              <a:tailEnd type="none" w="sm" len="sm"/>
            </a:ln>
          </p:spPr>
          <p:style>
            <a:lnRef idx="3">
              <a:schemeClr val="dk1"/>
            </a:lnRef>
            <a:fillRef idx="0">
              <a:schemeClr val="dk1"/>
            </a:fillRef>
            <a:effectRef idx="2">
              <a:schemeClr val="dk1"/>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60" name="Line 15">
              <a:extLst>
                <a:ext uri="{FF2B5EF4-FFF2-40B4-BE49-F238E27FC236}">
                  <a16:creationId xmlns:a16="http://schemas.microsoft.com/office/drawing/2014/main" id="{6673CDBE-5568-03B9-CD5E-41EC7D83DDAE}"/>
                </a:ext>
              </a:extLst>
            </p:cNvPr>
            <p:cNvSpPr>
              <a:spLocks noChangeShapeType="1"/>
            </p:cNvSpPr>
            <p:nvPr/>
          </p:nvSpPr>
          <p:spPr bwMode="auto">
            <a:xfrm>
              <a:off x="971837" y="1988930"/>
              <a:ext cx="6289383" cy="1513402"/>
            </a:xfrm>
            <a:prstGeom prst="line">
              <a:avLst/>
            </a:prstGeom>
            <a:noFill/>
            <a:ln w="25400">
              <a:solidFill>
                <a:schemeClr val="tx1">
                  <a:lumMod val="65000"/>
                  <a:lumOff val="3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61" name="Line 16">
              <a:extLst>
                <a:ext uri="{FF2B5EF4-FFF2-40B4-BE49-F238E27FC236}">
                  <a16:creationId xmlns:a16="http://schemas.microsoft.com/office/drawing/2014/main" id="{4A3FBA80-35D8-1C79-7832-2AB7659187DB}"/>
                </a:ext>
              </a:extLst>
            </p:cNvPr>
            <p:cNvSpPr>
              <a:spLocks noChangeShapeType="1"/>
            </p:cNvSpPr>
            <p:nvPr/>
          </p:nvSpPr>
          <p:spPr bwMode="auto">
            <a:xfrm>
              <a:off x="971837" y="675831"/>
              <a:ext cx="6427985" cy="2826502"/>
            </a:xfrm>
            <a:prstGeom prst="line">
              <a:avLst/>
            </a:prstGeom>
            <a:noFill/>
            <a:ln w="25400">
              <a:solidFill>
                <a:schemeClr val="tx1">
                  <a:lumMod val="75000"/>
                  <a:lumOff val="2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62" name="Rectangle 21">
              <a:extLst>
                <a:ext uri="{FF2B5EF4-FFF2-40B4-BE49-F238E27FC236}">
                  <a16:creationId xmlns:a16="http://schemas.microsoft.com/office/drawing/2014/main" id="{D9D0A503-E5D9-0ACA-3F7A-4D10B1FA0609}"/>
                </a:ext>
              </a:extLst>
            </p:cNvPr>
            <p:cNvSpPr>
              <a:spLocks noChangeArrowheads="1"/>
            </p:cNvSpPr>
            <p:nvPr/>
          </p:nvSpPr>
          <p:spPr bwMode="auto">
            <a:xfrm>
              <a:off x="414356" y="500008"/>
              <a:ext cx="720723" cy="563075"/>
            </a:xfrm>
            <a:prstGeom prst="rect">
              <a:avLst/>
            </a:prstGeom>
            <a:noFill/>
            <a:ln w="9525">
              <a:noFill/>
              <a:miter lim="800000"/>
              <a:headEnd/>
              <a:tailEnd/>
            </a:ln>
          </p:spPr>
          <p:txBody>
            <a:bodyPr wrap="none" lIns="92075" tIns="46038" rIns="92075" bIns="46038">
              <a:spAutoFit/>
            </a:bodyPr>
            <a:lstStyle/>
            <a:p>
              <a:pPr>
                <a:defRPr/>
              </a:pPr>
              <a:r>
                <a:rPr lang="en-GB" sz="2000" noProof="0" dirty="0">
                  <a:solidFill>
                    <a:schemeClr val="accent1">
                      <a:lumMod val="50000"/>
                    </a:schemeClr>
                  </a:solidFill>
                  <a:latin typeface="Arial" charset="0"/>
                </a:rPr>
                <a:t>C</a:t>
              </a:r>
              <a:endParaRPr lang="en-GB" sz="2000" baseline="-25000" noProof="0" dirty="0">
                <a:solidFill>
                  <a:schemeClr val="accent1">
                    <a:lumMod val="50000"/>
                  </a:schemeClr>
                </a:solidFill>
                <a:latin typeface="Arial" charset="0"/>
              </a:endParaRPr>
            </a:p>
          </p:txBody>
        </p:sp>
        <p:sp>
          <p:nvSpPr>
            <p:cNvPr id="65" name="Arc 41">
              <a:extLst>
                <a:ext uri="{FF2B5EF4-FFF2-40B4-BE49-F238E27FC236}">
                  <a16:creationId xmlns:a16="http://schemas.microsoft.com/office/drawing/2014/main" id="{8064B04C-40C7-7F0A-9F80-A3369E3DA924}"/>
                </a:ext>
              </a:extLst>
            </p:cNvPr>
            <p:cNvSpPr>
              <a:spLocks/>
            </p:cNvSpPr>
            <p:nvPr/>
          </p:nvSpPr>
          <p:spPr bwMode="auto">
            <a:xfrm rot="10193889">
              <a:off x="1640201" y="466625"/>
              <a:ext cx="4795577" cy="2655130"/>
            </a:xfrm>
            <a:custGeom>
              <a:avLst/>
              <a:gdLst>
                <a:gd name="T0" fmla="*/ 0 w 21609"/>
                <a:gd name="T1" fmla="*/ 0 h 21600"/>
                <a:gd name="T2" fmla="*/ 3810000 w 21609"/>
                <a:gd name="T3" fmla="*/ 2495602 h 21600"/>
                <a:gd name="T4" fmla="*/ 1587 w 21609"/>
                <a:gd name="T5" fmla="*/ 2498725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27" y="0"/>
                    <a:pt x="21594" y="9654"/>
                    <a:pt x="21608" y="21573"/>
                  </a:cubicBezTo>
                </a:path>
                <a:path w="21609" h="21600" stroke="0" extrusionOk="0">
                  <a:moveTo>
                    <a:pt x="0" y="0"/>
                  </a:moveTo>
                  <a:cubicBezTo>
                    <a:pt x="3" y="0"/>
                    <a:pt x="6" y="-1"/>
                    <a:pt x="9" y="0"/>
                  </a:cubicBezTo>
                  <a:cubicBezTo>
                    <a:pt x="11927" y="0"/>
                    <a:pt x="21594" y="9654"/>
                    <a:pt x="21608" y="21573"/>
                  </a:cubicBezTo>
                  <a:lnTo>
                    <a:pt x="9" y="21600"/>
                  </a:lnTo>
                  <a:close/>
                </a:path>
              </a:pathLst>
            </a:custGeom>
            <a:noFill/>
            <a:ln w="25400" cap="rnd">
              <a:solidFill>
                <a:schemeClr val="accent2">
                  <a:lumMod val="7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69" name="Oval 18">
              <a:extLst>
                <a:ext uri="{FF2B5EF4-FFF2-40B4-BE49-F238E27FC236}">
                  <a16:creationId xmlns:a16="http://schemas.microsoft.com/office/drawing/2014/main" id="{B4A772B6-3008-2A7A-BA43-6E4BC2919905}"/>
                </a:ext>
              </a:extLst>
            </p:cNvPr>
            <p:cNvSpPr>
              <a:spLocks noChangeArrowheads="1"/>
            </p:cNvSpPr>
            <p:nvPr/>
          </p:nvSpPr>
          <p:spPr bwMode="auto">
            <a:xfrm>
              <a:off x="7261220" y="3502332"/>
              <a:ext cx="231002" cy="202528"/>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GB" noProof="0" dirty="0">
                <a:solidFill>
                  <a:schemeClr val="accent1">
                    <a:lumMod val="50000"/>
                  </a:schemeClr>
                </a:solidFill>
              </a:endParaRPr>
            </a:p>
          </p:txBody>
        </p:sp>
        <p:cxnSp>
          <p:nvCxnSpPr>
            <p:cNvPr id="86" name="Łącznik prosty ze strzałką 85">
              <a:extLst>
                <a:ext uri="{FF2B5EF4-FFF2-40B4-BE49-F238E27FC236}">
                  <a16:creationId xmlns:a16="http://schemas.microsoft.com/office/drawing/2014/main" id="{DC8351D4-A027-74BE-7543-2FE31D9889C5}"/>
                </a:ext>
              </a:extLst>
            </p:cNvPr>
            <p:cNvCxnSpPr/>
            <p:nvPr/>
          </p:nvCxnSpPr>
          <p:spPr>
            <a:xfrm flipH="1">
              <a:off x="3626807" y="4612902"/>
              <a:ext cx="1118045"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
        <p:nvSpPr>
          <p:cNvPr id="95" name="Arc 41">
            <a:extLst>
              <a:ext uri="{FF2B5EF4-FFF2-40B4-BE49-F238E27FC236}">
                <a16:creationId xmlns:a16="http://schemas.microsoft.com/office/drawing/2014/main" id="{A393AF66-E9FE-9C62-EA53-D92CC9706881}"/>
              </a:ext>
            </a:extLst>
          </p:cNvPr>
          <p:cNvSpPr>
            <a:spLocks/>
          </p:cNvSpPr>
          <p:nvPr/>
        </p:nvSpPr>
        <p:spPr bwMode="auto">
          <a:xfrm rot="9483353">
            <a:off x="3014664" y="1763714"/>
            <a:ext cx="2179637" cy="2084387"/>
          </a:xfrm>
          <a:custGeom>
            <a:avLst/>
            <a:gdLst>
              <a:gd name="T0" fmla="*/ 0 w 21609"/>
              <a:gd name="T1" fmla="*/ 0 h 21600"/>
              <a:gd name="T2" fmla="*/ 3810000 w 21609"/>
              <a:gd name="T3" fmla="*/ 2495602 h 21600"/>
              <a:gd name="T4" fmla="*/ 1587 w 21609"/>
              <a:gd name="T5" fmla="*/ 2498725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27" y="0"/>
                  <a:pt x="21594" y="9654"/>
                  <a:pt x="21608" y="21573"/>
                </a:cubicBezTo>
              </a:path>
              <a:path w="21609" h="21600" stroke="0" extrusionOk="0">
                <a:moveTo>
                  <a:pt x="0" y="0"/>
                </a:moveTo>
                <a:cubicBezTo>
                  <a:pt x="3" y="0"/>
                  <a:pt x="6" y="-1"/>
                  <a:pt x="9" y="0"/>
                </a:cubicBezTo>
                <a:cubicBezTo>
                  <a:pt x="11927" y="0"/>
                  <a:pt x="21594" y="9654"/>
                  <a:pt x="21608" y="21573"/>
                </a:cubicBezTo>
                <a:lnTo>
                  <a:pt x="9" y="21600"/>
                </a:lnTo>
                <a:close/>
              </a:path>
            </a:pathLst>
          </a:custGeom>
          <a:noFill/>
          <a:ln w="25400" cap="rnd">
            <a:solidFill>
              <a:schemeClr val="accent2">
                <a:lumMod val="7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sp>
        <p:nvSpPr>
          <p:cNvPr id="102" name="Oval 18">
            <a:extLst>
              <a:ext uri="{FF2B5EF4-FFF2-40B4-BE49-F238E27FC236}">
                <a16:creationId xmlns:a16="http://schemas.microsoft.com/office/drawing/2014/main" id="{F01F2192-001B-2D12-728E-F8EE4945A113}"/>
              </a:ext>
            </a:extLst>
          </p:cNvPr>
          <p:cNvSpPr>
            <a:spLocks noChangeArrowheads="1"/>
          </p:cNvSpPr>
          <p:nvPr/>
        </p:nvSpPr>
        <p:spPr bwMode="auto">
          <a:xfrm>
            <a:off x="3208338" y="3519488"/>
            <a:ext cx="120650" cy="144462"/>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103" name="Oval 18">
            <a:extLst>
              <a:ext uri="{FF2B5EF4-FFF2-40B4-BE49-F238E27FC236}">
                <a16:creationId xmlns:a16="http://schemas.microsoft.com/office/drawing/2014/main" id="{F66434EA-ED43-FB00-C789-AADD0292CB5F}"/>
              </a:ext>
            </a:extLst>
          </p:cNvPr>
          <p:cNvSpPr>
            <a:spLocks noChangeArrowheads="1"/>
          </p:cNvSpPr>
          <p:nvPr/>
        </p:nvSpPr>
        <p:spPr bwMode="auto">
          <a:xfrm>
            <a:off x="3640138" y="3232151"/>
            <a:ext cx="120650" cy="144463"/>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106" name="Arc 41">
            <a:extLst>
              <a:ext uri="{FF2B5EF4-FFF2-40B4-BE49-F238E27FC236}">
                <a16:creationId xmlns:a16="http://schemas.microsoft.com/office/drawing/2014/main" id="{7D1AE918-9165-1E0D-B40F-30F224310961}"/>
              </a:ext>
            </a:extLst>
          </p:cNvPr>
          <p:cNvSpPr>
            <a:spLocks/>
          </p:cNvSpPr>
          <p:nvPr/>
        </p:nvSpPr>
        <p:spPr bwMode="auto">
          <a:xfrm rot="9279238">
            <a:off x="2457451" y="2430463"/>
            <a:ext cx="2130425" cy="2093912"/>
          </a:xfrm>
          <a:custGeom>
            <a:avLst/>
            <a:gdLst>
              <a:gd name="T0" fmla="*/ 0 w 21609"/>
              <a:gd name="T1" fmla="*/ 0 h 21600"/>
              <a:gd name="T2" fmla="*/ 3810000 w 21609"/>
              <a:gd name="T3" fmla="*/ 2495602 h 21600"/>
              <a:gd name="T4" fmla="*/ 1587 w 21609"/>
              <a:gd name="T5" fmla="*/ 2498725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27" y="0"/>
                  <a:pt x="21594" y="9654"/>
                  <a:pt x="21608" y="21573"/>
                </a:cubicBezTo>
              </a:path>
              <a:path w="21609" h="21600" stroke="0" extrusionOk="0">
                <a:moveTo>
                  <a:pt x="0" y="0"/>
                </a:moveTo>
                <a:cubicBezTo>
                  <a:pt x="3" y="0"/>
                  <a:pt x="6" y="-1"/>
                  <a:pt x="9" y="0"/>
                </a:cubicBezTo>
                <a:cubicBezTo>
                  <a:pt x="11927" y="0"/>
                  <a:pt x="21594" y="9654"/>
                  <a:pt x="21608" y="21573"/>
                </a:cubicBezTo>
                <a:lnTo>
                  <a:pt x="9" y="21600"/>
                </a:lnTo>
                <a:close/>
              </a:path>
            </a:pathLst>
          </a:custGeom>
          <a:noFill/>
          <a:ln w="25400" cap="rnd">
            <a:solidFill>
              <a:schemeClr val="accent2">
                <a:lumMod val="75000"/>
              </a:schemeClr>
            </a:solidFill>
            <a:prstDash val="sysDash"/>
            <a:round/>
            <a:headEnd type="none" w="sm" len="sm"/>
            <a:tailEnd type="none" w="sm" len="sm"/>
          </a:ln>
        </p:spPr>
        <p:txBody>
          <a:bodyPr wrap="none" anchor="ctr"/>
          <a:lstStyle/>
          <a:p>
            <a:pPr>
              <a:defRPr/>
            </a:pPr>
            <a:endParaRPr lang="en-GB" noProof="0" dirty="0">
              <a:solidFill>
                <a:schemeClr val="accent1">
                  <a:lumMod val="50000"/>
                </a:schemeClr>
              </a:solidFill>
              <a:latin typeface="Arial" charset="0"/>
            </a:endParaRPr>
          </a:p>
        </p:txBody>
      </p:sp>
      <p:cxnSp>
        <p:nvCxnSpPr>
          <p:cNvPr id="107" name="Łącznik prosty ze strzałką 106">
            <a:extLst>
              <a:ext uri="{FF2B5EF4-FFF2-40B4-BE49-F238E27FC236}">
                <a16:creationId xmlns:a16="http://schemas.microsoft.com/office/drawing/2014/main" id="{10377F52-7406-5669-A443-D2766ECED610}"/>
              </a:ext>
            </a:extLst>
          </p:cNvPr>
          <p:cNvCxnSpPr/>
          <p:nvPr/>
        </p:nvCxnSpPr>
        <p:spPr bwMode="auto">
          <a:xfrm>
            <a:off x="3279775" y="5392738"/>
            <a:ext cx="433388"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10" name="Line 9">
            <a:extLst>
              <a:ext uri="{FF2B5EF4-FFF2-40B4-BE49-F238E27FC236}">
                <a16:creationId xmlns:a16="http://schemas.microsoft.com/office/drawing/2014/main" id="{B7782F99-C63C-0544-55A0-904A2EB6D82A}"/>
              </a:ext>
            </a:extLst>
          </p:cNvPr>
          <p:cNvSpPr>
            <a:spLocks noChangeShapeType="1"/>
          </p:cNvSpPr>
          <p:nvPr/>
        </p:nvSpPr>
        <p:spPr bwMode="auto">
          <a:xfrm>
            <a:off x="3856038" y="4168775"/>
            <a:ext cx="0" cy="863600"/>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111" name="Line 9">
            <a:extLst>
              <a:ext uri="{FF2B5EF4-FFF2-40B4-BE49-F238E27FC236}">
                <a16:creationId xmlns:a16="http://schemas.microsoft.com/office/drawing/2014/main" id="{83F141D8-BEF1-EA58-3422-A96462BF0133}"/>
              </a:ext>
            </a:extLst>
          </p:cNvPr>
          <p:cNvSpPr>
            <a:spLocks noChangeShapeType="1"/>
          </p:cNvSpPr>
          <p:nvPr/>
        </p:nvSpPr>
        <p:spPr bwMode="auto">
          <a:xfrm>
            <a:off x="3279775" y="3663950"/>
            <a:ext cx="0" cy="1728788"/>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99" name="Oval 18">
            <a:extLst>
              <a:ext uri="{FF2B5EF4-FFF2-40B4-BE49-F238E27FC236}">
                <a16:creationId xmlns:a16="http://schemas.microsoft.com/office/drawing/2014/main" id="{6700F402-43CE-A3C9-1ED8-AEF648DCD010}"/>
              </a:ext>
            </a:extLst>
          </p:cNvPr>
          <p:cNvSpPr>
            <a:spLocks noChangeArrowheads="1"/>
          </p:cNvSpPr>
          <p:nvPr/>
        </p:nvSpPr>
        <p:spPr bwMode="auto">
          <a:xfrm>
            <a:off x="3784600" y="4095751"/>
            <a:ext cx="120650" cy="144463"/>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defRPr/>
            </a:pPr>
            <a:endParaRPr lang="en-GB" noProof="0" dirty="0">
              <a:solidFill>
                <a:schemeClr val="accent1">
                  <a:lumMod val="50000"/>
                </a:schemeClr>
              </a:solidFill>
            </a:endParaRPr>
          </a:p>
        </p:txBody>
      </p:sp>
      <p:sp>
        <p:nvSpPr>
          <p:cNvPr id="113" name="Line 9">
            <a:extLst>
              <a:ext uri="{FF2B5EF4-FFF2-40B4-BE49-F238E27FC236}">
                <a16:creationId xmlns:a16="http://schemas.microsoft.com/office/drawing/2014/main" id="{A581BCF5-F613-5689-A41D-1776640E66B6}"/>
              </a:ext>
            </a:extLst>
          </p:cNvPr>
          <p:cNvSpPr>
            <a:spLocks noChangeShapeType="1"/>
          </p:cNvSpPr>
          <p:nvPr/>
        </p:nvSpPr>
        <p:spPr bwMode="auto">
          <a:xfrm>
            <a:off x="3713163" y="3376614"/>
            <a:ext cx="0" cy="20161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cxnSp>
        <p:nvCxnSpPr>
          <p:cNvPr id="114" name="Łącznik prosty ze strzałką 113">
            <a:extLst>
              <a:ext uri="{FF2B5EF4-FFF2-40B4-BE49-F238E27FC236}">
                <a16:creationId xmlns:a16="http://schemas.microsoft.com/office/drawing/2014/main" id="{903C2147-B4D8-B700-17E0-344D894AAD34}"/>
              </a:ext>
            </a:extLst>
          </p:cNvPr>
          <p:cNvCxnSpPr/>
          <p:nvPr/>
        </p:nvCxnSpPr>
        <p:spPr bwMode="auto">
          <a:xfrm>
            <a:off x="8680451" y="5319713"/>
            <a:ext cx="504825"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55" name="Line 9">
            <a:extLst>
              <a:ext uri="{FF2B5EF4-FFF2-40B4-BE49-F238E27FC236}">
                <a16:creationId xmlns:a16="http://schemas.microsoft.com/office/drawing/2014/main" id="{CD29D61E-D970-EB6D-D9E1-B78495D62F43}"/>
              </a:ext>
            </a:extLst>
          </p:cNvPr>
          <p:cNvSpPr>
            <a:spLocks noChangeShapeType="1"/>
          </p:cNvSpPr>
          <p:nvPr/>
        </p:nvSpPr>
        <p:spPr bwMode="auto">
          <a:xfrm>
            <a:off x="9185275" y="4024314"/>
            <a:ext cx="0" cy="1512887"/>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sp>
        <p:nvSpPr>
          <p:cNvPr id="58" name="Line 9">
            <a:extLst>
              <a:ext uri="{FF2B5EF4-FFF2-40B4-BE49-F238E27FC236}">
                <a16:creationId xmlns:a16="http://schemas.microsoft.com/office/drawing/2014/main" id="{657406F4-FB91-C3E4-C059-D5C0F28067C9}"/>
              </a:ext>
            </a:extLst>
          </p:cNvPr>
          <p:cNvSpPr>
            <a:spLocks noChangeShapeType="1"/>
          </p:cNvSpPr>
          <p:nvPr/>
        </p:nvSpPr>
        <p:spPr bwMode="auto">
          <a:xfrm>
            <a:off x="8680450" y="4600575"/>
            <a:ext cx="0" cy="719138"/>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cxnSp>
        <p:nvCxnSpPr>
          <p:cNvPr id="64" name="Łącznik prosty ze strzałką 63">
            <a:extLst>
              <a:ext uri="{FF2B5EF4-FFF2-40B4-BE49-F238E27FC236}">
                <a16:creationId xmlns:a16="http://schemas.microsoft.com/office/drawing/2014/main" id="{F2E529EE-FDBE-5FEF-843E-DB674C1E4372}"/>
              </a:ext>
            </a:extLst>
          </p:cNvPr>
          <p:cNvCxnSpPr/>
          <p:nvPr/>
        </p:nvCxnSpPr>
        <p:spPr bwMode="auto">
          <a:xfrm flipH="1">
            <a:off x="8753475" y="5537200"/>
            <a:ext cx="43180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70" name="Line 9">
            <a:extLst>
              <a:ext uri="{FF2B5EF4-FFF2-40B4-BE49-F238E27FC236}">
                <a16:creationId xmlns:a16="http://schemas.microsoft.com/office/drawing/2014/main" id="{89A68AE0-B919-101E-6879-E4D8A0928F0E}"/>
              </a:ext>
            </a:extLst>
          </p:cNvPr>
          <p:cNvSpPr>
            <a:spLocks noChangeShapeType="1"/>
          </p:cNvSpPr>
          <p:nvPr/>
        </p:nvSpPr>
        <p:spPr bwMode="auto">
          <a:xfrm>
            <a:off x="8753475" y="3519488"/>
            <a:ext cx="0" cy="2017712"/>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pPr>
              <a:defRPr/>
            </a:pPr>
            <a:endParaRPr lang="en-GB" noProof="0" dirty="0">
              <a:solidFill>
                <a:schemeClr val="accent1">
                  <a:lumMod val="50000"/>
                </a:schemeClr>
              </a:solidFill>
            </a:endParaRPr>
          </a:p>
        </p:txBody>
      </p:sp>
      <p:cxnSp>
        <p:nvCxnSpPr>
          <p:cNvPr id="71" name="Łącznik prosty ze strzałką 70">
            <a:extLst>
              <a:ext uri="{FF2B5EF4-FFF2-40B4-BE49-F238E27FC236}">
                <a16:creationId xmlns:a16="http://schemas.microsoft.com/office/drawing/2014/main" id="{C866A8A7-C2AE-A0EC-D833-81DA088835E7}"/>
              </a:ext>
            </a:extLst>
          </p:cNvPr>
          <p:cNvCxnSpPr/>
          <p:nvPr/>
        </p:nvCxnSpPr>
        <p:spPr bwMode="auto">
          <a:xfrm flipV="1">
            <a:off x="7816850" y="4024313"/>
            <a:ext cx="0" cy="5762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3" name="Łącznik prosty ze strzałką 72">
            <a:extLst>
              <a:ext uri="{FF2B5EF4-FFF2-40B4-BE49-F238E27FC236}">
                <a16:creationId xmlns:a16="http://schemas.microsoft.com/office/drawing/2014/main" id="{FCB077B1-3F54-C98D-0A1D-67CD741568B0}"/>
              </a:ext>
            </a:extLst>
          </p:cNvPr>
          <p:cNvCxnSpPr/>
          <p:nvPr/>
        </p:nvCxnSpPr>
        <p:spPr bwMode="auto">
          <a:xfrm flipV="1">
            <a:off x="8248650" y="3519489"/>
            <a:ext cx="0" cy="50482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3" name="TextShape 1">
            <a:extLst>
              <a:ext uri="{FF2B5EF4-FFF2-40B4-BE49-F238E27FC236}">
                <a16:creationId xmlns:a16="http://schemas.microsoft.com/office/drawing/2014/main" id="{7A7F7DA8-D4C3-42FE-4B88-90DD15550568}"/>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Labour supply – when rationality is not enough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3" name="Grupa 121">
            <a:extLst>
              <a:ext uri="{FF2B5EF4-FFF2-40B4-BE49-F238E27FC236}">
                <a16:creationId xmlns:a16="http://schemas.microsoft.com/office/drawing/2014/main" id="{EDDA953B-8E7A-7F60-772C-C0478DF5A9FB}"/>
              </a:ext>
            </a:extLst>
          </p:cNvPr>
          <p:cNvGrpSpPr>
            <a:grpSpLocks/>
          </p:cNvGrpSpPr>
          <p:nvPr/>
        </p:nvGrpSpPr>
        <p:grpSpPr bwMode="auto">
          <a:xfrm>
            <a:off x="3081973" y="1639571"/>
            <a:ext cx="5256212" cy="4264025"/>
            <a:chOff x="4306538" y="1268760"/>
            <a:chExt cx="3794022" cy="3711577"/>
          </a:xfrm>
        </p:grpSpPr>
        <p:grpSp>
          <p:nvGrpSpPr>
            <p:cNvPr id="15371" name="Grupa 38">
              <a:extLst>
                <a:ext uri="{FF2B5EF4-FFF2-40B4-BE49-F238E27FC236}">
                  <a16:creationId xmlns:a16="http://schemas.microsoft.com/office/drawing/2014/main" id="{650FCB6C-08BA-BB8A-70F2-4F931F15E544}"/>
                </a:ext>
              </a:extLst>
            </p:cNvPr>
            <p:cNvGrpSpPr>
              <a:grpSpLocks/>
            </p:cNvGrpSpPr>
            <p:nvPr/>
          </p:nvGrpSpPr>
          <p:grpSpPr bwMode="auto">
            <a:xfrm>
              <a:off x="4306538" y="1268760"/>
              <a:ext cx="3794022" cy="3711577"/>
              <a:chOff x="6625579" y="2503894"/>
              <a:chExt cx="4622078" cy="1642774"/>
            </a:xfrm>
          </p:grpSpPr>
          <p:grpSp>
            <p:nvGrpSpPr>
              <p:cNvPr id="15382" name="Grupa 34">
                <a:extLst>
                  <a:ext uri="{FF2B5EF4-FFF2-40B4-BE49-F238E27FC236}">
                    <a16:creationId xmlns:a16="http://schemas.microsoft.com/office/drawing/2014/main" id="{61FD2BBB-21AE-8717-2716-0F1EA97C1671}"/>
                  </a:ext>
                </a:extLst>
              </p:cNvPr>
              <p:cNvGrpSpPr>
                <a:grpSpLocks/>
              </p:cNvGrpSpPr>
              <p:nvPr/>
            </p:nvGrpSpPr>
            <p:grpSpPr bwMode="auto">
              <a:xfrm>
                <a:off x="6625579" y="2503894"/>
                <a:ext cx="4622078" cy="1642774"/>
                <a:chOff x="6193531" y="2647910"/>
                <a:chExt cx="4622078" cy="1642774"/>
              </a:xfrm>
            </p:grpSpPr>
            <p:grpSp>
              <p:nvGrpSpPr>
                <p:cNvPr id="15384" name="Grupa 20">
                  <a:extLst>
                    <a:ext uri="{FF2B5EF4-FFF2-40B4-BE49-F238E27FC236}">
                      <a16:creationId xmlns:a16="http://schemas.microsoft.com/office/drawing/2014/main" id="{9B6B3219-4AE4-EA82-0099-F55D1B86B891}"/>
                    </a:ext>
                  </a:extLst>
                </p:cNvPr>
                <p:cNvGrpSpPr>
                  <a:grpSpLocks/>
                </p:cNvGrpSpPr>
                <p:nvPr/>
              </p:nvGrpSpPr>
              <p:grpSpPr bwMode="auto">
                <a:xfrm>
                  <a:off x="6193531" y="2647910"/>
                  <a:ext cx="4622078" cy="1642774"/>
                  <a:chOff x="864321" y="1493147"/>
                  <a:chExt cx="4622078" cy="3630795"/>
                </a:xfrm>
              </p:grpSpPr>
              <p:sp>
                <p:nvSpPr>
                  <p:cNvPr id="67" name="Line 3">
                    <a:extLst>
                      <a:ext uri="{FF2B5EF4-FFF2-40B4-BE49-F238E27FC236}">
                        <a16:creationId xmlns:a16="http://schemas.microsoft.com/office/drawing/2014/main" id="{0FF37FD7-70EB-4CDB-12F3-856A19E49B8B}"/>
                      </a:ext>
                    </a:extLst>
                  </p:cNvPr>
                  <p:cNvSpPr>
                    <a:spLocks noChangeShapeType="1"/>
                  </p:cNvSpPr>
                  <p:nvPr/>
                </p:nvSpPr>
                <p:spPr bwMode="auto">
                  <a:xfrm>
                    <a:off x="1447839" y="1599936"/>
                    <a:ext cx="0" cy="3048191"/>
                  </a:xfrm>
                  <a:prstGeom prst="line">
                    <a:avLst/>
                  </a:prstGeom>
                  <a:ln>
                    <a:headEnd type="stealth" w="med" len="lg"/>
                    <a:tailEnd type="none" w="sm" len="sm"/>
                  </a:ln>
                </p:spPr>
                <p:style>
                  <a:lnRef idx="2">
                    <a:schemeClr val="accent2"/>
                  </a:lnRef>
                  <a:fillRef idx="0">
                    <a:schemeClr val="accent2"/>
                  </a:fillRef>
                  <a:effectRef idx="1">
                    <a:schemeClr val="accent2"/>
                  </a:effectRef>
                  <a:fontRef idx="minor">
                    <a:schemeClr val="tx1"/>
                  </a:fontRef>
                </p:style>
                <p:txBody>
                  <a:bodyPr wrap="none" anchor="ctr"/>
                  <a:lstStyle/>
                  <a:p>
                    <a:pPr>
                      <a:defRPr/>
                    </a:pPr>
                    <a:endParaRPr lang="en-GB" b="1" noProof="0" dirty="0">
                      <a:solidFill>
                        <a:schemeClr val="accent5">
                          <a:lumMod val="50000"/>
                        </a:schemeClr>
                      </a:solidFill>
                    </a:endParaRPr>
                  </a:p>
                </p:txBody>
              </p:sp>
              <p:sp>
                <p:nvSpPr>
                  <p:cNvPr id="68" name="Line 4">
                    <a:extLst>
                      <a:ext uri="{FF2B5EF4-FFF2-40B4-BE49-F238E27FC236}">
                        <a16:creationId xmlns:a16="http://schemas.microsoft.com/office/drawing/2014/main" id="{7AACE744-6040-25BF-1BD1-E40714B9E0D5}"/>
                      </a:ext>
                    </a:extLst>
                  </p:cNvPr>
                  <p:cNvSpPr>
                    <a:spLocks noChangeShapeType="1"/>
                  </p:cNvSpPr>
                  <p:nvPr/>
                </p:nvSpPr>
                <p:spPr bwMode="auto">
                  <a:xfrm>
                    <a:off x="1447839" y="4648127"/>
                    <a:ext cx="4038560" cy="0"/>
                  </a:xfrm>
                  <a:prstGeom prst="line">
                    <a:avLst/>
                  </a:prstGeom>
                  <a:ln>
                    <a:headEnd type="none" w="sm" len="sm"/>
                    <a:tailEnd type="stealth" w="med" len="lg"/>
                  </a:ln>
                </p:spPr>
                <p:style>
                  <a:lnRef idx="2">
                    <a:schemeClr val="accent2"/>
                  </a:lnRef>
                  <a:fillRef idx="0">
                    <a:schemeClr val="accent2"/>
                  </a:fillRef>
                  <a:effectRef idx="1">
                    <a:schemeClr val="accent2"/>
                  </a:effectRef>
                  <a:fontRef idx="minor">
                    <a:schemeClr val="tx1"/>
                  </a:fontRef>
                </p:style>
                <p:txBody>
                  <a:bodyPr wrap="none" anchor="ctr"/>
                  <a:lstStyle/>
                  <a:p>
                    <a:pPr>
                      <a:defRPr/>
                    </a:pPr>
                    <a:endParaRPr lang="en-GB" b="1" noProof="0" dirty="0">
                      <a:solidFill>
                        <a:schemeClr val="accent5">
                          <a:lumMod val="50000"/>
                        </a:schemeClr>
                      </a:solidFill>
                    </a:endParaRPr>
                  </a:p>
                </p:txBody>
              </p:sp>
              <p:sp>
                <p:nvSpPr>
                  <p:cNvPr id="13340" name="Rectangle 7">
                    <a:extLst>
                      <a:ext uri="{FF2B5EF4-FFF2-40B4-BE49-F238E27FC236}">
                        <a16:creationId xmlns:a16="http://schemas.microsoft.com/office/drawing/2014/main" id="{19A77139-2933-A372-06F9-42EB7E22B2A6}"/>
                      </a:ext>
                    </a:extLst>
                  </p:cNvPr>
                  <p:cNvSpPr>
                    <a:spLocks noChangeArrowheads="1"/>
                  </p:cNvSpPr>
                  <p:nvPr/>
                </p:nvSpPr>
                <p:spPr bwMode="auto">
                  <a:xfrm>
                    <a:off x="1016482" y="1493147"/>
                    <a:ext cx="302927" cy="314958"/>
                  </a:xfrm>
                  <a:prstGeom prst="rect">
                    <a:avLst/>
                  </a:prstGeom>
                  <a:noFill/>
                  <a:ln w="9525">
                    <a:noFill/>
                    <a:miter lim="800000"/>
                    <a:headEnd/>
                    <a:tailEnd/>
                  </a:ln>
                </p:spPr>
                <p:txBody>
                  <a:bodyPr lIns="92075" tIns="46038" rIns="92075" bIns="46038">
                    <a:spAutoFit/>
                  </a:bodyPr>
                  <a:lstStyle/>
                  <a:p>
                    <a:pPr>
                      <a:defRPr/>
                    </a:pPr>
                    <a:r>
                      <a:rPr lang="en-GB" b="1" noProof="0" dirty="0">
                        <a:solidFill>
                          <a:schemeClr val="accent5">
                            <a:lumMod val="50000"/>
                          </a:schemeClr>
                        </a:solidFill>
                        <a:latin typeface="Calibri" pitchFamily="34" charset="0"/>
                      </a:rPr>
                      <a:t>w</a:t>
                    </a:r>
                  </a:p>
                </p:txBody>
              </p:sp>
              <p:sp>
                <p:nvSpPr>
                  <p:cNvPr id="13341" name="Rectangle 16">
                    <a:extLst>
                      <a:ext uri="{FF2B5EF4-FFF2-40B4-BE49-F238E27FC236}">
                        <a16:creationId xmlns:a16="http://schemas.microsoft.com/office/drawing/2014/main" id="{6F178BBC-3816-A000-664E-256ABA02BC1A}"/>
                      </a:ext>
                    </a:extLst>
                  </p:cNvPr>
                  <p:cNvSpPr>
                    <a:spLocks noChangeArrowheads="1"/>
                  </p:cNvSpPr>
                  <p:nvPr/>
                </p:nvSpPr>
                <p:spPr bwMode="auto">
                  <a:xfrm>
                    <a:off x="864321" y="3762732"/>
                    <a:ext cx="538847" cy="314957"/>
                  </a:xfrm>
                  <a:prstGeom prst="rect">
                    <a:avLst/>
                  </a:prstGeom>
                  <a:noFill/>
                  <a:ln w="9525">
                    <a:noFill/>
                    <a:miter lim="800000"/>
                    <a:headEnd/>
                    <a:tailEnd/>
                  </a:ln>
                </p:spPr>
                <p:txBody>
                  <a:bodyPr lIns="92075" tIns="46038" rIns="92075" bIns="46038">
                    <a:spAutoFit/>
                  </a:bodyPr>
                  <a:lstStyle/>
                  <a:p>
                    <a:pPr>
                      <a:defRPr/>
                    </a:pPr>
                    <a:r>
                      <a:rPr lang="en-GB" b="1" noProof="0" dirty="0">
                        <a:solidFill>
                          <a:schemeClr val="accent5">
                            <a:lumMod val="50000"/>
                          </a:schemeClr>
                        </a:solidFill>
                        <a:latin typeface="Calibri" pitchFamily="34" charset="0"/>
                      </a:rPr>
                      <a:t>w*</a:t>
                    </a:r>
                  </a:p>
                </p:txBody>
              </p:sp>
              <p:sp>
                <p:nvSpPr>
                  <p:cNvPr id="13342" name="Rectangle 17">
                    <a:extLst>
                      <a:ext uri="{FF2B5EF4-FFF2-40B4-BE49-F238E27FC236}">
                        <a16:creationId xmlns:a16="http://schemas.microsoft.com/office/drawing/2014/main" id="{E6524845-5F93-93B6-7083-0EBF137CC525}"/>
                      </a:ext>
                    </a:extLst>
                  </p:cNvPr>
                  <p:cNvSpPr>
                    <a:spLocks noChangeArrowheads="1"/>
                  </p:cNvSpPr>
                  <p:nvPr/>
                </p:nvSpPr>
                <p:spPr bwMode="auto">
                  <a:xfrm>
                    <a:off x="2910823" y="4808985"/>
                    <a:ext cx="350390" cy="314957"/>
                  </a:xfrm>
                  <a:prstGeom prst="rect">
                    <a:avLst/>
                  </a:prstGeom>
                  <a:noFill/>
                  <a:ln w="9525">
                    <a:noFill/>
                    <a:miter lim="800000"/>
                    <a:headEnd/>
                    <a:tailEnd/>
                  </a:ln>
                </p:spPr>
                <p:txBody>
                  <a:bodyPr wrap="none" lIns="92075" tIns="46038" rIns="92075" bIns="46038">
                    <a:spAutoFit/>
                  </a:bodyPr>
                  <a:lstStyle/>
                  <a:p>
                    <a:pPr>
                      <a:defRPr/>
                    </a:pPr>
                    <a:r>
                      <a:rPr lang="en-GB" b="1" noProof="0" dirty="0">
                        <a:solidFill>
                          <a:schemeClr val="accent5">
                            <a:lumMod val="50000"/>
                          </a:schemeClr>
                        </a:solidFill>
                        <a:latin typeface="Calibri" pitchFamily="34" charset="0"/>
                      </a:rPr>
                      <a:t>L*</a:t>
                    </a:r>
                  </a:p>
                </p:txBody>
              </p:sp>
              <p:sp>
                <p:nvSpPr>
                  <p:cNvPr id="13343" name="Rectangle 20">
                    <a:extLst>
                      <a:ext uri="{FF2B5EF4-FFF2-40B4-BE49-F238E27FC236}">
                        <a16:creationId xmlns:a16="http://schemas.microsoft.com/office/drawing/2014/main" id="{D198EA56-7C66-A738-5DB3-5D5AB7360EBB}"/>
                      </a:ext>
                    </a:extLst>
                  </p:cNvPr>
                  <p:cNvSpPr>
                    <a:spLocks noChangeArrowheads="1"/>
                  </p:cNvSpPr>
                  <p:nvPr/>
                </p:nvSpPr>
                <p:spPr bwMode="auto">
                  <a:xfrm>
                    <a:off x="2827064" y="4130408"/>
                    <a:ext cx="629585" cy="314957"/>
                  </a:xfrm>
                  <a:prstGeom prst="rect">
                    <a:avLst/>
                  </a:prstGeom>
                  <a:noFill/>
                  <a:ln w="9525">
                    <a:noFill/>
                    <a:miter lim="800000"/>
                    <a:headEnd/>
                    <a:tailEnd/>
                  </a:ln>
                </p:spPr>
                <p:txBody>
                  <a:bodyPr lIns="92075" tIns="46038" rIns="92075" bIns="46038">
                    <a:spAutoFit/>
                  </a:bodyPr>
                  <a:lstStyle/>
                  <a:p>
                    <a:pPr>
                      <a:defRPr/>
                    </a:pPr>
                    <a:r>
                      <a:rPr lang="en-GB" b="1" noProof="0" dirty="0">
                        <a:solidFill>
                          <a:schemeClr val="accent5">
                            <a:lumMod val="50000"/>
                          </a:schemeClr>
                        </a:solidFill>
                        <a:latin typeface="Calibri" pitchFamily="34" charset="0"/>
                      </a:rPr>
                      <a:t>S</a:t>
                    </a:r>
                  </a:p>
                </p:txBody>
              </p:sp>
              <p:sp>
                <p:nvSpPr>
                  <p:cNvPr id="76" name="Line 21">
                    <a:extLst>
                      <a:ext uri="{FF2B5EF4-FFF2-40B4-BE49-F238E27FC236}">
                        <a16:creationId xmlns:a16="http://schemas.microsoft.com/office/drawing/2014/main" id="{462EF5D5-C75D-1331-C378-ED2CB12205DD}"/>
                      </a:ext>
                    </a:extLst>
                  </p:cNvPr>
                  <p:cNvSpPr>
                    <a:spLocks noChangeShapeType="1"/>
                  </p:cNvSpPr>
                  <p:nvPr/>
                </p:nvSpPr>
                <p:spPr bwMode="auto">
                  <a:xfrm>
                    <a:off x="1428296" y="2143338"/>
                    <a:ext cx="3499713" cy="2500734"/>
                  </a:xfrm>
                  <a:prstGeom prst="line">
                    <a:avLst/>
                  </a:prstGeom>
                  <a:ln>
                    <a:headEnd type="none" w="sm" len="sm"/>
                    <a:tailEnd type="none" w="sm" len="sm"/>
                  </a:ln>
                </p:spPr>
                <p:style>
                  <a:lnRef idx="2">
                    <a:schemeClr val="accent4"/>
                  </a:lnRef>
                  <a:fillRef idx="0">
                    <a:schemeClr val="accent4"/>
                  </a:fillRef>
                  <a:effectRef idx="1">
                    <a:schemeClr val="accent4"/>
                  </a:effectRef>
                  <a:fontRef idx="minor">
                    <a:schemeClr val="tx1"/>
                  </a:fontRef>
                </p:style>
                <p:txBody>
                  <a:bodyPr wrap="none" anchor="ctr"/>
                  <a:lstStyle/>
                  <a:p>
                    <a:pPr>
                      <a:defRPr/>
                    </a:pPr>
                    <a:endParaRPr lang="en-GB" b="1" noProof="0" dirty="0">
                      <a:solidFill>
                        <a:schemeClr val="accent5">
                          <a:lumMod val="50000"/>
                        </a:schemeClr>
                      </a:solidFill>
                    </a:endParaRPr>
                  </a:p>
                </p:txBody>
              </p:sp>
            </p:grpSp>
            <p:sp>
              <p:nvSpPr>
                <p:cNvPr id="13337" name="Rectangle 7">
                  <a:extLst>
                    <a:ext uri="{FF2B5EF4-FFF2-40B4-BE49-F238E27FC236}">
                      <a16:creationId xmlns:a16="http://schemas.microsoft.com/office/drawing/2014/main" id="{5BB8A484-3606-C68B-E98D-32F71BDCF2EE}"/>
                    </a:ext>
                  </a:extLst>
                </p:cNvPr>
                <p:cNvSpPr>
                  <a:spLocks noChangeArrowheads="1"/>
                </p:cNvSpPr>
                <p:nvPr/>
              </p:nvSpPr>
              <p:spPr bwMode="auto">
                <a:xfrm>
                  <a:off x="10488950" y="4091300"/>
                  <a:ext cx="287571" cy="142504"/>
                </a:xfrm>
                <a:prstGeom prst="rect">
                  <a:avLst/>
                </a:prstGeom>
                <a:noFill/>
                <a:ln w="9525">
                  <a:noFill/>
                  <a:miter lim="800000"/>
                  <a:headEnd/>
                  <a:tailEnd/>
                </a:ln>
              </p:spPr>
              <p:txBody>
                <a:bodyPr lIns="92075" tIns="46038" rIns="92075" bIns="46038">
                  <a:spAutoFit/>
                </a:bodyPr>
                <a:lstStyle/>
                <a:p>
                  <a:pPr>
                    <a:defRPr/>
                  </a:pPr>
                  <a:r>
                    <a:rPr lang="en-GB" b="1" noProof="0" dirty="0">
                      <a:solidFill>
                        <a:schemeClr val="accent5">
                          <a:lumMod val="50000"/>
                        </a:schemeClr>
                      </a:solidFill>
                      <a:latin typeface="Calibri" pitchFamily="34" charset="0"/>
                    </a:rPr>
                    <a:t>L</a:t>
                  </a:r>
                </a:p>
              </p:txBody>
            </p:sp>
          </p:grpSp>
          <p:sp>
            <p:nvSpPr>
              <p:cNvPr id="13335" name="Rectangle 20">
                <a:extLst>
                  <a:ext uri="{FF2B5EF4-FFF2-40B4-BE49-F238E27FC236}">
                    <a16:creationId xmlns:a16="http://schemas.microsoft.com/office/drawing/2014/main" id="{0D0C8650-4C28-12DA-2997-98FDBCF8D951}"/>
                  </a:ext>
                </a:extLst>
              </p:cNvPr>
              <p:cNvSpPr>
                <a:spLocks noChangeArrowheads="1"/>
              </p:cNvSpPr>
              <p:nvPr/>
            </p:nvSpPr>
            <p:spPr bwMode="auto">
              <a:xfrm>
                <a:off x="10491038" y="3807838"/>
                <a:ext cx="441129" cy="142504"/>
              </a:xfrm>
              <a:prstGeom prst="rect">
                <a:avLst/>
              </a:prstGeom>
              <a:noFill/>
              <a:ln w="9525">
                <a:noFill/>
                <a:miter lim="800000"/>
                <a:headEnd/>
                <a:tailEnd/>
              </a:ln>
            </p:spPr>
            <p:txBody>
              <a:bodyPr lIns="92075" tIns="46038" rIns="92075" bIns="46038">
                <a:spAutoFit/>
              </a:bodyPr>
              <a:lstStyle/>
              <a:p>
                <a:pPr>
                  <a:defRPr/>
                </a:pPr>
                <a:r>
                  <a:rPr lang="en-GB" b="1" noProof="0" dirty="0">
                    <a:solidFill>
                      <a:schemeClr val="accent5">
                        <a:lumMod val="50000"/>
                      </a:schemeClr>
                    </a:solidFill>
                    <a:latin typeface="Calibri" pitchFamily="34" charset="0"/>
                  </a:rPr>
                  <a:t>D</a:t>
                </a:r>
              </a:p>
            </p:txBody>
          </p:sp>
        </p:grpSp>
        <p:sp>
          <p:nvSpPr>
            <p:cNvPr id="78" name="Dowolny kształt 77">
              <a:extLst>
                <a:ext uri="{FF2B5EF4-FFF2-40B4-BE49-F238E27FC236}">
                  <a16:creationId xmlns:a16="http://schemas.microsoft.com/office/drawing/2014/main" id="{B2E4AA7B-53D4-3F75-E711-827AE77CAB5C}"/>
                </a:ext>
              </a:extLst>
            </p:cNvPr>
            <p:cNvSpPr/>
            <p:nvPr/>
          </p:nvSpPr>
          <p:spPr>
            <a:xfrm>
              <a:off x="4788955" y="2493055"/>
              <a:ext cx="2352500" cy="1832298"/>
            </a:xfrm>
            <a:custGeom>
              <a:avLst/>
              <a:gdLst>
                <a:gd name="connsiteX0" fmla="*/ 1294410 w 2353293"/>
                <a:gd name="connsiteY0" fmla="*/ 1947553 h 1947553"/>
                <a:gd name="connsiteX1" fmla="*/ 2137558 w 2353293"/>
                <a:gd name="connsiteY1" fmla="*/ 795647 h 1947553"/>
                <a:gd name="connsiteX2" fmla="*/ 0 w 2353293"/>
                <a:gd name="connsiteY2" fmla="*/ 0 h 1947553"/>
              </a:gdLst>
              <a:ahLst/>
              <a:cxnLst>
                <a:cxn ang="0">
                  <a:pos x="connsiteX0" y="connsiteY0"/>
                </a:cxn>
                <a:cxn ang="0">
                  <a:pos x="connsiteX1" y="connsiteY1"/>
                </a:cxn>
                <a:cxn ang="0">
                  <a:pos x="connsiteX2" y="connsiteY2"/>
                </a:cxn>
              </a:cxnLst>
              <a:rect l="l" t="t" r="r" b="b"/>
              <a:pathLst>
                <a:path w="2353293" h="1947553">
                  <a:moveTo>
                    <a:pt x="1294410" y="1947553"/>
                  </a:moveTo>
                  <a:cubicBezTo>
                    <a:pt x="1823851" y="1533896"/>
                    <a:pt x="2353293" y="1120239"/>
                    <a:pt x="2137558" y="795647"/>
                  </a:cubicBezTo>
                  <a:cubicBezTo>
                    <a:pt x="1921823" y="471055"/>
                    <a:pt x="443345" y="148442"/>
                    <a:pt x="0" y="0"/>
                  </a:cubicBezTo>
                </a:path>
              </a:pathLst>
            </a:cu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GB" b="1" noProof="0" dirty="0">
                <a:solidFill>
                  <a:schemeClr val="accent5">
                    <a:lumMod val="50000"/>
                  </a:schemeClr>
                </a:solidFill>
              </a:endParaRPr>
            </a:p>
          </p:txBody>
        </p:sp>
        <p:sp>
          <p:nvSpPr>
            <p:cNvPr id="79" name="Elipsa 78">
              <a:extLst>
                <a:ext uri="{FF2B5EF4-FFF2-40B4-BE49-F238E27FC236}">
                  <a16:creationId xmlns:a16="http://schemas.microsoft.com/office/drawing/2014/main" id="{956C3F19-5336-76B5-00AB-F60692AA456A}"/>
                </a:ext>
              </a:extLst>
            </p:cNvPr>
            <p:cNvSpPr/>
            <p:nvPr/>
          </p:nvSpPr>
          <p:spPr>
            <a:xfrm>
              <a:off x="5652951" y="2708620"/>
              <a:ext cx="71045" cy="7185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GB" b="1" noProof="0" dirty="0">
                <a:solidFill>
                  <a:schemeClr val="accent5">
                    <a:lumMod val="50000"/>
                  </a:schemeClr>
                </a:solidFill>
              </a:endParaRPr>
            </a:p>
          </p:txBody>
        </p:sp>
        <p:sp>
          <p:nvSpPr>
            <p:cNvPr id="82" name="Elipsa 81">
              <a:extLst>
                <a:ext uri="{FF2B5EF4-FFF2-40B4-BE49-F238E27FC236}">
                  <a16:creationId xmlns:a16="http://schemas.microsoft.com/office/drawing/2014/main" id="{097421D1-2F69-7439-74BF-B9FC971C81EB}"/>
                </a:ext>
              </a:extLst>
            </p:cNvPr>
            <p:cNvSpPr/>
            <p:nvPr/>
          </p:nvSpPr>
          <p:spPr>
            <a:xfrm>
              <a:off x="6804565" y="3717351"/>
              <a:ext cx="71045" cy="7185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b="1" noProof="0" dirty="0">
                <a:solidFill>
                  <a:schemeClr val="accent5">
                    <a:lumMod val="50000"/>
                  </a:schemeClr>
                </a:solidFill>
              </a:endParaRPr>
            </a:p>
          </p:txBody>
        </p:sp>
        <p:cxnSp>
          <p:nvCxnSpPr>
            <p:cNvPr id="85" name="Łącznik prosty 84">
              <a:extLst>
                <a:ext uri="{FF2B5EF4-FFF2-40B4-BE49-F238E27FC236}">
                  <a16:creationId xmlns:a16="http://schemas.microsoft.com/office/drawing/2014/main" id="{41667736-BC7C-1551-4FBB-716E558708B9}"/>
                </a:ext>
              </a:extLst>
            </p:cNvPr>
            <p:cNvCxnSpPr/>
            <p:nvPr/>
          </p:nvCxnSpPr>
          <p:spPr>
            <a:xfrm>
              <a:off x="4788955" y="3501786"/>
              <a:ext cx="2663035" cy="0"/>
            </a:xfrm>
            <a:prstGeom prst="line">
              <a:avLst/>
            </a:prstGeom>
          </p:spPr>
          <p:style>
            <a:lnRef idx="1">
              <a:schemeClr val="accent1"/>
            </a:lnRef>
            <a:fillRef idx="0">
              <a:schemeClr val="accent1"/>
            </a:fillRef>
            <a:effectRef idx="0">
              <a:schemeClr val="accent1"/>
            </a:effectRef>
            <a:fontRef idx="minor">
              <a:schemeClr val="tx1"/>
            </a:fontRef>
          </p:style>
        </p:cxnSp>
        <p:sp>
          <p:nvSpPr>
            <p:cNvPr id="97" name="Strzałka w dół 96">
              <a:extLst>
                <a:ext uri="{FF2B5EF4-FFF2-40B4-BE49-F238E27FC236}">
                  <a16:creationId xmlns:a16="http://schemas.microsoft.com/office/drawing/2014/main" id="{4C4FE7EB-E120-7DBA-6815-E9C1380A1FD3}"/>
                </a:ext>
              </a:extLst>
            </p:cNvPr>
            <p:cNvSpPr/>
            <p:nvPr/>
          </p:nvSpPr>
          <p:spPr>
            <a:xfrm>
              <a:off x="6229332" y="3463095"/>
              <a:ext cx="287617" cy="2155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b="1" noProof="0" dirty="0">
                <a:solidFill>
                  <a:schemeClr val="accent5">
                    <a:lumMod val="50000"/>
                  </a:schemeClr>
                </a:solidFill>
              </a:endParaRPr>
            </a:p>
          </p:txBody>
        </p:sp>
        <p:cxnSp>
          <p:nvCxnSpPr>
            <p:cNvPr id="100" name="Łącznik prosty 99">
              <a:extLst>
                <a:ext uri="{FF2B5EF4-FFF2-40B4-BE49-F238E27FC236}">
                  <a16:creationId xmlns:a16="http://schemas.microsoft.com/office/drawing/2014/main" id="{0F643362-B0FA-6E09-31B9-89D4ABEC85BD}"/>
                </a:ext>
              </a:extLst>
            </p:cNvPr>
            <p:cNvCxnSpPr/>
            <p:nvPr/>
          </p:nvCxnSpPr>
          <p:spPr>
            <a:xfrm>
              <a:off x="4788955" y="3717351"/>
              <a:ext cx="269970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Łącznik prosty 117">
              <a:extLst>
                <a:ext uri="{FF2B5EF4-FFF2-40B4-BE49-F238E27FC236}">
                  <a16:creationId xmlns:a16="http://schemas.microsoft.com/office/drawing/2014/main" id="{1CF0890C-DA34-ABC2-C1B0-243FBB35FB64}"/>
                </a:ext>
              </a:extLst>
            </p:cNvPr>
            <p:cNvCxnSpPr/>
            <p:nvPr/>
          </p:nvCxnSpPr>
          <p:spPr>
            <a:xfrm>
              <a:off x="4774059" y="2585638"/>
              <a:ext cx="2664180" cy="0"/>
            </a:xfrm>
            <a:prstGeom prst="line">
              <a:avLst/>
            </a:prstGeom>
          </p:spPr>
          <p:style>
            <a:lnRef idx="1">
              <a:schemeClr val="accent1"/>
            </a:lnRef>
            <a:fillRef idx="0">
              <a:schemeClr val="accent1"/>
            </a:fillRef>
            <a:effectRef idx="0">
              <a:schemeClr val="accent1"/>
            </a:effectRef>
            <a:fontRef idx="minor">
              <a:schemeClr val="tx1"/>
            </a:fontRef>
          </p:style>
        </p:cxnSp>
        <p:sp>
          <p:nvSpPr>
            <p:cNvPr id="119" name="Strzałka w dół 118">
              <a:extLst>
                <a:ext uri="{FF2B5EF4-FFF2-40B4-BE49-F238E27FC236}">
                  <a16:creationId xmlns:a16="http://schemas.microsoft.com/office/drawing/2014/main" id="{11EF4BB4-504E-651F-46B3-33CC573F7353}"/>
                </a:ext>
              </a:extLst>
            </p:cNvPr>
            <p:cNvSpPr/>
            <p:nvPr/>
          </p:nvSpPr>
          <p:spPr>
            <a:xfrm rot="10975640">
              <a:off x="6645287" y="2522074"/>
              <a:ext cx="287617" cy="216946"/>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GB" b="1" noProof="0" dirty="0">
                <a:solidFill>
                  <a:schemeClr val="accent5">
                    <a:lumMod val="50000"/>
                  </a:schemeClr>
                </a:solidFill>
              </a:endParaRPr>
            </a:p>
          </p:txBody>
        </p:sp>
        <p:cxnSp>
          <p:nvCxnSpPr>
            <p:cNvPr id="120" name="Łącznik prosty 119">
              <a:extLst>
                <a:ext uri="{FF2B5EF4-FFF2-40B4-BE49-F238E27FC236}">
                  <a16:creationId xmlns:a16="http://schemas.microsoft.com/office/drawing/2014/main" id="{69F78356-0F56-279D-7A3A-2AB679FB685C}"/>
                </a:ext>
              </a:extLst>
            </p:cNvPr>
            <p:cNvCxnSpPr/>
            <p:nvPr/>
          </p:nvCxnSpPr>
          <p:spPr>
            <a:xfrm>
              <a:off x="4774059" y="2773566"/>
              <a:ext cx="2664180"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Strzałka w dół 120">
              <a:extLst>
                <a:ext uri="{FF2B5EF4-FFF2-40B4-BE49-F238E27FC236}">
                  <a16:creationId xmlns:a16="http://schemas.microsoft.com/office/drawing/2014/main" id="{9DEAC8D6-238C-52D5-AEA4-E9C1A40F43BB}"/>
                </a:ext>
              </a:extLst>
            </p:cNvPr>
            <p:cNvSpPr/>
            <p:nvPr/>
          </p:nvSpPr>
          <p:spPr>
            <a:xfrm>
              <a:off x="6875610" y="2780475"/>
              <a:ext cx="288763" cy="21556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GB" b="1" noProof="0" dirty="0">
                <a:solidFill>
                  <a:schemeClr val="accent5">
                    <a:lumMod val="50000"/>
                  </a:schemeClr>
                </a:solidFill>
              </a:endParaRPr>
            </a:p>
          </p:txBody>
        </p:sp>
      </p:grpSp>
      <p:cxnSp>
        <p:nvCxnSpPr>
          <p:cNvPr id="124" name="Łącznik prosty ze strzałką 123">
            <a:extLst>
              <a:ext uri="{FF2B5EF4-FFF2-40B4-BE49-F238E27FC236}">
                <a16:creationId xmlns:a16="http://schemas.microsoft.com/office/drawing/2014/main" id="{21FC123E-C7F2-37B4-723B-17200E6FE6B9}"/>
              </a:ext>
            </a:extLst>
          </p:cNvPr>
          <p:cNvCxnSpPr>
            <a:stCxn id="82" idx="5"/>
            <a:endCxn id="125" idx="1"/>
          </p:cNvCxnSpPr>
          <p:nvPr/>
        </p:nvCxnSpPr>
        <p:spPr>
          <a:xfrm>
            <a:off x="6626860" y="4522471"/>
            <a:ext cx="1639888" cy="3270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5" name="pole tekstowe 124">
            <a:extLst>
              <a:ext uri="{FF2B5EF4-FFF2-40B4-BE49-F238E27FC236}">
                <a16:creationId xmlns:a16="http://schemas.microsoft.com/office/drawing/2014/main" id="{2C1C608D-D521-D427-E47B-114A64F51EE2}"/>
              </a:ext>
            </a:extLst>
          </p:cNvPr>
          <p:cNvSpPr txBox="1"/>
          <p:nvPr/>
        </p:nvSpPr>
        <p:spPr>
          <a:xfrm>
            <a:off x="8266749" y="4665345"/>
            <a:ext cx="2160587" cy="368300"/>
          </a:xfrm>
          <a:prstGeom prst="rect">
            <a:avLst/>
          </a:prstGeom>
          <a:noFill/>
        </p:spPr>
        <p:txBody>
          <a:bodyPr>
            <a:spAutoFit/>
          </a:bodyPr>
          <a:lstStyle/>
          <a:p>
            <a:pPr>
              <a:defRPr/>
            </a:pPr>
            <a:r>
              <a:rPr lang="en-GB" b="1" noProof="0" dirty="0">
                <a:solidFill>
                  <a:schemeClr val="accent5">
                    <a:lumMod val="50000"/>
                  </a:schemeClr>
                </a:solidFill>
              </a:rPr>
              <a:t>Stable </a:t>
            </a:r>
            <a:r>
              <a:rPr lang="en-GB" b="1" noProof="0" dirty="0" err="1">
                <a:solidFill>
                  <a:schemeClr val="accent5">
                    <a:lumMod val="50000"/>
                  </a:schemeClr>
                </a:solidFill>
              </a:rPr>
              <a:t>Equlibrium</a:t>
            </a:r>
            <a:endParaRPr lang="en-GB" b="1" noProof="0" dirty="0">
              <a:solidFill>
                <a:schemeClr val="accent5">
                  <a:lumMod val="50000"/>
                </a:schemeClr>
              </a:solidFill>
            </a:endParaRPr>
          </a:p>
        </p:txBody>
      </p:sp>
      <p:sp>
        <p:nvSpPr>
          <p:cNvPr id="126" name="pole tekstowe 125">
            <a:extLst>
              <a:ext uri="{FF2B5EF4-FFF2-40B4-BE49-F238E27FC236}">
                <a16:creationId xmlns:a16="http://schemas.microsoft.com/office/drawing/2014/main" id="{1ECC8DE8-44FF-91FE-7ADA-48CF82D154E8}"/>
              </a:ext>
            </a:extLst>
          </p:cNvPr>
          <p:cNvSpPr txBox="1"/>
          <p:nvPr/>
        </p:nvSpPr>
        <p:spPr>
          <a:xfrm>
            <a:off x="5109211" y="1681009"/>
            <a:ext cx="2593975" cy="369887"/>
          </a:xfrm>
          <a:prstGeom prst="rect">
            <a:avLst/>
          </a:prstGeom>
          <a:noFill/>
        </p:spPr>
        <p:txBody>
          <a:bodyPr>
            <a:spAutoFit/>
          </a:bodyPr>
          <a:lstStyle/>
          <a:p>
            <a:pPr>
              <a:defRPr/>
            </a:pPr>
            <a:r>
              <a:rPr lang="en-GB" b="1" noProof="0" dirty="0">
                <a:solidFill>
                  <a:schemeClr val="accent5">
                    <a:lumMod val="50000"/>
                  </a:schemeClr>
                </a:solidFill>
              </a:rPr>
              <a:t>Unstable </a:t>
            </a:r>
            <a:r>
              <a:rPr lang="en-GB" b="1" noProof="0" dirty="0" err="1">
                <a:solidFill>
                  <a:schemeClr val="accent5">
                    <a:lumMod val="50000"/>
                  </a:schemeClr>
                </a:solidFill>
              </a:rPr>
              <a:t>Equlibrium</a:t>
            </a:r>
            <a:endParaRPr lang="en-GB" b="1" noProof="0" dirty="0">
              <a:solidFill>
                <a:schemeClr val="accent5">
                  <a:lumMod val="50000"/>
                </a:schemeClr>
              </a:solidFill>
            </a:endParaRPr>
          </a:p>
        </p:txBody>
      </p:sp>
      <p:cxnSp>
        <p:nvCxnSpPr>
          <p:cNvPr id="128" name="Łącznik prosty ze strzałką 127">
            <a:extLst>
              <a:ext uri="{FF2B5EF4-FFF2-40B4-BE49-F238E27FC236}">
                <a16:creationId xmlns:a16="http://schemas.microsoft.com/office/drawing/2014/main" id="{72621438-F749-E755-BABC-6C7BED03E0D7}"/>
              </a:ext>
            </a:extLst>
          </p:cNvPr>
          <p:cNvCxnSpPr>
            <a:stCxn id="79" idx="0"/>
            <a:endCxn id="126" idx="1"/>
          </p:cNvCxnSpPr>
          <p:nvPr/>
        </p:nvCxnSpPr>
        <p:spPr>
          <a:xfrm flipV="1">
            <a:off x="4996497" y="1865953"/>
            <a:ext cx="112714" cy="14277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1" name="Łącznik prosty 130">
            <a:extLst>
              <a:ext uri="{FF2B5EF4-FFF2-40B4-BE49-F238E27FC236}">
                <a16:creationId xmlns:a16="http://schemas.microsoft.com/office/drawing/2014/main" id="{3A77F2D4-6327-90E2-189E-C911D5C068C4}"/>
              </a:ext>
            </a:extLst>
          </p:cNvPr>
          <p:cNvCxnSpPr/>
          <p:nvPr/>
        </p:nvCxnSpPr>
        <p:spPr bwMode="auto">
          <a:xfrm>
            <a:off x="3802698" y="3728720"/>
            <a:ext cx="3689350" cy="0"/>
          </a:xfrm>
          <a:prstGeom prst="line">
            <a:avLst/>
          </a:prstGeom>
        </p:spPr>
        <p:style>
          <a:lnRef idx="1">
            <a:schemeClr val="accent1"/>
          </a:lnRef>
          <a:fillRef idx="0">
            <a:schemeClr val="accent1"/>
          </a:fillRef>
          <a:effectRef idx="0">
            <a:schemeClr val="accent1"/>
          </a:effectRef>
          <a:fontRef idx="minor">
            <a:schemeClr val="tx1"/>
          </a:fontRef>
        </p:style>
      </p:cxnSp>
      <p:sp>
        <p:nvSpPr>
          <p:cNvPr id="132" name="Strzałka w dół 131">
            <a:extLst>
              <a:ext uri="{FF2B5EF4-FFF2-40B4-BE49-F238E27FC236}">
                <a16:creationId xmlns:a16="http://schemas.microsoft.com/office/drawing/2014/main" id="{70C32608-FC62-D62B-0FF1-D94A846429CA}"/>
              </a:ext>
            </a:extLst>
          </p:cNvPr>
          <p:cNvSpPr/>
          <p:nvPr/>
        </p:nvSpPr>
        <p:spPr bwMode="auto">
          <a:xfrm rot="10800000">
            <a:off x="5725160" y="4484370"/>
            <a:ext cx="400050" cy="21590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GB" b="1" noProof="0" dirty="0">
              <a:solidFill>
                <a:schemeClr val="accent5">
                  <a:lumMod val="50000"/>
                </a:schemeClr>
              </a:solidFill>
            </a:endParaRPr>
          </a:p>
        </p:txBody>
      </p:sp>
      <p:cxnSp>
        <p:nvCxnSpPr>
          <p:cNvPr id="133" name="Łącznik prosty 132">
            <a:extLst>
              <a:ext uri="{FF2B5EF4-FFF2-40B4-BE49-F238E27FC236}">
                <a16:creationId xmlns:a16="http://schemas.microsoft.com/office/drawing/2014/main" id="{78427969-7B7B-710E-54B2-F279E07326A2}"/>
              </a:ext>
            </a:extLst>
          </p:cNvPr>
          <p:cNvCxnSpPr/>
          <p:nvPr/>
        </p:nvCxnSpPr>
        <p:spPr bwMode="auto">
          <a:xfrm>
            <a:off x="3729674" y="4736783"/>
            <a:ext cx="3741737"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Shape 1">
            <a:extLst>
              <a:ext uri="{FF2B5EF4-FFF2-40B4-BE49-F238E27FC236}">
                <a16:creationId xmlns:a16="http://schemas.microsoft.com/office/drawing/2014/main" id="{D69DF574-CDAA-F9C0-156B-CB96CF08BC28}"/>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Labour supply – when rationality is not enough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689FB-6712-9CBF-FEA7-E483EF3FC68D}"/>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25B9C175-E4E0-B5D7-EE0E-F77D51D94D83}"/>
              </a:ext>
            </a:extLst>
          </p:cNvPr>
          <p:cNvSpPr txBox="1"/>
          <p:nvPr/>
        </p:nvSpPr>
        <p:spPr>
          <a:xfrm>
            <a:off x="0" y="-2710"/>
            <a:ext cx="12192000" cy="1143000"/>
          </a:xfrm>
          <a:prstGeom prst="rect">
            <a:avLst/>
          </a:prstGeom>
          <a:solidFill>
            <a:srgbClr val="DBEEF4"/>
          </a:solidFill>
          <a:ln>
            <a:noFill/>
          </a:ln>
        </p:spPr>
        <p:txBody>
          <a:bodyPr anchor="ctr"/>
          <a:lstStyle/>
          <a:p>
            <a:pPr algn="ctr">
              <a:buNone/>
            </a:pPr>
            <a:r>
              <a:rPr lang="en-GB" sz="3600" b="1" noProof="0" dirty="0">
                <a:solidFill>
                  <a:schemeClr val="accent5">
                    <a:lumMod val="50000"/>
                  </a:schemeClr>
                </a:solidFill>
              </a:rPr>
              <a:t>When rationality is not enough and we have instability in our paradise </a:t>
            </a:r>
          </a:p>
        </p:txBody>
      </p:sp>
      <p:sp>
        <p:nvSpPr>
          <p:cNvPr id="4" name="TextBox 3">
            <a:extLst>
              <a:ext uri="{FF2B5EF4-FFF2-40B4-BE49-F238E27FC236}">
                <a16:creationId xmlns:a16="http://schemas.microsoft.com/office/drawing/2014/main" id="{1DAA486A-E177-B0EF-EDE4-2C5AA9E88A5D}"/>
              </a:ext>
            </a:extLst>
          </p:cNvPr>
          <p:cNvSpPr txBox="1"/>
          <p:nvPr/>
        </p:nvSpPr>
        <p:spPr>
          <a:xfrm>
            <a:off x="345440" y="1822440"/>
            <a:ext cx="11501120" cy="4154984"/>
          </a:xfrm>
          <a:prstGeom prst="rect">
            <a:avLst/>
          </a:prstGeom>
          <a:noFill/>
        </p:spPr>
        <p:txBody>
          <a:bodyPr wrap="square">
            <a:spAutoFit/>
          </a:bodyPr>
          <a:lstStyle/>
          <a:p>
            <a:pPr algn="just"/>
            <a:r>
              <a:rPr lang="en-GB" sz="2400" b="1" noProof="0" dirty="0">
                <a:solidFill>
                  <a:schemeClr val="accent5">
                    <a:lumMod val="50000"/>
                  </a:schemeClr>
                </a:solidFill>
              </a:rPr>
              <a:t>This is a good example of why, in general equilibrium, we need many extra assumptions that are not implied by “rationality” alone.</a:t>
            </a:r>
          </a:p>
          <a:p>
            <a:pPr algn="just"/>
            <a:endParaRPr lang="en-GB" sz="2400" b="1" noProof="0" dirty="0">
              <a:solidFill>
                <a:schemeClr val="accent5">
                  <a:lumMod val="50000"/>
                </a:schemeClr>
              </a:solidFill>
            </a:endParaRPr>
          </a:p>
          <a:p>
            <a:pPr algn="just"/>
            <a:r>
              <a:rPr lang="en-GB" sz="2400" b="1" noProof="0" dirty="0">
                <a:solidFill>
                  <a:schemeClr val="accent5">
                    <a:lumMod val="50000"/>
                  </a:schemeClr>
                </a:solidFill>
              </a:rPr>
              <a:t>The Sonnenschein–Mantel–Debreu Theorem (the “core instability” of general equilibrium – a bit of the schizophrenia of economics) shows that, with very standard rational, convex preferences, almost any shape of aggregate excess demand is possible. To get nice, stable and unique equilibria we must impose many additional assumptions – this is why we love CD and CES utility functions.</a:t>
            </a:r>
          </a:p>
          <a:p>
            <a:pPr algn="just"/>
            <a:endParaRPr lang="en-GB" sz="2400" b="1" noProof="0" dirty="0">
              <a:solidFill>
                <a:schemeClr val="accent5">
                  <a:lumMod val="50000"/>
                </a:schemeClr>
              </a:solidFill>
            </a:endParaRPr>
          </a:p>
          <a:p>
            <a:pPr algn="just"/>
            <a:r>
              <a:rPr lang="en-GB" sz="2400" b="1" noProof="0" dirty="0">
                <a:solidFill>
                  <a:schemeClr val="accent5">
                    <a:lumMod val="50000"/>
                  </a:schemeClr>
                </a:solidFill>
              </a:rPr>
              <a:t>We will come back to this result in the next class, when we look more closely at equilibrium itself.</a:t>
            </a:r>
          </a:p>
        </p:txBody>
      </p:sp>
    </p:spTree>
    <p:extLst>
      <p:ext uri="{BB962C8B-B14F-4D97-AF65-F5344CB8AC3E}">
        <p14:creationId xmlns:p14="http://schemas.microsoft.com/office/powerpoint/2010/main" val="721651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3250</Words>
  <Application>Microsoft Office PowerPoint</Application>
  <PresentationFormat>Widescreen</PresentationFormat>
  <Paragraphs>290</Paragraphs>
  <Slides>28</Slides>
  <Notes>27</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9" baseType="lpstr">
      <vt:lpstr>Aptos</vt:lpstr>
      <vt:lpstr>Aptos Display</vt:lpstr>
      <vt:lpstr>Arial</vt:lpstr>
      <vt:lpstr>Calibri</vt:lpstr>
      <vt:lpstr>Cambria Math</vt:lpstr>
      <vt:lpstr>Symbol</vt:lpstr>
      <vt:lpstr>Times New Roman</vt:lpstr>
      <vt:lpstr>Wingdings</vt:lpstr>
      <vt:lpstr>Office Theme</vt:lpstr>
      <vt:lpstr>Motyw pakietu Office</vt:lpstr>
      <vt:lpstr>Równanie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Tomasz Kopczewski</dc:creator>
  <cp:lastModifiedBy>Tomasz Kopczewski</cp:lastModifiedBy>
  <cp:revision>10</cp:revision>
  <dcterms:created xsi:type="dcterms:W3CDTF">2025-11-24T07:57:25Z</dcterms:created>
  <dcterms:modified xsi:type="dcterms:W3CDTF">2025-11-24T13:01:26Z</dcterms:modified>
</cp:coreProperties>
</file>