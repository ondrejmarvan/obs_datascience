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96" r:id="rId3"/>
  </p:sldMasterIdLst>
  <p:notesMasterIdLst>
    <p:notesMasterId r:id="rId51"/>
  </p:notesMasterIdLst>
  <p:sldIdLst>
    <p:sldId id="297" r:id="rId4"/>
    <p:sldId id="298" r:id="rId5"/>
    <p:sldId id="446" r:id="rId6"/>
    <p:sldId id="459" r:id="rId7"/>
    <p:sldId id="457" r:id="rId8"/>
    <p:sldId id="458" r:id="rId9"/>
    <p:sldId id="303" r:id="rId10"/>
    <p:sldId id="330" r:id="rId11"/>
    <p:sldId id="340" r:id="rId12"/>
    <p:sldId id="444" r:id="rId13"/>
    <p:sldId id="305" r:id="rId14"/>
    <p:sldId id="447" r:id="rId15"/>
    <p:sldId id="449" r:id="rId16"/>
    <p:sldId id="450" r:id="rId17"/>
    <p:sldId id="451" r:id="rId18"/>
    <p:sldId id="452" r:id="rId19"/>
    <p:sldId id="453" r:id="rId20"/>
    <p:sldId id="454" r:id="rId21"/>
    <p:sldId id="448" r:id="rId22"/>
    <p:sldId id="308" r:id="rId23"/>
    <p:sldId id="456" r:id="rId24"/>
    <p:sldId id="455" r:id="rId25"/>
    <p:sldId id="314" r:id="rId26"/>
    <p:sldId id="315" r:id="rId27"/>
    <p:sldId id="316" r:id="rId28"/>
    <p:sldId id="312" r:id="rId29"/>
    <p:sldId id="313" r:id="rId30"/>
    <p:sldId id="317" r:id="rId31"/>
    <p:sldId id="334" r:id="rId32"/>
    <p:sldId id="325" r:id="rId33"/>
    <p:sldId id="326" r:id="rId34"/>
    <p:sldId id="327" r:id="rId35"/>
    <p:sldId id="324" r:id="rId36"/>
    <p:sldId id="318" r:id="rId37"/>
    <p:sldId id="319" r:id="rId38"/>
    <p:sldId id="320" r:id="rId39"/>
    <p:sldId id="321" r:id="rId40"/>
    <p:sldId id="322" r:id="rId41"/>
    <p:sldId id="323" r:id="rId42"/>
    <p:sldId id="335" r:id="rId43"/>
    <p:sldId id="336" r:id="rId44"/>
    <p:sldId id="332" r:id="rId45"/>
    <p:sldId id="329" r:id="rId46"/>
    <p:sldId id="333" r:id="rId47"/>
    <p:sldId id="337" r:id="rId48"/>
    <p:sldId id="338" r:id="rId49"/>
    <p:sldId id="339" r:id="rId50"/>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30" autoAdjust="0"/>
    <p:restoredTop sz="95033" autoAdjust="0"/>
  </p:normalViewPr>
  <p:slideViewPr>
    <p:cSldViewPr snapToGrid="0">
      <p:cViewPr varScale="1">
        <p:scale>
          <a:sx n="75" d="100"/>
          <a:sy n="75" d="100"/>
        </p:scale>
        <p:origin x="1186" y="3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71D3E1-4DD4-4A6E-8A10-8807921887AC}" type="datetimeFigureOut">
              <a:rPr lang="pl-PL" smtClean="0"/>
              <a:t>21.11.2025</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C628AA-1253-405D-BA50-9509837B7C75}" type="slidenum">
              <a:rPr lang="pl-PL" smtClean="0"/>
              <a:t>‹#›</a:t>
            </a:fld>
            <a:endParaRPr lang="pl-PL"/>
          </a:p>
        </p:txBody>
      </p:sp>
    </p:spTree>
    <p:extLst>
      <p:ext uri="{BB962C8B-B14F-4D97-AF65-F5344CB8AC3E}">
        <p14:creationId xmlns:p14="http://schemas.microsoft.com/office/powerpoint/2010/main" val="4226914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Shape 1"/>
          <p:cNvSpPr txBox="1"/>
          <p:nvPr/>
        </p:nvSpPr>
        <p:spPr>
          <a:xfrm>
            <a:off x="685800" y="4343400"/>
            <a:ext cx="5486400" cy="4114800"/>
          </a:xfrm>
          <a:prstGeom prst="rect">
            <a:avLst/>
          </a:prstGeom>
          <a:noFill/>
          <a:ln>
            <a:noFill/>
          </a:ln>
        </p:spPr>
      </p:sp>
      <p:sp>
        <p:nvSpPr>
          <p:cNvPr id="156" name="CustomShape 2"/>
          <p:cNvSpPr/>
          <p:nvPr/>
        </p:nvSpPr>
        <p:spPr>
          <a:xfrm>
            <a:off x="3884760" y="8685360"/>
            <a:ext cx="2971800" cy="457200"/>
          </a:xfrm>
          <a:noFill/>
          <a:ln>
            <a:noFill/>
          </a:ln>
        </p:spPr>
        <p:style>
          <a:lnRef idx="0">
            <a:scrgbClr r="0" g="0" b="0"/>
          </a:lnRef>
          <a:fillRef idx="0">
            <a:scrgbClr r="0" g="0" b="0"/>
          </a:fillRef>
          <a:effectRef idx="0">
            <a:scrgbClr r="0" g="0" b="0"/>
          </a:effectRef>
          <a:fontRef idx="minor"/>
        </p:style>
        <p:txBody>
          <a:bodyPr lIns="89997" tIns="46798" rIns="89997" bIns="46798" anchor="b"/>
          <a:lstStyle/>
          <a:p>
            <a:pPr marL="0" marR="0" lvl="0" indent="0" algn="r" defTabSz="914400" rtl="0" eaLnBrk="1" fontAlgn="auto" latinLnBrk="0" hangingPunct="1">
              <a:lnSpc>
                <a:spcPct val="100000"/>
              </a:lnSpc>
              <a:spcBef>
                <a:spcPts val="0"/>
              </a:spcBef>
              <a:spcAft>
                <a:spcPts val="0"/>
              </a:spcAft>
              <a:buClrTx/>
              <a:buSzTx/>
              <a:buFontTx/>
              <a:buNone/>
              <a:tabLst/>
              <a:defRPr/>
            </a:pPr>
            <a:fld id="{2BF4C38F-350D-4F27-90DB-48D8DDCA7592}" type="slidenum">
              <a:rPr kumimoji="0" lang="pl-PL" sz="1200" b="0" i="0" u="none" strike="noStrike" kern="1200" cap="none" spc="-1"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5084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Symbol zastępczy notatek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78EEC-5AA7-93BF-74AD-8123D8948D60}"/>
            </a:ext>
          </a:extLst>
        </p:cNvPr>
        <p:cNvGrpSpPr/>
        <p:nvPr/>
      </p:nvGrpSpPr>
      <p:grpSpPr>
        <a:xfrm>
          <a:off x="0" y="0"/>
          <a:ext cx="0" cy="0"/>
          <a:chOff x="0" y="0"/>
          <a:chExt cx="0" cy="0"/>
        </a:xfrm>
      </p:grpSpPr>
      <p:sp>
        <p:nvSpPr>
          <p:cNvPr id="84994" name="Symbol zastępczy obrazu slajdu 1">
            <a:extLst>
              <a:ext uri="{FF2B5EF4-FFF2-40B4-BE49-F238E27FC236}">
                <a16:creationId xmlns:a16="http://schemas.microsoft.com/office/drawing/2014/main" id="{2A1EB824-261B-E422-6EDF-CFD764CA776E}"/>
              </a:ext>
            </a:extLst>
          </p:cNvPr>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Symbol zastępczy notatek 2">
            <a:extLst>
              <a:ext uri="{FF2B5EF4-FFF2-40B4-BE49-F238E27FC236}">
                <a16:creationId xmlns:a16="http://schemas.microsoft.com/office/drawing/2014/main" id="{429F4940-FD99-2476-5E81-C3B4D03C62FF}"/>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3018512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A9529-9D88-4D82-EF03-AE93D9106851}"/>
            </a:ext>
          </a:extLst>
        </p:cNvPr>
        <p:cNvGrpSpPr/>
        <p:nvPr/>
      </p:nvGrpSpPr>
      <p:grpSpPr>
        <a:xfrm>
          <a:off x="0" y="0"/>
          <a:ext cx="0" cy="0"/>
          <a:chOff x="0" y="0"/>
          <a:chExt cx="0" cy="0"/>
        </a:xfrm>
      </p:grpSpPr>
      <p:sp>
        <p:nvSpPr>
          <p:cNvPr id="84994" name="Symbol zastępczy obrazu slajdu 1">
            <a:extLst>
              <a:ext uri="{FF2B5EF4-FFF2-40B4-BE49-F238E27FC236}">
                <a16:creationId xmlns:a16="http://schemas.microsoft.com/office/drawing/2014/main" id="{FC0EA826-1085-33E2-CEB7-C34A9360A6E7}"/>
              </a:ext>
            </a:extLst>
          </p:cNvPr>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Symbol zastępczy notatek 2">
            <a:extLst>
              <a:ext uri="{FF2B5EF4-FFF2-40B4-BE49-F238E27FC236}">
                <a16:creationId xmlns:a16="http://schemas.microsoft.com/office/drawing/2014/main" id="{50C2C583-C698-0F83-9ED2-D3CCA994C201}"/>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210451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22B8C-D31D-EB93-A650-DE2C021DA025}"/>
            </a:ext>
          </a:extLst>
        </p:cNvPr>
        <p:cNvGrpSpPr/>
        <p:nvPr/>
      </p:nvGrpSpPr>
      <p:grpSpPr>
        <a:xfrm>
          <a:off x="0" y="0"/>
          <a:ext cx="0" cy="0"/>
          <a:chOff x="0" y="0"/>
          <a:chExt cx="0" cy="0"/>
        </a:xfrm>
      </p:grpSpPr>
      <p:sp>
        <p:nvSpPr>
          <p:cNvPr id="84994" name="Symbol zastępczy obrazu slajdu 1">
            <a:extLst>
              <a:ext uri="{FF2B5EF4-FFF2-40B4-BE49-F238E27FC236}">
                <a16:creationId xmlns:a16="http://schemas.microsoft.com/office/drawing/2014/main" id="{6B15AAB1-4FB9-6DB1-5300-4F69C4ECB7B6}"/>
              </a:ext>
            </a:extLst>
          </p:cNvPr>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Symbol zastępczy notatek 2">
            <a:extLst>
              <a:ext uri="{FF2B5EF4-FFF2-40B4-BE49-F238E27FC236}">
                <a16:creationId xmlns:a16="http://schemas.microsoft.com/office/drawing/2014/main" id="{2D67F736-1B37-2FEC-2768-F34F234ED5B3}"/>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719685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96C628AA-1253-405D-BA50-9509837B7C75}" type="slidenum">
              <a:rPr lang="pl-PL" smtClean="0"/>
              <a:t>45</a:t>
            </a:fld>
            <a:endParaRPr lang="pl-PL"/>
          </a:p>
        </p:txBody>
      </p:sp>
    </p:spTree>
    <p:extLst>
      <p:ext uri="{BB962C8B-B14F-4D97-AF65-F5344CB8AC3E}">
        <p14:creationId xmlns:p14="http://schemas.microsoft.com/office/powerpoint/2010/main" val="3396973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CEFCB-DAB2-040D-220D-A2E587755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5C093-902E-594D-5256-1EE8FC568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1ADF3-4664-25B5-0E92-DE3A5F75F314}"/>
              </a:ext>
            </a:extLst>
          </p:cNvPr>
          <p:cNvSpPr>
            <a:spLocks noGrp="1"/>
          </p:cNvSpPr>
          <p:nvPr>
            <p:ph type="body" idx="1"/>
          </p:nvPr>
        </p:nvSpPr>
        <p:spPr/>
        <p:txBody>
          <a:bodyPr/>
          <a:lstStyle/>
          <a:p>
            <a:endParaRPr lang="pl-PL" dirty="0"/>
          </a:p>
        </p:txBody>
      </p:sp>
      <p:sp>
        <p:nvSpPr>
          <p:cNvPr id="4" name="Slide Number Placeholder 3">
            <a:extLst>
              <a:ext uri="{FF2B5EF4-FFF2-40B4-BE49-F238E27FC236}">
                <a16:creationId xmlns:a16="http://schemas.microsoft.com/office/drawing/2014/main" id="{11873212-3790-AA53-E217-57F7A4E21D6B}"/>
              </a:ext>
            </a:extLst>
          </p:cNvPr>
          <p:cNvSpPr>
            <a:spLocks noGrp="1"/>
          </p:cNvSpPr>
          <p:nvPr>
            <p:ph type="sldNum" sz="quarter" idx="5"/>
          </p:nvPr>
        </p:nvSpPr>
        <p:spPr/>
        <p:txBody>
          <a:bodyPr/>
          <a:lstStyle/>
          <a:p>
            <a:fld id="{96C628AA-1253-405D-BA50-9509837B7C75}" type="slidenum">
              <a:rPr lang="pl-PL" smtClean="0"/>
              <a:t>46</a:t>
            </a:fld>
            <a:endParaRPr lang="pl-PL"/>
          </a:p>
        </p:txBody>
      </p:sp>
    </p:spTree>
    <p:extLst>
      <p:ext uri="{BB962C8B-B14F-4D97-AF65-F5344CB8AC3E}">
        <p14:creationId xmlns:p14="http://schemas.microsoft.com/office/powerpoint/2010/main" val="393392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CA71A-E374-A2E3-6A2B-79071397F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13213-DD1B-76EC-1B54-AED4FA9FF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EE5C9-D3A3-2D81-AE1C-2468253F5442}"/>
              </a:ext>
            </a:extLst>
          </p:cNvPr>
          <p:cNvSpPr>
            <a:spLocks noGrp="1"/>
          </p:cNvSpPr>
          <p:nvPr>
            <p:ph type="body" idx="1"/>
          </p:nvPr>
        </p:nvSpPr>
        <p:spPr/>
        <p:txBody>
          <a:bodyPr/>
          <a:lstStyle/>
          <a:p>
            <a:endParaRPr lang="pl-PL" dirty="0"/>
          </a:p>
        </p:txBody>
      </p:sp>
      <p:sp>
        <p:nvSpPr>
          <p:cNvPr id="4" name="Slide Number Placeholder 3">
            <a:extLst>
              <a:ext uri="{FF2B5EF4-FFF2-40B4-BE49-F238E27FC236}">
                <a16:creationId xmlns:a16="http://schemas.microsoft.com/office/drawing/2014/main" id="{6AACCC66-129C-F5B7-2175-77691B2F0951}"/>
              </a:ext>
            </a:extLst>
          </p:cNvPr>
          <p:cNvSpPr>
            <a:spLocks noGrp="1"/>
          </p:cNvSpPr>
          <p:nvPr>
            <p:ph type="sldNum" sz="quarter" idx="5"/>
          </p:nvPr>
        </p:nvSpPr>
        <p:spPr/>
        <p:txBody>
          <a:bodyPr/>
          <a:lstStyle/>
          <a:p>
            <a:fld id="{96C628AA-1253-405D-BA50-9509837B7C75}" type="slidenum">
              <a:rPr lang="pl-PL" smtClean="0"/>
              <a:t>47</a:t>
            </a:fld>
            <a:endParaRPr lang="pl-PL"/>
          </a:p>
        </p:txBody>
      </p:sp>
    </p:spTree>
    <p:extLst>
      <p:ext uri="{BB962C8B-B14F-4D97-AF65-F5344CB8AC3E}">
        <p14:creationId xmlns:p14="http://schemas.microsoft.com/office/powerpoint/2010/main" val="686734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p:cNvSpPr>
            <a:spLocks noGrp="1"/>
          </p:cNvSpPr>
          <p:nvPr>
            <p:ph type="dt" sz="half" idx="10"/>
          </p:nvPr>
        </p:nvSpPr>
        <p:spPr/>
        <p:txBody>
          <a:bodyPr/>
          <a:lstStyle/>
          <a:p>
            <a:fld id="{21E3E7ED-DB06-40AA-B753-10C214E1C40A}" type="datetimeFigureOut">
              <a:rPr lang="pl-PL" smtClean="0"/>
              <a:t>21.11.2025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1287451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21E3E7ED-DB06-40AA-B753-10C214E1C40A}" type="datetimeFigureOut">
              <a:rPr lang="pl-PL" smtClean="0"/>
              <a:t>21.11.2025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1668486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p>
            <a:fld id="{21E3E7ED-DB06-40AA-B753-10C214E1C40A}" type="datetimeFigureOut">
              <a:rPr lang="pl-PL" smtClean="0"/>
              <a:t>21.11.2025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3041036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838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72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21E3E7ED-DB06-40AA-B753-10C214E1C40A}" type="datetimeFigureOut">
              <a:rPr lang="pl-PL" smtClean="0"/>
              <a:t>21.11.2025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937606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839788" y="2505075"/>
            <a:ext cx="5157787"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6172200" y="2505075"/>
            <a:ext cx="5183188"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21E3E7ED-DB06-40AA-B753-10C214E1C40A}" type="datetimeFigureOut">
              <a:rPr lang="pl-PL" smtClean="0"/>
              <a:t>21.11.2025</a:t>
            </a:fld>
            <a:endParaRPr lang="pl-PL"/>
          </a:p>
        </p:txBody>
      </p:sp>
      <p:sp>
        <p:nvSpPr>
          <p:cNvPr id="8" name="Symbol zastępczy stopki 7"/>
          <p:cNvSpPr>
            <a:spLocks noGrp="1"/>
          </p:cNvSpPr>
          <p:nvPr>
            <p:ph type="ftr" sz="quarter" idx="11"/>
          </p:nvPr>
        </p:nvSpPr>
        <p:spPr/>
        <p:txBody>
          <a:bodyPr/>
          <a:lstStyle/>
          <a:p>
            <a:endParaRPr lang="pl-PL"/>
          </a:p>
        </p:txBody>
      </p:sp>
      <p:sp>
        <p:nvSpPr>
          <p:cNvPr id="9" name="Symbol zastępczy numeru slajdu 8"/>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106114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21E3E7ED-DB06-40AA-B753-10C214E1C40A}" type="datetimeFigureOut">
              <a:rPr lang="pl-PL" smtClean="0"/>
              <a:t>21.11.2025</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3529135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21E3E7ED-DB06-40AA-B753-10C214E1C40A}" type="datetimeFigureOut">
              <a:rPr lang="pl-PL" smtClean="0"/>
              <a:t>21.11.2025</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3224636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21E3E7ED-DB06-40AA-B753-10C214E1C40A}" type="datetimeFigureOut">
              <a:rPr lang="pl-PL" smtClean="0"/>
              <a:t>21.11.2025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416196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21E3E7ED-DB06-40AA-B753-10C214E1C40A}" type="datetimeFigureOut">
              <a:rPr lang="pl-PL" smtClean="0"/>
              <a:t>21.11.2025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1077163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21E3E7ED-DB06-40AA-B753-10C214E1C40A}" type="datetimeFigureOut">
              <a:rPr lang="pl-PL" smtClean="0"/>
              <a:t>21.11.2025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2600658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838200" y="365125"/>
            <a:ext cx="7734300" cy="5811838"/>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21E3E7ED-DB06-40AA-B753-10C214E1C40A}" type="datetimeFigureOut">
              <a:rPr lang="pl-PL" smtClean="0"/>
              <a:t>21.11.2025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57C57BEE-3B5F-44E7-9E9D-E14434EE3298}" type="slidenum">
              <a:rPr lang="pl-PL" smtClean="0"/>
              <a:t>‹#›</a:t>
            </a:fld>
            <a:endParaRPr lang="pl-PL"/>
          </a:p>
        </p:txBody>
      </p:sp>
    </p:spTree>
    <p:extLst>
      <p:ext uri="{BB962C8B-B14F-4D97-AF65-F5344CB8AC3E}">
        <p14:creationId xmlns:p14="http://schemas.microsoft.com/office/powerpoint/2010/main" val="31941841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2964514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2350801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2874957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6" name="Symbol zastępczy stopki 5"/>
          <p:cNvSpPr>
            <a:spLocks noGrp="1"/>
          </p:cNvSpPr>
          <p:nvPr>
            <p:ph type="ftr" sz="quarter" idx="11"/>
          </p:nvPr>
        </p:nvSpPr>
        <p:spPr/>
        <p:txBody>
          <a:bodyPr/>
          <a:lstStyle/>
          <a:p>
            <a:endParaRPr lang="pl-PL">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9166073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8" name="Symbol zastępczy stopki 7"/>
          <p:cNvSpPr>
            <a:spLocks noGrp="1"/>
          </p:cNvSpPr>
          <p:nvPr>
            <p:ph type="ftr" sz="quarter" idx="11"/>
          </p:nvPr>
        </p:nvSpPr>
        <p:spPr/>
        <p:txBody>
          <a:bodyPr/>
          <a:lstStyle/>
          <a:p>
            <a:endParaRPr lang="pl-PL">
              <a:solidFill>
                <a:prstClr val="black">
                  <a:tint val="75000"/>
                </a:prstClr>
              </a:solidFill>
            </a:endParaRPr>
          </a:p>
        </p:txBody>
      </p:sp>
      <p:sp>
        <p:nvSpPr>
          <p:cNvPr id="9" name="Symbol zastępczy numeru slajdu 8"/>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1951072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4" name="Symbol zastępczy stopki 3"/>
          <p:cNvSpPr>
            <a:spLocks noGrp="1"/>
          </p:cNvSpPr>
          <p:nvPr>
            <p:ph type="ftr" sz="quarter" idx="11"/>
          </p:nvPr>
        </p:nvSpPr>
        <p:spPr/>
        <p:txBody>
          <a:bodyPr/>
          <a:lstStyle/>
          <a:p>
            <a:endParaRPr lang="pl-PL">
              <a:solidFill>
                <a:prstClr val="black">
                  <a:tint val="75000"/>
                </a:prstClr>
              </a:solidFill>
            </a:endParaRPr>
          </a:p>
        </p:txBody>
      </p:sp>
      <p:sp>
        <p:nvSpPr>
          <p:cNvPr id="5" name="Symbol zastępczy numeru slajdu 4"/>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7533429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3" name="Symbol zastępczy stopki 2"/>
          <p:cNvSpPr>
            <a:spLocks noGrp="1"/>
          </p:cNvSpPr>
          <p:nvPr>
            <p:ph type="ftr" sz="quarter" idx="11"/>
          </p:nvPr>
        </p:nvSpPr>
        <p:spPr/>
        <p:txBody>
          <a:bodyPr/>
          <a:lstStyle/>
          <a:p>
            <a:endParaRPr lang="pl-PL">
              <a:solidFill>
                <a:prstClr val="black">
                  <a:tint val="75000"/>
                </a:prstClr>
              </a:solidFill>
            </a:endParaRPr>
          </a:p>
        </p:txBody>
      </p:sp>
      <p:sp>
        <p:nvSpPr>
          <p:cNvPr id="4" name="Symbol zastępczy numeru slajdu 3"/>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653059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6" name="Symbol zastępczy stopki 5"/>
          <p:cNvSpPr>
            <a:spLocks noGrp="1"/>
          </p:cNvSpPr>
          <p:nvPr>
            <p:ph type="ftr" sz="quarter" idx="11"/>
          </p:nvPr>
        </p:nvSpPr>
        <p:spPr/>
        <p:txBody>
          <a:bodyPr/>
          <a:lstStyle/>
          <a:p>
            <a:endParaRPr lang="pl-PL">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16444164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6" name="Symbol zastępczy stopki 5"/>
          <p:cNvSpPr>
            <a:spLocks noGrp="1"/>
          </p:cNvSpPr>
          <p:nvPr>
            <p:ph type="ftr" sz="quarter" idx="11"/>
          </p:nvPr>
        </p:nvSpPr>
        <p:spPr/>
        <p:txBody>
          <a:bodyPr/>
          <a:lstStyle/>
          <a:p>
            <a:endParaRPr lang="pl-PL">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742121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6128752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42928344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3058891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4892804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5570460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6" name="Symbol zastępczy stopki 5"/>
          <p:cNvSpPr>
            <a:spLocks noGrp="1"/>
          </p:cNvSpPr>
          <p:nvPr>
            <p:ph type="ftr" sz="quarter" idx="11"/>
          </p:nvPr>
        </p:nvSpPr>
        <p:spPr/>
        <p:txBody>
          <a:bodyPr/>
          <a:lstStyle/>
          <a:p>
            <a:endParaRPr lang="pl-PL">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6068409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8" name="Symbol zastępczy stopki 7"/>
          <p:cNvSpPr>
            <a:spLocks noGrp="1"/>
          </p:cNvSpPr>
          <p:nvPr>
            <p:ph type="ftr" sz="quarter" idx="11"/>
          </p:nvPr>
        </p:nvSpPr>
        <p:spPr/>
        <p:txBody>
          <a:bodyPr/>
          <a:lstStyle/>
          <a:p>
            <a:endParaRPr lang="pl-PL">
              <a:solidFill>
                <a:prstClr val="black">
                  <a:tint val="75000"/>
                </a:prstClr>
              </a:solidFill>
            </a:endParaRPr>
          </a:p>
        </p:txBody>
      </p:sp>
      <p:sp>
        <p:nvSpPr>
          <p:cNvPr id="9" name="Symbol zastępczy numeru slajdu 8"/>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40556344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4" name="Symbol zastępczy stopki 3"/>
          <p:cNvSpPr>
            <a:spLocks noGrp="1"/>
          </p:cNvSpPr>
          <p:nvPr>
            <p:ph type="ftr" sz="quarter" idx="11"/>
          </p:nvPr>
        </p:nvSpPr>
        <p:spPr/>
        <p:txBody>
          <a:bodyPr/>
          <a:lstStyle/>
          <a:p>
            <a:endParaRPr lang="pl-PL">
              <a:solidFill>
                <a:prstClr val="black">
                  <a:tint val="75000"/>
                </a:prstClr>
              </a:solidFill>
            </a:endParaRPr>
          </a:p>
        </p:txBody>
      </p:sp>
      <p:sp>
        <p:nvSpPr>
          <p:cNvPr id="5" name="Symbol zastępczy numeru slajdu 4"/>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0950356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3" name="Symbol zastępczy stopki 2"/>
          <p:cNvSpPr>
            <a:spLocks noGrp="1"/>
          </p:cNvSpPr>
          <p:nvPr>
            <p:ph type="ftr" sz="quarter" idx="11"/>
          </p:nvPr>
        </p:nvSpPr>
        <p:spPr/>
        <p:txBody>
          <a:bodyPr/>
          <a:lstStyle/>
          <a:p>
            <a:endParaRPr lang="pl-PL">
              <a:solidFill>
                <a:prstClr val="black">
                  <a:tint val="75000"/>
                </a:prstClr>
              </a:solidFill>
            </a:endParaRPr>
          </a:p>
        </p:txBody>
      </p:sp>
      <p:sp>
        <p:nvSpPr>
          <p:cNvPr id="4" name="Symbol zastępczy numeru slajdu 3"/>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15151088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6" name="Symbol zastępczy stopki 5"/>
          <p:cNvSpPr>
            <a:spLocks noGrp="1"/>
          </p:cNvSpPr>
          <p:nvPr>
            <p:ph type="ftr" sz="quarter" idx="11"/>
          </p:nvPr>
        </p:nvSpPr>
        <p:spPr/>
        <p:txBody>
          <a:bodyPr/>
          <a:lstStyle/>
          <a:p>
            <a:endParaRPr lang="pl-PL">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9774124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6" name="Symbol zastępczy stopki 5"/>
          <p:cNvSpPr>
            <a:spLocks noGrp="1"/>
          </p:cNvSpPr>
          <p:nvPr>
            <p:ph type="ftr" sz="quarter" idx="11"/>
          </p:nvPr>
        </p:nvSpPr>
        <p:spPr/>
        <p:txBody>
          <a:bodyPr/>
          <a:lstStyle/>
          <a:p>
            <a:endParaRPr lang="pl-PL">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1697306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41478201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520379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E3E7ED-DB06-40AA-B753-10C214E1C40A}" type="datetimeFigureOut">
              <a:rPr lang="pl-PL" smtClean="0"/>
              <a:t>21.11.2025</a:t>
            </a:fld>
            <a:endParaRPr lang="pl-PL"/>
          </a:p>
        </p:txBody>
      </p:sp>
      <p:sp>
        <p:nvSpPr>
          <p:cNvPr id="5" name="Symbol zastępczy stopki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C57BEE-3B5F-44E7-9E9D-E14434EE3298}" type="slidenum">
              <a:rPr lang="pl-PL" smtClean="0"/>
              <a:t>‹#›</a:t>
            </a:fld>
            <a:endParaRPr lang="pl-PL"/>
          </a:p>
        </p:txBody>
      </p:sp>
    </p:spTree>
    <p:extLst>
      <p:ext uri="{BB962C8B-B14F-4D97-AF65-F5344CB8AC3E}">
        <p14:creationId xmlns:p14="http://schemas.microsoft.com/office/powerpoint/2010/main" val="3518871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solidFill>
                <a:prstClr val="black">
                  <a:tint val="75000"/>
                </a:prstClr>
              </a:solidFill>
            </a:endParaRPr>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10247180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13BEB1-2AF7-453C-981E-140EE2E939C9}" type="datetimeFigureOut">
              <a:rPr lang="pl-PL" smtClean="0">
                <a:solidFill>
                  <a:prstClr val="black">
                    <a:tint val="75000"/>
                  </a:prstClr>
                </a:solidFill>
              </a:rPr>
              <a:pPr/>
              <a:t>21.11.2025</a:t>
            </a:fld>
            <a:endParaRPr lang="pl-PL">
              <a:solidFill>
                <a:prstClr val="black">
                  <a:tint val="75000"/>
                </a:prstClr>
              </a:solidFill>
            </a:endParaRPr>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solidFill>
                <a:prstClr val="black">
                  <a:tint val="75000"/>
                </a:prstClr>
              </a:solidFill>
            </a:endParaRPr>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72543782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5.wmf"/></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ustomShape 1"/>
          <p:cNvSpPr/>
          <p:nvPr/>
        </p:nvSpPr>
        <p:spPr>
          <a:xfrm>
            <a:off x="1868381" y="2669660"/>
            <a:ext cx="8101080" cy="1921796"/>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1" u="none" strike="noStrike" kern="1200" cap="none" spc="-1" normalizeH="0" baseline="0" noProof="0" dirty="0">
                <a:ln>
                  <a:noFill/>
                </a:ln>
                <a:solidFill>
                  <a:srgbClr val="215968"/>
                </a:solidFill>
                <a:effectLst/>
                <a:uLnTx/>
                <a:uFillTx/>
                <a:latin typeface="Calibri"/>
                <a:ea typeface="+mn-ea"/>
                <a:cs typeface="+mn-cs"/>
              </a:rPr>
              <a:t>Topic </a:t>
            </a:r>
            <a:r>
              <a:rPr kumimoji="0" lang="pl-PL" sz="4400" b="1" i="1" u="none" strike="noStrike" kern="1200" cap="none" spc="-1" normalizeH="0" baseline="0" noProof="0" dirty="0">
                <a:ln>
                  <a:noFill/>
                </a:ln>
                <a:solidFill>
                  <a:srgbClr val="215968"/>
                </a:solidFill>
                <a:effectLst/>
                <a:uLnTx/>
                <a:uFillTx/>
                <a:latin typeface="Calibri"/>
                <a:ea typeface="+mn-ea"/>
                <a:cs typeface="+mn-cs"/>
              </a:rPr>
              <a:t>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1" i="1" u="none" strike="noStrike" kern="1200" cap="none" spc="-1" normalizeH="0" baseline="0" noProof="0" dirty="0">
                <a:ln>
                  <a:noFill/>
                </a:ln>
                <a:solidFill>
                  <a:srgbClr val="215968"/>
                </a:solidFill>
                <a:effectLst/>
                <a:uLnTx/>
                <a:uFillTx/>
                <a:latin typeface="Calibri" panose="020F0502020204030204"/>
                <a:ea typeface="+mn-ea"/>
                <a:cs typeface="+mn-cs"/>
              </a:rPr>
              <a:t>Consumer </a:t>
            </a:r>
            <a:r>
              <a:rPr kumimoji="0" lang="en-GB" sz="4400" b="1" i="1" u="none" strike="noStrike" kern="1200" cap="none" spc="-1" normalizeH="0" baseline="0" noProof="0" dirty="0" err="1">
                <a:ln>
                  <a:noFill/>
                </a:ln>
                <a:solidFill>
                  <a:srgbClr val="215968"/>
                </a:solidFill>
                <a:effectLst/>
                <a:uLnTx/>
                <a:uFillTx/>
                <a:latin typeface="Calibri" panose="020F0502020204030204"/>
                <a:ea typeface="+mn-ea"/>
                <a:cs typeface="+mn-cs"/>
              </a:rPr>
              <a:t>ch</a:t>
            </a:r>
            <a:r>
              <a:rPr kumimoji="0" lang="pl-PL" sz="4400" b="1" i="1" u="none" strike="noStrike" kern="1200" cap="none" spc="-1" normalizeH="0" baseline="0" noProof="0" dirty="0">
                <a:ln>
                  <a:noFill/>
                </a:ln>
                <a:solidFill>
                  <a:srgbClr val="215968"/>
                </a:solidFill>
                <a:effectLst/>
                <a:uLnTx/>
                <a:uFillTx/>
                <a:latin typeface="Calibri" panose="020F0502020204030204"/>
                <a:ea typeface="+mn-ea"/>
                <a:cs typeface="+mn-cs"/>
              </a:rPr>
              <a:t>o</a:t>
            </a:r>
            <a:r>
              <a:rPr kumimoji="0" lang="en-GB" sz="4400" b="1" i="1" u="none" strike="noStrike" kern="1200" cap="none" spc="-1" normalizeH="0" baseline="0" noProof="0" dirty="0">
                <a:ln>
                  <a:noFill/>
                </a:ln>
                <a:solidFill>
                  <a:srgbClr val="215968"/>
                </a:solidFill>
                <a:effectLst/>
                <a:uLnTx/>
                <a:uFillTx/>
                <a:latin typeface="Calibri" panose="020F0502020204030204"/>
                <a:ea typeface="+mn-ea"/>
                <a:cs typeface="+mn-cs"/>
              </a:rPr>
              <a:t>ice </a:t>
            </a:r>
            <a:r>
              <a:rPr kumimoji="0" lang="pl-PL" sz="4400" b="1" i="1" u="none" strike="noStrike" kern="1200" cap="none" spc="-1" normalizeH="0" baseline="0" noProof="0" dirty="0">
                <a:ln>
                  <a:noFill/>
                </a:ln>
                <a:solidFill>
                  <a:srgbClr val="215968"/>
                </a:solidFill>
                <a:effectLst/>
                <a:uLnTx/>
                <a:uFillTx/>
                <a:latin typeface="Calibri" panose="020F0502020204030204"/>
                <a:ea typeface="+mn-ea"/>
                <a:cs typeface="+mn-cs"/>
              </a:rPr>
              <a:t>-&gt; </a:t>
            </a:r>
            <a:r>
              <a:rPr kumimoji="0" lang="pl-PL" sz="4400" b="1" i="1" u="none" strike="noStrike" kern="1200" cap="none" spc="-1" normalizeH="0" baseline="0" noProof="0" dirty="0" err="1">
                <a:ln>
                  <a:noFill/>
                </a:ln>
                <a:solidFill>
                  <a:srgbClr val="215968"/>
                </a:solidFill>
                <a:effectLst/>
                <a:uLnTx/>
                <a:uFillTx/>
                <a:latin typeface="Calibri" panose="020F0502020204030204"/>
                <a:ea typeface="+mn-ea"/>
                <a:cs typeface="+mn-cs"/>
              </a:rPr>
              <a:t>demand</a:t>
            </a:r>
            <a:r>
              <a:rPr kumimoji="0" lang="pl-PL" sz="4400" b="1" i="1" u="none" strike="noStrike" kern="1200" cap="none" spc="-1" normalizeH="0" baseline="0" noProof="0" dirty="0">
                <a:ln>
                  <a:noFill/>
                </a:ln>
                <a:solidFill>
                  <a:srgbClr val="215968"/>
                </a:solidFill>
                <a:effectLst/>
                <a:uLnTx/>
                <a:uFillTx/>
                <a:latin typeface="Calibri" panose="020F0502020204030204"/>
                <a:ea typeface="+mn-ea"/>
                <a:cs typeface="+mn-cs"/>
              </a:rPr>
              <a:t> </a:t>
            </a:r>
            <a:endParaRPr lang="pl-PL" sz="4400" b="1" i="1" spc="-1" dirty="0">
              <a:solidFill>
                <a:srgbClr val="215968"/>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CustomShape 2"/>
          <p:cNvSpPr/>
          <p:nvPr/>
        </p:nvSpPr>
        <p:spPr>
          <a:xfrm>
            <a:off x="1716240" y="696960"/>
            <a:ext cx="8616960" cy="720720"/>
          </a:xfrm>
          <a:prstGeom prst="rect">
            <a:avLst/>
          </a:prstGeom>
          <a:solidFill>
            <a:srgbClr val="215968"/>
          </a:solidFill>
          <a:ln>
            <a:noFill/>
          </a:ln>
        </p:spPr>
        <p:style>
          <a:lnRef idx="0">
            <a:scrgbClr r="0" g="0" b="0"/>
          </a:lnRef>
          <a:fillRef idx="0">
            <a:scrgbClr r="0" g="0" b="0"/>
          </a:fillRef>
          <a:effectRef idx="0">
            <a:scrgbClr r="0" g="0" b="0"/>
          </a:effectRef>
          <a:fontRef idx="minor"/>
        </p:style>
        <p:txBody>
          <a:bodyPr lIns="90000" tIns="46800" rIns="90000" bIns="4680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200" b="1" i="0" u="none" strike="noStrike" kern="1200" cap="none" spc="-1" normalizeH="0" baseline="0" noProof="0">
                <a:ln>
                  <a:noFill/>
                </a:ln>
                <a:solidFill>
                  <a:srgbClr val="FFFFFF"/>
                </a:solidFill>
                <a:effectLst/>
                <a:uLnTx/>
                <a:uFillTx/>
                <a:latin typeface="Calibri"/>
                <a:ea typeface="+mn-ea"/>
                <a:cs typeface="+mn-cs"/>
              </a:rPr>
              <a:t>WNE UW</a:t>
            </a: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7" name="Picture 3"/>
          <p:cNvPicPr/>
          <p:nvPr/>
        </p:nvPicPr>
        <p:blipFill>
          <a:blip r:embed="rId3"/>
          <a:stretch/>
        </p:blipFill>
        <p:spPr>
          <a:xfrm>
            <a:off x="7536000" y="247680"/>
            <a:ext cx="2338200" cy="1898640"/>
          </a:xfrm>
          <a:prstGeom prst="rect">
            <a:avLst/>
          </a:prstGeom>
          <a:ln>
            <a:noFill/>
          </a:ln>
          <a:effectLst>
            <a:outerShdw dist="139498" dir="2700000">
              <a:srgbClr val="333333">
                <a:alpha val="65000"/>
              </a:srgbClr>
            </a:outerShdw>
          </a:effectLst>
        </p:spPr>
      </p:pic>
    </p:spTree>
    <p:extLst>
      <p:ext uri="{BB962C8B-B14F-4D97-AF65-F5344CB8AC3E}">
        <p14:creationId xmlns:p14="http://schemas.microsoft.com/office/powerpoint/2010/main" val="81376763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b="1" i="1" dirty="0">
                <a:solidFill>
                  <a:schemeClr val="accent5">
                    <a:lumMod val="50000"/>
                  </a:schemeClr>
                </a:solidFill>
              </a:rPr>
              <a:t>Escape from the Arrow-Debreu world</a:t>
            </a:r>
            <a:endParaRPr lang="en-GB" b="1" i="1" dirty="0">
              <a:solidFill>
                <a:schemeClr val="accent5">
                  <a:lumMod val="50000"/>
                </a:schemeClr>
              </a:solidFill>
            </a:endParaRPr>
          </a:p>
        </p:txBody>
      </p:sp>
      <p:sp>
        <p:nvSpPr>
          <p:cNvPr id="4" name="AutoShape 2" descr="https://mikroekonomia.wne.uw.edu.pl/moodle/pluginfile.php/21105/course/section/1679/BBB%20settings%202.png"/>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Prostokąt 8"/>
          <p:cNvSpPr/>
          <p:nvPr/>
        </p:nvSpPr>
        <p:spPr>
          <a:xfrm>
            <a:off x="194852" y="1242513"/>
            <a:ext cx="11524425" cy="550920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In the Arrow-Debreu</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of </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G</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eneral</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E</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quilibrium</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M</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odel</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the is incredible transition from the theory microscale to the theory of macroscale.   The model </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behaviour</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of the economic atoms is used to describe the whole economy. Even in physics, the transition from micro to macro scale is no so smooth. But there is no free lunch. In general economic models, we have to set a lot of assumptions (axioms) to do the transition. The is a mixture of </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behavioural</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assumptions and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only</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technical assumptions which crate the abstract creature of Homo </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Economicus</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There is a lot of assumptions about the environment in which HE operates. At the lectures, we will discuss validity of the assumptions for consumer </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behaviour</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a:t>
            </a:r>
            <a:endPar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1067426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C265E-90E3-3FBE-9B7C-0320757C4A08}"/>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00653828-0B79-B1F3-11E9-288FF0661AB6}"/>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a:solidFill>
                  <a:schemeClr val="accent5">
                    <a:lumMod val="50000"/>
                  </a:schemeClr>
                </a:solidFill>
              </a:rPr>
              <a:t>Report 3 (3 </a:t>
            </a:r>
            <a:r>
              <a:rPr lang="pl-PL" b="1" i="1" dirty="0" err="1">
                <a:solidFill>
                  <a:schemeClr val="accent5">
                    <a:lumMod val="50000"/>
                  </a:schemeClr>
                </a:solidFill>
              </a:rPr>
              <a:t>parts</a:t>
            </a:r>
            <a:r>
              <a:rPr lang="pl-PL" b="1" i="1" dirty="0">
                <a:solidFill>
                  <a:schemeClr val="accent5">
                    <a:lumMod val="50000"/>
                  </a:schemeClr>
                </a:solidFill>
              </a:rPr>
              <a:t>) </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7B15508B-22E1-D4A8-9B13-F6F084E3E273}"/>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Prostokąt 8">
            <a:extLst>
              <a:ext uri="{FF2B5EF4-FFF2-40B4-BE49-F238E27FC236}">
                <a16:creationId xmlns:a16="http://schemas.microsoft.com/office/drawing/2014/main" id="{33EAA8D0-DD6F-C99C-BB14-77435248B8D4}"/>
              </a:ext>
            </a:extLst>
          </p:cNvPr>
          <p:cNvSpPr/>
          <p:nvPr/>
        </p:nvSpPr>
        <p:spPr>
          <a:xfrm>
            <a:off x="529225" y="1687255"/>
            <a:ext cx="10849068" cy="440120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The homework consists of three parts:</a:t>
            </a:r>
            <a:endParaRPr kumimoji="0" lang="pl-PL" sz="2800" b="1"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pl-PL" sz="2800" b="1" dirty="0">
              <a:solidFill>
                <a:srgbClr val="4BACC6">
                  <a:lumMod val="50000"/>
                </a:srgbClr>
              </a:solidFill>
              <a:latin typeface="Calibri"/>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l-PL" sz="2800" b="1" i="0" u="none" strike="noStrike" kern="1200" cap="none" spc="0" normalizeH="0" baseline="0" noProof="0" dirty="0">
                <a:ln>
                  <a:noFill/>
                </a:ln>
                <a:solidFill>
                  <a:srgbClr val="4BACC6">
                    <a:lumMod val="50000"/>
                  </a:srgbClr>
                </a:solidFill>
                <a:effectLst/>
                <a:uLnTx/>
                <a:uFillTx/>
                <a:latin typeface="Calibri"/>
                <a:ea typeface="+mn-ea"/>
                <a:cs typeface="+mn-cs"/>
              </a:rPr>
              <a:t>S</a:t>
            </a:r>
            <a:r>
              <a:rPr kumimoji="0" lang="en-US" sz="2800" b="1" i="0" u="none" strike="noStrike" kern="1200" cap="none" spc="0" normalizeH="0" baseline="0" noProof="0" dirty="0" err="1">
                <a:ln>
                  <a:noFill/>
                </a:ln>
                <a:solidFill>
                  <a:srgbClr val="4BACC6">
                    <a:lumMod val="50000"/>
                  </a:srgbClr>
                </a:solidFill>
                <a:effectLst/>
                <a:uLnTx/>
                <a:uFillTx/>
                <a:latin typeface="Calibri"/>
                <a:ea typeface="+mn-ea"/>
                <a:cs typeface="+mn-cs"/>
              </a:rPr>
              <a:t>ummary</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 of an interesting study </a:t>
            </a:r>
            <a:r>
              <a:rPr kumimoji="0" lang="pl-PL" sz="2800" b="1" i="0" u="none" strike="noStrike" kern="1200" cap="none" spc="0" normalizeH="0" baseline="0" noProof="0" dirty="0">
                <a:ln>
                  <a:noFill/>
                </a:ln>
                <a:solidFill>
                  <a:srgbClr val="4BACC6">
                    <a:lumMod val="50000"/>
                  </a:srgbClr>
                </a:solidFill>
                <a:effectLst/>
                <a:uLnTx/>
                <a:uFillTx/>
                <a:latin typeface="Calibri"/>
                <a:ea typeface="+mn-ea"/>
                <a:cs typeface="+mn-cs"/>
              </a:rPr>
              <a:t>of </a:t>
            </a:r>
            <a:r>
              <a:rPr kumimoji="0" lang="pl-PL" sz="2800" b="1" i="0" u="none" strike="noStrike" kern="1200" cap="none" spc="0" normalizeH="0" baseline="0" noProof="0" dirty="0" err="1">
                <a:ln>
                  <a:noFill/>
                </a:ln>
                <a:solidFill>
                  <a:srgbClr val="4BACC6">
                    <a:lumMod val="50000"/>
                  </a:srgbClr>
                </a:solidFill>
                <a:effectLst/>
                <a:uLnTx/>
                <a:uFillTx/>
                <a:latin typeface="Calibri"/>
                <a:ea typeface="+mn-ea"/>
                <a:cs typeface="+mn-cs"/>
              </a:rPr>
              <a:t>demand</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a:t>
            </a:r>
            <a:endParaRPr kumimoji="0" lang="pl-PL" sz="2800" b="1" i="0" u="none" strike="noStrike" kern="1200" cap="none" spc="0" normalizeH="0" baseline="0" noProof="0" dirty="0">
              <a:ln>
                <a:noFill/>
              </a:ln>
              <a:solidFill>
                <a:srgbClr val="4BACC6">
                  <a:lumMod val="50000"/>
                </a:srgbClr>
              </a:solidFill>
              <a:effectLst/>
              <a:uLnTx/>
              <a:uFillTx/>
              <a:latin typeface="Calibri"/>
              <a:ea typeface="+mn-ea"/>
              <a:cs typeface="+mn-cs"/>
            </a:endParaRPr>
          </a:p>
          <a:p>
            <a:pPr marL="457200" lvl="0" indent="-457200" algn="just">
              <a:buFont typeface="Arial" panose="020B0604020202020204" pitchFamily="34" charset="0"/>
              <a:buChar char="•"/>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Interpretation of the patterns, errors and strange </a:t>
            </a:r>
            <a:r>
              <a:rPr kumimoji="0" lang="en-US" sz="2800" b="1" i="0" u="none" strike="noStrike" kern="1200" cap="none" spc="0" normalizeH="0" baseline="0" noProof="0" dirty="0" err="1">
                <a:ln>
                  <a:noFill/>
                </a:ln>
                <a:solidFill>
                  <a:srgbClr val="4BACC6">
                    <a:lumMod val="50000"/>
                  </a:srgbClr>
                </a:solidFill>
                <a:effectLst/>
                <a:uLnTx/>
                <a:uFillTx/>
                <a:latin typeface="Calibri"/>
                <a:ea typeface="+mn-ea"/>
                <a:cs typeface="+mn-cs"/>
              </a:rPr>
              <a:t>behaviours</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800" b="1" i="0" u="none" strike="noStrike" kern="1200" cap="none" spc="0" normalizeH="0" baseline="0" noProof="0" dirty="0">
                <a:ln>
                  <a:noFill/>
                </a:ln>
                <a:solidFill>
                  <a:srgbClr val="4BACC6">
                    <a:lumMod val="50000"/>
                  </a:srgbClr>
                </a:solidFill>
                <a:effectLst/>
                <a:uLnTx/>
                <a:uFillTx/>
                <a:latin typeface="Calibri"/>
                <a:ea typeface="+mn-ea"/>
                <a:cs typeface="+mn-cs"/>
              </a:rPr>
              <a:t>- </a:t>
            </a:r>
            <a:r>
              <a:rPr lang="en-US" sz="2800" b="1" dirty="0">
                <a:solidFill>
                  <a:srgbClr val="4BACC6">
                    <a:lumMod val="50000"/>
                  </a:srgbClr>
                </a:solidFill>
              </a:rPr>
              <a:t>you</a:t>
            </a:r>
            <a:r>
              <a:rPr lang="pl-PL" sz="2800" b="1" dirty="0">
                <a:solidFill>
                  <a:srgbClr val="4BACC6">
                    <a:lumMod val="50000"/>
                  </a:srgbClr>
                </a:solidFill>
              </a:rPr>
              <a:t>r</a:t>
            </a:r>
            <a:r>
              <a:rPr lang="en-US" sz="2800" b="1" dirty="0">
                <a:solidFill>
                  <a:srgbClr val="4BACC6">
                    <a:lumMod val="50000"/>
                  </a:srgbClr>
                </a:solidFill>
              </a:rPr>
              <a:t> </a:t>
            </a:r>
            <a:r>
              <a:rPr lang="pl-PL" sz="2800" b="1" dirty="0">
                <a:solidFill>
                  <a:srgbClr val="4BACC6">
                    <a:lumMod val="50000"/>
                  </a:srgbClr>
                </a:solidFill>
              </a:rPr>
              <a:t>a</a:t>
            </a:r>
            <a:r>
              <a:rPr lang="en-US" sz="2800" b="1" dirty="0" err="1">
                <a:solidFill>
                  <a:srgbClr val="4BACC6">
                    <a:lumMod val="50000"/>
                  </a:srgbClr>
                </a:solidFill>
              </a:rPr>
              <a:t>nalysis</a:t>
            </a:r>
            <a:r>
              <a:rPr lang="en-US" sz="2800" b="1" dirty="0">
                <a:solidFill>
                  <a:srgbClr val="4BACC6">
                    <a:lumMod val="50000"/>
                  </a:srgbClr>
                </a:solidFill>
              </a:rPr>
              <a:t> of the </a:t>
            </a:r>
            <a:r>
              <a:rPr lang="pl-PL" sz="2800" b="1" dirty="0" err="1">
                <a:solidFill>
                  <a:srgbClr val="4BACC6">
                    <a:lumMod val="50000"/>
                  </a:srgbClr>
                </a:solidFill>
              </a:rPr>
              <a:t>demand</a:t>
            </a:r>
            <a:r>
              <a:rPr lang="en-US" sz="2800" b="1" dirty="0">
                <a:solidFill>
                  <a:srgbClr val="4BACC6">
                    <a:lumMod val="50000"/>
                  </a:srgbClr>
                </a:solidFill>
              </a:rPr>
              <a:t> Shiny</a:t>
            </a:r>
            <a:r>
              <a:rPr lang="pl-PL" sz="2800" b="1" dirty="0">
                <a:solidFill>
                  <a:srgbClr val="4BACC6">
                    <a:lumMod val="50000"/>
                  </a:srgbClr>
                </a:solidFill>
              </a:rPr>
              <a:t> </a:t>
            </a:r>
            <a:r>
              <a:rPr lang="pl-PL" sz="2800" b="1" dirty="0" err="1">
                <a:solidFill>
                  <a:srgbClr val="4BACC6">
                    <a:lumMod val="50000"/>
                  </a:srgbClr>
                </a:solidFill>
              </a:rPr>
              <a:t>app</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a:t>
            </a:r>
            <a:endParaRPr kumimoji="0" lang="pl-PL" sz="2800" b="1" i="0" u="none" strike="noStrike" kern="1200" cap="none" spc="0" normalizeH="0" baseline="0" noProof="0" dirty="0">
              <a:ln>
                <a:noFill/>
              </a:ln>
              <a:solidFill>
                <a:srgbClr val="4BACC6">
                  <a:lumMod val="50000"/>
                </a:srgbClr>
              </a:solidFill>
              <a:effectLst/>
              <a:uLnTx/>
              <a:uFillTx/>
              <a:latin typeface="Calibri"/>
              <a:ea typeface="+mn-ea"/>
              <a:cs typeface="+mn-cs"/>
            </a:endParaRPr>
          </a:p>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A short reflection on the survey and data ethics.</a:t>
            </a:r>
            <a:endParaRPr kumimoji="0" lang="pl-PL" sz="2800" b="1"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pl-PL" sz="2800" b="1" dirty="0">
              <a:solidFill>
                <a:srgbClr val="4BACC6">
                  <a:lumMod val="50000"/>
                </a:srgbClr>
              </a:solidFill>
              <a:latin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You can write a forum post that focuses on only one of these topics, or you can combine two or even all three in a single, longer post – that choice is up to you.</a:t>
            </a:r>
            <a:endParaRPr kumimoji="0" lang="pl-PL" sz="2800" b="1"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447937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890C7-FED1-9F28-55AC-BE46ADE8E54E}"/>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850429B5-F3DF-6C07-77B4-EDEC3BCC3F54}"/>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a:solidFill>
                  <a:schemeClr val="accent5">
                    <a:lumMod val="50000"/>
                  </a:schemeClr>
                </a:solidFill>
              </a:rPr>
              <a:t>Report 3 (the </a:t>
            </a:r>
            <a:r>
              <a:rPr lang="pl-PL" b="1" i="1" dirty="0" err="1">
                <a:solidFill>
                  <a:schemeClr val="accent5">
                    <a:lumMod val="50000"/>
                  </a:schemeClr>
                </a:solidFill>
              </a:rPr>
              <a:t>first</a:t>
            </a:r>
            <a:r>
              <a:rPr lang="pl-PL" b="1" i="1" dirty="0">
                <a:solidFill>
                  <a:schemeClr val="accent5">
                    <a:lumMod val="50000"/>
                  </a:schemeClr>
                </a:solidFill>
              </a:rPr>
              <a:t> part) </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DFF69EFA-0B26-8167-7197-45A3AD654E88}"/>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Prostokąt 8">
            <a:extLst>
              <a:ext uri="{FF2B5EF4-FFF2-40B4-BE49-F238E27FC236}">
                <a16:creationId xmlns:a16="http://schemas.microsoft.com/office/drawing/2014/main" id="{8CAA0969-9588-B9EB-3006-9488520F4B71}"/>
              </a:ext>
            </a:extLst>
          </p:cNvPr>
          <p:cNvSpPr/>
          <p:nvPr/>
        </p:nvSpPr>
        <p:spPr>
          <a:xfrm>
            <a:off x="508905" y="1329140"/>
            <a:ext cx="10849068" cy="4893647"/>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In the first part of your new assignment (lecture report), please find and post a summary of an interesting study that could complement today’s class. Your post should be a well-considered, documented statement, where you act as a “research detective” focused on demand in different environments. Factors affecting demand characteristics extend beyond economics alone, including geography, culture, religion, etc. </a:t>
            </a:r>
            <a:endParaRPr kumimoji="0" lang="pl-PL" sz="24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pl-PL" sz="2400" dirty="0">
              <a:solidFill>
                <a:srgbClr val="4BACC6">
                  <a:lumMod val="50000"/>
                </a:srgbClr>
              </a:solidFill>
              <a:latin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I’m particularly interested in </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studies that estimate various elasticities (price, income, cross-elasticity) for different products, even unusual or abstract ones. </a:t>
            </a:r>
            <a:endParaRPr kumimoji="0" lang="pl-PL" sz="2400" b="1"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pl-PL" sz="2400" dirty="0">
              <a:solidFill>
                <a:srgbClr val="4BACC6">
                  <a:lumMod val="50000"/>
                </a:srgbClr>
              </a:solidFill>
              <a:latin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Feel free to use AI for research assistance; however, this requires careful prompt crafting. Remember, AI responses are not always accurate – double-check sources, especially if anything seems questionable.</a:t>
            </a:r>
            <a:endParaRPr kumimoji="0" lang="pl-PL" sz="24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018595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5BFB6-CCDF-3B7F-64B7-52B15FA10E64}"/>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DC97F3B3-F297-D02A-3200-48DC06F33634}"/>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a:solidFill>
                  <a:schemeClr val="accent5">
                    <a:lumMod val="50000"/>
                  </a:schemeClr>
                </a:solidFill>
              </a:rPr>
              <a:t>Report 3 (the </a:t>
            </a:r>
            <a:r>
              <a:rPr lang="pl-PL" b="1" i="1" dirty="0" err="1">
                <a:solidFill>
                  <a:schemeClr val="accent5">
                    <a:lumMod val="50000"/>
                  </a:schemeClr>
                </a:solidFill>
              </a:rPr>
              <a:t>second</a:t>
            </a:r>
            <a:r>
              <a:rPr lang="pl-PL" b="1" i="1" dirty="0">
                <a:solidFill>
                  <a:schemeClr val="accent5">
                    <a:lumMod val="50000"/>
                  </a:schemeClr>
                </a:solidFill>
              </a:rPr>
              <a:t> </a:t>
            </a:r>
            <a:r>
              <a:rPr lang="pl-PL" b="1" i="1" dirty="0" err="1">
                <a:solidFill>
                  <a:schemeClr val="accent5">
                    <a:lumMod val="50000"/>
                  </a:schemeClr>
                </a:solidFill>
              </a:rPr>
              <a:t>topic</a:t>
            </a:r>
            <a:r>
              <a:rPr lang="pl-PL" b="1" i="1" dirty="0">
                <a:solidFill>
                  <a:schemeClr val="accent5">
                    <a:lumMod val="50000"/>
                  </a:schemeClr>
                </a:solidFill>
              </a:rPr>
              <a:t>) </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8CD1A535-8A07-170A-2D47-75B87F598EB9}"/>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Prostokąt 8">
            <a:extLst>
              <a:ext uri="{FF2B5EF4-FFF2-40B4-BE49-F238E27FC236}">
                <a16:creationId xmlns:a16="http://schemas.microsoft.com/office/drawing/2014/main" id="{9BDC7390-13B3-5B27-83DC-0D20FA5C745F}"/>
              </a:ext>
            </a:extLst>
          </p:cNvPr>
          <p:cNvSpPr/>
          <p:nvPr/>
        </p:nvSpPr>
        <p:spPr>
          <a:xfrm>
            <a:off x="333786" y="1711618"/>
            <a:ext cx="11524425" cy="378565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The second part of the homework is an analysis of the results from our WTP–WTA experiment.</a:t>
            </a:r>
            <a:endParaRPr kumimoji="0" lang="pl-PL" sz="24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pl-PL" sz="2400" dirty="0">
              <a:solidFill>
                <a:srgbClr val="4BACC6">
                  <a:lumMod val="50000"/>
                </a:srgbClr>
              </a:solidFill>
              <a:latin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The report is available as an interactive Shiny app at:</a:t>
            </a:r>
            <a:endParaRPr kumimoji="0" lang="pl-PL" sz="24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https://microeconomics.shinyapps.io/demand_0_92/</a:t>
            </a: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a:t>
            </a:r>
            <a:endParaRPr kumimoji="0" lang="pl-PL" sz="24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pl-PL" sz="2400" dirty="0">
              <a:solidFill>
                <a:srgbClr val="4BACC6">
                  <a:lumMod val="50000"/>
                </a:srgbClr>
              </a:solidFill>
              <a:latin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pl-PL" sz="24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Please explore the app carefully, go through all tabs and plots, and describe in your own words what you see: regularities and relationships in the data, but also errors, inconsistencies, outliers and strange or unexpected </a:t>
            </a:r>
            <a:r>
              <a:rPr kumimoji="0" lang="en-US" sz="2400" b="0" i="0" u="none" strike="noStrike" kern="1200" cap="none" spc="0" normalizeH="0" baseline="0" noProof="0" dirty="0" err="1">
                <a:ln>
                  <a:noFill/>
                </a:ln>
                <a:solidFill>
                  <a:srgbClr val="4BACC6">
                    <a:lumMod val="50000"/>
                  </a:srgbClr>
                </a:solidFill>
                <a:effectLst/>
                <a:uLnTx/>
                <a:uFillTx/>
                <a:latin typeface="Calibri"/>
                <a:ea typeface="+mn-ea"/>
                <a:cs typeface="+mn-cs"/>
              </a:rPr>
              <a:t>behaviour</a:t>
            </a: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 of </a:t>
            </a:r>
            <a:r>
              <a:rPr kumimoji="0" lang="pl-PL" sz="2400" b="0" i="0" u="none" strike="noStrike" kern="1200" cap="none" spc="0" normalizeH="0" baseline="0" noProof="0" dirty="0" err="1">
                <a:ln>
                  <a:noFill/>
                </a:ln>
                <a:solidFill>
                  <a:srgbClr val="4BACC6">
                    <a:lumMod val="50000"/>
                  </a:srgbClr>
                </a:solidFill>
                <a:effectLst/>
                <a:uLnTx/>
                <a:uFillTx/>
                <a:latin typeface="Calibri"/>
                <a:ea typeface="+mn-ea"/>
                <a:cs typeface="+mn-cs"/>
              </a:rPr>
              <a:t>models</a:t>
            </a: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a:t>
            </a:r>
            <a:endParaRPr kumimoji="0" lang="pl-PL" sz="24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843024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4B9BB-7804-895D-27EE-2EBA71666EA2}"/>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6F5A4BF3-9084-1A82-3E13-FD14EC2817A6}"/>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a:solidFill>
                  <a:schemeClr val="accent5">
                    <a:lumMod val="50000"/>
                  </a:schemeClr>
                </a:solidFill>
              </a:rPr>
              <a:t>Report 3 (the third </a:t>
            </a:r>
            <a:r>
              <a:rPr lang="pl-PL" b="1" i="1" dirty="0" err="1">
                <a:solidFill>
                  <a:schemeClr val="accent5">
                    <a:lumMod val="50000"/>
                  </a:schemeClr>
                </a:solidFill>
              </a:rPr>
              <a:t>topic</a:t>
            </a:r>
            <a:r>
              <a:rPr lang="pl-PL" b="1" i="1" dirty="0">
                <a:solidFill>
                  <a:schemeClr val="accent5">
                    <a:lumMod val="50000"/>
                  </a:schemeClr>
                </a:solidFill>
              </a:rPr>
              <a:t>) </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DC55BDC3-B880-0D19-E39A-389F4467122D}"/>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Prostokąt 8">
            <a:extLst>
              <a:ext uri="{FF2B5EF4-FFF2-40B4-BE49-F238E27FC236}">
                <a16:creationId xmlns:a16="http://schemas.microsoft.com/office/drawing/2014/main" id="{82EE9E71-E54C-79EB-BDDF-ABAB6A371118}"/>
              </a:ext>
            </a:extLst>
          </p:cNvPr>
          <p:cNvSpPr/>
          <p:nvPr/>
        </p:nvSpPr>
        <p:spPr>
          <a:xfrm>
            <a:off x="333786" y="1799015"/>
            <a:ext cx="11524425" cy="440120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The third part is a short reflection on the survey itself and on </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data ethics</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 Some questions in the questionnaire – for example about your monthly disposable income – were intentionally chosen to be slightly uncomfortable. </a:t>
            </a:r>
            <a:endPar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I would like you to reflect on what exactly felt intrusive and why, and to compare this classroom situation with real-world data collection, where social media, smartphones and many online services continuously record information about you. </a:t>
            </a:r>
            <a:endPar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pl-PL" sz="2800" dirty="0">
              <a:solidFill>
                <a:srgbClr val="4BACC6">
                  <a:lumMod val="50000"/>
                </a:srgbClr>
              </a:solidFill>
              <a:latin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From this perspective, how do you see the role and responsibility of data science?</a:t>
            </a:r>
            <a:endPar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461448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a:solidFill>
                  <a:schemeClr val="accent5">
                    <a:lumMod val="50000"/>
                  </a:schemeClr>
                </a:solidFill>
              </a:rPr>
              <a:t>The </a:t>
            </a:r>
            <a:r>
              <a:rPr lang="pl-PL" b="1" i="1" dirty="0" err="1">
                <a:solidFill>
                  <a:schemeClr val="accent5">
                    <a:lumMod val="50000"/>
                  </a:schemeClr>
                </a:solidFill>
              </a:rPr>
              <a:t>maximization</a:t>
            </a:r>
            <a:r>
              <a:rPr lang="pl-PL" b="1" i="1" dirty="0">
                <a:solidFill>
                  <a:schemeClr val="accent5">
                    <a:lumMod val="50000"/>
                  </a:schemeClr>
                </a:solidFill>
              </a:rPr>
              <a:t> problem </a:t>
            </a:r>
            <a:endParaRPr lang="en-GB" b="1" i="1" dirty="0">
              <a:solidFill>
                <a:schemeClr val="accent5">
                  <a:lumMod val="50000"/>
                </a:schemeClr>
              </a:solidFill>
            </a:endParaRPr>
          </a:p>
        </p:txBody>
      </p:sp>
      <p:sp>
        <p:nvSpPr>
          <p:cNvPr id="4" name="AutoShape 2" descr="https://mikroekonomia.wne.uw.edu.pl/moodle/pluginfile.php/21105/course/section/1679/BBB%20settings%202.png"/>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p:cNvSpPr/>
          <p:nvPr/>
        </p:nvSpPr>
        <p:spPr>
          <a:xfrm>
            <a:off x="342088" y="1367960"/>
            <a:ext cx="11507821" cy="4638834"/>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3600" u="none" strike="noStrike" kern="1200" cap="none" spc="0" normalizeH="0" baseline="0" noProof="0" dirty="0">
                <a:ln>
                  <a:noFill/>
                </a:ln>
                <a:solidFill>
                  <a:srgbClr val="4BACC6">
                    <a:lumMod val="50000"/>
                  </a:srgbClr>
                </a:solidFill>
                <a:effectLst/>
                <a:uLnTx/>
                <a:uFillTx/>
                <a:latin typeface="Calibri"/>
                <a:cs typeface="+mn-cs"/>
              </a:rPr>
              <a:t>The consumer choice is brought to maximization problem with constraints.</a:t>
            </a:r>
            <a:endParaRPr kumimoji="0" lang="pl-PL" sz="3600" u="none" strike="noStrike" kern="1200" cap="none" spc="0" normalizeH="0" baseline="0" noProof="0" dirty="0">
              <a:ln>
                <a:noFill/>
              </a:ln>
              <a:solidFill>
                <a:srgbClr val="4BACC6">
                  <a:lumMod val="50000"/>
                </a:srgbClr>
              </a:solidFill>
              <a:effectLst/>
              <a:uLnTx/>
              <a:uFillTx/>
              <a:latin typeface="Calibri"/>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pl-PL" sz="3600" u="none" strike="noStrike" kern="1200" cap="none" spc="0" normalizeH="0" baseline="0" noProof="0" dirty="0">
              <a:ln>
                <a:noFill/>
              </a:ln>
              <a:solidFill>
                <a:srgbClr val="4BACC6">
                  <a:lumMod val="50000"/>
                </a:srgbClr>
              </a:solidFill>
              <a:effectLst/>
              <a:uLnTx/>
              <a:uFillTx/>
              <a:latin typeface="Calibri"/>
              <a:cs typeface="+mn-cs"/>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pl-PL" sz="3600" u="none" strike="noStrike" kern="1200" cap="none" spc="0" normalizeH="0" baseline="0" noProof="0" dirty="0">
                <a:ln>
                  <a:noFill/>
                </a:ln>
                <a:solidFill>
                  <a:srgbClr val="4BACC6">
                    <a:lumMod val="50000"/>
                  </a:srgbClr>
                </a:solidFill>
                <a:effectLst/>
                <a:uLnTx/>
                <a:uFillTx/>
                <a:latin typeface="Calibri"/>
                <a:cs typeface="+mn-cs"/>
              </a:rPr>
              <a:t>Max </a:t>
            </a:r>
            <a:r>
              <a:rPr kumimoji="0" lang="en-US" altLang="en-US" sz="3600" u="none" strike="noStrike" kern="1200" cap="none" spc="0" normalizeH="0" baseline="0" noProof="0" dirty="0">
                <a:ln>
                  <a:noFill/>
                </a:ln>
                <a:solidFill>
                  <a:srgbClr val="4BACC6">
                    <a:lumMod val="50000"/>
                  </a:srgbClr>
                </a:solidFill>
                <a:effectLst/>
                <a:uLnTx/>
                <a:uFillTx/>
                <a:latin typeface="Calibri"/>
                <a:cs typeface="+mn-cs"/>
              </a:rPr>
              <a:t>U(X</a:t>
            </a:r>
            <a:r>
              <a:rPr kumimoji="0" lang="en-US" altLang="en-US" sz="3600" u="none" strike="noStrike" kern="1200" cap="none" spc="0" normalizeH="0" baseline="-25000" noProof="0" dirty="0">
                <a:ln>
                  <a:noFill/>
                </a:ln>
                <a:solidFill>
                  <a:srgbClr val="4BACC6">
                    <a:lumMod val="50000"/>
                  </a:srgbClr>
                </a:solidFill>
                <a:effectLst/>
                <a:uLnTx/>
                <a:uFillTx/>
                <a:latin typeface="Calibri"/>
                <a:cs typeface="+mn-cs"/>
              </a:rPr>
              <a:t>1</a:t>
            </a:r>
            <a:r>
              <a:rPr kumimoji="0" lang="en-US" altLang="en-US" sz="3600" u="none" strike="noStrike" kern="1200" cap="none" spc="0" normalizeH="0" baseline="0" noProof="0" dirty="0">
                <a:ln>
                  <a:noFill/>
                </a:ln>
                <a:solidFill>
                  <a:srgbClr val="4BACC6">
                    <a:lumMod val="50000"/>
                  </a:srgbClr>
                </a:solidFill>
                <a:effectLst/>
                <a:uLnTx/>
                <a:uFillTx/>
                <a:latin typeface="Calibri"/>
                <a:cs typeface="+mn-cs"/>
              </a:rPr>
              <a:t>, X</a:t>
            </a:r>
            <a:r>
              <a:rPr kumimoji="0" lang="en-US" altLang="en-US" sz="3600" u="none" strike="noStrike" kern="1200" cap="none" spc="0" normalizeH="0" baseline="-25000" noProof="0" dirty="0">
                <a:ln>
                  <a:noFill/>
                </a:ln>
                <a:solidFill>
                  <a:srgbClr val="4BACC6">
                    <a:lumMod val="50000"/>
                  </a:srgbClr>
                </a:solidFill>
                <a:effectLst/>
                <a:uLnTx/>
                <a:uFillTx/>
                <a:latin typeface="Calibri"/>
                <a:cs typeface="+mn-cs"/>
              </a:rPr>
              <a:t>2</a:t>
            </a:r>
            <a:r>
              <a:rPr kumimoji="0" lang="en-US" altLang="en-US" sz="3600" u="none" strike="noStrike" kern="1200" cap="none" spc="0" normalizeH="0" baseline="0" noProof="0" dirty="0">
                <a:ln>
                  <a:noFill/>
                </a:ln>
                <a:solidFill>
                  <a:srgbClr val="4BACC6">
                    <a:lumMod val="50000"/>
                  </a:srgbClr>
                </a:solidFill>
                <a:effectLst/>
                <a:uLnTx/>
                <a:uFillTx/>
                <a:latin typeface="Calibri"/>
                <a:cs typeface="+mn-cs"/>
              </a:rPr>
              <a:t>,…, </a:t>
            </a:r>
            <a:r>
              <a:rPr kumimoji="0" lang="en-US" altLang="en-US" sz="3600" u="none" strike="noStrike" kern="1200" cap="none" spc="0" normalizeH="0" baseline="0" noProof="0" dirty="0" err="1">
                <a:ln>
                  <a:noFill/>
                </a:ln>
                <a:solidFill>
                  <a:srgbClr val="4BACC6">
                    <a:lumMod val="50000"/>
                  </a:srgbClr>
                </a:solidFill>
                <a:effectLst/>
                <a:uLnTx/>
                <a:uFillTx/>
                <a:latin typeface="Calibri"/>
                <a:cs typeface="+mn-cs"/>
              </a:rPr>
              <a:t>X</a:t>
            </a:r>
            <a:r>
              <a:rPr kumimoji="0" lang="en-US" altLang="en-US" sz="3600" u="none" strike="noStrike" kern="1200" cap="none" spc="0" normalizeH="0" baseline="-25000" noProof="0" dirty="0" err="1">
                <a:ln>
                  <a:noFill/>
                </a:ln>
                <a:solidFill>
                  <a:srgbClr val="4BACC6">
                    <a:lumMod val="50000"/>
                  </a:srgbClr>
                </a:solidFill>
                <a:effectLst/>
                <a:uLnTx/>
                <a:uFillTx/>
                <a:latin typeface="Calibri"/>
                <a:cs typeface="+mn-cs"/>
              </a:rPr>
              <a:t>n</a:t>
            </a:r>
            <a:r>
              <a:rPr kumimoji="0" lang="en-US" altLang="en-US" sz="3600" u="none" strike="noStrike" kern="1200" cap="none" spc="0" normalizeH="0" baseline="0" noProof="0" dirty="0">
                <a:ln>
                  <a:noFill/>
                </a:ln>
                <a:solidFill>
                  <a:srgbClr val="4BACC6">
                    <a:lumMod val="50000"/>
                  </a:srgbClr>
                </a:solidFill>
                <a:effectLst/>
                <a:uLnTx/>
                <a:uFillTx/>
                <a:latin typeface="Calibri"/>
                <a:cs typeface="+mn-cs"/>
              </a:rPr>
              <a:t>)</a:t>
            </a:r>
            <a:r>
              <a:rPr kumimoji="0" lang="pl-PL" altLang="en-US" sz="3600" u="none" strike="noStrike" kern="1200" cap="none" spc="0" normalizeH="0" baseline="0" noProof="0" dirty="0">
                <a:ln>
                  <a:noFill/>
                </a:ln>
                <a:solidFill>
                  <a:srgbClr val="4BACC6">
                    <a:lumMod val="50000"/>
                  </a:srgbClr>
                </a:solidFill>
                <a:effectLst/>
                <a:uLnTx/>
                <a:uFillTx/>
                <a:latin typeface="Calibri"/>
                <a:cs typeface="+mn-cs"/>
              </a:rPr>
              <a:t> </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pl-PL" sz="360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p</a:t>
            </a:r>
            <a:r>
              <a:rPr kumimoji="0" lang="pl-PL" sz="360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1</a:t>
            </a:r>
            <a:r>
              <a:rPr kumimoji="0" lang="pl-PL" sz="360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x</a:t>
            </a:r>
            <a:r>
              <a:rPr kumimoji="0" lang="pl-PL" sz="360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1</a:t>
            </a:r>
            <a:r>
              <a:rPr kumimoji="0" lang="pl-PL" sz="360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 p</a:t>
            </a:r>
            <a:r>
              <a:rPr kumimoji="0" lang="pl-PL" sz="360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2</a:t>
            </a:r>
            <a:r>
              <a:rPr kumimoji="0" lang="pl-PL" sz="360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x</a:t>
            </a:r>
            <a:r>
              <a:rPr kumimoji="0" lang="pl-PL" sz="360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2</a:t>
            </a:r>
            <a:r>
              <a:rPr kumimoji="0" lang="pl-PL" sz="360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 </a:t>
            </a:r>
            <a:r>
              <a:rPr kumimoji="0" lang="pl-PL" sz="3600" u="none" strike="noStrike" kern="1200" cap="none" spc="-1" normalizeH="0" baseline="0" noProof="0" dirty="0" err="1">
                <a:ln>
                  <a:noFill/>
                </a:ln>
                <a:solidFill>
                  <a:srgbClr val="215968"/>
                </a:solidFill>
                <a:effectLst/>
                <a:uLnTx/>
                <a:uFill>
                  <a:solidFill>
                    <a:srgbClr val="FFFFFF"/>
                  </a:solidFill>
                </a:uFill>
                <a:latin typeface="Calibri"/>
                <a:ea typeface="DejaVu Sans"/>
                <a:cs typeface="+mn-cs"/>
              </a:rPr>
              <a:t>p</a:t>
            </a:r>
            <a:r>
              <a:rPr kumimoji="0" lang="pl-PL" sz="3600" u="none" strike="noStrike" kern="1200" cap="none" spc="-1" normalizeH="0" baseline="-25000" noProof="0" dirty="0" err="1">
                <a:ln>
                  <a:noFill/>
                </a:ln>
                <a:solidFill>
                  <a:srgbClr val="215968"/>
                </a:solidFill>
                <a:effectLst/>
                <a:uLnTx/>
                <a:uFill>
                  <a:solidFill>
                    <a:srgbClr val="FFFFFF"/>
                  </a:solidFill>
                </a:uFill>
                <a:latin typeface="Calibri"/>
                <a:ea typeface="DejaVu Sans"/>
                <a:cs typeface="+mn-cs"/>
              </a:rPr>
              <a:t>n</a:t>
            </a:r>
            <a:r>
              <a:rPr kumimoji="0" lang="pl-PL" sz="3600" u="none" strike="noStrike" kern="1200" cap="none" spc="-1" normalizeH="0" baseline="0" noProof="0" dirty="0" err="1">
                <a:ln>
                  <a:noFill/>
                </a:ln>
                <a:solidFill>
                  <a:srgbClr val="215968"/>
                </a:solidFill>
                <a:effectLst/>
                <a:uLnTx/>
                <a:uFill>
                  <a:solidFill>
                    <a:srgbClr val="FFFFFF"/>
                  </a:solidFill>
                </a:uFill>
                <a:latin typeface="Calibri"/>
                <a:ea typeface="DejaVu Sans"/>
                <a:cs typeface="+mn-cs"/>
              </a:rPr>
              <a:t>x</a:t>
            </a:r>
            <a:r>
              <a:rPr kumimoji="0" lang="pl-PL" sz="3600" u="none" strike="noStrike" kern="1200" cap="none" spc="-1" normalizeH="0" baseline="-25000" noProof="0" dirty="0" err="1">
                <a:ln>
                  <a:noFill/>
                </a:ln>
                <a:solidFill>
                  <a:srgbClr val="215968"/>
                </a:solidFill>
                <a:effectLst/>
                <a:uLnTx/>
                <a:uFill>
                  <a:solidFill>
                    <a:srgbClr val="FFFFFF"/>
                  </a:solidFill>
                </a:uFill>
                <a:latin typeface="Calibri"/>
                <a:ea typeface="DejaVu Sans"/>
                <a:cs typeface="+mn-cs"/>
              </a:rPr>
              <a:t>n</a:t>
            </a:r>
            <a:r>
              <a:rPr kumimoji="0" lang="pl-PL" sz="360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a:t>
            </a:r>
            <a:r>
              <a:rPr kumimoji="0" lang="pl-PL" sz="3600" u="none" strike="noStrike" kern="1200" cap="none" spc="-1" normalizeH="0" baseline="0" noProof="0" dirty="0">
                <a:ln>
                  <a:noFill/>
                </a:ln>
                <a:solidFill>
                  <a:srgbClr val="215968"/>
                </a:solidFill>
                <a:effectLst/>
                <a:uLnTx/>
                <a:uFill>
                  <a:solidFill>
                    <a:srgbClr val="FFFFFF"/>
                  </a:solidFill>
                </a:uFill>
                <a:latin typeface="Symbol"/>
                <a:ea typeface="DejaVu Sans"/>
                <a:cs typeface="+mn-cs"/>
              </a:rPr>
              <a:t>=</a:t>
            </a:r>
            <a:r>
              <a:rPr kumimoji="0" lang="pl-PL" sz="360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M</a:t>
            </a:r>
          </a:p>
          <a:p>
            <a:pPr marL="0" marR="0" lvl="0" indent="0" algn="ctr" defTabSz="914400" rtl="0" eaLnBrk="1" fontAlgn="auto" latinLnBrk="0" hangingPunct="1">
              <a:lnSpc>
                <a:spcPct val="110000"/>
              </a:lnSpc>
              <a:spcBef>
                <a:spcPts val="0"/>
              </a:spcBef>
              <a:spcAft>
                <a:spcPts val="0"/>
              </a:spcAft>
              <a:buClrTx/>
              <a:buSzTx/>
              <a:buFontTx/>
              <a:buNone/>
              <a:tabLst/>
              <a:defRPr/>
            </a:pPr>
            <a:endParaRPr lang="pl-PL" altLang="en-US" sz="3600" spc="-1" dirty="0">
              <a:solidFill>
                <a:srgbClr val="215968"/>
              </a:solidFill>
              <a:uFill>
                <a:solidFill>
                  <a:srgbClr val="FFFFFF"/>
                </a:solidFill>
              </a:uFill>
              <a:latin typeface="Calibri"/>
              <a:ea typeface="DejaVu Sans"/>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altLang="en-US" sz="280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The general solution to this problem provides the demand functions that households report to the market.</a:t>
            </a:r>
            <a:endParaRPr kumimoji="0" lang="en-US" altLang="en-US" sz="3600" u="none" strike="noStrike" kern="1200" cap="none" spc="0" normalizeH="0" baseline="0" noProof="0" dirty="0">
              <a:ln>
                <a:noFill/>
              </a:ln>
              <a:solidFill>
                <a:prstClr val="black"/>
              </a:solidFill>
              <a:effectLst/>
              <a:uLnTx/>
              <a:uFillTx/>
              <a:latin typeface="Calibri"/>
              <a:cs typeface="+mn-cs"/>
            </a:endParaRPr>
          </a:p>
        </p:txBody>
      </p:sp>
    </p:spTree>
    <p:extLst>
      <p:ext uri="{BB962C8B-B14F-4D97-AF65-F5344CB8AC3E}">
        <p14:creationId xmlns:p14="http://schemas.microsoft.com/office/powerpoint/2010/main" val="489932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125D1-27C7-99D5-7512-21B485720865}"/>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28E68785-261B-5E1B-F53E-A26B476DB523}"/>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b="1" i="1" dirty="0" err="1">
                <a:solidFill>
                  <a:schemeClr val="accent5">
                    <a:lumMod val="50000"/>
                  </a:schemeClr>
                </a:solidFill>
              </a:rPr>
              <a:t>Marshallian</a:t>
            </a:r>
            <a:r>
              <a:rPr lang="pl-PL" sz="3600" b="1" i="1" dirty="0">
                <a:solidFill>
                  <a:schemeClr val="accent5">
                    <a:lumMod val="50000"/>
                  </a:schemeClr>
                </a:solidFill>
              </a:rPr>
              <a:t> </a:t>
            </a:r>
            <a:r>
              <a:rPr lang="pl-PL" sz="3600" b="1" i="1" dirty="0" err="1">
                <a:solidFill>
                  <a:schemeClr val="accent5">
                    <a:lumMod val="50000"/>
                  </a:schemeClr>
                </a:solidFill>
              </a:rPr>
              <a:t>Demand</a:t>
            </a:r>
            <a:r>
              <a:rPr lang="pl-PL" sz="3600" b="1" i="1" dirty="0">
                <a:solidFill>
                  <a:schemeClr val="accent5">
                    <a:lumMod val="50000"/>
                  </a:schemeClr>
                </a:solidFill>
              </a:rPr>
              <a:t> </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6164B961-98DF-269A-7B6C-3998F9CEBD80}"/>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3546B467-2D06-C4F6-8D3D-D53CD0360020}"/>
              </a:ext>
            </a:extLst>
          </p:cNvPr>
          <p:cNvSpPr/>
          <p:nvPr/>
        </p:nvSpPr>
        <p:spPr>
          <a:xfrm>
            <a:off x="274320" y="1173138"/>
            <a:ext cx="11787978" cy="5016758"/>
          </a:xfrm>
          <a:prstGeom prst="rect">
            <a:avLst/>
          </a:prstGeom>
        </p:spPr>
        <p:txBody>
          <a:bodyPr wrap="square">
            <a:spAutoFit/>
          </a:bodyPr>
          <a:lstStyle/>
          <a:p>
            <a:pPr lvl="0" algn="just">
              <a:defRPr/>
            </a:pPr>
            <a:r>
              <a:rPr kumimoji="0" lang="en-US" sz="3200" b="1" i="0" u="none" strike="noStrike" kern="1200" cap="none" spc="0" normalizeH="0" baseline="0" noProof="0" dirty="0">
                <a:ln>
                  <a:noFill/>
                </a:ln>
                <a:solidFill>
                  <a:srgbClr val="4BACC6">
                    <a:lumMod val="50000"/>
                  </a:srgbClr>
                </a:solidFill>
                <a:effectLst/>
                <a:uLnTx/>
                <a:uFillTx/>
                <a:latin typeface="Calibri"/>
                <a:ea typeface="+mn-ea"/>
                <a:cs typeface="+mn-cs"/>
              </a:rPr>
              <a:t>Marshallian Demand </a:t>
            </a:r>
            <a:r>
              <a:rPr kumimoji="0" lang="en-US" sz="3200" i="0" u="none" strike="noStrike" kern="1200" cap="none" spc="0" normalizeH="0" baseline="0" noProof="0" dirty="0">
                <a:ln>
                  <a:noFill/>
                </a:ln>
                <a:solidFill>
                  <a:srgbClr val="4BACC6">
                    <a:lumMod val="50000"/>
                  </a:srgbClr>
                </a:solidFill>
                <a:effectLst/>
                <a:uLnTx/>
                <a:uFillTx/>
                <a:latin typeface="Calibri"/>
                <a:ea typeface="+mn-ea"/>
                <a:cs typeface="+mn-cs"/>
              </a:rPr>
              <a:t>(obtained from the primal optimization problem - </a:t>
            </a:r>
            <a:r>
              <a:rPr kumimoji="0" lang="en-US" sz="3200" i="0" u="none" strike="noStrike" kern="1200" cap="none" spc="0" normalizeH="0" baseline="0" noProof="0" dirty="0" err="1">
                <a:ln>
                  <a:noFill/>
                </a:ln>
                <a:solidFill>
                  <a:srgbClr val="4BACC6">
                    <a:lumMod val="50000"/>
                  </a:srgbClr>
                </a:solidFill>
                <a:effectLst/>
                <a:uLnTx/>
                <a:uFillTx/>
                <a:latin typeface="Calibri"/>
                <a:ea typeface="+mn-ea"/>
                <a:cs typeface="+mn-cs"/>
              </a:rPr>
              <a:t>Hicksian</a:t>
            </a:r>
            <a:r>
              <a:rPr kumimoji="0" lang="en-US" sz="3200" i="0" u="none" strike="noStrike" kern="1200" cap="none" spc="0" normalizeH="0" baseline="0" noProof="0" dirty="0">
                <a:ln>
                  <a:noFill/>
                </a:ln>
                <a:solidFill>
                  <a:srgbClr val="4BACC6">
                    <a:lumMod val="50000"/>
                  </a:srgbClr>
                </a:solidFill>
                <a:effectLst/>
                <a:uLnTx/>
                <a:uFillTx/>
                <a:latin typeface="Calibri"/>
                <a:ea typeface="+mn-ea"/>
                <a:cs typeface="+mn-cs"/>
              </a:rPr>
              <a:t> demand is derived from the dual problem)</a:t>
            </a:r>
            <a:r>
              <a:rPr kumimoji="0" lang="pl-PL" sz="32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3200" i="0" u="none" strike="noStrike" kern="1200" cap="none" spc="0" normalizeH="0" baseline="0" noProof="0" dirty="0">
                <a:ln>
                  <a:noFill/>
                </a:ln>
                <a:solidFill>
                  <a:srgbClr val="4BACC6">
                    <a:lumMod val="50000"/>
                  </a:srgbClr>
                </a:solidFill>
                <a:effectLst/>
                <a:uLnTx/>
                <a:uFillTx/>
                <a:latin typeface="Calibri"/>
                <a:ea typeface="+mn-ea"/>
                <a:cs typeface="+mn-cs"/>
              </a:rPr>
              <a:t>is the most frequently analyzed form of the demand function. Understanding the terminology (slang) associated with this function and its properties is essential. </a:t>
            </a:r>
            <a:endParaRPr kumimoji="0" lang="pl-PL" sz="32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We will compare the general properties of the demand function derived from optimization models </a:t>
            </a:r>
            <a:r>
              <a:rPr kumimoji="0" lang="pl-PL" sz="2800" i="0" u="none" strike="noStrike" kern="1200" cap="none" spc="0" normalizeH="0" baseline="0" noProof="0" dirty="0">
                <a:ln>
                  <a:noFill/>
                </a:ln>
                <a:solidFill>
                  <a:srgbClr val="4BACC6">
                    <a:lumMod val="50000"/>
                  </a:srgbClr>
                </a:solidFill>
                <a:effectLst/>
                <a:uLnTx/>
                <a:uFillTx/>
                <a:latin typeface="Calibri"/>
                <a:ea typeface="+mn-ea"/>
                <a:cs typeface="+mn-cs"/>
              </a:rPr>
              <a:t>with</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 the Cobb-Douglas </a:t>
            </a:r>
            <a:r>
              <a:rPr kumimoji="0" lang="pl-PL" sz="2800" i="0" u="none" strike="noStrike" kern="1200" cap="none" spc="0" normalizeH="0" baseline="0" noProof="0" dirty="0" err="1">
                <a:ln>
                  <a:noFill/>
                </a:ln>
                <a:solidFill>
                  <a:srgbClr val="4BACC6">
                    <a:lumMod val="50000"/>
                  </a:srgbClr>
                </a:solidFill>
                <a:effectLst/>
                <a:uLnTx/>
                <a:uFillTx/>
                <a:latin typeface="Calibri"/>
                <a:ea typeface="+mn-ea"/>
                <a:cs typeface="+mn-cs"/>
              </a:rPr>
              <a:t>utility</a:t>
            </a:r>
            <a:r>
              <a:rPr kumimoji="0" lang="pl-PL" sz="28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function. Although the linear function is more commonly used in textbooks, we will cover it in detail during our lecture on pricing strategies.</a:t>
            </a:r>
          </a:p>
          <a:p>
            <a:pPr lvl="0" algn="just">
              <a:defRPr/>
            </a:pPr>
            <a:endPar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Required Tool: Elasticity - the percentage change in demand caused by a 1% change in the relevant variable.</a:t>
            </a:r>
            <a:endParaRPr kumimoji="0" lang="en-US" sz="160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629061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33967-9EA1-D5E8-2851-B8775CB2C808}"/>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872FD0F6-073F-A968-3747-E4301D823E18}"/>
              </a:ext>
            </a:extLst>
          </p:cNvPr>
          <p:cNvSpPr>
            <a:spLocks noGrp="1"/>
          </p:cNvSpPr>
          <p:nvPr>
            <p:ph type="title"/>
          </p:nvPr>
        </p:nvSpPr>
        <p:spPr>
          <a:xfrm>
            <a:off x="0" y="-13886"/>
            <a:ext cx="12192001" cy="948122"/>
          </a:xfrm>
          <a:solidFill>
            <a:schemeClr val="accent5">
              <a:lumMod val="20000"/>
              <a:lumOff val="80000"/>
            </a:schemeClr>
          </a:solidFill>
        </p:spPr>
        <p:txBody>
          <a:bodyPr>
            <a:noAutofit/>
          </a:bodyPr>
          <a:lstStyle/>
          <a:p>
            <a:r>
              <a:rPr lang="pl-PL" b="1" i="1" dirty="0" err="1">
                <a:solidFill>
                  <a:schemeClr val="accent5">
                    <a:lumMod val="50000"/>
                  </a:schemeClr>
                </a:solidFill>
              </a:rPr>
              <a:t>Change</a:t>
            </a:r>
            <a:r>
              <a:rPr lang="pl-PL" b="1" i="1" dirty="0">
                <a:solidFill>
                  <a:schemeClr val="accent5">
                    <a:lumMod val="50000"/>
                  </a:schemeClr>
                </a:solidFill>
              </a:rPr>
              <a:t> of </a:t>
            </a:r>
            <a:r>
              <a:rPr lang="pl-PL" b="1" i="1" dirty="0" err="1">
                <a:solidFill>
                  <a:schemeClr val="accent5">
                    <a:lumMod val="50000"/>
                  </a:schemeClr>
                </a:solidFill>
              </a:rPr>
              <a:t>price</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6CD94348-EBD3-6E2E-CE79-35248921B23F}"/>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4" name="Grupa 46">
            <a:extLst>
              <a:ext uri="{FF2B5EF4-FFF2-40B4-BE49-F238E27FC236}">
                <a16:creationId xmlns:a16="http://schemas.microsoft.com/office/drawing/2014/main" id="{4B85C42A-D0EE-305A-A780-E235BD86B516}"/>
              </a:ext>
            </a:extLst>
          </p:cNvPr>
          <p:cNvGrpSpPr>
            <a:grpSpLocks/>
          </p:cNvGrpSpPr>
          <p:nvPr/>
        </p:nvGrpSpPr>
        <p:grpSpPr bwMode="auto">
          <a:xfrm>
            <a:off x="439162" y="1835028"/>
            <a:ext cx="5551239" cy="4545012"/>
            <a:chOff x="2890929" y="2035675"/>
            <a:chExt cx="5551487" cy="4545012"/>
          </a:xfrm>
        </p:grpSpPr>
        <p:sp>
          <p:nvSpPr>
            <p:cNvPr id="55" name="Dowolny kształt 50">
              <a:extLst>
                <a:ext uri="{FF2B5EF4-FFF2-40B4-BE49-F238E27FC236}">
                  <a16:creationId xmlns:a16="http://schemas.microsoft.com/office/drawing/2014/main" id="{6749A558-34CC-C3F4-4FCB-87C5B485CC29}"/>
                </a:ext>
              </a:extLst>
            </p:cNvPr>
            <p:cNvSpPr/>
            <p:nvPr/>
          </p:nvSpPr>
          <p:spPr>
            <a:xfrm>
              <a:off x="6347071" y="2411912"/>
              <a:ext cx="1714577" cy="1171575"/>
            </a:xfrm>
            <a:custGeom>
              <a:avLst/>
              <a:gdLst>
                <a:gd name="connsiteX0" fmla="*/ 0 w 3076575"/>
                <a:gd name="connsiteY0" fmla="*/ 0 h 952500"/>
                <a:gd name="connsiteX1" fmla="*/ 819150 w 3076575"/>
                <a:gd name="connsiteY1" fmla="*/ 771525 h 952500"/>
                <a:gd name="connsiteX2" fmla="*/ 3076575 w 3076575"/>
                <a:gd name="connsiteY2" fmla="*/ 942975 h 952500"/>
              </a:gdLst>
              <a:ahLst/>
              <a:cxnLst>
                <a:cxn ang="0">
                  <a:pos x="connsiteX0" y="connsiteY0"/>
                </a:cxn>
                <a:cxn ang="0">
                  <a:pos x="connsiteX1" y="connsiteY1"/>
                </a:cxn>
                <a:cxn ang="0">
                  <a:pos x="connsiteX2" y="connsiteY2"/>
                </a:cxn>
              </a:cxnLst>
              <a:rect l="l" t="t" r="r" b="b"/>
              <a:pathLst>
                <a:path w="3076575" h="952500">
                  <a:moveTo>
                    <a:pt x="0" y="0"/>
                  </a:moveTo>
                  <a:cubicBezTo>
                    <a:pt x="153194" y="307181"/>
                    <a:pt x="306388" y="614363"/>
                    <a:pt x="819150" y="771525"/>
                  </a:cubicBezTo>
                  <a:cubicBezTo>
                    <a:pt x="1331912" y="928687"/>
                    <a:pt x="2693988" y="952500"/>
                    <a:pt x="3076575" y="942975"/>
                  </a:cubicBezTo>
                </a:path>
              </a:pathLst>
            </a:custGeom>
          </p:spPr>
          <p:style>
            <a:lnRef idx="3">
              <a:schemeClr val="accent3"/>
            </a:lnRef>
            <a:fillRef idx="0">
              <a:schemeClr val="accent3"/>
            </a:fillRef>
            <a:effectRef idx="2">
              <a:schemeClr val="accent3"/>
            </a:effectRef>
            <a:fontRef idx="minor">
              <a:schemeClr val="tx1"/>
            </a:fontRef>
          </p:style>
          <p:txBody>
            <a:bodyPr anchor="ctr"/>
            <a:lstStyle/>
            <a:p>
              <a:pPr>
                <a:defRPr/>
              </a:pPr>
              <a:endParaRPr lang="pl-PL"/>
            </a:p>
          </p:txBody>
        </p:sp>
        <p:grpSp>
          <p:nvGrpSpPr>
            <p:cNvPr id="56" name="Grupa 47">
              <a:extLst>
                <a:ext uri="{FF2B5EF4-FFF2-40B4-BE49-F238E27FC236}">
                  <a16:creationId xmlns:a16="http://schemas.microsoft.com/office/drawing/2014/main" id="{670D5FFB-C3BA-7E97-3845-E80914B3A71A}"/>
                </a:ext>
              </a:extLst>
            </p:cNvPr>
            <p:cNvGrpSpPr>
              <a:grpSpLocks/>
            </p:cNvGrpSpPr>
            <p:nvPr/>
          </p:nvGrpSpPr>
          <p:grpSpPr bwMode="auto">
            <a:xfrm>
              <a:off x="2890929" y="2035675"/>
              <a:ext cx="5551487" cy="4545012"/>
              <a:chOff x="3333976" y="578793"/>
              <a:chExt cx="5551488" cy="4546402"/>
            </a:xfrm>
          </p:grpSpPr>
          <p:sp>
            <p:nvSpPr>
              <p:cNvPr id="59" name="Line 8">
                <a:extLst>
                  <a:ext uri="{FF2B5EF4-FFF2-40B4-BE49-F238E27FC236}">
                    <a16:creationId xmlns:a16="http://schemas.microsoft.com/office/drawing/2014/main" id="{8F842B2F-06EF-BA06-1898-CCC0B0B6FE20}"/>
                  </a:ext>
                </a:extLst>
              </p:cNvPr>
              <p:cNvSpPr>
                <a:spLocks noChangeShapeType="1"/>
              </p:cNvSpPr>
              <p:nvPr/>
            </p:nvSpPr>
            <p:spPr bwMode="auto">
              <a:xfrm>
                <a:off x="3373665" y="1688794"/>
                <a:ext cx="3330724" cy="2980649"/>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anchor="ctr">
                <a:spAutoFit/>
              </a:bodyPr>
              <a:lstStyle/>
              <a:p>
                <a:pPr>
                  <a:defRPr/>
                </a:pPr>
                <a:endParaRPr lang="pl-PL"/>
              </a:p>
            </p:txBody>
          </p:sp>
          <p:grpSp>
            <p:nvGrpSpPr>
              <p:cNvPr id="60" name="Grupa 32">
                <a:extLst>
                  <a:ext uri="{FF2B5EF4-FFF2-40B4-BE49-F238E27FC236}">
                    <a16:creationId xmlns:a16="http://schemas.microsoft.com/office/drawing/2014/main" id="{D962B9A9-3825-4C46-FC2E-CF9DBD53E09F}"/>
                  </a:ext>
                </a:extLst>
              </p:cNvPr>
              <p:cNvGrpSpPr>
                <a:grpSpLocks/>
              </p:cNvGrpSpPr>
              <p:nvPr/>
            </p:nvGrpSpPr>
            <p:grpSpPr bwMode="auto">
              <a:xfrm>
                <a:off x="3333976" y="698046"/>
                <a:ext cx="5551488" cy="3984172"/>
                <a:chOff x="533399" y="1828800"/>
                <a:chExt cx="2830286" cy="1835172"/>
              </a:xfrm>
            </p:grpSpPr>
            <p:grpSp>
              <p:nvGrpSpPr>
                <p:cNvPr id="80" name="Grupa 15">
                  <a:extLst>
                    <a:ext uri="{FF2B5EF4-FFF2-40B4-BE49-F238E27FC236}">
                      <a16:creationId xmlns:a16="http://schemas.microsoft.com/office/drawing/2014/main" id="{29B52ADA-64B3-9FFD-8C07-13DD4E83E11E}"/>
                    </a:ext>
                  </a:extLst>
                </p:cNvPr>
                <p:cNvGrpSpPr>
                  <a:grpSpLocks/>
                </p:cNvGrpSpPr>
                <p:nvPr/>
              </p:nvGrpSpPr>
              <p:grpSpPr bwMode="auto">
                <a:xfrm>
                  <a:off x="533399" y="1828800"/>
                  <a:ext cx="2830286" cy="1835172"/>
                  <a:chOff x="4648200" y="239486"/>
                  <a:chExt cx="3505201" cy="2840146"/>
                </a:xfrm>
              </p:grpSpPr>
              <p:sp>
                <p:nvSpPr>
                  <p:cNvPr id="83" name="Line 8">
                    <a:extLst>
                      <a:ext uri="{FF2B5EF4-FFF2-40B4-BE49-F238E27FC236}">
                        <a16:creationId xmlns:a16="http://schemas.microsoft.com/office/drawing/2014/main" id="{8D2EF6B1-B0EC-B5E0-0BC2-16011715F620}"/>
                      </a:ext>
                    </a:extLst>
                  </p:cNvPr>
                  <p:cNvSpPr>
                    <a:spLocks noChangeShapeType="1"/>
                  </p:cNvSpPr>
                  <p:nvPr/>
                </p:nvSpPr>
                <p:spPr bwMode="auto">
                  <a:xfrm>
                    <a:off x="4648200" y="925372"/>
                    <a:ext cx="735754" cy="2154210"/>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anchor="ctr">
                    <a:spAutoFit/>
                  </a:bodyPr>
                  <a:lstStyle/>
                  <a:p>
                    <a:pPr>
                      <a:defRPr/>
                    </a:pPr>
                    <a:endParaRPr lang="pl-PL"/>
                  </a:p>
                </p:txBody>
              </p:sp>
              <p:sp>
                <p:nvSpPr>
                  <p:cNvPr id="84" name="Freeform 10">
                    <a:extLst>
                      <a:ext uri="{FF2B5EF4-FFF2-40B4-BE49-F238E27FC236}">
                        <a16:creationId xmlns:a16="http://schemas.microsoft.com/office/drawing/2014/main" id="{58BE33FB-47A4-436C-D761-DC1F16501D09}"/>
                      </a:ext>
                    </a:extLst>
                  </p:cNvPr>
                  <p:cNvSpPr>
                    <a:spLocks/>
                  </p:cNvSpPr>
                  <p:nvPr/>
                </p:nvSpPr>
                <p:spPr bwMode="auto">
                  <a:xfrm>
                    <a:off x="4736410" y="1167621"/>
                    <a:ext cx="2134088" cy="1677634"/>
                  </a:xfrm>
                  <a:custGeom>
                    <a:avLst/>
                    <a:gdLst>
                      <a:gd name="T0" fmla="*/ 0 w 1008"/>
                      <a:gd name="T1" fmla="*/ 0 h 864"/>
                      <a:gd name="T2" fmla="*/ 336 w 1008"/>
                      <a:gd name="T3" fmla="*/ 624 h 864"/>
                      <a:gd name="T4" fmla="*/ 1008 w 1008"/>
                      <a:gd name="T5" fmla="*/ 864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nchor="ctr">
                    <a:spAutoFit/>
                  </a:bodyPr>
                  <a:lstStyle/>
                  <a:p>
                    <a:pPr>
                      <a:defRPr/>
                    </a:pPr>
                    <a:endParaRPr lang="pl-PL"/>
                  </a:p>
                </p:txBody>
              </p:sp>
              <p:sp>
                <p:nvSpPr>
                  <p:cNvPr id="85" name="Line 5">
                    <a:extLst>
                      <a:ext uri="{FF2B5EF4-FFF2-40B4-BE49-F238E27FC236}">
                        <a16:creationId xmlns:a16="http://schemas.microsoft.com/office/drawing/2014/main" id="{BE1EAFBC-5A4C-7289-54BE-1054A188F60F}"/>
                      </a:ext>
                    </a:extLst>
                  </p:cNvPr>
                  <p:cNvSpPr>
                    <a:spLocks noChangeShapeType="1"/>
                  </p:cNvSpPr>
                  <p:nvPr/>
                </p:nvSpPr>
                <p:spPr bwMode="auto">
                  <a:xfrm>
                    <a:off x="4648200" y="3059205"/>
                    <a:ext cx="3505358" cy="0"/>
                  </a:xfrm>
                  <a:prstGeom prst="line">
                    <a:avLst/>
                  </a:prstGeom>
                  <a:ln>
                    <a:headEnd/>
                    <a:tailEnd type="triangle"/>
                  </a:ln>
                </p:spPr>
                <p:style>
                  <a:lnRef idx="2">
                    <a:schemeClr val="dk1"/>
                  </a:lnRef>
                  <a:fillRef idx="0">
                    <a:schemeClr val="dk1"/>
                  </a:fillRef>
                  <a:effectRef idx="1">
                    <a:schemeClr val="dk1"/>
                  </a:effectRef>
                  <a:fontRef idx="minor">
                    <a:schemeClr val="tx1"/>
                  </a:fontRef>
                </p:style>
                <p:txBody>
                  <a:bodyPr wrap="none" anchor="ctr">
                    <a:spAutoFit/>
                  </a:bodyPr>
                  <a:lstStyle/>
                  <a:p>
                    <a:pPr>
                      <a:defRPr/>
                    </a:pPr>
                    <a:endParaRPr lang="pl-PL"/>
                  </a:p>
                </p:txBody>
              </p:sp>
              <p:sp>
                <p:nvSpPr>
                  <p:cNvPr id="86" name="Line 4">
                    <a:extLst>
                      <a:ext uri="{FF2B5EF4-FFF2-40B4-BE49-F238E27FC236}">
                        <a16:creationId xmlns:a16="http://schemas.microsoft.com/office/drawing/2014/main" id="{5CF4FA1E-9C53-BB35-D3FA-74BBA4DBD766}"/>
                      </a:ext>
                    </a:extLst>
                  </p:cNvPr>
                  <p:cNvSpPr>
                    <a:spLocks noChangeShapeType="1"/>
                  </p:cNvSpPr>
                  <p:nvPr/>
                </p:nvSpPr>
                <p:spPr bwMode="auto">
                  <a:xfrm flipV="1">
                    <a:off x="4648200" y="239375"/>
                    <a:ext cx="22053" cy="2830017"/>
                  </a:xfrm>
                  <a:prstGeom prst="line">
                    <a:avLst/>
                  </a:prstGeom>
                  <a:ln>
                    <a:headEnd/>
                    <a:tailEnd type="triangle"/>
                  </a:ln>
                </p:spPr>
                <p:style>
                  <a:lnRef idx="2">
                    <a:schemeClr val="dk1"/>
                  </a:lnRef>
                  <a:fillRef idx="0">
                    <a:schemeClr val="dk1"/>
                  </a:fillRef>
                  <a:effectRef idx="1">
                    <a:schemeClr val="dk1"/>
                  </a:effectRef>
                  <a:fontRef idx="minor">
                    <a:schemeClr val="tx1"/>
                  </a:fontRef>
                </p:style>
                <p:txBody>
                  <a:bodyPr anchor="ctr">
                    <a:spAutoFit/>
                  </a:bodyPr>
                  <a:lstStyle/>
                  <a:p>
                    <a:pPr>
                      <a:defRPr/>
                    </a:pPr>
                    <a:endParaRPr lang="pl-PL"/>
                  </a:p>
                </p:txBody>
              </p:sp>
            </p:grpSp>
            <p:sp>
              <p:nvSpPr>
                <p:cNvPr id="81" name="Freeform 10">
                  <a:extLst>
                    <a:ext uri="{FF2B5EF4-FFF2-40B4-BE49-F238E27FC236}">
                      <a16:creationId xmlns:a16="http://schemas.microsoft.com/office/drawing/2014/main" id="{51A9EF41-F1BD-DEB1-B020-C4C4CF6A6EB6}"/>
                    </a:ext>
                  </a:extLst>
                </p:cNvPr>
                <p:cNvSpPr>
                  <a:spLocks/>
                </p:cNvSpPr>
                <p:nvPr/>
              </p:nvSpPr>
              <p:spPr bwMode="auto">
                <a:xfrm>
                  <a:off x="749504" y="2104486"/>
                  <a:ext cx="1722367" cy="1083279"/>
                </a:xfrm>
                <a:custGeom>
                  <a:avLst/>
                  <a:gdLst>
                    <a:gd name="T0" fmla="*/ 0 w 1008"/>
                    <a:gd name="T1" fmla="*/ 0 h 864"/>
                    <a:gd name="T2" fmla="*/ 336 w 1008"/>
                    <a:gd name="T3" fmla="*/ 624 h 864"/>
                    <a:gd name="T4" fmla="*/ 1008 w 1008"/>
                    <a:gd name="T5" fmla="*/ 864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nchor="ctr">
                  <a:spAutoFit/>
                </a:bodyPr>
                <a:lstStyle/>
                <a:p>
                  <a:pPr>
                    <a:defRPr/>
                  </a:pPr>
                  <a:endParaRPr lang="pl-PL"/>
                </a:p>
              </p:txBody>
            </p:sp>
            <p:sp>
              <p:nvSpPr>
                <p:cNvPr id="82" name="Freeform 10">
                  <a:extLst>
                    <a:ext uri="{FF2B5EF4-FFF2-40B4-BE49-F238E27FC236}">
                      <a16:creationId xmlns:a16="http://schemas.microsoft.com/office/drawing/2014/main" id="{F6055272-7743-FBC1-B5AC-8A1704D76EB1}"/>
                    </a:ext>
                  </a:extLst>
                </p:cNvPr>
                <p:cNvSpPr>
                  <a:spLocks/>
                </p:cNvSpPr>
                <p:nvPr/>
              </p:nvSpPr>
              <p:spPr bwMode="auto">
                <a:xfrm>
                  <a:off x="682325" y="2287349"/>
                  <a:ext cx="1722367" cy="1083279"/>
                </a:xfrm>
                <a:custGeom>
                  <a:avLst/>
                  <a:gdLst>
                    <a:gd name="T0" fmla="*/ 0 w 1008"/>
                    <a:gd name="T1" fmla="*/ 0 h 864"/>
                    <a:gd name="T2" fmla="*/ 336 w 1008"/>
                    <a:gd name="T3" fmla="*/ 624 h 864"/>
                    <a:gd name="T4" fmla="*/ 1008 w 1008"/>
                    <a:gd name="T5" fmla="*/ 864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nchor="ctr">
                  <a:spAutoFit/>
                </a:bodyPr>
                <a:lstStyle/>
                <a:p>
                  <a:pPr>
                    <a:defRPr/>
                  </a:pPr>
                  <a:endParaRPr lang="pl-PL"/>
                </a:p>
              </p:txBody>
            </p:sp>
          </p:grpSp>
          <p:sp>
            <p:nvSpPr>
              <p:cNvPr id="61" name="Line 8">
                <a:extLst>
                  <a:ext uri="{FF2B5EF4-FFF2-40B4-BE49-F238E27FC236}">
                    <a16:creationId xmlns:a16="http://schemas.microsoft.com/office/drawing/2014/main" id="{86912C21-7706-91DC-389E-27EF4D4E6E5B}"/>
                  </a:ext>
                </a:extLst>
              </p:cNvPr>
              <p:cNvSpPr>
                <a:spLocks noChangeShapeType="1"/>
              </p:cNvSpPr>
              <p:nvPr/>
            </p:nvSpPr>
            <p:spPr bwMode="auto">
              <a:xfrm>
                <a:off x="3354614" y="1690383"/>
                <a:ext cx="2146396" cy="2950477"/>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anchor="ctr">
                <a:spAutoFit/>
              </a:bodyPr>
              <a:lstStyle/>
              <a:p>
                <a:pPr>
                  <a:defRPr/>
                </a:pPr>
                <a:endParaRPr lang="pl-PL"/>
              </a:p>
            </p:txBody>
          </p:sp>
          <p:sp>
            <p:nvSpPr>
              <p:cNvPr id="62" name="Elipsa 17">
                <a:extLst>
                  <a:ext uri="{FF2B5EF4-FFF2-40B4-BE49-F238E27FC236}">
                    <a16:creationId xmlns:a16="http://schemas.microsoft.com/office/drawing/2014/main" id="{04EF94A5-0E11-CAFF-2829-C9EA6B3DFF32}"/>
                  </a:ext>
                </a:extLst>
              </p:cNvPr>
              <p:cNvSpPr/>
              <p:nvPr/>
            </p:nvSpPr>
            <p:spPr>
              <a:xfrm>
                <a:off x="3514959" y="2209654"/>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cxnSp>
            <p:nvCxnSpPr>
              <p:cNvPr id="63" name="Łącznik prosty 23">
                <a:extLst>
                  <a:ext uri="{FF2B5EF4-FFF2-40B4-BE49-F238E27FC236}">
                    <a16:creationId xmlns:a16="http://schemas.microsoft.com/office/drawing/2014/main" id="{CB43A054-C603-AF75-C046-1BE8C8701C8B}"/>
                  </a:ext>
                </a:extLst>
              </p:cNvPr>
              <p:cNvCxnSpPr/>
              <p:nvPr/>
            </p:nvCxnSpPr>
            <p:spPr>
              <a:xfrm rot="16200000" flipH="1">
                <a:off x="2412082" y="3469723"/>
                <a:ext cx="2369274" cy="26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Łącznik prosty 24">
                <a:extLst>
                  <a:ext uri="{FF2B5EF4-FFF2-40B4-BE49-F238E27FC236}">
                    <a16:creationId xmlns:a16="http://schemas.microsoft.com/office/drawing/2014/main" id="{65B58B0F-9636-D0FB-388C-84CDB952B7E3}"/>
                  </a:ext>
                </a:extLst>
              </p:cNvPr>
              <p:cNvCxnSpPr/>
              <p:nvPr/>
            </p:nvCxnSpPr>
            <p:spPr>
              <a:xfrm rot="16200000" flipH="1">
                <a:off x="3421864" y="3822256"/>
                <a:ext cx="1702320" cy="26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Łącznik prosty 26">
                <a:extLst>
                  <a:ext uri="{FF2B5EF4-FFF2-40B4-BE49-F238E27FC236}">
                    <a16:creationId xmlns:a16="http://schemas.microsoft.com/office/drawing/2014/main" id="{67996022-64B0-26B9-3AFD-853826831A8A}"/>
                  </a:ext>
                </a:extLst>
              </p:cNvPr>
              <p:cNvCxnSpPr/>
              <p:nvPr/>
            </p:nvCxnSpPr>
            <p:spPr>
              <a:xfrm>
                <a:off x="4885033" y="3048110"/>
                <a:ext cx="20639" cy="1629273"/>
              </a:xfrm>
              <a:prstGeom prst="line">
                <a:avLst/>
              </a:prstGeom>
            </p:spPr>
            <p:style>
              <a:lnRef idx="1">
                <a:schemeClr val="accent1"/>
              </a:lnRef>
              <a:fillRef idx="0">
                <a:schemeClr val="accent1"/>
              </a:fillRef>
              <a:effectRef idx="0">
                <a:schemeClr val="accent1"/>
              </a:effectRef>
              <a:fontRef idx="minor">
                <a:schemeClr val="tx1"/>
              </a:fontRef>
            </p:style>
          </p:cxnSp>
          <p:sp>
            <p:nvSpPr>
              <p:cNvPr id="66" name="Prostokąt 28">
                <a:extLst>
                  <a:ext uri="{FF2B5EF4-FFF2-40B4-BE49-F238E27FC236}">
                    <a16:creationId xmlns:a16="http://schemas.microsoft.com/office/drawing/2014/main" id="{FFC5372C-4A7F-07A8-8997-1ADB02F30BC2}"/>
                  </a:ext>
                </a:extLst>
              </p:cNvPr>
              <p:cNvSpPr/>
              <p:nvPr/>
            </p:nvSpPr>
            <p:spPr>
              <a:xfrm>
                <a:off x="3440343" y="4817126"/>
                <a:ext cx="454045" cy="308069"/>
              </a:xfrm>
              <a:prstGeom prst="rect">
                <a:avLst/>
              </a:prstGeom>
            </p:spPr>
            <p:txBody>
              <a:bodyPr wrap="none">
                <a:spAutoFit/>
              </a:bodyPr>
              <a:lstStyle/>
              <a:p>
                <a:pPr>
                  <a:defRPr/>
                </a:pPr>
                <a:r>
                  <a:rPr lang="pl-PL" sz="1400" b="1" dirty="0">
                    <a:solidFill>
                      <a:schemeClr val="accent1">
                        <a:lumMod val="50000"/>
                      </a:schemeClr>
                    </a:solidFill>
                  </a:rPr>
                  <a:t>X1’</a:t>
                </a:r>
                <a:endParaRPr lang="pl-PL" sz="1400" dirty="0"/>
              </a:p>
            </p:txBody>
          </p:sp>
          <p:sp>
            <p:nvSpPr>
              <p:cNvPr id="67" name="Prostokąt 29">
                <a:extLst>
                  <a:ext uri="{FF2B5EF4-FFF2-40B4-BE49-F238E27FC236}">
                    <a16:creationId xmlns:a16="http://schemas.microsoft.com/office/drawing/2014/main" id="{C5FAF3FD-3946-6CF9-EE9A-FF0C055C65F1}"/>
                  </a:ext>
                </a:extLst>
              </p:cNvPr>
              <p:cNvSpPr/>
              <p:nvPr/>
            </p:nvSpPr>
            <p:spPr>
              <a:xfrm>
                <a:off x="4027744" y="4817126"/>
                <a:ext cx="496910" cy="308069"/>
              </a:xfrm>
              <a:prstGeom prst="rect">
                <a:avLst/>
              </a:prstGeom>
            </p:spPr>
            <p:txBody>
              <a:bodyPr wrap="none">
                <a:spAutoFit/>
              </a:bodyPr>
              <a:lstStyle/>
              <a:p>
                <a:pPr>
                  <a:defRPr/>
                </a:pPr>
                <a:r>
                  <a:rPr lang="pl-PL" sz="1400" b="1" dirty="0">
                    <a:solidFill>
                      <a:schemeClr val="accent1">
                        <a:lumMod val="50000"/>
                      </a:schemeClr>
                    </a:solidFill>
                  </a:rPr>
                  <a:t>X1’’</a:t>
                </a:r>
                <a:endParaRPr lang="pl-PL" sz="1400" dirty="0"/>
              </a:p>
            </p:txBody>
          </p:sp>
          <p:sp>
            <p:nvSpPr>
              <p:cNvPr id="68" name="Prostokąt 30">
                <a:extLst>
                  <a:ext uri="{FF2B5EF4-FFF2-40B4-BE49-F238E27FC236}">
                    <a16:creationId xmlns:a16="http://schemas.microsoft.com/office/drawing/2014/main" id="{9C7CC913-ADB4-C138-F43A-D280C3F37625}"/>
                  </a:ext>
                </a:extLst>
              </p:cNvPr>
              <p:cNvSpPr/>
              <p:nvPr/>
            </p:nvSpPr>
            <p:spPr>
              <a:xfrm>
                <a:off x="4540530" y="4807598"/>
                <a:ext cx="539774" cy="308069"/>
              </a:xfrm>
              <a:prstGeom prst="rect">
                <a:avLst/>
              </a:prstGeom>
            </p:spPr>
            <p:txBody>
              <a:bodyPr wrap="none">
                <a:spAutoFit/>
              </a:bodyPr>
              <a:lstStyle/>
              <a:p>
                <a:pPr>
                  <a:defRPr/>
                </a:pPr>
                <a:r>
                  <a:rPr lang="pl-PL" sz="1400" b="1" dirty="0">
                    <a:solidFill>
                      <a:schemeClr val="accent1">
                        <a:lumMod val="50000"/>
                      </a:schemeClr>
                    </a:solidFill>
                  </a:rPr>
                  <a:t>X1’’’</a:t>
                </a:r>
                <a:endParaRPr lang="pl-PL" sz="1400" dirty="0"/>
              </a:p>
            </p:txBody>
          </p:sp>
          <p:sp>
            <p:nvSpPr>
              <p:cNvPr id="69" name="Prostokąt 39">
                <a:extLst>
                  <a:ext uri="{FF2B5EF4-FFF2-40B4-BE49-F238E27FC236}">
                    <a16:creationId xmlns:a16="http://schemas.microsoft.com/office/drawing/2014/main" id="{1EFC59C5-208E-4744-D486-2378FC9DD4C5}"/>
                  </a:ext>
                </a:extLst>
              </p:cNvPr>
              <p:cNvSpPr/>
              <p:nvPr/>
            </p:nvSpPr>
            <p:spPr>
              <a:xfrm>
                <a:off x="8050651" y="2482514"/>
                <a:ext cx="357806" cy="307871"/>
              </a:xfrm>
              <a:prstGeom prst="rect">
                <a:avLst/>
              </a:prstGeom>
            </p:spPr>
            <p:txBody>
              <a:bodyPr wrap="none">
                <a:spAutoFit/>
              </a:bodyPr>
              <a:lstStyle/>
              <a:p>
                <a:pPr>
                  <a:defRPr/>
                </a:pPr>
                <a:r>
                  <a:rPr lang="pl-PL" sz="1400" b="1" dirty="0">
                    <a:solidFill>
                      <a:schemeClr val="accent1">
                        <a:lumMod val="50000"/>
                      </a:schemeClr>
                    </a:solidFill>
                  </a:rPr>
                  <a:t>x1</a:t>
                </a:r>
                <a:endParaRPr lang="pl-PL" sz="1400" dirty="0"/>
              </a:p>
            </p:txBody>
          </p:sp>
          <p:grpSp>
            <p:nvGrpSpPr>
              <p:cNvPr id="70" name="Grupa 46">
                <a:extLst>
                  <a:ext uri="{FF2B5EF4-FFF2-40B4-BE49-F238E27FC236}">
                    <a16:creationId xmlns:a16="http://schemas.microsoft.com/office/drawing/2014/main" id="{94DBB393-C505-373B-6A32-5EB927AF9E7B}"/>
                  </a:ext>
                </a:extLst>
              </p:cNvPr>
              <p:cNvGrpSpPr>
                <a:grpSpLocks/>
              </p:cNvGrpSpPr>
              <p:nvPr/>
            </p:nvGrpSpPr>
            <p:grpSpPr bwMode="auto">
              <a:xfrm>
                <a:off x="5975576" y="578793"/>
                <a:ext cx="2254024" cy="1849190"/>
                <a:chOff x="5975576" y="578793"/>
                <a:chExt cx="2254024" cy="1849190"/>
              </a:xfrm>
            </p:grpSpPr>
            <p:grpSp>
              <p:nvGrpSpPr>
                <p:cNvPr id="73" name="Grupa 15">
                  <a:extLst>
                    <a:ext uri="{FF2B5EF4-FFF2-40B4-BE49-F238E27FC236}">
                      <a16:creationId xmlns:a16="http://schemas.microsoft.com/office/drawing/2014/main" id="{580D4B7C-A24B-E542-4971-045B6BC617B6}"/>
                    </a:ext>
                  </a:extLst>
                </p:cNvPr>
                <p:cNvGrpSpPr>
                  <a:grpSpLocks/>
                </p:cNvGrpSpPr>
                <p:nvPr/>
              </p:nvGrpSpPr>
              <p:grpSpPr bwMode="auto">
                <a:xfrm>
                  <a:off x="6629403" y="609600"/>
                  <a:ext cx="1600197" cy="1818383"/>
                  <a:chOff x="4648200" y="239486"/>
                  <a:chExt cx="1727622" cy="2830285"/>
                </a:xfrm>
              </p:grpSpPr>
              <p:sp>
                <p:nvSpPr>
                  <p:cNvPr id="78" name="Line 5">
                    <a:extLst>
                      <a:ext uri="{FF2B5EF4-FFF2-40B4-BE49-F238E27FC236}">
                        <a16:creationId xmlns:a16="http://schemas.microsoft.com/office/drawing/2014/main" id="{5D4DE33F-12DA-8F87-F5C3-291B10054E7D}"/>
                      </a:ext>
                    </a:extLst>
                  </p:cNvPr>
                  <p:cNvSpPr>
                    <a:spLocks noChangeShapeType="1"/>
                  </p:cNvSpPr>
                  <p:nvPr/>
                </p:nvSpPr>
                <p:spPr bwMode="auto">
                  <a:xfrm flipV="1">
                    <a:off x="4648599" y="3026545"/>
                    <a:ext cx="1727703" cy="32133"/>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anchor="ctr">
                    <a:spAutoFit/>
                  </a:bodyPr>
                  <a:lstStyle/>
                  <a:p>
                    <a:pPr>
                      <a:defRPr/>
                    </a:pPr>
                    <a:endParaRPr lang="pl-PL"/>
                  </a:p>
                </p:txBody>
              </p:sp>
              <p:sp>
                <p:nvSpPr>
                  <p:cNvPr id="79" name="Line 4">
                    <a:extLst>
                      <a:ext uri="{FF2B5EF4-FFF2-40B4-BE49-F238E27FC236}">
                        <a16:creationId xmlns:a16="http://schemas.microsoft.com/office/drawing/2014/main" id="{BF9EC97C-A254-3F06-5CF1-4012C41E7F37}"/>
                      </a:ext>
                    </a:extLst>
                  </p:cNvPr>
                  <p:cNvSpPr>
                    <a:spLocks noChangeShapeType="1"/>
                  </p:cNvSpPr>
                  <p:nvPr/>
                </p:nvSpPr>
                <p:spPr bwMode="auto">
                  <a:xfrm flipV="1">
                    <a:off x="4648599" y="238496"/>
                    <a:ext cx="22281" cy="2830069"/>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anchor="ctr">
                    <a:spAutoFit/>
                  </a:bodyPr>
                  <a:lstStyle/>
                  <a:p>
                    <a:pPr>
                      <a:defRPr/>
                    </a:pPr>
                    <a:endParaRPr lang="pl-PL"/>
                  </a:p>
                </p:txBody>
              </p:sp>
            </p:grpSp>
            <p:sp>
              <p:nvSpPr>
                <p:cNvPr id="74" name="Prostokąt 40">
                  <a:extLst>
                    <a:ext uri="{FF2B5EF4-FFF2-40B4-BE49-F238E27FC236}">
                      <a16:creationId xmlns:a16="http://schemas.microsoft.com/office/drawing/2014/main" id="{89375719-6957-A34D-356F-C8083E2E0DB1}"/>
                    </a:ext>
                  </a:extLst>
                </p:cNvPr>
                <p:cNvSpPr/>
                <p:nvPr/>
              </p:nvSpPr>
              <p:spPr>
                <a:xfrm>
                  <a:off x="5975694" y="578793"/>
                  <a:ext cx="393718" cy="308069"/>
                </a:xfrm>
                <a:prstGeom prst="rect">
                  <a:avLst/>
                </a:prstGeom>
              </p:spPr>
              <p:txBody>
                <a:bodyPr wrap="none">
                  <a:spAutoFit/>
                </a:bodyPr>
                <a:lstStyle/>
                <a:p>
                  <a:pPr>
                    <a:defRPr/>
                  </a:pPr>
                  <a:r>
                    <a:rPr lang="pl-PL" sz="1400" b="1" dirty="0">
                      <a:solidFill>
                        <a:schemeClr val="accent1">
                          <a:lumMod val="50000"/>
                        </a:schemeClr>
                      </a:solidFill>
                    </a:rPr>
                    <a:t>p1</a:t>
                  </a:r>
                  <a:endParaRPr lang="pl-PL" sz="1400" dirty="0"/>
                </a:p>
              </p:txBody>
            </p:sp>
            <p:sp>
              <p:nvSpPr>
                <p:cNvPr id="75" name="Elipsa 41">
                  <a:extLst>
                    <a:ext uri="{FF2B5EF4-FFF2-40B4-BE49-F238E27FC236}">
                      <a16:creationId xmlns:a16="http://schemas.microsoft.com/office/drawing/2014/main" id="{651F85D0-C692-7581-FD87-A2B76E6DC796}"/>
                    </a:ext>
                  </a:extLst>
                </p:cNvPr>
                <p:cNvSpPr/>
                <p:nvPr/>
              </p:nvSpPr>
              <p:spPr>
                <a:xfrm>
                  <a:off x="6772655" y="1018664"/>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sp>
              <p:nvSpPr>
                <p:cNvPr id="76" name="Elipsa 42">
                  <a:extLst>
                    <a:ext uri="{FF2B5EF4-FFF2-40B4-BE49-F238E27FC236}">
                      <a16:creationId xmlns:a16="http://schemas.microsoft.com/office/drawing/2014/main" id="{68FCB1BA-9D08-56C6-EE58-7EC80CAEEAE9}"/>
                    </a:ext>
                  </a:extLst>
                </p:cNvPr>
                <p:cNvSpPr/>
                <p:nvPr/>
              </p:nvSpPr>
              <p:spPr>
                <a:xfrm>
                  <a:off x="7191773" y="1847593"/>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sp>
              <p:nvSpPr>
                <p:cNvPr id="77" name="Elipsa 43">
                  <a:extLst>
                    <a:ext uri="{FF2B5EF4-FFF2-40B4-BE49-F238E27FC236}">
                      <a16:creationId xmlns:a16="http://schemas.microsoft.com/office/drawing/2014/main" id="{66F48D36-F879-3DD4-E295-F4B31BD3921C}"/>
                    </a:ext>
                  </a:extLst>
                </p:cNvPr>
                <p:cNvSpPr/>
                <p:nvPr/>
              </p:nvSpPr>
              <p:spPr>
                <a:xfrm>
                  <a:off x="7953808" y="2047679"/>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grpSp>
          <p:sp>
            <p:nvSpPr>
              <p:cNvPr id="71" name="Elipsa 18">
                <a:extLst>
                  <a:ext uri="{FF2B5EF4-FFF2-40B4-BE49-F238E27FC236}">
                    <a16:creationId xmlns:a16="http://schemas.microsoft.com/office/drawing/2014/main" id="{6141661D-559E-2182-692A-8C11B4882B77}"/>
                  </a:ext>
                </a:extLst>
              </p:cNvPr>
              <p:cNvSpPr/>
              <p:nvPr/>
            </p:nvSpPr>
            <p:spPr>
              <a:xfrm>
                <a:off x="4200790" y="2848024"/>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sp>
            <p:nvSpPr>
              <p:cNvPr id="72" name="Elipsa 19">
                <a:extLst>
                  <a:ext uri="{FF2B5EF4-FFF2-40B4-BE49-F238E27FC236}">
                    <a16:creationId xmlns:a16="http://schemas.microsoft.com/office/drawing/2014/main" id="{62CFB4CB-C5D8-B935-8ED1-AECCDD497785}"/>
                  </a:ext>
                </a:extLst>
              </p:cNvPr>
              <p:cNvSpPr/>
              <p:nvPr/>
            </p:nvSpPr>
            <p:spPr>
              <a:xfrm>
                <a:off x="4838994" y="2981415"/>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grpSp>
        <p:sp>
          <p:nvSpPr>
            <p:cNvPr id="57" name="Strzałka w dół 45">
              <a:extLst>
                <a:ext uri="{FF2B5EF4-FFF2-40B4-BE49-F238E27FC236}">
                  <a16:creationId xmlns:a16="http://schemas.microsoft.com/office/drawing/2014/main" id="{B3F014DA-1066-BA65-1666-2F2DD0B4B0E2}"/>
                </a:ext>
              </a:extLst>
            </p:cNvPr>
            <p:cNvSpPr/>
            <p:nvPr/>
          </p:nvSpPr>
          <p:spPr>
            <a:xfrm rot="13861764">
              <a:off x="5367554" y="3226275"/>
              <a:ext cx="384175" cy="1057322"/>
            </a:xfrm>
            <a:prstGeom prst="downArrow">
              <a:avLst/>
            </a:prstGeom>
          </p:spPr>
          <p:style>
            <a:lnRef idx="2">
              <a:schemeClr val="accent1"/>
            </a:lnRef>
            <a:fillRef idx="1">
              <a:schemeClr val="lt1"/>
            </a:fillRef>
            <a:effectRef idx="0">
              <a:schemeClr val="accent1"/>
            </a:effectRef>
            <a:fontRef idx="minor">
              <a:schemeClr val="dk1"/>
            </a:fontRef>
          </p:style>
          <p:txBody>
            <a:bodyPr anchor="ctr"/>
            <a:lstStyle/>
            <a:p>
              <a:pPr>
                <a:defRPr/>
              </a:pPr>
              <a:endParaRPr lang="pl-PL"/>
            </a:p>
          </p:txBody>
        </p:sp>
        <p:sp>
          <p:nvSpPr>
            <p:cNvPr id="58" name="Dowolny kształt 47">
              <a:extLst>
                <a:ext uri="{FF2B5EF4-FFF2-40B4-BE49-F238E27FC236}">
                  <a16:creationId xmlns:a16="http://schemas.microsoft.com/office/drawing/2014/main" id="{D145EADE-3141-C968-DE11-EF34AC2B2611}"/>
                </a:ext>
              </a:extLst>
            </p:cNvPr>
            <p:cNvSpPr/>
            <p:nvPr/>
          </p:nvSpPr>
          <p:spPr>
            <a:xfrm>
              <a:off x="2997296" y="3551737"/>
              <a:ext cx="3076713" cy="952500"/>
            </a:xfrm>
            <a:custGeom>
              <a:avLst/>
              <a:gdLst>
                <a:gd name="connsiteX0" fmla="*/ 0 w 3076575"/>
                <a:gd name="connsiteY0" fmla="*/ 0 h 952500"/>
                <a:gd name="connsiteX1" fmla="*/ 819150 w 3076575"/>
                <a:gd name="connsiteY1" fmla="*/ 771525 h 952500"/>
                <a:gd name="connsiteX2" fmla="*/ 3076575 w 3076575"/>
                <a:gd name="connsiteY2" fmla="*/ 942975 h 952500"/>
              </a:gdLst>
              <a:ahLst/>
              <a:cxnLst>
                <a:cxn ang="0">
                  <a:pos x="connsiteX0" y="connsiteY0"/>
                </a:cxn>
                <a:cxn ang="0">
                  <a:pos x="connsiteX1" y="connsiteY1"/>
                </a:cxn>
                <a:cxn ang="0">
                  <a:pos x="connsiteX2" y="connsiteY2"/>
                </a:cxn>
              </a:cxnLst>
              <a:rect l="l" t="t" r="r" b="b"/>
              <a:pathLst>
                <a:path w="3076575" h="952500">
                  <a:moveTo>
                    <a:pt x="0" y="0"/>
                  </a:moveTo>
                  <a:cubicBezTo>
                    <a:pt x="153194" y="307181"/>
                    <a:pt x="306388" y="614363"/>
                    <a:pt x="819150" y="771525"/>
                  </a:cubicBezTo>
                  <a:cubicBezTo>
                    <a:pt x="1331912" y="928687"/>
                    <a:pt x="2693988" y="952500"/>
                    <a:pt x="3076575" y="942975"/>
                  </a:cubicBezTo>
                </a:path>
              </a:pathLst>
            </a:custGeom>
          </p:spPr>
          <p:style>
            <a:lnRef idx="3">
              <a:schemeClr val="accent3"/>
            </a:lnRef>
            <a:fillRef idx="0">
              <a:schemeClr val="accent3"/>
            </a:fillRef>
            <a:effectRef idx="2">
              <a:schemeClr val="accent3"/>
            </a:effectRef>
            <a:fontRef idx="minor">
              <a:schemeClr val="tx1"/>
            </a:fontRef>
          </p:style>
          <p:txBody>
            <a:bodyPr anchor="ctr"/>
            <a:lstStyle/>
            <a:p>
              <a:pPr>
                <a:defRPr/>
              </a:pPr>
              <a:endParaRPr lang="pl-PL"/>
            </a:p>
          </p:txBody>
        </p:sp>
      </p:grpSp>
      <p:sp>
        <p:nvSpPr>
          <p:cNvPr id="3" name="TextBox 2">
            <a:extLst>
              <a:ext uri="{FF2B5EF4-FFF2-40B4-BE49-F238E27FC236}">
                <a16:creationId xmlns:a16="http://schemas.microsoft.com/office/drawing/2014/main" id="{9F3F6B38-0236-61FF-C862-26B40D508B97}"/>
              </a:ext>
            </a:extLst>
          </p:cNvPr>
          <p:cNvSpPr txBox="1"/>
          <p:nvPr/>
        </p:nvSpPr>
        <p:spPr>
          <a:xfrm>
            <a:off x="6427213" y="1829893"/>
            <a:ext cx="4901763" cy="3108543"/>
          </a:xfrm>
          <a:prstGeom prst="rect">
            <a:avLst/>
          </a:prstGeom>
          <a:noFill/>
        </p:spPr>
        <p:txBody>
          <a:bodyPr wrap="square">
            <a:spAutoFit/>
          </a:bodyPr>
          <a:lstStyle/>
          <a:p>
            <a:pPr algn="just"/>
            <a:r>
              <a:rPr lang="en-US" sz="2800" dirty="0">
                <a:solidFill>
                  <a:schemeClr val="accent5">
                    <a:lumMod val="50000"/>
                  </a:schemeClr>
                </a:solidFill>
              </a:rPr>
              <a:t>The </a:t>
            </a:r>
            <a:r>
              <a:rPr lang="en-US" sz="2800" b="1" dirty="0">
                <a:solidFill>
                  <a:schemeClr val="accent5">
                    <a:lumMod val="50000"/>
                  </a:schemeClr>
                </a:solidFill>
              </a:rPr>
              <a:t>ceteris paribus </a:t>
            </a:r>
            <a:r>
              <a:rPr lang="en-US" sz="2800" dirty="0">
                <a:solidFill>
                  <a:schemeClr val="accent5">
                    <a:lumMod val="50000"/>
                  </a:schemeClr>
                </a:solidFill>
              </a:rPr>
              <a:t>principle – we change only one factor, the price, and observe how the quantity purchased changes. The accepted convention is to present the </a:t>
            </a:r>
            <a:r>
              <a:rPr lang="en-US" sz="2800" b="1" dirty="0">
                <a:solidFill>
                  <a:schemeClr val="accent5">
                    <a:lumMod val="50000"/>
                  </a:schemeClr>
                </a:solidFill>
              </a:rPr>
              <a:t>inverse demand function</a:t>
            </a:r>
            <a:r>
              <a:rPr lang="en-US" sz="2800" dirty="0">
                <a:solidFill>
                  <a:schemeClr val="accent5">
                    <a:lumMod val="50000"/>
                  </a:schemeClr>
                </a:solidFill>
              </a:rPr>
              <a:t> p1</a:t>
            </a:r>
            <a:r>
              <a:rPr lang="pl-PL" sz="2800" dirty="0">
                <a:solidFill>
                  <a:schemeClr val="accent5">
                    <a:lumMod val="50000"/>
                  </a:schemeClr>
                </a:solidFill>
              </a:rPr>
              <a:t> </a:t>
            </a:r>
            <a:r>
              <a:rPr lang="en-US" sz="2800" dirty="0">
                <a:solidFill>
                  <a:schemeClr val="accent5">
                    <a:lumMod val="50000"/>
                  </a:schemeClr>
                </a:solidFill>
              </a:rPr>
              <a:t>=</a:t>
            </a:r>
            <a:r>
              <a:rPr lang="pl-PL" sz="2800" dirty="0">
                <a:solidFill>
                  <a:schemeClr val="accent5">
                    <a:lumMod val="50000"/>
                  </a:schemeClr>
                </a:solidFill>
              </a:rPr>
              <a:t> </a:t>
            </a:r>
            <a:r>
              <a:rPr lang="en-US" sz="2800" dirty="0">
                <a:solidFill>
                  <a:schemeClr val="accent5">
                    <a:lumMod val="50000"/>
                  </a:schemeClr>
                </a:solidFill>
              </a:rPr>
              <a:t>f(x1) on graphs.</a:t>
            </a:r>
            <a:endParaRPr lang="pl-PL" sz="2800" dirty="0">
              <a:solidFill>
                <a:schemeClr val="accent5">
                  <a:lumMod val="50000"/>
                </a:schemeClr>
              </a:solidFill>
            </a:endParaRPr>
          </a:p>
        </p:txBody>
      </p:sp>
    </p:spTree>
    <p:extLst>
      <p:ext uri="{BB962C8B-B14F-4D97-AF65-F5344CB8AC3E}">
        <p14:creationId xmlns:p14="http://schemas.microsoft.com/office/powerpoint/2010/main" val="2299554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rostokąt 3"/>
          <p:cNvSpPr>
            <a:spLocks noChangeArrowheads="1"/>
          </p:cNvSpPr>
          <p:nvPr/>
        </p:nvSpPr>
        <p:spPr bwMode="auto">
          <a:xfrm>
            <a:off x="472596" y="995365"/>
            <a:ext cx="2646207" cy="400110"/>
          </a:xfrm>
          <a:prstGeom prst="rect">
            <a:avLst/>
          </a:prstGeom>
          <a:noFill/>
          <a:ln w="9525">
            <a:noFill/>
            <a:miter lim="800000"/>
            <a:headEnd/>
            <a:tailEnd/>
          </a:ln>
        </p:spPr>
        <p:txBody>
          <a:bodyPr wrap="square">
            <a:spAutoFit/>
          </a:bodyPr>
          <a:lstStyle/>
          <a:p>
            <a:pPr algn="l">
              <a:defRPr/>
            </a:pPr>
            <a:r>
              <a:rPr lang="pl-PL" sz="2000" b="1" dirty="0">
                <a:solidFill>
                  <a:schemeClr val="accent5">
                    <a:lumMod val="50000"/>
                  </a:schemeClr>
                </a:solidFill>
                <a:sym typeface="Symbol" pitchFamily="18" charset="2"/>
              </a:rPr>
              <a:t>x1 = f(</a:t>
            </a:r>
            <a:r>
              <a:rPr lang="pl-PL" sz="2000" b="1" dirty="0">
                <a:solidFill>
                  <a:srgbClr val="FF0000"/>
                </a:solidFill>
                <a:sym typeface="Symbol" pitchFamily="18" charset="2"/>
              </a:rPr>
              <a:t>p1</a:t>
            </a:r>
            <a:r>
              <a:rPr lang="pl-PL" sz="2000" b="1" dirty="0">
                <a:solidFill>
                  <a:schemeClr val="accent5">
                    <a:lumMod val="50000"/>
                  </a:schemeClr>
                </a:solidFill>
                <a:sym typeface="Symbol" pitchFamily="18" charset="2"/>
              </a:rPr>
              <a:t>, M, p2, … </a:t>
            </a:r>
          </a:p>
        </p:txBody>
      </p:sp>
      <p:cxnSp>
        <p:nvCxnSpPr>
          <p:cNvPr id="13" name="Łącznik prosty ze strzałką 12"/>
          <p:cNvCxnSpPr>
            <a:cxnSpLocks/>
          </p:cNvCxnSpPr>
          <p:nvPr/>
        </p:nvCxnSpPr>
        <p:spPr>
          <a:xfrm>
            <a:off x="1410014" y="1334423"/>
            <a:ext cx="68266" cy="410557"/>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6" name="Prostokąt 3"/>
          <p:cNvSpPr>
            <a:spLocks noChangeArrowheads="1"/>
          </p:cNvSpPr>
          <p:nvPr/>
        </p:nvSpPr>
        <p:spPr bwMode="auto">
          <a:xfrm>
            <a:off x="1275919" y="1744980"/>
            <a:ext cx="8461015" cy="4893647"/>
          </a:xfrm>
          <a:prstGeom prst="rect">
            <a:avLst/>
          </a:prstGeom>
          <a:noFill/>
          <a:ln w="9525">
            <a:noFill/>
            <a:miter lim="800000"/>
            <a:headEnd/>
            <a:tailEnd/>
          </a:ln>
        </p:spPr>
        <p:txBody>
          <a:bodyPr wrap="square">
            <a:spAutoFit/>
          </a:bodyPr>
          <a:lstStyle/>
          <a:p>
            <a:pPr algn="just">
              <a:defRPr/>
            </a:pPr>
            <a:r>
              <a:rPr lang="pl-PL" sz="2400" dirty="0">
                <a:solidFill>
                  <a:srgbClr val="FF0000"/>
                </a:solidFill>
                <a:sym typeface="Symbol" pitchFamily="18" charset="2"/>
              </a:rPr>
              <a:t>(-)</a:t>
            </a:r>
            <a:r>
              <a:rPr lang="pl-PL" sz="2400" dirty="0">
                <a:solidFill>
                  <a:schemeClr val="accent5">
                    <a:lumMod val="50000"/>
                  </a:schemeClr>
                </a:solidFill>
                <a:sym typeface="Symbol" pitchFamily="18" charset="2"/>
              </a:rPr>
              <a:t> </a:t>
            </a:r>
            <a:r>
              <a:rPr lang="en-US" sz="2400" dirty="0">
                <a:solidFill>
                  <a:schemeClr val="accent5">
                    <a:lumMod val="50000"/>
                  </a:schemeClr>
                </a:solidFill>
                <a:sym typeface="Symbol" pitchFamily="18" charset="2"/>
              </a:rPr>
              <a:t>law of demand states that, all else being </a:t>
            </a:r>
            <a:r>
              <a:rPr lang="pl-PL" sz="2400" dirty="0" err="1">
                <a:solidFill>
                  <a:schemeClr val="accent5">
                    <a:lumMod val="50000"/>
                  </a:schemeClr>
                </a:solidFill>
                <a:sym typeface="Symbol" pitchFamily="18" charset="2"/>
              </a:rPr>
              <a:t>fixed</a:t>
            </a:r>
            <a:r>
              <a:rPr lang="en-US" sz="2400" dirty="0">
                <a:solidFill>
                  <a:schemeClr val="accent5">
                    <a:lumMod val="50000"/>
                  </a:schemeClr>
                </a:solidFill>
                <a:sym typeface="Symbol" pitchFamily="18" charset="2"/>
              </a:rPr>
              <a:t> (ceteris paribus), as the price of a good or service increases, the quantity demanded by consumers decreases, and vice versa</a:t>
            </a:r>
            <a:r>
              <a:rPr lang="pl-PL" sz="2400" dirty="0">
                <a:solidFill>
                  <a:schemeClr val="accent5">
                    <a:lumMod val="50000"/>
                  </a:schemeClr>
                </a:solidFill>
                <a:sym typeface="Wingdings" panose="05000000000000000000" pitchFamily="2" charset="2"/>
              </a:rPr>
              <a:t> </a:t>
            </a:r>
            <a:r>
              <a:rPr lang="en-US" sz="2400" dirty="0">
                <a:solidFill>
                  <a:schemeClr val="accent5">
                    <a:lumMod val="50000"/>
                  </a:schemeClr>
                </a:solidFill>
                <a:sym typeface="Symbol" pitchFamily="18" charset="2"/>
              </a:rPr>
              <a:t>price increases demand decreases, but there are exceptions:</a:t>
            </a:r>
          </a:p>
          <a:p>
            <a:pPr algn="l">
              <a:defRPr/>
            </a:pPr>
            <a:endParaRPr lang="en-US" sz="2400" dirty="0">
              <a:solidFill>
                <a:schemeClr val="accent5">
                  <a:lumMod val="50000"/>
                </a:schemeClr>
              </a:solidFill>
              <a:sym typeface="Symbol" pitchFamily="18" charset="2"/>
            </a:endParaRPr>
          </a:p>
          <a:p>
            <a:pPr marL="342900" indent="-342900" algn="l">
              <a:buFont typeface="Arial" panose="020B0604020202020204" pitchFamily="34" charset="0"/>
              <a:buChar char="•"/>
              <a:defRPr/>
            </a:pPr>
            <a:r>
              <a:rPr lang="en-US" sz="2400" dirty="0">
                <a:solidFill>
                  <a:schemeClr val="accent5">
                    <a:lumMod val="50000"/>
                  </a:schemeClr>
                </a:solidFill>
                <a:sym typeface="Symbol" pitchFamily="18" charset="2"/>
              </a:rPr>
              <a:t>Giffen good - theoretical </a:t>
            </a:r>
            <a:r>
              <a:rPr lang="pl-PL" sz="2400" dirty="0" err="1">
                <a:solidFill>
                  <a:schemeClr val="accent5">
                    <a:lumMod val="50000"/>
                  </a:schemeClr>
                </a:solidFill>
                <a:sym typeface="Symbol" pitchFamily="18" charset="2"/>
              </a:rPr>
              <a:t>creature</a:t>
            </a:r>
            <a:r>
              <a:rPr lang="en-US" sz="2400" dirty="0">
                <a:solidFill>
                  <a:schemeClr val="accent5">
                    <a:lumMod val="50000"/>
                  </a:schemeClr>
                </a:solidFill>
                <a:sym typeface="Symbol" pitchFamily="18" charset="2"/>
              </a:rPr>
              <a:t>, there are people who claim that it was found in the wild. According to the theory no change in preferences (will </a:t>
            </a:r>
            <a:r>
              <a:rPr lang="pl-PL" sz="2400" dirty="0">
                <a:solidFill>
                  <a:schemeClr val="accent5">
                    <a:lumMod val="50000"/>
                  </a:schemeClr>
                </a:solidFill>
                <a:sym typeface="Symbol" pitchFamily="18" charset="2"/>
              </a:rPr>
              <a:t>not </a:t>
            </a:r>
            <a:r>
              <a:rPr lang="en-US" sz="2400" dirty="0">
                <a:solidFill>
                  <a:schemeClr val="accent5">
                    <a:lumMod val="50000"/>
                  </a:schemeClr>
                </a:solidFill>
                <a:sym typeface="Symbol" pitchFamily="18" charset="2"/>
              </a:rPr>
              <a:t>be discussed)</a:t>
            </a:r>
          </a:p>
          <a:p>
            <a:pPr marL="342900" indent="-342900" algn="l">
              <a:buFont typeface="Arial" panose="020B0604020202020204" pitchFamily="34" charset="0"/>
              <a:buChar char="•"/>
              <a:defRPr/>
            </a:pPr>
            <a:endParaRPr lang="en-US" sz="2400" dirty="0">
              <a:solidFill>
                <a:schemeClr val="accent5">
                  <a:lumMod val="50000"/>
                </a:schemeClr>
              </a:solidFill>
              <a:sym typeface="Symbol" pitchFamily="18" charset="2"/>
            </a:endParaRPr>
          </a:p>
          <a:p>
            <a:pPr marL="342900" indent="-342900" algn="l">
              <a:buFont typeface="Arial" panose="020B0604020202020204" pitchFamily="34" charset="0"/>
              <a:buChar char="•"/>
              <a:defRPr/>
            </a:pPr>
            <a:r>
              <a:rPr lang="en-US" sz="2400" dirty="0">
                <a:solidFill>
                  <a:schemeClr val="accent5">
                    <a:lumMod val="50000"/>
                  </a:schemeClr>
                </a:solidFill>
                <a:sym typeface="Symbol" pitchFamily="18" charset="2"/>
              </a:rPr>
              <a:t>Veblen good </a:t>
            </a:r>
            <a:r>
              <a:rPr lang="pl-PL" sz="2400" dirty="0">
                <a:solidFill>
                  <a:schemeClr val="accent5">
                    <a:lumMod val="50000"/>
                  </a:schemeClr>
                </a:solidFill>
                <a:sym typeface="Symbol" pitchFamily="18" charset="2"/>
              </a:rPr>
              <a:t>-</a:t>
            </a:r>
            <a:r>
              <a:rPr lang="en-US" sz="2400" dirty="0">
                <a:solidFill>
                  <a:schemeClr val="accent5">
                    <a:lumMod val="50000"/>
                  </a:schemeClr>
                </a:solidFill>
                <a:sym typeface="Symbol" pitchFamily="18" charset="2"/>
              </a:rPr>
              <a:t> change in preferences due to snob effect or network </a:t>
            </a:r>
            <a:r>
              <a:rPr lang="pl-PL" sz="2400" dirty="0" err="1">
                <a:solidFill>
                  <a:schemeClr val="accent5">
                    <a:lumMod val="50000"/>
                  </a:schemeClr>
                </a:solidFill>
                <a:sym typeface="Symbol" pitchFamily="18" charset="2"/>
              </a:rPr>
              <a:t>efect</a:t>
            </a:r>
            <a:r>
              <a:rPr lang="en-US" sz="2400" dirty="0">
                <a:solidFill>
                  <a:schemeClr val="accent5">
                    <a:lumMod val="50000"/>
                  </a:schemeClr>
                </a:solidFill>
                <a:sym typeface="Symbol" pitchFamily="18" charset="2"/>
              </a:rPr>
              <a:t> (will be discussed)</a:t>
            </a:r>
            <a:endParaRPr lang="pl-PL" sz="2400" dirty="0">
              <a:solidFill>
                <a:schemeClr val="accent5">
                  <a:lumMod val="50000"/>
                </a:schemeClr>
              </a:solidFill>
              <a:sym typeface="Symbol" pitchFamily="18" charset="2"/>
            </a:endParaRPr>
          </a:p>
          <a:p>
            <a:pPr algn="l">
              <a:defRPr/>
            </a:pPr>
            <a:endParaRPr lang="pl-PL" sz="2400" dirty="0">
              <a:solidFill>
                <a:schemeClr val="accent5">
                  <a:lumMod val="50000"/>
                </a:schemeClr>
              </a:solidFill>
              <a:sym typeface="Symbol" pitchFamily="18" charset="2"/>
            </a:endParaRPr>
          </a:p>
          <a:p>
            <a:pPr algn="l">
              <a:defRPr/>
            </a:pPr>
            <a:r>
              <a:rPr lang="pl-PL" sz="2400" dirty="0">
                <a:solidFill>
                  <a:schemeClr val="accent5">
                    <a:lumMod val="50000"/>
                  </a:schemeClr>
                </a:solidFill>
                <a:sym typeface="Symbol" pitchFamily="18" charset="2"/>
              </a:rPr>
              <a:t>W</a:t>
            </a:r>
            <a:r>
              <a:rPr lang="en-US" sz="2400" dirty="0">
                <a:solidFill>
                  <a:schemeClr val="accent5">
                    <a:lumMod val="50000"/>
                  </a:schemeClr>
                </a:solidFill>
                <a:sym typeface="Symbol" pitchFamily="18" charset="2"/>
              </a:rPr>
              <a:t>e want to know other characteristics of this relationship</a:t>
            </a:r>
            <a:endParaRPr lang="pl-PL" sz="2400" dirty="0">
              <a:solidFill>
                <a:schemeClr val="accent5">
                  <a:lumMod val="50000"/>
                </a:schemeClr>
              </a:solidFill>
              <a:sym typeface="Symbol" pitchFamily="18" charset="2"/>
            </a:endParaRPr>
          </a:p>
        </p:txBody>
      </p:sp>
      <p:grpSp>
        <p:nvGrpSpPr>
          <p:cNvPr id="20486" name="Grupa 16"/>
          <p:cNvGrpSpPr>
            <a:grpSpLocks/>
          </p:cNvGrpSpPr>
          <p:nvPr/>
        </p:nvGrpSpPr>
        <p:grpSpPr bwMode="auto">
          <a:xfrm>
            <a:off x="9398797" y="995461"/>
            <a:ext cx="2528887" cy="2188965"/>
            <a:chOff x="5532530" y="2035675"/>
            <a:chExt cx="2528886" cy="2190263"/>
          </a:xfrm>
        </p:grpSpPr>
        <p:sp>
          <p:nvSpPr>
            <p:cNvPr id="18" name="Dowolny kształt 17"/>
            <p:cNvSpPr/>
            <p:nvPr/>
          </p:nvSpPr>
          <p:spPr>
            <a:xfrm>
              <a:off x="6346917" y="2412136"/>
              <a:ext cx="1714499" cy="1172270"/>
            </a:xfrm>
            <a:custGeom>
              <a:avLst/>
              <a:gdLst>
                <a:gd name="connsiteX0" fmla="*/ 0 w 3076575"/>
                <a:gd name="connsiteY0" fmla="*/ 0 h 952500"/>
                <a:gd name="connsiteX1" fmla="*/ 819150 w 3076575"/>
                <a:gd name="connsiteY1" fmla="*/ 771525 h 952500"/>
                <a:gd name="connsiteX2" fmla="*/ 3076575 w 3076575"/>
                <a:gd name="connsiteY2" fmla="*/ 942975 h 952500"/>
              </a:gdLst>
              <a:ahLst/>
              <a:cxnLst>
                <a:cxn ang="0">
                  <a:pos x="connsiteX0" y="connsiteY0"/>
                </a:cxn>
                <a:cxn ang="0">
                  <a:pos x="connsiteX1" y="connsiteY1"/>
                </a:cxn>
                <a:cxn ang="0">
                  <a:pos x="connsiteX2" y="connsiteY2"/>
                </a:cxn>
              </a:cxnLst>
              <a:rect l="l" t="t" r="r" b="b"/>
              <a:pathLst>
                <a:path w="3076575" h="952500">
                  <a:moveTo>
                    <a:pt x="0" y="0"/>
                  </a:moveTo>
                  <a:cubicBezTo>
                    <a:pt x="153194" y="307181"/>
                    <a:pt x="306388" y="614363"/>
                    <a:pt x="819150" y="771525"/>
                  </a:cubicBezTo>
                  <a:cubicBezTo>
                    <a:pt x="1331912" y="928687"/>
                    <a:pt x="2693988" y="952500"/>
                    <a:pt x="3076575" y="942975"/>
                  </a:cubicBezTo>
                </a:path>
              </a:pathLst>
            </a:custGeom>
          </p:spPr>
          <p:style>
            <a:lnRef idx="3">
              <a:schemeClr val="accent3"/>
            </a:lnRef>
            <a:fillRef idx="0">
              <a:schemeClr val="accent3"/>
            </a:fillRef>
            <a:effectRef idx="2">
              <a:schemeClr val="accent3"/>
            </a:effectRef>
            <a:fontRef idx="minor">
              <a:schemeClr val="tx1"/>
            </a:fontRef>
          </p:style>
          <p:txBody>
            <a:bodyPr anchor="ctr"/>
            <a:lstStyle/>
            <a:p>
              <a:pPr>
                <a:defRPr/>
              </a:pPr>
              <a:endParaRPr lang="pl-PL"/>
            </a:p>
          </p:txBody>
        </p:sp>
        <p:grpSp>
          <p:nvGrpSpPr>
            <p:cNvPr id="20489" name="Grupa 47"/>
            <p:cNvGrpSpPr>
              <a:grpSpLocks/>
            </p:cNvGrpSpPr>
            <p:nvPr/>
          </p:nvGrpSpPr>
          <p:grpSpPr bwMode="auto">
            <a:xfrm>
              <a:off x="5532530" y="2035675"/>
              <a:ext cx="2254024" cy="2190263"/>
              <a:chOff x="5975576" y="578793"/>
              <a:chExt cx="2254024" cy="2190933"/>
            </a:xfrm>
          </p:grpSpPr>
          <p:sp>
            <p:nvSpPr>
              <p:cNvPr id="33" name="Prostokąt 32"/>
              <p:cNvSpPr/>
              <p:nvPr/>
            </p:nvSpPr>
            <p:spPr>
              <a:xfrm>
                <a:off x="6750276" y="2461672"/>
                <a:ext cx="421910" cy="308054"/>
              </a:xfrm>
              <a:prstGeom prst="rect">
                <a:avLst/>
              </a:prstGeom>
            </p:spPr>
            <p:txBody>
              <a:bodyPr wrap="none">
                <a:spAutoFit/>
              </a:bodyPr>
              <a:lstStyle/>
              <a:p>
                <a:pPr>
                  <a:defRPr/>
                </a:pPr>
                <a:r>
                  <a:rPr lang="pl-PL" sz="1400" b="1" dirty="0">
                    <a:solidFill>
                      <a:schemeClr val="accent1">
                        <a:lumMod val="50000"/>
                      </a:schemeClr>
                    </a:solidFill>
                  </a:rPr>
                  <a:t>X1’</a:t>
                </a:r>
                <a:endParaRPr lang="pl-PL" sz="1400" dirty="0"/>
              </a:p>
            </p:txBody>
          </p:sp>
          <p:grpSp>
            <p:nvGrpSpPr>
              <p:cNvPr id="20491" name="Grupa 46"/>
              <p:cNvGrpSpPr>
                <a:grpSpLocks/>
              </p:cNvGrpSpPr>
              <p:nvPr/>
            </p:nvGrpSpPr>
            <p:grpSpPr bwMode="auto">
              <a:xfrm>
                <a:off x="5975576" y="578793"/>
                <a:ext cx="2254024" cy="1849190"/>
                <a:chOff x="5975576" y="578793"/>
                <a:chExt cx="2254024" cy="1849190"/>
              </a:xfrm>
            </p:grpSpPr>
            <p:grpSp>
              <p:nvGrpSpPr>
                <p:cNvPr id="20492" name="Grupa 15"/>
                <p:cNvGrpSpPr>
                  <a:grpSpLocks/>
                </p:cNvGrpSpPr>
                <p:nvPr/>
              </p:nvGrpSpPr>
              <p:grpSpPr bwMode="auto">
                <a:xfrm>
                  <a:off x="6629403" y="609600"/>
                  <a:ext cx="1600197" cy="1818383"/>
                  <a:chOff x="4648200" y="239486"/>
                  <a:chExt cx="1727622" cy="2830285"/>
                </a:xfrm>
              </p:grpSpPr>
              <p:sp>
                <p:nvSpPr>
                  <p:cNvPr id="42" name="Line 5"/>
                  <p:cNvSpPr>
                    <a:spLocks noChangeShapeType="1"/>
                  </p:cNvSpPr>
                  <p:nvPr/>
                </p:nvSpPr>
                <p:spPr bwMode="auto">
                  <a:xfrm flipV="1">
                    <a:off x="4648441" y="3028228"/>
                    <a:ext cx="1727624" cy="32150"/>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anchor="ctr">
                    <a:spAutoFit/>
                  </a:bodyPr>
                  <a:lstStyle/>
                  <a:p>
                    <a:pPr>
                      <a:defRPr/>
                    </a:pPr>
                    <a:endParaRPr lang="pl-PL"/>
                  </a:p>
                </p:txBody>
              </p:sp>
              <p:sp>
                <p:nvSpPr>
                  <p:cNvPr id="43" name="Line 4"/>
                  <p:cNvSpPr>
                    <a:spLocks noChangeShapeType="1"/>
                  </p:cNvSpPr>
                  <p:nvPr/>
                </p:nvSpPr>
                <p:spPr bwMode="auto">
                  <a:xfrm flipV="1">
                    <a:off x="4648441" y="238526"/>
                    <a:ext cx="22280" cy="2831745"/>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anchor="ctr">
                    <a:spAutoFit/>
                  </a:bodyPr>
                  <a:lstStyle/>
                  <a:p>
                    <a:pPr>
                      <a:defRPr/>
                    </a:pPr>
                    <a:endParaRPr lang="pl-PL"/>
                  </a:p>
                </p:txBody>
              </p:sp>
            </p:grpSp>
            <p:sp>
              <p:nvSpPr>
                <p:cNvPr id="38" name="Prostokąt 37"/>
                <p:cNvSpPr/>
                <p:nvPr/>
              </p:nvSpPr>
              <p:spPr>
                <a:xfrm>
                  <a:off x="5975576" y="578793"/>
                  <a:ext cx="372218" cy="308054"/>
                </a:xfrm>
                <a:prstGeom prst="rect">
                  <a:avLst/>
                </a:prstGeom>
              </p:spPr>
              <p:txBody>
                <a:bodyPr wrap="none">
                  <a:spAutoFit/>
                </a:bodyPr>
                <a:lstStyle/>
                <a:p>
                  <a:pPr>
                    <a:defRPr/>
                  </a:pPr>
                  <a:r>
                    <a:rPr lang="pl-PL" sz="1400" b="1" dirty="0">
                      <a:solidFill>
                        <a:schemeClr val="accent1">
                          <a:lumMod val="50000"/>
                        </a:schemeClr>
                      </a:solidFill>
                    </a:rPr>
                    <a:t>p1</a:t>
                  </a:r>
                  <a:endParaRPr lang="pl-PL" sz="1400" dirty="0"/>
                </a:p>
              </p:txBody>
            </p:sp>
            <p:sp>
              <p:nvSpPr>
                <p:cNvPr id="39" name="Elipsa 38"/>
                <p:cNvSpPr/>
                <p:nvPr/>
              </p:nvSpPr>
              <p:spPr>
                <a:xfrm>
                  <a:off x="6772501" y="1018926"/>
                  <a:ext cx="114300" cy="10486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sp>
              <p:nvSpPr>
                <p:cNvPr id="40" name="Elipsa 39"/>
                <p:cNvSpPr/>
                <p:nvPr/>
              </p:nvSpPr>
              <p:spPr>
                <a:xfrm>
                  <a:off x="7191600" y="1848346"/>
                  <a:ext cx="114300" cy="10486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sp>
              <p:nvSpPr>
                <p:cNvPr id="41" name="Elipsa 40"/>
                <p:cNvSpPr/>
                <p:nvPr/>
              </p:nvSpPr>
              <p:spPr>
                <a:xfrm>
                  <a:off x="7953600" y="2048551"/>
                  <a:ext cx="114300" cy="10486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grpSp>
        </p:grpSp>
      </p:grpSp>
      <p:cxnSp>
        <p:nvCxnSpPr>
          <p:cNvPr id="56" name="Łącznik prosty ze strzałką 55"/>
          <p:cNvCxnSpPr/>
          <p:nvPr/>
        </p:nvCxnSpPr>
        <p:spPr>
          <a:xfrm flipH="1">
            <a:off x="1112040" y="1959966"/>
            <a:ext cx="7938" cy="395446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 name="Tytuł 1">
            <a:extLst>
              <a:ext uri="{FF2B5EF4-FFF2-40B4-BE49-F238E27FC236}">
                <a16:creationId xmlns:a16="http://schemas.microsoft.com/office/drawing/2014/main" id="{A61E9061-8E90-F1EE-D328-AC69B02741D3}"/>
              </a:ext>
            </a:extLst>
          </p:cNvPr>
          <p:cNvSpPr>
            <a:spLocks noGrp="1"/>
          </p:cNvSpPr>
          <p:nvPr>
            <p:ph type="title"/>
          </p:nvPr>
        </p:nvSpPr>
        <p:spPr>
          <a:xfrm>
            <a:off x="0" y="-13886"/>
            <a:ext cx="12192001" cy="948122"/>
          </a:xfrm>
          <a:solidFill>
            <a:schemeClr val="accent5">
              <a:lumMod val="20000"/>
              <a:lumOff val="80000"/>
            </a:schemeClr>
          </a:solidFill>
        </p:spPr>
        <p:txBody>
          <a:bodyPr>
            <a:noAutofit/>
          </a:bodyPr>
          <a:lstStyle/>
          <a:p>
            <a:r>
              <a:rPr lang="pl-PL" sz="3600" b="1" dirty="0">
                <a:solidFill>
                  <a:schemeClr val="accent5">
                    <a:lumMod val="50000"/>
                  </a:schemeClr>
                </a:solidFill>
                <a:sym typeface="Symbol" pitchFamily="18" charset="2"/>
              </a:rPr>
              <a:t>L</a:t>
            </a:r>
            <a:r>
              <a:rPr lang="en-US" sz="3600" b="1" dirty="0">
                <a:solidFill>
                  <a:schemeClr val="accent5">
                    <a:lumMod val="50000"/>
                  </a:schemeClr>
                </a:solidFill>
                <a:sym typeface="Symbol" pitchFamily="18" charset="2"/>
              </a:rPr>
              <a:t>aw of demand</a:t>
            </a:r>
            <a:endParaRPr lang="en-GB" sz="3600" b="1" i="1" dirty="0">
              <a:solidFill>
                <a:schemeClr val="accent5">
                  <a:lumMod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0" y="-13886"/>
            <a:ext cx="12192001" cy="1187024"/>
          </a:xfrm>
          <a:solidFill>
            <a:schemeClr val="accent5">
              <a:lumMod val="20000"/>
              <a:lumOff val="80000"/>
            </a:schemeClr>
          </a:solidFill>
        </p:spPr>
        <p:txBody>
          <a:bodyPr>
            <a:noAutofit/>
          </a:bodyPr>
          <a:lstStyle/>
          <a:p>
            <a:r>
              <a:rPr lang="pl-PL" b="1" i="1" dirty="0" err="1">
                <a:solidFill>
                  <a:schemeClr val="accent5">
                    <a:lumMod val="50000"/>
                  </a:schemeClr>
                </a:solidFill>
              </a:rPr>
              <a:t>Price</a:t>
            </a:r>
            <a:r>
              <a:rPr lang="pl-PL" b="1" i="1" dirty="0">
                <a:solidFill>
                  <a:schemeClr val="accent5">
                    <a:lumMod val="50000"/>
                  </a:schemeClr>
                </a:solidFill>
              </a:rPr>
              <a:t> </a:t>
            </a:r>
            <a:r>
              <a:rPr lang="pl-PL" b="1" i="1" dirty="0" err="1">
                <a:solidFill>
                  <a:schemeClr val="accent5">
                    <a:lumMod val="50000"/>
                  </a:schemeClr>
                </a:solidFill>
              </a:rPr>
              <a:t>elasticity</a:t>
            </a:r>
            <a:endParaRPr lang="en-GB" b="1" i="1" dirty="0">
              <a:solidFill>
                <a:schemeClr val="accent5">
                  <a:lumMod val="50000"/>
                </a:schemeClr>
              </a:solidFill>
            </a:endParaRPr>
          </a:p>
        </p:txBody>
      </p:sp>
      <p:sp>
        <p:nvSpPr>
          <p:cNvPr id="4" name="AutoShape 2" descr="https://mikroekonomia.wne.uw.edu.pl/moodle/pluginfile.php/21105/course/section/1679/BBB%20settings%202.png"/>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p:cNvSpPr/>
          <p:nvPr/>
        </p:nvSpPr>
        <p:spPr>
          <a:xfrm>
            <a:off x="255514" y="1122438"/>
            <a:ext cx="4358709" cy="523220"/>
          </a:xfrm>
          <a:prstGeom prst="rect">
            <a:avLst/>
          </a:prstGeom>
        </p:spPr>
        <p:txBody>
          <a:bodyPr wrap="square">
            <a:spAutoFit/>
          </a:bodyPr>
          <a:lstStyle/>
          <a:p>
            <a:pPr algn="just">
              <a:defRPr/>
            </a:pPr>
            <a:r>
              <a:rPr lang="en-US" sz="2800" b="1" dirty="0">
                <a:solidFill>
                  <a:schemeClr val="accent5">
                    <a:lumMod val="50000"/>
                  </a:schemeClr>
                </a:solidFill>
              </a:rPr>
              <a:t>Extremes:</a:t>
            </a:r>
            <a:endParaRPr lang="en-US" sz="2800" dirty="0">
              <a:solidFill>
                <a:schemeClr val="accent5">
                  <a:lumMod val="50000"/>
                </a:schemeClr>
              </a:solidFill>
            </a:endParaRPr>
          </a:p>
        </p:txBody>
      </p:sp>
      <p:sp>
        <p:nvSpPr>
          <p:cNvPr id="68" name="pole tekstowe 103">
            <a:extLst>
              <a:ext uri="{FF2B5EF4-FFF2-40B4-BE49-F238E27FC236}">
                <a16:creationId xmlns:a16="http://schemas.microsoft.com/office/drawing/2014/main" id="{0A824452-E7AB-5A09-27A9-6580110EAE45}"/>
              </a:ext>
            </a:extLst>
          </p:cNvPr>
          <p:cNvSpPr txBox="1"/>
          <p:nvPr/>
        </p:nvSpPr>
        <p:spPr>
          <a:xfrm>
            <a:off x="736041" y="1570437"/>
            <a:ext cx="2531461" cy="338138"/>
          </a:xfrm>
          <a:prstGeom prst="rect">
            <a:avLst/>
          </a:prstGeom>
          <a:noFill/>
        </p:spPr>
        <p:txBody>
          <a:bodyPr wrap="square">
            <a:spAutoFit/>
          </a:bodyPr>
          <a:lstStyle/>
          <a:p>
            <a:pPr>
              <a:defRPr/>
            </a:pPr>
            <a:r>
              <a:rPr lang="pl-PL" sz="1600" b="1" dirty="0" err="1">
                <a:solidFill>
                  <a:schemeClr val="accent5">
                    <a:lumMod val="50000"/>
                  </a:schemeClr>
                </a:solidFill>
              </a:rPr>
              <a:t>Perfectly</a:t>
            </a:r>
            <a:r>
              <a:rPr lang="pl-PL" sz="1600" b="1" dirty="0">
                <a:solidFill>
                  <a:schemeClr val="accent5">
                    <a:lumMod val="50000"/>
                  </a:schemeClr>
                </a:solidFill>
              </a:rPr>
              <a:t> </a:t>
            </a:r>
            <a:r>
              <a:rPr lang="pl-PL" sz="1600" b="1" dirty="0" err="1">
                <a:solidFill>
                  <a:schemeClr val="accent5">
                    <a:lumMod val="50000"/>
                  </a:schemeClr>
                </a:solidFill>
              </a:rPr>
              <a:t>Inelastic</a:t>
            </a:r>
            <a:r>
              <a:rPr lang="pl-PL" sz="1600" b="1" dirty="0">
                <a:solidFill>
                  <a:schemeClr val="accent5">
                    <a:lumMod val="50000"/>
                  </a:schemeClr>
                </a:solidFill>
              </a:rPr>
              <a:t> </a:t>
            </a:r>
            <a:r>
              <a:rPr lang="pl-PL" sz="1600" b="1" dirty="0" err="1">
                <a:solidFill>
                  <a:schemeClr val="accent5">
                    <a:lumMod val="50000"/>
                  </a:schemeClr>
                </a:solidFill>
              </a:rPr>
              <a:t>Demand</a:t>
            </a:r>
            <a:endParaRPr lang="pl-PL" sz="1600" b="1" dirty="0">
              <a:solidFill>
                <a:schemeClr val="accent5">
                  <a:lumMod val="50000"/>
                </a:schemeClr>
              </a:solidFill>
            </a:endParaRPr>
          </a:p>
        </p:txBody>
      </p:sp>
      <p:sp>
        <p:nvSpPr>
          <p:cNvPr id="69" name="pole tekstowe 104">
            <a:extLst>
              <a:ext uri="{FF2B5EF4-FFF2-40B4-BE49-F238E27FC236}">
                <a16:creationId xmlns:a16="http://schemas.microsoft.com/office/drawing/2014/main" id="{CF43059C-E9B6-09EC-AB1D-34EF15A40731}"/>
              </a:ext>
            </a:extLst>
          </p:cNvPr>
          <p:cNvSpPr txBox="1"/>
          <p:nvPr/>
        </p:nvSpPr>
        <p:spPr>
          <a:xfrm>
            <a:off x="574277" y="3712366"/>
            <a:ext cx="2531461" cy="338138"/>
          </a:xfrm>
          <a:prstGeom prst="rect">
            <a:avLst/>
          </a:prstGeom>
          <a:noFill/>
        </p:spPr>
        <p:txBody>
          <a:bodyPr wrap="square">
            <a:spAutoFit/>
          </a:bodyPr>
          <a:lstStyle/>
          <a:p>
            <a:pPr>
              <a:defRPr/>
            </a:pPr>
            <a:r>
              <a:rPr lang="pl-PL" sz="1600" b="1" dirty="0" err="1">
                <a:solidFill>
                  <a:schemeClr val="accent5">
                    <a:lumMod val="50000"/>
                  </a:schemeClr>
                </a:solidFill>
              </a:rPr>
              <a:t>Perfectly</a:t>
            </a:r>
            <a:r>
              <a:rPr lang="pl-PL" sz="1600" b="1" dirty="0">
                <a:solidFill>
                  <a:schemeClr val="accent5">
                    <a:lumMod val="50000"/>
                  </a:schemeClr>
                </a:solidFill>
              </a:rPr>
              <a:t> </a:t>
            </a:r>
            <a:r>
              <a:rPr lang="pl-PL" sz="1600" b="1" dirty="0" err="1">
                <a:solidFill>
                  <a:schemeClr val="accent5">
                    <a:lumMod val="50000"/>
                  </a:schemeClr>
                </a:solidFill>
              </a:rPr>
              <a:t>Elastic</a:t>
            </a:r>
            <a:r>
              <a:rPr lang="pl-PL" sz="1600" b="1" dirty="0">
                <a:solidFill>
                  <a:schemeClr val="accent5">
                    <a:lumMod val="50000"/>
                  </a:schemeClr>
                </a:solidFill>
              </a:rPr>
              <a:t> </a:t>
            </a:r>
            <a:r>
              <a:rPr lang="pl-PL" sz="1600" b="1" dirty="0" err="1">
                <a:solidFill>
                  <a:schemeClr val="accent5">
                    <a:lumMod val="50000"/>
                  </a:schemeClr>
                </a:solidFill>
              </a:rPr>
              <a:t>Demand</a:t>
            </a:r>
            <a:endParaRPr lang="pl-PL" sz="1600" b="1" dirty="0">
              <a:solidFill>
                <a:schemeClr val="accent5">
                  <a:lumMod val="50000"/>
                </a:schemeClr>
              </a:solidFill>
            </a:endParaRPr>
          </a:p>
        </p:txBody>
      </p:sp>
      <p:cxnSp>
        <p:nvCxnSpPr>
          <p:cNvPr id="70" name="Łącznik prosty ze strzałką 50">
            <a:extLst>
              <a:ext uri="{FF2B5EF4-FFF2-40B4-BE49-F238E27FC236}">
                <a16:creationId xmlns:a16="http://schemas.microsoft.com/office/drawing/2014/main" id="{5696A724-B42C-D4C1-4A5C-9DB1586F60E3}"/>
              </a:ext>
            </a:extLst>
          </p:cNvPr>
          <p:cNvCxnSpPr>
            <a:cxnSpLocks/>
          </p:cNvCxnSpPr>
          <p:nvPr/>
        </p:nvCxnSpPr>
        <p:spPr>
          <a:xfrm>
            <a:off x="3036795" y="3589837"/>
            <a:ext cx="706154"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nvGrpSpPr>
          <p:cNvPr id="75" name="Grupa 47">
            <a:extLst>
              <a:ext uri="{FF2B5EF4-FFF2-40B4-BE49-F238E27FC236}">
                <a16:creationId xmlns:a16="http://schemas.microsoft.com/office/drawing/2014/main" id="{20701739-C68E-CC28-E5E9-02EBCAED70D5}"/>
              </a:ext>
            </a:extLst>
          </p:cNvPr>
          <p:cNvGrpSpPr>
            <a:grpSpLocks/>
          </p:cNvGrpSpPr>
          <p:nvPr/>
        </p:nvGrpSpPr>
        <p:grpSpPr bwMode="auto">
          <a:xfrm>
            <a:off x="3667036" y="1839985"/>
            <a:ext cx="2248011" cy="1576001"/>
            <a:chOff x="6261924" y="596949"/>
            <a:chExt cx="1945734" cy="2209579"/>
          </a:xfrm>
        </p:grpSpPr>
        <p:sp>
          <p:nvSpPr>
            <p:cNvPr id="76" name="Prostokąt 75">
              <a:extLst>
                <a:ext uri="{FF2B5EF4-FFF2-40B4-BE49-F238E27FC236}">
                  <a16:creationId xmlns:a16="http://schemas.microsoft.com/office/drawing/2014/main" id="{1DF10A02-509D-376A-BF24-194F9102EE5C}"/>
                </a:ext>
              </a:extLst>
            </p:cNvPr>
            <p:cNvSpPr/>
            <p:nvPr/>
          </p:nvSpPr>
          <p:spPr>
            <a:xfrm>
              <a:off x="7874997" y="2461322"/>
              <a:ext cx="281931" cy="345206"/>
            </a:xfrm>
            <a:prstGeom prst="rect">
              <a:avLst/>
            </a:prstGeom>
          </p:spPr>
          <p:txBody>
            <a:bodyPr wrap="none">
              <a:spAutoFit/>
            </a:bodyPr>
            <a:lstStyle/>
            <a:p>
              <a:pPr>
                <a:defRPr/>
              </a:pPr>
              <a:r>
                <a:rPr lang="pl-PL" sz="1000" b="1" dirty="0">
                  <a:solidFill>
                    <a:schemeClr val="accent1">
                      <a:lumMod val="50000"/>
                    </a:schemeClr>
                  </a:solidFill>
                  <a:latin typeface="Arial" pitchFamily="34" charset="0"/>
                  <a:cs typeface="Arial" pitchFamily="34" charset="0"/>
                </a:rPr>
                <a:t>x1</a:t>
              </a:r>
              <a:endParaRPr lang="pl-PL" sz="1000" dirty="0">
                <a:latin typeface="Arial" pitchFamily="34" charset="0"/>
                <a:cs typeface="Arial" pitchFamily="34" charset="0"/>
              </a:endParaRPr>
            </a:p>
          </p:txBody>
        </p:sp>
        <p:grpSp>
          <p:nvGrpSpPr>
            <p:cNvPr id="77" name="Grupa 46">
              <a:extLst>
                <a:ext uri="{FF2B5EF4-FFF2-40B4-BE49-F238E27FC236}">
                  <a16:creationId xmlns:a16="http://schemas.microsoft.com/office/drawing/2014/main" id="{A2AFD376-50EA-7C00-4F17-8368467EF961}"/>
                </a:ext>
              </a:extLst>
            </p:cNvPr>
            <p:cNvGrpSpPr>
              <a:grpSpLocks/>
            </p:cNvGrpSpPr>
            <p:nvPr/>
          </p:nvGrpSpPr>
          <p:grpSpPr bwMode="auto">
            <a:xfrm>
              <a:off x="6261924" y="596949"/>
              <a:ext cx="1945734" cy="2209578"/>
              <a:chOff x="6261924" y="596949"/>
              <a:chExt cx="1945734" cy="2209578"/>
            </a:xfrm>
          </p:grpSpPr>
          <p:grpSp>
            <p:nvGrpSpPr>
              <p:cNvPr id="78" name="Grupa 15">
                <a:extLst>
                  <a:ext uri="{FF2B5EF4-FFF2-40B4-BE49-F238E27FC236}">
                    <a16:creationId xmlns:a16="http://schemas.microsoft.com/office/drawing/2014/main" id="{2C877891-ACB5-4423-03F8-CA0D2D2428FE}"/>
                  </a:ext>
                </a:extLst>
              </p:cNvPr>
              <p:cNvGrpSpPr>
                <a:grpSpLocks/>
              </p:cNvGrpSpPr>
              <p:nvPr/>
            </p:nvGrpSpPr>
            <p:grpSpPr bwMode="auto">
              <a:xfrm>
                <a:off x="6479665" y="616586"/>
                <a:ext cx="1727993" cy="2189941"/>
                <a:chOff x="4486537" y="250360"/>
                <a:chExt cx="1865594" cy="3408607"/>
              </a:xfrm>
            </p:grpSpPr>
            <p:sp>
              <p:nvSpPr>
                <p:cNvPr id="83" name="Line 5">
                  <a:extLst>
                    <a:ext uri="{FF2B5EF4-FFF2-40B4-BE49-F238E27FC236}">
                      <a16:creationId xmlns:a16="http://schemas.microsoft.com/office/drawing/2014/main" id="{40D05BD2-7D2C-5D13-7B58-CA28188156D7}"/>
                    </a:ext>
                  </a:extLst>
                </p:cNvPr>
                <p:cNvSpPr>
                  <a:spLocks noChangeShapeType="1"/>
                </p:cNvSpPr>
                <p:nvPr/>
              </p:nvSpPr>
              <p:spPr bwMode="auto">
                <a:xfrm>
                  <a:off x="4486537" y="3068617"/>
                  <a:ext cx="1865594" cy="2"/>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1000">
                    <a:latin typeface="Arial" pitchFamily="34" charset="0"/>
                    <a:cs typeface="Arial" pitchFamily="34" charset="0"/>
                  </a:endParaRPr>
                </a:p>
              </p:txBody>
            </p:sp>
            <p:sp>
              <p:nvSpPr>
                <p:cNvPr id="84" name="Line 4">
                  <a:extLst>
                    <a:ext uri="{FF2B5EF4-FFF2-40B4-BE49-F238E27FC236}">
                      <a16:creationId xmlns:a16="http://schemas.microsoft.com/office/drawing/2014/main" id="{3A28EFA0-3E93-1E04-FEA5-AB6692F07053}"/>
                    </a:ext>
                  </a:extLst>
                </p:cNvPr>
                <p:cNvSpPr>
                  <a:spLocks noChangeShapeType="1"/>
                </p:cNvSpPr>
                <p:nvPr/>
              </p:nvSpPr>
              <p:spPr bwMode="auto">
                <a:xfrm flipH="1" flipV="1">
                  <a:off x="4645231" y="250360"/>
                  <a:ext cx="5934" cy="3408607"/>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1000">
                    <a:latin typeface="Arial" pitchFamily="34" charset="0"/>
                    <a:cs typeface="Arial" pitchFamily="34" charset="0"/>
                  </a:endParaRPr>
                </a:p>
              </p:txBody>
            </p:sp>
          </p:grpSp>
          <p:sp>
            <p:nvSpPr>
              <p:cNvPr id="79" name="Prostokąt 78">
                <a:extLst>
                  <a:ext uri="{FF2B5EF4-FFF2-40B4-BE49-F238E27FC236}">
                    <a16:creationId xmlns:a16="http://schemas.microsoft.com/office/drawing/2014/main" id="{C2CCCD9B-AD59-DCDC-A5D3-4B01E91AAE35}"/>
                  </a:ext>
                </a:extLst>
              </p:cNvPr>
              <p:cNvSpPr/>
              <p:nvPr/>
            </p:nvSpPr>
            <p:spPr>
              <a:xfrm>
                <a:off x="6261924" y="596949"/>
                <a:ext cx="332830" cy="247029"/>
              </a:xfrm>
              <a:prstGeom prst="rect">
                <a:avLst/>
              </a:prstGeom>
            </p:spPr>
            <p:txBody>
              <a:bodyPr wrap="none">
                <a:spAutoFit/>
              </a:bodyPr>
              <a:lstStyle/>
              <a:p>
                <a:pPr>
                  <a:defRPr/>
                </a:pPr>
                <a:r>
                  <a:rPr lang="pl-PL" sz="1000" b="1" dirty="0">
                    <a:solidFill>
                      <a:schemeClr val="accent1">
                        <a:lumMod val="50000"/>
                      </a:schemeClr>
                    </a:solidFill>
                    <a:latin typeface="Arial" pitchFamily="34" charset="0"/>
                    <a:cs typeface="Arial" pitchFamily="34" charset="0"/>
                  </a:rPr>
                  <a:t>p1</a:t>
                </a:r>
                <a:endParaRPr lang="pl-PL" sz="1000" dirty="0">
                  <a:latin typeface="Arial" pitchFamily="34" charset="0"/>
                  <a:cs typeface="Arial" pitchFamily="34" charset="0"/>
                </a:endParaRPr>
              </a:p>
            </p:txBody>
          </p:sp>
        </p:grpSp>
      </p:grpSp>
      <p:grpSp>
        <p:nvGrpSpPr>
          <p:cNvPr id="102" name="Grupa 47">
            <a:extLst>
              <a:ext uri="{FF2B5EF4-FFF2-40B4-BE49-F238E27FC236}">
                <a16:creationId xmlns:a16="http://schemas.microsoft.com/office/drawing/2014/main" id="{2FE12998-AC2B-19A8-F479-DEA1F17A9B75}"/>
              </a:ext>
            </a:extLst>
          </p:cNvPr>
          <p:cNvGrpSpPr>
            <a:grpSpLocks/>
          </p:cNvGrpSpPr>
          <p:nvPr/>
        </p:nvGrpSpPr>
        <p:grpSpPr bwMode="auto">
          <a:xfrm>
            <a:off x="3742949" y="4071241"/>
            <a:ext cx="2248011" cy="1576001"/>
            <a:chOff x="6261924" y="596949"/>
            <a:chExt cx="1945734" cy="2209579"/>
          </a:xfrm>
        </p:grpSpPr>
        <p:sp>
          <p:nvSpPr>
            <p:cNvPr id="103" name="Prostokąt 75">
              <a:extLst>
                <a:ext uri="{FF2B5EF4-FFF2-40B4-BE49-F238E27FC236}">
                  <a16:creationId xmlns:a16="http://schemas.microsoft.com/office/drawing/2014/main" id="{17B4C541-5683-A48C-3465-E808DF12DFE5}"/>
                </a:ext>
              </a:extLst>
            </p:cNvPr>
            <p:cNvSpPr/>
            <p:nvPr/>
          </p:nvSpPr>
          <p:spPr>
            <a:xfrm>
              <a:off x="7874997" y="2461322"/>
              <a:ext cx="281931" cy="345206"/>
            </a:xfrm>
            <a:prstGeom prst="rect">
              <a:avLst/>
            </a:prstGeom>
          </p:spPr>
          <p:txBody>
            <a:bodyPr wrap="none">
              <a:spAutoFit/>
            </a:bodyPr>
            <a:lstStyle/>
            <a:p>
              <a:pPr>
                <a:defRPr/>
              </a:pPr>
              <a:r>
                <a:rPr lang="pl-PL" sz="1000" b="1" dirty="0">
                  <a:solidFill>
                    <a:schemeClr val="accent1">
                      <a:lumMod val="50000"/>
                    </a:schemeClr>
                  </a:solidFill>
                  <a:latin typeface="Arial" pitchFamily="34" charset="0"/>
                  <a:cs typeface="Arial" pitchFamily="34" charset="0"/>
                </a:rPr>
                <a:t>x1</a:t>
              </a:r>
              <a:endParaRPr lang="pl-PL" sz="1000" dirty="0">
                <a:latin typeface="Arial" pitchFamily="34" charset="0"/>
                <a:cs typeface="Arial" pitchFamily="34" charset="0"/>
              </a:endParaRPr>
            </a:p>
          </p:txBody>
        </p:sp>
        <p:grpSp>
          <p:nvGrpSpPr>
            <p:cNvPr id="104" name="Grupa 46">
              <a:extLst>
                <a:ext uri="{FF2B5EF4-FFF2-40B4-BE49-F238E27FC236}">
                  <a16:creationId xmlns:a16="http://schemas.microsoft.com/office/drawing/2014/main" id="{28CF72C8-96AC-BD92-372B-B74B9E825294}"/>
                </a:ext>
              </a:extLst>
            </p:cNvPr>
            <p:cNvGrpSpPr>
              <a:grpSpLocks/>
            </p:cNvGrpSpPr>
            <p:nvPr/>
          </p:nvGrpSpPr>
          <p:grpSpPr bwMode="auto">
            <a:xfrm>
              <a:off x="6261924" y="596949"/>
              <a:ext cx="1945734" cy="2209578"/>
              <a:chOff x="6261924" y="596949"/>
              <a:chExt cx="1945734" cy="2209578"/>
            </a:xfrm>
          </p:grpSpPr>
          <p:grpSp>
            <p:nvGrpSpPr>
              <p:cNvPr id="105" name="Grupa 15">
                <a:extLst>
                  <a:ext uri="{FF2B5EF4-FFF2-40B4-BE49-F238E27FC236}">
                    <a16:creationId xmlns:a16="http://schemas.microsoft.com/office/drawing/2014/main" id="{CE40946A-04EC-6735-E575-E63C8AE60337}"/>
                  </a:ext>
                </a:extLst>
              </p:cNvPr>
              <p:cNvGrpSpPr>
                <a:grpSpLocks/>
              </p:cNvGrpSpPr>
              <p:nvPr/>
            </p:nvGrpSpPr>
            <p:grpSpPr bwMode="auto">
              <a:xfrm>
                <a:off x="6479665" y="616586"/>
                <a:ext cx="1727993" cy="2189941"/>
                <a:chOff x="4486537" y="250360"/>
                <a:chExt cx="1865594" cy="3408607"/>
              </a:xfrm>
            </p:grpSpPr>
            <p:sp>
              <p:nvSpPr>
                <p:cNvPr id="107" name="Line 5">
                  <a:extLst>
                    <a:ext uri="{FF2B5EF4-FFF2-40B4-BE49-F238E27FC236}">
                      <a16:creationId xmlns:a16="http://schemas.microsoft.com/office/drawing/2014/main" id="{D91B9038-7A51-B709-4BED-8D9A650C10DD}"/>
                    </a:ext>
                  </a:extLst>
                </p:cNvPr>
                <p:cNvSpPr>
                  <a:spLocks noChangeShapeType="1"/>
                </p:cNvSpPr>
                <p:nvPr/>
              </p:nvSpPr>
              <p:spPr bwMode="auto">
                <a:xfrm>
                  <a:off x="4486537" y="3068617"/>
                  <a:ext cx="1865594" cy="2"/>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1000">
                    <a:latin typeface="Arial" pitchFamily="34" charset="0"/>
                    <a:cs typeface="Arial" pitchFamily="34" charset="0"/>
                  </a:endParaRPr>
                </a:p>
              </p:txBody>
            </p:sp>
            <p:sp>
              <p:nvSpPr>
                <p:cNvPr id="108" name="Line 4">
                  <a:extLst>
                    <a:ext uri="{FF2B5EF4-FFF2-40B4-BE49-F238E27FC236}">
                      <a16:creationId xmlns:a16="http://schemas.microsoft.com/office/drawing/2014/main" id="{A9E6F71C-FEC4-40E1-0E1E-D5D5DE88CA69}"/>
                    </a:ext>
                  </a:extLst>
                </p:cNvPr>
                <p:cNvSpPr>
                  <a:spLocks noChangeShapeType="1"/>
                </p:cNvSpPr>
                <p:nvPr/>
              </p:nvSpPr>
              <p:spPr bwMode="auto">
                <a:xfrm flipH="1" flipV="1">
                  <a:off x="4645231" y="250360"/>
                  <a:ext cx="5934" cy="3408607"/>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1000">
                    <a:latin typeface="Arial" pitchFamily="34" charset="0"/>
                    <a:cs typeface="Arial" pitchFamily="34" charset="0"/>
                  </a:endParaRPr>
                </a:p>
              </p:txBody>
            </p:sp>
          </p:grpSp>
          <p:sp>
            <p:nvSpPr>
              <p:cNvPr id="106" name="Prostokąt 78">
                <a:extLst>
                  <a:ext uri="{FF2B5EF4-FFF2-40B4-BE49-F238E27FC236}">
                    <a16:creationId xmlns:a16="http://schemas.microsoft.com/office/drawing/2014/main" id="{1C6DE76D-058A-4358-A702-ED1CE3E631CC}"/>
                  </a:ext>
                </a:extLst>
              </p:cNvPr>
              <p:cNvSpPr/>
              <p:nvPr/>
            </p:nvSpPr>
            <p:spPr>
              <a:xfrm>
                <a:off x="6261924" y="596949"/>
                <a:ext cx="332830" cy="247029"/>
              </a:xfrm>
              <a:prstGeom prst="rect">
                <a:avLst/>
              </a:prstGeom>
            </p:spPr>
            <p:txBody>
              <a:bodyPr wrap="none">
                <a:spAutoFit/>
              </a:bodyPr>
              <a:lstStyle/>
              <a:p>
                <a:pPr>
                  <a:defRPr/>
                </a:pPr>
                <a:r>
                  <a:rPr lang="pl-PL" sz="1000" b="1" dirty="0">
                    <a:solidFill>
                      <a:schemeClr val="accent1">
                        <a:lumMod val="50000"/>
                      </a:schemeClr>
                    </a:solidFill>
                    <a:latin typeface="Arial" pitchFamily="34" charset="0"/>
                    <a:cs typeface="Arial" pitchFamily="34" charset="0"/>
                  </a:rPr>
                  <a:t>p1</a:t>
                </a:r>
                <a:endParaRPr lang="pl-PL" sz="1000" dirty="0">
                  <a:latin typeface="Arial" pitchFamily="34" charset="0"/>
                  <a:cs typeface="Arial" pitchFamily="34" charset="0"/>
                </a:endParaRPr>
              </a:p>
            </p:txBody>
          </p:sp>
        </p:grpSp>
      </p:grpSp>
      <p:grpSp>
        <p:nvGrpSpPr>
          <p:cNvPr id="111" name="Grupa 88">
            <a:extLst>
              <a:ext uri="{FF2B5EF4-FFF2-40B4-BE49-F238E27FC236}">
                <a16:creationId xmlns:a16="http://schemas.microsoft.com/office/drawing/2014/main" id="{4705AD6E-72E1-8717-DCDE-46D4B3C5CD0E}"/>
              </a:ext>
            </a:extLst>
          </p:cNvPr>
          <p:cNvGrpSpPr>
            <a:grpSpLocks/>
          </p:cNvGrpSpPr>
          <p:nvPr/>
        </p:nvGrpSpPr>
        <p:grpSpPr bwMode="auto">
          <a:xfrm>
            <a:off x="395431" y="1946811"/>
            <a:ext cx="2248011" cy="1643027"/>
            <a:chOff x="2745941" y="4135443"/>
            <a:chExt cx="1945734" cy="2302851"/>
          </a:xfrm>
        </p:grpSpPr>
        <p:cxnSp>
          <p:nvCxnSpPr>
            <p:cNvPr id="112" name="Łącznik prosty 85">
              <a:extLst>
                <a:ext uri="{FF2B5EF4-FFF2-40B4-BE49-F238E27FC236}">
                  <a16:creationId xmlns:a16="http://schemas.microsoft.com/office/drawing/2014/main" id="{D2E88B0E-FB2A-1BB8-FFEA-A48BC050E0EA}"/>
                </a:ext>
              </a:extLst>
            </p:cNvPr>
            <p:cNvCxnSpPr>
              <a:cxnSpLocks/>
            </p:cNvCxnSpPr>
            <p:nvPr/>
          </p:nvCxnSpPr>
          <p:spPr>
            <a:xfrm flipV="1">
              <a:off x="3857414" y="4135443"/>
              <a:ext cx="0" cy="1997038"/>
            </a:xfrm>
            <a:prstGeom prst="line">
              <a:avLst/>
            </a:prstGeom>
          </p:spPr>
          <p:style>
            <a:lnRef idx="3">
              <a:schemeClr val="accent3"/>
            </a:lnRef>
            <a:fillRef idx="0">
              <a:schemeClr val="accent3"/>
            </a:fillRef>
            <a:effectRef idx="2">
              <a:schemeClr val="accent3"/>
            </a:effectRef>
            <a:fontRef idx="minor">
              <a:schemeClr val="tx1"/>
            </a:fontRef>
          </p:style>
        </p:cxnSp>
        <p:grpSp>
          <p:nvGrpSpPr>
            <p:cNvPr id="113" name="Grupa 47">
              <a:extLst>
                <a:ext uri="{FF2B5EF4-FFF2-40B4-BE49-F238E27FC236}">
                  <a16:creationId xmlns:a16="http://schemas.microsoft.com/office/drawing/2014/main" id="{D12C62BD-037B-B10B-DA06-F4ACBCFD0870}"/>
                </a:ext>
              </a:extLst>
            </p:cNvPr>
            <p:cNvGrpSpPr>
              <a:grpSpLocks/>
            </p:cNvGrpSpPr>
            <p:nvPr/>
          </p:nvGrpSpPr>
          <p:grpSpPr bwMode="auto">
            <a:xfrm>
              <a:off x="2745941" y="4229386"/>
              <a:ext cx="1945734" cy="2208908"/>
              <a:chOff x="6261924" y="596949"/>
              <a:chExt cx="1945734" cy="2209579"/>
            </a:xfrm>
          </p:grpSpPr>
          <p:sp>
            <p:nvSpPr>
              <p:cNvPr id="114" name="Prostokąt 75">
                <a:extLst>
                  <a:ext uri="{FF2B5EF4-FFF2-40B4-BE49-F238E27FC236}">
                    <a16:creationId xmlns:a16="http://schemas.microsoft.com/office/drawing/2014/main" id="{C78A525B-9876-AF4E-8E8D-53C93A4040EF}"/>
                  </a:ext>
                </a:extLst>
              </p:cNvPr>
              <p:cNvSpPr/>
              <p:nvPr/>
            </p:nvSpPr>
            <p:spPr>
              <a:xfrm>
                <a:off x="7874997" y="2461322"/>
                <a:ext cx="281931" cy="345206"/>
              </a:xfrm>
              <a:prstGeom prst="rect">
                <a:avLst/>
              </a:prstGeom>
            </p:spPr>
            <p:txBody>
              <a:bodyPr wrap="none">
                <a:spAutoFit/>
              </a:bodyPr>
              <a:lstStyle/>
              <a:p>
                <a:pPr>
                  <a:defRPr/>
                </a:pPr>
                <a:r>
                  <a:rPr lang="pl-PL" sz="1000" b="1" dirty="0">
                    <a:solidFill>
                      <a:schemeClr val="accent1">
                        <a:lumMod val="50000"/>
                      </a:schemeClr>
                    </a:solidFill>
                    <a:latin typeface="Arial" pitchFamily="34" charset="0"/>
                    <a:cs typeface="Arial" pitchFamily="34" charset="0"/>
                  </a:rPr>
                  <a:t>x1</a:t>
                </a:r>
                <a:endParaRPr lang="pl-PL" sz="1000" dirty="0">
                  <a:latin typeface="Arial" pitchFamily="34" charset="0"/>
                  <a:cs typeface="Arial" pitchFamily="34" charset="0"/>
                </a:endParaRPr>
              </a:p>
            </p:txBody>
          </p:sp>
          <p:grpSp>
            <p:nvGrpSpPr>
              <p:cNvPr id="115" name="Grupa 46">
                <a:extLst>
                  <a:ext uri="{FF2B5EF4-FFF2-40B4-BE49-F238E27FC236}">
                    <a16:creationId xmlns:a16="http://schemas.microsoft.com/office/drawing/2014/main" id="{D681DF03-B9DD-84AA-87A9-C191595BAC33}"/>
                  </a:ext>
                </a:extLst>
              </p:cNvPr>
              <p:cNvGrpSpPr>
                <a:grpSpLocks/>
              </p:cNvGrpSpPr>
              <p:nvPr/>
            </p:nvGrpSpPr>
            <p:grpSpPr bwMode="auto">
              <a:xfrm>
                <a:off x="6261924" y="596949"/>
                <a:ext cx="1945734" cy="2209578"/>
                <a:chOff x="6261924" y="596949"/>
                <a:chExt cx="1945734" cy="2209578"/>
              </a:xfrm>
            </p:grpSpPr>
            <p:grpSp>
              <p:nvGrpSpPr>
                <p:cNvPr id="116" name="Grupa 15">
                  <a:extLst>
                    <a:ext uri="{FF2B5EF4-FFF2-40B4-BE49-F238E27FC236}">
                      <a16:creationId xmlns:a16="http://schemas.microsoft.com/office/drawing/2014/main" id="{C1BDCA49-F589-6921-09AB-7784E390D2CE}"/>
                    </a:ext>
                  </a:extLst>
                </p:cNvPr>
                <p:cNvGrpSpPr>
                  <a:grpSpLocks/>
                </p:cNvGrpSpPr>
                <p:nvPr/>
              </p:nvGrpSpPr>
              <p:grpSpPr bwMode="auto">
                <a:xfrm>
                  <a:off x="6479665" y="616586"/>
                  <a:ext cx="1727993" cy="2189941"/>
                  <a:chOff x="4486537" y="250360"/>
                  <a:chExt cx="1865594" cy="3408607"/>
                </a:xfrm>
              </p:grpSpPr>
              <p:sp>
                <p:nvSpPr>
                  <p:cNvPr id="118" name="Line 5">
                    <a:extLst>
                      <a:ext uri="{FF2B5EF4-FFF2-40B4-BE49-F238E27FC236}">
                        <a16:creationId xmlns:a16="http://schemas.microsoft.com/office/drawing/2014/main" id="{3E68B74A-7F3C-7429-6639-278E61E6CDAC}"/>
                      </a:ext>
                    </a:extLst>
                  </p:cNvPr>
                  <p:cNvSpPr>
                    <a:spLocks noChangeShapeType="1"/>
                  </p:cNvSpPr>
                  <p:nvPr/>
                </p:nvSpPr>
                <p:spPr bwMode="auto">
                  <a:xfrm>
                    <a:off x="4486537" y="3068617"/>
                    <a:ext cx="1865594" cy="2"/>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1000">
                      <a:latin typeface="Arial" pitchFamily="34" charset="0"/>
                      <a:cs typeface="Arial" pitchFamily="34" charset="0"/>
                    </a:endParaRPr>
                  </a:p>
                </p:txBody>
              </p:sp>
              <p:sp>
                <p:nvSpPr>
                  <p:cNvPr id="119" name="Line 4">
                    <a:extLst>
                      <a:ext uri="{FF2B5EF4-FFF2-40B4-BE49-F238E27FC236}">
                        <a16:creationId xmlns:a16="http://schemas.microsoft.com/office/drawing/2014/main" id="{A86810C2-EFD9-308B-D71E-67D549FED270}"/>
                      </a:ext>
                    </a:extLst>
                  </p:cNvPr>
                  <p:cNvSpPr>
                    <a:spLocks noChangeShapeType="1"/>
                  </p:cNvSpPr>
                  <p:nvPr/>
                </p:nvSpPr>
                <p:spPr bwMode="auto">
                  <a:xfrm flipH="1" flipV="1">
                    <a:off x="4645231" y="250360"/>
                    <a:ext cx="5934" cy="3408607"/>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1000">
                      <a:latin typeface="Arial" pitchFamily="34" charset="0"/>
                      <a:cs typeface="Arial" pitchFamily="34" charset="0"/>
                    </a:endParaRPr>
                  </a:p>
                </p:txBody>
              </p:sp>
            </p:grpSp>
            <p:sp>
              <p:nvSpPr>
                <p:cNvPr id="117" name="Prostokąt 78">
                  <a:extLst>
                    <a:ext uri="{FF2B5EF4-FFF2-40B4-BE49-F238E27FC236}">
                      <a16:creationId xmlns:a16="http://schemas.microsoft.com/office/drawing/2014/main" id="{944F2E93-EE1F-6F0E-BA5F-0526FAFE8158}"/>
                    </a:ext>
                  </a:extLst>
                </p:cNvPr>
                <p:cNvSpPr/>
                <p:nvPr/>
              </p:nvSpPr>
              <p:spPr>
                <a:xfrm>
                  <a:off x="6261924" y="596949"/>
                  <a:ext cx="332830" cy="247029"/>
                </a:xfrm>
                <a:prstGeom prst="rect">
                  <a:avLst/>
                </a:prstGeom>
              </p:spPr>
              <p:txBody>
                <a:bodyPr wrap="none">
                  <a:spAutoFit/>
                </a:bodyPr>
                <a:lstStyle/>
                <a:p>
                  <a:pPr>
                    <a:defRPr/>
                  </a:pPr>
                  <a:r>
                    <a:rPr lang="pl-PL" sz="1000" b="1" dirty="0">
                      <a:solidFill>
                        <a:schemeClr val="accent1">
                          <a:lumMod val="50000"/>
                        </a:schemeClr>
                      </a:solidFill>
                      <a:latin typeface="Arial" pitchFamily="34" charset="0"/>
                      <a:cs typeface="Arial" pitchFamily="34" charset="0"/>
                    </a:rPr>
                    <a:t>p1</a:t>
                  </a:r>
                  <a:endParaRPr lang="pl-PL" sz="1000" dirty="0">
                    <a:latin typeface="Arial" pitchFamily="34" charset="0"/>
                    <a:cs typeface="Arial" pitchFamily="34" charset="0"/>
                  </a:endParaRPr>
                </a:p>
              </p:txBody>
            </p:sp>
          </p:grpSp>
        </p:grpSp>
      </p:grpSp>
      <p:grpSp>
        <p:nvGrpSpPr>
          <p:cNvPr id="124" name="Grupa 88">
            <a:extLst>
              <a:ext uri="{FF2B5EF4-FFF2-40B4-BE49-F238E27FC236}">
                <a16:creationId xmlns:a16="http://schemas.microsoft.com/office/drawing/2014/main" id="{D08F80F2-1537-2F1E-F798-235B26F47900}"/>
              </a:ext>
            </a:extLst>
          </p:cNvPr>
          <p:cNvGrpSpPr>
            <a:grpSpLocks/>
          </p:cNvGrpSpPr>
          <p:nvPr/>
        </p:nvGrpSpPr>
        <p:grpSpPr bwMode="auto">
          <a:xfrm>
            <a:off x="395431" y="4136400"/>
            <a:ext cx="2248011" cy="1576001"/>
            <a:chOff x="2745941" y="4229386"/>
            <a:chExt cx="1945734" cy="2208908"/>
          </a:xfrm>
        </p:grpSpPr>
        <p:cxnSp>
          <p:nvCxnSpPr>
            <p:cNvPr id="125" name="Łącznik prosty 85">
              <a:extLst>
                <a:ext uri="{FF2B5EF4-FFF2-40B4-BE49-F238E27FC236}">
                  <a16:creationId xmlns:a16="http://schemas.microsoft.com/office/drawing/2014/main" id="{DC922CCE-F5BA-FC35-2B64-9FDB18E181F9}"/>
                </a:ext>
              </a:extLst>
            </p:cNvPr>
            <p:cNvCxnSpPr>
              <a:cxnSpLocks/>
            </p:cNvCxnSpPr>
            <p:nvPr/>
          </p:nvCxnSpPr>
          <p:spPr>
            <a:xfrm>
              <a:off x="3038662" y="5343655"/>
              <a:ext cx="1412071" cy="17961"/>
            </a:xfrm>
            <a:prstGeom prst="line">
              <a:avLst/>
            </a:prstGeom>
          </p:spPr>
          <p:style>
            <a:lnRef idx="3">
              <a:schemeClr val="accent3"/>
            </a:lnRef>
            <a:fillRef idx="0">
              <a:schemeClr val="accent3"/>
            </a:fillRef>
            <a:effectRef idx="2">
              <a:schemeClr val="accent3"/>
            </a:effectRef>
            <a:fontRef idx="minor">
              <a:schemeClr val="tx1"/>
            </a:fontRef>
          </p:style>
        </p:cxnSp>
        <p:grpSp>
          <p:nvGrpSpPr>
            <p:cNvPr id="126" name="Grupa 47">
              <a:extLst>
                <a:ext uri="{FF2B5EF4-FFF2-40B4-BE49-F238E27FC236}">
                  <a16:creationId xmlns:a16="http://schemas.microsoft.com/office/drawing/2014/main" id="{62BC7E85-FC09-5113-4B52-74952E2883D2}"/>
                </a:ext>
              </a:extLst>
            </p:cNvPr>
            <p:cNvGrpSpPr>
              <a:grpSpLocks/>
            </p:cNvGrpSpPr>
            <p:nvPr/>
          </p:nvGrpSpPr>
          <p:grpSpPr bwMode="auto">
            <a:xfrm>
              <a:off x="2745941" y="4229386"/>
              <a:ext cx="1945734" cy="2208908"/>
              <a:chOff x="6261924" y="596949"/>
              <a:chExt cx="1945734" cy="2209579"/>
            </a:xfrm>
          </p:grpSpPr>
          <p:sp>
            <p:nvSpPr>
              <p:cNvPr id="127" name="Prostokąt 75">
                <a:extLst>
                  <a:ext uri="{FF2B5EF4-FFF2-40B4-BE49-F238E27FC236}">
                    <a16:creationId xmlns:a16="http://schemas.microsoft.com/office/drawing/2014/main" id="{6B25BA50-FA50-D252-BFF3-59E0B2AC15A9}"/>
                  </a:ext>
                </a:extLst>
              </p:cNvPr>
              <p:cNvSpPr/>
              <p:nvPr/>
            </p:nvSpPr>
            <p:spPr>
              <a:xfrm>
                <a:off x="7874997" y="2461322"/>
                <a:ext cx="281931" cy="345206"/>
              </a:xfrm>
              <a:prstGeom prst="rect">
                <a:avLst/>
              </a:prstGeom>
            </p:spPr>
            <p:txBody>
              <a:bodyPr wrap="none">
                <a:spAutoFit/>
              </a:bodyPr>
              <a:lstStyle/>
              <a:p>
                <a:pPr>
                  <a:defRPr/>
                </a:pPr>
                <a:r>
                  <a:rPr lang="pl-PL" sz="1000" b="1" dirty="0">
                    <a:solidFill>
                      <a:schemeClr val="accent1">
                        <a:lumMod val="50000"/>
                      </a:schemeClr>
                    </a:solidFill>
                    <a:latin typeface="Arial" pitchFamily="34" charset="0"/>
                    <a:cs typeface="Arial" pitchFamily="34" charset="0"/>
                  </a:rPr>
                  <a:t>x1</a:t>
                </a:r>
                <a:endParaRPr lang="pl-PL" sz="1000" dirty="0">
                  <a:latin typeface="Arial" pitchFamily="34" charset="0"/>
                  <a:cs typeface="Arial" pitchFamily="34" charset="0"/>
                </a:endParaRPr>
              </a:p>
            </p:txBody>
          </p:sp>
          <p:grpSp>
            <p:nvGrpSpPr>
              <p:cNvPr id="128" name="Grupa 46">
                <a:extLst>
                  <a:ext uri="{FF2B5EF4-FFF2-40B4-BE49-F238E27FC236}">
                    <a16:creationId xmlns:a16="http://schemas.microsoft.com/office/drawing/2014/main" id="{BD278757-CB98-6FD4-0D63-3DE38FFD6C84}"/>
                  </a:ext>
                </a:extLst>
              </p:cNvPr>
              <p:cNvGrpSpPr>
                <a:grpSpLocks/>
              </p:cNvGrpSpPr>
              <p:nvPr/>
            </p:nvGrpSpPr>
            <p:grpSpPr bwMode="auto">
              <a:xfrm>
                <a:off x="6261924" y="596949"/>
                <a:ext cx="1945734" cy="2209578"/>
                <a:chOff x="6261924" y="596949"/>
                <a:chExt cx="1945734" cy="2209578"/>
              </a:xfrm>
            </p:grpSpPr>
            <p:grpSp>
              <p:nvGrpSpPr>
                <p:cNvPr id="129" name="Grupa 15">
                  <a:extLst>
                    <a:ext uri="{FF2B5EF4-FFF2-40B4-BE49-F238E27FC236}">
                      <a16:creationId xmlns:a16="http://schemas.microsoft.com/office/drawing/2014/main" id="{A66887CB-14A3-8128-C045-D0E4A83CCB90}"/>
                    </a:ext>
                  </a:extLst>
                </p:cNvPr>
                <p:cNvGrpSpPr>
                  <a:grpSpLocks/>
                </p:cNvGrpSpPr>
                <p:nvPr/>
              </p:nvGrpSpPr>
              <p:grpSpPr bwMode="auto">
                <a:xfrm>
                  <a:off x="6479665" y="616586"/>
                  <a:ext cx="1727993" cy="2189941"/>
                  <a:chOff x="4486537" y="250360"/>
                  <a:chExt cx="1865594" cy="3408607"/>
                </a:xfrm>
              </p:grpSpPr>
              <p:sp>
                <p:nvSpPr>
                  <p:cNvPr id="131" name="Line 5">
                    <a:extLst>
                      <a:ext uri="{FF2B5EF4-FFF2-40B4-BE49-F238E27FC236}">
                        <a16:creationId xmlns:a16="http://schemas.microsoft.com/office/drawing/2014/main" id="{0BE32D8B-0E04-CDDE-25BF-1A8C033DE6F8}"/>
                      </a:ext>
                    </a:extLst>
                  </p:cNvPr>
                  <p:cNvSpPr>
                    <a:spLocks noChangeShapeType="1"/>
                  </p:cNvSpPr>
                  <p:nvPr/>
                </p:nvSpPr>
                <p:spPr bwMode="auto">
                  <a:xfrm>
                    <a:off x="4486537" y="3068617"/>
                    <a:ext cx="1865594" cy="2"/>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1000">
                      <a:latin typeface="Arial" pitchFamily="34" charset="0"/>
                      <a:cs typeface="Arial" pitchFamily="34" charset="0"/>
                    </a:endParaRPr>
                  </a:p>
                </p:txBody>
              </p:sp>
              <p:sp>
                <p:nvSpPr>
                  <p:cNvPr id="132" name="Line 4">
                    <a:extLst>
                      <a:ext uri="{FF2B5EF4-FFF2-40B4-BE49-F238E27FC236}">
                        <a16:creationId xmlns:a16="http://schemas.microsoft.com/office/drawing/2014/main" id="{E6076A79-CC76-7F04-EC79-91AC7EE080D5}"/>
                      </a:ext>
                    </a:extLst>
                  </p:cNvPr>
                  <p:cNvSpPr>
                    <a:spLocks noChangeShapeType="1"/>
                  </p:cNvSpPr>
                  <p:nvPr/>
                </p:nvSpPr>
                <p:spPr bwMode="auto">
                  <a:xfrm flipH="1" flipV="1">
                    <a:off x="4645231" y="250360"/>
                    <a:ext cx="5934" cy="3408607"/>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1000">
                      <a:latin typeface="Arial" pitchFamily="34" charset="0"/>
                      <a:cs typeface="Arial" pitchFamily="34" charset="0"/>
                    </a:endParaRPr>
                  </a:p>
                </p:txBody>
              </p:sp>
            </p:grpSp>
            <p:sp>
              <p:nvSpPr>
                <p:cNvPr id="130" name="Prostokąt 78">
                  <a:extLst>
                    <a:ext uri="{FF2B5EF4-FFF2-40B4-BE49-F238E27FC236}">
                      <a16:creationId xmlns:a16="http://schemas.microsoft.com/office/drawing/2014/main" id="{912AD64B-961B-783B-8D00-C228F8D09AF7}"/>
                    </a:ext>
                  </a:extLst>
                </p:cNvPr>
                <p:cNvSpPr/>
                <p:nvPr/>
              </p:nvSpPr>
              <p:spPr>
                <a:xfrm>
                  <a:off x="6261924" y="596949"/>
                  <a:ext cx="332830" cy="247029"/>
                </a:xfrm>
                <a:prstGeom prst="rect">
                  <a:avLst/>
                </a:prstGeom>
              </p:spPr>
              <p:txBody>
                <a:bodyPr wrap="none">
                  <a:spAutoFit/>
                </a:bodyPr>
                <a:lstStyle/>
                <a:p>
                  <a:pPr>
                    <a:defRPr/>
                  </a:pPr>
                  <a:r>
                    <a:rPr lang="pl-PL" sz="1000" b="1" dirty="0">
                      <a:solidFill>
                        <a:schemeClr val="accent1">
                          <a:lumMod val="50000"/>
                        </a:schemeClr>
                      </a:solidFill>
                      <a:latin typeface="Arial" pitchFamily="34" charset="0"/>
                      <a:cs typeface="Arial" pitchFamily="34" charset="0"/>
                    </a:rPr>
                    <a:t>p1</a:t>
                  </a:r>
                  <a:endParaRPr lang="pl-PL" sz="1000" dirty="0">
                    <a:latin typeface="Arial" pitchFamily="34" charset="0"/>
                    <a:cs typeface="Arial" pitchFamily="34" charset="0"/>
                  </a:endParaRPr>
                </a:p>
              </p:txBody>
            </p:sp>
          </p:grpSp>
        </p:grpSp>
      </p:grpSp>
      <p:sp>
        <p:nvSpPr>
          <p:cNvPr id="164" name="Arc 163">
            <a:extLst>
              <a:ext uri="{FF2B5EF4-FFF2-40B4-BE49-F238E27FC236}">
                <a16:creationId xmlns:a16="http://schemas.microsoft.com/office/drawing/2014/main" id="{7CCFCDCB-635D-E234-4012-A9C087543754}"/>
              </a:ext>
            </a:extLst>
          </p:cNvPr>
          <p:cNvSpPr/>
          <p:nvPr/>
        </p:nvSpPr>
        <p:spPr>
          <a:xfrm rot="10800000">
            <a:off x="4319677" y="824687"/>
            <a:ext cx="2273900" cy="2180839"/>
          </a:xfrm>
          <a:prstGeom prst="arc">
            <a:avLst>
              <a:gd name="adj1" fmla="val 16200000"/>
              <a:gd name="adj2" fmla="val 96885"/>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pl-PL"/>
          </a:p>
        </p:txBody>
      </p:sp>
      <p:sp>
        <p:nvSpPr>
          <p:cNvPr id="165" name="Arc 164">
            <a:extLst>
              <a:ext uri="{FF2B5EF4-FFF2-40B4-BE49-F238E27FC236}">
                <a16:creationId xmlns:a16="http://schemas.microsoft.com/office/drawing/2014/main" id="{F67A61E7-5964-A355-EB1C-C02BEF8E3D30}"/>
              </a:ext>
            </a:extLst>
          </p:cNvPr>
          <p:cNvSpPr/>
          <p:nvPr/>
        </p:nvSpPr>
        <p:spPr>
          <a:xfrm rot="10967028">
            <a:off x="3515924" y="2663605"/>
            <a:ext cx="4161659" cy="2180839"/>
          </a:xfrm>
          <a:prstGeom prst="arc">
            <a:avLst>
              <a:gd name="adj1" fmla="val 16200000"/>
              <a:gd name="adj2" fmla="val 19640968"/>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lang="pl-PL"/>
          </a:p>
        </p:txBody>
      </p:sp>
      <p:sp>
        <p:nvSpPr>
          <p:cNvPr id="2" name="Oval 1">
            <a:extLst>
              <a:ext uri="{FF2B5EF4-FFF2-40B4-BE49-F238E27FC236}">
                <a16:creationId xmlns:a16="http://schemas.microsoft.com/office/drawing/2014/main" id="{A43A001E-0D9A-E9FB-3083-21012E136823}"/>
              </a:ext>
            </a:extLst>
          </p:cNvPr>
          <p:cNvSpPr/>
          <p:nvPr/>
        </p:nvSpPr>
        <p:spPr>
          <a:xfrm>
            <a:off x="5222943" y="2922947"/>
            <a:ext cx="116898" cy="1037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 name="Oval 2">
            <a:extLst>
              <a:ext uri="{FF2B5EF4-FFF2-40B4-BE49-F238E27FC236}">
                <a16:creationId xmlns:a16="http://schemas.microsoft.com/office/drawing/2014/main" id="{E235CE00-E708-0A2D-2C85-4CD59EFDB4BA}"/>
              </a:ext>
            </a:extLst>
          </p:cNvPr>
          <p:cNvSpPr/>
          <p:nvPr/>
        </p:nvSpPr>
        <p:spPr>
          <a:xfrm>
            <a:off x="4323861" y="4534548"/>
            <a:ext cx="116898" cy="1037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 name="pole tekstowe 103">
            <a:extLst>
              <a:ext uri="{FF2B5EF4-FFF2-40B4-BE49-F238E27FC236}">
                <a16:creationId xmlns:a16="http://schemas.microsoft.com/office/drawing/2014/main" id="{543C0544-F2B1-08A6-4528-437C7A693205}"/>
              </a:ext>
            </a:extLst>
          </p:cNvPr>
          <p:cNvSpPr txBox="1"/>
          <p:nvPr/>
        </p:nvSpPr>
        <p:spPr>
          <a:xfrm>
            <a:off x="115501" y="1750920"/>
            <a:ext cx="350470" cy="338138"/>
          </a:xfrm>
          <a:prstGeom prst="rect">
            <a:avLst/>
          </a:prstGeom>
          <a:noFill/>
        </p:spPr>
        <p:txBody>
          <a:bodyPr wrap="square">
            <a:spAutoFit/>
          </a:bodyPr>
          <a:lstStyle/>
          <a:p>
            <a:pPr>
              <a:defRPr/>
            </a:pPr>
            <a:r>
              <a:rPr lang="pl-PL" sz="1600" b="1" dirty="0">
                <a:solidFill>
                  <a:schemeClr val="accent5">
                    <a:lumMod val="50000"/>
                  </a:schemeClr>
                </a:solidFill>
              </a:rPr>
              <a:t>A</a:t>
            </a:r>
          </a:p>
        </p:txBody>
      </p:sp>
      <p:sp>
        <p:nvSpPr>
          <p:cNvPr id="6" name="pole tekstowe 103">
            <a:extLst>
              <a:ext uri="{FF2B5EF4-FFF2-40B4-BE49-F238E27FC236}">
                <a16:creationId xmlns:a16="http://schemas.microsoft.com/office/drawing/2014/main" id="{7429279D-FB86-8AE5-F406-4971832055B8}"/>
              </a:ext>
            </a:extLst>
          </p:cNvPr>
          <p:cNvSpPr txBox="1"/>
          <p:nvPr/>
        </p:nvSpPr>
        <p:spPr>
          <a:xfrm>
            <a:off x="195059" y="3839459"/>
            <a:ext cx="350470" cy="338138"/>
          </a:xfrm>
          <a:prstGeom prst="rect">
            <a:avLst/>
          </a:prstGeom>
          <a:noFill/>
        </p:spPr>
        <p:txBody>
          <a:bodyPr wrap="square">
            <a:spAutoFit/>
          </a:bodyPr>
          <a:lstStyle/>
          <a:p>
            <a:pPr>
              <a:defRPr/>
            </a:pPr>
            <a:r>
              <a:rPr lang="pl-PL" sz="1600" b="1" dirty="0">
                <a:solidFill>
                  <a:schemeClr val="accent5">
                    <a:lumMod val="50000"/>
                  </a:schemeClr>
                </a:solidFill>
              </a:rPr>
              <a:t>B</a:t>
            </a:r>
          </a:p>
        </p:txBody>
      </p:sp>
      <p:sp>
        <p:nvSpPr>
          <p:cNvPr id="7" name="Prostokąt 19">
            <a:extLst>
              <a:ext uri="{FF2B5EF4-FFF2-40B4-BE49-F238E27FC236}">
                <a16:creationId xmlns:a16="http://schemas.microsoft.com/office/drawing/2014/main" id="{9FB0AA99-20E3-BC15-9BC5-9EC2DBC97A95}"/>
              </a:ext>
            </a:extLst>
          </p:cNvPr>
          <p:cNvSpPr/>
          <p:nvPr/>
        </p:nvSpPr>
        <p:spPr>
          <a:xfrm>
            <a:off x="6289290" y="1313318"/>
            <a:ext cx="5754030" cy="5078313"/>
          </a:xfrm>
          <a:prstGeom prst="rect">
            <a:avLst/>
          </a:prstGeom>
        </p:spPr>
        <p:txBody>
          <a:bodyPr wrap="square">
            <a:spAutoFit/>
          </a:bodyPr>
          <a:lstStyle/>
          <a:p>
            <a:pPr algn="just">
              <a:defRPr/>
            </a:pPr>
            <a:r>
              <a:rPr lang="en-US" dirty="0">
                <a:solidFill>
                  <a:schemeClr val="accent5">
                    <a:lumMod val="50000"/>
                  </a:schemeClr>
                </a:solidFill>
              </a:rPr>
              <a:t>To understand the basic characteristic of demand sensitivity to price changes (price elasticity), we need to start with the extremes. Demand A is </a:t>
            </a:r>
            <a:r>
              <a:rPr lang="en-US" b="1" dirty="0">
                <a:solidFill>
                  <a:schemeClr val="accent5">
                    <a:lumMod val="50000"/>
                  </a:schemeClr>
                </a:solidFill>
              </a:rPr>
              <a:t>perfectly inelastic</a:t>
            </a:r>
            <a:r>
              <a:rPr lang="en-US" dirty="0">
                <a:solidFill>
                  <a:schemeClr val="accent5">
                    <a:lumMod val="50000"/>
                  </a:schemeClr>
                </a:solidFill>
              </a:rPr>
              <a:t>, meaning price has no effect on the quantity purchased [e.g., medicines to some extent]. Demand B is completely price-dependent and is </a:t>
            </a:r>
            <a:r>
              <a:rPr lang="en-US" b="1" dirty="0">
                <a:solidFill>
                  <a:schemeClr val="accent5">
                    <a:lumMod val="50000"/>
                  </a:schemeClr>
                </a:solidFill>
              </a:rPr>
              <a:t>perfectly elastic</a:t>
            </a:r>
            <a:r>
              <a:rPr lang="en-US" dirty="0">
                <a:solidFill>
                  <a:schemeClr val="accent5">
                    <a:lumMod val="50000"/>
                  </a:schemeClr>
                </a:solidFill>
              </a:rPr>
              <a:t>. Up to a certain price, nothing is purchased; at a specific price, any quantity will be bought [an artificial example might be a grain silo: grain prices are fixed, a small farmer approaches, and we buy everything from him at the market price].</a:t>
            </a:r>
          </a:p>
          <a:p>
            <a:pPr algn="just">
              <a:defRPr/>
            </a:pPr>
            <a:endParaRPr lang="en-US" dirty="0">
              <a:solidFill>
                <a:schemeClr val="accent5">
                  <a:lumMod val="50000"/>
                </a:schemeClr>
              </a:solidFill>
            </a:endParaRPr>
          </a:p>
          <a:p>
            <a:pPr algn="just">
              <a:defRPr/>
            </a:pPr>
            <a:r>
              <a:rPr lang="en-US" dirty="0">
                <a:solidFill>
                  <a:schemeClr val="accent5">
                    <a:lumMod val="50000"/>
                  </a:schemeClr>
                </a:solidFill>
              </a:rPr>
              <a:t>At first glance, we might say that demand D is more elastic, more sensitive to price changes than demand C, based on a comparison with extremes. However, we need to be cautious; elasticity depends on the prices at which we measure it. It may turn out that the price elasticity of demand D at a high price is lower than that of demand C at a low price.</a:t>
            </a:r>
          </a:p>
        </p:txBody>
      </p:sp>
      <p:sp>
        <p:nvSpPr>
          <p:cNvPr id="8" name="pole tekstowe 103">
            <a:extLst>
              <a:ext uri="{FF2B5EF4-FFF2-40B4-BE49-F238E27FC236}">
                <a16:creationId xmlns:a16="http://schemas.microsoft.com/office/drawing/2014/main" id="{9991EEA0-D84B-9373-9A01-4265358593CA}"/>
              </a:ext>
            </a:extLst>
          </p:cNvPr>
          <p:cNvSpPr txBox="1"/>
          <p:nvPr/>
        </p:nvSpPr>
        <p:spPr>
          <a:xfrm>
            <a:off x="3813871" y="1438979"/>
            <a:ext cx="350470" cy="338138"/>
          </a:xfrm>
          <a:prstGeom prst="rect">
            <a:avLst/>
          </a:prstGeom>
          <a:noFill/>
        </p:spPr>
        <p:txBody>
          <a:bodyPr wrap="square">
            <a:spAutoFit/>
          </a:bodyPr>
          <a:lstStyle/>
          <a:p>
            <a:pPr>
              <a:defRPr/>
            </a:pPr>
            <a:r>
              <a:rPr lang="pl-PL" sz="1600" b="1" dirty="0">
                <a:solidFill>
                  <a:schemeClr val="accent5">
                    <a:lumMod val="50000"/>
                  </a:schemeClr>
                </a:solidFill>
              </a:rPr>
              <a:t>C</a:t>
            </a:r>
          </a:p>
        </p:txBody>
      </p:sp>
      <p:sp>
        <p:nvSpPr>
          <p:cNvPr id="9" name="pole tekstowe 103">
            <a:extLst>
              <a:ext uri="{FF2B5EF4-FFF2-40B4-BE49-F238E27FC236}">
                <a16:creationId xmlns:a16="http://schemas.microsoft.com/office/drawing/2014/main" id="{CA0E4EA6-3FCB-C2B3-BBBB-94AC5C6E9CCA}"/>
              </a:ext>
            </a:extLst>
          </p:cNvPr>
          <p:cNvSpPr txBox="1"/>
          <p:nvPr/>
        </p:nvSpPr>
        <p:spPr>
          <a:xfrm>
            <a:off x="3845701" y="3645233"/>
            <a:ext cx="350470" cy="338138"/>
          </a:xfrm>
          <a:prstGeom prst="rect">
            <a:avLst/>
          </a:prstGeom>
          <a:noFill/>
        </p:spPr>
        <p:txBody>
          <a:bodyPr wrap="square">
            <a:spAutoFit/>
          </a:bodyPr>
          <a:lstStyle/>
          <a:p>
            <a:pPr>
              <a:defRPr/>
            </a:pPr>
            <a:r>
              <a:rPr lang="pl-PL" sz="1600" b="1" dirty="0">
                <a:solidFill>
                  <a:schemeClr val="accent5">
                    <a:lumMod val="50000"/>
                  </a:schemeClr>
                </a:solidFill>
              </a:rPr>
              <a:t>D</a:t>
            </a:r>
          </a:p>
        </p:txBody>
      </p:sp>
    </p:spTree>
    <p:extLst>
      <p:ext uri="{BB962C8B-B14F-4D97-AF65-F5344CB8AC3E}">
        <p14:creationId xmlns:p14="http://schemas.microsoft.com/office/powerpoint/2010/main" val="4270881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B95C2-E2FC-16EC-A907-A3F12D1B4CBB}"/>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9E8AD3C6-366A-07F7-F62F-DF403DF8AB28}"/>
              </a:ext>
            </a:extLst>
          </p:cNvPr>
          <p:cNvSpPr>
            <a:spLocks noGrp="1"/>
          </p:cNvSpPr>
          <p:nvPr>
            <p:ph type="title"/>
          </p:nvPr>
        </p:nvSpPr>
        <p:spPr>
          <a:xfrm>
            <a:off x="0" y="-13886"/>
            <a:ext cx="12192001" cy="1187024"/>
          </a:xfrm>
          <a:solidFill>
            <a:schemeClr val="accent5">
              <a:lumMod val="20000"/>
              <a:lumOff val="80000"/>
            </a:schemeClr>
          </a:solidFill>
        </p:spPr>
        <p:txBody>
          <a:bodyPr>
            <a:noAutofit/>
          </a:bodyPr>
          <a:lstStyle/>
          <a:p>
            <a:r>
              <a:rPr lang="pl-PL" b="1" i="1" dirty="0" err="1">
                <a:solidFill>
                  <a:schemeClr val="accent5">
                    <a:lumMod val="50000"/>
                  </a:schemeClr>
                </a:solidFill>
              </a:rPr>
              <a:t>Price</a:t>
            </a:r>
            <a:r>
              <a:rPr lang="pl-PL" b="1" i="1" dirty="0">
                <a:solidFill>
                  <a:schemeClr val="accent5">
                    <a:lumMod val="50000"/>
                  </a:schemeClr>
                </a:solidFill>
              </a:rPr>
              <a:t> </a:t>
            </a:r>
            <a:r>
              <a:rPr lang="pl-PL" b="1" i="1" dirty="0" err="1">
                <a:solidFill>
                  <a:schemeClr val="accent5">
                    <a:lumMod val="50000"/>
                  </a:schemeClr>
                </a:solidFill>
              </a:rPr>
              <a:t>elasticity</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5C8FB9AE-19DE-4C15-99D3-F3219B26F173}"/>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166" name="Picture 5" descr="tbl19_02">
            <a:extLst>
              <a:ext uri="{FF2B5EF4-FFF2-40B4-BE49-F238E27FC236}">
                <a16:creationId xmlns:a16="http://schemas.microsoft.com/office/drawing/2014/main" id="{6DE54400-2F12-7936-CA8B-D9F1F0FF6F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4474" y="948090"/>
            <a:ext cx="4199742" cy="283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a:extLst>
              <a:ext uri="{FF2B5EF4-FFF2-40B4-BE49-F238E27FC236}">
                <a16:creationId xmlns:a16="http://schemas.microsoft.com/office/drawing/2014/main" id="{C82201C8-B74C-8575-9BF3-6B3B422ED79C}"/>
              </a:ext>
            </a:extLst>
          </p:cNvPr>
          <p:cNvGrpSpPr/>
          <p:nvPr/>
        </p:nvGrpSpPr>
        <p:grpSpPr>
          <a:xfrm>
            <a:off x="5287300" y="3783978"/>
            <a:ext cx="6826749" cy="2784095"/>
            <a:chOff x="126416" y="4015406"/>
            <a:chExt cx="6428386" cy="2784095"/>
          </a:xfrm>
        </p:grpSpPr>
        <p:pic>
          <p:nvPicPr>
            <p:cNvPr id="2" name="Picture 1">
              <a:extLst>
                <a:ext uri="{FF2B5EF4-FFF2-40B4-BE49-F238E27FC236}">
                  <a16:creationId xmlns:a16="http://schemas.microsoft.com/office/drawing/2014/main" id="{1DDF3291-00BF-AFD0-FA2A-A9D898F6BBE5}"/>
                </a:ext>
              </a:extLst>
            </p:cNvPr>
            <p:cNvPicPr>
              <a:picLocks noChangeAspect="1"/>
            </p:cNvPicPr>
            <p:nvPr/>
          </p:nvPicPr>
          <p:blipFill>
            <a:blip r:embed="rId3"/>
            <a:stretch>
              <a:fillRect/>
            </a:stretch>
          </p:blipFill>
          <p:spPr>
            <a:xfrm>
              <a:off x="1942084" y="4015406"/>
              <a:ext cx="4612718" cy="2697778"/>
            </a:xfrm>
            <a:prstGeom prst="rect">
              <a:avLst/>
            </a:prstGeom>
          </p:spPr>
        </p:pic>
        <p:sp>
          <p:nvSpPr>
            <p:cNvPr id="3" name="TextBox 2">
              <a:extLst>
                <a:ext uri="{FF2B5EF4-FFF2-40B4-BE49-F238E27FC236}">
                  <a16:creationId xmlns:a16="http://schemas.microsoft.com/office/drawing/2014/main" id="{0B6D621E-9BCD-0F61-16ED-C0F5CFDE1849}"/>
                </a:ext>
              </a:extLst>
            </p:cNvPr>
            <p:cNvSpPr txBox="1"/>
            <p:nvPr/>
          </p:nvSpPr>
          <p:spPr>
            <a:xfrm>
              <a:off x="126416" y="6537891"/>
              <a:ext cx="6315231" cy="261610"/>
            </a:xfrm>
            <a:prstGeom prst="rect">
              <a:avLst/>
            </a:prstGeom>
            <a:noFill/>
          </p:spPr>
          <p:txBody>
            <a:bodyPr wrap="square">
              <a:spAutoFit/>
            </a:bodyPr>
            <a:lstStyle/>
            <a:p>
              <a:r>
                <a:rPr lang="en-US" sz="1100" dirty="0"/>
                <a:t>Price elasticities of demand for rice among low-income and high-income groups, selected countries </a:t>
              </a:r>
              <a:endParaRPr lang="pl-PL" sz="1100" dirty="0"/>
            </a:p>
          </p:txBody>
        </p:sp>
      </p:grpSp>
      <p:sp>
        <p:nvSpPr>
          <p:cNvPr id="7" name="pole tekstowe 62">
            <a:extLst>
              <a:ext uri="{FF2B5EF4-FFF2-40B4-BE49-F238E27FC236}">
                <a16:creationId xmlns:a16="http://schemas.microsoft.com/office/drawing/2014/main" id="{15355490-570C-289B-94A7-C241685CC931}"/>
              </a:ext>
            </a:extLst>
          </p:cNvPr>
          <p:cNvSpPr txBox="1"/>
          <p:nvPr/>
        </p:nvSpPr>
        <p:spPr>
          <a:xfrm>
            <a:off x="239330" y="1435383"/>
            <a:ext cx="7027498" cy="4708981"/>
          </a:xfrm>
          <a:prstGeom prst="rect">
            <a:avLst/>
          </a:prstGeom>
          <a:noFill/>
        </p:spPr>
        <p:txBody>
          <a:bodyPr wrap="square">
            <a:spAutoFit/>
          </a:bodyPr>
          <a:lstStyle/>
          <a:p>
            <a:pPr algn="just">
              <a:defRPr/>
            </a:pPr>
            <a:r>
              <a:rPr lang="en-US" sz="2000" dirty="0">
                <a:solidFill>
                  <a:schemeClr val="accent5">
                    <a:lumMod val="50000"/>
                  </a:schemeClr>
                </a:solidFill>
              </a:rPr>
              <a:t>We should estimate or calculate elasticities or use research from others. A simple interpretation</a:t>
            </a:r>
            <a:r>
              <a:rPr lang="pl-PL" sz="2000" dirty="0">
                <a:solidFill>
                  <a:schemeClr val="accent5">
                    <a:lumMod val="50000"/>
                  </a:schemeClr>
                </a:solidFill>
              </a:rPr>
              <a:t> </a:t>
            </a:r>
            <a:r>
              <a:rPr lang="en-US" sz="2000" dirty="0">
                <a:solidFill>
                  <a:schemeClr val="accent5">
                    <a:lumMod val="50000"/>
                  </a:schemeClr>
                </a:solidFill>
              </a:rPr>
              <a:t>[remember to ignore the minus sign, and when discussing price elasticity, refer to absolute values]:</a:t>
            </a:r>
          </a:p>
          <a:p>
            <a:pPr algn="just">
              <a:defRPr/>
            </a:pPr>
            <a:endParaRPr lang="en-US" sz="2000" dirty="0">
              <a:solidFill>
                <a:schemeClr val="accent5">
                  <a:lumMod val="50000"/>
                </a:schemeClr>
              </a:solidFill>
            </a:endParaRPr>
          </a:p>
          <a:p>
            <a:pPr algn="just">
              <a:defRPr/>
            </a:pPr>
            <a:r>
              <a:rPr lang="pl-PL" sz="2000" dirty="0" err="1">
                <a:solidFill>
                  <a:schemeClr val="accent5">
                    <a:lumMod val="50000"/>
                  </a:schemeClr>
                </a:solidFill>
              </a:rPr>
              <a:t>E</a:t>
            </a:r>
            <a:r>
              <a:rPr lang="pl-PL" sz="2000" baseline="-25000" dirty="0" err="1">
                <a:solidFill>
                  <a:schemeClr val="accent5">
                    <a:lumMod val="50000"/>
                  </a:schemeClr>
                </a:solidFill>
              </a:rPr>
              <a:t>p</a:t>
            </a:r>
            <a:r>
              <a:rPr lang="pl-PL" sz="2000" dirty="0">
                <a:solidFill>
                  <a:schemeClr val="accent5">
                    <a:lumMod val="50000"/>
                  </a:schemeClr>
                </a:solidFill>
              </a:rPr>
              <a:t>&gt;1</a:t>
            </a:r>
            <a:r>
              <a:rPr lang="en-US" sz="2000" dirty="0">
                <a:solidFill>
                  <a:schemeClr val="accent5">
                    <a:lumMod val="50000"/>
                  </a:schemeClr>
                </a:solidFill>
              </a:rPr>
              <a:t>: demand at a given price is elastic.</a:t>
            </a:r>
          </a:p>
          <a:p>
            <a:pPr algn="just">
              <a:defRPr/>
            </a:pPr>
            <a:endParaRPr lang="en-US" sz="2000" dirty="0">
              <a:solidFill>
                <a:schemeClr val="accent5">
                  <a:lumMod val="50000"/>
                </a:schemeClr>
              </a:solidFill>
            </a:endParaRPr>
          </a:p>
          <a:p>
            <a:pPr algn="just">
              <a:defRPr/>
            </a:pPr>
            <a:r>
              <a:rPr lang="pl-PL" sz="2000" dirty="0" err="1">
                <a:solidFill>
                  <a:schemeClr val="accent5">
                    <a:lumMod val="50000"/>
                  </a:schemeClr>
                </a:solidFill>
              </a:rPr>
              <a:t>E</a:t>
            </a:r>
            <a:r>
              <a:rPr lang="pl-PL" sz="2000" baseline="-25000" dirty="0" err="1">
                <a:solidFill>
                  <a:schemeClr val="accent5">
                    <a:lumMod val="50000"/>
                  </a:schemeClr>
                </a:solidFill>
              </a:rPr>
              <a:t>p</a:t>
            </a:r>
            <a:r>
              <a:rPr lang="pl-PL" sz="2000" dirty="0">
                <a:solidFill>
                  <a:schemeClr val="accent5">
                    <a:lumMod val="50000"/>
                  </a:schemeClr>
                </a:solidFill>
              </a:rPr>
              <a:t>&lt;1</a:t>
            </a:r>
            <a:r>
              <a:rPr lang="en-US" sz="2000" dirty="0">
                <a:solidFill>
                  <a:schemeClr val="accent5">
                    <a:lumMod val="50000"/>
                  </a:schemeClr>
                </a:solidFill>
              </a:rPr>
              <a:t>: demand at a given price is inelastic.</a:t>
            </a:r>
          </a:p>
          <a:p>
            <a:pPr algn="just">
              <a:defRPr/>
            </a:pPr>
            <a:endParaRPr lang="en-US" sz="2000" dirty="0">
              <a:solidFill>
                <a:schemeClr val="accent5">
                  <a:lumMod val="50000"/>
                </a:schemeClr>
              </a:solidFill>
            </a:endParaRPr>
          </a:p>
          <a:p>
            <a:pPr algn="just">
              <a:defRPr/>
            </a:pPr>
            <a:r>
              <a:rPr lang="en-US" sz="2000" dirty="0">
                <a:solidFill>
                  <a:schemeClr val="accent5">
                    <a:lumMod val="50000"/>
                  </a:schemeClr>
                </a:solidFill>
              </a:rPr>
              <a:t>Price elasticity of demand can depend on many factors. Differences may arise due to time (consumers adjust less in the short term). It also depends on geographic location, culture, etc. For your assignment, you can showcase and interpret such comparisons. Surprisingly, </a:t>
            </a:r>
            <a:r>
              <a:rPr lang="pl-PL" sz="2000" dirty="0" err="1">
                <a:solidFill>
                  <a:schemeClr val="accent5">
                    <a:lumMod val="50000"/>
                  </a:schemeClr>
                </a:solidFill>
              </a:rPr>
              <a:t>it</a:t>
            </a:r>
            <a:r>
              <a:rPr lang="pl-PL" sz="2000" dirty="0">
                <a:solidFill>
                  <a:schemeClr val="accent5">
                    <a:lumMod val="50000"/>
                  </a:schemeClr>
                </a:solidFill>
              </a:rPr>
              <a:t> </a:t>
            </a:r>
            <a:r>
              <a:rPr lang="pl-PL" sz="2000" dirty="0" err="1">
                <a:solidFill>
                  <a:schemeClr val="accent5">
                    <a:lumMod val="50000"/>
                  </a:schemeClr>
                </a:solidFill>
              </a:rPr>
              <a:t>is</a:t>
            </a:r>
            <a:r>
              <a:rPr lang="pl-PL" sz="2000" dirty="0">
                <a:solidFill>
                  <a:schemeClr val="accent5">
                    <a:lumMod val="50000"/>
                  </a:schemeClr>
                </a:solidFill>
              </a:rPr>
              <a:t> not </a:t>
            </a:r>
            <a:r>
              <a:rPr lang="pl-PL" sz="2000" dirty="0" err="1">
                <a:solidFill>
                  <a:schemeClr val="accent5">
                    <a:lumMod val="50000"/>
                  </a:schemeClr>
                </a:solidFill>
              </a:rPr>
              <a:t>easy</a:t>
            </a:r>
            <a:r>
              <a:rPr lang="pl-PL" sz="2000" dirty="0">
                <a:solidFill>
                  <a:schemeClr val="accent5">
                    <a:lumMod val="50000"/>
                  </a:schemeClr>
                </a:solidFill>
              </a:rPr>
              <a:t> to </a:t>
            </a:r>
            <a:r>
              <a:rPr lang="pl-PL" sz="2000" dirty="0" err="1">
                <a:solidFill>
                  <a:schemeClr val="accent5">
                    <a:lumMod val="50000"/>
                  </a:schemeClr>
                </a:solidFill>
              </a:rPr>
              <a:t>find</a:t>
            </a:r>
            <a:r>
              <a:rPr lang="pl-PL" sz="2000" dirty="0">
                <a:solidFill>
                  <a:schemeClr val="accent5">
                    <a:lumMod val="50000"/>
                  </a:schemeClr>
                </a:solidFill>
              </a:rPr>
              <a:t> </a:t>
            </a:r>
            <a:r>
              <a:rPr lang="pl-PL" sz="2000" dirty="0" err="1">
                <a:solidFill>
                  <a:schemeClr val="accent5">
                    <a:lumMod val="50000"/>
                  </a:schemeClr>
                </a:solidFill>
              </a:rPr>
              <a:t>that</a:t>
            </a:r>
            <a:r>
              <a:rPr lang="pl-PL" sz="2000" dirty="0">
                <a:solidFill>
                  <a:schemeClr val="accent5">
                    <a:lumMod val="50000"/>
                  </a:schemeClr>
                </a:solidFill>
              </a:rPr>
              <a:t> </a:t>
            </a:r>
            <a:r>
              <a:rPr lang="pl-PL" sz="2000" dirty="0" err="1">
                <a:solidFill>
                  <a:schemeClr val="accent5">
                    <a:lumMod val="50000"/>
                  </a:schemeClr>
                </a:solidFill>
              </a:rPr>
              <a:t>type</a:t>
            </a:r>
            <a:r>
              <a:rPr lang="pl-PL" sz="2000" dirty="0">
                <a:solidFill>
                  <a:schemeClr val="accent5">
                    <a:lumMod val="50000"/>
                  </a:schemeClr>
                </a:solidFill>
              </a:rPr>
              <a:t> of </a:t>
            </a:r>
            <a:r>
              <a:rPr lang="pl-PL" sz="2000" dirty="0" err="1">
                <a:solidFill>
                  <a:schemeClr val="accent5">
                    <a:lumMod val="50000"/>
                  </a:schemeClr>
                </a:solidFill>
              </a:rPr>
              <a:t>reserach</a:t>
            </a:r>
            <a:r>
              <a:rPr lang="en-US" sz="2000" dirty="0">
                <a:solidFill>
                  <a:schemeClr val="accent5">
                    <a:lumMod val="50000"/>
                  </a:schemeClr>
                </a:solidFill>
              </a:rPr>
              <a:t>.</a:t>
            </a:r>
            <a:endParaRPr lang="pl-PL" sz="2000" dirty="0">
              <a:solidFill>
                <a:schemeClr val="accent5">
                  <a:lumMod val="50000"/>
                </a:schemeClr>
              </a:solidFill>
            </a:endParaRPr>
          </a:p>
        </p:txBody>
      </p:sp>
      <p:graphicFrame>
        <p:nvGraphicFramePr>
          <p:cNvPr id="8" name="Object 29">
            <a:extLst>
              <a:ext uri="{FF2B5EF4-FFF2-40B4-BE49-F238E27FC236}">
                <a16:creationId xmlns:a16="http://schemas.microsoft.com/office/drawing/2014/main" id="{F05ED0D5-2B66-AAB8-A587-17863E1CF212}"/>
              </a:ext>
            </a:extLst>
          </p:cNvPr>
          <p:cNvGraphicFramePr>
            <a:graphicFrameLocks noChangeAspect="1"/>
          </p:cNvGraphicFramePr>
          <p:nvPr>
            <p:extLst>
              <p:ext uri="{D42A27DB-BD31-4B8C-83A1-F6EECF244321}">
                <p14:modId xmlns:p14="http://schemas.microsoft.com/office/powerpoint/2010/main" val="3543714992"/>
              </p:ext>
            </p:extLst>
          </p:nvPr>
        </p:nvGraphicFramePr>
        <p:xfrm>
          <a:off x="5426289" y="2963785"/>
          <a:ext cx="1325793" cy="930429"/>
        </p:xfrm>
        <a:graphic>
          <a:graphicData uri="http://schemas.openxmlformats.org/presentationml/2006/ole">
            <mc:AlternateContent xmlns:mc="http://schemas.openxmlformats.org/markup-compatibility/2006">
              <mc:Choice xmlns:v="urn:schemas-microsoft-com:vml" Requires="v">
                <p:oleObj name="Równanie" r:id="rId4" imgW="1193800" imgH="838200" progId="Equation.3">
                  <p:embed/>
                </p:oleObj>
              </mc:Choice>
              <mc:Fallback>
                <p:oleObj name="Równanie" r:id="rId4" imgW="1193800" imgH="838200" progId="Equation.3">
                  <p:embed/>
                  <p:pic>
                    <p:nvPicPr>
                      <p:cNvPr id="163" name="Object 29">
                        <a:extLst>
                          <a:ext uri="{FF2B5EF4-FFF2-40B4-BE49-F238E27FC236}">
                            <a16:creationId xmlns:a16="http://schemas.microsoft.com/office/drawing/2014/main" id="{F05ED0D5-2B66-AAB8-A587-17863E1CF2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6289" y="2963785"/>
                        <a:ext cx="1325793" cy="93042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063634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5C393-D223-8200-EE2B-A2E7FB534C0E}"/>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3C3AD69B-D87F-850E-DA51-33E78772ADBD}"/>
              </a:ext>
            </a:extLst>
          </p:cNvPr>
          <p:cNvSpPr>
            <a:spLocks noGrp="1"/>
          </p:cNvSpPr>
          <p:nvPr>
            <p:ph type="title"/>
          </p:nvPr>
        </p:nvSpPr>
        <p:spPr>
          <a:xfrm>
            <a:off x="0" y="-13758"/>
            <a:ext cx="12192001" cy="948122"/>
          </a:xfrm>
          <a:solidFill>
            <a:schemeClr val="accent5">
              <a:lumMod val="20000"/>
              <a:lumOff val="80000"/>
            </a:schemeClr>
          </a:solidFill>
        </p:spPr>
        <p:txBody>
          <a:bodyPr>
            <a:noAutofit/>
          </a:bodyPr>
          <a:lstStyle/>
          <a:p>
            <a:r>
              <a:rPr lang="pl-PL" b="1" i="1" dirty="0" err="1">
                <a:solidFill>
                  <a:schemeClr val="accent5">
                    <a:lumMod val="50000"/>
                  </a:schemeClr>
                </a:solidFill>
              </a:rPr>
              <a:t>Change</a:t>
            </a:r>
            <a:r>
              <a:rPr lang="pl-PL" b="1" i="1" dirty="0">
                <a:solidFill>
                  <a:schemeClr val="accent5">
                    <a:lumMod val="50000"/>
                  </a:schemeClr>
                </a:solidFill>
              </a:rPr>
              <a:t> of </a:t>
            </a:r>
            <a:r>
              <a:rPr lang="pl-PL" b="1" i="1" dirty="0" err="1">
                <a:solidFill>
                  <a:schemeClr val="accent5">
                    <a:lumMod val="50000"/>
                  </a:schemeClr>
                </a:solidFill>
              </a:rPr>
              <a:t>income</a:t>
            </a:r>
            <a:r>
              <a:rPr lang="pl-PL" b="1" i="1" dirty="0">
                <a:solidFill>
                  <a:schemeClr val="accent5">
                    <a:lumMod val="50000"/>
                  </a:schemeClr>
                </a:solidFill>
              </a:rPr>
              <a:t> </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80AA9C9D-FDE2-8C59-408D-92DB73566170}"/>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4" name="Grupa 46">
            <a:extLst>
              <a:ext uri="{FF2B5EF4-FFF2-40B4-BE49-F238E27FC236}">
                <a16:creationId xmlns:a16="http://schemas.microsoft.com/office/drawing/2014/main" id="{F4191465-1177-4FA0-B21D-470D9A16FB66}"/>
              </a:ext>
            </a:extLst>
          </p:cNvPr>
          <p:cNvGrpSpPr>
            <a:grpSpLocks/>
          </p:cNvGrpSpPr>
          <p:nvPr/>
        </p:nvGrpSpPr>
        <p:grpSpPr bwMode="auto">
          <a:xfrm>
            <a:off x="359505" y="1618570"/>
            <a:ext cx="5631146" cy="4761470"/>
            <a:chOff x="2811268" y="1819217"/>
            <a:chExt cx="5631397" cy="4761470"/>
          </a:xfrm>
        </p:grpSpPr>
        <p:sp>
          <p:nvSpPr>
            <p:cNvPr id="55" name="Dowolny kształt 50">
              <a:extLst>
                <a:ext uri="{FF2B5EF4-FFF2-40B4-BE49-F238E27FC236}">
                  <a16:creationId xmlns:a16="http://schemas.microsoft.com/office/drawing/2014/main" id="{31822B75-7B60-742C-57F4-3722600E0EB5}"/>
                </a:ext>
              </a:extLst>
            </p:cNvPr>
            <p:cNvSpPr/>
            <p:nvPr/>
          </p:nvSpPr>
          <p:spPr>
            <a:xfrm rot="6550945">
              <a:off x="5706006" y="2823935"/>
              <a:ext cx="2058261" cy="95864"/>
            </a:xfrm>
            <a:custGeom>
              <a:avLst/>
              <a:gdLst>
                <a:gd name="connsiteX0" fmla="*/ 0 w 3076575"/>
                <a:gd name="connsiteY0" fmla="*/ 0 h 952500"/>
                <a:gd name="connsiteX1" fmla="*/ 819150 w 3076575"/>
                <a:gd name="connsiteY1" fmla="*/ 771525 h 952500"/>
                <a:gd name="connsiteX2" fmla="*/ 3076575 w 3076575"/>
                <a:gd name="connsiteY2" fmla="*/ 942975 h 952500"/>
              </a:gdLst>
              <a:ahLst/>
              <a:cxnLst>
                <a:cxn ang="0">
                  <a:pos x="connsiteX0" y="connsiteY0"/>
                </a:cxn>
                <a:cxn ang="0">
                  <a:pos x="connsiteX1" y="connsiteY1"/>
                </a:cxn>
                <a:cxn ang="0">
                  <a:pos x="connsiteX2" y="connsiteY2"/>
                </a:cxn>
              </a:cxnLst>
              <a:rect l="l" t="t" r="r" b="b"/>
              <a:pathLst>
                <a:path w="3076575" h="952500">
                  <a:moveTo>
                    <a:pt x="0" y="0"/>
                  </a:moveTo>
                  <a:cubicBezTo>
                    <a:pt x="153194" y="307181"/>
                    <a:pt x="306388" y="614363"/>
                    <a:pt x="819150" y="771525"/>
                  </a:cubicBezTo>
                  <a:cubicBezTo>
                    <a:pt x="1331912" y="928687"/>
                    <a:pt x="2693988" y="952500"/>
                    <a:pt x="3076575" y="942975"/>
                  </a:cubicBezTo>
                </a:path>
              </a:pathLst>
            </a:custGeom>
          </p:spPr>
          <p:style>
            <a:lnRef idx="3">
              <a:schemeClr val="accent3"/>
            </a:lnRef>
            <a:fillRef idx="0">
              <a:schemeClr val="accent3"/>
            </a:fillRef>
            <a:effectRef idx="2">
              <a:schemeClr val="accent3"/>
            </a:effectRef>
            <a:fontRef idx="minor">
              <a:schemeClr val="tx1"/>
            </a:fontRef>
          </p:style>
          <p:txBody>
            <a:bodyPr anchor="ctr"/>
            <a:lstStyle/>
            <a:p>
              <a:pPr>
                <a:defRPr/>
              </a:pPr>
              <a:endParaRPr lang="pl-PL"/>
            </a:p>
          </p:txBody>
        </p:sp>
        <p:grpSp>
          <p:nvGrpSpPr>
            <p:cNvPr id="56" name="Grupa 47">
              <a:extLst>
                <a:ext uri="{FF2B5EF4-FFF2-40B4-BE49-F238E27FC236}">
                  <a16:creationId xmlns:a16="http://schemas.microsoft.com/office/drawing/2014/main" id="{380448A0-BD3B-5FF9-8B0A-379B2B49E677}"/>
                </a:ext>
              </a:extLst>
            </p:cNvPr>
            <p:cNvGrpSpPr>
              <a:grpSpLocks/>
            </p:cNvGrpSpPr>
            <p:nvPr/>
          </p:nvGrpSpPr>
          <p:grpSpPr bwMode="auto">
            <a:xfrm>
              <a:off x="2890929" y="1819217"/>
              <a:ext cx="5551736" cy="4761470"/>
              <a:chOff x="3333976" y="362269"/>
              <a:chExt cx="5551737" cy="4762926"/>
            </a:xfrm>
          </p:grpSpPr>
          <p:sp>
            <p:nvSpPr>
              <p:cNvPr id="59" name="Line 8">
                <a:extLst>
                  <a:ext uri="{FF2B5EF4-FFF2-40B4-BE49-F238E27FC236}">
                    <a16:creationId xmlns:a16="http://schemas.microsoft.com/office/drawing/2014/main" id="{01A042CF-21CA-5184-0F6F-0357962CFA4D}"/>
                  </a:ext>
                </a:extLst>
              </p:cNvPr>
              <p:cNvSpPr>
                <a:spLocks noChangeShapeType="1"/>
              </p:cNvSpPr>
              <p:nvPr/>
            </p:nvSpPr>
            <p:spPr bwMode="auto">
              <a:xfrm>
                <a:off x="3351440" y="1361914"/>
                <a:ext cx="2595678" cy="3279733"/>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wrap="square" anchor="ctr">
                <a:spAutoFit/>
              </a:bodyPr>
              <a:lstStyle/>
              <a:p>
                <a:pPr>
                  <a:defRPr/>
                </a:pPr>
                <a:endParaRPr lang="pl-PL"/>
              </a:p>
            </p:txBody>
          </p:sp>
          <p:grpSp>
            <p:nvGrpSpPr>
              <p:cNvPr id="60" name="Grupa 32">
                <a:extLst>
                  <a:ext uri="{FF2B5EF4-FFF2-40B4-BE49-F238E27FC236}">
                    <a16:creationId xmlns:a16="http://schemas.microsoft.com/office/drawing/2014/main" id="{D6FC3B05-537A-9F39-D37C-04FCEF218230}"/>
                  </a:ext>
                </a:extLst>
              </p:cNvPr>
              <p:cNvGrpSpPr>
                <a:grpSpLocks/>
              </p:cNvGrpSpPr>
              <p:nvPr/>
            </p:nvGrpSpPr>
            <p:grpSpPr bwMode="auto">
              <a:xfrm>
                <a:off x="3333976" y="697890"/>
                <a:ext cx="5551737" cy="3969963"/>
                <a:chOff x="533399" y="1828728"/>
                <a:chExt cx="2830413" cy="1828627"/>
              </a:xfrm>
            </p:grpSpPr>
            <p:grpSp>
              <p:nvGrpSpPr>
                <p:cNvPr id="80" name="Grupa 15">
                  <a:extLst>
                    <a:ext uri="{FF2B5EF4-FFF2-40B4-BE49-F238E27FC236}">
                      <a16:creationId xmlns:a16="http://schemas.microsoft.com/office/drawing/2014/main" id="{F8FB2F09-102C-DD6F-821C-AD5FDE6C6A17}"/>
                    </a:ext>
                  </a:extLst>
                </p:cNvPr>
                <p:cNvGrpSpPr>
                  <a:grpSpLocks/>
                </p:cNvGrpSpPr>
                <p:nvPr/>
              </p:nvGrpSpPr>
              <p:grpSpPr bwMode="auto">
                <a:xfrm>
                  <a:off x="533399" y="1828728"/>
                  <a:ext cx="2830413" cy="1828627"/>
                  <a:chOff x="4648200" y="239375"/>
                  <a:chExt cx="3505358" cy="2830017"/>
                </a:xfrm>
              </p:grpSpPr>
              <p:sp>
                <p:nvSpPr>
                  <p:cNvPr id="83" name="Line 8">
                    <a:extLst>
                      <a:ext uri="{FF2B5EF4-FFF2-40B4-BE49-F238E27FC236}">
                        <a16:creationId xmlns:a16="http://schemas.microsoft.com/office/drawing/2014/main" id="{10BE4ADB-9C8E-A0DF-D497-610AD208E0C4}"/>
                      </a:ext>
                    </a:extLst>
                  </p:cNvPr>
                  <p:cNvSpPr>
                    <a:spLocks noChangeShapeType="1"/>
                  </p:cNvSpPr>
                  <p:nvPr/>
                </p:nvSpPr>
                <p:spPr bwMode="auto">
                  <a:xfrm>
                    <a:off x="4680275" y="1439303"/>
                    <a:ext cx="1101627" cy="1618769"/>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wrap="square" anchor="ctr">
                    <a:spAutoFit/>
                  </a:bodyPr>
                  <a:lstStyle/>
                  <a:p>
                    <a:pPr>
                      <a:defRPr/>
                    </a:pPr>
                    <a:endParaRPr lang="pl-PL" dirty="0"/>
                  </a:p>
                </p:txBody>
              </p:sp>
              <p:sp>
                <p:nvSpPr>
                  <p:cNvPr id="84" name="Freeform 10">
                    <a:extLst>
                      <a:ext uri="{FF2B5EF4-FFF2-40B4-BE49-F238E27FC236}">
                        <a16:creationId xmlns:a16="http://schemas.microsoft.com/office/drawing/2014/main" id="{50C399CB-5F66-BC1D-E634-D9F2688D0C43}"/>
                      </a:ext>
                    </a:extLst>
                  </p:cNvPr>
                  <p:cNvSpPr>
                    <a:spLocks/>
                  </p:cNvSpPr>
                  <p:nvPr/>
                </p:nvSpPr>
                <p:spPr bwMode="auto">
                  <a:xfrm>
                    <a:off x="4770439" y="1276042"/>
                    <a:ext cx="2134088" cy="1677634"/>
                  </a:xfrm>
                  <a:custGeom>
                    <a:avLst/>
                    <a:gdLst>
                      <a:gd name="T0" fmla="*/ 0 w 1008"/>
                      <a:gd name="T1" fmla="*/ 0 h 864"/>
                      <a:gd name="T2" fmla="*/ 336 w 1008"/>
                      <a:gd name="T3" fmla="*/ 624 h 864"/>
                      <a:gd name="T4" fmla="*/ 1008 w 1008"/>
                      <a:gd name="T5" fmla="*/ 864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nchor="ctr">
                    <a:spAutoFit/>
                  </a:bodyPr>
                  <a:lstStyle/>
                  <a:p>
                    <a:pPr>
                      <a:defRPr/>
                    </a:pPr>
                    <a:endParaRPr lang="pl-PL"/>
                  </a:p>
                </p:txBody>
              </p:sp>
              <p:sp>
                <p:nvSpPr>
                  <p:cNvPr id="85" name="Line 5">
                    <a:extLst>
                      <a:ext uri="{FF2B5EF4-FFF2-40B4-BE49-F238E27FC236}">
                        <a16:creationId xmlns:a16="http://schemas.microsoft.com/office/drawing/2014/main" id="{ACF3C0BD-6646-F179-05EA-D2C5F5A6FC80}"/>
                      </a:ext>
                    </a:extLst>
                  </p:cNvPr>
                  <p:cNvSpPr>
                    <a:spLocks noChangeShapeType="1"/>
                  </p:cNvSpPr>
                  <p:nvPr/>
                </p:nvSpPr>
                <p:spPr bwMode="auto">
                  <a:xfrm>
                    <a:off x="4648200" y="3059205"/>
                    <a:ext cx="3505358" cy="0"/>
                  </a:xfrm>
                  <a:prstGeom prst="line">
                    <a:avLst/>
                  </a:prstGeom>
                  <a:ln>
                    <a:headEnd/>
                    <a:tailEnd type="triangle"/>
                  </a:ln>
                </p:spPr>
                <p:style>
                  <a:lnRef idx="2">
                    <a:schemeClr val="dk1"/>
                  </a:lnRef>
                  <a:fillRef idx="0">
                    <a:schemeClr val="dk1"/>
                  </a:fillRef>
                  <a:effectRef idx="1">
                    <a:schemeClr val="dk1"/>
                  </a:effectRef>
                  <a:fontRef idx="minor">
                    <a:schemeClr val="tx1"/>
                  </a:fontRef>
                </p:style>
                <p:txBody>
                  <a:bodyPr wrap="none" anchor="ctr">
                    <a:spAutoFit/>
                  </a:bodyPr>
                  <a:lstStyle/>
                  <a:p>
                    <a:pPr>
                      <a:defRPr/>
                    </a:pPr>
                    <a:endParaRPr lang="pl-PL"/>
                  </a:p>
                </p:txBody>
              </p:sp>
              <p:sp>
                <p:nvSpPr>
                  <p:cNvPr id="86" name="Line 4">
                    <a:extLst>
                      <a:ext uri="{FF2B5EF4-FFF2-40B4-BE49-F238E27FC236}">
                        <a16:creationId xmlns:a16="http://schemas.microsoft.com/office/drawing/2014/main" id="{B2D72CE9-7B21-20E8-C533-18582F05043A}"/>
                      </a:ext>
                    </a:extLst>
                  </p:cNvPr>
                  <p:cNvSpPr>
                    <a:spLocks noChangeShapeType="1"/>
                  </p:cNvSpPr>
                  <p:nvPr/>
                </p:nvSpPr>
                <p:spPr bwMode="auto">
                  <a:xfrm flipV="1">
                    <a:off x="4648200" y="239375"/>
                    <a:ext cx="22053" cy="2830017"/>
                  </a:xfrm>
                  <a:prstGeom prst="line">
                    <a:avLst/>
                  </a:prstGeom>
                  <a:ln>
                    <a:headEnd/>
                    <a:tailEnd type="triangle"/>
                  </a:ln>
                </p:spPr>
                <p:style>
                  <a:lnRef idx="2">
                    <a:schemeClr val="dk1"/>
                  </a:lnRef>
                  <a:fillRef idx="0">
                    <a:schemeClr val="dk1"/>
                  </a:fillRef>
                  <a:effectRef idx="1">
                    <a:schemeClr val="dk1"/>
                  </a:effectRef>
                  <a:fontRef idx="minor">
                    <a:schemeClr val="tx1"/>
                  </a:fontRef>
                </p:style>
                <p:txBody>
                  <a:bodyPr anchor="ctr">
                    <a:spAutoFit/>
                  </a:bodyPr>
                  <a:lstStyle/>
                  <a:p>
                    <a:pPr>
                      <a:defRPr/>
                    </a:pPr>
                    <a:endParaRPr lang="pl-PL"/>
                  </a:p>
                </p:txBody>
              </p:sp>
            </p:grpSp>
            <p:sp>
              <p:nvSpPr>
                <p:cNvPr id="81" name="Freeform 10">
                  <a:extLst>
                    <a:ext uri="{FF2B5EF4-FFF2-40B4-BE49-F238E27FC236}">
                      <a16:creationId xmlns:a16="http://schemas.microsoft.com/office/drawing/2014/main" id="{BE75BB7F-38C3-76B5-330B-F6920513A164}"/>
                    </a:ext>
                  </a:extLst>
                </p:cNvPr>
                <p:cNvSpPr>
                  <a:spLocks/>
                </p:cNvSpPr>
                <p:nvPr/>
              </p:nvSpPr>
              <p:spPr bwMode="auto">
                <a:xfrm>
                  <a:off x="815373" y="2252182"/>
                  <a:ext cx="1722367" cy="1083279"/>
                </a:xfrm>
                <a:custGeom>
                  <a:avLst/>
                  <a:gdLst>
                    <a:gd name="T0" fmla="*/ 0 w 1008"/>
                    <a:gd name="T1" fmla="*/ 0 h 864"/>
                    <a:gd name="T2" fmla="*/ 336 w 1008"/>
                    <a:gd name="T3" fmla="*/ 624 h 864"/>
                    <a:gd name="T4" fmla="*/ 1008 w 1008"/>
                    <a:gd name="T5" fmla="*/ 864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nchor="ctr">
                  <a:spAutoFit/>
                </a:bodyPr>
                <a:lstStyle/>
                <a:p>
                  <a:pPr>
                    <a:defRPr/>
                  </a:pPr>
                  <a:endParaRPr lang="pl-PL"/>
                </a:p>
              </p:txBody>
            </p:sp>
            <p:sp>
              <p:nvSpPr>
                <p:cNvPr id="82" name="Freeform 10">
                  <a:extLst>
                    <a:ext uri="{FF2B5EF4-FFF2-40B4-BE49-F238E27FC236}">
                      <a16:creationId xmlns:a16="http://schemas.microsoft.com/office/drawing/2014/main" id="{4F460662-29F6-C3A7-36B6-8BF7DE53E403}"/>
                    </a:ext>
                  </a:extLst>
                </p:cNvPr>
                <p:cNvSpPr>
                  <a:spLocks/>
                </p:cNvSpPr>
                <p:nvPr/>
              </p:nvSpPr>
              <p:spPr bwMode="auto">
                <a:xfrm>
                  <a:off x="1086350" y="2046068"/>
                  <a:ext cx="1722367" cy="1083279"/>
                </a:xfrm>
                <a:custGeom>
                  <a:avLst/>
                  <a:gdLst>
                    <a:gd name="T0" fmla="*/ 0 w 1008"/>
                    <a:gd name="T1" fmla="*/ 0 h 864"/>
                    <a:gd name="T2" fmla="*/ 336 w 1008"/>
                    <a:gd name="T3" fmla="*/ 624 h 864"/>
                    <a:gd name="T4" fmla="*/ 1008 w 1008"/>
                    <a:gd name="T5" fmla="*/ 864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nchor="ctr">
                  <a:spAutoFit/>
                </a:bodyPr>
                <a:lstStyle/>
                <a:p>
                  <a:pPr>
                    <a:defRPr/>
                  </a:pPr>
                  <a:endParaRPr lang="pl-PL"/>
                </a:p>
              </p:txBody>
            </p:sp>
          </p:grpSp>
          <p:sp>
            <p:nvSpPr>
              <p:cNvPr id="61" name="Line 8">
                <a:extLst>
                  <a:ext uri="{FF2B5EF4-FFF2-40B4-BE49-F238E27FC236}">
                    <a16:creationId xmlns:a16="http://schemas.microsoft.com/office/drawing/2014/main" id="{2E5A720F-D352-7FB5-EEF2-B36FD7B3117D}"/>
                  </a:ext>
                </a:extLst>
              </p:cNvPr>
              <p:cNvSpPr>
                <a:spLocks noChangeShapeType="1"/>
              </p:cNvSpPr>
              <p:nvPr/>
            </p:nvSpPr>
            <p:spPr bwMode="auto">
              <a:xfrm>
                <a:off x="3440343" y="362269"/>
                <a:ext cx="3319613" cy="4257939"/>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wrap="square" anchor="ctr">
                <a:spAutoFit/>
              </a:bodyPr>
              <a:lstStyle/>
              <a:p>
                <a:pPr>
                  <a:defRPr/>
                </a:pPr>
                <a:endParaRPr lang="pl-PL"/>
              </a:p>
            </p:txBody>
          </p:sp>
          <p:sp>
            <p:nvSpPr>
              <p:cNvPr id="62" name="Elipsa 17">
                <a:extLst>
                  <a:ext uri="{FF2B5EF4-FFF2-40B4-BE49-F238E27FC236}">
                    <a16:creationId xmlns:a16="http://schemas.microsoft.com/office/drawing/2014/main" id="{CFA398B7-B2EE-4B3C-AE7B-63E7C510A570}"/>
                  </a:ext>
                </a:extLst>
              </p:cNvPr>
              <p:cNvSpPr/>
              <p:nvPr/>
            </p:nvSpPr>
            <p:spPr>
              <a:xfrm>
                <a:off x="4079340" y="3337970"/>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cxnSp>
            <p:nvCxnSpPr>
              <p:cNvPr id="63" name="Łącznik prosty 23">
                <a:extLst>
                  <a:ext uri="{FF2B5EF4-FFF2-40B4-BE49-F238E27FC236}">
                    <a16:creationId xmlns:a16="http://schemas.microsoft.com/office/drawing/2014/main" id="{4889D129-581C-44FE-BF4C-0B37E8478892}"/>
                  </a:ext>
                </a:extLst>
              </p:cNvPr>
              <p:cNvCxnSpPr>
                <a:cxnSpLocks/>
                <a:stCxn id="62" idx="4"/>
              </p:cNvCxnSpPr>
              <p:nvPr/>
            </p:nvCxnSpPr>
            <p:spPr>
              <a:xfrm>
                <a:off x="4136493" y="3442777"/>
                <a:ext cx="0" cy="1205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Łącznik prosty 24">
                <a:extLst>
                  <a:ext uri="{FF2B5EF4-FFF2-40B4-BE49-F238E27FC236}">
                    <a16:creationId xmlns:a16="http://schemas.microsoft.com/office/drawing/2014/main" id="{94E57097-1F67-F88B-B4BB-DDBB30835C71}"/>
                  </a:ext>
                </a:extLst>
              </p:cNvPr>
              <p:cNvCxnSpPr/>
              <p:nvPr/>
            </p:nvCxnSpPr>
            <p:spPr>
              <a:xfrm rot="16200000" flipH="1">
                <a:off x="3750255" y="3783613"/>
                <a:ext cx="1702320" cy="26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Łącznik prosty 26">
                <a:extLst>
                  <a:ext uri="{FF2B5EF4-FFF2-40B4-BE49-F238E27FC236}">
                    <a16:creationId xmlns:a16="http://schemas.microsoft.com/office/drawing/2014/main" id="{41D9EEDA-A433-6188-C8B9-429DEA45BE05}"/>
                  </a:ext>
                </a:extLst>
              </p:cNvPr>
              <p:cNvCxnSpPr>
                <a:cxnSpLocks/>
              </p:cNvCxnSpPr>
              <p:nvPr/>
            </p:nvCxnSpPr>
            <p:spPr>
              <a:xfrm flipH="1">
                <a:off x="5114718" y="2535423"/>
                <a:ext cx="22731" cy="2071460"/>
              </a:xfrm>
              <a:prstGeom prst="line">
                <a:avLst/>
              </a:prstGeom>
            </p:spPr>
            <p:style>
              <a:lnRef idx="1">
                <a:schemeClr val="accent1"/>
              </a:lnRef>
              <a:fillRef idx="0">
                <a:schemeClr val="accent1"/>
              </a:fillRef>
              <a:effectRef idx="0">
                <a:schemeClr val="accent1"/>
              </a:effectRef>
              <a:fontRef idx="minor">
                <a:schemeClr val="tx1"/>
              </a:fontRef>
            </p:style>
          </p:cxnSp>
          <p:sp>
            <p:nvSpPr>
              <p:cNvPr id="66" name="Prostokąt 28">
                <a:extLst>
                  <a:ext uri="{FF2B5EF4-FFF2-40B4-BE49-F238E27FC236}">
                    <a16:creationId xmlns:a16="http://schemas.microsoft.com/office/drawing/2014/main" id="{0409E8CA-073F-A7F5-1FDD-3A7F5B3CD2A7}"/>
                  </a:ext>
                </a:extLst>
              </p:cNvPr>
              <p:cNvSpPr/>
              <p:nvPr/>
            </p:nvSpPr>
            <p:spPr>
              <a:xfrm>
                <a:off x="3440343" y="4817126"/>
                <a:ext cx="454045" cy="308069"/>
              </a:xfrm>
              <a:prstGeom prst="rect">
                <a:avLst/>
              </a:prstGeom>
            </p:spPr>
            <p:txBody>
              <a:bodyPr wrap="none">
                <a:spAutoFit/>
              </a:bodyPr>
              <a:lstStyle/>
              <a:p>
                <a:pPr>
                  <a:defRPr/>
                </a:pPr>
                <a:r>
                  <a:rPr lang="pl-PL" sz="1400" b="1" dirty="0">
                    <a:solidFill>
                      <a:schemeClr val="accent1">
                        <a:lumMod val="50000"/>
                      </a:schemeClr>
                    </a:solidFill>
                  </a:rPr>
                  <a:t>X1’</a:t>
                </a:r>
                <a:endParaRPr lang="pl-PL" sz="1400" dirty="0"/>
              </a:p>
            </p:txBody>
          </p:sp>
          <p:sp>
            <p:nvSpPr>
              <p:cNvPr id="67" name="Prostokąt 29">
                <a:extLst>
                  <a:ext uri="{FF2B5EF4-FFF2-40B4-BE49-F238E27FC236}">
                    <a16:creationId xmlns:a16="http://schemas.microsoft.com/office/drawing/2014/main" id="{AE1EF50C-4A51-5EB3-6E22-AA560AD545C7}"/>
                  </a:ext>
                </a:extLst>
              </p:cNvPr>
              <p:cNvSpPr/>
              <p:nvPr/>
            </p:nvSpPr>
            <p:spPr>
              <a:xfrm>
                <a:off x="4027744" y="4817126"/>
                <a:ext cx="496910" cy="308069"/>
              </a:xfrm>
              <a:prstGeom prst="rect">
                <a:avLst/>
              </a:prstGeom>
            </p:spPr>
            <p:txBody>
              <a:bodyPr wrap="none">
                <a:spAutoFit/>
              </a:bodyPr>
              <a:lstStyle/>
              <a:p>
                <a:pPr>
                  <a:defRPr/>
                </a:pPr>
                <a:r>
                  <a:rPr lang="pl-PL" sz="1400" b="1" dirty="0">
                    <a:solidFill>
                      <a:schemeClr val="accent1">
                        <a:lumMod val="50000"/>
                      </a:schemeClr>
                    </a:solidFill>
                  </a:rPr>
                  <a:t>X1’’</a:t>
                </a:r>
                <a:endParaRPr lang="pl-PL" sz="1400" dirty="0"/>
              </a:p>
            </p:txBody>
          </p:sp>
          <p:sp>
            <p:nvSpPr>
              <p:cNvPr id="68" name="Prostokąt 30">
                <a:extLst>
                  <a:ext uri="{FF2B5EF4-FFF2-40B4-BE49-F238E27FC236}">
                    <a16:creationId xmlns:a16="http://schemas.microsoft.com/office/drawing/2014/main" id="{4643534D-E19C-C0CB-6BD4-46FA4C62E566}"/>
                  </a:ext>
                </a:extLst>
              </p:cNvPr>
              <p:cNvSpPr/>
              <p:nvPr/>
            </p:nvSpPr>
            <p:spPr>
              <a:xfrm>
                <a:off x="4540530" y="4807598"/>
                <a:ext cx="539774" cy="308069"/>
              </a:xfrm>
              <a:prstGeom prst="rect">
                <a:avLst/>
              </a:prstGeom>
            </p:spPr>
            <p:txBody>
              <a:bodyPr wrap="none">
                <a:spAutoFit/>
              </a:bodyPr>
              <a:lstStyle/>
              <a:p>
                <a:pPr>
                  <a:defRPr/>
                </a:pPr>
                <a:r>
                  <a:rPr lang="pl-PL" sz="1400" b="1" dirty="0">
                    <a:solidFill>
                      <a:schemeClr val="accent1">
                        <a:lumMod val="50000"/>
                      </a:schemeClr>
                    </a:solidFill>
                  </a:rPr>
                  <a:t>X1’’’</a:t>
                </a:r>
                <a:endParaRPr lang="pl-PL" sz="1400" dirty="0"/>
              </a:p>
            </p:txBody>
          </p:sp>
          <p:sp>
            <p:nvSpPr>
              <p:cNvPr id="69" name="Prostokąt 39">
                <a:extLst>
                  <a:ext uri="{FF2B5EF4-FFF2-40B4-BE49-F238E27FC236}">
                    <a16:creationId xmlns:a16="http://schemas.microsoft.com/office/drawing/2014/main" id="{7DA4301A-7987-134B-3BFA-145D2506CAF0}"/>
                  </a:ext>
                </a:extLst>
              </p:cNvPr>
              <p:cNvSpPr/>
              <p:nvPr/>
            </p:nvSpPr>
            <p:spPr>
              <a:xfrm>
                <a:off x="8050651" y="2482514"/>
                <a:ext cx="341775" cy="307871"/>
              </a:xfrm>
              <a:prstGeom prst="rect">
                <a:avLst/>
              </a:prstGeom>
            </p:spPr>
            <p:txBody>
              <a:bodyPr wrap="none">
                <a:spAutoFit/>
              </a:bodyPr>
              <a:lstStyle/>
              <a:p>
                <a:pPr>
                  <a:defRPr/>
                </a:pPr>
                <a:r>
                  <a:rPr lang="pl-PL" sz="1400" b="1" dirty="0">
                    <a:solidFill>
                      <a:schemeClr val="accent1">
                        <a:lumMod val="50000"/>
                      </a:schemeClr>
                    </a:solidFill>
                  </a:rPr>
                  <a:t>M</a:t>
                </a:r>
                <a:endParaRPr lang="pl-PL" sz="1400" dirty="0"/>
              </a:p>
            </p:txBody>
          </p:sp>
          <p:grpSp>
            <p:nvGrpSpPr>
              <p:cNvPr id="70" name="Grupa 46">
                <a:extLst>
                  <a:ext uri="{FF2B5EF4-FFF2-40B4-BE49-F238E27FC236}">
                    <a16:creationId xmlns:a16="http://schemas.microsoft.com/office/drawing/2014/main" id="{583475CA-F8EA-DF16-E3A4-E50C90F57CD9}"/>
                  </a:ext>
                </a:extLst>
              </p:cNvPr>
              <p:cNvGrpSpPr>
                <a:grpSpLocks/>
              </p:cNvGrpSpPr>
              <p:nvPr/>
            </p:nvGrpSpPr>
            <p:grpSpPr bwMode="auto">
              <a:xfrm>
                <a:off x="5975694" y="578793"/>
                <a:ext cx="2253906" cy="1849190"/>
                <a:chOff x="5975694" y="578793"/>
                <a:chExt cx="2253906" cy="1849190"/>
              </a:xfrm>
            </p:grpSpPr>
            <p:grpSp>
              <p:nvGrpSpPr>
                <p:cNvPr id="73" name="Grupa 15">
                  <a:extLst>
                    <a:ext uri="{FF2B5EF4-FFF2-40B4-BE49-F238E27FC236}">
                      <a16:creationId xmlns:a16="http://schemas.microsoft.com/office/drawing/2014/main" id="{A9E84967-F041-A23C-3B98-4FFF9EC4C55D}"/>
                    </a:ext>
                  </a:extLst>
                </p:cNvPr>
                <p:cNvGrpSpPr>
                  <a:grpSpLocks/>
                </p:cNvGrpSpPr>
                <p:nvPr/>
              </p:nvGrpSpPr>
              <p:grpSpPr bwMode="auto">
                <a:xfrm>
                  <a:off x="6629403" y="609600"/>
                  <a:ext cx="1600197" cy="1818383"/>
                  <a:chOff x="4648200" y="239486"/>
                  <a:chExt cx="1727622" cy="2830285"/>
                </a:xfrm>
              </p:grpSpPr>
              <p:sp>
                <p:nvSpPr>
                  <p:cNvPr id="78" name="Line 5">
                    <a:extLst>
                      <a:ext uri="{FF2B5EF4-FFF2-40B4-BE49-F238E27FC236}">
                        <a16:creationId xmlns:a16="http://schemas.microsoft.com/office/drawing/2014/main" id="{F767E922-9BA1-530B-3159-E4B8B5C83147}"/>
                      </a:ext>
                    </a:extLst>
                  </p:cNvPr>
                  <p:cNvSpPr>
                    <a:spLocks noChangeShapeType="1"/>
                  </p:cNvSpPr>
                  <p:nvPr/>
                </p:nvSpPr>
                <p:spPr bwMode="auto">
                  <a:xfrm flipV="1">
                    <a:off x="4648599" y="3026545"/>
                    <a:ext cx="1727703" cy="32133"/>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anchor="ctr">
                    <a:spAutoFit/>
                  </a:bodyPr>
                  <a:lstStyle/>
                  <a:p>
                    <a:pPr>
                      <a:defRPr/>
                    </a:pPr>
                    <a:endParaRPr lang="pl-PL"/>
                  </a:p>
                </p:txBody>
              </p:sp>
              <p:sp>
                <p:nvSpPr>
                  <p:cNvPr id="79" name="Line 4">
                    <a:extLst>
                      <a:ext uri="{FF2B5EF4-FFF2-40B4-BE49-F238E27FC236}">
                        <a16:creationId xmlns:a16="http://schemas.microsoft.com/office/drawing/2014/main" id="{F08494F1-31D9-E6A9-8AB3-E5AEEB2C3FE3}"/>
                      </a:ext>
                    </a:extLst>
                  </p:cNvPr>
                  <p:cNvSpPr>
                    <a:spLocks noChangeShapeType="1"/>
                  </p:cNvSpPr>
                  <p:nvPr/>
                </p:nvSpPr>
                <p:spPr bwMode="auto">
                  <a:xfrm flipV="1">
                    <a:off x="4648599" y="238496"/>
                    <a:ext cx="22281" cy="2830069"/>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anchor="ctr">
                    <a:spAutoFit/>
                  </a:bodyPr>
                  <a:lstStyle/>
                  <a:p>
                    <a:pPr>
                      <a:defRPr/>
                    </a:pPr>
                    <a:endParaRPr lang="pl-PL"/>
                  </a:p>
                </p:txBody>
              </p:sp>
            </p:grpSp>
            <p:sp>
              <p:nvSpPr>
                <p:cNvPr id="74" name="Prostokąt 40">
                  <a:extLst>
                    <a:ext uri="{FF2B5EF4-FFF2-40B4-BE49-F238E27FC236}">
                      <a16:creationId xmlns:a16="http://schemas.microsoft.com/office/drawing/2014/main" id="{994F7690-59D5-D9D9-95E4-04B91C24A76C}"/>
                    </a:ext>
                  </a:extLst>
                </p:cNvPr>
                <p:cNvSpPr/>
                <p:nvPr/>
              </p:nvSpPr>
              <p:spPr>
                <a:xfrm>
                  <a:off x="5975694" y="578793"/>
                  <a:ext cx="357806" cy="307871"/>
                </a:xfrm>
                <a:prstGeom prst="rect">
                  <a:avLst/>
                </a:prstGeom>
              </p:spPr>
              <p:txBody>
                <a:bodyPr wrap="none">
                  <a:spAutoFit/>
                </a:bodyPr>
                <a:lstStyle/>
                <a:p>
                  <a:pPr>
                    <a:defRPr/>
                  </a:pPr>
                  <a:r>
                    <a:rPr lang="pl-PL" sz="1400" b="1" dirty="0">
                      <a:solidFill>
                        <a:schemeClr val="accent1">
                          <a:lumMod val="50000"/>
                        </a:schemeClr>
                      </a:solidFill>
                    </a:rPr>
                    <a:t>x1</a:t>
                  </a:r>
                  <a:endParaRPr lang="pl-PL" sz="1400" dirty="0"/>
                </a:p>
              </p:txBody>
            </p:sp>
            <p:sp>
              <p:nvSpPr>
                <p:cNvPr id="75" name="Elipsa 41">
                  <a:extLst>
                    <a:ext uri="{FF2B5EF4-FFF2-40B4-BE49-F238E27FC236}">
                      <a16:creationId xmlns:a16="http://schemas.microsoft.com/office/drawing/2014/main" id="{866E4A0E-4233-0E1C-2971-603C588678CE}"/>
                    </a:ext>
                  </a:extLst>
                </p:cNvPr>
                <p:cNvSpPr/>
                <p:nvPr/>
              </p:nvSpPr>
              <p:spPr>
                <a:xfrm>
                  <a:off x="7124768" y="1349755"/>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sp>
              <p:nvSpPr>
                <p:cNvPr id="76" name="Elipsa 42">
                  <a:extLst>
                    <a:ext uri="{FF2B5EF4-FFF2-40B4-BE49-F238E27FC236}">
                      <a16:creationId xmlns:a16="http://schemas.microsoft.com/office/drawing/2014/main" id="{769A8139-1E10-3DA1-AEF5-9BC7036CECE4}"/>
                    </a:ext>
                  </a:extLst>
                </p:cNvPr>
                <p:cNvSpPr/>
                <p:nvPr/>
              </p:nvSpPr>
              <p:spPr>
                <a:xfrm>
                  <a:off x="6833007" y="2019263"/>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sp>
              <p:nvSpPr>
                <p:cNvPr id="77" name="Elipsa 43">
                  <a:extLst>
                    <a:ext uri="{FF2B5EF4-FFF2-40B4-BE49-F238E27FC236}">
                      <a16:creationId xmlns:a16="http://schemas.microsoft.com/office/drawing/2014/main" id="{60143511-1CAA-0D00-8220-87420254D868}"/>
                    </a:ext>
                  </a:extLst>
                </p:cNvPr>
                <p:cNvSpPr/>
                <p:nvPr/>
              </p:nvSpPr>
              <p:spPr>
                <a:xfrm>
                  <a:off x="7323133" y="769684"/>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grpSp>
          <p:sp>
            <p:nvSpPr>
              <p:cNvPr id="72" name="Elipsa 19">
                <a:extLst>
                  <a:ext uri="{FF2B5EF4-FFF2-40B4-BE49-F238E27FC236}">
                    <a16:creationId xmlns:a16="http://schemas.microsoft.com/office/drawing/2014/main" id="{E6F8380E-0B11-FE66-F91C-123481193105}"/>
                  </a:ext>
                </a:extLst>
              </p:cNvPr>
              <p:cNvSpPr/>
              <p:nvPr/>
            </p:nvSpPr>
            <p:spPr>
              <a:xfrm>
                <a:off x="5078715" y="2482514"/>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sp>
            <p:nvSpPr>
              <p:cNvPr id="71" name="Elipsa 18">
                <a:extLst>
                  <a:ext uri="{FF2B5EF4-FFF2-40B4-BE49-F238E27FC236}">
                    <a16:creationId xmlns:a16="http://schemas.microsoft.com/office/drawing/2014/main" id="{CBA61DFF-B830-2CD4-A43E-3D1CE2253ED3}"/>
                  </a:ext>
                </a:extLst>
              </p:cNvPr>
              <p:cNvSpPr/>
              <p:nvPr/>
            </p:nvSpPr>
            <p:spPr>
              <a:xfrm>
                <a:off x="4546676" y="2879784"/>
                <a:ext cx="114305" cy="10480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defRPr/>
                </a:pPr>
                <a:endParaRPr lang="pl-PL"/>
              </a:p>
            </p:txBody>
          </p:sp>
        </p:grpSp>
        <p:sp>
          <p:nvSpPr>
            <p:cNvPr id="57" name="Strzałka w dół 45">
              <a:extLst>
                <a:ext uri="{FF2B5EF4-FFF2-40B4-BE49-F238E27FC236}">
                  <a16:creationId xmlns:a16="http://schemas.microsoft.com/office/drawing/2014/main" id="{9529ED96-5A25-15CC-82A7-466AB7D55421}"/>
                </a:ext>
              </a:extLst>
            </p:cNvPr>
            <p:cNvSpPr/>
            <p:nvPr/>
          </p:nvSpPr>
          <p:spPr>
            <a:xfrm rot="13861764">
              <a:off x="5404863" y="2374388"/>
              <a:ext cx="384175" cy="1057322"/>
            </a:xfrm>
            <a:prstGeom prst="downArrow">
              <a:avLst/>
            </a:prstGeom>
          </p:spPr>
          <p:style>
            <a:lnRef idx="2">
              <a:schemeClr val="accent1"/>
            </a:lnRef>
            <a:fillRef idx="1">
              <a:schemeClr val="lt1"/>
            </a:fillRef>
            <a:effectRef idx="0">
              <a:schemeClr val="accent1"/>
            </a:effectRef>
            <a:fontRef idx="minor">
              <a:schemeClr val="dk1"/>
            </a:fontRef>
          </p:style>
          <p:txBody>
            <a:bodyPr anchor="ctr"/>
            <a:lstStyle/>
            <a:p>
              <a:pPr>
                <a:defRPr/>
              </a:pPr>
              <a:endParaRPr lang="pl-PL"/>
            </a:p>
          </p:txBody>
        </p:sp>
        <p:sp>
          <p:nvSpPr>
            <p:cNvPr id="58" name="Dowolny kształt 47">
              <a:extLst>
                <a:ext uri="{FF2B5EF4-FFF2-40B4-BE49-F238E27FC236}">
                  <a16:creationId xmlns:a16="http://schemas.microsoft.com/office/drawing/2014/main" id="{0B8A7EE9-B238-5B12-779F-251679CE1A11}"/>
                </a:ext>
              </a:extLst>
            </p:cNvPr>
            <p:cNvSpPr/>
            <p:nvPr/>
          </p:nvSpPr>
          <p:spPr>
            <a:xfrm rot="8264237">
              <a:off x="2811268" y="4253858"/>
              <a:ext cx="3211616" cy="325413"/>
            </a:xfrm>
            <a:custGeom>
              <a:avLst/>
              <a:gdLst>
                <a:gd name="connsiteX0" fmla="*/ 0 w 3076575"/>
                <a:gd name="connsiteY0" fmla="*/ 0 h 952500"/>
                <a:gd name="connsiteX1" fmla="*/ 819150 w 3076575"/>
                <a:gd name="connsiteY1" fmla="*/ 771525 h 952500"/>
                <a:gd name="connsiteX2" fmla="*/ 3076575 w 3076575"/>
                <a:gd name="connsiteY2" fmla="*/ 942975 h 952500"/>
              </a:gdLst>
              <a:ahLst/>
              <a:cxnLst>
                <a:cxn ang="0">
                  <a:pos x="connsiteX0" y="connsiteY0"/>
                </a:cxn>
                <a:cxn ang="0">
                  <a:pos x="connsiteX1" y="connsiteY1"/>
                </a:cxn>
                <a:cxn ang="0">
                  <a:pos x="connsiteX2" y="connsiteY2"/>
                </a:cxn>
              </a:cxnLst>
              <a:rect l="l" t="t" r="r" b="b"/>
              <a:pathLst>
                <a:path w="3076575" h="952500">
                  <a:moveTo>
                    <a:pt x="0" y="0"/>
                  </a:moveTo>
                  <a:cubicBezTo>
                    <a:pt x="153194" y="307181"/>
                    <a:pt x="306388" y="614363"/>
                    <a:pt x="819150" y="771525"/>
                  </a:cubicBezTo>
                  <a:cubicBezTo>
                    <a:pt x="1331912" y="928687"/>
                    <a:pt x="2693988" y="952500"/>
                    <a:pt x="3076575" y="942975"/>
                  </a:cubicBezTo>
                </a:path>
              </a:pathLst>
            </a:custGeom>
          </p:spPr>
          <p:style>
            <a:lnRef idx="3">
              <a:schemeClr val="accent3"/>
            </a:lnRef>
            <a:fillRef idx="0">
              <a:schemeClr val="accent3"/>
            </a:fillRef>
            <a:effectRef idx="2">
              <a:schemeClr val="accent3"/>
            </a:effectRef>
            <a:fontRef idx="minor">
              <a:schemeClr val="tx1"/>
            </a:fontRef>
          </p:style>
          <p:txBody>
            <a:bodyPr anchor="ctr"/>
            <a:lstStyle/>
            <a:p>
              <a:pPr>
                <a:defRPr/>
              </a:pPr>
              <a:endParaRPr lang="pl-PL"/>
            </a:p>
          </p:txBody>
        </p:sp>
      </p:grpSp>
      <p:sp>
        <p:nvSpPr>
          <p:cNvPr id="3" name="TextBox 2">
            <a:extLst>
              <a:ext uri="{FF2B5EF4-FFF2-40B4-BE49-F238E27FC236}">
                <a16:creationId xmlns:a16="http://schemas.microsoft.com/office/drawing/2014/main" id="{FA211BB6-7F28-D648-B624-DD647E65E8BF}"/>
              </a:ext>
            </a:extLst>
          </p:cNvPr>
          <p:cNvSpPr txBox="1"/>
          <p:nvPr/>
        </p:nvSpPr>
        <p:spPr>
          <a:xfrm>
            <a:off x="6427213" y="1829893"/>
            <a:ext cx="4901763" cy="4401205"/>
          </a:xfrm>
          <a:prstGeom prst="rect">
            <a:avLst/>
          </a:prstGeom>
          <a:noFill/>
        </p:spPr>
        <p:txBody>
          <a:bodyPr wrap="square">
            <a:spAutoFit/>
          </a:bodyPr>
          <a:lstStyle/>
          <a:p>
            <a:pPr algn="just"/>
            <a:r>
              <a:rPr lang="en-US" sz="2800" dirty="0">
                <a:solidFill>
                  <a:schemeClr val="accent5">
                    <a:lumMod val="50000"/>
                  </a:schemeClr>
                </a:solidFill>
              </a:rPr>
              <a:t>The </a:t>
            </a:r>
            <a:r>
              <a:rPr lang="en-US" sz="2800" b="1" dirty="0">
                <a:solidFill>
                  <a:schemeClr val="accent5">
                    <a:lumMod val="50000"/>
                  </a:schemeClr>
                </a:solidFill>
              </a:rPr>
              <a:t>ceteris paribus </a:t>
            </a:r>
            <a:r>
              <a:rPr lang="en-US" sz="2800" dirty="0">
                <a:solidFill>
                  <a:schemeClr val="accent5">
                    <a:lumMod val="50000"/>
                  </a:schemeClr>
                </a:solidFill>
              </a:rPr>
              <a:t>principle – we change only one factor, the </a:t>
            </a:r>
            <a:r>
              <a:rPr lang="pl-PL" sz="2800" dirty="0" err="1">
                <a:solidFill>
                  <a:schemeClr val="accent5">
                    <a:lumMod val="50000"/>
                  </a:schemeClr>
                </a:solidFill>
              </a:rPr>
              <a:t>income</a:t>
            </a:r>
            <a:r>
              <a:rPr lang="en-US" sz="2800" dirty="0">
                <a:solidFill>
                  <a:schemeClr val="accent5">
                    <a:lumMod val="50000"/>
                  </a:schemeClr>
                </a:solidFill>
              </a:rPr>
              <a:t>, and observe how the quantity purchased changes.</a:t>
            </a:r>
            <a:endParaRPr lang="pl-PL" sz="2800" dirty="0">
              <a:solidFill>
                <a:schemeClr val="accent5">
                  <a:lumMod val="50000"/>
                </a:schemeClr>
              </a:solidFill>
            </a:endParaRPr>
          </a:p>
          <a:p>
            <a:pPr algn="just"/>
            <a:endParaRPr lang="pl-PL" sz="2800" dirty="0">
              <a:solidFill>
                <a:schemeClr val="accent5">
                  <a:lumMod val="50000"/>
                </a:schemeClr>
              </a:solidFill>
            </a:endParaRPr>
          </a:p>
          <a:p>
            <a:pPr algn="just"/>
            <a:r>
              <a:rPr lang="pl-PL" sz="2800" dirty="0">
                <a:solidFill>
                  <a:schemeClr val="accent5">
                    <a:lumMod val="50000"/>
                  </a:schemeClr>
                </a:solidFill>
              </a:rPr>
              <a:t>The</a:t>
            </a:r>
            <a:r>
              <a:rPr lang="en-US" sz="2800" dirty="0">
                <a:solidFill>
                  <a:schemeClr val="accent5">
                    <a:lumMod val="50000"/>
                  </a:schemeClr>
                </a:solidFill>
              </a:rPr>
              <a:t> </a:t>
            </a:r>
            <a:r>
              <a:rPr lang="en-US" sz="2800" b="1" dirty="0">
                <a:solidFill>
                  <a:schemeClr val="accent5">
                    <a:lumMod val="50000"/>
                  </a:schemeClr>
                </a:solidFill>
              </a:rPr>
              <a:t>Engel curve </a:t>
            </a:r>
            <a:r>
              <a:rPr lang="en-US" sz="2800" dirty="0">
                <a:solidFill>
                  <a:schemeClr val="accent5">
                    <a:lumMod val="50000"/>
                  </a:schemeClr>
                </a:solidFill>
              </a:rPr>
              <a:t>shows the relationship between a consumer's income and the quantity of a good they demand.</a:t>
            </a:r>
            <a:endParaRPr lang="pl-PL" sz="2800" dirty="0">
              <a:solidFill>
                <a:schemeClr val="accent5">
                  <a:lumMod val="50000"/>
                </a:schemeClr>
              </a:solidFill>
            </a:endParaRPr>
          </a:p>
        </p:txBody>
      </p:sp>
    </p:spTree>
    <p:extLst>
      <p:ext uri="{BB962C8B-B14F-4D97-AF65-F5344CB8AC3E}">
        <p14:creationId xmlns:p14="http://schemas.microsoft.com/office/powerpoint/2010/main" val="3597601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8FD5-D189-242E-8573-973545CAD2FF}"/>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29A50203-8D76-484C-FF53-FE87A43977A4}"/>
              </a:ext>
            </a:extLst>
          </p:cNvPr>
          <p:cNvSpPr>
            <a:spLocks noGrp="1"/>
          </p:cNvSpPr>
          <p:nvPr>
            <p:ph type="title"/>
          </p:nvPr>
        </p:nvSpPr>
        <p:spPr>
          <a:xfrm>
            <a:off x="-1" y="-16062"/>
            <a:ext cx="12192001" cy="948122"/>
          </a:xfrm>
          <a:solidFill>
            <a:schemeClr val="accent5">
              <a:lumMod val="20000"/>
              <a:lumOff val="80000"/>
            </a:schemeClr>
          </a:solidFill>
        </p:spPr>
        <p:txBody>
          <a:bodyPr>
            <a:noAutofit/>
          </a:bodyPr>
          <a:lstStyle/>
          <a:p>
            <a:r>
              <a:rPr lang="pl-PL" sz="3600" b="1" dirty="0" err="1">
                <a:solidFill>
                  <a:schemeClr val="accent5">
                    <a:lumMod val="50000"/>
                  </a:schemeClr>
                </a:solidFill>
              </a:rPr>
              <a:t>Income</a:t>
            </a:r>
            <a:r>
              <a:rPr lang="pl-PL" sz="3600" b="1" dirty="0">
                <a:solidFill>
                  <a:schemeClr val="accent5">
                    <a:lumMod val="50000"/>
                  </a:schemeClr>
                </a:solidFill>
              </a:rPr>
              <a:t> </a:t>
            </a:r>
            <a:r>
              <a:rPr lang="pl-PL" sz="3600" b="1" dirty="0" err="1">
                <a:solidFill>
                  <a:schemeClr val="accent5">
                    <a:lumMod val="50000"/>
                  </a:schemeClr>
                </a:solidFill>
              </a:rPr>
              <a:t>elasticity</a:t>
            </a:r>
            <a:r>
              <a:rPr lang="pl-PL" sz="3600" b="1" dirty="0">
                <a:solidFill>
                  <a:schemeClr val="accent5">
                    <a:lumMod val="50000"/>
                  </a:schemeClr>
                </a:solidFill>
              </a:rPr>
              <a:t> / </a:t>
            </a:r>
            <a:r>
              <a:rPr lang="pl-PL" sz="3600" b="1" dirty="0" err="1">
                <a:solidFill>
                  <a:schemeClr val="accent5">
                    <a:lumMod val="50000"/>
                  </a:schemeClr>
                </a:solidFill>
              </a:rPr>
              <a:t>taxonomy</a:t>
            </a:r>
            <a:endParaRPr lang="en-GB" sz="7200" b="1" dirty="0">
              <a:solidFill>
                <a:schemeClr val="accent5">
                  <a:lumMod val="50000"/>
                </a:schemeClr>
              </a:solidFill>
            </a:endParaRPr>
          </a:p>
        </p:txBody>
      </p:sp>
      <p:sp>
        <p:nvSpPr>
          <p:cNvPr id="3" name="Prostokąt 3">
            <a:extLst>
              <a:ext uri="{FF2B5EF4-FFF2-40B4-BE49-F238E27FC236}">
                <a16:creationId xmlns:a16="http://schemas.microsoft.com/office/drawing/2014/main" id="{39255BE1-B1B3-EA83-4627-EEF13E6ED01D}"/>
              </a:ext>
            </a:extLst>
          </p:cNvPr>
          <p:cNvSpPr>
            <a:spLocks noChangeArrowheads="1"/>
          </p:cNvSpPr>
          <p:nvPr/>
        </p:nvSpPr>
        <p:spPr bwMode="auto">
          <a:xfrm>
            <a:off x="393700" y="934236"/>
            <a:ext cx="8974138" cy="1015663"/>
          </a:xfrm>
          <a:prstGeom prst="rect">
            <a:avLst/>
          </a:prstGeom>
          <a:noFill/>
          <a:ln w="9525">
            <a:noFill/>
            <a:miter lim="800000"/>
            <a:headEnd/>
            <a:tailEnd/>
          </a:ln>
        </p:spPr>
        <p:txBody>
          <a:bodyPr>
            <a:spAutoFit/>
          </a:bodyPr>
          <a:lstStyle/>
          <a:p>
            <a:pPr algn="l">
              <a:defRPr/>
            </a:pPr>
            <a:r>
              <a:rPr lang="en-US" sz="2000" b="1" dirty="0">
                <a:solidFill>
                  <a:schemeClr val="accent5">
                    <a:lumMod val="50000"/>
                  </a:schemeClr>
                </a:solidFill>
                <a:sym typeface="Symbol" pitchFamily="18" charset="2"/>
              </a:rPr>
              <a:t>Types of Goods Based on Income Elasticity:</a:t>
            </a:r>
            <a:endParaRPr lang="pl-PL" sz="2000" b="1" dirty="0">
              <a:solidFill>
                <a:schemeClr val="accent5">
                  <a:lumMod val="50000"/>
                </a:schemeClr>
              </a:solidFill>
              <a:sym typeface="Symbol" pitchFamily="18" charset="2"/>
            </a:endParaRPr>
          </a:p>
          <a:p>
            <a:pPr algn="l">
              <a:defRPr/>
            </a:pPr>
            <a:endParaRPr lang="pl-PL" sz="2000" b="1" dirty="0">
              <a:solidFill>
                <a:schemeClr val="accent5">
                  <a:lumMod val="50000"/>
                </a:schemeClr>
              </a:solidFill>
              <a:sym typeface="Symbol" pitchFamily="18" charset="2"/>
            </a:endParaRPr>
          </a:p>
          <a:p>
            <a:pPr algn="l">
              <a:defRPr/>
            </a:pPr>
            <a:r>
              <a:rPr lang="pl-PL" sz="2000" b="1" dirty="0">
                <a:solidFill>
                  <a:schemeClr val="accent5">
                    <a:lumMod val="50000"/>
                  </a:schemeClr>
                </a:solidFill>
                <a:sym typeface="Symbol" pitchFamily="18" charset="2"/>
              </a:rPr>
              <a:t>x1 = f(p1, </a:t>
            </a:r>
            <a:r>
              <a:rPr lang="pl-PL" sz="2000" b="1" dirty="0">
                <a:solidFill>
                  <a:srgbClr val="FF0000"/>
                </a:solidFill>
                <a:sym typeface="Symbol" pitchFamily="18" charset="2"/>
              </a:rPr>
              <a:t>M</a:t>
            </a:r>
            <a:r>
              <a:rPr lang="pl-PL" sz="2000" b="1" dirty="0">
                <a:solidFill>
                  <a:schemeClr val="accent5">
                    <a:lumMod val="50000"/>
                  </a:schemeClr>
                </a:solidFill>
                <a:sym typeface="Symbol" pitchFamily="18" charset="2"/>
              </a:rPr>
              <a:t>, p2, … </a:t>
            </a:r>
          </a:p>
        </p:txBody>
      </p:sp>
      <p:cxnSp>
        <p:nvCxnSpPr>
          <p:cNvPr id="4" name="Łącznik prosty ze strzałką 12">
            <a:extLst>
              <a:ext uri="{FF2B5EF4-FFF2-40B4-BE49-F238E27FC236}">
                <a16:creationId xmlns:a16="http://schemas.microsoft.com/office/drawing/2014/main" id="{B7A6ED80-1B93-7DB5-430E-34CCFA9C615F}"/>
              </a:ext>
            </a:extLst>
          </p:cNvPr>
          <p:cNvCxnSpPr/>
          <p:nvPr/>
        </p:nvCxnSpPr>
        <p:spPr>
          <a:xfrm>
            <a:off x="1658938" y="1878005"/>
            <a:ext cx="9525" cy="7334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5" name="Prostokąt 3">
            <a:extLst>
              <a:ext uri="{FF2B5EF4-FFF2-40B4-BE49-F238E27FC236}">
                <a16:creationId xmlns:a16="http://schemas.microsoft.com/office/drawing/2014/main" id="{370B3176-269A-762A-454C-895F1B3B5340}"/>
              </a:ext>
            </a:extLst>
          </p:cNvPr>
          <p:cNvSpPr>
            <a:spLocks noChangeArrowheads="1"/>
          </p:cNvSpPr>
          <p:nvPr/>
        </p:nvSpPr>
        <p:spPr bwMode="auto">
          <a:xfrm>
            <a:off x="685800" y="2576622"/>
            <a:ext cx="4371622" cy="1015663"/>
          </a:xfrm>
          <a:prstGeom prst="rect">
            <a:avLst/>
          </a:prstGeom>
          <a:noFill/>
          <a:ln w="9525">
            <a:noFill/>
            <a:miter lim="800000"/>
            <a:headEnd/>
            <a:tailEnd/>
          </a:ln>
        </p:spPr>
        <p:txBody>
          <a:bodyPr wrap="square">
            <a:spAutoFit/>
          </a:bodyPr>
          <a:lstStyle/>
          <a:p>
            <a:pPr algn="just">
              <a:defRPr/>
            </a:pPr>
            <a:r>
              <a:rPr lang="pl-PL" sz="2000" b="1" dirty="0">
                <a:solidFill>
                  <a:srgbClr val="FF0000"/>
                </a:solidFill>
                <a:sym typeface="Symbol" pitchFamily="18" charset="2"/>
              </a:rPr>
              <a:t>(+)</a:t>
            </a:r>
            <a:r>
              <a:rPr lang="pl-PL" sz="2000" b="1"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Normal </a:t>
            </a:r>
            <a:r>
              <a:rPr lang="pl-PL" sz="2000" b="1" dirty="0">
                <a:solidFill>
                  <a:schemeClr val="accent5">
                    <a:lumMod val="50000"/>
                  </a:schemeClr>
                </a:solidFill>
                <a:sym typeface="Symbol" pitchFamily="18" charset="2"/>
              </a:rPr>
              <a:t>g</a:t>
            </a:r>
            <a:r>
              <a:rPr lang="en-US" sz="2000" b="1" dirty="0" err="1">
                <a:solidFill>
                  <a:schemeClr val="accent5">
                    <a:lumMod val="50000"/>
                  </a:schemeClr>
                </a:solidFill>
                <a:sym typeface="Symbol" pitchFamily="18" charset="2"/>
              </a:rPr>
              <a:t>ood</a:t>
            </a:r>
            <a:r>
              <a:rPr lang="pl-PL" sz="2000" b="1"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   A good for which demand increases as income rises.</a:t>
            </a:r>
            <a:r>
              <a:rPr lang="pl-PL" sz="2000" b="1"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For normal goods</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dirty="0">
                <a:solidFill>
                  <a:schemeClr val="accent5">
                    <a:lumMod val="50000"/>
                  </a:schemeClr>
                </a:solidFill>
                <a:sym typeface="Symbol" pitchFamily="18" charset="2"/>
              </a:rPr>
              <a:t>&gt;1 </a:t>
            </a:r>
          </a:p>
        </p:txBody>
      </p:sp>
      <p:cxnSp>
        <p:nvCxnSpPr>
          <p:cNvPr id="6" name="Łącznik prosty ze strzałką 55">
            <a:extLst>
              <a:ext uri="{FF2B5EF4-FFF2-40B4-BE49-F238E27FC236}">
                <a16:creationId xmlns:a16="http://schemas.microsoft.com/office/drawing/2014/main" id="{726E52E6-4882-6238-2748-33C5B6EF9DBF}"/>
              </a:ext>
            </a:extLst>
          </p:cNvPr>
          <p:cNvCxnSpPr>
            <a:cxnSpLocks/>
            <a:endCxn id="7" idx="1"/>
          </p:cNvCxnSpPr>
          <p:nvPr/>
        </p:nvCxnSpPr>
        <p:spPr>
          <a:xfrm flipV="1">
            <a:off x="1732800" y="1858079"/>
            <a:ext cx="4153738" cy="1161"/>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7" name="Prostokąt 3">
            <a:extLst>
              <a:ext uri="{FF2B5EF4-FFF2-40B4-BE49-F238E27FC236}">
                <a16:creationId xmlns:a16="http://schemas.microsoft.com/office/drawing/2014/main" id="{D6E70D95-7B59-3F70-7A20-D62E1E99DEB7}"/>
              </a:ext>
            </a:extLst>
          </p:cNvPr>
          <p:cNvSpPr>
            <a:spLocks noChangeArrowheads="1"/>
          </p:cNvSpPr>
          <p:nvPr/>
        </p:nvSpPr>
        <p:spPr bwMode="auto">
          <a:xfrm>
            <a:off x="5886538" y="1042471"/>
            <a:ext cx="5820040" cy="1631216"/>
          </a:xfrm>
          <a:prstGeom prst="rect">
            <a:avLst/>
          </a:prstGeom>
          <a:noFill/>
          <a:ln w="9525">
            <a:noFill/>
            <a:miter lim="800000"/>
            <a:headEnd/>
            <a:tailEnd/>
          </a:ln>
        </p:spPr>
        <p:txBody>
          <a:bodyPr wrap="square">
            <a:spAutoFit/>
          </a:bodyPr>
          <a:lstStyle/>
          <a:p>
            <a:pPr algn="just">
              <a:defRPr/>
            </a:pPr>
            <a:r>
              <a:rPr lang="pl-PL" sz="2000" b="1" dirty="0">
                <a:solidFill>
                  <a:srgbClr val="FF0000"/>
                </a:solidFill>
                <a:sym typeface="Symbol" pitchFamily="18" charset="2"/>
              </a:rPr>
              <a:t>(-)</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Inferior</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goods</a:t>
            </a:r>
            <a:r>
              <a:rPr lang="pl-PL" sz="2000" b="1" dirty="0">
                <a:solidFill>
                  <a:schemeClr val="accent5">
                    <a:lumMod val="50000"/>
                  </a:schemeClr>
                </a:solidFill>
                <a:sym typeface="Symbol" pitchFamily="18" charset="2"/>
              </a:rPr>
              <a:t> for </a:t>
            </a:r>
            <a:r>
              <a:rPr lang="pl-PL" sz="2000" b="1" dirty="0" err="1">
                <a:solidFill>
                  <a:schemeClr val="accent5">
                    <a:lumMod val="50000"/>
                  </a:schemeClr>
                </a:solidFill>
                <a:sym typeface="Symbol" pitchFamily="18" charset="2"/>
              </a:rPr>
              <a:t>which</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demand</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decreases</a:t>
            </a:r>
            <a:r>
              <a:rPr lang="pl-PL" sz="2000" b="1" dirty="0">
                <a:solidFill>
                  <a:schemeClr val="accent5">
                    <a:lumMod val="50000"/>
                  </a:schemeClr>
                </a:solidFill>
                <a:sym typeface="Symbol" pitchFamily="18" charset="2"/>
              </a:rPr>
              <a:t> as </a:t>
            </a:r>
            <a:r>
              <a:rPr lang="pl-PL" sz="2000" b="1" dirty="0" err="1">
                <a:solidFill>
                  <a:schemeClr val="accent5">
                    <a:lumMod val="50000"/>
                  </a:schemeClr>
                </a:solidFill>
                <a:sym typeface="Symbol" pitchFamily="18" charset="2"/>
              </a:rPr>
              <a:t>income</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rises</a:t>
            </a:r>
            <a:r>
              <a:rPr lang="pl-PL" sz="2000" b="1" dirty="0">
                <a:solidFill>
                  <a:schemeClr val="accent5">
                    <a:lumMod val="50000"/>
                  </a:schemeClr>
                </a:solidFill>
                <a:sym typeface="Symbol" pitchFamily="18" charset="2"/>
              </a:rPr>
              <a:t>. For </a:t>
            </a:r>
            <a:r>
              <a:rPr lang="pl-PL" sz="2000" b="1" dirty="0" err="1">
                <a:solidFill>
                  <a:schemeClr val="accent5">
                    <a:lumMod val="50000"/>
                  </a:schemeClr>
                </a:solidFill>
                <a:sym typeface="Symbol" pitchFamily="18" charset="2"/>
              </a:rPr>
              <a:t>inferior</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goods</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dirty="0">
                <a:solidFill>
                  <a:schemeClr val="accent5">
                    <a:lumMod val="50000"/>
                  </a:schemeClr>
                </a:solidFill>
                <a:sym typeface="Symbol" pitchFamily="18" charset="2"/>
              </a:rPr>
              <a:t>&lt; 0</a:t>
            </a:r>
          </a:p>
          <a:p>
            <a:pPr algn="just">
              <a:defRPr/>
            </a:pPr>
            <a:endParaRPr lang="pl-PL" sz="2000" b="1" dirty="0">
              <a:solidFill>
                <a:schemeClr val="accent5">
                  <a:lumMod val="50000"/>
                </a:schemeClr>
              </a:solidFill>
              <a:sym typeface="Symbol" pitchFamily="18" charset="2"/>
            </a:endParaRPr>
          </a:p>
          <a:p>
            <a:pPr algn="just">
              <a:defRPr/>
            </a:pP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Margarine</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baseline="-25000" dirty="0">
                <a:solidFill>
                  <a:schemeClr val="accent5">
                    <a:lumMod val="50000"/>
                  </a:schemeClr>
                </a:solidFill>
                <a:sym typeface="Symbol" pitchFamily="18" charset="2"/>
              </a:rPr>
              <a:t> </a:t>
            </a:r>
            <a:r>
              <a:rPr lang="pl-PL" sz="2000" b="1" dirty="0">
                <a:solidFill>
                  <a:schemeClr val="accent5">
                    <a:lumMod val="50000"/>
                  </a:schemeClr>
                </a:solidFill>
                <a:sym typeface="Symbol" pitchFamily="18" charset="2"/>
              </a:rPr>
              <a:t>​= −0.20 ]</a:t>
            </a:r>
          </a:p>
          <a:p>
            <a:pPr algn="just">
              <a:defRPr/>
            </a:pPr>
            <a:r>
              <a:rPr lang="pl-PL" sz="2000" b="1" dirty="0">
                <a:solidFill>
                  <a:schemeClr val="accent5">
                    <a:lumMod val="50000"/>
                  </a:schemeClr>
                </a:solidFill>
                <a:sym typeface="Symbol" pitchFamily="18" charset="2"/>
              </a:rPr>
              <a:t>[ Public </a:t>
            </a:r>
            <a:r>
              <a:rPr lang="pl-PL" sz="2000" b="1" dirty="0" err="1">
                <a:solidFill>
                  <a:schemeClr val="accent5">
                    <a:lumMod val="50000"/>
                  </a:schemeClr>
                </a:solidFill>
                <a:sym typeface="Symbol" pitchFamily="18" charset="2"/>
              </a:rPr>
              <a:t>Transportation</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dirty="0">
                <a:solidFill>
                  <a:schemeClr val="accent5">
                    <a:lumMod val="50000"/>
                  </a:schemeClr>
                </a:solidFill>
                <a:sym typeface="Symbol" pitchFamily="18" charset="2"/>
              </a:rPr>
              <a:t>= -0.36</a:t>
            </a:r>
          </a:p>
        </p:txBody>
      </p:sp>
      <p:graphicFrame>
        <p:nvGraphicFramePr>
          <p:cNvPr id="8" name="Object 2">
            <a:extLst>
              <a:ext uri="{FF2B5EF4-FFF2-40B4-BE49-F238E27FC236}">
                <a16:creationId xmlns:a16="http://schemas.microsoft.com/office/drawing/2014/main" id="{881D3E51-1ADA-A290-DB45-E7E5B4DA664D}"/>
              </a:ext>
            </a:extLst>
          </p:cNvPr>
          <p:cNvGraphicFramePr>
            <a:graphicFrameLocks noChangeAspect="1"/>
          </p:cNvGraphicFramePr>
          <p:nvPr>
            <p:extLst>
              <p:ext uri="{D42A27DB-BD31-4B8C-83A1-F6EECF244321}">
                <p14:modId xmlns:p14="http://schemas.microsoft.com/office/powerpoint/2010/main" val="1780232775"/>
              </p:ext>
            </p:extLst>
          </p:nvPr>
        </p:nvGraphicFramePr>
        <p:xfrm>
          <a:off x="9218635" y="2781922"/>
          <a:ext cx="2411413" cy="1408112"/>
        </p:xfrm>
        <a:graphic>
          <a:graphicData uri="http://schemas.openxmlformats.org/presentationml/2006/ole">
            <mc:AlternateContent xmlns:mc="http://schemas.openxmlformats.org/markup-compatibility/2006">
              <mc:Choice xmlns:v="urn:schemas-microsoft-com:vml" Requires="v">
                <p:oleObj name="Równanie" r:id="rId3" imgW="1371600" imgH="800100" progId="Equation.3">
                  <p:embed/>
                </p:oleObj>
              </mc:Choice>
              <mc:Fallback>
                <p:oleObj name="Równanie" r:id="rId3" imgW="1371600" imgH="800100" progId="Equation.3">
                  <p:embed/>
                  <p:pic>
                    <p:nvPicPr>
                      <p:cNvPr id="2253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18635" y="2781922"/>
                        <a:ext cx="2411413" cy="14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9" name="Łącznik prosty ze strzałką 22">
            <a:extLst>
              <a:ext uri="{FF2B5EF4-FFF2-40B4-BE49-F238E27FC236}">
                <a16:creationId xmlns:a16="http://schemas.microsoft.com/office/drawing/2014/main" id="{8A164D2E-3564-0806-C945-967C25FA1B61}"/>
              </a:ext>
            </a:extLst>
          </p:cNvPr>
          <p:cNvCxnSpPr>
            <a:cxnSpLocks/>
            <a:stCxn id="5" idx="2"/>
          </p:cNvCxnSpPr>
          <p:nvPr/>
        </p:nvCxnSpPr>
        <p:spPr>
          <a:xfrm flipH="1">
            <a:off x="1072444" y="3592285"/>
            <a:ext cx="1799167" cy="37944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0" name="Łącznik prosty ze strzałką 28">
            <a:extLst>
              <a:ext uri="{FF2B5EF4-FFF2-40B4-BE49-F238E27FC236}">
                <a16:creationId xmlns:a16="http://schemas.microsoft.com/office/drawing/2014/main" id="{6A553965-14D1-DBF4-7177-CB3E74EF6F51}"/>
              </a:ext>
            </a:extLst>
          </p:cNvPr>
          <p:cNvCxnSpPr>
            <a:cxnSpLocks/>
            <a:stCxn id="5" idx="2"/>
            <a:endCxn id="12" idx="0"/>
          </p:cNvCxnSpPr>
          <p:nvPr/>
        </p:nvCxnSpPr>
        <p:spPr>
          <a:xfrm>
            <a:off x="2871611" y="3592285"/>
            <a:ext cx="4686300" cy="975851"/>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1" name="Prostokąt 3">
            <a:extLst>
              <a:ext uri="{FF2B5EF4-FFF2-40B4-BE49-F238E27FC236}">
                <a16:creationId xmlns:a16="http://schemas.microsoft.com/office/drawing/2014/main" id="{55CEE57F-736D-2B26-0CBB-AAC21C5CA852}"/>
              </a:ext>
            </a:extLst>
          </p:cNvPr>
          <p:cNvSpPr>
            <a:spLocks noChangeArrowheads="1"/>
          </p:cNvSpPr>
          <p:nvPr/>
        </p:nvSpPr>
        <p:spPr bwMode="auto">
          <a:xfrm>
            <a:off x="80832" y="3928172"/>
            <a:ext cx="3782392" cy="2862322"/>
          </a:xfrm>
          <a:prstGeom prst="rect">
            <a:avLst/>
          </a:prstGeom>
          <a:noFill/>
          <a:ln w="9525">
            <a:noFill/>
            <a:miter lim="800000"/>
            <a:headEnd/>
            <a:tailEnd/>
          </a:ln>
        </p:spPr>
        <p:txBody>
          <a:bodyPr wrap="square">
            <a:spAutoFit/>
          </a:bodyPr>
          <a:lstStyle/>
          <a:p>
            <a:pPr algn="just">
              <a:defRPr/>
            </a:pPr>
            <a:r>
              <a:rPr lang="en-US" sz="2000" b="1" dirty="0">
                <a:solidFill>
                  <a:schemeClr val="accent5">
                    <a:lumMod val="50000"/>
                  </a:schemeClr>
                </a:solidFill>
                <a:sym typeface="Symbol" pitchFamily="18" charset="2"/>
              </a:rPr>
              <a:t>Superior</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luxory</a:t>
            </a:r>
            <a:r>
              <a:rPr lang="pl-PL" sz="2000" b="1"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have a high income elasticity, meaning demand rises more than proportionally with income increases</a:t>
            </a:r>
            <a:r>
              <a:rPr lang="pl-PL" sz="2000" b="1" dirty="0">
                <a:solidFill>
                  <a:schemeClr val="accent5">
                    <a:lumMod val="50000"/>
                  </a:schemeClr>
                </a:solidFill>
                <a:sym typeface="Symbol" pitchFamily="18" charset="2"/>
              </a:rPr>
              <a:t>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baseline="-25000" dirty="0">
                <a:solidFill>
                  <a:schemeClr val="accent5">
                    <a:lumMod val="50000"/>
                  </a:schemeClr>
                </a:solidFill>
                <a:sym typeface="Symbol" pitchFamily="18" charset="2"/>
              </a:rPr>
              <a:t> </a:t>
            </a:r>
            <a:r>
              <a:rPr lang="pl-PL" sz="2000" b="1" dirty="0">
                <a:solidFill>
                  <a:schemeClr val="accent5">
                    <a:lumMod val="50000"/>
                  </a:schemeClr>
                </a:solidFill>
                <a:sym typeface="Symbol" pitchFamily="18" charset="2"/>
              </a:rPr>
              <a:t>&gt; 1</a:t>
            </a:r>
            <a:endParaRPr lang="en-US" sz="2000" b="1" dirty="0">
              <a:solidFill>
                <a:schemeClr val="accent5">
                  <a:lumMod val="50000"/>
                </a:schemeClr>
              </a:solidFill>
              <a:sym typeface="Symbol" pitchFamily="18" charset="2"/>
            </a:endParaRPr>
          </a:p>
          <a:p>
            <a:pPr algn="just">
              <a:defRPr/>
            </a:pPr>
            <a:endParaRPr lang="pl-PL" sz="2000" b="1" dirty="0">
              <a:solidFill>
                <a:schemeClr val="accent5">
                  <a:lumMod val="50000"/>
                </a:schemeClr>
              </a:solidFill>
              <a:sym typeface="Symbol" pitchFamily="18" charset="2"/>
            </a:endParaRPr>
          </a:p>
          <a:p>
            <a:pPr algn="just">
              <a:defRPr/>
            </a:pPr>
            <a:r>
              <a:rPr lang="pl-PL" sz="2000" b="1" dirty="0">
                <a:solidFill>
                  <a:schemeClr val="accent5">
                    <a:lumMod val="50000"/>
                  </a:schemeClr>
                </a:solidFill>
                <a:sym typeface="Symbol" pitchFamily="18" charset="2"/>
              </a:rPr>
              <a:t>[</a:t>
            </a:r>
            <a:r>
              <a:rPr lang="en-US" sz="2000" b="1" dirty="0">
                <a:solidFill>
                  <a:schemeClr val="accent5">
                    <a:lumMod val="50000"/>
                  </a:schemeClr>
                </a:solidFill>
                <a:sym typeface="Symbol" pitchFamily="18" charset="2"/>
              </a:rPr>
              <a:t>Automobiles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baseline="-25000"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=2.46</a:t>
            </a:r>
            <a:r>
              <a:rPr lang="pl-PL" sz="2000" b="1" dirty="0">
                <a:solidFill>
                  <a:schemeClr val="accent5">
                    <a:lumMod val="50000"/>
                  </a:schemeClr>
                </a:solidFill>
                <a:sym typeface="Symbol" pitchFamily="18" charset="2"/>
              </a:rPr>
              <a:t> ]</a:t>
            </a:r>
          </a:p>
          <a:p>
            <a:pPr algn="just">
              <a:defRPr/>
            </a:pPr>
            <a:r>
              <a:rPr lang="pl-PL" sz="2000" b="1" dirty="0">
                <a:solidFill>
                  <a:schemeClr val="accent5">
                    <a:lumMod val="50000"/>
                  </a:schemeClr>
                </a:solidFill>
                <a:sym typeface="Symbol" pitchFamily="18" charset="2"/>
              </a:rPr>
              <a:t>[</a:t>
            </a:r>
            <a:r>
              <a:rPr lang="en-US" sz="2000" b="1" dirty="0">
                <a:solidFill>
                  <a:schemeClr val="accent5">
                    <a:lumMod val="50000"/>
                  </a:schemeClr>
                </a:solidFill>
                <a:sym typeface="Symbol" pitchFamily="18" charset="2"/>
              </a:rPr>
              <a:t>Books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baseline="-25000"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=1.44</a:t>
            </a:r>
            <a:r>
              <a:rPr lang="pl-PL" sz="2000" b="1" dirty="0">
                <a:solidFill>
                  <a:schemeClr val="accent5">
                    <a:lumMod val="50000"/>
                  </a:schemeClr>
                </a:solidFill>
                <a:sym typeface="Symbol" pitchFamily="18" charset="2"/>
              </a:rPr>
              <a:t>]</a:t>
            </a:r>
          </a:p>
          <a:p>
            <a:pPr algn="just">
              <a:defRPr/>
            </a:pPr>
            <a:r>
              <a:rPr lang="pl-PL" sz="2000" b="1" dirty="0">
                <a:solidFill>
                  <a:schemeClr val="accent5">
                    <a:lumMod val="50000"/>
                  </a:schemeClr>
                </a:solidFill>
                <a:sym typeface="Symbol" pitchFamily="18" charset="2"/>
              </a:rPr>
              <a:t>[</a:t>
            </a:r>
            <a:r>
              <a:rPr lang="en-US" sz="2000" b="1" dirty="0">
                <a:solidFill>
                  <a:schemeClr val="accent5">
                    <a:lumMod val="50000"/>
                  </a:schemeClr>
                </a:solidFill>
                <a:sym typeface="Symbol" pitchFamily="18" charset="2"/>
              </a:rPr>
              <a:t>Restaurant Meals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baseline="-25000"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=1.40</a:t>
            </a:r>
            <a:r>
              <a:rPr lang="pl-PL" sz="2000" b="1" dirty="0">
                <a:solidFill>
                  <a:schemeClr val="accent5">
                    <a:lumMod val="50000"/>
                  </a:schemeClr>
                </a:solidFill>
                <a:sym typeface="Symbol" pitchFamily="18" charset="2"/>
              </a:rPr>
              <a:t>]</a:t>
            </a:r>
          </a:p>
        </p:txBody>
      </p:sp>
      <p:sp>
        <p:nvSpPr>
          <p:cNvPr id="12" name="Prostokąt 3">
            <a:extLst>
              <a:ext uri="{FF2B5EF4-FFF2-40B4-BE49-F238E27FC236}">
                <a16:creationId xmlns:a16="http://schemas.microsoft.com/office/drawing/2014/main" id="{DED84C7E-38F6-732A-7F8D-CB54D90F1904}"/>
              </a:ext>
            </a:extLst>
          </p:cNvPr>
          <p:cNvSpPr>
            <a:spLocks noChangeArrowheads="1"/>
          </p:cNvSpPr>
          <p:nvPr/>
        </p:nvSpPr>
        <p:spPr bwMode="auto">
          <a:xfrm>
            <a:off x="5057422" y="4568136"/>
            <a:ext cx="5000978" cy="1631216"/>
          </a:xfrm>
          <a:prstGeom prst="rect">
            <a:avLst/>
          </a:prstGeom>
          <a:noFill/>
          <a:ln w="9525">
            <a:noFill/>
            <a:miter lim="800000"/>
            <a:headEnd/>
            <a:tailEnd/>
          </a:ln>
        </p:spPr>
        <p:txBody>
          <a:bodyPr wrap="square">
            <a:spAutoFit/>
          </a:bodyPr>
          <a:lstStyle/>
          <a:p>
            <a:pPr algn="just">
              <a:defRPr/>
            </a:pPr>
            <a:r>
              <a:rPr lang="en-US" sz="2000" b="1" dirty="0">
                <a:solidFill>
                  <a:schemeClr val="accent5">
                    <a:lumMod val="50000"/>
                  </a:schemeClr>
                </a:solidFill>
                <a:sym typeface="Symbol" pitchFamily="18" charset="2"/>
              </a:rPr>
              <a:t>Necessity goods</a:t>
            </a:r>
            <a:r>
              <a:rPr lang="pl-PL" sz="2000" b="1"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have an income elasticity between 0 and 1, meaning demand rises but at a slower rate than income</a:t>
            </a:r>
            <a:r>
              <a:rPr lang="pl-PL" sz="2000" b="1" dirty="0">
                <a:solidFill>
                  <a:schemeClr val="accent5">
                    <a:lumMod val="50000"/>
                  </a:schemeClr>
                </a:solidFill>
                <a:sym typeface="Symbol" pitchFamily="18" charset="2"/>
              </a:rPr>
              <a:t> 0 &lt;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dirty="0">
                <a:solidFill>
                  <a:schemeClr val="accent5">
                    <a:lumMod val="50000"/>
                  </a:schemeClr>
                </a:solidFill>
                <a:sym typeface="Symbol" pitchFamily="18" charset="2"/>
              </a:rPr>
              <a:t>&lt;1.</a:t>
            </a:r>
            <a:endParaRPr lang="en-US" sz="2000" b="1" dirty="0">
              <a:solidFill>
                <a:schemeClr val="accent5">
                  <a:lumMod val="50000"/>
                </a:schemeClr>
              </a:solidFill>
              <a:sym typeface="Symbol" pitchFamily="18" charset="2"/>
            </a:endParaRPr>
          </a:p>
          <a:p>
            <a:pPr algn="just">
              <a:defRPr/>
            </a:pPr>
            <a:endParaRPr lang="pl-PL" sz="2000" b="1" dirty="0">
              <a:solidFill>
                <a:schemeClr val="accent5">
                  <a:lumMod val="50000"/>
                </a:schemeClr>
              </a:solidFill>
              <a:sym typeface="Symbol" pitchFamily="18" charset="2"/>
            </a:endParaRPr>
          </a:p>
          <a:p>
            <a:pPr algn="just">
              <a:defRPr/>
            </a:pPr>
            <a:r>
              <a:rPr lang="pl-PL" sz="2000" b="1" dirty="0">
                <a:solidFill>
                  <a:schemeClr val="accent5">
                    <a:lumMod val="50000"/>
                  </a:schemeClr>
                </a:solidFill>
                <a:sym typeface="Symbol" pitchFamily="18" charset="2"/>
              </a:rPr>
              <a:t>[</a:t>
            </a:r>
            <a:r>
              <a:rPr lang="en-US" sz="2000" b="1" dirty="0">
                <a:solidFill>
                  <a:schemeClr val="accent5">
                    <a:lumMod val="50000"/>
                  </a:schemeClr>
                </a:solidFill>
                <a:sym typeface="Symbol" pitchFamily="18" charset="2"/>
              </a:rPr>
              <a:t>Tobacco </a:t>
            </a:r>
            <a:r>
              <a:rPr lang="pl-PL" sz="2000" b="1" dirty="0" err="1">
                <a:solidFill>
                  <a:schemeClr val="accent5">
                    <a:lumMod val="50000"/>
                  </a:schemeClr>
                </a:solidFill>
                <a:sym typeface="Symbol" pitchFamily="18" charset="2"/>
              </a:rPr>
              <a:t>E</a:t>
            </a:r>
            <a:r>
              <a:rPr lang="pl-PL" sz="2000" b="1" baseline="-25000" dirty="0" err="1">
                <a:solidFill>
                  <a:schemeClr val="accent5">
                    <a:lumMod val="50000"/>
                  </a:schemeClr>
                </a:solidFill>
                <a:sym typeface="Symbol" pitchFamily="18" charset="2"/>
              </a:rPr>
              <a:t>income</a:t>
            </a:r>
            <a:r>
              <a:rPr lang="pl-PL" sz="2000" b="1" baseline="-25000"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a:t>
            </a:r>
            <a:r>
              <a:rPr lang="pl-PL" sz="2000" b="1" dirty="0">
                <a:solidFill>
                  <a:schemeClr val="accent5">
                    <a:lumMod val="50000"/>
                  </a:schemeClr>
                </a:solidFill>
                <a:sym typeface="Symbol" pitchFamily="18" charset="2"/>
              </a:rPr>
              <a:t> </a:t>
            </a:r>
            <a:r>
              <a:rPr lang="en-US" sz="2000" b="1" dirty="0">
                <a:solidFill>
                  <a:schemeClr val="accent5">
                    <a:lumMod val="50000"/>
                  </a:schemeClr>
                </a:solidFill>
                <a:sym typeface="Symbol" pitchFamily="18" charset="2"/>
              </a:rPr>
              <a:t>0.64</a:t>
            </a:r>
            <a:endParaRPr lang="pl-PL" sz="2000" b="1" dirty="0">
              <a:solidFill>
                <a:schemeClr val="accent5">
                  <a:lumMod val="50000"/>
                </a:schemeClr>
              </a:solidFill>
              <a:sym typeface="Symbol" pitchFamily="18" charset="2"/>
            </a:endParaRPr>
          </a:p>
        </p:txBody>
      </p:sp>
    </p:spTree>
    <p:extLst>
      <p:ext uri="{BB962C8B-B14F-4D97-AF65-F5344CB8AC3E}">
        <p14:creationId xmlns:p14="http://schemas.microsoft.com/office/powerpoint/2010/main" val="502903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C9C8B-31D2-5657-C1B8-45A1A3477525}"/>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66D0E4C5-0F28-2CE2-49FC-BE919655812B}"/>
              </a:ext>
            </a:extLst>
          </p:cNvPr>
          <p:cNvSpPr>
            <a:spLocks noGrp="1"/>
          </p:cNvSpPr>
          <p:nvPr>
            <p:ph type="title"/>
          </p:nvPr>
        </p:nvSpPr>
        <p:spPr>
          <a:xfrm>
            <a:off x="0" y="-13886"/>
            <a:ext cx="12192001" cy="1187024"/>
          </a:xfrm>
          <a:solidFill>
            <a:schemeClr val="accent5">
              <a:lumMod val="20000"/>
              <a:lumOff val="80000"/>
            </a:schemeClr>
          </a:solidFill>
        </p:spPr>
        <p:txBody>
          <a:bodyPr>
            <a:noAutofit/>
          </a:bodyPr>
          <a:lstStyle/>
          <a:p>
            <a:r>
              <a:rPr lang="pl-PL" sz="4400" b="1" dirty="0" err="1">
                <a:solidFill>
                  <a:schemeClr val="accent5">
                    <a:lumMod val="50000"/>
                  </a:schemeClr>
                </a:solidFill>
              </a:rPr>
              <a:t>Income</a:t>
            </a:r>
            <a:r>
              <a:rPr lang="pl-PL" sz="4400" b="1" dirty="0">
                <a:solidFill>
                  <a:schemeClr val="accent5">
                    <a:lumMod val="50000"/>
                  </a:schemeClr>
                </a:solidFill>
              </a:rPr>
              <a:t> </a:t>
            </a:r>
            <a:r>
              <a:rPr lang="pl-PL" sz="4400" b="1" dirty="0" err="1">
                <a:solidFill>
                  <a:schemeClr val="accent5">
                    <a:lumMod val="50000"/>
                  </a:schemeClr>
                </a:solidFill>
              </a:rPr>
              <a:t>elasticity</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873AFEAA-9116-9D0A-8AB6-FC776EFE265E}"/>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pole tekstowe 62">
            <a:extLst>
              <a:ext uri="{FF2B5EF4-FFF2-40B4-BE49-F238E27FC236}">
                <a16:creationId xmlns:a16="http://schemas.microsoft.com/office/drawing/2014/main" id="{45FDC832-1BFB-F6D2-4F9C-AF2D76FB4BE2}"/>
              </a:ext>
            </a:extLst>
          </p:cNvPr>
          <p:cNvSpPr txBox="1"/>
          <p:nvPr/>
        </p:nvSpPr>
        <p:spPr>
          <a:xfrm>
            <a:off x="692649" y="1799015"/>
            <a:ext cx="4545395" cy="3477875"/>
          </a:xfrm>
          <a:prstGeom prst="rect">
            <a:avLst/>
          </a:prstGeom>
          <a:noFill/>
        </p:spPr>
        <p:txBody>
          <a:bodyPr wrap="square">
            <a:spAutoFit/>
          </a:bodyPr>
          <a:lstStyle/>
          <a:p>
            <a:pPr algn="just">
              <a:defRPr/>
            </a:pPr>
            <a:r>
              <a:rPr lang="pl-PL" sz="2000" dirty="0" err="1">
                <a:solidFill>
                  <a:schemeClr val="accent5">
                    <a:lumMod val="50000"/>
                  </a:schemeClr>
                </a:solidFill>
              </a:rPr>
              <a:t>Income</a:t>
            </a:r>
            <a:r>
              <a:rPr lang="en-US" sz="2000" dirty="0">
                <a:solidFill>
                  <a:schemeClr val="accent5">
                    <a:lumMod val="50000"/>
                  </a:schemeClr>
                </a:solidFill>
              </a:rPr>
              <a:t> elasticity can depend on many factors.</a:t>
            </a:r>
            <a:r>
              <a:rPr lang="pl-PL" sz="2000" dirty="0">
                <a:solidFill>
                  <a:schemeClr val="accent5">
                    <a:lumMod val="50000"/>
                  </a:schemeClr>
                </a:solidFill>
              </a:rPr>
              <a:t> …</a:t>
            </a:r>
            <a:r>
              <a:rPr lang="en-US" sz="2000" dirty="0">
                <a:solidFill>
                  <a:schemeClr val="accent5">
                    <a:lumMod val="50000"/>
                  </a:schemeClr>
                </a:solidFill>
              </a:rPr>
              <a:t> </a:t>
            </a: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r>
              <a:rPr lang="en-US" sz="2000" dirty="0">
                <a:solidFill>
                  <a:schemeClr val="accent5">
                    <a:lumMod val="50000"/>
                  </a:schemeClr>
                </a:solidFill>
              </a:rPr>
              <a:t>Differences may arise due </a:t>
            </a:r>
            <a:r>
              <a:rPr lang="pl-PL" sz="2000" dirty="0">
                <a:solidFill>
                  <a:schemeClr val="accent5">
                    <a:lumMod val="50000"/>
                  </a:schemeClr>
                </a:solidFill>
              </a:rPr>
              <a:t>… </a:t>
            </a:r>
          </a:p>
          <a:p>
            <a:pPr algn="just">
              <a:defRPr/>
            </a:pPr>
            <a:endParaRPr lang="pl-PL" sz="2000" dirty="0">
              <a:solidFill>
                <a:schemeClr val="accent5">
                  <a:lumMod val="50000"/>
                </a:schemeClr>
              </a:solidFill>
            </a:endParaRPr>
          </a:p>
          <a:p>
            <a:pPr algn="just">
              <a:defRPr/>
            </a:pPr>
            <a:r>
              <a:rPr lang="en-US" sz="2000" dirty="0">
                <a:solidFill>
                  <a:schemeClr val="accent5">
                    <a:lumMod val="50000"/>
                  </a:schemeClr>
                </a:solidFill>
              </a:rPr>
              <a:t>For your assignment, you can showcase and interpret such comparisons. </a:t>
            </a: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r>
              <a:rPr lang="pl-PL" sz="2000" dirty="0">
                <a:solidFill>
                  <a:schemeClr val="accent5">
                    <a:lumMod val="50000"/>
                  </a:schemeClr>
                </a:solidFill>
              </a:rPr>
              <a:t>….. </a:t>
            </a:r>
            <a:r>
              <a:rPr lang="en-US" sz="2000" dirty="0">
                <a:solidFill>
                  <a:schemeClr val="accent5">
                    <a:lumMod val="50000"/>
                  </a:schemeClr>
                </a:solidFill>
              </a:rPr>
              <a:t>Surprisingly, </a:t>
            </a:r>
            <a:r>
              <a:rPr lang="pl-PL" sz="2000" dirty="0" err="1">
                <a:solidFill>
                  <a:schemeClr val="accent5">
                    <a:lumMod val="50000"/>
                  </a:schemeClr>
                </a:solidFill>
              </a:rPr>
              <a:t>it</a:t>
            </a:r>
            <a:r>
              <a:rPr lang="pl-PL" sz="2000" dirty="0">
                <a:solidFill>
                  <a:schemeClr val="accent5">
                    <a:lumMod val="50000"/>
                  </a:schemeClr>
                </a:solidFill>
              </a:rPr>
              <a:t> </a:t>
            </a:r>
            <a:r>
              <a:rPr lang="pl-PL" sz="2000" dirty="0" err="1">
                <a:solidFill>
                  <a:schemeClr val="accent5">
                    <a:lumMod val="50000"/>
                  </a:schemeClr>
                </a:solidFill>
              </a:rPr>
              <a:t>is</a:t>
            </a:r>
            <a:r>
              <a:rPr lang="pl-PL" sz="2000" dirty="0">
                <a:solidFill>
                  <a:schemeClr val="accent5">
                    <a:lumMod val="50000"/>
                  </a:schemeClr>
                </a:solidFill>
              </a:rPr>
              <a:t> not </a:t>
            </a:r>
            <a:r>
              <a:rPr lang="pl-PL" sz="2000" dirty="0" err="1">
                <a:solidFill>
                  <a:schemeClr val="accent5">
                    <a:lumMod val="50000"/>
                  </a:schemeClr>
                </a:solidFill>
              </a:rPr>
              <a:t>easy</a:t>
            </a:r>
            <a:r>
              <a:rPr lang="pl-PL" sz="2000" dirty="0">
                <a:solidFill>
                  <a:schemeClr val="accent5">
                    <a:lumMod val="50000"/>
                  </a:schemeClr>
                </a:solidFill>
              </a:rPr>
              <a:t> to </a:t>
            </a:r>
            <a:r>
              <a:rPr lang="pl-PL" sz="2000" dirty="0" err="1">
                <a:solidFill>
                  <a:schemeClr val="accent5">
                    <a:lumMod val="50000"/>
                  </a:schemeClr>
                </a:solidFill>
              </a:rPr>
              <a:t>find</a:t>
            </a:r>
            <a:r>
              <a:rPr lang="pl-PL" sz="2000" dirty="0">
                <a:solidFill>
                  <a:schemeClr val="accent5">
                    <a:lumMod val="50000"/>
                  </a:schemeClr>
                </a:solidFill>
              </a:rPr>
              <a:t> </a:t>
            </a:r>
            <a:r>
              <a:rPr lang="pl-PL" sz="2000" dirty="0" err="1">
                <a:solidFill>
                  <a:schemeClr val="accent5">
                    <a:lumMod val="50000"/>
                  </a:schemeClr>
                </a:solidFill>
              </a:rPr>
              <a:t>that</a:t>
            </a:r>
            <a:r>
              <a:rPr lang="pl-PL" sz="2000" dirty="0">
                <a:solidFill>
                  <a:schemeClr val="accent5">
                    <a:lumMod val="50000"/>
                  </a:schemeClr>
                </a:solidFill>
              </a:rPr>
              <a:t> </a:t>
            </a:r>
            <a:r>
              <a:rPr lang="pl-PL" sz="2000" dirty="0" err="1">
                <a:solidFill>
                  <a:schemeClr val="accent5">
                    <a:lumMod val="50000"/>
                  </a:schemeClr>
                </a:solidFill>
              </a:rPr>
              <a:t>type</a:t>
            </a:r>
            <a:r>
              <a:rPr lang="pl-PL" sz="2000" dirty="0">
                <a:solidFill>
                  <a:schemeClr val="accent5">
                    <a:lumMod val="50000"/>
                  </a:schemeClr>
                </a:solidFill>
              </a:rPr>
              <a:t> of </a:t>
            </a:r>
            <a:r>
              <a:rPr lang="pl-PL" sz="2000" dirty="0" err="1">
                <a:solidFill>
                  <a:schemeClr val="accent5">
                    <a:lumMod val="50000"/>
                  </a:schemeClr>
                </a:solidFill>
              </a:rPr>
              <a:t>reserach</a:t>
            </a:r>
            <a:r>
              <a:rPr lang="en-US" sz="2000" dirty="0">
                <a:solidFill>
                  <a:schemeClr val="accent5">
                    <a:lumMod val="50000"/>
                  </a:schemeClr>
                </a:solidFill>
              </a:rPr>
              <a:t>.</a:t>
            </a:r>
            <a:endParaRPr lang="pl-PL" sz="2000" dirty="0">
              <a:solidFill>
                <a:schemeClr val="accent5">
                  <a:lumMod val="50000"/>
                </a:schemeClr>
              </a:solidFill>
            </a:endParaRPr>
          </a:p>
        </p:txBody>
      </p:sp>
      <p:pic>
        <p:nvPicPr>
          <p:cNvPr id="9" name="Picture 8">
            <a:extLst>
              <a:ext uri="{FF2B5EF4-FFF2-40B4-BE49-F238E27FC236}">
                <a16:creationId xmlns:a16="http://schemas.microsoft.com/office/drawing/2014/main" id="{191F2B29-D32C-A212-7D66-57E55C0B04C1}"/>
              </a:ext>
            </a:extLst>
          </p:cNvPr>
          <p:cNvPicPr>
            <a:picLocks noChangeAspect="1"/>
          </p:cNvPicPr>
          <p:nvPr/>
        </p:nvPicPr>
        <p:blipFill>
          <a:blip r:embed="rId2"/>
          <a:stretch>
            <a:fillRect/>
          </a:stretch>
        </p:blipFill>
        <p:spPr>
          <a:xfrm>
            <a:off x="8376356" y="1435383"/>
            <a:ext cx="3576314" cy="4639704"/>
          </a:xfrm>
          <a:prstGeom prst="rect">
            <a:avLst/>
          </a:prstGeom>
        </p:spPr>
      </p:pic>
      <p:pic>
        <p:nvPicPr>
          <p:cNvPr id="12" name="Picture 11">
            <a:extLst>
              <a:ext uri="{FF2B5EF4-FFF2-40B4-BE49-F238E27FC236}">
                <a16:creationId xmlns:a16="http://schemas.microsoft.com/office/drawing/2014/main" id="{E0304C4B-00EC-E8FD-B375-8381601E4C88}"/>
              </a:ext>
            </a:extLst>
          </p:cNvPr>
          <p:cNvPicPr>
            <a:picLocks noChangeAspect="1"/>
          </p:cNvPicPr>
          <p:nvPr/>
        </p:nvPicPr>
        <p:blipFill>
          <a:blip r:embed="rId3"/>
          <a:stretch>
            <a:fillRect/>
          </a:stretch>
        </p:blipFill>
        <p:spPr>
          <a:xfrm>
            <a:off x="5961280" y="3989928"/>
            <a:ext cx="2301439" cy="2568163"/>
          </a:xfrm>
          <a:prstGeom prst="rect">
            <a:avLst/>
          </a:prstGeom>
        </p:spPr>
      </p:pic>
    </p:spTree>
    <p:extLst>
      <p:ext uri="{BB962C8B-B14F-4D97-AF65-F5344CB8AC3E}">
        <p14:creationId xmlns:p14="http://schemas.microsoft.com/office/powerpoint/2010/main" val="2478796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B0A31-E110-7A69-85B8-F055FEB0D1D0}"/>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CF49D577-2545-0A2A-7DF8-0E07C5353426}"/>
              </a:ext>
            </a:extLst>
          </p:cNvPr>
          <p:cNvSpPr>
            <a:spLocks noGrp="1"/>
          </p:cNvSpPr>
          <p:nvPr>
            <p:ph type="title"/>
          </p:nvPr>
        </p:nvSpPr>
        <p:spPr>
          <a:xfrm>
            <a:off x="-1" y="-16062"/>
            <a:ext cx="12192001" cy="948122"/>
          </a:xfrm>
          <a:solidFill>
            <a:schemeClr val="accent5">
              <a:lumMod val="20000"/>
              <a:lumOff val="80000"/>
            </a:schemeClr>
          </a:solidFill>
        </p:spPr>
        <p:txBody>
          <a:bodyPr>
            <a:noAutofit/>
          </a:bodyPr>
          <a:lstStyle/>
          <a:p>
            <a:r>
              <a:rPr lang="pl-PL" sz="3600" b="1" dirty="0">
                <a:solidFill>
                  <a:schemeClr val="accent5">
                    <a:lumMod val="50000"/>
                  </a:schemeClr>
                </a:solidFill>
                <a:sym typeface="Symbol" pitchFamily="18" charset="2"/>
              </a:rPr>
              <a:t>C</a:t>
            </a:r>
            <a:r>
              <a:rPr lang="en-US" sz="3600" b="1" dirty="0">
                <a:solidFill>
                  <a:schemeClr val="accent5">
                    <a:lumMod val="50000"/>
                  </a:schemeClr>
                </a:solidFill>
                <a:sym typeface="Symbol" pitchFamily="18" charset="2"/>
              </a:rPr>
              <a:t>ross-price elasticity </a:t>
            </a:r>
            <a:r>
              <a:rPr lang="pl-PL" sz="3600" b="1" dirty="0">
                <a:solidFill>
                  <a:schemeClr val="accent5">
                    <a:lumMod val="50000"/>
                  </a:schemeClr>
                </a:solidFill>
              </a:rPr>
              <a:t>/ </a:t>
            </a:r>
            <a:r>
              <a:rPr lang="pl-PL" sz="3600" b="1" dirty="0" err="1">
                <a:solidFill>
                  <a:schemeClr val="accent5">
                    <a:lumMod val="50000"/>
                  </a:schemeClr>
                </a:solidFill>
              </a:rPr>
              <a:t>taxonomy</a:t>
            </a:r>
            <a:endParaRPr lang="en-GB" sz="7200" b="1" dirty="0">
              <a:solidFill>
                <a:schemeClr val="accent5">
                  <a:lumMod val="50000"/>
                </a:schemeClr>
              </a:solidFill>
            </a:endParaRPr>
          </a:p>
        </p:txBody>
      </p:sp>
      <p:sp>
        <p:nvSpPr>
          <p:cNvPr id="12" name="Prostokąt 3">
            <a:extLst>
              <a:ext uri="{FF2B5EF4-FFF2-40B4-BE49-F238E27FC236}">
                <a16:creationId xmlns:a16="http://schemas.microsoft.com/office/drawing/2014/main" id="{DAA69ADB-D6F6-C1C3-D955-B3EB440CC1E7}"/>
              </a:ext>
            </a:extLst>
          </p:cNvPr>
          <p:cNvSpPr>
            <a:spLocks noChangeArrowheads="1"/>
          </p:cNvSpPr>
          <p:nvPr/>
        </p:nvSpPr>
        <p:spPr bwMode="auto">
          <a:xfrm>
            <a:off x="7687733" y="4908022"/>
            <a:ext cx="4298157" cy="1323439"/>
          </a:xfrm>
          <a:prstGeom prst="rect">
            <a:avLst/>
          </a:prstGeom>
          <a:noFill/>
          <a:ln w="9525">
            <a:noFill/>
            <a:miter lim="800000"/>
            <a:headEnd/>
            <a:tailEnd/>
          </a:ln>
        </p:spPr>
        <p:txBody>
          <a:bodyPr wrap="square">
            <a:spAutoFit/>
          </a:bodyPr>
          <a:lstStyle/>
          <a:p>
            <a:pPr algn="just">
              <a:defRPr/>
            </a:pPr>
            <a:r>
              <a:rPr lang="pl-PL" sz="2000" dirty="0">
                <a:solidFill>
                  <a:schemeClr val="accent5">
                    <a:lumMod val="50000"/>
                  </a:schemeClr>
                </a:solidFill>
                <a:sym typeface="Symbol" pitchFamily="18" charset="2"/>
              </a:rPr>
              <a:t>T</a:t>
            </a:r>
            <a:r>
              <a:rPr lang="en-US" sz="2000" dirty="0">
                <a:solidFill>
                  <a:schemeClr val="accent5">
                    <a:lumMod val="50000"/>
                  </a:schemeClr>
                </a:solidFill>
                <a:sym typeface="Symbol" pitchFamily="18" charset="2"/>
              </a:rPr>
              <a:t>he </a:t>
            </a:r>
            <a:r>
              <a:rPr lang="en-US" sz="2000" b="1" dirty="0">
                <a:solidFill>
                  <a:schemeClr val="accent5">
                    <a:lumMod val="50000"/>
                  </a:schemeClr>
                </a:solidFill>
                <a:sym typeface="Symbol" pitchFamily="18" charset="2"/>
              </a:rPr>
              <a:t>cross-price elasticity </a:t>
            </a:r>
            <a:r>
              <a:rPr lang="en-US" sz="2000" dirty="0">
                <a:solidFill>
                  <a:schemeClr val="accent5">
                    <a:lumMod val="50000"/>
                  </a:schemeClr>
                </a:solidFill>
                <a:sym typeface="Symbol" pitchFamily="18" charset="2"/>
              </a:rPr>
              <a:t>of demand measures the responsiveness of the quantity demanded for one good when the price of another good changes. </a:t>
            </a:r>
            <a:endParaRPr lang="pl-PL" sz="2000" dirty="0">
              <a:solidFill>
                <a:schemeClr val="accent5">
                  <a:lumMod val="50000"/>
                </a:schemeClr>
              </a:solidFill>
              <a:sym typeface="Symbol" pitchFamily="18" charset="2"/>
            </a:endParaRPr>
          </a:p>
        </p:txBody>
      </p:sp>
      <p:sp>
        <p:nvSpPr>
          <p:cNvPr id="15" name="Prostokąt 3">
            <a:extLst>
              <a:ext uri="{FF2B5EF4-FFF2-40B4-BE49-F238E27FC236}">
                <a16:creationId xmlns:a16="http://schemas.microsoft.com/office/drawing/2014/main" id="{78ADD435-2F3C-E9CF-05AE-B071DB5E449A}"/>
              </a:ext>
            </a:extLst>
          </p:cNvPr>
          <p:cNvSpPr>
            <a:spLocks noChangeArrowheads="1"/>
          </p:cNvSpPr>
          <p:nvPr/>
        </p:nvSpPr>
        <p:spPr bwMode="auto">
          <a:xfrm>
            <a:off x="135467" y="1204912"/>
            <a:ext cx="8974138" cy="400110"/>
          </a:xfrm>
          <a:prstGeom prst="rect">
            <a:avLst/>
          </a:prstGeom>
          <a:noFill/>
          <a:ln w="9525">
            <a:noFill/>
            <a:miter lim="800000"/>
            <a:headEnd/>
            <a:tailEnd/>
          </a:ln>
        </p:spPr>
        <p:txBody>
          <a:bodyPr>
            <a:spAutoFit/>
          </a:bodyPr>
          <a:lstStyle/>
          <a:p>
            <a:pPr algn="l">
              <a:defRPr/>
            </a:pPr>
            <a:r>
              <a:rPr lang="pl-PL" sz="2000" b="1" dirty="0">
                <a:solidFill>
                  <a:schemeClr val="accent5">
                    <a:lumMod val="50000"/>
                  </a:schemeClr>
                </a:solidFill>
                <a:sym typeface="Symbol" pitchFamily="18" charset="2"/>
              </a:rPr>
              <a:t>x1 = f(p1, M, </a:t>
            </a:r>
            <a:r>
              <a:rPr lang="pl-PL" sz="2000" b="1" dirty="0">
                <a:solidFill>
                  <a:srgbClr val="FF0000"/>
                </a:solidFill>
                <a:sym typeface="Symbol" pitchFamily="18" charset="2"/>
              </a:rPr>
              <a:t>p2</a:t>
            </a:r>
            <a:r>
              <a:rPr lang="pl-PL" sz="2000" b="1" dirty="0">
                <a:solidFill>
                  <a:schemeClr val="accent5">
                    <a:lumMod val="50000"/>
                  </a:schemeClr>
                </a:solidFill>
                <a:sym typeface="Symbol" pitchFamily="18" charset="2"/>
              </a:rPr>
              <a:t>, … </a:t>
            </a:r>
          </a:p>
        </p:txBody>
      </p:sp>
      <p:cxnSp>
        <p:nvCxnSpPr>
          <p:cNvPr id="16" name="Łącznik prosty ze strzałką 12">
            <a:extLst>
              <a:ext uri="{FF2B5EF4-FFF2-40B4-BE49-F238E27FC236}">
                <a16:creationId xmlns:a16="http://schemas.microsoft.com/office/drawing/2014/main" id="{384C7EC4-7B10-A4A5-E004-DF0D8771E53E}"/>
              </a:ext>
            </a:extLst>
          </p:cNvPr>
          <p:cNvCxnSpPr/>
          <p:nvPr/>
        </p:nvCxnSpPr>
        <p:spPr>
          <a:xfrm flipH="1">
            <a:off x="1526117" y="1481274"/>
            <a:ext cx="333375" cy="77152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7" name="Prostokąt 3">
            <a:extLst>
              <a:ext uri="{FF2B5EF4-FFF2-40B4-BE49-F238E27FC236}">
                <a16:creationId xmlns:a16="http://schemas.microsoft.com/office/drawing/2014/main" id="{0AF60487-E8FD-F4BB-35DF-3A3DF9707F35}"/>
              </a:ext>
            </a:extLst>
          </p:cNvPr>
          <p:cNvSpPr>
            <a:spLocks noChangeArrowheads="1"/>
          </p:cNvSpPr>
          <p:nvPr/>
        </p:nvSpPr>
        <p:spPr bwMode="auto">
          <a:xfrm>
            <a:off x="206110" y="2251867"/>
            <a:ext cx="3903045" cy="4093428"/>
          </a:xfrm>
          <a:prstGeom prst="rect">
            <a:avLst/>
          </a:prstGeom>
          <a:noFill/>
          <a:ln w="9525">
            <a:noFill/>
            <a:miter lim="800000"/>
            <a:headEnd/>
            <a:tailEnd/>
          </a:ln>
        </p:spPr>
        <p:txBody>
          <a:bodyPr wrap="square">
            <a:spAutoFit/>
          </a:bodyPr>
          <a:lstStyle/>
          <a:p>
            <a:pPr algn="just">
              <a:defRPr/>
            </a:pPr>
            <a:r>
              <a:rPr lang="pl-PL" sz="2000" b="1" dirty="0">
                <a:solidFill>
                  <a:srgbClr val="FF0000"/>
                </a:solidFill>
                <a:sym typeface="Symbol" pitchFamily="18" charset="2"/>
              </a:rPr>
              <a:t>(+)</a:t>
            </a:r>
            <a:r>
              <a:rPr lang="pl-PL" sz="2000" dirty="0">
                <a:solidFill>
                  <a:schemeClr val="accent5">
                    <a:lumMod val="50000"/>
                  </a:schemeClr>
                </a:solidFill>
                <a:sym typeface="Symbol" pitchFamily="18" charset="2"/>
              </a:rPr>
              <a:t> x1 and x2 </a:t>
            </a:r>
            <a:r>
              <a:rPr lang="pl-PL" sz="2000" dirty="0" err="1">
                <a:solidFill>
                  <a:schemeClr val="accent5">
                    <a:lumMod val="50000"/>
                  </a:schemeClr>
                </a:solidFill>
                <a:sym typeface="Symbol" pitchFamily="18" charset="2"/>
              </a:rPr>
              <a:t>are</a:t>
            </a:r>
            <a:r>
              <a:rPr lang="pl-PL" sz="2000" dirty="0">
                <a:solidFill>
                  <a:schemeClr val="accent5">
                    <a:lumMod val="50000"/>
                  </a:schemeClr>
                </a:solidFill>
                <a:sym typeface="Symbol" pitchFamily="18" charset="2"/>
              </a:rPr>
              <a:t> </a:t>
            </a:r>
            <a:r>
              <a:rPr lang="pl-PL" sz="2000" b="1" dirty="0">
                <a:solidFill>
                  <a:schemeClr val="accent5">
                    <a:lumMod val="50000"/>
                  </a:schemeClr>
                </a:solidFill>
                <a:sym typeface="Symbol" pitchFamily="18" charset="2"/>
              </a:rPr>
              <a:t>s</a:t>
            </a:r>
            <a:r>
              <a:rPr lang="en-US" sz="2000" b="1" dirty="0" err="1">
                <a:solidFill>
                  <a:schemeClr val="accent5">
                    <a:lumMod val="50000"/>
                  </a:schemeClr>
                </a:solidFill>
                <a:sym typeface="Symbol" pitchFamily="18" charset="2"/>
              </a:rPr>
              <a:t>ubstitute</a:t>
            </a:r>
            <a:r>
              <a:rPr lang="pl-PL" sz="2000" b="1" dirty="0">
                <a:solidFill>
                  <a:schemeClr val="accent5">
                    <a:lumMod val="50000"/>
                  </a:schemeClr>
                </a:solidFill>
                <a:sym typeface="Symbol" pitchFamily="18" charset="2"/>
              </a:rPr>
              <a:t>s</a:t>
            </a:r>
            <a:r>
              <a:rPr lang="en-US" sz="2000" b="1" dirty="0">
                <a:solidFill>
                  <a:schemeClr val="accent5">
                    <a:lumMod val="50000"/>
                  </a:schemeClr>
                </a:solidFill>
                <a:sym typeface="Symbol" pitchFamily="18" charset="2"/>
              </a:rPr>
              <a:t> </a:t>
            </a:r>
            <a:r>
              <a:rPr lang="pl-PL" sz="2000" b="1" dirty="0">
                <a:solidFill>
                  <a:schemeClr val="accent5">
                    <a:lumMod val="50000"/>
                  </a:schemeClr>
                </a:solidFill>
                <a:sym typeface="Symbol" pitchFamily="18" charset="2"/>
              </a:rPr>
              <a:t>g</a:t>
            </a:r>
            <a:r>
              <a:rPr lang="en-US" sz="2000" b="1" dirty="0" err="1">
                <a:solidFill>
                  <a:schemeClr val="accent5">
                    <a:lumMod val="50000"/>
                  </a:schemeClr>
                </a:solidFill>
                <a:sym typeface="Symbol" pitchFamily="18" charset="2"/>
              </a:rPr>
              <a:t>oods</a:t>
            </a:r>
            <a:r>
              <a:rPr lang="en-US" sz="2000" b="1" dirty="0">
                <a:solidFill>
                  <a:schemeClr val="accent5">
                    <a:lumMod val="50000"/>
                  </a:schemeClr>
                </a:solidFill>
                <a:sym typeface="Symbol" pitchFamily="18" charset="2"/>
              </a:rPr>
              <a:t> </a:t>
            </a:r>
            <a:r>
              <a:rPr lang="en-US" sz="2000" dirty="0">
                <a:solidFill>
                  <a:schemeClr val="accent5">
                    <a:lumMod val="50000"/>
                  </a:schemeClr>
                </a:solidFill>
                <a:sym typeface="Symbol" pitchFamily="18" charset="2"/>
              </a:rPr>
              <a:t>(</a:t>
            </a:r>
            <a:r>
              <a:rPr lang="en-US" sz="2000" dirty="0" err="1">
                <a:solidFill>
                  <a:schemeClr val="accent5">
                    <a:lumMod val="50000"/>
                  </a:schemeClr>
                </a:solidFill>
                <a:sym typeface="Symbol" pitchFamily="18" charset="2"/>
              </a:rPr>
              <a:t>E</a:t>
            </a:r>
            <a:r>
              <a:rPr lang="en-US" sz="2000" baseline="-25000" dirty="0" err="1">
                <a:solidFill>
                  <a:schemeClr val="accent5">
                    <a:lumMod val="50000"/>
                  </a:schemeClr>
                </a:solidFill>
                <a:sym typeface="Symbol" pitchFamily="18" charset="2"/>
              </a:rPr>
              <a:t>cross</a:t>
            </a:r>
            <a:r>
              <a:rPr lang="en-US" sz="2000" dirty="0">
                <a:solidFill>
                  <a:schemeClr val="accent5">
                    <a:lumMod val="50000"/>
                  </a:schemeClr>
                </a:solidFill>
                <a:sym typeface="Symbol" pitchFamily="18" charset="2"/>
              </a:rPr>
              <a:t>&gt;</a:t>
            </a:r>
            <a:r>
              <a:rPr lang="pl-PL" sz="2000" dirty="0">
                <a:solidFill>
                  <a:schemeClr val="accent5">
                    <a:lumMod val="50000"/>
                  </a:schemeClr>
                </a:solidFill>
                <a:sym typeface="Symbol" pitchFamily="18" charset="2"/>
              </a:rPr>
              <a:t> </a:t>
            </a:r>
            <a:r>
              <a:rPr lang="en-US" sz="2000" dirty="0">
                <a:solidFill>
                  <a:schemeClr val="accent5">
                    <a:lumMod val="50000"/>
                  </a:schemeClr>
                </a:solidFill>
                <a:sym typeface="Symbol" pitchFamily="18" charset="2"/>
              </a:rPr>
              <a:t>0)</a:t>
            </a:r>
            <a:r>
              <a:rPr lang="pl-PL" sz="2000" dirty="0">
                <a:solidFill>
                  <a:schemeClr val="accent5">
                    <a:lumMod val="50000"/>
                  </a:schemeClr>
                </a:solidFill>
                <a:sym typeface="Symbol" pitchFamily="18" charset="2"/>
              </a:rPr>
              <a:t> </a:t>
            </a:r>
            <a:r>
              <a:rPr lang="en-US" sz="2000" dirty="0">
                <a:solidFill>
                  <a:schemeClr val="accent5">
                    <a:lumMod val="50000"/>
                  </a:schemeClr>
                </a:solidFill>
                <a:sym typeface="Symbol" pitchFamily="18" charset="2"/>
              </a:rPr>
              <a:t> When the cross-price elasticity is positive, an increase in the price of one good (</a:t>
            </a:r>
            <a:r>
              <a:rPr lang="pl-PL" sz="2000" dirty="0">
                <a:solidFill>
                  <a:schemeClr val="accent5">
                    <a:lumMod val="50000"/>
                  </a:schemeClr>
                </a:solidFill>
                <a:sym typeface="Symbol" pitchFamily="18" charset="2"/>
              </a:rPr>
              <a:t>x</a:t>
            </a:r>
            <a:r>
              <a:rPr lang="en-US" sz="2000" dirty="0">
                <a:solidFill>
                  <a:schemeClr val="accent5">
                    <a:lumMod val="50000"/>
                  </a:schemeClr>
                </a:solidFill>
                <a:sym typeface="Symbol" pitchFamily="18" charset="2"/>
              </a:rPr>
              <a:t>2) leads to an increase in the demand for the other good (</a:t>
            </a:r>
            <a:r>
              <a:rPr lang="pl-PL" sz="2000" dirty="0">
                <a:solidFill>
                  <a:schemeClr val="accent5">
                    <a:lumMod val="50000"/>
                  </a:schemeClr>
                </a:solidFill>
                <a:sym typeface="Symbol" pitchFamily="18" charset="2"/>
              </a:rPr>
              <a:t>x</a:t>
            </a:r>
            <a:r>
              <a:rPr lang="en-US" sz="2000" dirty="0">
                <a:solidFill>
                  <a:schemeClr val="accent5">
                    <a:lumMod val="50000"/>
                  </a:schemeClr>
                </a:solidFill>
                <a:sym typeface="Symbol" pitchFamily="18" charset="2"/>
              </a:rPr>
              <a:t>1).</a:t>
            </a:r>
            <a:endParaRPr lang="pl-PL" sz="2000" dirty="0">
              <a:solidFill>
                <a:schemeClr val="accent5">
                  <a:lumMod val="50000"/>
                </a:schemeClr>
              </a:solidFill>
              <a:sym typeface="Symbol" pitchFamily="18" charset="2"/>
            </a:endParaRPr>
          </a:p>
          <a:p>
            <a:pPr algn="just">
              <a:defRPr/>
            </a:pPr>
            <a:endParaRPr lang="en-US" sz="2000" dirty="0">
              <a:solidFill>
                <a:schemeClr val="accent5">
                  <a:lumMod val="50000"/>
                </a:schemeClr>
              </a:solidFill>
              <a:sym typeface="Symbol" pitchFamily="18" charset="2"/>
            </a:endParaRPr>
          </a:p>
          <a:p>
            <a:pPr algn="just">
              <a:defRPr/>
            </a:pPr>
            <a:r>
              <a:rPr lang="en-US" sz="2000" dirty="0">
                <a:solidFill>
                  <a:schemeClr val="accent5">
                    <a:lumMod val="50000"/>
                  </a:schemeClr>
                </a:solidFill>
                <a:sym typeface="Symbol" pitchFamily="18" charset="2"/>
              </a:rPr>
              <a:t>This relationship occurs because consumers see the goods as alternatives. When one becomes more expensive, they switch to the other.</a:t>
            </a:r>
            <a:r>
              <a:rPr lang="pl-PL" sz="2000" dirty="0">
                <a:solidFill>
                  <a:schemeClr val="accent5">
                    <a:lumMod val="50000"/>
                  </a:schemeClr>
                </a:solidFill>
                <a:sym typeface="Symbol" pitchFamily="18" charset="2"/>
              </a:rPr>
              <a:t> </a:t>
            </a:r>
          </a:p>
          <a:p>
            <a:pPr algn="l">
              <a:defRPr/>
            </a:pPr>
            <a:endParaRPr lang="pl-PL" sz="2000" b="1" dirty="0">
              <a:solidFill>
                <a:schemeClr val="accent5">
                  <a:lumMod val="50000"/>
                </a:schemeClr>
              </a:solidFill>
              <a:sym typeface="Symbol" pitchFamily="18" charset="2"/>
            </a:endParaRPr>
          </a:p>
        </p:txBody>
      </p:sp>
      <p:cxnSp>
        <p:nvCxnSpPr>
          <p:cNvPr id="18" name="Łącznik prosty ze strzałką 55">
            <a:extLst>
              <a:ext uri="{FF2B5EF4-FFF2-40B4-BE49-F238E27FC236}">
                <a16:creationId xmlns:a16="http://schemas.microsoft.com/office/drawing/2014/main" id="{AC6D860C-47CB-E4CF-5906-3EE52E7E3E02}"/>
              </a:ext>
            </a:extLst>
          </p:cNvPr>
          <p:cNvCxnSpPr>
            <a:cxnSpLocks/>
            <a:endCxn id="19" idx="1"/>
          </p:cNvCxnSpPr>
          <p:nvPr/>
        </p:nvCxnSpPr>
        <p:spPr>
          <a:xfrm>
            <a:off x="1859492" y="1468619"/>
            <a:ext cx="3129975" cy="61953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9" name="Prostokąt 3">
            <a:extLst>
              <a:ext uri="{FF2B5EF4-FFF2-40B4-BE49-F238E27FC236}">
                <a16:creationId xmlns:a16="http://schemas.microsoft.com/office/drawing/2014/main" id="{F971C670-8DA3-510B-6EE9-40A2444D3789}"/>
              </a:ext>
            </a:extLst>
          </p:cNvPr>
          <p:cNvSpPr>
            <a:spLocks noChangeArrowheads="1"/>
          </p:cNvSpPr>
          <p:nvPr/>
        </p:nvSpPr>
        <p:spPr bwMode="auto">
          <a:xfrm>
            <a:off x="4989467" y="1118658"/>
            <a:ext cx="7067066" cy="1938992"/>
          </a:xfrm>
          <a:prstGeom prst="rect">
            <a:avLst/>
          </a:prstGeom>
          <a:noFill/>
          <a:ln w="9525">
            <a:noFill/>
            <a:miter lim="800000"/>
            <a:headEnd/>
            <a:tailEnd/>
          </a:ln>
        </p:spPr>
        <p:txBody>
          <a:bodyPr wrap="square">
            <a:spAutoFit/>
          </a:bodyPr>
          <a:lstStyle/>
          <a:p>
            <a:pPr algn="l">
              <a:defRPr/>
            </a:pPr>
            <a:r>
              <a:rPr lang="pl-PL" sz="2000" b="1" dirty="0">
                <a:solidFill>
                  <a:srgbClr val="FF0000"/>
                </a:solidFill>
                <a:sym typeface="Symbol" pitchFamily="18" charset="2"/>
              </a:rPr>
              <a:t>(-)</a:t>
            </a:r>
            <a:r>
              <a:rPr lang="pl-PL" sz="2000" b="1" dirty="0">
                <a:solidFill>
                  <a:schemeClr val="accent5">
                    <a:lumMod val="50000"/>
                  </a:schemeClr>
                </a:solidFill>
                <a:sym typeface="Symbol" pitchFamily="18" charset="2"/>
              </a:rPr>
              <a:t> </a:t>
            </a:r>
            <a:r>
              <a:rPr lang="pl-PL" sz="2000" dirty="0">
                <a:solidFill>
                  <a:schemeClr val="accent5">
                    <a:lumMod val="50000"/>
                  </a:schemeClr>
                </a:solidFill>
                <a:sym typeface="Symbol" pitchFamily="18" charset="2"/>
              </a:rPr>
              <a:t>x1 and x2 </a:t>
            </a:r>
            <a:r>
              <a:rPr lang="pl-PL" sz="2000" dirty="0" err="1">
                <a:solidFill>
                  <a:schemeClr val="accent5">
                    <a:lumMod val="50000"/>
                  </a:schemeClr>
                </a:solidFill>
                <a:sym typeface="Symbol" pitchFamily="18" charset="2"/>
              </a:rPr>
              <a:t>are</a:t>
            </a:r>
            <a:r>
              <a:rPr lang="pl-PL" sz="2000" dirty="0">
                <a:solidFill>
                  <a:schemeClr val="accent5">
                    <a:lumMod val="50000"/>
                  </a:schemeClr>
                </a:solidFill>
                <a:sym typeface="Symbol" pitchFamily="18" charset="2"/>
              </a:rPr>
              <a:t> </a:t>
            </a:r>
            <a:r>
              <a:rPr lang="pl-PL" sz="2000" b="1" dirty="0">
                <a:solidFill>
                  <a:schemeClr val="accent5">
                    <a:lumMod val="50000"/>
                  </a:schemeClr>
                </a:solidFill>
                <a:sym typeface="Symbol" pitchFamily="18" charset="2"/>
              </a:rPr>
              <a:t>c</a:t>
            </a:r>
            <a:r>
              <a:rPr lang="en-US" sz="2000" b="1" dirty="0" err="1">
                <a:solidFill>
                  <a:schemeClr val="accent5">
                    <a:lumMod val="50000"/>
                  </a:schemeClr>
                </a:solidFill>
                <a:sym typeface="Symbol" pitchFamily="18" charset="2"/>
              </a:rPr>
              <a:t>omplementar</a:t>
            </a:r>
            <a:r>
              <a:rPr lang="pl-PL" sz="2000" b="1" dirty="0">
                <a:solidFill>
                  <a:schemeClr val="accent5">
                    <a:lumMod val="50000"/>
                  </a:schemeClr>
                </a:solidFill>
                <a:sym typeface="Symbol" pitchFamily="18" charset="2"/>
              </a:rPr>
              <a:t>y </a:t>
            </a:r>
            <a:r>
              <a:rPr lang="pl-PL" sz="2000" b="1" dirty="0" err="1">
                <a:solidFill>
                  <a:schemeClr val="accent5">
                    <a:lumMod val="50000"/>
                  </a:schemeClr>
                </a:solidFill>
                <a:sym typeface="Symbol" pitchFamily="18" charset="2"/>
              </a:rPr>
              <a:t>goods</a:t>
            </a:r>
            <a:r>
              <a:rPr lang="en-US" sz="2000" b="1" dirty="0">
                <a:solidFill>
                  <a:schemeClr val="accent5">
                    <a:lumMod val="50000"/>
                  </a:schemeClr>
                </a:solidFill>
                <a:sym typeface="Symbol" pitchFamily="18" charset="2"/>
              </a:rPr>
              <a:t> </a:t>
            </a:r>
            <a:r>
              <a:rPr lang="en-US" sz="2000" dirty="0">
                <a:solidFill>
                  <a:schemeClr val="accent5">
                    <a:lumMod val="50000"/>
                  </a:schemeClr>
                </a:solidFill>
                <a:sym typeface="Symbol" pitchFamily="18" charset="2"/>
              </a:rPr>
              <a:t>(</a:t>
            </a:r>
            <a:r>
              <a:rPr lang="en-US" sz="2000" dirty="0" err="1">
                <a:solidFill>
                  <a:schemeClr val="accent5">
                    <a:lumMod val="50000"/>
                  </a:schemeClr>
                </a:solidFill>
                <a:sym typeface="Symbol" pitchFamily="18" charset="2"/>
              </a:rPr>
              <a:t>E</a:t>
            </a:r>
            <a:r>
              <a:rPr lang="en-US" sz="2000" baseline="-25000" dirty="0" err="1">
                <a:solidFill>
                  <a:schemeClr val="accent5">
                    <a:lumMod val="50000"/>
                  </a:schemeClr>
                </a:solidFill>
                <a:sym typeface="Symbol" pitchFamily="18" charset="2"/>
              </a:rPr>
              <a:t>cross</a:t>
            </a:r>
            <a:r>
              <a:rPr lang="en-US" sz="2000" dirty="0">
                <a:solidFill>
                  <a:schemeClr val="accent5">
                    <a:lumMod val="50000"/>
                  </a:schemeClr>
                </a:solidFill>
                <a:sym typeface="Symbol" pitchFamily="18" charset="2"/>
              </a:rPr>
              <a:t>&lt;0</a:t>
            </a:r>
            <a:r>
              <a:rPr lang="pl-PL" sz="2000" dirty="0">
                <a:solidFill>
                  <a:schemeClr val="accent5">
                    <a:lumMod val="50000"/>
                  </a:schemeClr>
                </a:solidFill>
                <a:sym typeface="Symbol" pitchFamily="18" charset="2"/>
              </a:rPr>
              <a:t> ). </a:t>
            </a:r>
            <a:r>
              <a:rPr lang="en-US" sz="2000" dirty="0">
                <a:solidFill>
                  <a:schemeClr val="accent5">
                    <a:lumMod val="50000"/>
                  </a:schemeClr>
                </a:solidFill>
                <a:sym typeface="Symbol" pitchFamily="18" charset="2"/>
              </a:rPr>
              <a:t>When the cross-price elasticity is negative, an increase in the price of one good (</a:t>
            </a:r>
            <a:r>
              <a:rPr lang="pl-PL" sz="2000" dirty="0">
                <a:solidFill>
                  <a:schemeClr val="accent5">
                    <a:lumMod val="50000"/>
                  </a:schemeClr>
                </a:solidFill>
                <a:sym typeface="Symbol" pitchFamily="18" charset="2"/>
              </a:rPr>
              <a:t>x</a:t>
            </a:r>
            <a:r>
              <a:rPr lang="en-US" sz="2000" dirty="0">
                <a:solidFill>
                  <a:schemeClr val="accent5">
                    <a:lumMod val="50000"/>
                  </a:schemeClr>
                </a:solidFill>
                <a:sym typeface="Symbol" pitchFamily="18" charset="2"/>
              </a:rPr>
              <a:t>2) leads to a decrease in the demand for the other good (</a:t>
            </a:r>
            <a:r>
              <a:rPr lang="pl-PL" sz="2000" dirty="0">
                <a:solidFill>
                  <a:schemeClr val="accent5">
                    <a:lumMod val="50000"/>
                  </a:schemeClr>
                </a:solidFill>
                <a:sym typeface="Symbol" pitchFamily="18" charset="2"/>
              </a:rPr>
              <a:t>x</a:t>
            </a:r>
            <a:r>
              <a:rPr lang="en-US" sz="2000" dirty="0">
                <a:solidFill>
                  <a:schemeClr val="accent5">
                    <a:lumMod val="50000"/>
                  </a:schemeClr>
                </a:solidFill>
                <a:sym typeface="Symbol" pitchFamily="18" charset="2"/>
              </a:rPr>
              <a:t>1).</a:t>
            </a:r>
          </a:p>
          <a:p>
            <a:pPr algn="l">
              <a:defRPr/>
            </a:pPr>
            <a:r>
              <a:rPr lang="en-US" sz="2000" dirty="0">
                <a:solidFill>
                  <a:schemeClr val="accent5">
                    <a:lumMod val="50000"/>
                  </a:schemeClr>
                </a:solidFill>
                <a:sym typeface="Symbol" pitchFamily="18" charset="2"/>
              </a:rPr>
              <a:t>This occurs because the goods are used together. When one becomes more expensive, people tend to reduce consumption of both goods.</a:t>
            </a:r>
            <a:r>
              <a:rPr lang="pl-PL" sz="2000" dirty="0">
                <a:solidFill>
                  <a:schemeClr val="accent5">
                    <a:lumMod val="50000"/>
                  </a:schemeClr>
                </a:solidFill>
                <a:sym typeface="Symbol" pitchFamily="18" charset="2"/>
              </a:rPr>
              <a:t>  </a:t>
            </a:r>
          </a:p>
        </p:txBody>
      </p:sp>
      <p:cxnSp>
        <p:nvCxnSpPr>
          <p:cNvPr id="26" name="Łącznik prosty ze strzałką 55">
            <a:extLst>
              <a:ext uri="{FF2B5EF4-FFF2-40B4-BE49-F238E27FC236}">
                <a16:creationId xmlns:a16="http://schemas.microsoft.com/office/drawing/2014/main" id="{8E6B9156-9A0A-5A12-2DDD-3B08A1BE669E}"/>
              </a:ext>
            </a:extLst>
          </p:cNvPr>
          <p:cNvCxnSpPr>
            <a:cxnSpLocks/>
            <a:endCxn id="30" idx="1"/>
          </p:cNvCxnSpPr>
          <p:nvPr/>
        </p:nvCxnSpPr>
        <p:spPr>
          <a:xfrm>
            <a:off x="1859492" y="1481274"/>
            <a:ext cx="3217376" cy="230269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30" name="Prostokąt 3">
            <a:extLst>
              <a:ext uri="{FF2B5EF4-FFF2-40B4-BE49-F238E27FC236}">
                <a16:creationId xmlns:a16="http://schemas.microsoft.com/office/drawing/2014/main" id="{43046562-97BE-3545-A48E-8419E0331222}"/>
              </a:ext>
            </a:extLst>
          </p:cNvPr>
          <p:cNvSpPr>
            <a:spLocks noChangeArrowheads="1"/>
          </p:cNvSpPr>
          <p:nvPr/>
        </p:nvSpPr>
        <p:spPr bwMode="auto">
          <a:xfrm>
            <a:off x="5076868" y="3122244"/>
            <a:ext cx="6909022" cy="1323439"/>
          </a:xfrm>
          <a:prstGeom prst="rect">
            <a:avLst/>
          </a:prstGeom>
          <a:noFill/>
          <a:ln w="9525">
            <a:noFill/>
            <a:miter lim="800000"/>
            <a:headEnd/>
            <a:tailEnd/>
          </a:ln>
        </p:spPr>
        <p:txBody>
          <a:bodyPr wrap="square">
            <a:spAutoFit/>
          </a:bodyPr>
          <a:lstStyle/>
          <a:p>
            <a:pPr algn="l">
              <a:defRPr/>
            </a:pPr>
            <a:r>
              <a:rPr lang="pl-PL" sz="2000" b="1" dirty="0">
                <a:solidFill>
                  <a:srgbClr val="FF0000"/>
                </a:solidFill>
                <a:sym typeface="Symbol" pitchFamily="18" charset="2"/>
              </a:rPr>
              <a:t>(0)</a:t>
            </a:r>
            <a:r>
              <a:rPr lang="pl-PL" sz="2000" b="1" dirty="0">
                <a:solidFill>
                  <a:schemeClr val="accent5">
                    <a:lumMod val="50000"/>
                  </a:schemeClr>
                </a:solidFill>
                <a:sym typeface="Symbol" pitchFamily="18" charset="2"/>
              </a:rPr>
              <a:t> </a:t>
            </a:r>
            <a:r>
              <a:rPr lang="pl-PL" sz="2000" dirty="0">
                <a:solidFill>
                  <a:schemeClr val="accent5">
                    <a:lumMod val="50000"/>
                  </a:schemeClr>
                </a:solidFill>
                <a:sym typeface="Symbol" pitchFamily="18" charset="2"/>
              </a:rPr>
              <a:t>x1 and x2 </a:t>
            </a:r>
            <a:r>
              <a:rPr lang="pl-PL" sz="2000" b="1" dirty="0">
                <a:solidFill>
                  <a:schemeClr val="accent5">
                    <a:lumMod val="50000"/>
                  </a:schemeClr>
                </a:solidFill>
                <a:sym typeface="Symbol" pitchFamily="18" charset="2"/>
              </a:rPr>
              <a:t>i</a:t>
            </a:r>
            <a:r>
              <a:rPr lang="en-US" sz="2000" b="1" dirty="0" err="1">
                <a:solidFill>
                  <a:schemeClr val="accent5">
                    <a:lumMod val="50000"/>
                  </a:schemeClr>
                </a:solidFill>
                <a:sym typeface="Symbol" pitchFamily="18" charset="2"/>
              </a:rPr>
              <a:t>ndependent</a:t>
            </a:r>
            <a:r>
              <a:rPr lang="en-US" sz="2000" b="1" dirty="0">
                <a:solidFill>
                  <a:schemeClr val="accent5">
                    <a:lumMod val="50000"/>
                  </a:schemeClr>
                </a:solidFill>
                <a:sym typeface="Symbol" pitchFamily="18" charset="2"/>
              </a:rPr>
              <a:t> </a:t>
            </a:r>
            <a:r>
              <a:rPr lang="pl-PL" sz="2000" b="1" dirty="0">
                <a:solidFill>
                  <a:schemeClr val="accent5">
                    <a:lumMod val="50000"/>
                  </a:schemeClr>
                </a:solidFill>
                <a:sym typeface="Symbol" pitchFamily="18" charset="2"/>
              </a:rPr>
              <a:t>g</a:t>
            </a:r>
            <a:r>
              <a:rPr lang="en-US" sz="2000" b="1" dirty="0" err="1">
                <a:solidFill>
                  <a:schemeClr val="accent5">
                    <a:lumMod val="50000"/>
                  </a:schemeClr>
                </a:solidFill>
                <a:sym typeface="Symbol" pitchFamily="18" charset="2"/>
              </a:rPr>
              <a:t>oods</a:t>
            </a:r>
            <a:r>
              <a:rPr lang="en-US" sz="2000" b="1" dirty="0">
                <a:solidFill>
                  <a:schemeClr val="accent5">
                    <a:lumMod val="50000"/>
                  </a:schemeClr>
                </a:solidFill>
                <a:sym typeface="Symbol" pitchFamily="18" charset="2"/>
              </a:rPr>
              <a:t> </a:t>
            </a:r>
            <a:r>
              <a:rPr lang="en-US" sz="2000" dirty="0">
                <a:solidFill>
                  <a:schemeClr val="accent5">
                    <a:lumMod val="50000"/>
                  </a:schemeClr>
                </a:solidFill>
                <a:sym typeface="Symbol" pitchFamily="18" charset="2"/>
              </a:rPr>
              <a:t>(</a:t>
            </a:r>
            <a:r>
              <a:rPr lang="en-US" sz="2000" dirty="0" err="1">
                <a:solidFill>
                  <a:schemeClr val="accent5">
                    <a:lumMod val="50000"/>
                  </a:schemeClr>
                </a:solidFill>
                <a:sym typeface="Symbol" pitchFamily="18" charset="2"/>
              </a:rPr>
              <a:t>E</a:t>
            </a:r>
            <a:r>
              <a:rPr lang="en-US" sz="2000" baseline="-25000" dirty="0" err="1">
                <a:solidFill>
                  <a:schemeClr val="accent5">
                    <a:lumMod val="50000"/>
                  </a:schemeClr>
                </a:solidFill>
                <a:sym typeface="Symbol" pitchFamily="18" charset="2"/>
              </a:rPr>
              <a:t>cross</a:t>
            </a:r>
            <a:r>
              <a:rPr lang="en-US" sz="2000" dirty="0">
                <a:solidFill>
                  <a:schemeClr val="accent5">
                    <a:lumMod val="50000"/>
                  </a:schemeClr>
                </a:solidFill>
                <a:sym typeface="Symbol" pitchFamily="18" charset="2"/>
              </a:rPr>
              <a:t>&gt;</a:t>
            </a:r>
            <a:r>
              <a:rPr lang="pl-PL" sz="2000" dirty="0">
                <a:solidFill>
                  <a:schemeClr val="accent5">
                    <a:lumMod val="50000"/>
                  </a:schemeClr>
                </a:solidFill>
                <a:sym typeface="Symbol" pitchFamily="18" charset="2"/>
              </a:rPr>
              <a:t> </a:t>
            </a:r>
            <a:r>
              <a:rPr lang="en-US" sz="2000" dirty="0">
                <a:solidFill>
                  <a:schemeClr val="accent5">
                    <a:lumMod val="50000"/>
                  </a:schemeClr>
                </a:solidFill>
                <a:sym typeface="Symbol" pitchFamily="18" charset="2"/>
              </a:rPr>
              <a:t>0)</a:t>
            </a:r>
            <a:r>
              <a:rPr lang="pl-PL" sz="2000" dirty="0">
                <a:solidFill>
                  <a:schemeClr val="accent5">
                    <a:lumMod val="50000"/>
                  </a:schemeClr>
                </a:solidFill>
                <a:sym typeface="Symbol" pitchFamily="18" charset="2"/>
              </a:rPr>
              <a:t> </a:t>
            </a:r>
            <a:endParaRPr lang="en-US" sz="2000" b="1" dirty="0">
              <a:solidFill>
                <a:schemeClr val="accent5">
                  <a:lumMod val="50000"/>
                </a:schemeClr>
              </a:solidFill>
              <a:sym typeface="Symbol" pitchFamily="18" charset="2"/>
            </a:endParaRPr>
          </a:p>
          <a:p>
            <a:pPr algn="l">
              <a:defRPr/>
            </a:pPr>
            <a:r>
              <a:rPr lang="en-US" sz="2000" dirty="0">
                <a:solidFill>
                  <a:schemeClr val="accent5">
                    <a:lumMod val="50000"/>
                  </a:schemeClr>
                </a:solidFill>
                <a:sym typeface="Symbol" pitchFamily="18" charset="2"/>
              </a:rPr>
              <a:t>When the cross-price elasticity is zero, it indicates that the price change of one good has no impact on the demand for another good. </a:t>
            </a:r>
            <a:r>
              <a:rPr lang="pl-PL" sz="2000" dirty="0">
                <a:solidFill>
                  <a:schemeClr val="accent5">
                    <a:lumMod val="50000"/>
                  </a:schemeClr>
                </a:solidFill>
                <a:sym typeface="Symbol" pitchFamily="18" charset="2"/>
              </a:rPr>
              <a:t>T</a:t>
            </a:r>
            <a:r>
              <a:rPr lang="en-US" sz="2000" dirty="0">
                <a:solidFill>
                  <a:schemeClr val="accent5">
                    <a:lumMod val="50000"/>
                  </a:schemeClr>
                </a:solidFill>
                <a:sym typeface="Symbol" pitchFamily="18" charset="2"/>
              </a:rPr>
              <a:t>hey are unrelated in terms of consumption.</a:t>
            </a:r>
            <a:endParaRPr lang="pl-PL" sz="2000" dirty="0">
              <a:solidFill>
                <a:schemeClr val="accent5">
                  <a:lumMod val="50000"/>
                </a:schemeClr>
              </a:solidFill>
              <a:sym typeface="Symbol" pitchFamily="18" charset="2"/>
            </a:endParaRPr>
          </a:p>
        </p:txBody>
      </p:sp>
      <p:pic>
        <p:nvPicPr>
          <p:cNvPr id="39" name="Picture 38">
            <a:extLst>
              <a:ext uri="{FF2B5EF4-FFF2-40B4-BE49-F238E27FC236}">
                <a16:creationId xmlns:a16="http://schemas.microsoft.com/office/drawing/2014/main" id="{C4F3364E-F059-C73A-154C-653FFBC2F01B}"/>
              </a:ext>
            </a:extLst>
          </p:cNvPr>
          <p:cNvPicPr>
            <a:picLocks noChangeAspect="1"/>
          </p:cNvPicPr>
          <p:nvPr/>
        </p:nvPicPr>
        <p:blipFill>
          <a:blip r:embed="rId3"/>
          <a:stretch>
            <a:fillRect/>
          </a:stretch>
        </p:blipFill>
        <p:spPr>
          <a:xfrm>
            <a:off x="4841043" y="4878054"/>
            <a:ext cx="2651324" cy="1116346"/>
          </a:xfrm>
          <a:prstGeom prst="rect">
            <a:avLst/>
          </a:prstGeom>
        </p:spPr>
      </p:pic>
    </p:spTree>
    <p:extLst>
      <p:ext uri="{BB962C8B-B14F-4D97-AF65-F5344CB8AC3E}">
        <p14:creationId xmlns:p14="http://schemas.microsoft.com/office/powerpoint/2010/main" val="2358027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EBD5B-F045-9F9C-B62C-D9F67BF9BA92}"/>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BA2BCB88-0FFA-A4A4-7AA9-E02428B63CDD}"/>
              </a:ext>
            </a:extLst>
          </p:cNvPr>
          <p:cNvSpPr>
            <a:spLocks noGrp="1"/>
          </p:cNvSpPr>
          <p:nvPr>
            <p:ph type="title"/>
          </p:nvPr>
        </p:nvSpPr>
        <p:spPr>
          <a:xfrm>
            <a:off x="0" y="-13886"/>
            <a:ext cx="12192001" cy="1187024"/>
          </a:xfrm>
          <a:solidFill>
            <a:schemeClr val="accent5">
              <a:lumMod val="20000"/>
              <a:lumOff val="80000"/>
            </a:schemeClr>
          </a:solidFill>
        </p:spPr>
        <p:txBody>
          <a:bodyPr>
            <a:noAutofit/>
          </a:bodyPr>
          <a:lstStyle/>
          <a:p>
            <a:r>
              <a:rPr lang="pl-PL" sz="4400" b="1" dirty="0">
                <a:solidFill>
                  <a:schemeClr val="accent5">
                    <a:lumMod val="50000"/>
                  </a:schemeClr>
                </a:solidFill>
                <a:sym typeface="Symbol" pitchFamily="18" charset="2"/>
              </a:rPr>
              <a:t>C</a:t>
            </a:r>
            <a:r>
              <a:rPr lang="en-US" sz="4400" b="1" dirty="0">
                <a:solidFill>
                  <a:schemeClr val="accent5">
                    <a:lumMod val="50000"/>
                  </a:schemeClr>
                </a:solidFill>
                <a:sym typeface="Symbol" pitchFamily="18" charset="2"/>
              </a:rPr>
              <a:t>ross-price elasticity</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5DD39DB3-2E27-D0B5-3304-6000F9C6BADD}"/>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pole tekstowe 62">
            <a:extLst>
              <a:ext uri="{FF2B5EF4-FFF2-40B4-BE49-F238E27FC236}">
                <a16:creationId xmlns:a16="http://schemas.microsoft.com/office/drawing/2014/main" id="{44759210-77E1-638C-E435-AF668664E7E4}"/>
              </a:ext>
            </a:extLst>
          </p:cNvPr>
          <p:cNvSpPr txBox="1"/>
          <p:nvPr/>
        </p:nvSpPr>
        <p:spPr>
          <a:xfrm>
            <a:off x="586573" y="1567763"/>
            <a:ext cx="4545395" cy="3477875"/>
          </a:xfrm>
          <a:prstGeom prst="rect">
            <a:avLst/>
          </a:prstGeom>
          <a:noFill/>
        </p:spPr>
        <p:txBody>
          <a:bodyPr wrap="square">
            <a:spAutoFit/>
          </a:bodyPr>
          <a:lstStyle/>
          <a:p>
            <a:pPr algn="just">
              <a:defRPr/>
            </a:pPr>
            <a:r>
              <a:rPr lang="pl-PL" sz="2000" dirty="0">
                <a:solidFill>
                  <a:schemeClr val="accent5">
                    <a:lumMod val="50000"/>
                  </a:schemeClr>
                </a:solidFill>
              </a:rPr>
              <a:t>Cross-</a:t>
            </a:r>
            <a:r>
              <a:rPr lang="pl-PL" sz="2000" dirty="0" err="1">
                <a:solidFill>
                  <a:schemeClr val="accent5">
                    <a:lumMod val="50000"/>
                  </a:schemeClr>
                </a:solidFill>
              </a:rPr>
              <a:t>price</a:t>
            </a:r>
            <a:r>
              <a:rPr lang="pl-PL" sz="2000" dirty="0">
                <a:solidFill>
                  <a:schemeClr val="accent5">
                    <a:lumMod val="50000"/>
                  </a:schemeClr>
                </a:solidFill>
              </a:rPr>
              <a:t> </a:t>
            </a:r>
            <a:r>
              <a:rPr lang="pl-PL" sz="2000" dirty="0" err="1">
                <a:solidFill>
                  <a:schemeClr val="accent5">
                    <a:lumMod val="50000"/>
                  </a:schemeClr>
                </a:solidFill>
              </a:rPr>
              <a:t>elasticity</a:t>
            </a:r>
            <a:r>
              <a:rPr lang="pl-PL" sz="2000" dirty="0">
                <a:solidFill>
                  <a:schemeClr val="accent5">
                    <a:lumMod val="50000"/>
                  </a:schemeClr>
                </a:solidFill>
              </a:rPr>
              <a:t> </a:t>
            </a:r>
            <a:r>
              <a:rPr lang="en-US" sz="2000" dirty="0">
                <a:solidFill>
                  <a:schemeClr val="accent5">
                    <a:lumMod val="50000"/>
                  </a:schemeClr>
                </a:solidFill>
              </a:rPr>
              <a:t>can depend on many factors.</a:t>
            </a:r>
            <a:r>
              <a:rPr lang="pl-PL" sz="2000" dirty="0">
                <a:solidFill>
                  <a:schemeClr val="accent5">
                    <a:lumMod val="50000"/>
                  </a:schemeClr>
                </a:solidFill>
              </a:rPr>
              <a:t> …</a:t>
            </a:r>
            <a:r>
              <a:rPr lang="en-US" sz="2000" dirty="0">
                <a:solidFill>
                  <a:schemeClr val="accent5">
                    <a:lumMod val="50000"/>
                  </a:schemeClr>
                </a:solidFill>
              </a:rPr>
              <a:t> </a:t>
            </a: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r>
              <a:rPr lang="en-US" sz="2000" dirty="0">
                <a:solidFill>
                  <a:schemeClr val="accent5">
                    <a:lumMod val="50000"/>
                  </a:schemeClr>
                </a:solidFill>
              </a:rPr>
              <a:t>Differences may arise due </a:t>
            </a:r>
            <a:r>
              <a:rPr lang="pl-PL" sz="2000" dirty="0">
                <a:solidFill>
                  <a:schemeClr val="accent5">
                    <a:lumMod val="50000"/>
                  </a:schemeClr>
                </a:solidFill>
              </a:rPr>
              <a:t>… </a:t>
            </a:r>
          </a:p>
          <a:p>
            <a:pPr algn="just">
              <a:defRPr/>
            </a:pPr>
            <a:endParaRPr lang="pl-PL" sz="2000" dirty="0">
              <a:solidFill>
                <a:schemeClr val="accent5">
                  <a:lumMod val="50000"/>
                </a:schemeClr>
              </a:solidFill>
            </a:endParaRPr>
          </a:p>
          <a:p>
            <a:pPr algn="just">
              <a:defRPr/>
            </a:pPr>
            <a:r>
              <a:rPr lang="en-US" sz="2000" dirty="0">
                <a:solidFill>
                  <a:schemeClr val="accent5">
                    <a:lumMod val="50000"/>
                  </a:schemeClr>
                </a:solidFill>
              </a:rPr>
              <a:t>For your assignment, you can showcase and interpret such comparisons. </a:t>
            </a:r>
            <a:endParaRPr lang="pl-PL" sz="2000" dirty="0">
              <a:solidFill>
                <a:schemeClr val="accent5">
                  <a:lumMod val="50000"/>
                </a:schemeClr>
              </a:solidFill>
            </a:endParaRPr>
          </a:p>
          <a:p>
            <a:pPr algn="just">
              <a:defRPr/>
            </a:pPr>
            <a:endParaRPr lang="pl-PL" sz="2000" dirty="0">
              <a:solidFill>
                <a:schemeClr val="accent5">
                  <a:lumMod val="50000"/>
                </a:schemeClr>
              </a:solidFill>
            </a:endParaRPr>
          </a:p>
          <a:p>
            <a:pPr algn="just">
              <a:defRPr/>
            </a:pPr>
            <a:r>
              <a:rPr lang="pl-PL" sz="2000" dirty="0">
                <a:solidFill>
                  <a:schemeClr val="accent5">
                    <a:lumMod val="50000"/>
                  </a:schemeClr>
                </a:solidFill>
              </a:rPr>
              <a:t>….. </a:t>
            </a:r>
            <a:r>
              <a:rPr lang="en-US" sz="2000" dirty="0">
                <a:solidFill>
                  <a:schemeClr val="accent5">
                    <a:lumMod val="50000"/>
                  </a:schemeClr>
                </a:solidFill>
              </a:rPr>
              <a:t>Surprisingly, </a:t>
            </a:r>
            <a:r>
              <a:rPr lang="pl-PL" sz="2000" dirty="0" err="1">
                <a:solidFill>
                  <a:schemeClr val="accent5">
                    <a:lumMod val="50000"/>
                  </a:schemeClr>
                </a:solidFill>
              </a:rPr>
              <a:t>it</a:t>
            </a:r>
            <a:r>
              <a:rPr lang="pl-PL" sz="2000" dirty="0">
                <a:solidFill>
                  <a:schemeClr val="accent5">
                    <a:lumMod val="50000"/>
                  </a:schemeClr>
                </a:solidFill>
              </a:rPr>
              <a:t> </a:t>
            </a:r>
            <a:r>
              <a:rPr lang="pl-PL" sz="2000" dirty="0" err="1">
                <a:solidFill>
                  <a:schemeClr val="accent5">
                    <a:lumMod val="50000"/>
                  </a:schemeClr>
                </a:solidFill>
              </a:rPr>
              <a:t>is</a:t>
            </a:r>
            <a:r>
              <a:rPr lang="pl-PL" sz="2000" dirty="0">
                <a:solidFill>
                  <a:schemeClr val="accent5">
                    <a:lumMod val="50000"/>
                  </a:schemeClr>
                </a:solidFill>
              </a:rPr>
              <a:t> not </a:t>
            </a:r>
            <a:r>
              <a:rPr lang="pl-PL" sz="2000" dirty="0" err="1">
                <a:solidFill>
                  <a:schemeClr val="accent5">
                    <a:lumMod val="50000"/>
                  </a:schemeClr>
                </a:solidFill>
              </a:rPr>
              <a:t>easy</a:t>
            </a:r>
            <a:r>
              <a:rPr lang="pl-PL" sz="2000" dirty="0">
                <a:solidFill>
                  <a:schemeClr val="accent5">
                    <a:lumMod val="50000"/>
                  </a:schemeClr>
                </a:solidFill>
              </a:rPr>
              <a:t> to </a:t>
            </a:r>
            <a:r>
              <a:rPr lang="pl-PL" sz="2000" dirty="0" err="1">
                <a:solidFill>
                  <a:schemeClr val="accent5">
                    <a:lumMod val="50000"/>
                  </a:schemeClr>
                </a:solidFill>
              </a:rPr>
              <a:t>find</a:t>
            </a:r>
            <a:r>
              <a:rPr lang="pl-PL" sz="2000" dirty="0">
                <a:solidFill>
                  <a:schemeClr val="accent5">
                    <a:lumMod val="50000"/>
                  </a:schemeClr>
                </a:solidFill>
              </a:rPr>
              <a:t> </a:t>
            </a:r>
            <a:r>
              <a:rPr lang="pl-PL" sz="2000" dirty="0" err="1">
                <a:solidFill>
                  <a:schemeClr val="accent5">
                    <a:lumMod val="50000"/>
                  </a:schemeClr>
                </a:solidFill>
              </a:rPr>
              <a:t>that</a:t>
            </a:r>
            <a:r>
              <a:rPr lang="pl-PL" sz="2000" dirty="0">
                <a:solidFill>
                  <a:schemeClr val="accent5">
                    <a:lumMod val="50000"/>
                  </a:schemeClr>
                </a:solidFill>
              </a:rPr>
              <a:t> </a:t>
            </a:r>
            <a:r>
              <a:rPr lang="pl-PL" sz="2000" dirty="0" err="1">
                <a:solidFill>
                  <a:schemeClr val="accent5">
                    <a:lumMod val="50000"/>
                  </a:schemeClr>
                </a:solidFill>
              </a:rPr>
              <a:t>type</a:t>
            </a:r>
            <a:r>
              <a:rPr lang="pl-PL" sz="2000" dirty="0">
                <a:solidFill>
                  <a:schemeClr val="accent5">
                    <a:lumMod val="50000"/>
                  </a:schemeClr>
                </a:solidFill>
              </a:rPr>
              <a:t> of </a:t>
            </a:r>
            <a:r>
              <a:rPr lang="pl-PL" sz="2000" dirty="0" err="1">
                <a:solidFill>
                  <a:schemeClr val="accent5">
                    <a:lumMod val="50000"/>
                  </a:schemeClr>
                </a:solidFill>
              </a:rPr>
              <a:t>reserach</a:t>
            </a:r>
            <a:r>
              <a:rPr lang="en-US" sz="2000" dirty="0">
                <a:solidFill>
                  <a:schemeClr val="accent5">
                    <a:lumMod val="50000"/>
                  </a:schemeClr>
                </a:solidFill>
              </a:rPr>
              <a:t>.</a:t>
            </a:r>
            <a:endParaRPr lang="pl-PL" sz="2000" dirty="0">
              <a:solidFill>
                <a:schemeClr val="accent5">
                  <a:lumMod val="50000"/>
                </a:schemeClr>
              </a:solidFill>
            </a:endParaRPr>
          </a:p>
        </p:txBody>
      </p:sp>
      <p:pic>
        <p:nvPicPr>
          <p:cNvPr id="6" name="Picture 5">
            <a:extLst>
              <a:ext uri="{FF2B5EF4-FFF2-40B4-BE49-F238E27FC236}">
                <a16:creationId xmlns:a16="http://schemas.microsoft.com/office/drawing/2014/main" id="{946123F2-F529-2DBD-2FC8-5E699DBB8134}"/>
              </a:ext>
            </a:extLst>
          </p:cNvPr>
          <p:cNvPicPr>
            <a:picLocks noChangeAspect="1"/>
          </p:cNvPicPr>
          <p:nvPr/>
        </p:nvPicPr>
        <p:blipFill>
          <a:blip r:embed="rId2"/>
          <a:stretch>
            <a:fillRect/>
          </a:stretch>
        </p:blipFill>
        <p:spPr>
          <a:xfrm>
            <a:off x="6131229" y="1077540"/>
            <a:ext cx="5620534" cy="2229161"/>
          </a:xfrm>
          <a:prstGeom prst="rect">
            <a:avLst/>
          </a:prstGeom>
        </p:spPr>
      </p:pic>
      <p:pic>
        <p:nvPicPr>
          <p:cNvPr id="14" name="Picture 13">
            <a:extLst>
              <a:ext uri="{FF2B5EF4-FFF2-40B4-BE49-F238E27FC236}">
                <a16:creationId xmlns:a16="http://schemas.microsoft.com/office/drawing/2014/main" id="{5562FED4-7C22-80C5-D065-86D47636050E}"/>
              </a:ext>
            </a:extLst>
          </p:cNvPr>
          <p:cNvPicPr>
            <a:picLocks noChangeAspect="1"/>
          </p:cNvPicPr>
          <p:nvPr/>
        </p:nvPicPr>
        <p:blipFill>
          <a:blip r:embed="rId3"/>
          <a:stretch>
            <a:fillRect/>
          </a:stretch>
        </p:blipFill>
        <p:spPr>
          <a:xfrm>
            <a:off x="6131229" y="3551300"/>
            <a:ext cx="5474198" cy="3029410"/>
          </a:xfrm>
          <a:prstGeom prst="rect">
            <a:avLst/>
          </a:prstGeom>
        </p:spPr>
      </p:pic>
    </p:spTree>
    <p:extLst>
      <p:ext uri="{BB962C8B-B14F-4D97-AF65-F5344CB8AC3E}">
        <p14:creationId xmlns:p14="http://schemas.microsoft.com/office/powerpoint/2010/main" val="695332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3A535-C2CA-0884-7538-1C51F4DEE0BB}"/>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EA14B964-47FD-1600-E5A3-2FF676288A9D}"/>
              </a:ext>
            </a:extLst>
          </p:cNvPr>
          <p:cNvSpPr>
            <a:spLocks noGrp="1"/>
          </p:cNvSpPr>
          <p:nvPr>
            <p:ph type="title"/>
          </p:nvPr>
        </p:nvSpPr>
        <p:spPr>
          <a:xfrm>
            <a:off x="-1" y="-16062"/>
            <a:ext cx="12192001" cy="948122"/>
          </a:xfrm>
          <a:solidFill>
            <a:schemeClr val="accent5">
              <a:lumMod val="20000"/>
              <a:lumOff val="80000"/>
            </a:schemeClr>
          </a:solidFill>
        </p:spPr>
        <p:txBody>
          <a:bodyPr>
            <a:noAutofit/>
          </a:bodyPr>
          <a:lstStyle/>
          <a:p>
            <a:r>
              <a:rPr lang="pl-PL" sz="3600" b="1" dirty="0">
                <a:solidFill>
                  <a:schemeClr val="accent5">
                    <a:lumMod val="50000"/>
                  </a:schemeClr>
                </a:solidFill>
                <a:sym typeface="Symbol" pitchFamily="18" charset="2"/>
              </a:rPr>
              <a:t>C</a:t>
            </a:r>
            <a:r>
              <a:rPr lang="en-US" sz="3600" b="1" dirty="0">
                <a:solidFill>
                  <a:schemeClr val="accent5">
                    <a:lumMod val="50000"/>
                  </a:schemeClr>
                </a:solidFill>
                <a:sym typeface="Symbol" pitchFamily="18" charset="2"/>
              </a:rPr>
              <a:t>ross-price elasticity </a:t>
            </a:r>
            <a:r>
              <a:rPr lang="pl-PL" sz="3600" b="1" dirty="0">
                <a:solidFill>
                  <a:schemeClr val="accent5">
                    <a:lumMod val="50000"/>
                  </a:schemeClr>
                </a:solidFill>
              </a:rPr>
              <a:t>/ </a:t>
            </a:r>
            <a:r>
              <a:rPr lang="pl-PL" sz="3600" b="1" dirty="0" err="1">
                <a:solidFill>
                  <a:schemeClr val="accent5">
                    <a:lumMod val="50000"/>
                  </a:schemeClr>
                </a:solidFill>
              </a:rPr>
              <a:t>taxonomy</a:t>
            </a:r>
            <a:endParaRPr lang="en-GB" sz="7200" b="1" dirty="0">
              <a:solidFill>
                <a:schemeClr val="accent5">
                  <a:lumMod val="50000"/>
                </a:schemeClr>
              </a:solidFill>
            </a:endParaRPr>
          </a:p>
        </p:txBody>
      </p:sp>
      <p:sp>
        <p:nvSpPr>
          <p:cNvPr id="15" name="Prostokąt 3">
            <a:extLst>
              <a:ext uri="{FF2B5EF4-FFF2-40B4-BE49-F238E27FC236}">
                <a16:creationId xmlns:a16="http://schemas.microsoft.com/office/drawing/2014/main" id="{0BC0672D-9F99-098A-EDE6-54A2A1603930}"/>
              </a:ext>
            </a:extLst>
          </p:cNvPr>
          <p:cNvSpPr>
            <a:spLocks noChangeArrowheads="1"/>
          </p:cNvSpPr>
          <p:nvPr/>
        </p:nvSpPr>
        <p:spPr bwMode="auto">
          <a:xfrm>
            <a:off x="135467" y="1204912"/>
            <a:ext cx="8974138" cy="400110"/>
          </a:xfrm>
          <a:prstGeom prst="rect">
            <a:avLst/>
          </a:prstGeom>
          <a:noFill/>
          <a:ln w="9525">
            <a:noFill/>
            <a:miter lim="800000"/>
            <a:headEnd/>
            <a:tailEnd/>
          </a:ln>
        </p:spPr>
        <p:txBody>
          <a:bodyPr>
            <a:spAutoFit/>
          </a:bodyPr>
          <a:lstStyle/>
          <a:p>
            <a:pPr algn="l">
              <a:defRPr/>
            </a:pPr>
            <a:r>
              <a:rPr lang="pl-PL" sz="2000" b="1" dirty="0">
                <a:solidFill>
                  <a:schemeClr val="accent5">
                    <a:lumMod val="50000"/>
                  </a:schemeClr>
                </a:solidFill>
                <a:sym typeface="Symbol" pitchFamily="18" charset="2"/>
              </a:rPr>
              <a:t>x1 = f(p1, M, p2, </a:t>
            </a:r>
            <a:r>
              <a:rPr lang="pl-PL" sz="2000" b="1" dirty="0">
                <a:solidFill>
                  <a:srgbClr val="FF0000"/>
                </a:solidFill>
                <a:sym typeface="Symbol" pitchFamily="18" charset="2"/>
              </a:rPr>
              <a:t>… </a:t>
            </a:r>
          </a:p>
        </p:txBody>
      </p:sp>
      <p:cxnSp>
        <p:nvCxnSpPr>
          <p:cNvPr id="18" name="Łącznik prosty ze strzałką 55">
            <a:extLst>
              <a:ext uri="{FF2B5EF4-FFF2-40B4-BE49-F238E27FC236}">
                <a16:creationId xmlns:a16="http://schemas.microsoft.com/office/drawing/2014/main" id="{034558E6-4F21-5F3D-EB61-5B37ECC6E3AF}"/>
              </a:ext>
            </a:extLst>
          </p:cNvPr>
          <p:cNvCxnSpPr>
            <a:cxnSpLocks/>
            <a:endCxn id="7" idx="0"/>
          </p:cNvCxnSpPr>
          <p:nvPr/>
        </p:nvCxnSpPr>
        <p:spPr>
          <a:xfrm>
            <a:off x="2072593" y="1586363"/>
            <a:ext cx="840345" cy="1180563"/>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7" name="TextBox 6">
            <a:extLst>
              <a:ext uri="{FF2B5EF4-FFF2-40B4-BE49-F238E27FC236}">
                <a16:creationId xmlns:a16="http://schemas.microsoft.com/office/drawing/2014/main" id="{F2E3AF55-F6FB-6D3E-4527-C1C690A1B03E}"/>
              </a:ext>
            </a:extLst>
          </p:cNvPr>
          <p:cNvSpPr txBox="1"/>
          <p:nvPr/>
        </p:nvSpPr>
        <p:spPr>
          <a:xfrm>
            <a:off x="259643" y="2766926"/>
            <a:ext cx="5306589" cy="3046988"/>
          </a:xfrm>
          <a:prstGeom prst="rect">
            <a:avLst/>
          </a:prstGeom>
          <a:noFill/>
        </p:spPr>
        <p:txBody>
          <a:bodyPr wrap="square">
            <a:spAutoFit/>
          </a:bodyPr>
          <a:lstStyle/>
          <a:p>
            <a:pPr algn="just"/>
            <a:r>
              <a:rPr lang="pl-PL" sz="2400" dirty="0">
                <a:solidFill>
                  <a:srgbClr val="FF0000"/>
                </a:solidFill>
              </a:rPr>
              <a:t>(?)</a:t>
            </a:r>
            <a:r>
              <a:rPr lang="pl-PL" sz="2400" dirty="0">
                <a:solidFill>
                  <a:schemeClr val="accent5">
                    <a:lumMod val="50000"/>
                  </a:schemeClr>
                </a:solidFill>
              </a:rPr>
              <a:t> </a:t>
            </a:r>
            <a:r>
              <a:rPr lang="en-US" sz="2400" dirty="0">
                <a:solidFill>
                  <a:schemeClr val="accent5">
                    <a:lumMod val="50000"/>
                  </a:schemeClr>
                </a:solidFill>
              </a:rPr>
              <a:t>What is the influence of other factors? It is very difficult to find research directly related to the demand function understood in this way.</a:t>
            </a:r>
          </a:p>
          <a:p>
            <a:pPr algn="just"/>
            <a:endParaRPr lang="en-US" sz="2400" dirty="0">
              <a:solidFill>
                <a:schemeClr val="accent5">
                  <a:lumMod val="50000"/>
                </a:schemeClr>
              </a:solidFill>
            </a:endParaRPr>
          </a:p>
          <a:p>
            <a:pPr algn="just"/>
            <a:r>
              <a:rPr lang="en-US" sz="2400" dirty="0">
                <a:solidFill>
                  <a:schemeClr val="accent5">
                    <a:lumMod val="50000"/>
                  </a:schemeClr>
                </a:solidFill>
              </a:rPr>
              <a:t>In textbooks, the demand curve is typically shifted parallel due to unspecified factors.</a:t>
            </a:r>
            <a:endParaRPr lang="pl-PL" sz="2400" dirty="0">
              <a:solidFill>
                <a:schemeClr val="accent5">
                  <a:lumMod val="50000"/>
                </a:schemeClr>
              </a:solidFill>
            </a:endParaRPr>
          </a:p>
        </p:txBody>
      </p:sp>
      <p:grpSp>
        <p:nvGrpSpPr>
          <p:cNvPr id="10" name="Grupa 88">
            <a:extLst>
              <a:ext uri="{FF2B5EF4-FFF2-40B4-BE49-F238E27FC236}">
                <a16:creationId xmlns:a16="http://schemas.microsoft.com/office/drawing/2014/main" id="{F92D373D-FBCC-F7DB-82B5-86590C350227}"/>
              </a:ext>
            </a:extLst>
          </p:cNvPr>
          <p:cNvGrpSpPr>
            <a:grpSpLocks/>
          </p:cNvGrpSpPr>
          <p:nvPr/>
        </p:nvGrpSpPr>
        <p:grpSpPr bwMode="auto">
          <a:xfrm>
            <a:off x="6179460" y="1764883"/>
            <a:ext cx="4722807" cy="4122699"/>
            <a:chOff x="2854826" y="4118430"/>
            <a:chExt cx="1836849" cy="2319863"/>
          </a:xfrm>
        </p:grpSpPr>
        <p:cxnSp>
          <p:nvCxnSpPr>
            <p:cNvPr id="11" name="Łącznik prosty 85">
              <a:extLst>
                <a:ext uri="{FF2B5EF4-FFF2-40B4-BE49-F238E27FC236}">
                  <a16:creationId xmlns:a16="http://schemas.microsoft.com/office/drawing/2014/main" id="{FB6EF9F6-5BBB-97D7-3B73-5637C77784CF}"/>
                </a:ext>
              </a:extLst>
            </p:cNvPr>
            <p:cNvCxnSpPr>
              <a:cxnSpLocks/>
            </p:cNvCxnSpPr>
            <p:nvPr/>
          </p:nvCxnSpPr>
          <p:spPr>
            <a:xfrm flipH="1" flipV="1">
              <a:off x="3116167" y="4699831"/>
              <a:ext cx="1018794" cy="1393362"/>
            </a:xfrm>
            <a:prstGeom prst="line">
              <a:avLst/>
            </a:prstGeom>
          </p:spPr>
          <p:style>
            <a:lnRef idx="3">
              <a:schemeClr val="accent3"/>
            </a:lnRef>
            <a:fillRef idx="0">
              <a:schemeClr val="accent3"/>
            </a:fillRef>
            <a:effectRef idx="2">
              <a:schemeClr val="accent3"/>
            </a:effectRef>
            <a:fontRef idx="minor">
              <a:schemeClr val="tx1"/>
            </a:fontRef>
          </p:style>
        </p:cxnSp>
        <p:grpSp>
          <p:nvGrpSpPr>
            <p:cNvPr id="13" name="Grupa 47">
              <a:extLst>
                <a:ext uri="{FF2B5EF4-FFF2-40B4-BE49-F238E27FC236}">
                  <a16:creationId xmlns:a16="http://schemas.microsoft.com/office/drawing/2014/main" id="{66E7BED9-631F-CA5E-F3F5-8F850230E5F3}"/>
                </a:ext>
              </a:extLst>
            </p:cNvPr>
            <p:cNvGrpSpPr>
              <a:grpSpLocks/>
            </p:cNvGrpSpPr>
            <p:nvPr/>
          </p:nvGrpSpPr>
          <p:grpSpPr bwMode="auto">
            <a:xfrm>
              <a:off x="2854826" y="4118430"/>
              <a:ext cx="1836849" cy="2319863"/>
              <a:chOff x="6370809" y="485959"/>
              <a:chExt cx="1836849" cy="2320568"/>
            </a:xfrm>
          </p:grpSpPr>
          <p:sp>
            <p:nvSpPr>
              <p:cNvPr id="14" name="Prostokąt 75">
                <a:extLst>
                  <a:ext uri="{FF2B5EF4-FFF2-40B4-BE49-F238E27FC236}">
                    <a16:creationId xmlns:a16="http://schemas.microsoft.com/office/drawing/2014/main" id="{F0CFEC88-786A-844C-CD04-4841751EDCA3}"/>
                  </a:ext>
                </a:extLst>
              </p:cNvPr>
              <p:cNvSpPr/>
              <p:nvPr/>
            </p:nvSpPr>
            <p:spPr>
              <a:xfrm>
                <a:off x="8000545" y="2469631"/>
                <a:ext cx="207113" cy="259860"/>
              </a:xfrm>
              <a:prstGeom prst="rect">
                <a:avLst/>
              </a:prstGeom>
            </p:spPr>
            <p:txBody>
              <a:bodyPr wrap="square">
                <a:spAutoFit/>
              </a:bodyPr>
              <a:lstStyle/>
              <a:p>
                <a:pPr>
                  <a:defRPr/>
                </a:pPr>
                <a:r>
                  <a:rPr lang="pl-PL" sz="2400" dirty="0">
                    <a:solidFill>
                      <a:schemeClr val="accent1">
                        <a:lumMod val="50000"/>
                      </a:schemeClr>
                    </a:solidFill>
                    <a:cs typeface="Arial" pitchFamily="34" charset="0"/>
                  </a:rPr>
                  <a:t>x1</a:t>
                </a:r>
                <a:endParaRPr lang="pl-PL" sz="2400" dirty="0">
                  <a:cs typeface="Arial" pitchFamily="34" charset="0"/>
                </a:endParaRPr>
              </a:p>
            </p:txBody>
          </p:sp>
          <p:grpSp>
            <p:nvGrpSpPr>
              <p:cNvPr id="20" name="Grupa 46">
                <a:extLst>
                  <a:ext uri="{FF2B5EF4-FFF2-40B4-BE49-F238E27FC236}">
                    <a16:creationId xmlns:a16="http://schemas.microsoft.com/office/drawing/2014/main" id="{37265C81-4212-24D3-DA28-A7523BF2D26B}"/>
                  </a:ext>
                </a:extLst>
              </p:cNvPr>
              <p:cNvGrpSpPr>
                <a:grpSpLocks/>
              </p:cNvGrpSpPr>
              <p:nvPr/>
            </p:nvGrpSpPr>
            <p:grpSpPr bwMode="auto">
              <a:xfrm>
                <a:off x="6370809" y="485959"/>
                <a:ext cx="1836849" cy="2320568"/>
                <a:chOff x="6370809" y="485959"/>
                <a:chExt cx="1836849" cy="2320568"/>
              </a:xfrm>
            </p:grpSpPr>
            <p:grpSp>
              <p:nvGrpSpPr>
                <p:cNvPr id="21" name="Grupa 15">
                  <a:extLst>
                    <a:ext uri="{FF2B5EF4-FFF2-40B4-BE49-F238E27FC236}">
                      <a16:creationId xmlns:a16="http://schemas.microsoft.com/office/drawing/2014/main" id="{BB1D6ACF-4463-4500-E45D-1ACE367C81C7}"/>
                    </a:ext>
                  </a:extLst>
                </p:cNvPr>
                <p:cNvGrpSpPr>
                  <a:grpSpLocks/>
                </p:cNvGrpSpPr>
                <p:nvPr/>
              </p:nvGrpSpPr>
              <p:grpSpPr bwMode="auto">
                <a:xfrm>
                  <a:off x="6479665" y="616586"/>
                  <a:ext cx="1727993" cy="2189941"/>
                  <a:chOff x="4486537" y="250360"/>
                  <a:chExt cx="1865594" cy="3408607"/>
                </a:xfrm>
              </p:grpSpPr>
              <p:sp>
                <p:nvSpPr>
                  <p:cNvPr id="23" name="Line 5">
                    <a:extLst>
                      <a:ext uri="{FF2B5EF4-FFF2-40B4-BE49-F238E27FC236}">
                        <a16:creationId xmlns:a16="http://schemas.microsoft.com/office/drawing/2014/main" id="{A600115E-13FF-57DC-5368-F7AEE2670000}"/>
                      </a:ext>
                    </a:extLst>
                  </p:cNvPr>
                  <p:cNvSpPr>
                    <a:spLocks noChangeShapeType="1"/>
                  </p:cNvSpPr>
                  <p:nvPr/>
                </p:nvSpPr>
                <p:spPr bwMode="auto">
                  <a:xfrm>
                    <a:off x="4486537" y="3068617"/>
                    <a:ext cx="1865594" cy="2"/>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2800" b="1">
                      <a:cs typeface="Arial" pitchFamily="34" charset="0"/>
                    </a:endParaRPr>
                  </a:p>
                </p:txBody>
              </p:sp>
              <p:sp>
                <p:nvSpPr>
                  <p:cNvPr id="24" name="Line 4">
                    <a:extLst>
                      <a:ext uri="{FF2B5EF4-FFF2-40B4-BE49-F238E27FC236}">
                        <a16:creationId xmlns:a16="http://schemas.microsoft.com/office/drawing/2014/main" id="{ECAC0AF3-C4C0-6602-F6CF-164E57D23D8E}"/>
                      </a:ext>
                    </a:extLst>
                  </p:cNvPr>
                  <p:cNvSpPr>
                    <a:spLocks noChangeShapeType="1"/>
                  </p:cNvSpPr>
                  <p:nvPr/>
                </p:nvSpPr>
                <p:spPr bwMode="auto">
                  <a:xfrm flipH="1" flipV="1">
                    <a:off x="4645231" y="250360"/>
                    <a:ext cx="5934" cy="3408607"/>
                  </a:xfrm>
                  <a:prstGeom prst="line">
                    <a:avLst/>
                  </a:prstGeom>
                  <a:ln>
                    <a:headEnd/>
                    <a:tailEnd type="triangle"/>
                  </a:ln>
                </p:spPr>
                <p:style>
                  <a:lnRef idx="1">
                    <a:schemeClr val="dk1"/>
                  </a:lnRef>
                  <a:fillRef idx="0">
                    <a:schemeClr val="dk1"/>
                  </a:fillRef>
                  <a:effectRef idx="0">
                    <a:schemeClr val="dk1"/>
                  </a:effectRef>
                  <a:fontRef idx="minor">
                    <a:schemeClr val="tx1"/>
                  </a:fontRef>
                </p:style>
                <p:txBody>
                  <a:bodyPr wrap="square" anchor="ctr">
                    <a:spAutoFit/>
                  </a:bodyPr>
                  <a:lstStyle/>
                  <a:p>
                    <a:pPr>
                      <a:defRPr/>
                    </a:pPr>
                    <a:endParaRPr lang="pl-PL" sz="2800" b="1">
                      <a:cs typeface="Arial" pitchFamily="34" charset="0"/>
                    </a:endParaRPr>
                  </a:p>
                </p:txBody>
              </p:sp>
            </p:grpSp>
            <p:sp>
              <p:nvSpPr>
                <p:cNvPr id="22" name="Prostokąt 78">
                  <a:extLst>
                    <a:ext uri="{FF2B5EF4-FFF2-40B4-BE49-F238E27FC236}">
                      <a16:creationId xmlns:a16="http://schemas.microsoft.com/office/drawing/2014/main" id="{B86FD51E-5047-19C5-A871-4B4858EA39D2}"/>
                    </a:ext>
                  </a:extLst>
                </p:cNvPr>
                <p:cNvSpPr/>
                <p:nvPr/>
              </p:nvSpPr>
              <p:spPr>
                <a:xfrm>
                  <a:off x="6370809" y="485959"/>
                  <a:ext cx="195267" cy="259860"/>
                </a:xfrm>
                <a:prstGeom prst="rect">
                  <a:avLst/>
                </a:prstGeom>
              </p:spPr>
              <p:txBody>
                <a:bodyPr wrap="none">
                  <a:spAutoFit/>
                </a:bodyPr>
                <a:lstStyle/>
                <a:p>
                  <a:pPr>
                    <a:defRPr/>
                  </a:pPr>
                  <a:r>
                    <a:rPr lang="pl-PL" sz="2400" dirty="0">
                      <a:solidFill>
                        <a:schemeClr val="accent1">
                          <a:lumMod val="50000"/>
                        </a:schemeClr>
                      </a:solidFill>
                      <a:cs typeface="Arial" pitchFamily="34" charset="0"/>
                    </a:rPr>
                    <a:t>p1</a:t>
                  </a:r>
                  <a:endParaRPr lang="pl-PL" sz="2400" dirty="0">
                    <a:cs typeface="Arial" pitchFamily="34" charset="0"/>
                  </a:endParaRPr>
                </a:p>
              </p:txBody>
            </p:sp>
          </p:grpSp>
        </p:grpSp>
      </p:grpSp>
      <p:cxnSp>
        <p:nvCxnSpPr>
          <p:cNvPr id="28" name="Łącznik prosty 85">
            <a:extLst>
              <a:ext uri="{FF2B5EF4-FFF2-40B4-BE49-F238E27FC236}">
                <a16:creationId xmlns:a16="http://schemas.microsoft.com/office/drawing/2014/main" id="{BEF12FDB-62BC-C9C4-F631-499608A4CAD3}"/>
              </a:ext>
            </a:extLst>
          </p:cNvPr>
          <p:cNvCxnSpPr>
            <a:cxnSpLocks/>
          </p:cNvCxnSpPr>
          <p:nvPr/>
        </p:nvCxnSpPr>
        <p:spPr bwMode="auto">
          <a:xfrm>
            <a:off x="7229338" y="1733215"/>
            <a:ext cx="3398181" cy="3455601"/>
          </a:xfrm>
          <a:prstGeom prst="line">
            <a:avLst/>
          </a:prstGeom>
        </p:spPr>
        <p:style>
          <a:lnRef idx="3">
            <a:schemeClr val="accent3"/>
          </a:lnRef>
          <a:fillRef idx="0">
            <a:schemeClr val="accent3"/>
          </a:fillRef>
          <a:effectRef idx="2">
            <a:schemeClr val="accent3"/>
          </a:effectRef>
          <a:fontRef idx="minor">
            <a:schemeClr val="tx1"/>
          </a:fontRef>
        </p:style>
      </p:cxnSp>
      <p:cxnSp>
        <p:nvCxnSpPr>
          <p:cNvPr id="29" name="Łącznik prosty ze strzałką 55">
            <a:extLst>
              <a:ext uri="{FF2B5EF4-FFF2-40B4-BE49-F238E27FC236}">
                <a16:creationId xmlns:a16="http://schemas.microsoft.com/office/drawing/2014/main" id="{9052267F-4660-DE43-022F-0E30E5A7BF66}"/>
              </a:ext>
            </a:extLst>
          </p:cNvPr>
          <p:cNvCxnSpPr>
            <a:cxnSpLocks/>
          </p:cNvCxnSpPr>
          <p:nvPr/>
        </p:nvCxnSpPr>
        <p:spPr>
          <a:xfrm flipV="1">
            <a:off x="7785488" y="2949260"/>
            <a:ext cx="545712" cy="549043"/>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1" name="Łącznik prosty ze strzałką 55">
            <a:extLst>
              <a:ext uri="{FF2B5EF4-FFF2-40B4-BE49-F238E27FC236}">
                <a16:creationId xmlns:a16="http://schemas.microsoft.com/office/drawing/2014/main" id="{14ADC2C1-0FF5-E378-A0F4-D29C86D906BC}"/>
              </a:ext>
            </a:extLst>
          </p:cNvPr>
          <p:cNvCxnSpPr>
            <a:cxnSpLocks/>
          </p:cNvCxnSpPr>
          <p:nvPr/>
        </p:nvCxnSpPr>
        <p:spPr>
          <a:xfrm flipH="1">
            <a:off x="7431452" y="4004199"/>
            <a:ext cx="499547" cy="586091"/>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4" name="Łącznik prosty 85">
            <a:extLst>
              <a:ext uri="{FF2B5EF4-FFF2-40B4-BE49-F238E27FC236}">
                <a16:creationId xmlns:a16="http://schemas.microsoft.com/office/drawing/2014/main" id="{C10B7607-ABA9-A3E7-B7B9-C6D819E7B0EC}"/>
              </a:ext>
            </a:extLst>
          </p:cNvPr>
          <p:cNvCxnSpPr>
            <a:cxnSpLocks/>
          </p:cNvCxnSpPr>
          <p:nvPr/>
        </p:nvCxnSpPr>
        <p:spPr bwMode="auto">
          <a:xfrm flipH="1" flipV="1">
            <a:off x="6842917" y="4172134"/>
            <a:ext cx="1201453" cy="1091987"/>
          </a:xfrm>
          <a:prstGeom prst="line">
            <a:avLst/>
          </a:prstGeom>
        </p:spPr>
        <p:style>
          <a:lnRef idx="3">
            <a:schemeClr val="accent3"/>
          </a:lnRef>
          <a:fillRef idx="0">
            <a:schemeClr val="accent3"/>
          </a:fillRef>
          <a:effectRef idx="2">
            <a:schemeClr val="accent3"/>
          </a:effectRef>
          <a:fontRef idx="minor">
            <a:schemeClr val="tx1"/>
          </a:fontRef>
        </p:style>
      </p:cxnSp>
      <p:sp>
        <p:nvSpPr>
          <p:cNvPr id="48" name="Prostokąt 78">
            <a:extLst>
              <a:ext uri="{FF2B5EF4-FFF2-40B4-BE49-F238E27FC236}">
                <a16:creationId xmlns:a16="http://schemas.microsoft.com/office/drawing/2014/main" id="{F612C87C-D469-C0AF-0BBA-4FC114A3B2FF}"/>
              </a:ext>
            </a:extLst>
          </p:cNvPr>
          <p:cNvSpPr/>
          <p:nvPr/>
        </p:nvSpPr>
        <p:spPr bwMode="auto">
          <a:xfrm>
            <a:off x="7500934" y="2697009"/>
            <a:ext cx="684766" cy="523220"/>
          </a:xfrm>
          <a:prstGeom prst="rect">
            <a:avLst/>
          </a:prstGeom>
        </p:spPr>
        <p:txBody>
          <a:bodyPr wrap="square">
            <a:spAutoFit/>
          </a:bodyPr>
          <a:lstStyle/>
          <a:p>
            <a:pPr>
              <a:defRPr/>
            </a:pPr>
            <a:r>
              <a:rPr lang="pl-PL" sz="2800" dirty="0">
                <a:solidFill>
                  <a:srgbClr val="FF0000"/>
                </a:solidFill>
                <a:cs typeface="Arial" pitchFamily="34" charset="0"/>
              </a:rPr>
              <a:t>(+)</a:t>
            </a:r>
          </a:p>
        </p:txBody>
      </p:sp>
      <p:sp>
        <p:nvSpPr>
          <p:cNvPr id="49" name="Prostokąt 78">
            <a:extLst>
              <a:ext uri="{FF2B5EF4-FFF2-40B4-BE49-F238E27FC236}">
                <a16:creationId xmlns:a16="http://schemas.microsoft.com/office/drawing/2014/main" id="{3E1E115F-8EC5-EAAB-44CF-EEB0E18788D2}"/>
              </a:ext>
            </a:extLst>
          </p:cNvPr>
          <p:cNvSpPr/>
          <p:nvPr/>
        </p:nvSpPr>
        <p:spPr bwMode="auto">
          <a:xfrm>
            <a:off x="7716117" y="4282273"/>
            <a:ext cx="684766" cy="523220"/>
          </a:xfrm>
          <a:prstGeom prst="rect">
            <a:avLst/>
          </a:prstGeom>
        </p:spPr>
        <p:txBody>
          <a:bodyPr wrap="square">
            <a:spAutoFit/>
          </a:bodyPr>
          <a:lstStyle/>
          <a:p>
            <a:pPr>
              <a:defRPr/>
            </a:pPr>
            <a:r>
              <a:rPr lang="pl-PL" sz="2800" dirty="0">
                <a:solidFill>
                  <a:srgbClr val="FF0000"/>
                </a:solidFill>
                <a:cs typeface="Arial" pitchFamily="34" charset="0"/>
              </a:rPr>
              <a:t>(-)</a:t>
            </a:r>
          </a:p>
        </p:txBody>
      </p:sp>
    </p:spTree>
    <p:extLst>
      <p:ext uri="{BB962C8B-B14F-4D97-AF65-F5344CB8AC3E}">
        <p14:creationId xmlns:p14="http://schemas.microsoft.com/office/powerpoint/2010/main" val="1851638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AD7EE-2808-FD7B-AE8C-E16977764F68}"/>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3F95805C-8365-B037-492D-481724D3FBFC}"/>
              </a:ext>
            </a:extLst>
          </p:cNvPr>
          <p:cNvSpPr>
            <a:spLocks noGrp="1"/>
          </p:cNvSpPr>
          <p:nvPr>
            <p:ph type="title"/>
          </p:nvPr>
        </p:nvSpPr>
        <p:spPr>
          <a:xfrm>
            <a:off x="0" y="-13886"/>
            <a:ext cx="12192001" cy="948122"/>
          </a:xfrm>
          <a:solidFill>
            <a:schemeClr val="accent5">
              <a:lumMod val="20000"/>
              <a:lumOff val="80000"/>
            </a:schemeClr>
          </a:solidFill>
        </p:spPr>
        <p:txBody>
          <a:bodyPr>
            <a:noAutofit/>
          </a:bodyPr>
          <a:lstStyle/>
          <a:p>
            <a:r>
              <a:rPr lang="en-US" b="1" i="1" dirty="0">
                <a:solidFill>
                  <a:schemeClr val="accent5">
                    <a:lumMod val="50000"/>
                  </a:schemeClr>
                </a:solidFill>
              </a:rPr>
              <a:t>Properties of the demand function </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253EDD6F-41A1-871A-8E36-D4AC298349B9}"/>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D7E6E677-2CCE-4CAA-608B-982769F8942B}"/>
              </a:ext>
            </a:extLst>
          </p:cNvPr>
          <p:cNvSpPr/>
          <p:nvPr/>
        </p:nvSpPr>
        <p:spPr>
          <a:xfrm>
            <a:off x="2791144" y="1656362"/>
            <a:ext cx="5485753" cy="4154984"/>
          </a:xfrm>
          <a:prstGeom prst="rect">
            <a:avLst/>
          </a:prstGeom>
        </p:spPr>
        <p:txBody>
          <a:bodyPr wrap="square">
            <a:spAutoFit/>
          </a:bodyPr>
          <a:lstStyle/>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Properties of the demand function derived from optimization models with the Cobb-Douglas utility function.</a:t>
            </a:r>
          </a:p>
          <a:p>
            <a:pPr lvl="0" algn="just">
              <a:defRPr/>
            </a:pP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The demand function is very simple, but there are three major problems resulting from this simplicity:</a:t>
            </a:r>
          </a:p>
          <a:p>
            <a:pPr lvl="0" algn="just">
              <a:defRPr/>
            </a:pP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342900" lvl="0" indent="-342900" algn="just">
              <a:buFont typeface="Arial" panose="020B0604020202020204" pitchFamily="34" charset="0"/>
              <a:buChar char="•"/>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Constant </a:t>
            </a:r>
            <a:r>
              <a:rPr kumimoji="0" lang="pl-PL" sz="2400" i="0" u="none" strike="noStrike" kern="1200" cap="none" spc="0" normalizeH="0" baseline="0" noProof="0" dirty="0" err="1">
                <a:ln>
                  <a:noFill/>
                </a:ln>
                <a:solidFill>
                  <a:srgbClr val="4BACC6">
                    <a:lumMod val="50000"/>
                  </a:srgbClr>
                </a:solidFill>
                <a:effectLst/>
                <a:uLnTx/>
                <a:uFillTx/>
                <a:latin typeface="Calibri"/>
                <a:ea typeface="+mn-ea"/>
                <a:cs typeface="+mn-cs"/>
              </a:rPr>
              <a:t>price</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elasticity of demand = 1</a:t>
            </a:r>
          </a:p>
          <a:p>
            <a:pPr marL="342900" lvl="0" indent="-342900" algn="just">
              <a:buFont typeface="Arial" panose="020B0604020202020204" pitchFamily="34" charset="0"/>
              <a:buChar char="•"/>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Cross elasticity = 0</a:t>
            </a:r>
          </a:p>
          <a:p>
            <a:pPr marL="342900" lvl="0" indent="-342900" algn="just">
              <a:buFont typeface="Arial" panose="020B0604020202020204" pitchFamily="34" charset="0"/>
              <a:buChar char="•"/>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Only positive income elasticity = 1</a:t>
            </a:r>
            <a:endPar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
        <p:nvSpPr>
          <p:cNvPr id="45" name="TextBox 44">
            <a:extLst>
              <a:ext uri="{FF2B5EF4-FFF2-40B4-BE49-F238E27FC236}">
                <a16:creationId xmlns:a16="http://schemas.microsoft.com/office/drawing/2014/main" id="{7610DAE4-C89C-A208-C947-F0C92778C0CF}"/>
              </a:ext>
            </a:extLst>
          </p:cNvPr>
          <p:cNvSpPr txBox="1"/>
          <p:nvPr/>
        </p:nvSpPr>
        <p:spPr>
          <a:xfrm>
            <a:off x="213995" y="1057141"/>
            <a:ext cx="2418080" cy="553997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600" dirty="0">
                <a:solidFill>
                  <a:schemeClr val="accent5">
                    <a:lumMod val="50000"/>
                  </a:schemeClr>
                </a:solidFill>
              </a:rPr>
              <a:t>kill(all);  /* Clear all previous definitions and variables */</a:t>
            </a:r>
          </a:p>
          <a:p>
            <a:endParaRPr lang="en-US" sz="600" dirty="0">
              <a:solidFill>
                <a:schemeClr val="accent5">
                  <a:lumMod val="50000"/>
                </a:schemeClr>
              </a:solidFill>
            </a:endParaRPr>
          </a:p>
          <a:p>
            <a:r>
              <a:rPr lang="en-US" sz="600" dirty="0">
                <a:solidFill>
                  <a:schemeClr val="accent5">
                    <a:lumMod val="50000"/>
                  </a:schemeClr>
                </a:solidFill>
              </a:rPr>
              <a:t>/* Load the draw package (only necessary if plotting is required) */</a:t>
            </a:r>
          </a:p>
          <a:p>
            <a:r>
              <a:rPr lang="en-US" sz="600" dirty="0">
                <a:solidFill>
                  <a:schemeClr val="accent5">
                    <a:lumMod val="50000"/>
                  </a:schemeClr>
                </a:solidFill>
              </a:rPr>
              <a:t>load(draw);</a:t>
            </a:r>
          </a:p>
          <a:p>
            <a:endParaRPr lang="en-US" sz="600" dirty="0">
              <a:solidFill>
                <a:schemeClr val="accent5">
                  <a:lumMod val="50000"/>
                </a:schemeClr>
              </a:solidFill>
            </a:endParaRPr>
          </a:p>
          <a:p>
            <a:r>
              <a:rPr lang="en-US" sz="600" dirty="0">
                <a:solidFill>
                  <a:schemeClr val="accent5">
                    <a:lumMod val="50000"/>
                  </a:schemeClr>
                </a:solidFill>
              </a:rPr>
              <a:t>/* Assume positive values for variables and parameters */</a:t>
            </a:r>
          </a:p>
          <a:p>
            <a:r>
              <a:rPr lang="en-US" sz="600" dirty="0">
                <a:solidFill>
                  <a:schemeClr val="accent5">
                    <a:lumMod val="50000"/>
                  </a:schemeClr>
                </a:solidFill>
              </a:rPr>
              <a:t>assume(</a:t>
            </a:r>
          </a:p>
          <a:p>
            <a:r>
              <a:rPr lang="en-US" sz="600" dirty="0">
                <a:solidFill>
                  <a:schemeClr val="accent5">
                    <a:lumMod val="50000"/>
                  </a:schemeClr>
                </a:solidFill>
              </a:rPr>
              <a:t>    x1 &gt; 0, x2 &gt; 0,    /* Quantities of goods x1, x2 */</a:t>
            </a:r>
          </a:p>
          <a:p>
            <a:r>
              <a:rPr lang="en-US" sz="600" dirty="0">
                <a:solidFill>
                  <a:schemeClr val="accent5">
                    <a:lumMod val="50000"/>
                  </a:schemeClr>
                </a:solidFill>
              </a:rPr>
              <a:t>    p1 &gt; 0, p2 &gt; 0,    /* Prices of goods p1, p2 */</a:t>
            </a:r>
          </a:p>
          <a:p>
            <a:r>
              <a:rPr lang="en-US" sz="600" dirty="0">
                <a:solidFill>
                  <a:schemeClr val="accent5">
                    <a:lumMod val="50000"/>
                  </a:schemeClr>
                </a:solidFill>
              </a:rPr>
              <a:t>    α &gt; 0, α &lt; 1,      /* Preference parameter α for x1 */</a:t>
            </a:r>
          </a:p>
          <a:p>
            <a:r>
              <a:rPr lang="en-US" sz="600" dirty="0">
                <a:solidFill>
                  <a:schemeClr val="accent5">
                    <a:lumMod val="50000"/>
                  </a:schemeClr>
                </a:solidFill>
              </a:rPr>
              <a:t>    β &gt; 0, β &lt; 1,      /* Preference parameter β for x2 */</a:t>
            </a:r>
          </a:p>
          <a:p>
            <a:r>
              <a:rPr lang="en-US" sz="600" dirty="0">
                <a:solidFill>
                  <a:schemeClr val="accent5">
                    <a:lumMod val="50000"/>
                  </a:schemeClr>
                </a:solidFill>
              </a:rPr>
              <a:t>    M &gt; 0              /* Consumer's income */</a:t>
            </a:r>
          </a:p>
          <a:p>
            <a:r>
              <a:rPr lang="en-US" sz="600" dirty="0">
                <a:solidFill>
                  <a:schemeClr val="accent5">
                    <a:lumMod val="50000"/>
                  </a:schemeClr>
                </a:solidFill>
              </a:rPr>
              <a:t>);</a:t>
            </a:r>
          </a:p>
          <a:p>
            <a:endParaRPr lang="en-US" sz="600" dirty="0">
              <a:solidFill>
                <a:schemeClr val="accent5">
                  <a:lumMod val="50000"/>
                </a:schemeClr>
              </a:solidFill>
            </a:endParaRPr>
          </a:p>
          <a:p>
            <a:r>
              <a:rPr lang="en-US" sz="600" dirty="0">
                <a:solidFill>
                  <a:schemeClr val="accent5">
                    <a:lumMod val="50000"/>
                  </a:schemeClr>
                </a:solidFill>
              </a:rPr>
              <a:t>/* Declare constants to ensure they are not treated as variables in Maxima */</a:t>
            </a:r>
          </a:p>
          <a:p>
            <a:r>
              <a:rPr lang="en-US" sz="600" dirty="0">
                <a:solidFill>
                  <a:schemeClr val="accent5">
                    <a:lumMod val="50000"/>
                  </a:schemeClr>
                </a:solidFill>
              </a:rPr>
              <a:t>declare(α, constant);</a:t>
            </a:r>
          </a:p>
          <a:p>
            <a:r>
              <a:rPr lang="en-US" sz="600" dirty="0">
                <a:solidFill>
                  <a:schemeClr val="accent5">
                    <a:lumMod val="50000"/>
                  </a:schemeClr>
                </a:solidFill>
              </a:rPr>
              <a:t>declare(β, constant);</a:t>
            </a:r>
          </a:p>
          <a:p>
            <a:endParaRPr lang="en-US" sz="600" dirty="0">
              <a:solidFill>
                <a:schemeClr val="accent5">
                  <a:lumMod val="50000"/>
                </a:schemeClr>
              </a:solidFill>
            </a:endParaRPr>
          </a:p>
          <a:p>
            <a:r>
              <a:rPr lang="en-US" sz="600" dirty="0">
                <a:solidFill>
                  <a:schemeClr val="accent5">
                    <a:lumMod val="50000"/>
                  </a:schemeClr>
                </a:solidFill>
              </a:rPr>
              <a:t>/* Define the utility function U (Cobb-Douglas form) */</a:t>
            </a:r>
          </a:p>
          <a:p>
            <a:r>
              <a:rPr lang="en-US" sz="600" dirty="0">
                <a:solidFill>
                  <a:schemeClr val="accent5">
                    <a:lumMod val="50000"/>
                  </a:schemeClr>
                </a:solidFill>
              </a:rPr>
              <a:t>U: (x1^α) * (x2^β);</a:t>
            </a:r>
          </a:p>
          <a:p>
            <a:endParaRPr lang="en-US" sz="600" dirty="0">
              <a:solidFill>
                <a:schemeClr val="accent5">
                  <a:lumMod val="50000"/>
                </a:schemeClr>
              </a:solidFill>
            </a:endParaRPr>
          </a:p>
          <a:p>
            <a:r>
              <a:rPr lang="en-US" sz="600" dirty="0">
                <a:solidFill>
                  <a:schemeClr val="accent5">
                    <a:lumMod val="50000"/>
                  </a:schemeClr>
                </a:solidFill>
              </a:rPr>
              <a:t>/* Define the </a:t>
            </a:r>
            <a:r>
              <a:rPr lang="en-US" sz="600" dirty="0" err="1">
                <a:solidFill>
                  <a:schemeClr val="accent5">
                    <a:lumMod val="50000"/>
                  </a:schemeClr>
                </a:solidFill>
              </a:rPr>
              <a:t>Lagrangian</a:t>
            </a:r>
            <a:r>
              <a:rPr lang="en-US" sz="600" dirty="0">
                <a:solidFill>
                  <a:schemeClr val="accent5">
                    <a:lumMod val="50000"/>
                  </a:schemeClr>
                </a:solidFill>
              </a:rPr>
              <a:t> function L with the budget constraint */</a:t>
            </a:r>
          </a:p>
          <a:p>
            <a:r>
              <a:rPr lang="en-US" sz="600" dirty="0">
                <a:solidFill>
                  <a:schemeClr val="accent5">
                    <a:lumMod val="50000"/>
                  </a:schemeClr>
                </a:solidFill>
              </a:rPr>
              <a:t>L: U + λ * (M - p1 * x1 - p2 * x2);</a:t>
            </a:r>
          </a:p>
          <a:p>
            <a:endParaRPr lang="en-US" sz="600" dirty="0">
              <a:solidFill>
                <a:schemeClr val="accent5">
                  <a:lumMod val="50000"/>
                </a:schemeClr>
              </a:solidFill>
            </a:endParaRPr>
          </a:p>
          <a:p>
            <a:r>
              <a:rPr lang="en-US" sz="600" dirty="0">
                <a:solidFill>
                  <a:schemeClr val="accent5">
                    <a:lumMod val="50000"/>
                  </a:schemeClr>
                </a:solidFill>
              </a:rPr>
              <a:t>/* Compute the first-order conditions by taking partial derivatives */</a:t>
            </a:r>
          </a:p>
          <a:p>
            <a:r>
              <a:rPr lang="en-US" sz="600" dirty="0">
                <a:solidFill>
                  <a:schemeClr val="accent5">
                    <a:lumMod val="50000"/>
                  </a:schemeClr>
                </a:solidFill>
              </a:rPr>
              <a:t>eq1: diff(L, x1) = 0;  /* Partial derivative with respect to x1 */</a:t>
            </a:r>
          </a:p>
          <a:p>
            <a:r>
              <a:rPr lang="en-US" sz="600" dirty="0">
                <a:solidFill>
                  <a:schemeClr val="accent5">
                    <a:lumMod val="50000"/>
                  </a:schemeClr>
                </a:solidFill>
              </a:rPr>
              <a:t>eq2: diff(L, x2) = 0;  /* Partial derivative with respect to x2 */</a:t>
            </a:r>
          </a:p>
          <a:p>
            <a:r>
              <a:rPr lang="en-US" sz="600" dirty="0">
                <a:solidFill>
                  <a:schemeClr val="accent5">
                    <a:lumMod val="50000"/>
                  </a:schemeClr>
                </a:solidFill>
              </a:rPr>
              <a:t>eq3: diff(L, λ) = 0;   /* Partial derivative with respect to λ (the budget constraint) */</a:t>
            </a:r>
          </a:p>
          <a:p>
            <a:endParaRPr lang="en-US" sz="600" dirty="0">
              <a:solidFill>
                <a:schemeClr val="accent5">
                  <a:lumMod val="50000"/>
                </a:schemeClr>
              </a:solidFill>
            </a:endParaRPr>
          </a:p>
          <a:p>
            <a:r>
              <a:rPr lang="en-US" sz="600" dirty="0">
                <a:solidFill>
                  <a:schemeClr val="accent5">
                    <a:lumMod val="50000"/>
                  </a:schemeClr>
                </a:solidFill>
              </a:rPr>
              <a:t>/* Solve the system of equations for x1, x2, and λ */</a:t>
            </a:r>
          </a:p>
          <a:p>
            <a:r>
              <a:rPr lang="en-US" sz="600" dirty="0">
                <a:solidFill>
                  <a:schemeClr val="accent5">
                    <a:lumMod val="50000"/>
                  </a:schemeClr>
                </a:solidFill>
              </a:rPr>
              <a:t>solutions: solve([eq1, eq2, eq3], [x1, x2, λ]);</a:t>
            </a:r>
          </a:p>
          <a:p>
            <a:endParaRPr lang="en-US" sz="600" dirty="0">
              <a:solidFill>
                <a:schemeClr val="accent5">
                  <a:lumMod val="50000"/>
                </a:schemeClr>
              </a:solidFill>
            </a:endParaRPr>
          </a:p>
          <a:p>
            <a:r>
              <a:rPr lang="en-US" sz="600" dirty="0">
                <a:solidFill>
                  <a:schemeClr val="accent5">
                    <a:lumMod val="50000"/>
                  </a:schemeClr>
                </a:solidFill>
              </a:rPr>
              <a:t>/* Extract the first solution from the list of solutions */</a:t>
            </a:r>
          </a:p>
          <a:p>
            <a:r>
              <a:rPr lang="en-US" sz="600" dirty="0">
                <a:solidFill>
                  <a:schemeClr val="accent5">
                    <a:lumMod val="50000"/>
                  </a:schemeClr>
                </a:solidFill>
              </a:rPr>
              <a:t>FOC: solutions[1];  /* First-Order Conditions */</a:t>
            </a:r>
          </a:p>
          <a:p>
            <a:endParaRPr lang="en-US" sz="600" dirty="0">
              <a:solidFill>
                <a:schemeClr val="accent5">
                  <a:lumMod val="50000"/>
                </a:schemeClr>
              </a:solidFill>
            </a:endParaRPr>
          </a:p>
          <a:p>
            <a:r>
              <a:rPr lang="en-US" sz="600" dirty="0">
                <a:solidFill>
                  <a:schemeClr val="accent5">
                    <a:lumMod val="50000"/>
                  </a:schemeClr>
                </a:solidFill>
              </a:rPr>
              <a:t>/* Assign the solutions to variables for x1, x2, and λ */</a:t>
            </a:r>
          </a:p>
          <a:p>
            <a:r>
              <a:rPr lang="en-US" sz="600" dirty="0">
                <a:solidFill>
                  <a:schemeClr val="accent5">
                    <a:lumMod val="50000"/>
                  </a:schemeClr>
                </a:solidFill>
              </a:rPr>
              <a:t>_x1: </a:t>
            </a:r>
            <a:r>
              <a:rPr lang="en-US" sz="600" dirty="0" err="1">
                <a:solidFill>
                  <a:schemeClr val="accent5">
                    <a:lumMod val="50000"/>
                  </a:schemeClr>
                </a:solidFill>
              </a:rPr>
              <a:t>rhs</a:t>
            </a:r>
            <a:r>
              <a:rPr lang="en-US" sz="600" dirty="0">
                <a:solidFill>
                  <a:schemeClr val="accent5">
                    <a:lumMod val="50000"/>
                  </a:schemeClr>
                </a:solidFill>
              </a:rPr>
              <a:t>(FOC[1]);   /* Optimal quantity of good x1 */</a:t>
            </a:r>
          </a:p>
          <a:p>
            <a:r>
              <a:rPr lang="en-US" sz="600" dirty="0">
                <a:solidFill>
                  <a:schemeClr val="accent5">
                    <a:lumMod val="50000"/>
                  </a:schemeClr>
                </a:solidFill>
              </a:rPr>
              <a:t>_x2: </a:t>
            </a:r>
            <a:r>
              <a:rPr lang="en-US" sz="600" dirty="0" err="1">
                <a:solidFill>
                  <a:schemeClr val="accent5">
                    <a:lumMod val="50000"/>
                  </a:schemeClr>
                </a:solidFill>
              </a:rPr>
              <a:t>rhs</a:t>
            </a:r>
            <a:r>
              <a:rPr lang="en-US" sz="600" dirty="0">
                <a:solidFill>
                  <a:schemeClr val="accent5">
                    <a:lumMod val="50000"/>
                  </a:schemeClr>
                </a:solidFill>
              </a:rPr>
              <a:t>(FOC[2]);   /* Optimal quantity of good x2 */</a:t>
            </a:r>
          </a:p>
          <a:p>
            <a:r>
              <a:rPr lang="en-US" sz="600" dirty="0">
                <a:solidFill>
                  <a:schemeClr val="accent5">
                    <a:lumMod val="50000"/>
                  </a:schemeClr>
                </a:solidFill>
              </a:rPr>
              <a:t>_λ: </a:t>
            </a:r>
            <a:r>
              <a:rPr lang="en-US" sz="600" dirty="0" err="1">
                <a:solidFill>
                  <a:schemeClr val="accent5">
                    <a:lumMod val="50000"/>
                  </a:schemeClr>
                </a:solidFill>
              </a:rPr>
              <a:t>rhs</a:t>
            </a:r>
            <a:r>
              <a:rPr lang="en-US" sz="600" dirty="0">
                <a:solidFill>
                  <a:schemeClr val="accent5">
                    <a:lumMod val="50000"/>
                  </a:schemeClr>
                </a:solidFill>
              </a:rPr>
              <a:t>(FOC[3]);    /* Value of the Lagrange multiplier λ */</a:t>
            </a:r>
          </a:p>
          <a:p>
            <a:endParaRPr lang="en-US" sz="600" dirty="0">
              <a:solidFill>
                <a:schemeClr val="accent5">
                  <a:lumMod val="50000"/>
                </a:schemeClr>
              </a:solidFill>
            </a:endParaRPr>
          </a:p>
          <a:p>
            <a:r>
              <a:rPr lang="en-US" sz="600" dirty="0">
                <a:solidFill>
                  <a:schemeClr val="accent5">
                    <a:lumMod val="50000"/>
                  </a:schemeClr>
                </a:solidFill>
              </a:rPr>
              <a:t>/* Solve for the inverse demand function for p1 */</a:t>
            </a:r>
          </a:p>
          <a:p>
            <a:r>
              <a:rPr lang="en-US" sz="600" dirty="0" err="1">
                <a:solidFill>
                  <a:schemeClr val="accent5">
                    <a:lumMod val="50000"/>
                  </a:schemeClr>
                </a:solidFill>
              </a:rPr>
              <a:t>INV_d</a:t>
            </a:r>
            <a:r>
              <a:rPr lang="en-US" sz="600" dirty="0">
                <a:solidFill>
                  <a:schemeClr val="accent5">
                    <a:lumMod val="50000"/>
                  </a:schemeClr>
                </a:solidFill>
              </a:rPr>
              <a:t>: solve([x1=_x1], [p1]);</a:t>
            </a:r>
          </a:p>
          <a:p>
            <a:r>
              <a:rPr lang="en-US" sz="600" dirty="0">
                <a:solidFill>
                  <a:schemeClr val="accent5">
                    <a:lumMod val="50000"/>
                  </a:schemeClr>
                </a:solidFill>
              </a:rPr>
              <a:t>p1: </a:t>
            </a:r>
            <a:r>
              <a:rPr lang="en-US" sz="600" dirty="0" err="1">
                <a:solidFill>
                  <a:schemeClr val="accent5">
                    <a:lumMod val="50000"/>
                  </a:schemeClr>
                </a:solidFill>
              </a:rPr>
              <a:t>rhs</a:t>
            </a:r>
            <a:r>
              <a:rPr lang="en-US" sz="600" dirty="0">
                <a:solidFill>
                  <a:schemeClr val="accent5">
                    <a:lumMod val="50000"/>
                  </a:schemeClr>
                </a:solidFill>
              </a:rPr>
              <a:t>(</a:t>
            </a:r>
            <a:r>
              <a:rPr lang="en-US" sz="600" dirty="0" err="1">
                <a:solidFill>
                  <a:schemeClr val="accent5">
                    <a:lumMod val="50000"/>
                  </a:schemeClr>
                </a:solidFill>
              </a:rPr>
              <a:t>INV_d</a:t>
            </a:r>
            <a:r>
              <a:rPr lang="en-US" sz="600" dirty="0">
                <a:solidFill>
                  <a:schemeClr val="accent5">
                    <a:lumMod val="50000"/>
                  </a:schemeClr>
                </a:solidFill>
              </a:rPr>
              <a:t>[1]);  /* Extract the right-hand side of the solution */</a:t>
            </a:r>
          </a:p>
          <a:p>
            <a:endParaRPr lang="en-US" sz="600" dirty="0">
              <a:solidFill>
                <a:schemeClr val="accent5">
                  <a:lumMod val="50000"/>
                </a:schemeClr>
              </a:solidFill>
            </a:endParaRPr>
          </a:p>
          <a:p>
            <a:r>
              <a:rPr lang="en-US" sz="600" dirty="0">
                <a:solidFill>
                  <a:schemeClr val="accent5">
                    <a:lumMod val="50000"/>
                  </a:schemeClr>
                </a:solidFill>
              </a:rPr>
              <a:t>/* Set values for parameters to be used in plotting */</a:t>
            </a:r>
          </a:p>
          <a:p>
            <a:r>
              <a:rPr lang="en-US" sz="600" dirty="0">
                <a:solidFill>
                  <a:schemeClr val="accent5">
                    <a:lumMod val="50000"/>
                  </a:schemeClr>
                </a:solidFill>
              </a:rPr>
              <a:t>M: 1000;</a:t>
            </a:r>
          </a:p>
          <a:p>
            <a:r>
              <a:rPr lang="en-US" sz="600" dirty="0">
                <a:solidFill>
                  <a:schemeClr val="accent5">
                    <a:lumMod val="50000"/>
                  </a:schemeClr>
                </a:solidFill>
              </a:rPr>
              <a:t>α: 0.3;   /* Preference parameter α for x1 */</a:t>
            </a:r>
          </a:p>
          <a:p>
            <a:r>
              <a:rPr lang="en-US" sz="600" dirty="0">
                <a:solidFill>
                  <a:schemeClr val="accent5">
                    <a:lumMod val="50000"/>
                  </a:schemeClr>
                </a:solidFill>
              </a:rPr>
              <a:t>β: 0.6;   /* Preference parameter β for x2 */</a:t>
            </a:r>
          </a:p>
          <a:p>
            <a:endParaRPr lang="en-US" sz="600" dirty="0">
              <a:solidFill>
                <a:schemeClr val="accent5">
                  <a:lumMod val="50000"/>
                </a:schemeClr>
              </a:solidFill>
            </a:endParaRPr>
          </a:p>
          <a:p>
            <a:r>
              <a:rPr lang="en-US" sz="600" dirty="0">
                <a:solidFill>
                  <a:schemeClr val="accent5">
                    <a:lumMod val="50000"/>
                  </a:schemeClr>
                </a:solidFill>
              </a:rPr>
              <a:t>/* Plot the inverse demand curve for p1 as a function of x1 */</a:t>
            </a:r>
          </a:p>
          <a:p>
            <a:r>
              <a:rPr lang="en-US" sz="600" dirty="0">
                <a:solidFill>
                  <a:schemeClr val="accent5">
                    <a:lumMod val="50000"/>
                  </a:schemeClr>
                </a:solidFill>
              </a:rPr>
              <a:t>draw2d(</a:t>
            </a:r>
          </a:p>
          <a:p>
            <a:r>
              <a:rPr lang="en-US" sz="600" dirty="0">
                <a:solidFill>
                  <a:schemeClr val="accent5">
                    <a:lumMod val="50000"/>
                  </a:schemeClr>
                </a:solidFill>
              </a:rPr>
              <a:t>    title = "Inverse Demand Curve p1 = f(x1)",</a:t>
            </a:r>
          </a:p>
          <a:p>
            <a:r>
              <a:rPr lang="en-US" sz="600" dirty="0">
                <a:solidFill>
                  <a:schemeClr val="accent5">
                    <a:lumMod val="50000"/>
                  </a:schemeClr>
                </a:solidFill>
              </a:rPr>
              <a:t>    </a:t>
            </a:r>
            <a:r>
              <a:rPr lang="en-US" sz="600" dirty="0" err="1">
                <a:solidFill>
                  <a:schemeClr val="accent5">
                    <a:lumMod val="50000"/>
                  </a:schemeClr>
                </a:solidFill>
              </a:rPr>
              <a:t>xlabel</a:t>
            </a:r>
            <a:r>
              <a:rPr lang="en-US" sz="600" dirty="0">
                <a:solidFill>
                  <a:schemeClr val="accent5">
                    <a:lumMod val="50000"/>
                  </a:schemeClr>
                </a:solidFill>
              </a:rPr>
              <a:t> = "Quantity x1",</a:t>
            </a:r>
          </a:p>
          <a:p>
            <a:r>
              <a:rPr lang="en-US" sz="600" dirty="0">
                <a:solidFill>
                  <a:schemeClr val="accent5">
                    <a:lumMod val="50000"/>
                  </a:schemeClr>
                </a:solidFill>
              </a:rPr>
              <a:t>    </a:t>
            </a:r>
            <a:r>
              <a:rPr lang="en-US" sz="600" dirty="0" err="1">
                <a:solidFill>
                  <a:schemeClr val="accent5">
                    <a:lumMod val="50000"/>
                  </a:schemeClr>
                </a:solidFill>
              </a:rPr>
              <a:t>ylabel</a:t>
            </a:r>
            <a:r>
              <a:rPr lang="en-US" sz="600" dirty="0">
                <a:solidFill>
                  <a:schemeClr val="accent5">
                    <a:lumMod val="50000"/>
                  </a:schemeClr>
                </a:solidFill>
              </a:rPr>
              <a:t> = "Price p1",</a:t>
            </a:r>
          </a:p>
          <a:p>
            <a:r>
              <a:rPr lang="en-US" sz="600" dirty="0">
                <a:solidFill>
                  <a:schemeClr val="accent5">
                    <a:lumMod val="50000"/>
                  </a:schemeClr>
                </a:solidFill>
              </a:rPr>
              <a:t>    explicit(p1, x1, 0.1, 10), /* Plot inverse demand as a function of x1 */</a:t>
            </a:r>
          </a:p>
          <a:p>
            <a:r>
              <a:rPr lang="en-US" sz="600" dirty="0">
                <a:solidFill>
                  <a:schemeClr val="accent5">
                    <a:lumMod val="50000"/>
                  </a:schemeClr>
                </a:solidFill>
              </a:rPr>
              <a:t>    color = green,</a:t>
            </a:r>
          </a:p>
          <a:p>
            <a:r>
              <a:rPr lang="en-US" sz="600" dirty="0">
                <a:solidFill>
                  <a:schemeClr val="accent5">
                    <a:lumMod val="50000"/>
                  </a:schemeClr>
                </a:solidFill>
              </a:rPr>
              <a:t>    </a:t>
            </a:r>
            <a:r>
              <a:rPr lang="en-US" sz="600" dirty="0" err="1">
                <a:solidFill>
                  <a:schemeClr val="accent5">
                    <a:lumMod val="50000"/>
                  </a:schemeClr>
                </a:solidFill>
              </a:rPr>
              <a:t>line_width</a:t>
            </a:r>
            <a:r>
              <a:rPr lang="en-US" sz="600" dirty="0">
                <a:solidFill>
                  <a:schemeClr val="accent5">
                    <a:lumMod val="50000"/>
                  </a:schemeClr>
                </a:solidFill>
              </a:rPr>
              <a:t> = 2);</a:t>
            </a:r>
            <a:endParaRPr lang="pl-PL" sz="600" dirty="0">
              <a:solidFill>
                <a:schemeClr val="accent5">
                  <a:lumMod val="50000"/>
                </a:schemeClr>
              </a:solidFill>
            </a:endParaRPr>
          </a:p>
        </p:txBody>
      </p:sp>
      <p:pic>
        <p:nvPicPr>
          <p:cNvPr id="88" name="Picture 87">
            <a:extLst>
              <a:ext uri="{FF2B5EF4-FFF2-40B4-BE49-F238E27FC236}">
                <a16:creationId xmlns:a16="http://schemas.microsoft.com/office/drawing/2014/main" id="{F1646D72-D4D4-3128-C12B-1273A18E8348}"/>
              </a:ext>
            </a:extLst>
          </p:cNvPr>
          <p:cNvPicPr>
            <a:picLocks noChangeAspect="1"/>
          </p:cNvPicPr>
          <p:nvPr/>
        </p:nvPicPr>
        <p:blipFill>
          <a:blip r:embed="rId2"/>
          <a:stretch>
            <a:fillRect/>
          </a:stretch>
        </p:blipFill>
        <p:spPr>
          <a:xfrm>
            <a:off x="8244216" y="2829343"/>
            <a:ext cx="3173101" cy="2644251"/>
          </a:xfrm>
          <a:prstGeom prst="rect">
            <a:avLst/>
          </a:prstGeom>
        </p:spPr>
      </p:pic>
      <mc:AlternateContent xmlns:mc="http://schemas.openxmlformats.org/markup-compatibility/2006" xmlns:a14="http://schemas.microsoft.com/office/drawing/2010/main">
        <mc:Choice Requires="a14">
          <p:sp>
            <p:nvSpPr>
              <p:cNvPr id="6" name="pole tekstowe 5">
                <a:extLst>
                  <a:ext uri="{FF2B5EF4-FFF2-40B4-BE49-F238E27FC236}">
                    <a16:creationId xmlns:a16="http://schemas.microsoft.com/office/drawing/2014/main" id="{05F40BD3-FA0B-96DB-04DC-9A9EF6D289E1}"/>
                  </a:ext>
                </a:extLst>
              </p:cNvPr>
              <p:cNvSpPr txBox="1"/>
              <p:nvPr/>
            </p:nvSpPr>
            <p:spPr>
              <a:xfrm>
                <a:off x="7935941" y="1194628"/>
                <a:ext cx="3481376" cy="7309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pl-PL" sz="1600" i="1" smtClean="0">
                              <a:latin typeface="Cambria Math" panose="02040503050406030204" pitchFamily="18" charset="0"/>
                            </a:rPr>
                          </m:ctrlPr>
                        </m:dPr>
                        <m:e>
                          <m:d>
                            <m:dPr>
                              <m:begChr m:val="["/>
                              <m:endChr m:val="]"/>
                              <m:ctrlPr>
                                <a:rPr lang="pl-PL" sz="1600" i="1">
                                  <a:latin typeface="Cambria Math" panose="02040503050406030204" pitchFamily="18" charset="0"/>
                                </a:rPr>
                              </m:ctrlPr>
                            </m:dPr>
                            <m:e>
                              <m:r>
                                <m:rPr>
                                  <m:sty m:val="p"/>
                                </m:rPr>
                                <a:rPr lang="pl-PL" sz="1600">
                                  <a:latin typeface="Cambria Math" panose="02040503050406030204" pitchFamily="18" charset="0"/>
                                </a:rPr>
                                <m:t>x</m:t>
                              </m:r>
                              <m:r>
                                <a:rPr lang="pl-PL" sz="1600">
                                  <a:latin typeface="Cambria Math" panose="02040503050406030204" pitchFamily="18" charset="0"/>
                                </a:rPr>
                                <m:t>1=</m:t>
                              </m:r>
                              <m:f>
                                <m:fPr>
                                  <m:ctrlPr>
                                    <a:rPr lang="pl-PL" sz="1600" i="1">
                                      <a:solidFill>
                                        <a:srgbClr val="836967"/>
                                      </a:solidFill>
                                      <a:latin typeface="Cambria Math" panose="02040503050406030204" pitchFamily="18" charset="0"/>
                                    </a:rPr>
                                  </m:ctrlPr>
                                </m:fPr>
                                <m:num>
                                  <m:r>
                                    <m:rPr>
                                      <m:sty m:val="p"/>
                                    </m:rPr>
                                    <a:rPr lang="pl-PL" sz="1600" i="0">
                                      <a:latin typeface="Cambria Math" panose="02040503050406030204" pitchFamily="18" charset="0"/>
                                    </a:rPr>
                                    <m:t>M</m:t>
                                  </m:r>
                                  <m:r>
                                    <a:rPr lang="pl-PL" sz="1600" i="0">
                                      <a:latin typeface="Cambria Math" panose="02040503050406030204" pitchFamily="18" charset="0"/>
                                    </a:rPr>
                                    <m:t>⁢</m:t>
                                  </m:r>
                                  <m:r>
                                    <m:rPr>
                                      <m:sty m:val="p"/>
                                    </m:rPr>
                                    <a:rPr lang="pl-PL" sz="1600" i="0">
                                      <a:latin typeface="Cambria Math" panose="02040503050406030204" pitchFamily="18" charset="0"/>
                                    </a:rPr>
                                    <m:t>a</m:t>
                                  </m:r>
                                </m:num>
                                <m:den>
                                  <m:d>
                                    <m:dPr>
                                      <m:ctrlPr>
                                        <a:rPr lang="pl-PL" sz="1600" i="1">
                                          <a:latin typeface="Cambria Math" panose="02040503050406030204" pitchFamily="18" charset="0"/>
                                        </a:rPr>
                                      </m:ctrlPr>
                                    </m:dPr>
                                    <m:e>
                                      <m:r>
                                        <m:rPr>
                                          <m:sty m:val="p"/>
                                        </m:rPr>
                                        <a:rPr lang="pl-PL" sz="1600" i="0">
                                          <a:latin typeface="Cambria Math" panose="02040503050406030204" pitchFamily="18" charset="0"/>
                                        </a:rPr>
                                        <m:t>b</m:t>
                                      </m:r>
                                      <m:r>
                                        <a:rPr lang="pl-PL" sz="1600" i="0">
                                          <a:latin typeface="Cambria Math" panose="02040503050406030204" pitchFamily="18" charset="0"/>
                                        </a:rPr>
                                        <m:t>+</m:t>
                                      </m:r>
                                      <m:r>
                                        <m:rPr>
                                          <m:sty m:val="p"/>
                                        </m:rPr>
                                        <a:rPr lang="pl-PL" sz="1600" i="0">
                                          <a:latin typeface="Cambria Math" panose="02040503050406030204" pitchFamily="18" charset="0"/>
                                        </a:rPr>
                                        <m:t>a</m:t>
                                      </m:r>
                                    </m:e>
                                  </m:d>
                                  <m:r>
                                    <a:rPr lang="pl-PL" sz="1600" i="0">
                                      <a:latin typeface="Cambria Math" panose="02040503050406030204" pitchFamily="18" charset="0"/>
                                    </a:rPr>
                                    <m:t>⁢</m:t>
                                  </m:r>
                                  <m:r>
                                    <m:rPr>
                                      <m:sty m:val="p"/>
                                    </m:rPr>
                                    <a:rPr lang="pl-PL" sz="1600" i="0">
                                      <a:latin typeface="Cambria Math" panose="02040503050406030204" pitchFamily="18" charset="0"/>
                                    </a:rPr>
                                    <m:t>p</m:t>
                                  </m:r>
                                  <m:r>
                                    <a:rPr lang="pl-PL" sz="1600" i="0">
                                      <a:latin typeface="Cambria Math" panose="02040503050406030204" pitchFamily="18" charset="0"/>
                                    </a:rPr>
                                    <m:t>1</m:t>
                                  </m:r>
                                </m:den>
                              </m:f>
                              <m:r>
                                <a:rPr lang="pl-PL" sz="1600" i="0">
                                  <a:latin typeface="Cambria Math" panose="02040503050406030204" pitchFamily="18" charset="0"/>
                                </a:rPr>
                                <m:t>,</m:t>
                              </m:r>
                              <m:r>
                                <m:rPr>
                                  <m:sty m:val="p"/>
                                </m:rPr>
                                <a:rPr lang="pl-PL" sz="1600" i="0">
                                  <a:latin typeface="Cambria Math" panose="02040503050406030204" pitchFamily="18" charset="0"/>
                                </a:rPr>
                                <m:t>x</m:t>
                              </m:r>
                              <m:r>
                                <a:rPr lang="pl-PL" sz="1600" i="0">
                                  <a:latin typeface="Cambria Math" panose="02040503050406030204" pitchFamily="18" charset="0"/>
                                </a:rPr>
                                <m:t>2=</m:t>
                              </m:r>
                              <m:f>
                                <m:fPr>
                                  <m:ctrlPr>
                                    <a:rPr lang="pl-PL" sz="1600" i="1">
                                      <a:solidFill>
                                        <a:srgbClr val="836967"/>
                                      </a:solidFill>
                                      <a:latin typeface="Cambria Math" panose="02040503050406030204" pitchFamily="18" charset="0"/>
                                    </a:rPr>
                                  </m:ctrlPr>
                                </m:fPr>
                                <m:num>
                                  <m:r>
                                    <m:rPr>
                                      <m:sty m:val="p"/>
                                    </m:rPr>
                                    <a:rPr lang="pl-PL" sz="1600" i="0">
                                      <a:latin typeface="Cambria Math" panose="02040503050406030204" pitchFamily="18" charset="0"/>
                                    </a:rPr>
                                    <m:t>M</m:t>
                                  </m:r>
                                  <m:r>
                                    <a:rPr lang="pl-PL" sz="1600" i="0">
                                      <a:latin typeface="Cambria Math" panose="02040503050406030204" pitchFamily="18" charset="0"/>
                                    </a:rPr>
                                    <m:t>⁢</m:t>
                                  </m:r>
                                  <m:r>
                                    <m:rPr>
                                      <m:sty m:val="p"/>
                                    </m:rPr>
                                    <a:rPr lang="pl-PL" sz="1600" i="0">
                                      <a:latin typeface="Cambria Math" panose="02040503050406030204" pitchFamily="18" charset="0"/>
                                    </a:rPr>
                                    <m:t>b</m:t>
                                  </m:r>
                                </m:num>
                                <m:den>
                                  <m:d>
                                    <m:dPr>
                                      <m:ctrlPr>
                                        <a:rPr lang="pl-PL" sz="1600" i="1">
                                          <a:latin typeface="Cambria Math" panose="02040503050406030204" pitchFamily="18" charset="0"/>
                                        </a:rPr>
                                      </m:ctrlPr>
                                    </m:dPr>
                                    <m:e>
                                      <m:r>
                                        <m:rPr>
                                          <m:sty m:val="p"/>
                                        </m:rPr>
                                        <a:rPr lang="pl-PL" sz="1600" i="0">
                                          <a:latin typeface="Cambria Math" panose="02040503050406030204" pitchFamily="18" charset="0"/>
                                        </a:rPr>
                                        <m:t>b</m:t>
                                      </m:r>
                                      <m:r>
                                        <a:rPr lang="pl-PL" sz="1600" i="0">
                                          <a:latin typeface="Cambria Math" panose="02040503050406030204" pitchFamily="18" charset="0"/>
                                        </a:rPr>
                                        <m:t>+</m:t>
                                      </m:r>
                                      <m:r>
                                        <m:rPr>
                                          <m:sty m:val="p"/>
                                        </m:rPr>
                                        <a:rPr lang="pl-PL" sz="1600" i="0">
                                          <a:latin typeface="Cambria Math" panose="02040503050406030204" pitchFamily="18" charset="0"/>
                                        </a:rPr>
                                        <m:t>a</m:t>
                                      </m:r>
                                    </m:e>
                                  </m:d>
                                  <m:r>
                                    <a:rPr lang="pl-PL" sz="1600" i="0">
                                      <a:latin typeface="Cambria Math" panose="02040503050406030204" pitchFamily="18" charset="0"/>
                                    </a:rPr>
                                    <m:t>⁢</m:t>
                                  </m:r>
                                  <m:r>
                                    <m:rPr>
                                      <m:sty m:val="p"/>
                                    </m:rPr>
                                    <a:rPr lang="pl-PL" sz="1600" i="0">
                                      <a:latin typeface="Cambria Math" panose="02040503050406030204" pitchFamily="18" charset="0"/>
                                    </a:rPr>
                                    <m:t>p</m:t>
                                  </m:r>
                                  <m:r>
                                    <a:rPr lang="pl-PL" sz="1600" i="0">
                                      <a:latin typeface="Cambria Math" panose="02040503050406030204" pitchFamily="18" charset="0"/>
                                    </a:rPr>
                                    <m:t>2</m:t>
                                  </m:r>
                                </m:den>
                              </m:f>
                              <m:r>
                                <a:rPr lang="pl-PL" sz="1600" i="1" smtClean="0">
                                  <a:latin typeface="Cambria Math" panose="02040503050406030204" pitchFamily="18" charset="0"/>
                                </a:rPr>
                                <m:t> </m:t>
                              </m:r>
                            </m:e>
                          </m:d>
                        </m:e>
                      </m:d>
                    </m:oMath>
                  </m:oMathPara>
                </a14:m>
                <a:endParaRPr lang="pl-PL" sz="1600" dirty="0"/>
              </a:p>
            </p:txBody>
          </p:sp>
        </mc:Choice>
        <mc:Fallback xmlns="">
          <p:sp>
            <p:nvSpPr>
              <p:cNvPr id="6" name="pole tekstowe 5">
                <a:extLst>
                  <a:ext uri="{FF2B5EF4-FFF2-40B4-BE49-F238E27FC236}">
                    <a16:creationId xmlns:a16="http://schemas.microsoft.com/office/drawing/2014/main" id="{05F40BD3-FA0B-96DB-04DC-9A9EF6D289E1}"/>
                  </a:ext>
                </a:extLst>
              </p:cNvPr>
              <p:cNvSpPr txBox="1">
                <a:spLocks noRot="1" noChangeAspect="1" noMove="1" noResize="1" noEditPoints="1" noAdjustHandles="1" noChangeArrowheads="1" noChangeShapeType="1" noTextEdit="1"/>
              </p:cNvSpPr>
              <p:nvPr/>
            </p:nvSpPr>
            <p:spPr>
              <a:xfrm>
                <a:off x="7935941" y="1194628"/>
                <a:ext cx="3481376" cy="730969"/>
              </a:xfrm>
              <a:prstGeom prst="rect">
                <a:avLst/>
              </a:prstGeom>
              <a:blipFill>
                <a:blip r:embed="rId3"/>
                <a:stretch>
                  <a:fillRect/>
                </a:stretch>
              </a:blipFill>
            </p:spPr>
            <p:txBody>
              <a:bodyPr/>
              <a:lstStyle/>
              <a:p>
                <a:r>
                  <a:rPr lang="pl-PL">
                    <a:noFill/>
                  </a:rPr>
                  <a:t> </a:t>
                </a:r>
              </a:p>
            </p:txBody>
          </p:sp>
        </mc:Fallback>
      </mc:AlternateContent>
      <p:sp>
        <p:nvSpPr>
          <p:cNvPr id="7" name="Elipsa 8">
            <a:extLst>
              <a:ext uri="{FF2B5EF4-FFF2-40B4-BE49-F238E27FC236}">
                <a16:creationId xmlns:a16="http://schemas.microsoft.com/office/drawing/2014/main" id="{A936A2C6-DDD6-0BF5-1E12-62BF71CA4196}"/>
              </a:ext>
            </a:extLst>
          </p:cNvPr>
          <p:cNvSpPr/>
          <p:nvPr/>
        </p:nvSpPr>
        <p:spPr>
          <a:xfrm>
            <a:off x="8306258" y="999700"/>
            <a:ext cx="1370371" cy="1187024"/>
          </a:xfrm>
          <a:prstGeom prst="ellipse">
            <a:avLst/>
          </a:prstGeom>
          <a:noFill/>
          <a:ln w="50800">
            <a:prstDash val="dash"/>
          </a:ln>
        </p:spPr>
        <p:style>
          <a:lnRef idx="2">
            <a:schemeClr val="accent2"/>
          </a:lnRef>
          <a:fillRef idx="1">
            <a:schemeClr val="lt1"/>
          </a:fillRef>
          <a:effectRef idx="0">
            <a:schemeClr val="accent2"/>
          </a:effectRef>
          <a:fontRef idx="minor">
            <a:schemeClr val="dk1"/>
          </a:fontRef>
        </p:style>
        <p:txBody>
          <a:bodyPr anchor="ctr"/>
          <a:lstStyle/>
          <a:p>
            <a:pPr>
              <a:defRPr/>
            </a:pPr>
            <a:endParaRPr lang="pl-PL">
              <a:solidFill>
                <a:schemeClr val="accent5">
                  <a:lumMod val="50000"/>
                </a:schemeClr>
              </a:solidFill>
            </a:endParaRPr>
          </a:p>
        </p:txBody>
      </p:sp>
      <p:sp>
        <p:nvSpPr>
          <p:cNvPr id="8" name="Elipsa 8">
            <a:extLst>
              <a:ext uri="{FF2B5EF4-FFF2-40B4-BE49-F238E27FC236}">
                <a16:creationId xmlns:a16="http://schemas.microsoft.com/office/drawing/2014/main" id="{2B7366CE-2748-50F0-ACA3-76EE5203C5D3}"/>
              </a:ext>
            </a:extLst>
          </p:cNvPr>
          <p:cNvSpPr/>
          <p:nvPr/>
        </p:nvSpPr>
        <p:spPr>
          <a:xfrm>
            <a:off x="9705990" y="999700"/>
            <a:ext cx="1366211" cy="1271203"/>
          </a:xfrm>
          <a:prstGeom prst="ellipse">
            <a:avLst/>
          </a:prstGeom>
          <a:noFill/>
          <a:ln w="50800">
            <a:prstDash val="dash"/>
          </a:ln>
        </p:spPr>
        <p:style>
          <a:lnRef idx="2">
            <a:schemeClr val="accent2"/>
          </a:lnRef>
          <a:fillRef idx="1">
            <a:schemeClr val="lt1"/>
          </a:fillRef>
          <a:effectRef idx="0">
            <a:schemeClr val="accent2"/>
          </a:effectRef>
          <a:fontRef idx="minor">
            <a:schemeClr val="dk1"/>
          </a:fontRef>
        </p:style>
        <p:txBody>
          <a:bodyPr anchor="ctr"/>
          <a:lstStyle/>
          <a:p>
            <a:pPr>
              <a:defRPr/>
            </a:pPr>
            <a:endParaRPr lang="pl-PL">
              <a:solidFill>
                <a:schemeClr val="accent5">
                  <a:lumMod val="50000"/>
                </a:schemeClr>
              </a:solidFill>
            </a:endParaRPr>
          </a:p>
        </p:txBody>
      </p:sp>
    </p:spTree>
    <p:extLst>
      <p:ext uri="{BB962C8B-B14F-4D97-AF65-F5344CB8AC3E}">
        <p14:creationId xmlns:p14="http://schemas.microsoft.com/office/powerpoint/2010/main" val="3944201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6796D-0931-F1D9-0AA6-1AEF326FA761}"/>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CFC39B33-F2DE-81B3-D8B6-19C02224963D}"/>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kumimoji="0" lang="en-US" sz="4000" b="1" i="0" u="none" strike="noStrike" kern="1200" cap="none" spc="0" normalizeH="0" baseline="0" noProof="0" dirty="0">
                <a:ln>
                  <a:noFill/>
                </a:ln>
                <a:solidFill>
                  <a:srgbClr val="4BACC6">
                    <a:lumMod val="50000"/>
                  </a:srgbClr>
                </a:solidFill>
                <a:effectLst/>
                <a:uLnTx/>
                <a:uFillTx/>
                <a:latin typeface="Calibri"/>
                <a:ea typeface="+mn-ea"/>
                <a:cs typeface="+mn-cs"/>
              </a:rPr>
              <a:t>Properties of the demand function</a:t>
            </a:r>
            <a:endParaRPr lang="en-GB" sz="40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5C0A5935-21BA-C1C1-55B6-21C0C5C356F7}"/>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2">
            <a:extLst>
              <a:ext uri="{FF2B5EF4-FFF2-40B4-BE49-F238E27FC236}">
                <a16:creationId xmlns:a16="http://schemas.microsoft.com/office/drawing/2014/main" id="{A9EBF8F0-FA13-A03B-A29B-ECE0EE97F5F0}"/>
              </a:ext>
            </a:extLst>
          </p:cNvPr>
          <p:cNvSpPr txBox="1"/>
          <p:nvPr/>
        </p:nvSpPr>
        <p:spPr>
          <a:xfrm>
            <a:off x="124177" y="1173138"/>
            <a:ext cx="11153423" cy="1015663"/>
          </a:xfrm>
          <a:prstGeom prst="rect">
            <a:avLst/>
          </a:prstGeom>
          <a:noFill/>
        </p:spPr>
        <p:txBody>
          <a:bodyPr wrap="square">
            <a:spAutoFit/>
          </a:bodyPr>
          <a:lstStyle/>
          <a:p>
            <a:pPr marL="0" lvl="1">
              <a:defRPr/>
            </a:pPr>
            <a:r>
              <a:rPr lang="en-US" sz="2000" dirty="0">
                <a:solidFill>
                  <a:schemeClr val="accent5">
                    <a:lumMod val="50000"/>
                  </a:schemeClr>
                </a:solidFill>
                <a:latin typeface="+mj-lt"/>
                <a:cs typeface="Arial" pitchFamily="34" charset="0"/>
                <a:sym typeface="Mathematica3"/>
              </a:rPr>
              <a:t>Price Elasticity: Demand functions are nonlinear to the price of the good itself.</a:t>
            </a:r>
            <a:r>
              <a:rPr lang="pl-PL" sz="2000" dirty="0">
                <a:solidFill>
                  <a:schemeClr val="accent5">
                    <a:lumMod val="50000"/>
                  </a:schemeClr>
                </a:solidFill>
                <a:latin typeface="+mj-lt"/>
                <a:cs typeface="Arial" pitchFamily="34" charset="0"/>
                <a:sym typeface="Mathematica3"/>
              </a:rPr>
              <a:t> </a:t>
            </a:r>
            <a:r>
              <a:rPr lang="en-US" sz="2000" dirty="0">
                <a:solidFill>
                  <a:schemeClr val="accent5">
                    <a:lumMod val="50000"/>
                  </a:schemeClr>
                </a:solidFill>
                <a:latin typeface="+mj-lt"/>
                <a:cs typeface="Arial" pitchFamily="34" charset="0"/>
                <a:sym typeface="Mathematica3"/>
              </a:rPr>
              <a:t>The price elasticity for x1 and x2 is constant equal to (-)1. This means that the % change in price is completely compensated by the % change in quantity.</a:t>
            </a:r>
            <a:r>
              <a:rPr lang="pl-PL" sz="2000" dirty="0">
                <a:solidFill>
                  <a:schemeClr val="accent5">
                    <a:lumMod val="50000"/>
                  </a:schemeClr>
                </a:solidFill>
                <a:latin typeface="+mj-lt"/>
                <a:cs typeface="Arial" pitchFamily="34" charset="0"/>
                <a:sym typeface="Mathematica3"/>
              </a:rPr>
              <a:t>  </a:t>
            </a:r>
            <a:r>
              <a:rPr lang="en-US" sz="2000" b="1" dirty="0">
                <a:solidFill>
                  <a:schemeClr val="accent5">
                    <a:lumMod val="50000"/>
                  </a:schemeClr>
                </a:solidFill>
                <a:latin typeface="+mj-lt"/>
                <a:cs typeface="Arial" pitchFamily="34" charset="0"/>
                <a:sym typeface="Mathematica3"/>
              </a:rPr>
              <a:t>Expenditures on x1 and x2 do not depend on price</a:t>
            </a:r>
            <a:r>
              <a:rPr lang="pl-PL" sz="2000" b="1" dirty="0">
                <a:solidFill>
                  <a:schemeClr val="accent5">
                    <a:lumMod val="50000"/>
                  </a:schemeClr>
                </a:solidFill>
                <a:latin typeface="+mj-lt"/>
                <a:cs typeface="Arial" pitchFamily="34" charset="0"/>
                <a:sym typeface="Mathematica3"/>
              </a:rPr>
              <a:t>s</a:t>
            </a:r>
            <a:r>
              <a:rPr lang="en-US" sz="2000" b="1" dirty="0">
                <a:solidFill>
                  <a:schemeClr val="accent5">
                    <a:lumMod val="50000"/>
                  </a:schemeClr>
                </a:solidFill>
                <a:latin typeface="+mj-lt"/>
                <a:cs typeface="Arial" pitchFamily="34" charset="0"/>
                <a:sym typeface="Mathematica3"/>
              </a:rPr>
              <a:t> at all</a:t>
            </a:r>
            <a:r>
              <a:rPr lang="pl-PL" sz="2000" b="1" dirty="0">
                <a:solidFill>
                  <a:schemeClr val="accent5">
                    <a:lumMod val="50000"/>
                  </a:schemeClr>
                </a:solidFill>
                <a:latin typeface="+mj-lt"/>
                <a:cs typeface="Arial" pitchFamily="34" charset="0"/>
                <a:sym typeface="Mathematica3"/>
              </a:rPr>
              <a:t> </a:t>
            </a:r>
            <a:r>
              <a:rPr lang="en-US" sz="2000" dirty="0">
                <a:solidFill>
                  <a:schemeClr val="accent5">
                    <a:lumMod val="50000"/>
                  </a:schemeClr>
                </a:solidFill>
                <a:latin typeface="+mj-lt"/>
                <a:cs typeface="Arial" pitchFamily="34" charset="0"/>
                <a:sym typeface="Mathematica3"/>
              </a:rPr>
              <a:t>: /</a:t>
            </a:r>
          </a:p>
        </p:txBody>
      </p:sp>
      <p:sp>
        <p:nvSpPr>
          <p:cNvPr id="10" name="TextBox 9">
            <a:extLst>
              <a:ext uri="{FF2B5EF4-FFF2-40B4-BE49-F238E27FC236}">
                <a16:creationId xmlns:a16="http://schemas.microsoft.com/office/drawing/2014/main" id="{622076EA-05F5-AD33-6405-7668EA1E4112}"/>
              </a:ext>
            </a:extLst>
          </p:cNvPr>
          <p:cNvSpPr txBox="1"/>
          <p:nvPr/>
        </p:nvSpPr>
        <p:spPr>
          <a:xfrm>
            <a:off x="124177" y="2360162"/>
            <a:ext cx="2359379" cy="375487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700" dirty="0">
                <a:solidFill>
                  <a:schemeClr val="accent5">
                    <a:lumMod val="50000"/>
                  </a:schemeClr>
                </a:solidFill>
              </a:rPr>
              <a:t>kill(all);  /* Clear all previous definitions and variables */</a:t>
            </a:r>
          </a:p>
          <a:p>
            <a:r>
              <a:rPr lang="en-US" sz="700" dirty="0">
                <a:solidFill>
                  <a:schemeClr val="accent5">
                    <a:lumMod val="50000"/>
                  </a:schemeClr>
                </a:solidFill>
              </a:rPr>
              <a:t>/* Load the draw package (only necessary if plotting is required) */</a:t>
            </a:r>
          </a:p>
          <a:p>
            <a:r>
              <a:rPr lang="en-US" sz="700" dirty="0">
                <a:solidFill>
                  <a:schemeClr val="accent5">
                    <a:lumMod val="50000"/>
                  </a:schemeClr>
                </a:solidFill>
              </a:rPr>
              <a:t>load(draw);</a:t>
            </a:r>
          </a:p>
          <a:p>
            <a:r>
              <a:rPr lang="en-US" sz="700" dirty="0">
                <a:solidFill>
                  <a:schemeClr val="accent5">
                    <a:lumMod val="50000"/>
                  </a:schemeClr>
                </a:solidFill>
              </a:rPr>
              <a:t>/* Assume positive values for variables and parameters */</a:t>
            </a:r>
          </a:p>
          <a:p>
            <a:r>
              <a:rPr lang="en-US" sz="700" dirty="0">
                <a:solidFill>
                  <a:schemeClr val="accent5">
                    <a:lumMod val="50000"/>
                  </a:schemeClr>
                </a:solidFill>
              </a:rPr>
              <a:t>assume(</a:t>
            </a:r>
          </a:p>
          <a:p>
            <a:r>
              <a:rPr lang="en-US" sz="700" dirty="0">
                <a:solidFill>
                  <a:schemeClr val="accent5">
                    <a:lumMod val="50000"/>
                  </a:schemeClr>
                </a:solidFill>
              </a:rPr>
              <a:t>    x1 &gt; 0, x2 &gt; 0,    /* Quantities of goods x1, x2 */</a:t>
            </a:r>
          </a:p>
          <a:p>
            <a:r>
              <a:rPr lang="en-US" sz="700" dirty="0">
                <a:solidFill>
                  <a:schemeClr val="accent5">
                    <a:lumMod val="50000"/>
                  </a:schemeClr>
                </a:solidFill>
              </a:rPr>
              <a:t>    p1 &gt; 0, p2 &gt; 0,    /* Prices of goods p1, p2 */</a:t>
            </a:r>
          </a:p>
          <a:p>
            <a:r>
              <a:rPr lang="en-US" sz="700" dirty="0">
                <a:solidFill>
                  <a:schemeClr val="accent5">
                    <a:lumMod val="50000"/>
                  </a:schemeClr>
                </a:solidFill>
              </a:rPr>
              <a:t>    α &gt; 0, α &lt; 1,      /* Preference parameter α for x1 */</a:t>
            </a:r>
          </a:p>
          <a:p>
            <a:r>
              <a:rPr lang="en-US" sz="700" dirty="0">
                <a:solidFill>
                  <a:schemeClr val="accent5">
                    <a:lumMod val="50000"/>
                  </a:schemeClr>
                </a:solidFill>
              </a:rPr>
              <a:t>    β &gt; 0, β &lt; 1,      /* Preference parameter β for x2 */</a:t>
            </a:r>
          </a:p>
          <a:p>
            <a:r>
              <a:rPr lang="en-US" sz="700" dirty="0">
                <a:solidFill>
                  <a:schemeClr val="accent5">
                    <a:lumMod val="50000"/>
                  </a:schemeClr>
                </a:solidFill>
              </a:rPr>
              <a:t>    M &gt; 0              /* Consumer's income */</a:t>
            </a:r>
          </a:p>
          <a:p>
            <a:r>
              <a:rPr lang="en-US" sz="700" dirty="0">
                <a:solidFill>
                  <a:schemeClr val="accent5">
                    <a:lumMod val="50000"/>
                  </a:schemeClr>
                </a:solidFill>
              </a:rPr>
              <a:t>);</a:t>
            </a:r>
          </a:p>
          <a:p>
            <a:r>
              <a:rPr lang="en-US" sz="700" dirty="0">
                <a:solidFill>
                  <a:schemeClr val="accent5">
                    <a:lumMod val="50000"/>
                  </a:schemeClr>
                </a:solidFill>
              </a:rPr>
              <a:t>/* Declare constants to ensure they are not treated as variables in Maxima */</a:t>
            </a:r>
          </a:p>
          <a:p>
            <a:r>
              <a:rPr lang="en-US" sz="700" dirty="0">
                <a:solidFill>
                  <a:schemeClr val="accent5">
                    <a:lumMod val="50000"/>
                  </a:schemeClr>
                </a:solidFill>
              </a:rPr>
              <a:t>declare(α, constant);</a:t>
            </a:r>
          </a:p>
          <a:p>
            <a:r>
              <a:rPr lang="en-US" sz="700" dirty="0">
                <a:solidFill>
                  <a:schemeClr val="accent5">
                    <a:lumMod val="50000"/>
                  </a:schemeClr>
                </a:solidFill>
              </a:rPr>
              <a:t>declare(β, constant);</a:t>
            </a:r>
          </a:p>
          <a:p>
            <a:r>
              <a:rPr lang="en-US" sz="700" dirty="0">
                <a:solidFill>
                  <a:schemeClr val="accent5">
                    <a:lumMod val="50000"/>
                  </a:schemeClr>
                </a:solidFill>
              </a:rPr>
              <a:t>/* Define demand functions for goods x1 and x2 based on income and prices */</a:t>
            </a:r>
          </a:p>
          <a:p>
            <a:r>
              <a:rPr lang="en-US" sz="700" dirty="0">
                <a:solidFill>
                  <a:schemeClr val="accent5">
                    <a:lumMod val="50000"/>
                  </a:schemeClr>
                </a:solidFill>
              </a:rPr>
              <a:t>x1 : (α * M) / ((β + α) * p1);  /* Demand for x1 as a function of p1 */</a:t>
            </a:r>
          </a:p>
          <a:p>
            <a:r>
              <a:rPr lang="en-US" sz="700" dirty="0">
                <a:solidFill>
                  <a:schemeClr val="accent5">
                    <a:lumMod val="50000"/>
                  </a:schemeClr>
                </a:solidFill>
              </a:rPr>
              <a:t>x2 : (β * M) / ((β + α) * p2);  /* Demand for x2 as a function of p2 */</a:t>
            </a:r>
          </a:p>
          <a:p>
            <a:r>
              <a:rPr lang="en-US" sz="700" dirty="0">
                <a:solidFill>
                  <a:schemeClr val="accent5">
                    <a:lumMod val="50000"/>
                  </a:schemeClr>
                </a:solidFill>
              </a:rPr>
              <a:t>/* Calculate the own-price elasticity of demand for x1 */</a:t>
            </a:r>
          </a:p>
          <a:p>
            <a:r>
              <a:rPr lang="en-US" sz="700" dirty="0" err="1">
                <a:solidFill>
                  <a:schemeClr val="accent5">
                    <a:lumMod val="50000"/>
                  </a:schemeClr>
                </a:solidFill>
              </a:rPr>
              <a:t>E_p</a:t>
            </a:r>
            <a:r>
              <a:rPr lang="en-US" sz="700" dirty="0">
                <a:solidFill>
                  <a:schemeClr val="accent5">
                    <a:lumMod val="50000"/>
                  </a:schemeClr>
                </a:solidFill>
              </a:rPr>
              <a:t> : -diff(x1, p1, 1) * p1 / x1;  /* Elasticity formula with respect to p1 */</a:t>
            </a:r>
          </a:p>
          <a:p>
            <a:r>
              <a:rPr lang="en-US" sz="700" dirty="0">
                <a:solidFill>
                  <a:schemeClr val="accent5">
                    <a:lumMod val="50000"/>
                  </a:schemeClr>
                </a:solidFill>
              </a:rPr>
              <a:t>/* Plot the elasticity of demand for x1 with respect to p1 */</a:t>
            </a:r>
          </a:p>
          <a:p>
            <a:r>
              <a:rPr lang="en-US" sz="700" dirty="0">
                <a:solidFill>
                  <a:schemeClr val="accent5">
                    <a:lumMod val="50000"/>
                  </a:schemeClr>
                </a:solidFill>
              </a:rPr>
              <a:t>draw2d(</a:t>
            </a:r>
          </a:p>
          <a:p>
            <a:r>
              <a:rPr lang="en-US" sz="700" dirty="0">
                <a:solidFill>
                  <a:schemeClr val="accent5">
                    <a:lumMod val="50000"/>
                  </a:schemeClr>
                </a:solidFill>
              </a:rPr>
              <a:t>    title = "Elasticity",</a:t>
            </a:r>
          </a:p>
          <a:p>
            <a:r>
              <a:rPr lang="en-US" sz="700" dirty="0">
                <a:solidFill>
                  <a:schemeClr val="accent5">
                    <a:lumMod val="50000"/>
                  </a:schemeClr>
                </a:solidFill>
              </a:rPr>
              <a:t>    </a:t>
            </a:r>
            <a:r>
              <a:rPr lang="en-US" sz="700" dirty="0" err="1">
                <a:solidFill>
                  <a:schemeClr val="accent5">
                    <a:lumMod val="50000"/>
                  </a:schemeClr>
                </a:solidFill>
              </a:rPr>
              <a:t>xlabel</a:t>
            </a:r>
            <a:r>
              <a:rPr lang="en-US" sz="700" dirty="0">
                <a:solidFill>
                  <a:schemeClr val="accent5">
                    <a:lumMod val="50000"/>
                  </a:schemeClr>
                </a:solidFill>
              </a:rPr>
              <a:t> = "Price p1",</a:t>
            </a:r>
          </a:p>
          <a:p>
            <a:r>
              <a:rPr lang="en-US" sz="700" dirty="0">
                <a:solidFill>
                  <a:schemeClr val="accent5">
                    <a:lumMod val="50000"/>
                  </a:schemeClr>
                </a:solidFill>
              </a:rPr>
              <a:t>    </a:t>
            </a:r>
            <a:r>
              <a:rPr lang="en-US" sz="700" dirty="0" err="1">
                <a:solidFill>
                  <a:schemeClr val="accent5">
                    <a:lumMod val="50000"/>
                  </a:schemeClr>
                </a:solidFill>
              </a:rPr>
              <a:t>ylabel</a:t>
            </a:r>
            <a:r>
              <a:rPr lang="en-US" sz="700" dirty="0">
                <a:solidFill>
                  <a:schemeClr val="accent5">
                    <a:lumMod val="50000"/>
                  </a:schemeClr>
                </a:solidFill>
              </a:rPr>
              <a:t> = "Elasticity",</a:t>
            </a:r>
          </a:p>
          <a:p>
            <a:r>
              <a:rPr lang="en-US" sz="700" dirty="0">
                <a:solidFill>
                  <a:schemeClr val="accent5">
                    <a:lumMod val="50000"/>
                  </a:schemeClr>
                </a:solidFill>
              </a:rPr>
              <a:t>    explicit(</a:t>
            </a:r>
            <a:r>
              <a:rPr lang="en-US" sz="700" dirty="0" err="1">
                <a:solidFill>
                  <a:schemeClr val="accent5">
                    <a:lumMod val="50000"/>
                  </a:schemeClr>
                </a:solidFill>
              </a:rPr>
              <a:t>E_p</a:t>
            </a:r>
            <a:r>
              <a:rPr lang="en-US" sz="700" dirty="0">
                <a:solidFill>
                  <a:schemeClr val="accent5">
                    <a:lumMod val="50000"/>
                  </a:schemeClr>
                </a:solidFill>
              </a:rPr>
              <a:t>, p1, 0.1, 10),  /* Plot elasticity as a function of p1 */</a:t>
            </a:r>
          </a:p>
          <a:p>
            <a:r>
              <a:rPr lang="en-US" sz="700" dirty="0">
                <a:solidFill>
                  <a:schemeClr val="accent5">
                    <a:lumMod val="50000"/>
                  </a:schemeClr>
                </a:solidFill>
              </a:rPr>
              <a:t>    color = green,</a:t>
            </a:r>
          </a:p>
          <a:p>
            <a:r>
              <a:rPr lang="en-US" sz="700" dirty="0">
                <a:solidFill>
                  <a:schemeClr val="accent5">
                    <a:lumMod val="50000"/>
                  </a:schemeClr>
                </a:solidFill>
              </a:rPr>
              <a:t>    </a:t>
            </a:r>
            <a:r>
              <a:rPr lang="en-US" sz="700" dirty="0" err="1">
                <a:solidFill>
                  <a:schemeClr val="accent5">
                    <a:lumMod val="50000"/>
                  </a:schemeClr>
                </a:solidFill>
              </a:rPr>
              <a:t>line_width</a:t>
            </a:r>
            <a:r>
              <a:rPr lang="en-US" sz="700" dirty="0">
                <a:solidFill>
                  <a:schemeClr val="accent5">
                    <a:lumMod val="50000"/>
                  </a:schemeClr>
                </a:solidFill>
              </a:rPr>
              <a:t> = 2</a:t>
            </a:r>
            <a:r>
              <a:rPr lang="pl-PL" sz="700" dirty="0">
                <a:solidFill>
                  <a:schemeClr val="accent5">
                    <a:lumMod val="50000"/>
                  </a:schemeClr>
                </a:solidFill>
              </a:rPr>
              <a:t> </a:t>
            </a:r>
            <a:r>
              <a:rPr lang="en-US" sz="700" dirty="0">
                <a:solidFill>
                  <a:schemeClr val="accent5">
                    <a:lumMod val="50000"/>
                  </a:schemeClr>
                </a:solidFill>
              </a:rPr>
              <a:t>);</a:t>
            </a:r>
            <a:r>
              <a:rPr lang="pl-PL" sz="700" dirty="0">
                <a:solidFill>
                  <a:schemeClr val="accent5">
                    <a:lumMod val="50000"/>
                  </a:schemeClr>
                </a:solidFill>
              </a:rPr>
              <a:t> </a:t>
            </a:r>
          </a:p>
        </p:txBody>
      </p:sp>
      <p:sp>
        <p:nvSpPr>
          <p:cNvPr id="16" name="TextBox 15">
            <a:extLst>
              <a:ext uri="{FF2B5EF4-FFF2-40B4-BE49-F238E27FC236}">
                <a16:creationId xmlns:a16="http://schemas.microsoft.com/office/drawing/2014/main" id="{DFD526CF-F96E-FC23-4C69-6FF740AEF57A}"/>
              </a:ext>
            </a:extLst>
          </p:cNvPr>
          <p:cNvSpPr txBox="1"/>
          <p:nvPr/>
        </p:nvSpPr>
        <p:spPr>
          <a:xfrm>
            <a:off x="5994401" y="2467884"/>
            <a:ext cx="2144888" cy="35394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700" dirty="0">
                <a:solidFill>
                  <a:schemeClr val="accent5">
                    <a:lumMod val="50000"/>
                  </a:schemeClr>
                </a:solidFill>
              </a:rPr>
              <a:t>kill(all);  /* Clear all previous definitions and variables */</a:t>
            </a:r>
          </a:p>
          <a:p>
            <a:endParaRPr lang="en-US" sz="700" dirty="0">
              <a:solidFill>
                <a:schemeClr val="accent5">
                  <a:lumMod val="50000"/>
                </a:schemeClr>
              </a:solidFill>
            </a:endParaRPr>
          </a:p>
          <a:p>
            <a:r>
              <a:rPr lang="en-US" sz="700" dirty="0">
                <a:solidFill>
                  <a:schemeClr val="accent5">
                    <a:lumMod val="50000"/>
                  </a:schemeClr>
                </a:solidFill>
              </a:rPr>
              <a:t>/* Load the draw package (only necessary if plotting is required) */</a:t>
            </a:r>
          </a:p>
          <a:p>
            <a:r>
              <a:rPr lang="en-US" sz="700" dirty="0">
                <a:solidFill>
                  <a:schemeClr val="accent5">
                    <a:lumMod val="50000"/>
                  </a:schemeClr>
                </a:solidFill>
              </a:rPr>
              <a:t>load(draw);</a:t>
            </a:r>
          </a:p>
          <a:p>
            <a:r>
              <a:rPr lang="en-US" sz="700" dirty="0">
                <a:solidFill>
                  <a:schemeClr val="accent5">
                    <a:lumMod val="50000"/>
                  </a:schemeClr>
                </a:solidFill>
              </a:rPr>
              <a:t>/* Declare constants for parameters */</a:t>
            </a:r>
          </a:p>
          <a:p>
            <a:r>
              <a:rPr lang="en-US" sz="700" dirty="0">
                <a:solidFill>
                  <a:schemeClr val="accent5">
                    <a:lumMod val="50000"/>
                  </a:schemeClr>
                </a:solidFill>
              </a:rPr>
              <a:t>M: 100;      /* Consumer's income */</a:t>
            </a:r>
          </a:p>
          <a:p>
            <a:r>
              <a:rPr lang="en-US" sz="700" dirty="0">
                <a:solidFill>
                  <a:schemeClr val="accent5">
                    <a:lumMod val="50000"/>
                  </a:schemeClr>
                </a:solidFill>
              </a:rPr>
              <a:t>α: 0.3;      /* Preference parameter α for x1 */</a:t>
            </a:r>
          </a:p>
          <a:p>
            <a:r>
              <a:rPr lang="en-US" sz="700" dirty="0">
                <a:solidFill>
                  <a:schemeClr val="accent5">
                    <a:lumMod val="50000"/>
                  </a:schemeClr>
                </a:solidFill>
              </a:rPr>
              <a:t>β: 0.6;      /* Preference parameter β for x2 */</a:t>
            </a:r>
          </a:p>
          <a:p>
            <a:endParaRPr lang="en-US" sz="700" dirty="0">
              <a:solidFill>
                <a:schemeClr val="accent5">
                  <a:lumMod val="50000"/>
                </a:schemeClr>
              </a:solidFill>
            </a:endParaRPr>
          </a:p>
          <a:p>
            <a:r>
              <a:rPr lang="en-US" sz="700" dirty="0">
                <a:solidFill>
                  <a:schemeClr val="accent5">
                    <a:lumMod val="50000"/>
                  </a:schemeClr>
                </a:solidFill>
              </a:rPr>
              <a:t>/* Assume positive values for variables and parameters */</a:t>
            </a:r>
          </a:p>
          <a:p>
            <a:r>
              <a:rPr lang="en-US" sz="700" dirty="0">
                <a:solidFill>
                  <a:schemeClr val="accent5">
                    <a:lumMod val="50000"/>
                  </a:schemeClr>
                </a:solidFill>
              </a:rPr>
              <a:t>assume( x1 &gt; 0, p1 &gt; 0);         /* Quantity of good x1 and price of p1 */</a:t>
            </a:r>
          </a:p>
          <a:p>
            <a:r>
              <a:rPr lang="en-US" sz="700" dirty="0">
                <a:solidFill>
                  <a:schemeClr val="accent5">
                    <a:lumMod val="50000"/>
                  </a:schemeClr>
                </a:solidFill>
              </a:rPr>
              <a:t>/* Define the demand function for x1 based on income and price */</a:t>
            </a:r>
          </a:p>
          <a:p>
            <a:r>
              <a:rPr lang="en-US" sz="700" dirty="0">
                <a:solidFill>
                  <a:schemeClr val="accent5">
                    <a:lumMod val="50000"/>
                  </a:schemeClr>
                </a:solidFill>
              </a:rPr>
              <a:t>x1 : (α * M) / ((β + α) * p1);  /* Demand for x1 as a function of p1 */</a:t>
            </a:r>
          </a:p>
          <a:p>
            <a:r>
              <a:rPr lang="en-US" sz="700" dirty="0">
                <a:solidFill>
                  <a:schemeClr val="accent5">
                    <a:lumMod val="50000"/>
                  </a:schemeClr>
                </a:solidFill>
              </a:rPr>
              <a:t>/* Define the expense function as Expenses = p1 * x1 */</a:t>
            </a:r>
          </a:p>
          <a:p>
            <a:r>
              <a:rPr lang="en-US" sz="700" dirty="0">
                <a:solidFill>
                  <a:schemeClr val="accent5">
                    <a:lumMod val="50000"/>
                  </a:schemeClr>
                </a:solidFill>
              </a:rPr>
              <a:t>Expenses : p1 * x1;</a:t>
            </a:r>
          </a:p>
          <a:p>
            <a:r>
              <a:rPr lang="en-US" sz="700" dirty="0">
                <a:solidFill>
                  <a:schemeClr val="accent5">
                    <a:lumMod val="50000"/>
                  </a:schemeClr>
                </a:solidFill>
              </a:rPr>
              <a:t>/* Plot the expense function over the range of p1 from 0.1 to 20 */</a:t>
            </a:r>
          </a:p>
          <a:p>
            <a:r>
              <a:rPr lang="en-US" sz="700" dirty="0">
                <a:solidFill>
                  <a:schemeClr val="accent5">
                    <a:lumMod val="50000"/>
                  </a:schemeClr>
                </a:solidFill>
              </a:rPr>
              <a:t>draw2d(</a:t>
            </a:r>
          </a:p>
          <a:p>
            <a:r>
              <a:rPr lang="en-US" sz="700" dirty="0">
                <a:solidFill>
                  <a:schemeClr val="accent5">
                    <a:lumMod val="50000"/>
                  </a:schemeClr>
                </a:solidFill>
              </a:rPr>
              <a:t>    title = "Expenses on Good x1",</a:t>
            </a:r>
          </a:p>
          <a:p>
            <a:r>
              <a:rPr lang="en-US" sz="700" dirty="0">
                <a:solidFill>
                  <a:schemeClr val="accent5">
                    <a:lumMod val="50000"/>
                  </a:schemeClr>
                </a:solidFill>
              </a:rPr>
              <a:t>    </a:t>
            </a:r>
            <a:r>
              <a:rPr lang="en-US" sz="700" dirty="0" err="1">
                <a:solidFill>
                  <a:schemeClr val="accent5">
                    <a:lumMod val="50000"/>
                  </a:schemeClr>
                </a:solidFill>
              </a:rPr>
              <a:t>xlabel</a:t>
            </a:r>
            <a:r>
              <a:rPr lang="en-US" sz="700" dirty="0">
                <a:solidFill>
                  <a:schemeClr val="accent5">
                    <a:lumMod val="50000"/>
                  </a:schemeClr>
                </a:solidFill>
              </a:rPr>
              <a:t> = "Price p1",</a:t>
            </a:r>
          </a:p>
          <a:p>
            <a:r>
              <a:rPr lang="en-US" sz="700" dirty="0">
                <a:solidFill>
                  <a:schemeClr val="accent5">
                    <a:lumMod val="50000"/>
                  </a:schemeClr>
                </a:solidFill>
              </a:rPr>
              <a:t>    </a:t>
            </a:r>
            <a:r>
              <a:rPr lang="en-US" sz="700" dirty="0" err="1">
                <a:solidFill>
                  <a:schemeClr val="accent5">
                    <a:lumMod val="50000"/>
                  </a:schemeClr>
                </a:solidFill>
              </a:rPr>
              <a:t>ylabel</a:t>
            </a:r>
            <a:r>
              <a:rPr lang="en-US" sz="700" dirty="0">
                <a:solidFill>
                  <a:schemeClr val="accent5">
                    <a:lumMod val="50000"/>
                  </a:schemeClr>
                </a:solidFill>
              </a:rPr>
              <a:t> = "Expenses",</a:t>
            </a:r>
          </a:p>
          <a:p>
            <a:r>
              <a:rPr lang="en-US" sz="700" dirty="0">
                <a:solidFill>
                  <a:schemeClr val="accent5">
                    <a:lumMod val="50000"/>
                  </a:schemeClr>
                </a:solidFill>
              </a:rPr>
              <a:t>    explicit(Expenses, p1, 0.1, 20),  /* Plot Expenses as a function of p1 */</a:t>
            </a:r>
          </a:p>
          <a:p>
            <a:r>
              <a:rPr lang="en-US" sz="700" dirty="0">
                <a:solidFill>
                  <a:schemeClr val="accent5">
                    <a:lumMod val="50000"/>
                  </a:schemeClr>
                </a:solidFill>
              </a:rPr>
              <a:t>    color = blue,</a:t>
            </a:r>
          </a:p>
          <a:p>
            <a:r>
              <a:rPr lang="en-US" sz="700" dirty="0">
                <a:solidFill>
                  <a:schemeClr val="accent5">
                    <a:lumMod val="50000"/>
                  </a:schemeClr>
                </a:solidFill>
              </a:rPr>
              <a:t>    </a:t>
            </a:r>
            <a:r>
              <a:rPr lang="en-US" sz="700" dirty="0" err="1">
                <a:solidFill>
                  <a:schemeClr val="accent5">
                    <a:lumMod val="50000"/>
                  </a:schemeClr>
                </a:solidFill>
              </a:rPr>
              <a:t>line_width</a:t>
            </a:r>
            <a:r>
              <a:rPr lang="en-US" sz="700" dirty="0">
                <a:solidFill>
                  <a:schemeClr val="accent5">
                    <a:lumMod val="50000"/>
                  </a:schemeClr>
                </a:solidFill>
              </a:rPr>
              <a:t> = 2 );</a:t>
            </a:r>
            <a:endParaRPr lang="pl-PL" sz="700" dirty="0">
              <a:solidFill>
                <a:schemeClr val="accent5">
                  <a:lumMod val="50000"/>
                </a:schemeClr>
              </a:solidFill>
            </a:endParaRPr>
          </a:p>
        </p:txBody>
      </p:sp>
      <p:pic>
        <p:nvPicPr>
          <p:cNvPr id="19" name="Picture 18">
            <a:extLst>
              <a:ext uri="{FF2B5EF4-FFF2-40B4-BE49-F238E27FC236}">
                <a16:creationId xmlns:a16="http://schemas.microsoft.com/office/drawing/2014/main" id="{59DF89A7-7F33-2A27-084E-238BD17491F4}"/>
              </a:ext>
            </a:extLst>
          </p:cNvPr>
          <p:cNvPicPr>
            <a:picLocks noChangeAspect="1"/>
          </p:cNvPicPr>
          <p:nvPr/>
        </p:nvPicPr>
        <p:blipFill>
          <a:blip r:embed="rId2"/>
          <a:stretch>
            <a:fillRect/>
          </a:stretch>
        </p:blipFill>
        <p:spPr>
          <a:xfrm>
            <a:off x="8260641" y="2658676"/>
            <a:ext cx="3536248" cy="2946873"/>
          </a:xfrm>
          <a:prstGeom prst="rect">
            <a:avLst/>
          </a:prstGeom>
        </p:spPr>
      </p:pic>
      <p:pic>
        <p:nvPicPr>
          <p:cNvPr id="21" name="Picture 20">
            <a:extLst>
              <a:ext uri="{FF2B5EF4-FFF2-40B4-BE49-F238E27FC236}">
                <a16:creationId xmlns:a16="http://schemas.microsoft.com/office/drawing/2014/main" id="{4C093DF0-0DFD-6355-E35C-FA7BC0A87AC2}"/>
              </a:ext>
            </a:extLst>
          </p:cNvPr>
          <p:cNvPicPr>
            <a:picLocks noChangeAspect="1"/>
          </p:cNvPicPr>
          <p:nvPr/>
        </p:nvPicPr>
        <p:blipFill>
          <a:blip r:embed="rId3"/>
          <a:stretch>
            <a:fillRect/>
          </a:stretch>
        </p:blipFill>
        <p:spPr>
          <a:xfrm>
            <a:off x="2645074" y="2853563"/>
            <a:ext cx="3068518" cy="2557098"/>
          </a:xfrm>
          <a:prstGeom prst="rect">
            <a:avLst/>
          </a:prstGeom>
        </p:spPr>
      </p:pic>
    </p:spTree>
    <p:extLst>
      <p:ext uri="{BB962C8B-B14F-4D97-AF65-F5344CB8AC3E}">
        <p14:creationId xmlns:p14="http://schemas.microsoft.com/office/powerpoint/2010/main" val="371402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CAE2D-13E0-9F98-4DFD-04DD38E1D2FA}"/>
            </a:ext>
          </a:extLst>
        </p:cNvPr>
        <p:cNvGrpSpPr/>
        <p:nvPr/>
      </p:nvGrpSpPr>
      <p:grpSpPr>
        <a:xfrm>
          <a:off x="0" y="0"/>
          <a:ext cx="0" cy="0"/>
          <a:chOff x="0" y="0"/>
          <a:chExt cx="0" cy="0"/>
        </a:xfrm>
      </p:grpSpPr>
      <p:sp>
        <p:nvSpPr>
          <p:cNvPr id="4" name="AutoShape 2" descr="https://mikroekonomia.wne.uw.edu.pl/moodle/pluginfile.php/21105/course/section/1679/BBB%20settings%202.png">
            <a:extLst>
              <a:ext uri="{FF2B5EF4-FFF2-40B4-BE49-F238E27FC236}">
                <a16:creationId xmlns:a16="http://schemas.microsoft.com/office/drawing/2014/main" id="{B1936027-BE2E-7842-1EEF-E7CFD1605C5B}"/>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pole tekstowe 17">
            <a:extLst>
              <a:ext uri="{FF2B5EF4-FFF2-40B4-BE49-F238E27FC236}">
                <a16:creationId xmlns:a16="http://schemas.microsoft.com/office/drawing/2014/main" id="{41B3A530-DF32-D624-44FE-310EF0390E6A}"/>
              </a:ext>
            </a:extLst>
          </p:cNvPr>
          <p:cNvSpPr txBox="1"/>
          <p:nvPr/>
        </p:nvSpPr>
        <p:spPr>
          <a:xfrm>
            <a:off x="103860" y="1252300"/>
            <a:ext cx="11641820" cy="1631216"/>
          </a:xfrm>
          <a:prstGeom prst="rect">
            <a:avLst/>
          </a:prstGeom>
          <a:noFill/>
        </p:spPr>
        <p:txBody>
          <a:bodyPr wrap="square">
            <a:spAutoFit/>
          </a:bodyPr>
          <a:lstStyle/>
          <a:p>
            <a:pPr algn="just">
              <a:defRPr/>
            </a:pPr>
            <a:r>
              <a:rPr lang="en-US" sz="2000" dirty="0">
                <a:solidFill>
                  <a:schemeClr val="accent5">
                    <a:lumMod val="50000"/>
                  </a:schemeClr>
                </a:solidFill>
                <a:latin typeface="+mj-lt"/>
                <a:cs typeface="Arial" pitchFamily="34" charset="0"/>
                <a:sym typeface="Mathematica3"/>
              </a:rPr>
              <a:t>The income elasticity for x1 and x2 is constant equal to 1.</a:t>
            </a:r>
            <a:r>
              <a:rPr lang="pl-PL" sz="2000" dirty="0">
                <a:solidFill>
                  <a:schemeClr val="accent5">
                    <a:lumMod val="50000"/>
                  </a:schemeClr>
                </a:solidFill>
                <a:latin typeface="+mj-lt"/>
                <a:cs typeface="Arial" pitchFamily="34" charset="0"/>
                <a:sym typeface="Mathematica3"/>
              </a:rPr>
              <a:t> </a:t>
            </a:r>
            <a:r>
              <a:rPr lang="en-US" sz="2000" dirty="0">
                <a:solidFill>
                  <a:schemeClr val="accent5">
                    <a:lumMod val="50000"/>
                  </a:schemeClr>
                </a:solidFill>
                <a:latin typeface="+mj-lt"/>
                <a:cs typeface="Arial" pitchFamily="34" charset="0"/>
                <a:sym typeface="Mathematica3"/>
              </a:rPr>
              <a:t>The proportion of spending on x1 and x2 is constant and independent of income. We always spend a constant amount of our budget on x1. [we earn 5000 or 500000 zlotys and on food (x1) we spend alpha% on durable goods beta%.</a:t>
            </a:r>
          </a:p>
          <a:p>
            <a:pPr algn="just">
              <a:defRPr/>
            </a:pPr>
            <a:endParaRPr lang="pl-PL" sz="2000" dirty="0">
              <a:solidFill>
                <a:schemeClr val="accent5">
                  <a:lumMod val="50000"/>
                </a:schemeClr>
              </a:solidFill>
              <a:latin typeface="+mj-lt"/>
              <a:cs typeface="Arial" pitchFamily="34" charset="0"/>
              <a:sym typeface="Mathematica3"/>
            </a:endParaRPr>
          </a:p>
          <a:p>
            <a:pPr algn="just">
              <a:defRPr/>
            </a:pPr>
            <a:r>
              <a:rPr lang="en-US" sz="2000" dirty="0">
                <a:solidFill>
                  <a:schemeClr val="accent5">
                    <a:lumMod val="50000"/>
                  </a:schemeClr>
                </a:solidFill>
                <a:latin typeface="+mj-lt"/>
                <a:cs typeface="Arial" pitchFamily="34" charset="0"/>
                <a:sym typeface="Mathematica3"/>
              </a:rPr>
              <a:t>Only normal goods can be modeled, there is no possibility of </a:t>
            </a:r>
            <a:r>
              <a:rPr lang="en-US" sz="2000" b="1" dirty="0">
                <a:solidFill>
                  <a:schemeClr val="accent5">
                    <a:lumMod val="50000"/>
                  </a:schemeClr>
                </a:solidFill>
                <a:latin typeface="+mj-lt"/>
                <a:cs typeface="Arial" pitchFamily="34" charset="0"/>
                <a:sym typeface="Mathematica3"/>
              </a:rPr>
              <a:t>modeling inferior goods</a:t>
            </a:r>
            <a:r>
              <a:rPr lang="en-US" sz="2000" dirty="0">
                <a:solidFill>
                  <a:schemeClr val="accent5">
                    <a:lumMod val="50000"/>
                  </a:schemeClr>
                </a:solidFill>
                <a:latin typeface="+mj-lt"/>
                <a:cs typeface="Arial" pitchFamily="34" charset="0"/>
                <a:sym typeface="Mathematica3"/>
              </a:rPr>
              <a:t>.</a:t>
            </a:r>
          </a:p>
        </p:txBody>
      </p:sp>
      <p:sp>
        <p:nvSpPr>
          <p:cNvPr id="5" name="Tytuł 1">
            <a:extLst>
              <a:ext uri="{FF2B5EF4-FFF2-40B4-BE49-F238E27FC236}">
                <a16:creationId xmlns:a16="http://schemas.microsoft.com/office/drawing/2014/main" id="{E2ECFD99-0651-9617-CACD-27D79B0CCD1E}"/>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kumimoji="0" lang="en-US" sz="4000" b="1" i="0" u="none" strike="noStrike" kern="1200" cap="none" spc="0" normalizeH="0" baseline="0" noProof="0" dirty="0">
                <a:ln>
                  <a:noFill/>
                </a:ln>
                <a:solidFill>
                  <a:srgbClr val="4BACC6">
                    <a:lumMod val="50000"/>
                  </a:srgbClr>
                </a:solidFill>
                <a:effectLst/>
                <a:uLnTx/>
                <a:uFillTx/>
                <a:latin typeface="Calibri"/>
                <a:ea typeface="+mn-ea"/>
                <a:cs typeface="+mn-cs"/>
              </a:rPr>
              <a:t>Properties of the demand function</a:t>
            </a:r>
            <a:endParaRPr lang="en-GB" sz="4000" b="1" i="1" dirty="0">
              <a:solidFill>
                <a:schemeClr val="accent5">
                  <a:lumMod val="50000"/>
                </a:schemeClr>
              </a:solidFill>
            </a:endParaRPr>
          </a:p>
        </p:txBody>
      </p:sp>
      <p:sp>
        <p:nvSpPr>
          <p:cNvPr id="3" name="TextBox 2">
            <a:extLst>
              <a:ext uri="{FF2B5EF4-FFF2-40B4-BE49-F238E27FC236}">
                <a16:creationId xmlns:a16="http://schemas.microsoft.com/office/drawing/2014/main" id="{05A6ABE9-8BBD-2F0A-1652-570DAC144B3D}"/>
              </a:ext>
            </a:extLst>
          </p:cNvPr>
          <p:cNvSpPr txBox="1"/>
          <p:nvPr/>
        </p:nvSpPr>
        <p:spPr>
          <a:xfrm>
            <a:off x="168828" y="3155653"/>
            <a:ext cx="2489611" cy="329320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dirty="0">
                <a:solidFill>
                  <a:schemeClr val="accent5">
                    <a:lumMod val="50000"/>
                  </a:schemeClr>
                </a:solidFill>
              </a:rPr>
              <a:t>kill(all);  /* Clear all previous definitions and variables */</a:t>
            </a:r>
          </a:p>
          <a:p>
            <a:r>
              <a:rPr lang="en-US" sz="800" dirty="0">
                <a:solidFill>
                  <a:schemeClr val="accent5">
                    <a:lumMod val="50000"/>
                  </a:schemeClr>
                </a:solidFill>
              </a:rPr>
              <a:t>load(draw);/* Load the draw package (only necessary if plotting is required) */</a:t>
            </a:r>
          </a:p>
          <a:p>
            <a:r>
              <a:rPr lang="en-US" sz="800" dirty="0">
                <a:solidFill>
                  <a:schemeClr val="accent5">
                    <a:lumMod val="50000"/>
                  </a:schemeClr>
                </a:solidFill>
              </a:rPr>
              <a:t>/* Declare constants for parameters */</a:t>
            </a:r>
          </a:p>
          <a:p>
            <a:r>
              <a:rPr lang="en-US" sz="800" dirty="0">
                <a:solidFill>
                  <a:schemeClr val="accent5">
                    <a:lumMod val="50000"/>
                  </a:schemeClr>
                </a:solidFill>
              </a:rPr>
              <a:t>p1: 1;      /* Price of good x1 */</a:t>
            </a:r>
          </a:p>
          <a:p>
            <a:r>
              <a:rPr lang="en-US" sz="800" dirty="0">
                <a:solidFill>
                  <a:schemeClr val="accent5">
                    <a:lumMod val="50000"/>
                  </a:schemeClr>
                </a:solidFill>
              </a:rPr>
              <a:t>p2: 1;      /* Price of good x2 */</a:t>
            </a:r>
          </a:p>
          <a:p>
            <a:r>
              <a:rPr lang="en-US" sz="800" dirty="0">
                <a:solidFill>
                  <a:schemeClr val="accent5">
                    <a:lumMod val="50000"/>
                  </a:schemeClr>
                </a:solidFill>
              </a:rPr>
              <a:t>α: 0.3;     /* Preference parameter α for x1 */</a:t>
            </a:r>
          </a:p>
          <a:p>
            <a:r>
              <a:rPr lang="en-US" sz="800" dirty="0">
                <a:solidFill>
                  <a:schemeClr val="accent5">
                    <a:lumMod val="50000"/>
                  </a:schemeClr>
                </a:solidFill>
              </a:rPr>
              <a:t>β: 0.6;     /* Preference parameter β for x2 */</a:t>
            </a:r>
          </a:p>
          <a:p>
            <a:r>
              <a:rPr lang="en-US" sz="800" dirty="0">
                <a:solidFill>
                  <a:schemeClr val="accent5">
                    <a:lumMod val="50000"/>
                  </a:schemeClr>
                </a:solidFill>
              </a:rPr>
              <a:t>/* Assume positive values for variables */</a:t>
            </a:r>
          </a:p>
          <a:p>
            <a:r>
              <a:rPr lang="en-US" sz="800" dirty="0">
                <a:solidFill>
                  <a:schemeClr val="accent5">
                    <a:lumMod val="50000"/>
                  </a:schemeClr>
                </a:solidFill>
              </a:rPr>
              <a:t>assume(x1 &gt; 0, M &gt; 0);  /* Quantity of good x1 and consumer's income */</a:t>
            </a:r>
          </a:p>
          <a:p>
            <a:r>
              <a:rPr lang="en-US" sz="800" dirty="0">
                <a:solidFill>
                  <a:schemeClr val="accent5">
                    <a:lumMod val="50000"/>
                  </a:schemeClr>
                </a:solidFill>
              </a:rPr>
              <a:t>/* Define the demand function for x1 as a function of M */</a:t>
            </a:r>
          </a:p>
          <a:p>
            <a:r>
              <a:rPr lang="en-US" sz="800" dirty="0">
                <a:solidFill>
                  <a:schemeClr val="accent5">
                    <a:lumMod val="50000"/>
                  </a:schemeClr>
                </a:solidFill>
              </a:rPr>
              <a:t>x1 : (α * M) / ((β + α) * p1);  /* Demand for x1 as a function of income M */</a:t>
            </a:r>
          </a:p>
          <a:p>
            <a:r>
              <a:rPr lang="en-US" sz="800" dirty="0">
                <a:solidFill>
                  <a:schemeClr val="accent5">
                    <a:lumMod val="50000"/>
                  </a:schemeClr>
                </a:solidFill>
              </a:rPr>
              <a:t>/* Plot x1 as a function of M */</a:t>
            </a:r>
          </a:p>
          <a:p>
            <a:r>
              <a:rPr lang="en-US" sz="800" dirty="0">
                <a:solidFill>
                  <a:schemeClr val="accent5">
                    <a:lumMod val="50000"/>
                  </a:schemeClr>
                </a:solidFill>
              </a:rPr>
              <a:t>draw2d(</a:t>
            </a:r>
          </a:p>
          <a:p>
            <a:r>
              <a:rPr lang="en-US" sz="800" dirty="0">
                <a:solidFill>
                  <a:schemeClr val="accent5">
                    <a:lumMod val="50000"/>
                  </a:schemeClr>
                </a:solidFill>
              </a:rPr>
              <a:t>    title = "Demand for Good x1 as a Function of Income M",</a:t>
            </a:r>
          </a:p>
          <a:p>
            <a:r>
              <a:rPr lang="en-US" sz="800" dirty="0">
                <a:solidFill>
                  <a:schemeClr val="accent5">
                    <a:lumMod val="50000"/>
                  </a:schemeClr>
                </a:solidFill>
              </a:rPr>
              <a:t>    </a:t>
            </a:r>
            <a:r>
              <a:rPr lang="en-US" sz="800" dirty="0" err="1">
                <a:solidFill>
                  <a:schemeClr val="accent5">
                    <a:lumMod val="50000"/>
                  </a:schemeClr>
                </a:solidFill>
              </a:rPr>
              <a:t>xlabel</a:t>
            </a:r>
            <a:r>
              <a:rPr lang="en-US" sz="800" dirty="0">
                <a:solidFill>
                  <a:schemeClr val="accent5">
                    <a:lumMod val="50000"/>
                  </a:schemeClr>
                </a:solidFill>
              </a:rPr>
              <a:t> = "Income M",</a:t>
            </a:r>
          </a:p>
          <a:p>
            <a:r>
              <a:rPr lang="en-US" sz="800" dirty="0">
                <a:solidFill>
                  <a:schemeClr val="accent5">
                    <a:lumMod val="50000"/>
                  </a:schemeClr>
                </a:solidFill>
              </a:rPr>
              <a:t>    </a:t>
            </a:r>
            <a:r>
              <a:rPr lang="en-US" sz="800" dirty="0" err="1">
                <a:solidFill>
                  <a:schemeClr val="accent5">
                    <a:lumMod val="50000"/>
                  </a:schemeClr>
                </a:solidFill>
              </a:rPr>
              <a:t>ylabel</a:t>
            </a:r>
            <a:r>
              <a:rPr lang="en-US" sz="800" dirty="0">
                <a:solidFill>
                  <a:schemeClr val="accent5">
                    <a:lumMod val="50000"/>
                  </a:schemeClr>
                </a:solidFill>
              </a:rPr>
              <a:t> = "Quantity x1",</a:t>
            </a:r>
          </a:p>
          <a:p>
            <a:r>
              <a:rPr lang="en-US" sz="800" dirty="0">
                <a:solidFill>
                  <a:schemeClr val="accent5">
                    <a:lumMod val="50000"/>
                  </a:schemeClr>
                </a:solidFill>
              </a:rPr>
              <a:t>    explicit(x1, M, 0, 200),  /* Plot x1 as a function of M over the range 0 to 200 */</a:t>
            </a:r>
          </a:p>
          <a:p>
            <a:r>
              <a:rPr lang="en-US" sz="800" dirty="0">
                <a:solidFill>
                  <a:schemeClr val="accent5">
                    <a:lumMod val="50000"/>
                  </a:schemeClr>
                </a:solidFill>
              </a:rPr>
              <a:t>    color = blue,</a:t>
            </a:r>
          </a:p>
          <a:p>
            <a:r>
              <a:rPr lang="en-US" sz="800" dirty="0">
                <a:solidFill>
                  <a:schemeClr val="accent5">
                    <a:lumMod val="50000"/>
                  </a:schemeClr>
                </a:solidFill>
              </a:rPr>
              <a:t>    </a:t>
            </a:r>
            <a:r>
              <a:rPr lang="en-US" sz="800" dirty="0" err="1">
                <a:solidFill>
                  <a:schemeClr val="accent5">
                    <a:lumMod val="50000"/>
                  </a:schemeClr>
                </a:solidFill>
              </a:rPr>
              <a:t>line_width</a:t>
            </a:r>
            <a:r>
              <a:rPr lang="en-US" sz="800" dirty="0">
                <a:solidFill>
                  <a:schemeClr val="accent5">
                    <a:lumMod val="50000"/>
                  </a:schemeClr>
                </a:solidFill>
              </a:rPr>
              <a:t> = 2);</a:t>
            </a:r>
            <a:endParaRPr lang="pl-PL" sz="800" dirty="0">
              <a:solidFill>
                <a:schemeClr val="accent5">
                  <a:lumMod val="50000"/>
                </a:schemeClr>
              </a:solidFill>
            </a:endParaRPr>
          </a:p>
        </p:txBody>
      </p:sp>
      <p:pic>
        <p:nvPicPr>
          <p:cNvPr id="8" name="Picture 7">
            <a:extLst>
              <a:ext uri="{FF2B5EF4-FFF2-40B4-BE49-F238E27FC236}">
                <a16:creationId xmlns:a16="http://schemas.microsoft.com/office/drawing/2014/main" id="{3318246F-79B1-B8CC-0092-AE4DAAB34CC2}"/>
              </a:ext>
            </a:extLst>
          </p:cNvPr>
          <p:cNvPicPr>
            <a:picLocks noChangeAspect="1"/>
          </p:cNvPicPr>
          <p:nvPr/>
        </p:nvPicPr>
        <p:blipFill>
          <a:blip r:embed="rId2"/>
          <a:stretch>
            <a:fillRect/>
          </a:stretch>
        </p:blipFill>
        <p:spPr>
          <a:xfrm>
            <a:off x="2658439" y="3536219"/>
            <a:ext cx="3121577" cy="2733017"/>
          </a:xfrm>
          <a:prstGeom prst="rect">
            <a:avLst/>
          </a:prstGeom>
        </p:spPr>
      </p:pic>
      <p:sp>
        <p:nvSpPr>
          <p:cNvPr id="10" name="TextBox 9">
            <a:extLst>
              <a:ext uri="{FF2B5EF4-FFF2-40B4-BE49-F238E27FC236}">
                <a16:creationId xmlns:a16="http://schemas.microsoft.com/office/drawing/2014/main" id="{40C17976-23A9-A8A9-50E1-89347ACEE4D3}"/>
              </a:ext>
            </a:extLst>
          </p:cNvPr>
          <p:cNvSpPr txBox="1"/>
          <p:nvPr/>
        </p:nvSpPr>
        <p:spPr>
          <a:xfrm>
            <a:off x="6041136" y="3379233"/>
            <a:ext cx="2228491" cy="304698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dirty="0">
                <a:solidFill>
                  <a:schemeClr val="accent5">
                    <a:lumMod val="50000"/>
                  </a:schemeClr>
                </a:solidFill>
              </a:rPr>
              <a:t>kill(all); /* Clear all previous definitions and variables */ /* Load the draw package (only necessary if plotting is required) */ load(draw); /* Declare constants for parameters */ p1: 1; /* Price of good x1 */ α: 0.3; /* Preference parameter α for x1 */ β: 0.6; /* Preference parameter β for x2 */ /* Assume positive values for variables */ assume(x1 &gt; 0, M &gt; 0); /* Quantity of good x1 and consumer's income */ /* Define the demand function for x1 as a function of M */ x1 : (α * M) / ((β + α) * p1); /* Demand for x1 as a function of income M */ /* Calculate income elasticity of demand for x1 */ </a:t>
            </a:r>
            <a:r>
              <a:rPr lang="en-US" sz="800" dirty="0" err="1">
                <a:solidFill>
                  <a:schemeClr val="accent5">
                    <a:lumMod val="50000"/>
                  </a:schemeClr>
                </a:solidFill>
              </a:rPr>
              <a:t>E_income</a:t>
            </a:r>
            <a:r>
              <a:rPr lang="en-US" sz="800" dirty="0">
                <a:solidFill>
                  <a:schemeClr val="accent5">
                    <a:lumMod val="50000"/>
                  </a:schemeClr>
                </a:solidFill>
              </a:rPr>
              <a:t> : diff(x1, M) * M / x1; /* Simplify the expression for better readability */ </a:t>
            </a:r>
            <a:r>
              <a:rPr lang="en-US" sz="800" dirty="0" err="1">
                <a:solidFill>
                  <a:schemeClr val="accent5">
                    <a:lumMod val="50000"/>
                  </a:schemeClr>
                </a:solidFill>
              </a:rPr>
              <a:t>E_income_simplified</a:t>
            </a:r>
            <a:r>
              <a:rPr lang="en-US" sz="800" dirty="0">
                <a:solidFill>
                  <a:schemeClr val="accent5">
                    <a:lumMod val="50000"/>
                  </a:schemeClr>
                </a:solidFill>
              </a:rPr>
              <a:t> : </a:t>
            </a:r>
            <a:r>
              <a:rPr lang="en-US" sz="800" dirty="0" err="1">
                <a:solidFill>
                  <a:schemeClr val="accent5">
                    <a:lumMod val="50000"/>
                  </a:schemeClr>
                </a:solidFill>
              </a:rPr>
              <a:t>ratsimp</a:t>
            </a:r>
            <a:r>
              <a:rPr lang="en-US" sz="800" dirty="0">
                <a:solidFill>
                  <a:schemeClr val="accent5">
                    <a:lumMod val="50000"/>
                  </a:schemeClr>
                </a:solidFill>
              </a:rPr>
              <a:t>(</a:t>
            </a:r>
            <a:r>
              <a:rPr lang="en-US" sz="800" dirty="0" err="1">
                <a:solidFill>
                  <a:schemeClr val="accent5">
                    <a:lumMod val="50000"/>
                  </a:schemeClr>
                </a:solidFill>
              </a:rPr>
              <a:t>E_income</a:t>
            </a:r>
            <a:r>
              <a:rPr lang="en-US" sz="800" dirty="0">
                <a:solidFill>
                  <a:schemeClr val="accent5">
                    <a:lumMod val="50000"/>
                  </a:schemeClr>
                </a:solidFill>
              </a:rPr>
              <a:t>); /* Plot income elasticity of demand for x1 as a function of M */ draw2d( title = "Income Elasticity of Demand for Good x1", </a:t>
            </a:r>
            <a:r>
              <a:rPr lang="en-US" sz="800" dirty="0" err="1">
                <a:solidFill>
                  <a:schemeClr val="accent5">
                    <a:lumMod val="50000"/>
                  </a:schemeClr>
                </a:solidFill>
              </a:rPr>
              <a:t>xlabel</a:t>
            </a:r>
            <a:r>
              <a:rPr lang="en-US" sz="800" dirty="0">
                <a:solidFill>
                  <a:schemeClr val="accent5">
                    <a:lumMod val="50000"/>
                  </a:schemeClr>
                </a:solidFill>
              </a:rPr>
              <a:t> = "Income M", </a:t>
            </a:r>
            <a:r>
              <a:rPr lang="en-US" sz="800" dirty="0" err="1">
                <a:solidFill>
                  <a:schemeClr val="accent5">
                    <a:lumMod val="50000"/>
                  </a:schemeClr>
                </a:solidFill>
              </a:rPr>
              <a:t>ylabel</a:t>
            </a:r>
            <a:r>
              <a:rPr lang="en-US" sz="800" dirty="0">
                <a:solidFill>
                  <a:schemeClr val="accent5">
                    <a:lumMod val="50000"/>
                  </a:schemeClr>
                </a:solidFill>
              </a:rPr>
              <a:t> = "Income Elasticity of Demand (</a:t>
            </a:r>
            <a:r>
              <a:rPr lang="en-US" sz="800" dirty="0" err="1">
                <a:solidFill>
                  <a:schemeClr val="accent5">
                    <a:lumMod val="50000"/>
                  </a:schemeClr>
                </a:solidFill>
              </a:rPr>
              <a:t>E_income</a:t>
            </a:r>
            <a:r>
              <a:rPr lang="en-US" sz="800" dirty="0">
                <a:solidFill>
                  <a:schemeClr val="accent5">
                    <a:lumMod val="50000"/>
                  </a:schemeClr>
                </a:solidFill>
              </a:rPr>
              <a:t>)", explicit(</a:t>
            </a:r>
            <a:r>
              <a:rPr lang="en-US" sz="800" dirty="0" err="1">
                <a:solidFill>
                  <a:schemeClr val="accent5">
                    <a:lumMod val="50000"/>
                  </a:schemeClr>
                </a:solidFill>
              </a:rPr>
              <a:t>E_income_simplified</a:t>
            </a:r>
            <a:r>
              <a:rPr lang="en-US" sz="800" dirty="0">
                <a:solidFill>
                  <a:schemeClr val="accent5">
                    <a:lumMod val="50000"/>
                  </a:schemeClr>
                </a:solidFill>
              </a:rPr>
              <a:t>, M, 0.1, 200), /* Plot </a:t>
            </a:r>
            <a:r>
              <a:rPr lang="en-US" sz="800" dirty="0" err="1">
                <a:solidFill>
                  <a:schemeClr val="accent5">
                    <a:lumMod val="50000"/>
                  </a:schemeClr>
                </a:solidFill>
              </a:rPr>
              <a:t>E_income</a:t>
            </a:r>
            <a:r>
              <a:rPr lang="en-US" sz="800" dirty="0">
                <a:solidFill>
                  <a:schemeClr val="accent5">
                    <a:lumMod val="50000"/>
                  </a:schemeClr>
                </a:solidFill>
              </a:rPr>
              <a:t> as a function of M over the range 0.1 to 200 */ color = red, </a:t>
            </a:r>
            <a:r>
              <a:rPr lang="en-US" sz="800" dirty="0" err="1">
                <a:solidFill>
                  <a:schemeClr val="accent5">
                    <a:lumMod val="50000"/>
                  </a:schemeClr>
                </a:solidFill>
              </a:rPr>
              <a:t>line_width</a:t>
            </a:r>
            <a:r>
              <a:rPr lang="en-US" sz="800" dirty="0">
                <a:solidFill>
                  <a:schemeClr val="accent5">
                    <a:lumMod val="50000"/>
                  </a:schemeClr>
                </a:solidFill>
              </a:rPr>
              <a:t> = 2 );</a:t>
            </a:r>
            <a:endParaRPr lang="pl-PL" sz="800" dirty="0">
              <a:solidFill>
                <a:schemeClr val="accent5">
                  <a:lumMod val="50000"/>
                </a:schemeClr>
              </a:solidFill>
            </a:endParaRPr>
          </a:p>
        </p:txBody>
      </p:sp>
      <p:pic>
        <p:nvPicPr>
          <p:cNvPr id="13" name="Picture 12">
            <a:extLst>
              <a:ext uri="{FF2B5EF4-FFF2-40B4-BE49-F238E27FC236}">
                <a16:creationId xmlns:a16="http://schemas.microsoft.com/office/drawing/2014/main" id="{10335CAE-29F3-94C4-1D18-8953F26A715B}"/>
              </a:ext>
            </a:extLst>
          </p:cNvPr>
          <p:cNvPicPr>
            <a:picLocks noChangeAspect="1"/>
          </p:cNvPicPr>
          <p:nvPr/>
        </p:nvPicPr>
        <p:blipFill>
          <a:blip r:embed="rId3"/>
          <a:stretch>
            <a:fillRect/>
          </a:stretch>
        </p:blipFill>
        <p:spPr>
          <a:xfrm>
            <a:off x="8471149" y="3618257"/>
            <a:ext cx="3181175" cy="2650979"/>
          </a:xfrm>
          <a:prstGeom prst="rect">
            <a:avLst/>
          </a:prstGeom>
        </p:spPr>
      </p:pic>
    </p:spTree>
    <p:extLst>
      <p:ext uri="{BB962C8B-B14F-4D97-AF65-F5344CB8AC3E}">
        <p14:creationId xmlns:p14="http://schemas.microsoft.com/office/powerpoint/2010/main" val="3766296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F5224-776A-0A40-DF8C-92183C890054}"/>
            </a:ext>
          </a:extLst>
        </p:cNvPr>
        <p:cNvGrpSpPr/>
        <p:nvPr/>
      </p:nvGrpSpPr>
      <p:grpSpPr>
        <a:xfrm>
          <a:off x="0" y="0"/>
          <a:ext cx="0" cy="0"/>
          <a:chOff x="0" y="0"/>
          <a:chExt cx="0" cy="0"/>
        </a:xfrm>
      </p:grpSpPr>
      <p:sp>
        <p:nvSpPr>
          <p:cNvPr id="4" name="AutoShape 2" descr="https://mikroekonomia.wne.uw.edu.pl/moodle/pluginfile.php/21105/course/section/1679/BBB%20settings%202.png">
            <a:extLst>
              <a:ext uri="{FF2B5EF4-FFF2-40B4-BE49-F238E27FC236}">
                <a16:creationId xmlns:a16="http://schemas.microsoft.com/office/drawing/2014/main" id="{F2E5A291-92AB-A562-80FF-2E2D13E3402F}"/>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pole tekstowe 17">
            <a:extLst>
              <a:ext uri="{FF2B5EF4-FFF2-40B4-BE49-F238E27FC236}">
                <a16:creationId xmlns:a16="http://schemas.microsoft.com/office/drawing/2014/main" id="{DD62750A-8117-EDE2-F377-2B3D95F3F3C9}"/>
              </a:ext>
            </a:extLst>
          </p:cNvPr>
          <p:cNvSpPr txBox="1"/>
          <p:nvPr/>
        </p:nvSpPr>
        <p:spPr>
          <a:xfrm>
            <a:off x="387977" y="1633940"/>
            <a:ext cx="11641820" cy="4401205"/>
          </a:xfrm>
          <a:prstGeom prst="rect">
            <a:avLst/>
          </a:prstGeom>
          <a:noFill/>
        </p:spPr>
        <p:txBody>
          <a:bodyPr wrap="square">
            <a:spAutoFit/>
          </a:bodyPr>
          <a:lstStyle/>
          <a:p>
            <a:pPr algn="just">
              <a:defRPr/>
            </a:pPr>
            <a:r>
              <a:rPr lang="en-US" sz="2800" dirty="0">
                <a:solidFill>
                  <a:schemeClr val="accent5">
                    <a:lumMod val="50000"/>
                  </a:schemeClr>
                </a:solidFill>
                <a:latin typeface="+mj-lt"/>
                <a:cs typeface="Arial" pitchFamily="34" charset="0"/>
                <a:sym typeface="Mathematica3"/>
              </a:rPr>
              <a:t>The property of </a:t>
            </a:r>
            <a:r>
              <a:rPr lang="en-US" sz="2800" b="1" dirty="0">
                <a:solidFill>
                  <a:schemeClr val="accent5">
                    <a:lumMod val="50000"/>
                  </a:schemeClr>
                </a:solidFill>
                <a:latin typeface="+mj-lt"/>
                <a:cs typeface="Arial" pitchFamily="34" charset="0"/>
                <a:sym typeface="Mathematica3"/>
              </a:rPr>
              <a:t>Cross-Price Independence </a:t>
            </a:r>
            <a:r>
              <a:rPr lang="en-US" sz="2800" dirty="0">
                <a:solidFill>
                  <a:schemeClr val="accent5">
                    <a:lumMod val="50000"/>
                  </a:schemeClr>
                </a:solidFill>
                <a:latin typeface="+mj-lt"/>
                <a:cs typeface="Arial" pitchFamily="34" charset="0"/>
                <a:sym typeface="Mathematica3"/>
              </a:rPr>
              <a:t>in demand functions means that the demand for one good, x1, does not depend on the price of another good, p2, and vice versa. In this setup, each good is treated as completely independent of the other in terms of pricing effects.</a:t>
            </a:r>
          </a:p>
          <a:p>
            <a:pPr algn="just">
              <a:defRPr/>
            </a:pPr>
            <a:endParaRPr lang="en-US" sz="2800" dirty="0">
              <a:solidFill>
                <a:schemeClr val="accent5">
                  <a:lumMod val="50000"/>
                </a:schemeClr>
              </a:solidFill>
              <a:latin typeface="+mj-lt"/>
              <a:cs typeface="Arial" pitchFamily="34" charset="0"/>
              <a:sym typeface="Mathematica3"/>
            </a:endParaRPr>
          </a:p>
          <a:p>
            <a:pPr algn="just">
              <a:defRPr/>
            </a:pPr>
            <a:r>
              <a:rPr lang="en-US" sz="2800" dirty="0">
                <a:solidFill>
                  <a:schemeClr val="accent5">
                    <a:lumMod val="50000"/>
                  </a:schemeClr>
                </a:solidFill>
                <a:latin typeface="+mj-lt"/>
                <a:cs typeface="Arial" pitchFamily="34" charset="0"/>
                <a:sym typeface="Mathematica3"/>
              </a:rPr>
              <a:t>For</a:t>
            </a:r>
            <a:r>
              <a:rPr lang="pl-PL" sz="2800" dirty="0">
                <a:solidFill>
                  <a:schemeClr val="accent5">
                    <a:lumMod val="50000"/>
                  </a:schemeClr>
                </a:solidFill>
                <a:latin typeface="+mj-lt"/>
                <a:cs typeface="Arial" pitchFamily="34" charset="0"/>
                <a:sym typeface="Mathematica3"/>
              </a:rPr>
              <a:t> </a:t>
            </a:r>
            <a:r>
              <a:rPr lang="pl-PL" sz="2800" dirty="0" err="1">
                <a:solidFill>
                  <a:schemeClr val="accent5">
                    <a:lumMod val="50000"/>
                  </a:schemeClr>
                </a:solidFill>
                <a:latin typeface="+mj-lt"/>
                <a:cs typeface="Arial" pitchFamily="34" charset="0"/>
                <a:sym typeface="Mathematica3"/>
              </a:rPr>
              <a:t>our</a:t>
            </a:r>
            <a:r>
              <a:rPr lang="pl-PL" sz="2800" dirty="0">
                <a:solidFill>
                  <a:schemeClr val="accent5">
                    <a:lumMod val="50000"/>
                  </a:schemeClr>
                </a:solidFill>
                <a:latin typeface="+mj-lt"/>
                <a:cs typeface="Arial" pitchFamily="34" charset="0"/>
                <a:sym typeface="Mathematica3"/>
              </a:rPr>
              <a:t> </a:t>
            </a:r>
            <a:r>
              <a:rPr lang="en-US" sz="2800" dirty="0">
                <a:solidFill>
                  <a:schemeClr val="accent5">
                    <a:lumMod val="50000"/>
                  </a:schemeClr>
                </a:solidFill>
                <a:latin typeface="+mj-lt"/>
                <a:cs typeface="Arial" pitchFamily="34" charset="0"/>
                <a:sym typeface="Mathematica3"/>
              </a:rPr>
              <a:t>demand function, cross-price elasticity is zero. This setup implies that x1 and x2 are neither substitutes nor complements. In reality, true cross-price independence is rare, as most goods are influenced by the prices of related goods. Thus, while cross-price independence simplifies modeling, it may not reflect real-world consumer behavior for goods with interdependencies.</a:t>
            </a:r>
          </a:p>
        </p:txBody>
      </p:sp>
      <p:sp>
        <p:nvSpPr>
          <p:cNvPr id="5" name="Tytuł 1">
            <a:extLst>
              <a:ext uri="{FF2B5EF4-FFF2-40B4-BE49-F238E27FC236}">
                <a16:creationId xmlns:a16="http://schemas.microsoft.com/office/drawing/2014/main" id="{31117BD1-8F91-3591-D8CA-EF89003AF816}"/>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kumimoji="0" lang="en-US" sz="4000" b="1" i="0" u="none" strike="noStrike" kern="1200" cap="none" spc="0" normalizeH="0" baseline="0" noProof="0" dirty="0">
                <a:ln>
                  <a:noFill/>
                </a:ln>
                <a:solidFill>
                  <a:srgbClr val="4BACC6">
                    <a:lumMod val="50000"/>
                  </a:srgbClr>
                </a:solidFill>
                <a:effectLst/>
                <a:uLnTx/>
                <a:uFillTx/>
                <a:latin typeface="Calibri"/>
                <a:ea typeface="+mn-ea"/>
                <a:cs typeface="+mn-cs"/>
              </a:rPr>
              <a:t>Properties of the demand function</a:t>
            </a:r>
            <a:endParaRPr lang="en-GB" sz="4000" b="1" i="1" dirty="0">
              <a:solidFill>
                <a:schemeClr val="accent5">
                  <a:lumMod val="50000"/>
                </a:schemeClr>
              </a:solidFill>
            </a:endParaRPr>
          </a:p>
        </p:txBody>
      </p:sp>
    </p:spTree>
    <p:extLst>
      <p:ext uri="{BB962C8B-B14F-4D97-AF65-F5344CB8AC3E}">
        <p14:creationId xmlns:p14="http://schemas.microsoft.com/office/powerpoint/2010/main" val="602917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E4A56-43B1-5BB4-EA5D-715EDB440571}"/>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F7EC48C6-ABB3-ACB1-5837-E49486667C32}"/>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b="1" i="1" dirty="0">
                <a:solidFill>
                  <a:schemeClr val="accent5">
                    <a:lumMod val="50000"/>
                  </a:schemeClr>
                </a:solidFill>
              </a:rPr>
              <a:t>Play with the model</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9DC22A25-0260-CC79-2659-76248B5D9713}"/>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D9147A22-A2FE-2BFD-27E7-2177B17CB849}"/>
              </a:ext>
            </a:extLst>
          </p:cNvPr>
          <p:cNvSpPr/>
          <p:nvPr/>
        </p:nvSpPr>
        <p:spPr>
          <a:xfrm>
            <a:off x="359207" y="1329140"/>
            <a:ext cx="11206980" cy="5262979"/>
          </a:xfrm>
          <a:prstGeom prst="rect">
            <a:avLst/>
          </a:prstGeom>
        </p:spPr>
        <p:txBody>
          <a:bodyPr wrap="square">
            <a:spAutoFit/>
          </a:bodyPr>
          <a:lstStyle/>
          <a:p>
            <a:pPr lvl="0" algn="just">
              <a:defRPr/>
            </a:pPr>
            <a:r>
              <a:rPr lang="en-US" sz="2800" dirty="0">
                <a:solidFill>
                  <a:srgbClr val="4BACC6">
                    <a:lumMod val="50000"/>
                  </a:srgbClr>
                </a:solidFill>
              </a:rPr>
              <a:t>Traditional textbook </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microeconomic theory provides a foundational understanding of the mechanisms that influence demand and outlines the general properties of demand functions. </a:t>
            </a:r>
            <a:r>
              <a:rPr lang="en-US" sz="2800" dirty="0">
                <a:solidFill>
                  <a:srgbClr val="4BACC6">
                    <a:lumMod val="50000"/>
                  </a:srgbClr>
                </a:solidFill>
              </a:rPr>
              <a:t>Orthodox </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theory emphasize </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internal validity</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 but their </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external validity</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 is often questioned. While numerous studies have been based on this framework, many are now considered somewhat outdated. Exploring these studies can offer valuable insights into the history of economic thought.</a:t>
            </a:r>
          </a:p>
          <a:p>
            <a:pPr lvl="0" algn="just">
              <a:defRPr/>
            </a:pPr>
            <a:endPar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In the following section, I will discuss potential extensions of the theory that facilitate integration with empirical research, moving beyond the traditional Arrow-Debreu framework. We will begin by examining </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Becker's random demand hypothesis</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a:t>
            </a:r>
          </a:p>
        </p:txBody>
      </p:sp>
    </p:spTree>
    <p:extLst>
      <p:ext uri="{BB962C8B-B14F-4D97-AF65-F5344CB8AC3E}">
        <p14:creationId xmlns:p14="http://schemas.microsoft.com/office/powerpoint/2010/main" val="448645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37166-0928-6869-DDB5-DC5D92C94EF5}"/>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6CA365AE-D3B6-2D83-C809-8127BB057410}"/>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Becker's hypothesis of random demand</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8C2A0666-9E80-F1A5-A655-8B4ED56D2EEF}"/>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C6E0409C-C127-E624-113D-395F41FF3776}"/>
              </a:ext>
            </a:extLst>
          </p:cNvPr>
          <p:cNvSpPr/>
          <p:nvPr/>
        </p:nvSpPr>
        <p:spPr>
          <a:xfrm>
            <a:off x="359207" y="1416330"/>
            <a:ext cx="11206980" cy="5109091"/>
          </a:xfrm>
          <a:prstGeom prst="rect">
            <a:avLst/>
          </a:prstGeom>
        </p:spPr>
        <p:txBody>
          <a:bodyPr wrap="square">
            <a:spAutoFit/>
          </a:bodyPr>
          <a:lstStyle/>
          <a:p>
            <a:pPr lvl="0" algn="just">
              <a:defRPr/>
            </a:pP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In his 1962 paper, Gary Becker introduced a model of random consumer behavior to examine the implications of non-rational decision-making on market demand. He proposed that if consumers </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select goods randomly, subject to their budget constraints</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 the </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aggregate market demand </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could still exhibit properties similar to those predicted by traditional rational choice theory. Specifically, Becker demonstrated that even with random individual choices, the market demand curve could remain downward-sloping, indicating that total demand decreases as prices increase. This insight suggests that certain market behaviors traditionally attributed to rational decision-making might also emerge from random consumer actions. </a:t>
            </a:r>
            <a:endParaRPr kumimoji="0" lang="pl-PL" sz="28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endParaRPr kumimoji="0" lang="pl-PL" sz="28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lang="pl-PL" dirty="0">
                <a:solidFill>
                  <a:srgbClr val="4BACC6">
                    <a:lumMod val="50000"/>
                  </a:srgbClr>
                </a:solidFill>
                <a:latin typeface="Calibri"/>
              </a:rPr>
              <a:t>[https://eprints.lse.ac.uk/27001/1/random_behaviour_%28LSERO%29.pdf]</a:t>
            </a:r>
            <a:endPar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323247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BB0B9-7EF0-E5F9-CB16-507CFD0F1532}"/>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1215EDD4-B0EA-9508-3610-951DD415A20F}"/>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Becker's hypothesis of random demand</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A5A33197-ACFE-931A-24C8-36FE9E30DBC1}"/>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2" name="Picture 1">
            <a:extLst>
              <a:ext uri="{FF2B5EF4-FFF2-40B4-BE49-F238E27FC236}">
                <a16:creationId xmlns:a16="http://schemas.microsoft.com/office/drawing/2014/main" id="{5A664194-FEF9-8731-64EB-3AF7D33912AF}"/>
              </a:ext>
            </a:extLst>
          </p:cNvPr>
          <p:cNvPicPr>
            <a:picLocks noChangeAspect="1"/>
          </p:cNvPicPr>
          <p:nvPr/>
        </p:nvPicPr>
        <p:blipFill>
          <a:blip r:embed="rId2"/>
          <a:stretch>
            <a:fillRect/>
          </a:stretch>
        </p:blipFill>
        <p:spPr>
          <a:xfrm>
            <a:off x="782536" y="2326660"/>
            <a:ext cx="10152760" cy="2204680"/>
          </a:xfrm>
          <a:prstGeom prst="rect">
            <a:avLst/>
          </a:prstGeom>
        </p:spPr>
      </p:pic>
    </p:spTree>
    <p:extLst>
      <p:ext uri="{BB962C8B-B14F-4D97-AF65-F5344CB8AC3E}">
        <p14:creationId xmlns:p14="http://schemas.microsoft.com/office/powerpoint/2010/main" val="273036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0" y="0"/>
            <a:ext cx="12192000" cy="1099744"/>
          </a:xfrm>
          <a:solidFill>
            <a:schemeClr val="accent5">
              <a:lumMod val="20000"/>
              <a:lumOff val="80000"/>
            </a:schemeClr>
          </a:solidFill>
        </p:spPr>
        <p:txBody>
          <a:bodyPr>
            <a:normAutofit fontScale="90000"/>
          </a:bodyPr>
          <a:lstStyle/>
          <a:p>
            <a:r>
              <a:rPr lang="en-US" sz="3600" b="1" dirty="0">
                <a:solidFill>
                  <a:schemeClr val="accent5">
                    <a:lumMod val="50000"/>
                  </a:schemeClr>
                </a:solidFill>
              </a:rPr>
              <a:t>Preparing simulation – </a:t>
            </a:r>
            <a:r>
              <a:rPr lang="pl-PL" sz="3600" b="1" dirty="0">
                <a:solidFill>
                  <a:schemeClr val="accent5">
                    <a:lumMod val="50000"/>
                  </a:schemeClr>
                </a:solidFill>
              </a:rPr>
              <a:t>ZI-C Zero </a:t>
            </a:r>
            <a:r>
              <a:rPr lang="pl-PL" sz="3600" b="1" dirty="0" err="1">
                <a:solidFill>
                  <a:schemeClr val="accent5">
                    <a:lumMod val="50000"/>
                  </a:schemeClr>
                </a:solidFill>
              </a:rPr>
              <a:t>inteligents</a:t>
            </a:r>
            <a:r>
              <a:rPr lang="pl-PL" sz="3600" b="1" dirty="0">
                <a:solidFill>
                  <a:schemeClr val="accent5">
                    <a:lumMod val="50000"/>
                  </a:schemeClr>
                </a:solidFill>
              </a:rPr>
              <a:t> </a:t>
            </a:r>
            <a:r>
              <a:rPr lang="pl-PL" sz="3600" b="1" dirty="0" err="1">
                <a:solidFill>
                  <a:schemeClr val="accent5">
                    <a:lumMod val="50000"/>
                  </a:schemeClr>
                </a:solidFill>
              </a:rPr>
              <a:t>agents</a:t>
            </a:r>
            <a:r>
              <a:rPr lang="pl-PL" sz="3600" b="1" dirty="0">
                <a:solidFill>
                  <a:schemeClr val="accent5">
                    <a:lumMod val="50000"/>
                  </a:schemeClr>
                </a:solidFill>
              </a:rPr>
              <a:t>  with </a:t>
            </a:r>
            <a:r>
              <a:rPr lang="pl-PL" sz="3600" b="1" dirty="0" err="1">
                <a:solidFill>
                  <a:schemeClr val="accent5">
                    <a:lumMod val="50000"/>
                  </a:schemeClr>
                </a:solidFill>
              </a:rPr>
              <a:t>constrain</a:t>
            </a:r>
            <a:r>
              <a:rPr lang="pl-PL" sz="3600" b="1" dirty="0">
                <a:solidFill>
                  <a:schemeClr val="accent5">
                    <a:lumMod val="50000"/>
                  </a:schemeClr>
                </a:solidFill>
              </a:rPr>
              <a:t> </a:t>
            </a:r>
            <a:endParaRPr lang="en-US" sz="3600" b="1" dirty="0">
              <a:solidFill>
                <a:schemeClr val="accent5">
                  <a:lumMod val="50000"/>
                </a:schemeClr>
              </a:solidFill>
            </a:endParaRPr>
          </a:p>
        </p:txBody>
      </p:sp>
      <p:sp>
        <p:nvSpPr>
          <p:cNvPr id="4" name="TextBox 3">
            <a:extLst>
              <a:ext uri="{FF2B5EF4-FFF2-40B4-BE49-F238E27FC236}">
                <a16:creationId xmlns:a16="http://schemas.microsoft.com/office/drawing/2014/main" id="{E4151507-27CB-B485-8E6F-357990C17645}"/>
              </a:ext>
            </a:extLst>
          </p:cNvPr>
          <p:cNvSpPr txBox="1"/>
          <p:nvPr/>
        </p:nvSpPr>
        <p:spPr>
          <a:xfrm>
            <a:off x="8999746" y="802774"/>
            <a:ext cx="3141332" cy="59093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l-PL" sz="700" dirty="0">
                <a:solidFill>
                  <a:schemeClr val="accent5">
                    <a:lumMod val="50000"/>
                  </a:schemeClr>
                </a:solidFill>
              </a:rPr>
              <a:t>#R</a:t>
            </a:r>
          </a:p>
          <a:p>
            <a:r>
              <a:rPr lang="en-US" sz="700" dirty="0">
                <a:solidFill>
                  <a:schemeClr val="accent5">
                    <a:lumMod val="50000"/>
                  </a:schemeClr>
                </a:solidFill>
              </a:rPr>
              <a:t># Set initial parameters</a:t>
            </a:r>
          </a:p>
          <a:p>
            <a:r>
              <a:rPr lang="en-US" sz="700" dirty="0">
                <a:solidFill>
                  <a:schemeClr val="accent5">
                    <a:lumMod val="50000"/>
                  </a:schemeClr>
                </a:solidFill>
              </a:rPr>
              <a:t>N &lt;- 1000        # Number of agents</a:t>
            </a:r>
          </a:p>
          <a:p>
            <a:r>
              <a:rPr lang="en-US" sz="700" dirty="0">
                <a:solidFill>
                  <a:schemeClr val="accent5">
                    <a:lumMod val="50000"/>
                  </a:schemeClr>
                </a:solidFill>
              </a:rPr>
              <a:t>M &lt;- 100         # Budget for each agent</a:t>
            </a:r>
          </a:p>
          <a:p>
            <a:r>
              <a:rPr lang="en-US" sz="700" dirty="0">
                <a:solidFill>
                  <a:schemeClr val="accent5">
                    <a:lumMod val="50000"/>
                  </a:schemeClr>
                </a:solidFill>
              </a:rPr>
              <a:t>iterations &lt;- 100  # Number of iterations for the simulation</a:t>
            </a:r>
          </a:p>
          <a:p>
            <a:r>
              <a:rPr lang="en-US" sz="700" dirty="0" err="1">
                <a:solidFill>
                  <a:schemeClr val="accent5">
                    <a:lumMod val="50000"/>
                  </a:schemeClr>
                </a:solidFill>
              </a:rPr>
              <a:t>price_range</a:t>
            </a:r>
            <a:r>
              <a:rPr lang="en-US" sz="700" dirty="0">
                <a:solidFill>
                  <a:schemeClr val="accent5">
                    <a:lumMod val="50000"/>
                  </a:schemeClr>
                </a:solidFill>
              </a:rPr>
              <a:t> &lt;- c(0.5, 2)  # Range for prices p1 and p2</a:t>
            </a:r>
          </a:p>
          <a:p>
            <a:endParaRPr lang="en-US" sz="700" dirty="0">
              <a:solidFill>
                <a:schemeClr val="accent5">
                  <a:lumMod val="50000"/>
                </a:schemeClr>
              </a:solidFill>
            </a:endParaRPr>
          </a:p>
          <a:p>
            <a:r>
              <a:rPr lang="en-US" sz="700" dirty="0">
                <a:solidFill>
                  <a:schemeClr val="accent5">
                    <a:lumMod val="50000"/>
                  </a:schemeClr>
                </a:solidFill>
              </a:rPr>
              <a:t># Vectors to store results</a:t>
            </a:r>
          </a:p>
          <a:p>
            <a:r>
              <a:rPr lang="en-US" sz="700" dirty="0">
                <a:solidFill>
                  <a:schemeClr val="accent5">
                    <a:lumMod val="50000"/>
                  </a:schemeClr>
                </a:solidFill>
              </a:rPr>
              <a:t>aggregate_demand_x1 &lt;- numeric(iterations)</a:t>
            </a:r>
          </a:p>
          <a:p>
            <a:r>
              <a:rPr lang="en-US" sz="700" dirty="0">
                <a:solidFill>
                  <a:schemeClr val="accent5">
                    <a:lumMod val="50000"/>
                  </a:schemeClr>
                </a:solidFill>
              </a:rPr>
              <a:t>aggregate_demand_x2 &lt;- numeric(iterations)</a:t>
            </a:r>
          </a:p>
          <a:p>
            <a:r>
              <a:rPr lang="en-US" sz="700" dirty="0">
                <a:solidFill>
                  <a:schemeClr val="accent5">
                    <a:lumMod val="50000"/>
                  </a:schemeClr>
                </a:solidFill>
              </a:rPr>
              <a:t>p1_values &lt;- numeric(iterations)</a:t>
            </a:r>
          </a:p>
          <a:p>
            <a:r>
              <a:rPr lang="en-US" sz="700" dirty="0">
                <a:solidFill>
                  <a:schemeClr val="accent5">
                    <a:lumMod val="50000"/>
                  </a:schemeClr>
                </a:solidFill>
              </a:rPr>
              <a:t>p2_values &lt;- numeric(iterations)</a:t>
            </a:r>
          </a:p>
          <a:p>
            <a:endParaRPr lang="en-US" sz="700" dirty="0">
              <a:solidFill>
                <a:schemeClr val="accent5">
                  <a:lumMod val="50000"/>
                </a:schemeClr>
              </a:solidFill>
            </a:endParaRPr>
          </a:p>
          <a:p>
            <a:r>
              <a:rPr lang="en-US" sz="700" dirty="0">
                <a:solidFill>
                  <a:schemeClr val="accent5">
                    <a:lumMod val="50000"/>
                  </a:schemeClr>
                </a:solidFill>
              </a:rPr>
              <a:t># Function to generate random choices within budget constraint</a:t>
            </a:r>
          </a:p>
          <a:p>
            <a:r>
              <a:rPr lang="en-US" sz="700" dirty="0" err="1">
                <a:solidFill>
                  <a:schemeClr val="accent5">
                    <a:lumMod val="50000"/>
                  </a:schemeClr>
                </a:solidFill>
              </a:rPr>
              <a:t>generate_choices</a:t>
            </a:r>
            <a:r>
              <a:rPr lang="en-US" sz="700" dirty="0">
                <a:solidFill>
                  <a:schemeClr val="accent5">
                    <a:lumMod val="50000"/>
                  </a:schemeClr>
                </a:solidFill>
              </a:rPr>
              <a:t> &lt;- function(p1, p2, M) {</a:t>
            </a:r>
          </a:p>
          <a:p>
            <a:r>
              <a:rPr lang="en-US" sz="700" dirty="0">
                <a:solidFill>
                  <a:schemeClr val="accent5">
                    <a:lumMod val="50000"/>
                  </a:schemeClr>
                </a:solidFill>
              </a:rPr>
              <a:t>  # Randomly select quantity of x1 within feasible range</a:t>
            </a:r>
          </a:p>
          <a:p>
            <a:r>
              <a:rPr lang="en-US" sz="700" dirty="0">
                <a:solidFill>
                  <a:schemeClr val="accent5">
                    <a:lumMod val="50000"/>
                  </a:schemeClr>
                </a:solidFill>
              </a:rPr>
              <a:t>  x1 &lt;- </a:t>
            </a:r>
            <a:r>
              <a:rPr lang="en-US" sz="700" dirty="0" err="1">
                <a:solidFill>
                  <a:schemeClr val="accent5">
                    <a:lumMod val="50000"/>
                  </a:schemeClr>
                </a:solidFill>
              </a:rPr>
              <a:t>runif</a:t>
            </a:r>
            <a:r>
              <a:rPr lang="en-US" sz="700" dirty="0">
                <a:solidFill>
                  <a:schemeClr val="accent5">
                    <a:lumMod val="50000"/>
                  </a:schemeClr>
                </a:solidFill>
              </a:rPr>
              <a:t>(1, 0, M / p1)</a:t>
            </a:r>
          </a:p>
          <a:p>
            <a:r>
              <a:rPr lang="en-US" sz="700" dirty="0">
                <a:solidFill>
                  <a:schemeClr val="accent5">
                    <a:lumMod val="50000"/>
                  </a:schemeClr>
                </a:solidFill>
              </a:rPr>
              <a:t>  # Calculate corresponding quantity of x2 to satisfy budget constraint</a:t>
            </a:r>
          </a:p>
          <a:p>
            <a:r>
              <a:rPr lang="en-US" sz="700" dirty="0">
                <a:solidFill>
                  <a:schemeClr val="accent5">
                    <a:lumMod val="50000"/>
                  </a:schemeClr>
                </a:solidFill>
              </a:rPr>
              <a:t>  x2 &lt;- (M - p1 * x1) / p2</a:t>
            </a:r>
          </a:p>
          <a:p>
            <a:r>
              <a:rPr lang="en-US" sz="700" dirty="0">
                <a:solidFill>
                  <a:schemeClr val="accent5">
                    <a:lumMod val="50000"/>
                  </a:schemeClr>
                </a:solidFill>
              </a:rPr>
              <a:t>  return(c(x1, x2))</a:t>
            </a:r>
          </a:p>
          <a:p>
            <a:r>
              <a:rPr lang="en-US" sz="700" dirty="0">
                <a:solidFill>
                  <a:schemeClr val="accent5">
                    <a:lumMod val="50000"/>
                  </a:schemeClr>
                </a:solidFill>
              </a:rPr>
              <a:t>}</a:t>
            </a:r>
          </a:p>
          <a:p>
            <a:endParaRPr lang="en-US" sz="700" dirty="0">
              <a:solidFill>
                <a:schemeClr val="accent5">
                  <a:lumMod val="50000"/>
                </a:schemeClr>
              </a:solidFill>
            </a:endParaRPr>
          </a:p>
          <a:p>
            <a:r>
              <a:rPr lang="en-US" sz="700" dirty="0">
                <a:solidFill>
                  <a:schemeClr val="accent5">
                    <a:lumMod val="50000"/>
                  </a:schemeClr>
                </a:solidFill>
              </a:rPr>
              <a:t># Simulation loop over specified number of iterations</a:t>
            </a:r>
          </a:p>
          <a:p>
            <a:r>
              <a:rPr lang="en-US" sz="700" dirty="0">
                <a:solidFill>
                  <a:schemeClr val="accent5">
                    <a:lumMod val="50000"/>
                  </a:schemeClr>
                </a:solidFill>
              </a:rPr>
              <a:t>for (</a:t>
            </a:r>
            <a:r>
              <a:rPr lang="en-US" sz="700" dirty="0" err="1">
                <a:solidFill>
                  <a:schemeClr val="accent5">
                    <a:lumMod val="50000"/>
                  </a:schemeClr>
                </a:solidFill>
              </a:rPr>
              <a:t>i</a:t>
            </a:r>
            <a:r>
              <a:rPr lang="en-US" sz="700" dirty="0">
                <a:solidFill>
                  <a:schemeClr val="accent5">
                    <a:lumMod val="50000"/>
                  </a:schemeClr>
                </a:solidFill>
              </a:rPr>
              <a:t> in 1:iterations) {</a:t>
            </a:r>
          </a:p>
          <a:p>
            <a:r>
              <a:rPr lang="en-US" sz="700" dirty="0">
                <a:solidFill>
                  <a:schemeClr val="accent5">
                    <a:lumMod val="50000"/>
                  </a:schemeClr>
                </a:solidFill>
              </a:rPr>
              <a:t>  # Randomly select prices p1 and p2 within the specified range</a:t>
            </a:r>
          </a:p>
          <a:p>
            <a:r>
              <a:rPr lang="en-US" sz="700" dirty="0">
                <a:solidFill>
                  <a:schemeClr val="accent5">
                    <a:lumMod val="50000"/>
                  </a:schemeClr>
                </a:solidFill>
              </a:rPr>
              <a:t>  p1 &lt;- </a:t>
            </a:r>
            <a:r>
              <a:rPr lang="en-US" sz="700" dirty="0" err="1">
                <a:solidFill>
                  <a:schemeClr val="accent5">
                    <a:lumMod val="50000"/>
                  </a:schemeClr>
                </a:solidFill>
              </a:rPr>
              <a:t>runif</a:t>
            </a:r>
            <a:r>
              <a:rPr lang="en-US" sz="700" dirty="0">
                <a:solidFill>
                  <a:schemeClr val="accent5">
                    <a:lumMod val="50000"/>
                  </a:schemeClr>
                </a:solidFill>
              </a:rPr>
              <a:t>(1, </a:t>
            </a:r>
            <a:r>
              <a:rPr lang="en-US" sz="700" dirty="0" err="1">
                <a:solidFill>
                  <a:schemeClr val="accent5">
                    <a:lumMod val="50000"/>
                  </a:schemeClr>
                </a:solidFill>
              </a:rPr>
              <a:t>price_range</a:t>
            </a:r>
            <a:r>
              <a:rPr lang="en-US" sz="700" dirty="0">
                <a:solidFill>
                  <a:schemeClr val="accent5">
                    <a:lumMod val="50000"/>
                  </a:schemeClr>
                </a:solidFill>
              </a:rPr>
              <a:t>[1], </a:t>
            </a:r>
            <a:r>
              <a:rPr lang="en-US" sz="700" dirty="0" err="1">
                <a:solidFill>
                  <a:schemeClr val="accent5">
                    <a:lumMod val="50000"/>
                  </a:schemeClr>
                </a:solidFill>
              </a:rPr>
              <a:t>price_range</a:t>
            </a:r>
            <a:r>
              <a:rPr lang="en-US" sz="700" dirty="0">
                <a:solidFill>
                  <a:schemeClr val="accent5">
                    <a:lumMod val="50000"/>
                  </a:schemeClr>
                </a:solidFill>
              </a:rPr>
              <a:t>[2])</a:t>
            </a:r>
          </a:p>
          <a:p>
            <a:r>
              <a:rPr lang="en-US" sz="700" dirty="0">
                <a:solidFill>
                  <a:schemeClr val="accent5">
                    <a:lumMod val="50000"/>
                  </a:schemeClr>
                </a:solidFill>
              </a:rPr>
              <a:t>  p2 &lt;- </a:t>
            </a:r>
            <a:r>
              <a:rPr lang="en-US" sz="700" dirty="0" err="1">
                <a:solidFill>
                  <a:schemeClr val="accent5">
                    <a:lumMod val="50000"/>
                  </a:schemeClr>
                </a:solidFill>
              </a:rPr>
              <a:t>runif</a:t>
            </a:r>
            <a:r>
              <a:rPr lang="en-US" sz="700" dirty="0">
                <a:solidFill>
                  <a:schemeClr val="accent5">
                    <a:lumMod val="50000"/>
                  </a:schemeClr>
                </a:solidFill>
              </a:rPr>
              <a:t>(1, </a:t>
            </a:r>
            <a:r>
              <a:rPr lang="en-US" sz="700" dirty="0" err="1">
                <a:solidFill>
                  <a:schemeClr val="accent5">
                    <a:lumMod val="50000"/>
                  </a:schemeClr>
                </a:solidFill>
              </a:rPr>
              <a:t>price_range</a:t>
            </a:r>
            <a:r>
              <a:rPr lang="en-US" sz="700" dirty="0">
                <a:solidFill>
                  <a:schemeClr val="accent5">
                    <a:lumMod val="50000"/>
                  </a:schemeClr>
                </a:solidFill>
              </a:rPr>
              <a:t>[1], </a:t>
            </a:r>
            <a:r>
              <a:rPr lang="en-US" sz="700" dirty="0" err="1">
                <a:solidFill>
                  <a:schemeClr val="accent5">
                    <a:lumMod val="50000"/>
                  </a:schemeClr>
                </a:solidFill>
              </a:rPr>
              <a:t>price_range</a:t>
            </a:r>
            <a:r>
              <a:rPr lang="en-US" sz="700" dirty="0">
                <a:solidFill>
                  <a:schemeClr val="accent5">
                    <a:lumMod val="50000"/>
                  </a:schemeClr>
                </a:solidFill>
              </a:rPr>
              <a:t>[2])</a:t>
            </a:r>
          </a:p>
          <a:p>
            <a:r>
              <a:rPr lang="en-US" sz="700" dirty="0">
                <a:solidFill>
                  <a:schemeClr val="accent5">
                    <a:lumMod val="50000"/>
                  </a:schemeClr>
                </a:solidFill>
              </a:rPr>
              <a:t>  </a:t>
            </a:r>
          </a:p>
          <a:p>
            <a:r>
              <a:rPr lang="en-US" sz="700" dirty="0">
                <a:solidFill>
                  <a:schemeClr val="accent5">
                    <a:lumMod val="50000"/>
                  </a:schemeClr>
                </a:solidFill>
              </a:rPr>
              <a:t>  # Store the selected prices</a:t>
            </a:r>
          </a:p>
          <a:p>
            <a:r>
              <a:rPr lang="en-US" sz="700" dirty="0">
                <a:solidFill>
                  <a:schemeClr val="accent5">
                    <a:lumMod val="50000"/>
                  </a:schemeClr>
                </a:solidFill>
              </a:rPr>
              <a:t>  p1_values[</a:t>
            </a:r>
            <a:r>
              <a:rPr lang="en-US" sz="700" dirty="0" err="1">
                <a:solidFill>
                  <a:schemeClr val="accent5">
                    <a:lumMod val="50000"/>
                  </a:schemeClr>
                </a:solidFill>
              </a:rPr>
              <a:t>i</a:t>
            </a:r>
            <a:r>
              <a:rPr lang="en-US" sz="700" dirty="0">
                <a:solidFill>
                  <a:schemeClr val="accent5">
                    <a:lumMod val="50000"/>
                  </a:schemeClr>
                </a:solidFill>
              </a:rPr>
              <a:t>] &lt;- p1</a:t>
            </a:r>
          </a:p>
          <a:p>
            <a:r>
              <a:rPr lang="en-US" sz="700" dirty="0">
                <a:solidFill>
                  <a:schemeClr val="accent5">
                    <a:lumMod val="50000"/>
                  </a:schemeClr>
                </a:solidFill>
              </a:rPr>
              <a:t>  p2_values[</a:t>
            </a:r>
            <a:r>
              <a:rPr lang="en-US" sz="700" dirty="0" err="1">
                <a:solidFill>
                  <a:schemeClr val="accent5">
                    <a:lumMod val="50000"/>
                  </a:schemeClr>
                </a:solidFill>
              </a:rPr>
              <a:t>i</a:t>
            </a:r>
            <a:r>
              <a:rPr lang="en-US" sz="700" dirty="0">
                <a:solidFill>
                  <a:schemeClr val="accent5">
                    <a:lumMod val="50000"/>
                  </a:schemeClr>
                </a:solidFill>
              </a:rPr>
              <a:t>] &lt;- p2</a:t>
            </a:r>
          </a:p>
          <a:p>
            <a:r>
              <a:rPr lang="en-US" sz="700" dirty="0">
                <a:solidFill>
                  <a:schemeClr val="accent5">
                    <a:lumMod val="50000"/>
                  </a:schemeClr>
                </a:solidFill>
              </a:rPr>
              <a:t>  </a:t>
            </a:r>
          </a:p>
          <a:p>
            <a:r>
              <a:rPr lang="en-US" sz="700" dirty="0">
                <a:solidFill>
                  <a:schemeClr val="accent5">
                    <a:lumMod val="50000"/>
                  </a:schemeClr>
                </a:solidFill>
              </a:rPr>
              <a:t>  total_x1 &lt;- 0</a:t>
            </a:r>
          </a:p>
          <a:p>
            <a:r>
              <a:rPr lang="en-US" sz="700" dirty="0">
                <a:solidFill>
                  <a:schemeClr val="accent5">
                    <a:lumMod val="50000"/>
                  </a:schemeClr>
                </a:solidFill>
              </a:rPr>
              <a:t>  total_x2 &lt;- 0</a:t>
            </a:r>
          </a:p>
          <a:p>
            <a:r>
              <a:rPr lang="en-US" sz="700" dirty="0">
                <a:solidFill>
                  <a:schemeClr val="accent5">
                    <a:lumMod val="50000"/>
                  </a:schemeClr>
                </a:solidFill>
              </a:rPr>
              <a:t>  # Each agent makes a random choice</a:t>
            </a:r>
          </a:p>
          <a:p>
            <a:r>
              <a:rPr lang="en-US" sz="700" dirty="0">
                <a:solidFill>
                  <a:schemeClr val="accent5">
                    <a:lumMod val="50000"/>
                  </a:schemeClr>
                </a:solidFill>
              </a:rPr>
              <a:t>  for (j in 1:N) {</a:t>
            </a:r>
          </a:p>
          <a:p>
            <a:r>
              <a:rPr lang="en-US" sz="700" dirty="0">
                <a:solidFill>
                  <a:schemeClr val="accent5">
                    <a:lumMod val="50000"/>
                  </a:schemeClr>
                </a:solidFill>
              </a:rPr>
              <a:t>    choices &lt;- </a:t>
            </a:r>
            <a:r>
              <a:rPr lang="en-US" sz="700" dirty="0" err="1">
                <a:solidFill>
                  <a:schemeClr val="accent5">
                    <a:lumMod val="50000"/>
                  </a:schemeClr>
                </a:solidFill>
              </a:rPr>
              <a:t>generate_choices</a:t>
            </a:r>
            <a:r>
              <a:rPr lang="en-US" sz="700" dirty="0">
                <a:solidFill>
                  <a:schemeClr val="accent5">
                    <a:lumMod val="50000"/>
                  </a:schemeClr>
                </a:solidFill>
              </a:rPr>
              <a:t>(p1, p2, M)</a:t>
            </a:r>
          </a:p>
          <a:p>
            <a:r>
              <a:rPr lang="en-US" sz="700" dirty="0">
                <a:solidFill>
                  <a:schemeClr val="accent5">
                    <a:lumMod val="50000"/>
                  </a:schemeClr>
                </a:solidFill>
              </a:rPr>
              <a:t>    total_x1 &lt;- total_x1 + choices[1]</a:t>
            </a:r>
          </a:p>
          <a:p>
            <a:r>
              <a:rPr lang="en-US" sz="700" dirty="0">
                <a:solidFill>
                  <a:schemeClr val="accent5">
                    <a:lumMod val="50000"/>
                  </a:schemeClr>
                </a:solidFill>
              </a:rPr>
              <a:t>    total_x2 &lt;- total_x2 + choices[2]</a:t>
            </a:r>
          </a:p>
          <a:p>
            <a:r>
              <a:rPr lang="en-US" sz="700" dirty="0">
                <a:solidFill>
                  <a:schemeClr val="accent5">
                    <a:lumMod val="50000"/>
                  </a:schemeClr>
                </a:solidFill>
              </a:rPr>
              <a:t>  }</a:t>
            </a:r>
          </a:p>
          <a:p>
            <a:r>
              <a:rPr lang="en-US" sz="700" dirty="0">
                <a:solidFill>
                  <a:schemeClr val="accent5">
                    <a:lumMod val="50000"/>
                  </a:schemeClr>
                </a:solidFill>
              </a:rPr>
              <a:t>  # Store aggregate demand for current prices</a:t>
            </a:r>
          </a:p>
          <a:p>
            <a:r>
              <a:rPr lang="en-US" sz="700" dirty="0">
                <a:solidFill>
                  <a:schemeClr val="accent5">
                    <a:lumMod val="50000"/>
                  </a:schemeClr>
                </a:solidFill>
              </a:rPr>
              <a:t>  aggregate_demand_x1[</a:t>
            </a:r>
            <a:r>
              <a:rPr lang="en-US" sz="700" dirty="0" err="1">
                <a:solidFill>
                  <a:schemeClr val="accent5">
                    <a:lumMod val="50000"/>
                  </a:schemeClr>
                </a:solidFill>
              </a:rPr>
              <a:t>i</a:t>
            </a:r>
            <a:r>
              <a:rPr lang="en-US" sz="700" dirty="0">
                <a:solidFill>
                  <a:schemeClr val="accent5">
                    <a:lumMod val="50000"/>
                  </a:schemeClr>
                </a:solidFill>
              </a:rPr>
              <a:t>] &lt;- total_x1</a:t>
            </a:r>
          </a:p>
          <a:p>
            <a:r>
              <a:rPr lang="en-US" sz="700" dirty="0">
                <a:solidFill>
                  <a:schemeClr val="accent5">
                    <a:lumMod val="50000"/>
                  </a:schemeClr>
                </a:solidFill>
              </a:rPr>
              <a:t>  aggregate_demand_x2[</a:t>
            </a:r>
            <a:r>
              <a:rPr lang="en-US" sz="700" dirty="0" err="1">
                <a:solidFill>
                  <a:schemeClr val="accent5">
                    <a:lumMod val="50000"/>
                  </a:schemeClr>
                </a:solidFill>
              </a:rPr>
              <a:t>i</a:t>
            </a:r>
            <a:r>
              <a:rPr lang="en-US" sz="700" dirty="0">
                <a:solidFill>
                  <a:schemeClr val="accent5">
                    <a:lumMod val="50000"/>
                  </a:schemeClr>
                </a:solidFill>
              </a:rPr>
              <a:t>] &lt;- total_x2</a:t>
            </a:r>
          </a:p>
          <a:p>
            <a:r>
              <a:rPr lang="en-US" sz="700" dirty="0">
                <a:solidFill>
                  <a:schemeClr val="accent5">
                    <a:lumMod val="50000"/>
                  </a:schemeClr>
                </a:solidFill>
              </a:rPr>
              <a:t>}</a:t>
            </a:r>
          </a:p>
          <a:p>
            <a:endParaRPr lang="en-US" sz="700" dirty="0">
              <a:solidFill>
                <a:schemeClr val="accent5">
                  <a:lumMod val="50000"/>
                </a:schemeClr>
              </a:solidFill>
            </a:endParaRPr>
          </a:p>
          <a:p>
            <a:r>
              <a:rPr lang="en-US" sz="700" dirty="0">
                <a:solidFill>
                  <a:schemeClr val="accent5">
                    <a:lumMod val="50000"/>
                  </a:schemeClr>
                </a:solidFill>
              </a:rPr>
              <a:t># Plot aggregate demand for x1 as a function of price of x1</a:t>
            </a:r>
          </a:p>
          <a:p>
            <a:r>
              <a:rPr lang="en-US" sz="700" dirty="0">
                <a:solidFill>
                  <a:schemeClr val="accent5">
                    <a:lumMod val="50000"/>
                  </a:schemeClr>
                </a:solidFill>
              </a:rPr>
              <a:t>plot(p1_values, aggregate_demand_x1, col = "blue",</a:t>
            </a:r>
          </a:p>
          <a:p>
            <a:r>
              <a:rPr lang="en-US" sz="700" dirty="0">
                <a:solidFill>
                  <a:schemeClr val="accent5">
                    <a:lumMod val="50000"/>
                  </a:schemeClr>
                </a:solidFill>
              </a:rPr>
              <a:t>     </a:t>
            </a:r>
            <a:r>
              <a:rPr lang="en-US" sz="700" dirty="0" err="1">
                <a:solidFill>
                  <a:schemeClr val="accent5">
                    <a:lumMod val="50000"/>
                  </a:schemeClr>
                </a:solidFill>
              </a:rPr>
              <a:t>xlab</a:t>
            </a:r>
            <a:r>
              <a:rPr lang="en-US" sz="700" dirty="0">
                <a:solidFill>
                  <a:schemeClr val="accent5">
                    <a:lumMod val="50000"/>
                  </a:schemeClr>
                </a:solidFill>
              </a:rPr>
              <a:t> = "Price of good x1 (p1)", </a:t>
            </a:r>
            <a:r>
              <a:rPr lang="en-US" sz="700" dirty="0" err="1">
                <a:solidFill>
                  <a:schemeClr val="accent5">
                    <a:lumMod val="50000"/>
                  </a:schemeClr>
                </a:solidFill>
              </a:rPr>
              <a:t>ylab</a:t>
            </a:r>
            <a:r>
              <a:rPr lang="en-US" sz="700" dirty="0">
                <a:solidFill>
                  <a:schemeClr val="accent5">
                    <a:lumMod val="50000"/>
                  </a:schemeClr>
                </a:solidFill>
              </a:rPr>
              <a:t> = "Aggregate demand for x1",</a:t>
            </a:r>
          </a:p>
          <a:p>
            <a:r>
              <a:rPr lang="en-US" sz="700" dirty="0">
                <a:solidFill>
                  <a:schemeClr val="accent5">
                    <a:lumMod val="50000"/>
                  </a:schemeClr>
                </a:solidFill>
              </a:rPr>
              <a:t>     main = "Aggregate Demand for x1 vs. Price of Good x1")</a:t>
            </a:r>
          </a:p>
          <a:p>
            <a:endParaRPr lang="en-US" sz="700" dirty="0">
              <a:solidFill>
                <a:schemeClr val="accent5">
                  <a:lumMod val="50000"/>
                </a:schemeClr>
              </a:solidFill>
            </a:endParaRPr>
          </a:p>
          <a:p>
            <a:r>
              <a:rPr lang="en-US" sz="700" dirty="0">
                <a:solidFill>
                  <a:schemeClr val="accent5">
                    <a:lumMod val="50000"/>
                  </a:schemeClr>
                </a:solidFill>
              </a:rPr>
              <a:t># Plot aggregate demand for x2 as a function of price of x2</a:t>
            </a:r>
          </a:p>
          <a:p>
            <a:r>
              <a:rPr lang="en-US" sz="700" dirty="0">
                <a:solidFill>
                  <a:schemeClr val="accent5">
                    <a:lumMod val="50000"/>
                  </a:schemeClr>
                </a:solidFill>
              </a:rPr>
              <a:t>plot(p2_values, aggregate_demand_x2, col = "red",</a:t>
            </a:r>
          </a:p>
          <a:p>
            <a:r>
              <a:rPr lang="en-US" sz="700" dirty="0">
                <a:solidFill>
                  <a:schemeClr val="accent5">
                    <a:lumMod val="50000"/>
                  </a:schemeClr>
                </a:solidFill>
              </a:rPr>
              <a:t>     </a:t>
            </a:r>
            <a:r>
              <a:rPr lang="en-US" sz="700" dirty="0" err="1">
                <a:solidFill>
                  <a:schemeClr val="accent5">
                    <a:lumMod val="50000"/>
                  </a:schemeClr>
                </a:solidFill>
              </a:rPr>
              <a:t>xlab</a:t>
            </a:r>
            <a:r>
              <a:rPr lang="en-US" sz="700" dirty="0">
                <a:solidFill>
                  <a:schemeClr val="accent5">
                    <a:lumMod val="50000"/>
                  </a:schemeClr>
                </a:solidFill>
              </a:rPr>
              <a:t> = "Price of good x2 (p2)", </a:t>
            </a:r>
            <a:r>
              <a:rPr lang="en-US" sz="700" dirty="0" err="1">
                <a:solidFill>
                  <a:schemeClr val="accent5">
                    <a:lumMod val="50000"/>
                  </a:schemeClr>
                </a:solidFill>
              </a:rPr>
              <a:t>ylab</a:t>
            </a:r>
            <a:r>
              <a:rPr lang="en-US" sz="700" dirty="0">
                <a:solidFill>
                  <a:schemeClr val="accent5">
                    <a:lumMod val="50000"/>
                  </a:schemeClr>
                </a:solidFill>
              </a:rPr>
              <a:t> = "Aggregate demand for x2",</a:t>
            </a:r>
          </a:p>
          <a:p>
            <a:r>
              <a:rPr lang="en-US" sz="700" dirty="0">
                <a:solidFill>
                  <a:schemeClr val="accent5">
                    <a:lumMod val="50000"/>
                  </a:schemeClr>
                </a:solidFill>
              </a:rPr>
              <a:t>     main = "Aggregate Demand for x2 vs. Price of Good x2")</a:t>
            </a:r>
            <a:endParaRPr lang="pl-PL" sz="700" dirty="0">
              <a:solidFill>
                <a:schemeClr val="accent5">
                  <a:lumMod val="50000"/>
                </a:schemeClr>
              </a:solidFill>
            </a:endParaRPr>
          </a:p>
        </p:txBody>
      </p:sp>
      <p:pic>
        <p:nvPicPr>
          <p:cNvPr id="13" name="Picture 12">
            <a:extLst>
              <a:ext uri="{FF2B5EF4-FFF2-40B4-BE49-F238E27FC236}">
                <a16:creationId xmlns:a16="http://schemas.microsoft.com/office/drawing/2014/main" id="{7404BB0A-1C93-73F9-01CE-F9F15513CA57}"/>
              </a:ext>
            </a:extLst>
          </p:cNvPr>
          <p:cNvPicPr>
            <a:picLocks noChangeAspect="1"/>
          </p:cNvPicPr>
          <p:nvPr/>
        </p:nvPicPr>
        <p:blipFill>
          <a:blip r:embed="rId2"/>
          <a:stretch>
            <a:fillRect/>
          </a:stretch>
        </p:blipFill>
        <p:spPr>
          <a:xfrm>
            <a:off x="101844" y="1099743"/>
            <a:ext cx="8846980" cy="5612341"/>
          </a:xfrm>
          <a:prstGeom prst="rect">
            <a:avLst/>
          </a:prstGeom>
        </p:spPr>
      </p:pic>
    </p:spTree>
    <p:extLst>
      <p:ext uri="{BB962C8B-B14F-4D97-AF65-F5344CB8AC3E}">
        <p14:creationId xmlns:p14="http://schemas.microsoft.com/office/powerpoint/2010/main" val="3427212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CC1D5-E560-EE80-9901-7D9BB348E87B}"/>
            </a:ext>
          </a:extLst>
        </p:cNvPr>
        <p:cNvGrpSpPr/>
        <p:nvPr/>
      </p:nvGrpSpPr>
      <p:grpSpPr>
        <a:xfrm>
          <a:off x="0" y="0"/>
          <a:ext cx="0" cy="0"/>
          <a:chOff x="0" y="0"/>
          <a:chExt cx="0" cy="0"/>
        </a:xfrm>
      </p:grpSpPr>
      <p:sp>
        <p:nvSpPr>
          <p:cNvPr id="12" name="Tytuł 1">
            <a:extLst>
              <a:ext uri="{FF2B5EF4-FFF2-40B4-BE49-F238E27FC236}">
                <a16:creationId xmlns:a16="http://schemas.microsoft.com/office/drawing/2014/main" id="{64381A5C-4538-4FC9-A191-497ED66CDF46}"/>
              </a:ext>
            </a:extLst>
          </p:cNvPr>
          <p:cNvSpPr>
            <a:spLocks noGrp="1"/>
          </p:cNvSpPr>
          <p:nvPr>
            <p:ph type="title"/>
          </p:nvPr>
        </p:nvSpPr>
        <p:spPr>
          <a:xfrm>
            <a:off x="0" y="0"/>
            <a:ext cx="12192000" cy="1099744"/>
          </a:xfrm>
          <a:solidFill>
            <a:schemeClr val="accent5">
              <a:lumMod val="20000"/>
              <a:lumOff val="80000"/>
            </a:schemeClr>
          </a:solidFill>
        </p:spPr>
        <p:txBody>
          <a:bodyPr>
            <a:normAutofit fontScale="90000"/>
          </a:bodyPr>
          <a:lstStyle/>
          <a:p>
            <a:r>
              <a:rPr lang="en-US" sz="3600" b="1" dirty="0">
                <a:solidFill>
                  <a:schemeClr val="accent5">
                    <a:lumMod val="50000"/>
                  </a:schemeClr>
                </a:solidFill>
              </a:rPr>
              <a:t>Preparing simulation –</a:t>
            </a:r>
            <a:r>
              <a:rPr lang="pl-PL" sz="3600" b="1" dirty="0">
                <a:solidFill>
                  <a:schemeClr val="accent5">
                    <a:lumMod val="50000"/>
                  </a:schemeClr>
                </a:solidFill>
              </a:rPr>
              <a:t> Zero </a:t>
            </a:r>
            <a:r>
              <a:rPr lang="pl-PL" sz="3600" b="1" dirty="0" err="1">
                <a:solidFill>
                  <a:schemeClr val="accent5">
                    <a:lumMod val="50000"/>
                  </a:schemeClr>
                </a:solidFill>
              </a:rPr>
              <a:t>inteligents</a:t>
            </a:r>
            <a:r>
              <a:rPr lang="pl-PL" sz="3600" b="1" dirty="0">
                <a:solidFill>
                  <a:schemeClr val="accent5">
                    <a:lumMod val="50000"/>
                  </a:schemeClr>
                </a:solidFill>
              </a:rPr>
              <a:t> </a:t>
            </a:r>
            <a:r>
              <a:rPr lang="pl-PL" sz="3600" b="1" dirty="0" err="1">
                <a:solidFill>
                  <a:schemeClr val="accent5">
                    <a:lumMod val="50000"/>
                  </a:schemeClr>
                </a:solidFill>
              </a:rPr>
              <a:t>agents</a:t>
            </a:r>
            <a:r>
              <a:rPr lang="pl-PL" sz="3600" b="1" dirty="0">
                <a:solidFill>
                  <a:schemeClr val="accent5">
                    <a:lumMod val="50000"/>
                  </a:schemeClr>
                </a:solidFill>
              </a:rPr>
              <a:t>  with </a:t>
            </a:r>
            <a:r>
              <a:rPr lang="pl-PL" sz="3600" b="1" dirty="0" err="1">
                <a:solidFill>
                  <a:schemeClr val="accent5">
                    <a:lumMod val="50000"/>
                  </a:schemeClr>
                </a:solidFill>
              </a:rPr>
              <a:t>constrain</a:t>
            </a:r>
            <a:r>
              <a:rPr lang="pl-PL" sz="3600" b="1" dirty="0">
                <a:solidFill>
                  <a:schemeClr val="accent5">
                    <a:lumMod val="50000"/>
                  </a:schemeClr>
                </a:solidFill>
              </a:rPr>
              <a:t> ZI-C </a:t>
            </a:r>
            <a:endParaRPr lang="en-US" sz="3600" b="1" dirty="0">
              <a:solidFill>
                <a:schemeClr val="accent5">
                  <a:lumMod val="50000"/>
                </a:schemeClr>
              </a:solidFill>
            </a:endParaRPr>
          </a:p>
        </p:txBody>
      </p:sp>
      <p:pic>
        <p:nvPicPr>
          <p:cNvPr id="3" name="Picture 2">
            <a:extLst>
              <a:ext uri="{FF2B5EF4-FFF2-40B4-BE49-F238E27FC236}">
                <a16:creationId xmlns:a16="http://schemas.microsoft.com/office/drawing/2014/main" id="{97FFD53C-96B8-3F45-A9E1-93B60F940871}"/>
              </a:ext>
            </a:extLst>
          </p:cNvPr>
          <p:cNvPicPr>
            <a:picLocks noChangeAspect="1"/>
          </p:cNvPicPr>
          <p:nvPr/>
        </p:nvPicPr>
        <p:blipFill>
          <a:blip r:embed="rId2"/>
          <a:stretch>
            <a:fillRect/>
          </a:stretch>
        </p:blipFill>
        <p:spPr>
          <a:xfrm>
            <a:off x="142363" y="1228741"/>
            <a:ext cx="9245880" cy="1524970"/>
          </a:xfrm>
          <a:prstGeom prst="rect">
            <a:avLst/>
          </a:prstGeom>
        </p:spPr>
      </p:pic>
      <p:pic>
        <p:nvPicPr>
          <p:cNvPr id="7" name="Picture 6">
            <a:extLst>
              <a:ext uri="{FF2B5EF4-FFF2-40B4-BE49-F238E27FC236}">
                <a16:creationId xmlns:a16="http://schemas.microsoft.com/office/drawing/2014/main" id="{D878F680-F785-23FE-CE65-BFB7F8E147DD}"/>
              </a:ext>
            </a:extLst>
          </p:cNvPr>
          <p:cNvPicPr>
            <a:picLocks noChangeAspect="1"/>
          </p:cNvPicPr>
          <p:nvPr/>
        </p:nvPicPr>
        <p:blipFill>
          <a:blip r:embed="rId3"/>
          <a:stretch>
            <a:fillRect/>
          </a:stretch>
        </p:blipFill>
        <p:spPr>
          <a:xfrm>
            <a:off x="1643975" y="2882708"/>
            <a:ext cx="8647180" cy="38489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17569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C0AC5-EA95-D42C-37F0-8DBC2ABDFB2B}"/>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B106A5C5-5459-9855-5DFA-9BB010412124}"/>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dirty="0">
                <a:solidFill>
                  <a:srgbClr val="4BACC6">
                    <a:lumMod val="50000"/>
                  </a:srgbClr>
                </a:solidFill>
                <a:ea typeface="+mn-ea"/>
                <a:cs typeface="+mn-cs"/>
              </a:rPr>
              <a:t>ZI-C </a:t>
            </a:r>
            <a:r>
              <a:rPr lang="pl-PL" sz="3600" dirty="0" err="1">
                <a:solidFill>
                  <a:srgbClr val="4BACC6">
                    <a:lumMod val="50000"/>
                  </a:srgbClr>
                </a:solidFill>
                <a:ea typeface="+mn-ea"/>
                <a:cs typeface="+mn-cs"/>
              </a:rPr>
              <a:t>agents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AF461E50-0E8E-5115-B8E8-EAB1B5EDA825}"/>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73E5EE0F-350D-1998-8C1E-3ACFCF928AC3}"/>
              </a:ext>
            </a:extLst>
          </p:cNvPr>
          <p:cNvSpPr txBox="1"/>
          <p:nvPr/>
        </p:nvSpPr>
        <p:spPr>
          <a:xfrm>
            <a:off x="269063" y="1455240"/>
            <a:ext cx="11267941" cy="4770537"/>
          </a:xfrm>
          <a:prstGeom prst="rect">
            <a:avLst/>
          </a:prstGeom>
          <a:noFill/>
        </p:spPr>
        <p:txBody>
          <a:bodyPr wrap="square">
            <a:spAutoFit/>
          </a:bodyPr>
          <a:lstStyle/>
          <a:p>
            <a:r>
              <a:rPr lang="en-US" sz="2800" dirty="0">
                <a:solidFill>
                  <a:schemeClr val="accent5">
                    <a:lumMod val="50000"/>
                  </a:schemeClr>
                </a:solidFill>
              </a:rPr>
              <a:t>Zero-intelligence (ZI) modeling is an approach in economics and finance that assumes market participants make decisions randomly, without strategic thinking or optimization. The main areas of application are "stress tests" of institutional arrangements, especially markets.</a:t>
            </a:r>
            <a:endParaRPr lang="pl-PL" sz="2800" dirty="0">
              <a:solidFill>
                <a:schemeClr val="accent5">
                  <a:lumMod val="50000"/>
                </a:schemeClr>
              </a:solidFill>
            </a:endParaRPr>
          </a:p>
          <a:p>
            <a:pPr lvl="1"/>
            <a:r>
              <a:rPr lang="en-US" sz="2400" b="1" dirty="0">
                <a:solidFill>
                  <a:schemeClr val="accent5">
                    <a:lumMod val="50000"/>
                  </a:schemeClr>
                </a:solidFill>
              </a:rPr>
              <a:t>Analyzing market efficiency:</a:t>
            </a:r>
            <a:r>
              <a:rPr lang="en-US" sz="2400" dirty="0">
                <a:solidFill>
                  <a:schemeClr val="accent5">
                    <a:lumMod val="50000"/>
                  </a:schemeClr>
                </a:solidFill>
              </a:rPr>
              <a:t> Studies have shown that markets with ZI agents can achieve high allocative efficiency, suggesting that market structure can compensate for the lack of rationality among participants.</a:t>
            </a:r>
          </a:p>
          <a:p>
            <a:pPr lvl="1"/>
            <a:r>
              <a:rPr lang="en-US" sz="2400" b="1" dirty="0">
                <a:solidFill>
                  <a:schemeClr val="accent5">
                    <a:lumMod val="50000"/>
                  </a:schemeClr>
                </a:solidFill>
              </a:rPr>
              <a:t>Examining the impact of market institutions:</a:t>
            </a:r>
            <a:r>
              <a:rPr lang="en-US" sz="2400" dirty="0">
                <a:solidFill>
                  <a:schemeClr val="accent5">
                    <a:lumMod val="50000"/>
                  </a:schemeClr>
                </a:solidFill>
              </a:rPr>
              <a:t> ZI models allow for assessing the extent to which market mechanisms affect outcomes, independent of the behavior of individual agents.</a:t>
            </a:r>
          </a:p>
          <a:p>
            <a:pPr lvl="1"/>
            <a:r>
              <a:rPr lang="en-US" sz="2400" b="1" dirty="0">
                <a:solidFill>
                  <a:schemeClr val="accent5">
                    <a:lumMod val="50000"/>
                  </a:schemeClr>
                </a:solidFill>
              </a:rPr>
              <a:t>Comparison with more advanced models:</a:t>
            </a:r>
            <a:r>
              <a:rPr lang="en-US" sz="2400" dirty="0">
                <a:solidFill>
                  <a:schemeClr val="accent5">
                    <a:lumMod val="50000"/>
                  </a:schemeClr>
                </a:solidFill>
              </a:rPr>
              <a:t> They serve as a benchmark for assessing how the introduction of intelligence and strategy affects market outcomes.</a:t>
            </a:r>
          </a:p>
        </p:txBody>
      </p:sp>
    </p:spTree>
    <p:extLst>
      <p:ext uri="{BB962C8B-B14F-4D97-AF65-F5344CB8AC3E}">
        <p14:creationId xmlns:p14="http://schemas.microsoft.com/office/powerpoint/2010/main" val="3330185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7CF7-71B2-77AB-C9A7-5E634C253EAE}"/>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C144481E-C437-D77C-70EC-FC402112D74B}"/>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10E28172-8D0C-2F4E-8186-253875B0C59E}"/>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879DAA2A-8E5C-5ACF-5499-E4B9FD4184FF}"/>
              </a:ext>
            </a:extLst>
          </p:cNvPr>
          <p:cNvSpPr/>
          <p:nvPr/>
        </p:nvSpPr>
        <p:spPr>
          <a:xfrm>
            <a:off x="113129" y="1241232"/>
            <a:ext cx="9464562" cy="5262979"/>
          </a:xfrm>
          <a:prstGeom prst="rect">
            <a:avLst/>
          </a:prstGeom>
        </p:spPr>
        <p:txBody>
          <a:bodyPr wrap="square">
            <a:spAutoFit/>
          </a:bodyPr>
          <a:lstStyle/>
          <a:p>
            <a:pPr lvl="0" algn="just">
              <a:defRPr/>
            </a:pP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If you're interested in anthropology and its intersection with economics, I recommend starting with The Theory of the Leisure Class by Thorstein Veblen. This classic work explores the social dynamics behind consumption and status, making it a perfect winter read. </a:t>
            </a:r>
            <a:endParaRPr kumimoji="0" lang="pl-PL" sz="28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endParaRPr lang="pl-PL" sz="2800" dirty="0">
              <a:solidFill>
                <a:srgbClr val="4BACC6">
                  <a:lumMod val="50000"/>
                </a:srgbClr>
              </a:solidFill>
              <a:latin typeface="Calibri"/>
            </a:endParaRPr>
          </a:p>
          <a:p>
            <a:pPr lvl="0" algn="just">
              <a:defRPr/>
            </a:pP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However, you might be surprised by how frequently deviations from the law of demand occur, yet go largely unaddressed in traditional microeconomic theory. Anthropologists have long noted behaviors like fashion trends, snobbery, and crowd-following, initially viewed as </a:t>
            </a: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market anomalies</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 Today, these behaviors have become core drivers of consumer behavior. </a:t>
            </a:r>
          </a:p>
        </p:txBody>
      </p:sp>
      <p:pic>
        <p:nvPicPr>
          <p:cNvPr id="3" name="Picture 2" descr="A gold toothbrush on a marble table&#10;&#10;Description automatically generated">
            <a:extLst>
              <a:ext uri="{FF2B5EF4-FFF2-40B4-BE49-F238E27FC236}">
                <a16:creationId xmlns:a16="http://schemas.microsoft.com/office/drawing/2014/main" id="{6B6E3DC6-43BF-1F1A-048E-33F61A547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4537" y="2709455"/>
            <a:ext cx="2190344" cy="2190344"/>
          </a:xfrm>
          <a:prstGeom prst="rect">
            <a:avLst/>
          </a:prstGeom>
        </p:spPr>
      </p:pic>
    </p:spTree>
    <p:extLst>
      <p:ext uri="{BB962C8B-B14F-4D97-AF65-F5344CB8AC3E}">
        <p14:creationId xmlns:p14="http://schemas.microsoft.com/office/powerpoint/2010/main" val="2864372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13235-C7DD-4B04-972D-618B52A4DE8E}"/>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09A4C5C3-1D52-B984-91CC-695B1AC05623}"/>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FB7E7BC5-59C5-8F47-77C1-C7CF22144A85}"/>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54B04EED-0473-CA56-EC0B-633C04B90558}"/>
              </a:ext>
            </a:extLst>
          </p:cNvPr>
          <p:cNvSpPr/>
          <p:nvPr/>
        </p:nvSpPr>
        <p:spPr>
          <a:xfrm>
            <a:off x="125744" y="1329140"/>
            <a:ext cx="11596086" cy="4832092"/>
          </a:xfrm>
          <a:prstGeom prst="rect">
            <a:avLst/>
          </a:prstGeom>
        </p:spPr>
        <p:txBody>
          <a:bodyPr wrap="square">
            <a:spAutoFit/>
          </a:bodyPr>
          <a:lstStyle/>
          <a:p>
            <a:pPr lvl="0" algn="just">
              <a:defRPr/>
            </a:pP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Behavioral economist Harvey </a:t>
            </a:r>
            <a:r>
              <a:rPr kumimoji="0" lang="en-US" sz="2800" i="0" u="none" strike="noStrike" kern="1200" cap="none" spc="0" normalizeH="0" baseline="0" noProof="0" dirty="0" err="1">
                <a:ln>
                  <a:noFill/>
                </a:ln>
                <a:solidFill>
                  <a:srgbClr val="4BACC6">
                    <a:lumMod val="50000"/>
                  </a:srgbClr>
                </a:solidFill>
                <a:effectLst/>
                <a:uLnTx/>
                <a:uFillTx/>
                <a:latin typeface="Calibri"/>
                <a:ea typeface="+mn-ea"/>
                <a:cs typeface="+mn-cs"/>
              </a:rPr>
              <a:t>Leibenstein</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 extended Veblen’s ideas to explain how consumer demand often contradicts the classic law of demand. He identified three main effects that illustrate this divergence:</a:t>
            </a:r>
          </a:p>
          <a:p>
            <a:pPr lvl="0" algn="just">
              <a:defRPr/>
            </a:pPr>
            <a:endPar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The Bandwagon Effect</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 This effect occurs when the demand for a product increases because others are also buying it. People often feel compelled to join in, aiming to conform with social groups they admire or to appear fashionable. This effect is now often referred to as a “network effect,” where the popularity of a product or service grows as more people use it, amplifying its appeal. Think of social media platforms—who doesn’t have a Facebook or Instagram account these days?</a:t>
            </a:r>
            <a:endParaRPr kumimoji="0" lang="pl-PL" sz="280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2245777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D055F-5DD6-AA82-26FF-7EBBB5C409C7}"/>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65E69CC9-C011-90AB-EBF8-571717FB9342}"/>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4E127773-F5F1-0138-AE19-9233BEED9A2B}"/>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1ECE3D1B-306F-E6D5-C474-EE4C6553883B}"/>
              </a:ext>
            </a:extLst>
          </p:cNvPr>
          <p:cNvSpPr/>
          <p:nvPr/>
        </p:nvSpPr>
        <p:spPr>
          <a:xfrm>
            <a:off x="135471" y="1173138"/>
            <a:ext cx="11956009" cy="5632311"/>
          </a:xfrm>
          <a:prstGeom prst="rect">
            <a:avLst/>
          </a:prstGeom>
        </p:spPr>
        <p:txBody>
          <a:bodyPr wrap="square">
            <a:spAutoFit/>
          </a:bodyPr>
          <a:lstStyle/>
          <a:p>
            <a:pPr lvl="0" algn="just">
              <a:defRPr/>
            </a:pP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The Snob Effect</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In contrast to the bandwagon effect, the snob effect describes a situation where demand decreases as a product becomes more widely consumed. Here, the motivation is to stand out, to be part of an exclusive circle, and to separate oneself from the "common herd." An example might be driving a rare or unusual car model, something that doesn’t blend into mainstream choices. For instance, who chooses a Fiat </a:t>
            </a:r>
            <a:r>
              <a:rPr kumimoji="0" lang="en-US" sz="2400" i="0" u="none" strike="noStrike" kern="1200" cap="none" spc="0" normalizeH="0" baseline="0" noProof="0" dirty="0" err="1">
                <a:ln>
                  <a:noFill/>
                </a:ln>
                <a:solidFill>
                  <a:srgbClr val="4BACC6">
                    <a:lumMod val="50000"/>
                  </a:srgbClr>
                </a:solidFill>
                <a:effectLst/>
                <a:uLnTx/>
                <a:uFillTx/>
                <a:latin typeface="Calibri"/>
                <a:ea typeface="+mn-ea"/>
                <a:cs typeface="+mn-cs"/>
              </a:rPr>
              <a:t>Multipla</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a:t>
            </a:r>
          </a:p>
          <a:p>
            <a:pPr lvl="0" algn="just">
              <a:defRPr/>
            </a:pP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The Veblen Effect</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This effect describes a form of conspicuous consumption, where the demand for certain goods increases because they have a higher price. This contradicts the law of demand, which states that demand typically decreases as price rises. The Veblen effect highlights how people use luxury goods to display social status through visible, high-cost purchases. A well-known example is the iPhone, where higher prices may even add to its appeal as a status symbol.</a:t>
            </a:r>
          </a:p>
          <a:p>
            <a:pPr lvl="0" algn="just">
              <a:defRPr/>
            </a:pP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The distinction between these effects is worth noting: while the snob </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b</a:t>
            </a:r>
            <a:r>
              <a:rPr kumimoji="0" lang="en-US" sz="2400" i="0" u="none" strike="noStrike" kern="1200" cap="none" spc="0" normalizeH="0" baseline="0" noProof="0" dirty="0" err="1">
                <a:ln>
                  <a:noFill/>
                </a:ln>
                <a:solidFill>
                  <a:srgbClr val="4BACC6">
                    <a:lumMod val="50000"/>
                  </a:srgbClr>
                </a:solidFill>
                <a:effectLst/>
                <a:uLnTx/>
                <a:uFillTx/>
                <a:latin typeface="Calibri"/>
                <a:ea typeface="+mn-ea"/>
                <a:cs typeface="+mn-cs"/>
              </a:rPr>
              <a:t>andwagon</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effect</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s</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400" i="0" u="none" strike="noStrike" kern="1200" cap="none" spc="0" normalizeH="0" baseline="0" noProof="0" dirty="0" err="1">
                <a:ln>
                  <a:noFill/>
                </a:ln>
                <a:solidFill>
                  <a:srgbClr val="4BACC6">
                    <a:lumMod val="50000"/>
                  </a:srgbClr>
                </a:solidFill>
                <a:effectLst/>
                <a:uLnTx/>
                <a:uFillTx/>
                <a:latin typeface="Calibri"/>
                <a:ea typeface="+mn-ea"/>
                <a:cs typeface="+mn-cs"/>
              </a:rPr>
              <a:t>are</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400" i="0" u="none" strike="noStrike" kern="1200" cap="none" spc="0" normalizeH="0" baseline="0" noProof="0" dirty="0" err="1">
                <a:ln>
                  <a:noFill/>
                </a:ln>
                <a:solidFill>
                  <a:srgbClr val="4BACC6">
                    <a:lumMod val="50000"/>
                  </a:srgbClr>
                </a:solidFill>
                <a:effectLst/>
                <a:uLnTx/>
                <a:uFillTx/>
                <a:latin typeface="Calibri"/>
                <a:ea typeface="+mn-ea"/>
                <a:cs typeface="+mn-cs"/>
              </a:rPr>
              <a:t>related</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to</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others' consumption behavior, the Veblen effect relates directly to the price of the product itself.</a:t>
            </a:r>
          </a:p>
        </p:txBody>
      </p:sp>
    </p:spTree>
    <p:extLst>
      <p:ext uri="{BB962C8B-B14F-4D97-AF65-F5344CB8AC3E}">
        <p14:creationId xmlns:p14="http://schemas.microsoft.com/office/powerpoint/2010/main" val="5834542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67E71-7A4E-1A3B-0DF0-3439F4AB2185}"/>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5FB564EB-B015-70F0-76D1-C96444A368E5}"/>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D0994F97-F0BE-7D2B-98F4-D25641644BA9}"/>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B08B8864-7F6B-2286-FEDE-7C596546FA6B}"/>
              </a:ext>
            </a:extLst>
          </p:cNvPr>
          <p:cNvSpPr/>
          <p:nvPr/>
        </p:nvSpPr>
        <p:spPr>
          <a:xfrm>
            <a:off x="354564" y="1173138"/>
            <a:ext cx="11122090" cy="5262979"/>
          </a:xfrm>
          <a:prstGeom prst="rect">
            <a:avLst/>
          </a:prstGeom>
        </p:spPr>
        <p:txBody>
          <a:bodyPr wrap="square">
            <a:spAutoFit/>
          </a:bodyPr>
          <a:lstStyle/>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These effects underscore that consumer behavior is complex and often shaped by social factors beyond mere utility or cost considerations. Today’s economic models, particularly in behavioral economics, increasingly recognize these deviations, yet they still challenge traditional microeconomic assumptions.</a:t>
            </a:r>
            <a:endPar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endParaRPr lang="pl-PL" sz="2400" dirty="0">
              <a:solidFill>
                <a:srgbClr val="4BACC6">
                  <a:lumMod val="50000"/>
                </a:srgbClr>
              </a:solidFill>
              <a:latin typeface="Calibri"/>
            </a:endParaRPr>
          </a:p>
          <a:p>
            <a:pPr lvl="0" algn="just">
              <a:defRPr/>
            </a:pP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T</a:t>
            </a:r>
            <a:r>
              <a:rPr kumimoji="0" lang="en-US" sz="2400" i="0" u="none" strike="noStrike" kern="1200" cap="none" spc="0" normalizeH="0" baseline="0" noProof="0" dirty="0" err="1">
                <a:ln>
                  <a:noFill/>
                </a:ln>
                <a:solidFill>
                  <a:srgbClr val="4BACC6">
                    <a:lumMod val="50000"/>
                  </a:srgbClr>
                </a:solidFill>
                <a:effectLst/>
                <a:uLnTx/>
                <a:uFillTx/>
                <a:latin typeface="Calibri"/>
                <a:ea typeface="+mn-ea"/>
                <a:cs typeface="+mn-cs"/>
              </a:rPr>
              <a:t>ranslating</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anthropological and psychological perspectives into economic modelling presents significant challenges. Evolutionary economics addresses these challenges by examining the dynamics of demand changes through the lens of social class transitions, as conceptualized by Marx and Veblen. This field often employs Agent-Based Computational Economics (ACE) models to simulate and analyze complex economic </a:t>
            </a:r>
            <a:r>
              <a:rPr kumimoji="0" lang="en-US" sz="2400" i="0" u="none" strike="noStrike" kern="1200" cap="none" spc="0" normalizeH="0" baseline="0" noProof="0" dirty="0" err="1">
                <a:ln>
                  <a:noFill/>
                </a:ln>
                <a:solidFill>
                  <a:srgbClr val="4BACC6">
                    <a:lumMod val="50000"/>
                  </a:srgbClr>
                </a:solidFill>
                <a:effectLst/>
                <a:uLnTx/>
                <a:uFillTx/>
                <a:latin typeface="Calibri"/>
                <a:ea typeface="+mn-ea"/>
                <a:cs typeface="+mn-cs"/>
              </a:rPr>
              <a:t>behaviours</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 we will discuss it later). </a:t>
            </a:r>
            <a:endPar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endParaRPr lang="pl-PL" sz="2400" dirty="0">
              <a:solidFill>
                <a:srgbClr val="4BACC6">
                  <a:lumMod val="50000"/>
                </a:srgbClr>
              </a:solidFill>
              <a:latin typeface="Calibri"/>
            </a:endParaRPr>
          </a:p>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Below is a summary of the main assumptions for modeling the demand side of the economy </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i="0" u="none" strike="noStrike" kern="1200" cap="none" spc="0" normalizeH="0" baseline="0" noProof="0" dirty="0">
                <a:ln>
                  <a:noFill/>
                </a:ln>
                <a:solidFill>
                  <a:srgbClr val="4BACC6">
                    <a:lumMod val="50000"/>
                  </a:srgbClr>
                </a:solidFill>
                <a:effectLst/>
                <a:uLnTx/>
                <a:uFillTx/>
                <a:latin typeface="Calibri"/>
                <a:ea typeface="+mn-ea"/>
                <a:cs typeface="+mn-cs"/>
              </a:rPr>
              <a:t>based on the article:</a:t>
            </a:r>
            <a:r>
              <a:rPr kumimoji="0" lang="pl-PL" i="0" u="none" strike="noStrike" kern="1200" cap="none" spc="0" normalizeH="0" baseline="0" noProof="0" dirty="0">
                <a:ln>
                  <a:noFill/>
                </a:ln>
                <a:solidFill>
                  <a:srgbClr val="4BACC6">
                    <a:lumMod val="50000"/>
                  </a:srgbClr>
                </a:solidFill>
                <a:effectLst/>
                <a:uLnTx/>
                <a:uFillTx/>
                <a:latin typeface="Calibri"/>
                <a:ea typeface="+mn-ea"/>
                <a:cs typeface="+mn-cs"/>
              </a:rPr>
              <a:t> https://link.springer.com/article/10.1007/s00191-018-0592-2</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a:t>
            </a: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1266470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52AB-A14E-BA0B-9D31-6EF15E9A1AA2}"/>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2EFBD302-5042-9828-7AEA-012AD1720178}"/>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DDAFEBC6-871A-1CB0-CB1B-7B614F6D1187}"/>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1C308BC7-E7BA-5E7A-19D0-2FE754F7F74F}"/>
              </a:ext>
            </a:extLst>
          </p:cNvPr>
          <p:cNvSpPr/>
          <p:nvPr/>
        </p:nvSpPr>
        <p:spPr>
          <a:xfrm>
            <a:off x="320297" y="1329140"/>
            <a:ext cx="11206980" cy="5262979"/>
          </a:xfrm>
          <a:prstGeom prst="rect">
            <a:avLst/>
          </a:prstGeom>
        </p:spPr>
        <p:txBody>
          <a:bodyPr wrap="square">
            <a:spAutoFit/>
          </a:bodyPr>
          <a:lstStyle/>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Veblen’s model suggests that consumer preferences are driven by </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social rank</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where property ownership equates to status. The </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leisure class demonstrates wealth </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through public consumption, while the working class </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emulates but never fully matches this display</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This concept of “social distinction” persists beyond 19th-century America, as sociologist Pierre Bourdieu showed that consumer tastes are socially mediated, contributing to class-based cultural dominance and reinforcing economic inequality.</a:t>
            </a:r>
          </a:p>
          <a:p>
            <a:pPr lvl="0" algn="just">
              <a:defRPr/>
            </a:pPr>
            <a:endParaRPr lang="pl-PL" sz="2400" dirty="0">
              <a:solidFill>
                <a:srgbClr val="4BACC6">
                  <a:lumMod val="50000"/>
                </a:srgbClr>
              </a:solidFill>
              <a:latin typeface="Calibri"/>
            </a:endParaRPr>
          </a:p>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Key behavioral effects are :</a:t>
            </a:r>
          </a:p>
          <a:p>
            <a:pPr lvl="0" algn="just">
              <a:defRPr/>
            </a:pP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342900" lvl="0" indent="-342900" algn="just">
              <a:buFont typeface="Arial" panose="020B0604020202020204" pitchFamily="34" charset="0"/>
              <a:buChar char="•"/>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Bandwagon Effect - Increased demand due to others’ consumption.</a:t>
            </a:r>
          </a:p>
          <a:p>
            <a:pPr marL="342900" lvl="0" indent="-342900" algn="just">
              <a:buFont typeface="Arial" panose="020B0604020202020204" pitchFamily="34" charset="0"/>
              <a:buChar char="•"/>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Snob Effect - Decreased demand as more people consume the product, highlighting exclusivity.</a:t>
            </a:r>
          </a:p>
          <a:p>
            <a:pPr marL="342900" lvl="0" indent="-342900" algn="just">
              <a:buFont typeface="Arial" panose="020B0604020202020204" pitchFamily="34" charset="0"/>
              <a:buChar char="•"/>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Veblen Effect - Demand increases with price, reflecting status-seeking consumption.</a:t>
            </a:r>
          </a:p>
          <a:p>
            <a:pPr lvl="0" algn="just">
              <a:defRPr/>
            </a:pP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29038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C86FE-CA82-E3C8-9D93-9937C9403560}"/>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37DF4905-D03C-0012-C7C8-60FCD1548D01}"/>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99C2C7A4-8D63-EE9E-DA84-49B3E6AC18B8}"/>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E9876229-F839-0C79-37DB-CA7E60878479}"/>
              </a:ext>
            </a:extLst>
          </p:cNvPr>
          <p:cNvSpPr/>
          <p:nvPr/>
        </p:nvSpPr>
        <p:spPr>
          <a:xfrm>
            <a:off x="155641" y="1410510"/>
            <a:ext cx="11702375" cy="4893647"/>
          </a:xfrm>
          <a:prstGeom prst="rect">
            <a:avLst/>
          </a:prstGeom>
        </p:spPr>
        <p:txBody>
          <a:bodyPr wrap="square">
            <a:spAutoFit/>
          </a:bodyPr>
          <a:lstStyle/>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The model diverges from traditional approaches by adapting dynamically to consumer needs and wants, shaped by loyalty to firms and aspirations for status. Households adjust vendor choices based on price and reputation, showing bounded rationality. Class distinctions affect these preferences, with capitalists displaying higher savings and different consumption patterns than workers. Social dynamics, like imitation and signaling through consumption, guide household choices.</a:t>
            </a:r>
          </a:p>
          <a:p>
            <a:pPr lvl="0" algn="just">
              <a:defRPr/>
            </a:pP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The analysis integrates both Marxian and Veblenian class theories, illustrating the influence of social structures on economic behaviors. While the model accounts for class mobility (e.g., workers becoming capitalists), it assumes lag in social recognition of these changes. </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T</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he model aligns with Erik Wright’s class analysis frameworks, recognizing Marxian, Weberian, and situational class power dynamics, all influencing consumer preferences in capitalist societies.</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a:t>
            </a:r>
          </a:p>
        </p:txBody>
      </p:sp>
    </p:spTree>
    <p:extLst>
      <p:ext uri="{BB962C8B-B14F-4D97-AF65-F5344CB8AC3E}">
        <p14:creationId xmlns:p14="http://schemas.microsoft.com/office/powerpoint/2010/main" val="34575652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74DC-E760-1EF1-721F-C888C6AA43A1}"/>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0C2A7779-B9CC-3FAB-4968-ADCD4DE7DC73}"/>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730A08E8-7E8B-272E-3FE1-F01638CA0585}"/>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854CFFE0-02E6-4FCB-D55F-34A5C837F3B7}"/>
              </a:ext>
            </a:extLst>
          </p:cNvPr>
          <p:cNvSpPr/>
          <p:nvPr/>
        </p:nvSpPr>
        <p:spPr>
          <a:xfrm>
            <a:off x="6941976" y="2131572"/>
            <a:ext cx="4906976" cy="3785652"/>
          </a:xfrm>
          <a:prstGeom prst="rect">
            <a:avLst/>
          </a:prstGeom>
        </p:spPr>
        <p:txBody>
          <a:bodyPr wrap="square">
            <a:spAutoFit/>
          </a:bodyPr>
          <a:lstStyle/>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The chart presents a framework for understanding consumer behavior based on social class distinctions and two main effects: </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price effects </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(horizontal axis) and </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quantity effects </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(vertical axis). It categorizes preferences into four quadrants, each representing a different class segment and its tendencies in consumption:</a:t>
            </a:r>
          </a:p>
          <a:p>
            <a:pPr lvl="0" algn="just">
              <a:defRPr/>
            </a:pPr>
            <a:endPar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pic>
        <p:nvPicPr>
          <p:cNvPr id="3" name="Picture 2" descr="A chart with different colored squares">
            <a:extLst>
              <a:ext uri="{FF2B5EF4-FFF2-40B4-BE49-F238E27FC236}">
                <a16:creationId xmlns:a16="http://schemas.microsoft.com/office/drawing/2014/main" id="{059D14C2-E3C5-2EA1-84DC-6C048D3F5B85}"/>
              </a:ext>
            </a:extLst>
          </p:cNvPr>
          <p:cNvPicPr>
            <a:picLocks noChangeAspect="1"/>
          </p:cNvPicPr>
          <p:nvPr/>
        </p:nvPicPr>
        <p:blipFill>
          <a:blip r:embed="rId2">
            <a:extLst>
              <a:ext uri="{28A0092B-C50C-407E-A947-70E740481C1C}">
                <a14:useLocalDpi xmlns:a14="http://schemas.microsoft.com/office/drawing/2010/main" val="0"/>
              </a:ext>
            </a:extLst>
          </a:blip>
          <a:srcRect l="6731" t="3937" r="12098" b="2439"/>
          <a:stretch/>
        </p:blipFill>
        <p:spPr>
          <a:xfrm>
            <a:off x="175097" y="1367072"/>
            <a:ext cx="6527260" cy="3709788"/>
          </a:xfrm>
          <a:prstGeom prst="rect">
            <a:avLst/>
          </a:prstGeom>
        </p:spPr>
      </p:pic>
    </p:spTree>
    <p:extLst>
      <p:ext uri="{BB962C8B-B14F-4D97-AF65-F5344CB8AC3E}">
        <p14:creationId xmlns:p14="http://schemas.microsoft.com/office/powerpoint/2010/main" val="3683620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7B348-6C04-27F4-A5A9-F03F6FF1F3FF}"/>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6C08463E-29D1-C7D6-0708-A92656EC0BA8}"/>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B59D8482-C099-2F3D-BFFC-84D1D3628BD1}"/>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descr="A chart with different colored squares">
            <a:extLst>
              <a:ext uri="{FF2B5EF4-FFF2-40B4-BE49-F238E27FC236}">
                <a16:creationId xmlns:a16="http://schemas.microsoft.com/office/drawing/2014/main" id="{739A4FC1-DC7A-CA6E-1639-9465E647BE15}"/>
              </a:ext>
            </a:extLst>
          </p:cNvPr>
          <p:cNvPicPr>
            <a:picLocks noChangeAspect="1"/>
          </p:cNvPicPr>
          <p:nvPr/>
        </p:nvPicPr>
        <p:blipFill>
          <a:blip r:embed="rId2">
            <a:extLst>
              <a:ext uri="{28A0092B-C50C-407E-A947-70E740481C1C}">
                <a14:useLocalDpi xmlns:a14="http://schemas.microsoft.com/office/drawing/2010/main" val="0"/>
              </a:ext>
            </a:extLst>
          </a:blip>
          <a:srcRect l="6731" t="3937" r="12098" b="2439"/>
          <a:stretch/>
        </p:blipFill>
        <p:spPr>
          <a:xfrm>
            <a:off x="4851639" y="2955433"/>
            <a:ext cx="6527260" cy="3709788"/>
          </a:xfrm>
          <a:prstGeom prst="rect">
            <a:avLst/>
          </a:prstGeom>
        </p:spPr>
      </p:pic>
      <p:pic>
        <p:nvPicPr>
          <p:cNvPr id="5" name="Picture 4">
            <a:extLst>
              <a:ext uri="{FF2B5EF4-FFF2-40B4-BE49-F238E27FC236}">
                <a16:creationId xmlns:a16="http://schemas.microsoft.com/office/drawing/2014/main" id="{6A805D2C-5DE9-5C31-BA86-461B9A1092BF}"/>
              </a:ext>
            </a:extLst>
          </p:cNvPr>
          <p:cNvPicPr>
            <a:picLocks noChangeAspect="1"/>
          </p:cNvPicPr>
          <p:nvPr/>
        </p:nvPicPr>
        <p:blipFill>
          <a:blip r:embed="rId3"/>
          <a:stretch>
            <a:fillRect/>
          </a:stretch>
        </p:blipFill>
        <p:spPr>
          <a:xfrm>
            <a:off x="419647" y="1507787"/>
            <a:ext cx="7223832" cy="1692613"/>
          </a:xfrm>
          <a:prstGeom prst="rect">
            <a:avLst/>
          </a:prstGeom>
        </p:spPr>
      </p:pic>
      <p:sp>
        <p:nvSpPr>
          <p:cNvPr id="6" name="Oval 5">
            <a:extLst>
              <a:ext uri="{FF2B5EF4-FFF2-40B4-BE49-F238E27FC236}">
                <a16:creationId xmlns:a16="http://schemas.microsoft.com/office/drawing/2014/main" id="{B5FA868D-4DE5-DC86-D8A7-46F7AFC89798}"/>
              </a:ext>
            </a:extLst>
          </p:cNvPr>
          <p:cNvSpPr/>
          <p:nvPr/>
        </p:nvSpPr>
        <p:spPr>
          <a:xfrm>
            <a:off x="6994187" y="3657600"/>
            <a:ext cx="2470826" cy="2091447"/>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dirty="0"/>
          </a:p>
        </p:txBody>
      </p:sp>
    </p:spTree>
    <p:extLst>
      <p:ext uri="{BB962C8B-B14F-4D97-AF65-F5344CB8AC3E}">
        <p14:creationId xmlns:p14="http://schemas.microsoft.com/office/powerpoint/2010/main" val="297049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7AAE1-B389-D964-7A69-4521F725253F}"/>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3B8E030A-B183-2558-D387-6AFC2B60EEFE}"/>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63F32B2D-00B6-72C1-377B-F4C60EB71216}"/>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306B9F2D-BE56-EF7C-527C-85DB85379809}"/>
              </a:ext>
            </a:extLst>
          </p:cNvPr>
          <p:cNvPicPr>
            <a:picLocks noChangeAspect="1"/>
          </p:cNvPicPr>
          <p:nvPr/>
        </p:nvPicPr>
        <p:blipFill>
          <a:blip r:embed="rId2"/>
          <a:stretch>
            <a:fillRect/>
          </a:stretch>
        </p:blipFill>
        <p:spPr>
          <a:xfrm>
            <a:off x="4283348" y="1173137"/>
            <a:ext cx="7529012" cy="1871619"/>
          </a:xfrm>
          <a:prstGeom prst="rect">
            <a:avLst/>
          </a:prstGeom>
        </p:spPr>
      </p:pic>
      <p:pic>
        <p:nvPicPr>
          <p:cNvPr id="3" name="Picture 2" descr="A chart with different colored squares">
            <a:extLst>
              <a:ext uri="{FF2B5EF4-FFF2-40B4-BE49-F238E27FC236}">
                <a16:creationId xmlns:a16="http://schemas.microsoft.com/office/drawing/2014/main" id="{34274A6B-6258-A0FE-8391-F7BBF0F73A7A}"/>
              </a:ext>
            </a:extLst>
          </p:cNvPr>
          <p:cNvPicPr>
            <a:picLocks noChangeAspect="1"/>
          </p:cNvPicPr>
          <p:nvPr/>
        </p:nvPicPr>
        <p:blipFill>
          <a:blip r:embed="rId3">
            <a:extLst>
              <a:ext uri="{28A0092B-C50C-407E-A947-70E740481C1C}">
                <a14:useLocalDpi xmlns:a14="http://schemas.microsoft.com/office/drawing/2010/main" val="0"/>
              </a:ext>
            </a:extLst>
          </a:blip>
          <a:srcRect l="6731" t="3937" r="12098" b="2439"/>
          <a:stretch/>
        </p:blipFill>
        <p:spPr>
          <a:xfrm>
            <a:off x="950066" y="2953659"/>
            <a:ext cx="6527260" cy="3709788"/>
          </a:xfrm>
          <a:prstGeom prst="rect">
            <a:avLst/>
          </a:prstGeom>
        </p:spPr>
      </p:pic>
      <p:sp>
        <p:nvSpPr>
          <p:cNvPr id="6" name="Oval 5">
            <a:extLst>
              <a:ext uri="{FF2B5EF4-FFF2-40B4-BE49-F238E27FC236}">
                <a16:creationId xmlns:a16="http://schemas.microsoft.com/office/drawing/2014/main" id="{E385417B-7777-CAE0-8B11-343E51E9350F}"/>
              </a:ext>
            </a:extLst>
          </p:cNvPr>
          <p:cNvSpPr/>
          <p:nvPr/>
        </p:nvSpPr>
        <p:spPr>
          <a:xfrm>
            <a:off x="5184843" y="3428400"/>
            <a:ext cx="2470826" cy="2091447"/>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dirty="0"/>
          </a:p>
        </p:txBody>
      </p:sp>
    </p:spTree>
    <p:extLst>
      <p:ext uri="{BB962C8B-B14F-4D97-AF65-F5344CB8AC3E}">
        <p14:creationId xmlns:p14="http://schemas.microsoft.com/office/powerpoint/2010/main" val="2217721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B3571-D8F5-FF9C-83C4-9BB06A1E627F}"/>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65F01F78-2305-FF33-527B-9741342D3311}"/>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Becker's hypothesis of random demand</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97DE39D5-1652-43F1-AAC9-AB44713C5265}"/>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descr="A chart with different colored squares">
            <a:extLst>
              <a:ext uri="{FF2B5EF4-FFF2-40B4-BE49-F238E27FC236}">
                <a16:creationId xmlns:a16="http://schemas.microsoft.com/office/drawing/2014/main" id="{75D67DD1-DEAF-9986-9F79-19EA06CDFFFD}"/>
              </a:ext>
            </a:extLst>
          </p:cNvPr>
          <p:cNvPicPr>
            <a:picLocks noChangeAspect="1"/>
          </p:cNvPicPr>
          <p:nvPr/>
        </p:nvPicPr>
        <p:blipFill>
          <a:blip r:embed="rId2">
            <a:extLst>
              <a:ext uri="{28A0092B-C50C-407E-A947-70E740481C1C}">
                <a14:useLocalDpi xmlns:a14="http://schemas.microsoft.com/office/drawing/2010/main" val="0"/>
              </a:ext>
            </a:extLst>
          </a:blip>
          <a:srcRect l="6731" t="3937" r="12098" b="2439"/>
          <a:stretch/>
        </p:blipFill>
        <p:spPr>
          <a:xfrm>
            <a:off x="473411" y="1241591"/>
            <a:ext cx="6527260" cy="3709788"/>
          </a:xfrm>
          <a:prstGeom prst="rect">
            <a:avLst/>
          </a:prstGeom>
        </p:spPr>
      </p:pic>
      <p:sp>
        <p:nvSpPr>
          <p:cNvPr id="6" name="Oval 5">
            <a:extLst>
              <a:ext uri="{FF2B5EF4-FFF2-40B4-BE49-F238E27FC236}">
                <a16:creationId xmlns:a16="http://schemas.microsoft.com/office/drawing/2014/main" id="{DFA92186-7D7E-3C7B-BD76-BBF3491E740E}"/>
              </a:ext>
            </a:extLst>
          </p:cNvPr>
          <p:cNvSpPr/>
          <p:nvPr/>
        </p:nvSpPr>
        <p:spPr>
          <a:xfrm>
            <a:off x="2632075" y="3214391"/>
            <a:ext cx="2470826" cy="2091447"/>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dirty="0"/>
          </a:p>
        </p:txBody>
      </p:sp>
      <p:pic>
        <p:nvPicPr>
          <p:cNvPr id="5" name="Picture 4">
            <a:extLst>
              <a:ext uri="{FF2B5EF4-FFF2-40B4-BE49-F238E27FC236}">
                <a16:creationId xmlns:a16="http://schemas.microsoft.com/office/drawing/2014/main" id="{E75A8F6C-9AAC-B5AC-4F09-CBC21F160C47}"/>
              </a:ext>
            </a:extLst>
          </p:cNvPr>
          <p:cNvPicPr>
            <a:picLocks noChangeAspect="1"/>
          </p:cNvPicPr>
          <p:nvPr/>
        </p:nvPicPr>
        <p:blipFill>
          <a:blip r:embed="rId3"/>
          <a:stretch>
            <a:fillRect/>
          </a:stretch>
        </p:blipFill>
        <p:spPr>
          <a:xfrm>
            <a:off x="4714697" y="5038686"/>
            <a:ext cx="6906589" cy="1600423"/>
          </a:xfrm>
          <a:prstGeom prst="rect">
            <a:avLst/>
          </a:prstGeom>
        </p:spPr>
      </p:pic>
    </p:spTree>
    <p:extLst>
      <p:ext uri="{BB962C8B-B14F-4D97-AF65-F5344CB8AC3E}">
        <p14:creationId xmlns:p14="http://schemas.microsoft.com/office/powerpoint/2010/main" val="30276369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8E90A-8FA0-CD22-40A0-AE1F578A6A5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19683C3-8838-3C02-3663-1D02C6C7A0C2}"/>
              </a:ext>
            </a:extLst>
          </p:cNvPr>
          <p:cNvPicPr>
            <a:picLocks noChangeAspect="1"/>
          </p:cNvPicPr>
          <p:nvPr/>
        </p:nvPicPr>
        <p:blipFill>
          <a:blip r:embed="rId2"/>
          <a:stretch>
            <a:fillRect/>
          </a:stretch>
        </p:blipFill>
        <p:spPr>
          <a:xfrm>
            <a:off x="3326086" y="4838552"/>
            <a:ext cx="8478415" cy="1956557"/>
          </a:xfrm>
          <a:prstGeom prst="rect">
            <a:avLst/>
          </a:prstGeom>
        </p:spPr>
      </p:pic>
      <p:sp>
        <p:nvSpPr>
          <p:cNvPr id="11" name="Tytuł 1">
            <a:extLst>
              <a:ext uri="{FF2B5EF4-FFF2-40B4-BE49-F238E27FC236}">
                <a16:creationId xmlns:a16="http://schemas.microsoft.com/office/drawing/2014/main" id="{0FC0570D-B90B-657A-DDF3-884EC3568A22}"/>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AD6E6730-2357-58D1-8A12-4D002B93A913}"/>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descr="A chart with different colored squares">
            <a:extLst>
              <a:ext uri="{FF2B5EF4-FFF2-40B4-BE49-F238E27FC236}">
                <a16:creationId xmlns:a16="http://schemas.microsoft.com/office/drawing/2014/main" id="{C5BD75C4-3FB4-4A04-BC46-C17C65428E25}"/>
              </a:ext>
            </a:extLst>
          </p:cNvPr>
          <p:cNvPicPr>
            <a:picLocks noChangeAspect="1"/>
          </p:cNvPicPr>
          <p:nvPr/>
        </p:nvPicPr>
        <p:blipFill>
          <a:blip r:embed="rId3">
            <a:extLst>
              <a:ext uri="{28A0092B-C50C-407E-A947-70E740481C1C}">
                <a14:useLocalDpi xmlns:a14="http://schemas.microsoft.com/office/drawing/2010/main" val="0"/>
              </a:ext>
            </a:extLst>
          </a:blip>
          <a:srcRect l="6731" t="3937" r="12098" b="2439"/>
          <a:stretch/>
        </p:blipFill>
        <p:spPr>
          <a:xfrm>
            <a:off x="210764" y="1128764"/>
            <a:ext cx="6527260" cy="3709788"/>
          </a:xfrm>
          <a:prstGeom prst="rect">
            <a:avLst/>
          </a:prstGeom>
        </p:spPr>
      </p:pic>
      <p:sp>
        <p:nvSpPr>
          <p:cNvPr id="6" name="Oval 5">
            <a:extLst>
              <a:ext uri="{FF2B5EF4-FFF2-40B4-BE49-F238E27FC236}">
                <a16:creationId xmlns:a16="http://schemas.microsoft.com/office/drawing/2014/main" id="{3E2832F9-16F6-584A-8E9F-34F59AC2A6CC}"/>
              </a:ext>
            </a:extLst>
          </p:cNvPr>
          <p:cNvSpPr/>
          <p:nvPr/>
        </p:nvSpPr>
        <p:spPr>
          <a:xfrm>
            <a:off x="4477963" y="2910882"/>
            <a:ext cx="2470826" cy="2091447"/>
          </a:xfrm>
          <a:prstGeom prst="ellipse">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dirty="0"/>
          </a:p>
        </p:txBody>
      </p:sp>
    </p:spTree>
    <p:extLst>
      <p:ext uri="{BB962C8B-B14F-4D97-AF65-F5344CB8AC3E}">
        <p14:creationId xmlns:p14="http://schemas.microsoft.com/office/powerpoint/2010/main" val="1596398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1939-F1DE-37BB-2EB0-7AB4E7E6AD4B}"/>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700B6892-EFC0-59DA-4DE6-F6DE9B5787E3}"/>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Veblen’s</a:t>
            </a:r>
            <a:r>
              <a:rPr lang="pl-PL" sz="3600" b="1" i="1" dirty="0">
                <a:solidFill>
                  <a:schemeClr val="accent5">
                    <a:lumMod val="50000"/>
                  </a:schemeClr>
                </a:solidFill>
              </a:rPr>
              <a:t> </a:t>
            </a:r>
            <a:r>
              <a:rPr lang="pl-PL" sz="3600" b="1" i="1" dirty="0" err="1">
                <a:solidFill>
                  <a:schemeClr val="accent5">
                    <a:lumMod val="50000"/>
                  </a:schemeClr>
                </a:solidFill>
              </a:rPr>
              <a:t>goods</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DF6E4DC7-202D-BAC6-D9B1-6F2C0EC235E1}"/>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Prostokąt 19">
            <a:extLst>
              <a:ext uri="{FF2B5EF4-FFF2-40B4-BE49-F238E27FC236}">
                <a16:creationId xmlns:a16="http://schemas.microsoft.com/office/drawing/2014/main" id="{1068DC47-59E9-FAB5-384B-A76558101288}"/>
              </a:ext>
            </a:extLst>
          </p:cNvPr>
          <p:cNvSpPr/>
          <p:nvPr/>
        </p:nvSpPr>
        <p:spPr>
          <a:xfrm>
            <a:off x="274094" y="1329140"/>
            <a:ext cx="7928042" cy="5262979"/>
          </a:xfrm>
          <a:prstGeom prst="rect">
            <a:avLst/>
          </a:prstGeom>
        </p:spPr>
        <p:txBody>
          <a:bodyPr wrap="square">
            <a:spAutoFit/>
          </a:bodyPr>
          <a:lstStyle/>
          <a:p>
            <a:pPr lvl="0" algn="just">
              <a:defRPr/>
            </a:pP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This approach is challenging to model (though not impossible) due to the chaotic nature of social change dynamics and the lack of a rationality assumption. Unfortunately, it is often stigmatized as left</a:t>
            </a:r>
            <a:r>
              <a:rPr kumimoji="0" lang="pl-PL" sz="2800" i="0" u="none" strike="noStrike" kern="1200" cap="none" spc="0" normalizeH="0" baseline="0" noProof="0" dirty="0" err="1">
                <a:ln>
                  <a:noFill/>
                </a:ln>
                <a:solidFill>
                  <a:srgbClr val="4BACC6">
                    <a:lumMod val="50000"/>
                  </a:srgbClr>
                </a:solidFill>
                <a:effectLst/>
                <a:uLnTx/>
                <a:uFillTx/>
                <a:latin typeface="Calibri"/>
                <a:ea typeface="+mn-ea"/>
                <a:cs typeface="+mn-cs"/>
              </a:rPr>
              <a:t>ies</a:t>
            </a: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a:t>
            </a:r>
          </a:p>
          <a:p>
            <a:pPr lvl="0" algn="just">
              <a:defRPr/>
            </a:pPr>
            <a:endPar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800" i="0" u="none" strike="noStrike" kern="1200" cap="none" spc="0" normalizeH="0" baseline="0" noProof="0" dirty="0">
                <a:ln>
                  <a:noFill/>
                </a:ln>
                <a:solidFill>
                  <a:srgbClr val="4BACC6">
                    <a:lumMod val="50000"/>
                  </a:srgbClr>
                </a:solidFill>
                <a:effectLst/>
                <a:uLnTx/>
                <a:uFillTx/>
                <a:latin typeface="Calibri"/>
                <a:ea typeface="+mn-ea"/>
                <a:cs typeface="+mn-cs"/>
              </a:rPr>
              <a:t>However, it’s essential to recognize that our behavior is sometimes influenced by forces we are not consciously aware of. Interestingly, even Scott Galloway, one of the most pro-capitalist economists, and marketing guru Rory Sutherland have offered life advice grounded in this perspective.</a:t>
            </a:r>
            <a:endParaRPr kumimoji="0" lang="pl-PL" sz="280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43B3CD68-6095-388C-A2FC-08AB0EE7484E}"/>
              </a:ext>
            </a:extLst>
          </p:cNvPr>
          <p:cNvSpPr txBox="1"/>
          <p:nvPr/>
        </p:nvSpPr>
        <p:spPr>
          <a:xfrm>
            <a:off x="8369743" y="3187930"/>
            <a:ext cx="3548163" cy="646331"/>
          </a:xfrm>
          <a:prstGeom prst="rect">
            <a:avLst/>
          </a:prstGeom>
          <a:noFill/>
        </p:spPr>
        <p:txBody>
          <a:bodyPr wrap="square">
            <a:spAutoFit/>
          </a:bodyPr>
          <a:lstStyle/>
          <a:p>
            <a:r>
              <a:rPr lang="pl-PL" dirty="0"/>
              <a:t>https://www.youtube.com/watch?v=qMW6xgPgY4s&amp;t=350s</a:t>
            </a:r>
          </a:p>
        </p:txBody>
      </p:sp>
      <p:sp>
        <p:nvSpPr>
          <p:cNvPr id="13" name="TextBox 12">
            <a:extLst>
              <a:ext uri="{FF2B5EF4-FFF2-40B4-BE49-F238E27FC236}">
                <a16:creationId xmlns:a16="http://schemas.microsoft.com/office/drawing/2014/main" id="{496A8A88-B40F-B48A-E76B-E4963F0664B5}"/>
              </a:ext>
            </a:extLst>
          </p:cNvPr>
          <p:cNvSpPr txBox="1"/>
          <p:nvPr/>
        </p:nvSpPr>
        <p:spPr>
          <a:xfrm>
            <a:off x="8430139" y="5970345"/>
            <a:ext cx="3391804" cy="646331"/>
          </a:xfrm>
          <a:prstGeom prst="rect">
            <a:avLst/>
          </a:prstGeom>
          <a:noFill/>
        </p:spPr>
        <p:txBody>
          <a:bodyPr wrap="square">
            <a:spAutoFit/>
          </a:bodyPr>
          <a:lstStyle/>
          <a:p>
            <a:r>
              <a:rPr lang="pl-PL" dirty="0"/>
              <a:t>https://www.youtube.com/watch?v=Hz3RWxJck68 [~ 24 min ]</a:t>
            </a:r>
          </a:p>
        </p:txBody>
      </p:sp>
      <p:pic>
        <p:nvPicPr>
          <p:cNvPr id="15" name="Picture 14">
            <a:extLst>
              <a:ext uri="{FF2B5EF4-FFF2-40B4-BE49-F238E27FC236}">
                <a16:creationId xmlns:a16="http://schemas.microsoft.com/office/drawing/2014/main" id="{1206BA98-4007-FC16-F4B1-5AEB27E07187}"/>
              </a:ext>
            </a:extLst>
          </p:cNvPr>
          <p:cNvPicPr>
            <a:picLocks noChangeAspect="1"/>
          </p:cNvPicPr>
          <p:nvPr/>
        </p:nvPicPr>
        <p:blipFill>
          <a:blip r:embed="rId2"/>
          <a:stretch>
            <a:fillRect/>
          </a:stretch>
        </p:blipFill>
        <p:spPr>
          <a:xfrm>
            <a:off x="8531156" y="4192346"/>
            <a:ext cx="2982619" cy="165670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AF1A9660-7F29-18FD-7E63-DE9817E2C970}"/>
              </a:ext>
            </a:extLst>
          </p:cNvPr>
          <p:cNvPicPr>
            <a:picLocks noChangeAspect="1"/>
          </p:cNvPicPr>
          <p:nvPr/>
        </p:nvPicPr>
        <p:blipFill>
          <a:blip r:embed="rId3"/>
          <a:stretch>
            <a:fillRect/>
          </a:stretch>
        </p:blipFill>
        <p:spPr>
          <a:xfrm>
            <a:off x="8619178" y="1344649"/>
            <a:ext cx="2894597" cy="17001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043150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0CB3-A67D-B599-26C2-17BB7B17AA67}"/>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94835734-7DA4-5E32-0F21-E69A2CCDDB4A}"/>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Random Utility Model </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85139684-6A9E-28C1-E107-5D46999574C8}"/>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F34450E0-F83E-3831-0F62-F562595FEA29}"/>
              </a:ext>
            </a:extLst>
          </p:cNvPr>
          <p:cNvPicPr>
            <a:picLocks noChangeAspect="1"/>
          </p:cNvPicPr>
          <p:nvPr/>
        </p:nvPicPr>
        <p:blipFill>
          <a:blip r:embed="rId2"/>
          <a:stretch>
            <a:fillRect/>
          </a:stretch>
        </p:blipFill>
        <p:spPr>
          <a:xfrm>
            <a:off x="165172" y="1494511"/>
            <a:ext cx="7192379" cy="4591691"/>
          </a:xfrm>
          <a:prstGeom prst="rect">
            <a:avLst/>
          </a:prstGeom>
        </p:spPr>
      </p:pic>
      <p:sp>
        <p:nvSpPr>
          <p:cNvPr id="5" name="TextBox 4">
            <a:extLst>
              <a:ext uri="{FF2B5EF4-FFF2-40B4-BE49-F238E27FC236}">
                <a16:creationId xmlns:a16="http://schemas.microsoft.com/office/drawing/2014/main" id="{F6FA1844-FCB1-0B1E-BAD6-80BF9EFB559B}"/>
              </a:ext>
            </a:extLst>
          </p:cNvPr>
          <p:cNvSpPr txBox="1"/>
          <p:nvPr/>
        </p:nvSpPr>
        <p:spPr>
          <a:xfrm>
            <a:off x="714172" y="6222909"/>
            <a:ext cx="6094378" cy="369332"/>
          </a:xfrm>
          <a:prstGeom prst="rect">
            <a:avLst/>
          </a:prstGeom>
          <a:noFill/>
        </p:spPr>
        <p:txBody>
          <a:bodyPr wrap="square">
            <a:spAutoFit/>
          </a:bodyPr>
          <a:lstStyle/>
          <a:p>
            <a:r>
              <a:rPr lang="pl-PL" dirty="0"/>
              <a:t>https://www.youtube.com/watch?v=lMNXvI8IK20</a:t>
            </a:r>
          </a:p>
        </p:txBody>
      </p:sp>
      <p:sp>
        <p:nvSpPr>
          <p:cNvPr id="2" name="Prostokąt 19">
            <a:extLst>
              <a:ext uri="{FF2B5EF4-FFF2-40B4-BE49-F238E27FC236}">
                <a16:creationId xmlns:a16="http://schemas.microsoft.com/office/drawing/2014/main" id="{582ABEF7-257D-DAD3-A3E4-19AE8C86F335}"/>
              </a:ext>
            </a:extLst>
          </p:cNvPr>
          <p:cNvSpPr/>
          <p:nvPr/>
        </p:nvSpPr>
        <p:spPr>
          <a:xfrm>
            <a:off x="7140102" y="1377419"/>
            <a:ext cx="4980562" cy="5355312"/>
          </a:xfrm>
          <a:prstGeom prst="rect">
            <a:avLst/>
          </a:prstGeom>
        </p:spPr>
        <p:txBody>
          <a:bodyPr wrap="square">
            <a:spAutoFit/>
          </a:bodyPr>
          <a:lstStyle/>
          <a:p>
            <a:pPr lvl="0" algn="just">
              <a:defRPr/>
            </a:pPr>
            <a:r>
              <a:rPr kumimoji="0" lang="en-US" i="0" u="none" strike="noStrike" kern="1200" cap="none" spc="0" normalizeH="0" baseline="0" noProof="0" dirty="0">
                <a:ln>
                  <a:noFill/>
                </a:ln>
                <a:solidFill>
                  <a:srgbClr val="4BACC6">
                    <a:lumMod val="50000"/>
                  </a:srgbClr>
                </a:solidFill>
                <a:effectLst/>
                <a:uLnTx/>
                <a:uFillTx/>
                <a:latin typeface="Calibri"/>
                <a:ea typeface="+mn-ea"/>
                <a:cs typeface="+mn-cs"/>
              </a:rPr>
              <a:t>The Random Utility Model links economic theory and research. While it keeps the assumption of rationality, it accepts that random factors influence choices. The assumption of homogeneity, however, is relaxed: consumers have unique characteristics (attributes), and products are not homogeneous; they are considered "vectors of characteristics."</a:t>
            </a:r>
          </a:p>
          <a:p>
            <a:pPr lvl="0" algn="just">
              <a:defRPr/>
            </a:pPr>
            <a:endParaRPr kumimoji="0" lang="en-US"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i="0" u="none" strike="noStrike" kern="1200" cap="none" spc="0" normalizeH="0" baseline="0" noProof="0" dirty="0">
                <a:ln>
                  <a:noFill/>
                </a:ln>
                <a:solidFill>
                  <a:srgbClr val="4BACC6">
                    <a:lumMod val="50000"/>
                  </a:srgbClr>
                </a:solidFill>
                <a:effectLst/>
                <a:uLnTx/>
                <a:uFillTx/>
                <a:latin typeface="Calibri"/>
                <a:ea typeface="+mn-ea"/>
                <a:cs typeface="+mn-cs"/>
              </a:rPr>
              <a:t>When consumers buy one product over another, they reveal their preferences in a binary choice (buy/not buy, 0-1). In the model's terms, for a person with given characteristics, the probability of purchasing a particular product (vector of characteristics) is the highest.</a:t>
            </a:r>
          </a:p>
          <a:p>
            <a:pPr lvl="0" algn="just">
              <a:defRPr/>
            </a:pPr>
            <a:endParaRPr kumimoji="0" lang="en-US"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i="0" u="none" strike="noStrike" kern="1200" cap="none" spc="0" normalizeH="0" baseline="0" noProof="0" dirty="0" err="1">
                <a:ln>
                  <a:noFill/>
                </a:ln>
                <a:solidFill>
                  <a:srgbClr val="4BACC6">
                    <a:lumMod val="50000"/>
                  </a:srgbClr>
                </a:solidFill>
                <a:effectLst/>
                <a:uLnTx/>
                <a:uFillTx/>
                <a:latin typeface="Calibri"/>
                <a:ea typeface="+mn-ea"/>
                <a:cs typeface="+mn-cs"/>
              </a:rPr>
              <a:t>Microeconometrics</a:t>
            </a:r>
            <a:r>
              <a:rPr kumimoji="0" lang="en-US" i="0" u="none" strike="noStrike" kern="1200" cap="none" spc="0" normalizeH="0" baseline="0" noProof="0" dirty="0">
                <a:ln>
                  <a:noFill/>
                </a:ln>
                <a:solidFill>
                  <a:srgbClr val="4BACC6">
                    <a:lumMod val="50000"/>
                  </a:srgbClr>
                </a:solidFill>
                <a:effectLst/>
                <a:uLnTx/>
                <a:uFillTx/>
                <a:latin typeface="Calibri"/>
                <a:ea typeface="+mn-ea"/>
                <a:cs typeface="+mn-cs"/>
              </a:rPr>
              <a:t> aims to estimate models that identify key product and consumer characteristics influencing purchasing decisions. These models are parametric.</a:t>
            </a:r>
            <a:endParaRPr kumimoji="0" lang="pl-PL"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402638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5F819-6901-F79B-9385-CAB5B4179739}"/>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485FD865-954D-29FA-85B6-BABB080B44AE}"/>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Choice Experiment</a:t>
            </a:r>
          </a:p>
        </p:txBody>
      </p:sp>
      <p:sp>
        <p:nvSpPr>
          <p:cNvPr id="4" name="AutoShape 2" descr="https://mikroekonomia.wne.uw.edu.pl/moodle/pluginfile.php/21105/course/section/1679/BBB%20settings%202.png">
            <a:extLst>
              <a:ext uri="{FF2B5EF4-FFF2-40B4-BE49-F238E27FC236}">
                <a16:creationId xmlns:a16="http://schemas.microsoft.com/office/drawing/2014/main" id="{D8D7388A-0A85-746C-A054-160746239BB5}"/>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A3D31230-D8AF-36DB-5C81-1B6FD7578FB5}"/>
              </a:ext>
            </a:extLst>
          </p:cNvPr>
          <p:cNvSpPr/>
          <p:nvPr/>
        </p:nvSpPr>
        <p:spPr>
          <a:xfrm>
            <a:off x="317669" y="1159502"/>
            <a:ext cx="11754356" cy="4893647"/>
          </a:xfrm>
          <a:prstGeom prst="rect">
            <a:avLst/>
          </a:prstGeom>
        </p:spPr>
        <p:txBody>
          <a:bodyPr wrap="square">
            <a:spAutoFit/>
          </a:bodyPr>
          <a:lstStyle/>
          <a:p>
            <a:pPr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The choice experiment is a microeconomic theory-driven approach to developing surveys to estimate consumers' WTP - </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Willingness to Pay</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The method can be used to value markets and non-market commodities [value a new flat or how much is worth a beautiful view from the window</a:t>
            </a:r>
            <a:r>
              <a:rPr lang="en-US" sz="2400" dirty="0">
                <a:solidFill>
                  <a:srgbClr val="4BACC6">
                    <a:lumMod val="50000"/>
                  </a:srgbClr>
                </a:solidFill>
              </a:rPr>
              <a:t>]. This method is helpful in studies of new products, services, or price policies where traditional market data are unavailable. </a:t>
            </a:r>
          </a:p>
          <a:p>
            <a:pPr lvl="0" algn="just">
              <a:defRPr/>
            </a:pPr>
            <a:endPar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This approach involves presenting respondents with sets of alternative options, each characterized by various attributes and levels of these attributes. Participants select their preferred option from each set, enabling researchers to:</a:t>
            </a:r>
          </a:p>
          <a:p>
            <a:pPr marL="631825" lvl="1" indent="-174625" algn="just">
              <a:buFont typeface="Arial" panose="020B0604020202020204" pitchFamily="34" charset="0"/>
              <a:buChar char="•"/>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Identify critical factors influencing consumer decisions.</a:t>
            </a:r>
          </a:p>
          <a:p>
            <a:pPr marL="631825" lvl="1" indent="-174625" algn="just">
              <a:buFont typeface="Arial" panose="020B0604020202020204" pitchFamily="34" charset="0"/>
              <a:buChar char="•"/>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Estimate the value assigned to specific characteristics of products or services.</a:t>
            </a:r>
          </a:p>
          <a:p>
            <a:pPr marL="631825" lvl="1" indent="-174625" algn="just">
              <a:buFont typeface="Arial" panose="020B0604020202020204" pitchFamily="34" charset="0"/>
              <a:buChar char="•"/>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Model market </a:t>
            </a:r>
            <a:r>
              <a:rPr kumimoji="0" lang="en-US" sz="2400" i="0" u="none" strike="noStrike" kern="1200" cap="none" spc="0" normalizeH="0" baseline="0" noProof="0" dirty="0" err="1">
                <a:ln>
                  <a:noFill/>
                </a:ln>
                <a:solidFill>
                  <a:srgbClr val="4BACC6">
                    <a:lumMod val="50000"/>
                  </a:srgbClr>
                </a:solidFill>
                <a:effectLst/>
                <a:uLnTx/>
                <a:uFillTx/>
                <a:latin typeface="Calibri"/>
                <a:ea typeface="+mn-ea"/>
                <a:cs typeface="+mn-cs"/>
              </a:rPr>
              <a:t>behaviours</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and predict responses to changes in offerings or pricing policies.</a:t>
            </a:r>
            <a:endPar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14418877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ECB6C-6004-4626-6E2F-BED04AEF4BE6}"/>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174785C5-63EF-922F-EC91-BAEE97DB62FD}"/>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en-US" sz="3600" b="1" i="1" dirty="0">
                <a:solidFill>
                  <a:schemeClr val="accent5">
                    <a:lumMod val="50000"/>
                  </a:schemeClr>
                </a:solidFill>
              </a:rPr>
              <a:t>Choice Experiment</a:t>
            </a:r>
          </a:p>
        </p:txBody>
      </p:sp>
      <p:sp>
        <p:nvSpPr>
          <p:cNvPr id="4" name="AutoShape 2" descr="https://mikroekonomia.wne.uw.edu.pl/moodle/pluginfile.php/21105/course/section/1679/BBB%20settings%202.png">
            <a:extLst>
              <a:ext uri="{FF2B5EF4-FFF2-40B4-BE49-F238E27FC236}">
                <a16:creationId xmlns:a16="http://schemas.microsoft.com/office/drawing/2014/main" id="{90E9DA60-775D-CB32-7350-F9317B7E6B04}"/>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9242DCAB-E448-0286-9122-D56CD21831AC}"/>
              </a:ext>
            </a:extLst>
          </p:cNvPr>
          <p:cNvSpPr/>
          <p:nvPr/>
        </p:nvSpPr>
        <p:spPr>
          <a:xfrm>
            <a:off x="197795" y="1329140"/>
            <a:ext cx="11796407" cy="5262979"/>
          </a:xfrm>
          <a:prstGeom prst="rect">
            <a:avLst/>
          </a:prstGeom>
        </p:spPr>
        <p:txBody>
          <a:bodyPr wrap="square">
            <a:spAutoFit/>
          </a:bodyPr>
          <a:lstStyle/>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Examples of Valuing Market and Non-Market Goods Using Choice Experiments</a:t>
            </a:r>
          </a:p>
          <a:p>
            <a:pPr lvl="0" algn="just">
              <a:defRPr/>
            </a:pP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Market Goods</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a:t>
            </a:r>
          </a:p>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Automobiles: Evaluating preferences for fuel efficiency and safety features.</a:t>
            </a:r>
          </a:p>
          <a:p>
            <a:pPr lvl="0" algn="just">
              <a:defRPr/>
            </a:pP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Smartphones: Assessing the importance of battery life and camera quality.</a:t>
            </a:r>
          </a:p>
          <a:p>
            <a:pPr lvl="0" algn="just">
              <a:defRPr/>
            </a:pP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Food Products: Determining the value placed on organic labels and local sourcing.</a:t>
            </a:r>
          </a:p>
          <a:p>
            <a:pPr lvl="0" algn="just">
              <a:defRPr/>
            </a:pP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Travel Packages: Understanding preferences for destination attributes and pricing.</a:t>
            </a:r>
          </a:p>
          <a:p>
            <a:pPr lvl="0" algn="just">
              <a:defRPr/>
            </a:pP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Non-Market Goods</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a:t>
            </a: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Environmental Conservation: Estimating willingness to pay (WTP) for preserving natural habitats.</a:t>
            </a:r>
          </a:p>
          <a:p>
            <a:pPr lvl="0" algn="just">
              <a:defRPr/>
            </a:pP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Public Health Initiatives: </a:t>
            </a:r>
            <a:r>
              <a:rPr kumimoji="0" lang="pl-PL" sz="2000" i="0" u="none" strike="noStrike" kern="1200" cap="none" spc="0" normalizeH="0" baseline="0" noProof="0" dirty="0">
                <a:ln>
                  <a:noFill/>
                </a:ln>
                <a:solidFill>
                  <a:srgbClr val="4BACC6">
                    <a:lumMod val="50000"/>
                  </a:srgbClr>
                </a:solidFill>
                <a:effectLst/>
                <a:uLnTx/>
                <a:uFillTx/>
                <a:latin typeface="Calibri"/>
                <a:ea typeface="+mn-ea"/>
                <a:cs typeface="+mn-cs"/>
              </a:rPr>
              <a:t>E</a:t>
            </a: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valuate support for vaccination and prevention programs, and </a:t>
            </a:r>
            <a:r>
              <a:rPr kumimoji="0" lang="en-US" sz="2000" b="1" i="0" u="none" strike="noStrike" kern="1200" cap="none" spc="0" normalizeH="0" baseline="0" noProof="0" dirty="0">
                <a:ln>
                  <a:noFill/>
                </a:ln>
                <a:solidFill>
                  <a:srgbClr val="4BACC6">
                    <a:lumMod val="50000"/>
                  </a:srgbClr>
                </a:solidFill>
                <a:effectLst/>
                <a:uLnTx/>
                <a:uFillTx/>
                <a:latin typeface="Calibri"/>
                <a:ea typeface="+mn-ea"/>
                <a:cs typeface="+mn-cs"/>
              </a:rPr>
              <a:t>assessing the value of human life</a:t>
            </a:r>
            <a:r>
              <a:rPr kumimoji="0" lang="pl-PL" sz="2000" b="1"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00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pl-PL" sz="2000" i="0" u="none" strike="noStrike" kern="1200" cap="none" spc="0" normalizeH="0" baseline="0" noProof="0" dirty="0" err="1">
                <a:ln>
                  <a:noFill/>
                </a:ln>
                <a:solidFill>
                  <a:srgbClr val="4BACC6">
                    <a:lumMod val="50000"/>
                  </a:srgbClr>
                </a:solidFill>
                <a:effectLst/>
                <a:uLnTx/>
                <a:uFillTx/>
                <a:latin typeface="Calibri"/>
                <a:ea typeface="+mn-ea"/>
                <a:cs typeface="+mn-cs"/>
              </a:rPr>
              <a:t>will</a:t>
            </a:r>
            <a:r>
              <a:rPr kumimoji="0" lang="pl-PL" sz="2000" i="0" u="none" strike="noStrike" kern="1200" cap="none" spc="0" normalizeH="0" baseline="0" noProof="0" dirty="0">
                <a:ln>
                  <a:noFill/>
                </a:ln>
                <a:solidFill>
                  <a:srgbClr val="4BACC6">
                    <a:lumMod val="50000"/>
                  </a:srgbClr>
                </a:solidFill>
                <a:effectLst/>
                <a:uLnTx/>
                <a:uFillTx/>
                <a:latin typeface="Calibri"/>
                <a:ea typeface="+mn-ea"/>
                <a:cs typeface="+mn-cs"/>
              </a:rPr>
              <a:t> be </a:t>
            </a:r>
            <a:r>
              <a:rPr kumimoji="0" lang="pl-PL" sz="2000" i="0" u="none" strike="noStrike" kern="1200" cap="none" spc="0" normalizeH="0" baseline="0" noProof="0" dirty="0" err="1">
                <a:ln>
                  <a:noFill/>
                </a:ln>
                <a:solidFill>
                  <a:srgbClr val="4BACC6">
                    <a:lumMod val="50000"/>
                  </a:srgbClr>
                </a:solidFill>
                <a:effectLst/>
                <a:uLnTx/>
                <a:uFillTx/>
                <a:latin typeface="Calibri"/>
                <a:ea typeface="+mn-ea"/>
                <a:cs typeface="+mn-cs"/>
              </a:rPr>
              <a:t>discused</a:t>
            </a:r>
            <a:r>
              <a:rPr kumimoji="0" lang="pl-PL" sz="200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a:t>
            </a:r>
          </a:p>
          <a:p>
            <a:pPr lvl="0" algn="just">
              <a:defRPr/>
            </a:pP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Cultural Heritage: Valuing historical sites.</a:t>
            </a:r>
          </a:p>
          <a:p>
            <a:pPr lvl="0" algn="just">
              <a:defRPr/>
            </a:pP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Urban Green Spaces: Estimating WTP for natural resources in a city, determining the value of a living tree, and assessing the importance of parks and recreational areas.</a:t>
            </a:r>
            <a:endParaRPr kumimoji="0" lang="pl-PL" sz="20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endParaRPr lang="pl-PL" sz="2000" dirty="0">
              <a:solidFill>
                <a:srgbClr val="4BACC6">
                  <a:lumMod val="50000"/>
                </a:srgbClr>
              </a:solidFill>
              <a:latin typeface="Calibri"/>
            </a:endParaRPr>
          </a:p>
          <a:p>
            <a:pPr lvl="0" algn="just">
              <a:defRPr/>
            </a:pP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Our faculty has several world-class specialists in discrete choice experiment</a:t>
            </a:r>
            <a:r>
              <a:rPr kumimoji="0" lang="pl-PL" sz="20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000" i="0" u="none" strike="noStrike" kern="1200" cap="none" spc="0" normalizeH="0" baseline="0" noProof="0" dirty="0" err="1">
                <a:ln>
                  <a:noFill/>
                </a:ln>
                <a:solidFill>
                  <a:srgbClr val="4BACC6">
                    <a:lumMod val="50000"/>
                  </a:srgbClr>
                </a:solidFill>
                <a:effectLst/>
                <a:uLnTx/>
                <a:uFillTx/>
                <a:latin typeface="Calibri"/>
                <a:ea typeface="+mn-ea"/>
                <a:cs typeface="+mn-cs"/>
              </a:rPr>
              <a:t>random</a:t>
            </a:r>
            <a:r>
              <a:rPr kumimoji="0" lang="pl-PL" sz="20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000" i="0" u="none" strike="noStrike" kern="1200" cap="none" spc="0" normalizeH="0" baseline="0" noProof="0" dirty="0" err="1">
                <a:ln>
                  <a:noFill/>
                </a:ln>
                <a:solidFill>
                  <a:srgbClr val="4BACC6">
                    <a:lumMod val="50000"/>
                  </a:srgbClr>
                </a:solidFill>
                <a:effectLst/>
                <a:uLnTx/>
                <a:uFillTx/>
                <a:latin typeface="Calibri"/>
                <a:ea typeface="+mn-ea"/>
                <a:cs typeface="+mn-cs"/>
              </a:rPr>
              <a:t>utility</a:t>
            </a:r>
            <a:r>
              <a:rPr kumimoji="0" lang="pl-PL" sz="20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methods applied to ecological valuation. Professors: Anna </a:t>
            </a:r>
            <a:r>
              <a:rPr kumimoji="0" lang="en-US" sz="2000" i="0" u="none" strike="noStrike" kern="1200" cap="none" spc="0" normalizeH="0" baseline="0" noProof="0" dirty="0" err="1">
                <a:ln>
                  <a:noFill/>
                </a:ln>
                <a:solidFill>
                  <a:srgbClr val="4BACC6">
                    <a:lumMod val="50000"/>
                  </a:srgbClr>
                </a:solidFill>
                <a:effectLst/>
                <a:uLnTx/>
                <a:uFillTx/>
                <a:latin typeface="Calibri"/>
                <a:ea typeface="+mn-ea"/>
                <a:cs typeface="+mn-cs"/>
              </a:rPr>
              <a:t>Bartczak</a:t>
            </a: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000" i="0" u="none" strike="noStrike" kern="1200" cap="none" spc="0" normalizeH="0" baseline="0" noProof="0" dirty="0" err="1">
                <a:ln>
                  <a:noFill/>
                </a:ln>
                <a:solidFill>
                  <a:srgbClr val="4BACC6">
                    <a:lumMod val="50000"/>
                  </a:srgbClr>
                </a:solidFill>
                <a:effectLst/>
                <a:uLnTx/>
                <a:uFillTx/>
                <a:latin typeface="Calibri"/>
                <a:ea typeface="+mn-ea"/>
                <a:cs typeface="+mn-cs"/>
              </a:rPr>
              <a:t>Mikołaj</a:t>
            </a: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Czajkowski, Marek </a:t>
            </a:r>
            <a:r>
              <a:rPr kumimoji="0" lang="en-US" sz="2000" i="0" u="none" strike="noStrike" kern="1200" cap="none" spc="0" normalizeH="0" baseline="0" noProof="0" dirty="0" err="1">
                <a:ln>
                  <a:noFill/>
                </a:ln>
                <a:solidFill>
                  <a:srgbClr val="4BACC6">
                    <a:lumMod val="50000"/>
                  </a:srgbClr>
                </a:solidFill>
                <a:effectLst/>
                <a:uLnTx/>
                <a:uFillTx/>
                <a:latin typeface="Calibri"/>
                <a:ea typeface="+mn-ea"/>
                <a:cs typeface="+mn-cs"/>
              </a:rPr>
              <a:t>Geiergiczny</a:t>
            </a:r>
            <a:r>
              <a:rPr kumimoji="0" lang="en-US" sz="2000" i="0" u="none" strike="noStrike" kern="1200" cap="none" spc="0" normalizeH="0" baseline="0" noProof="0" dirty="0">
                <a:ln>
                  <a:noFill/>
                </a:ln>
                <a:solidFill>
                  <a:srgbClr val="4BACC6">
                    <a:lumMod val="50000"/>
                  </a:srgbClr>
                </a:solidFill>
                <a:effectLst/>
                <a:uLnTx/>
                <a:uFillTx/>
                <a:latin typeface="Calibri"/>
                <a:ea typeface="+mn-ea"/>
                <a:cs typeface="+mn-cs"/>
              </a:rPr>
              <a:t>, ....</a:t>
            </a:r>
          </a:p>
        </p:txBody>
      </p:sp>
    </p:spTree>
    <p:extLst>
      <p:ext uri="{BB962C8B-B14F-4D97-AF65-F5344CB8AC3E}">
        <p14:creationId xmlns:p14="http://schemas.microsoft.com/office/powerpoint/2010/main" val="3094993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03718-DE49-7652-0991-F707083A11D8}"/>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A25EDDD4-F05D-71D9-B490-3905049633C3}"/>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b="1" i="1" dirty="0" err="1">
                <a:solidFill>
                  <a:schemeClr val="accent5">
                    <a:lumMod val="50000"/>
                  </a:schemeClr>
                </a:solidFill>
              </a:rPr>
              <a:t>Our</a:t>
            </a:r>
            <a:r>
              <a:rPr lang="pl-PL" sz="3600" b="1" i="1" dirty="0">
                <a:solidFill>
                  <a:schemeClr val="accent5">
                    <a:lumMod val="50000"/>
                  </a:schemeClr>
                </a:solidFill>
              </a:rPr>
              <a:t> </a:t>
            </a:r>
            <a:endParaRPr lang="en-US"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F3739924-3E4C-01B2-4B9A-2583FDEEDCF6}"/>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a:extLst>
              <a:ext uri="{FF2B5EF4-FFF2-40B4-BE49-F238E27FC236}">
                <a16:creationId xmlns:a16="http://schemas.microsoft.com/office/drawing/2014/main" id="{4868831A-9CEE-AEE2-8568-2C124EC138F4}"/>
              </a:ext>
            </a:extLst>
          </p:cNvPr>
          <p:cNvSpPr/>
          <p:nvPr/>
        </p:nvSpPr>
        <p:spPr>
          <a:xfrm>
            <a:off x="90790" y="1602116"/>
            <a:ext cx="11796407" cy="4524315"/>
          </a:xfrm>
          <a:prstGeom prst="rect">
            <a:avLst/>
          </a:prstGeom>
        </p:spPr>
        <p:txBody>
          <a:bodyPr wrap="square">
            <a:spAutoFit/>
          </a:bodyPr>
          <a:lstStyle/>
          <a:p>
            <a:pPr lvl="0" algn="just">
              <a:defRPr/>
            </a:pP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Economic models and theories provide insights into estimating demand, particularly consumer willingness to pay (WTP). As a data scientist, you may be tasked with this analysis. It's essential to understand the terminology and consider heterogeneity</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and </a:t>
            </a:r>
            <a:r>
              <a:rPr kumimoji="0" lang="pl-PL" sz="2400" i="0" u="none" strike="noStrike" kern="1200" cap="none" spc="0" normalizeH="0" baseline="0" noProof="0" dirty="0" err="1">
                <a:ln>
                  <a:noFill/>
                </a:ln>
                <a:solidFill>
                  <a:srgbClr val="4BACC6">
                    <a:lumMod val="50000"/>
                  </a:srgbClr>
                </a:solidFill>
                <a:effectLst/>
                <a:uLnTx/>
                <a:uFillTx/>
                <a:latin typeface="Calibri"/>
                <a:ea typeface="+mn-ea"/>
                <a:cs typeface="+mn-cs"/>
              </a:rPr>
              <a:t>treat</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a:t>
            </a:r>
            <a:endPar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Product as a vectors of characteristics</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View products as collections of attributes</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aligning with Random Utility and choice experiment models</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a:t>
            </a: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Consumers </a:t>
            </a:r>
            <a:r>
              <a:rPr kumimoji="0" lang="pl-PL" sz="2400" b="1" i="0" u="none" strike="noStrike" kern="1200" cap="none" spc="0" normalizeH="0" baseline="0" noProof="0" dirty="0" err="1">
                <a:ln>
                  <a:noFill/>
                </a:ln>
                <a:solidFill>
                  <a:srgbClr val="4BACC6">
                    <a:lumMod val="50000"/>
                  </a:srgbClr>
                </a:solidFill>
                <a:effectLst/>
                <a:uLnTx/>
                <a:uFillTx/>
                <a:latin typeface="Calibri"/>
                <a:ea typeface="+mn-ea"/>
                <a:cs typeface="+mn-cs"/>
              </a:rPr>
              <a:t>are</a:t>
            </a:r>
            <a:r>
              <a:rPr kumimoji="0" lang="pl-PL" sz="2400" b="1" i="0" u="none" strike="noStrike" kern="1200" cap="none" spc="0" normalizeH="0" baseline="0" noProof="0" dirty="0">
                <a:ln>
                  <a:noFill/>
                </a:ln>
                <a:solidFill>
                  <a:srgbClr val="4BACC6">
                    <a:lumMod val="50000"/>
                  </a:srgbClr>
                </a:solidFill>
                <a:effectLst/>
                <a:uLnTx/>
                <a:uFillTx/>
                <a:latin typeface="Calibri"/>
                <a:ea typeface="+mn-ea"/>
                <a:cs typeface="+mn-cs"/>
              </a:rPr>
              <a:t> not </a:t>
            </a:r>
            <a:r>
              <a:rPr kumimoji="0" lang="pl-PL" sz="2400" b="1" i="0" u="none" strike="noStrike" kern="1200" cap="none" spc="0" normalizeH="0" baseline="0" noProof="0" dirty="0" err="1">
                <a:ln>
                  <a:noFill/>
                </a:ln>
                <a:solidFill>
                  <a:srgbClr val="4BACC6">
                    <a:lumMod val="50000"/>
                  </a:srgbClr>
                </a:solidFill>
                <a:effectLst/>
                <a:uLnTx/>
                <a:uFillTx/>
                <a:latin typeface="Calibri"/>
                <a:ea typeface="+mn-ea"/>
                <a:cs typeface="+mn-cs"/>
              </a:rPr>
              <a:t>homogenius</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Recognize consumers as individuals with unique socio-economic and psychological characteristics</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as emphasized in Random Utility and choice experiment models</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a:t>
            </a:r>
            <a:endPar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endParaRPr>
          </a:p>
          <a:p>
            <a:pPr lvl="0" algn="just">
              <a:defRPr/>
            </a:pP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Environmental Influences: </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Assess how factors such as social, cultural, and class contexts impact consumption </a:t>
            </a:r>
            <a:r>
              <a:rPr kumimoji="0" lang="en-US" sz="2400" i="0" u="none" strike="noStrike" kern="1200" cap="none" spc="0" normalizeH="0" baseline="0" noProof="0" dirty="0" err="1">
                <a:ln>
                  <a:noFill/>
                </a:ln>
                <a:solidFill>
                  <a:srgbClr val="4BACC6">
                    <a:lumMod val="50000"/>
                  </a:srgbClr>
                </a:solidFill>
                <a:effectLst/>
                <a:uLnTx/>
                <a:uFillTx/>
                <a:latin typeface="Calibri"/>
                <a:ea typeface="+mn-ea"/>
                <a:cs typeface="+mn-cs"/>
              </a:rPr>
              <a:t>behawior</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 drawing from social psychology and concepts like Veblen goods</a:t>
            </a:r>
            <a:r>
              <a:rPr kumimoji="0" lang="pl-PL" sz="240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en-US" sz="2400" i="0" u="none" strike="noStrike" kern="1200" cap="none" spc="0" normalizeH="0" baseline="0" noProof="0" dirty="0">
                <a:ln>
                  <a:noFill/>
                </a:ln>
                <a:solidFill>
                  <a:srgbClr val="4BACC6">
                    <a:lumMod val="50000"/>
                  </a:srgbClr>
                </a:solidFill>
                <a:effectLst/>
                <a:uLnTx/>
                <a:uFillTx/>
                <a:latin typeface="Calibri"/>
                <a:ea typeface="+mn-ea"/>
                <a:cs typeface="+mn-cs"/>
              </a:rPr>
              <a:t>.</a:t>
            </a:r>
          </a:p>
        </p:txBody>
      </p:sp>
    </p:spTree>
    <p:extLst>
      <p:ext uri="{BB962C8B-B14F-4D97-AF65-F5344CB8AC3E}">
        <p14:creationId xmlns:p14="http://schemas.microsoft.com/office/powerpoint/2010/main" val="23218367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6CADC-C7B3-6BF2-A1F9-6A7AFBA15E70}"/>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D33144D2-5C16-B5C5-5520-00410656989D}"/>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b="1" i="1" dirty="0" err="1">
                <a:solidFill>
                  <a:schemeClr val="accent5">
                    <a:lumMod val="50000"/>
                  </a:schemeClr>
                </a:solidFill>
              </a:rPr>
              <a:t>Your</a:t>
            </a:r>
            <a:r>
              <a:rPr lang="pl-PL" sz="3600" b="1" i="1" dirty="0">
                <a:solidFill>
                  <a:schemeClr val="accent5">
                    <a:lumMod val="50000"/>
                  </a:schemeClr>
                </a:solidFill>
              </a:rPr>
              <a:t> </a:t>
            </a:r>
            <a:r>
              <a:rPr lang="pl-PL" sz="3600" b="1" i="1" dirty="0" err="1">
                <a:solidFill>
                  <a:schemeClr val="accent5">
                    <a:lumMod val="50000"/>
                  </a:schemeClr>
                </a:solidFill>
              </a:rPr>
              <a:t>goal</a:t>
            </a:r>
            <a:r>
              <a:rPr lang="pl-PL" sz="3600" b="1" i="1" dirty="0">
                <a:solidFill>
                  <a:schemeClr val="accent5">
                    <a:lumMod val="50000"/>
                  </a:schemeClr>
                </a:solidFill>
              </a:rPr>
              <a:t> as DS? </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4BF67294-8664-9605-3B82-71D8474EE311}"/>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20" name="Picture 19">
            <a:extLst>
              <a:ext uri="{FF2B5EF4-FFF2-40B4-BE49-F238E27FC236}">
                <a16:creationId xmlns:a16="http://schemas.microsoft.com/office/drawing/2014/main" id="{C215BDB7-DCBA-F6F1-1B77-DB473170D0C6}"/>
              </a:ext>
            </a:extLst>
          </p:cNvPr>
          <p:cNvPicPr>
            <a:picLocks noChangeAspect="1"/>
          </p:cNvPicPr>
          <p:nvPr/>
        </p:nvPicPr>
        <p:blipFill>
          <a:blip r:embed="rId3"/>
          <a:stretch>
            <a:fillRect/>
          </a:stretch>
        </p:blipFill>
        <p:spPr>
          <a:xfrm>
            <a:off x="6276622" y="1501422"/>
            <a:ext cx="5644092" cy="4707467"/>
          </a:xfrm>
          <a:prstGeom prst="rect">
            <a:avLst/>
          </a:prstGeom>
        </p:spPr>
      </p:pic>
      <p:sp>
        <p:nvSpPr>
          <p:cNvPr id="23" name="TextBox 22">
            <a:extLst>
              <a:ext uri="{FF2B5EF4-FFF2-40B4-BE49-F238E27FC236}">
                <a16:creationId xmlns:a16="http://schemas.microsoft.com/office/drawing/2014/main" id="{A50A6849-A0D5-0DA8-95B3-DC9539EFF0E8}"/>
              </a:ext>
            </a:extLst>
          </p:cNvPr>
          <p:cNvSpPr txBox="1"/>
          <p:nvPr/>
        </p:nvSpPr>
        <p:spPr>
          <a:xfrm>
            <a:off x="180974" y="1329140"/>
            <a:ext cx="5915026" cy="5262979"/>
          </a:xfrm>
          <a:prstGeom prst="rect">
            <a:avLst/>
          </a:prstGeom>
          <a:noFill/>
        </p:spPr>
        <p:txBody>
          <a:bodyPr wrap="square">
            <a:spAutoFit/>
          </a:bodyPr>
          <a:lstStyle/>
          <a:p>
            <a:pPr algn="just"/>
            <a:r>
              <a:rPr lang="en-US" sz="2400" dirty="0">
                <a:solidFill>
                  <a:schemeClr val="accent5">
                    <a:lumMod val="50000"/>
                  </a:schemeClr>
                </a:solidFill>
              </a:rPr>
              <a:t>Your goal will be to define demand in one of the following ways:</a:t>
            </a:r>
            <a:endParaRPr lang="pl-PL" sz="2400" dirty="0">
              <a:solidFill>
                <a:schemeClr val="accent5">
                  <a:lumMod val="50000"/>
                </a:schemeClr>
              </a:solidFill>
            </a:endParaRPr>
          </a:p>
          <a:p>
            <a:pPr algn="just"/>
            <a:endParaRPr lang="en-US" sz="2400" dirty="0">
              <a:solidFill>
                <a:schemeClr val="accent5">
                  <a:lumMod val="50000"/>
                </a:schemeClr>
              </a:solidFill>
            </a:endParaRPr>
          </a:p>
          <a:p>
            <a:pPr marL="342900" indent="-342900" algn="just">
              <a:buFont typeface="Arial" panose="020B0604020202020204" pitchFamily="34" charset="0"/>
              <a:buChar char="•"/>
            </a:pPr>
            <a:r>
              <a:rPr lang="en-US" sz="2400" dirty="0">
                <a:solidFill>
                  <a:schemeClr val="accent5">
                    <a:lumMod val="50000"/>
                  </a:schemeClr>
                </a:solidFill>
              </a:rPr>
              <a:t>Binary Choice (Bought/Didn't Buy) → Classification models</a:t>
            </a:r>
          </a:p>
          <a:p>
            <a:pPr marL="342900" indent="-342900" algn="just">
              <a:buFont typeface="Arial" panose="020B0604020202020204" pitchFamily="34" charset="0"/>
              <a:buChar char="•"/>
            </a:pPr>
            <a:r>
              <a:rPr lang="en-US" sz="2400" dirty="0">
                <a:solidFill>
                  <a:schemeClr val="accent5">
                    <a:lumMod val="50000"/>
                  </a:schemeClr>
                </a:solidFill>
              </a:rPr>
              <a:t>Willingness to Pay (WTP) and Empirical Demand Functions</a:t>
            </a:r>
          </a:p>
          <a:p>
            <a:pPr algn="just"/>
            <a:endParaRPr lang="pl-PL" sz="2400" dirty="0">
              <a:solidFill>
                <a:schemeClr val="accent5">
                  <a:lumMod val="50000"/>
                </a:schemeClr>
              </a:solidFill>
            </a:endParaRPr>
          </a:p>
          <a:p>
            <a:pPr algn="just"/>
            <a:r>
              <a:rPr lang="en-US" sz="2400" dirty="0">
                <a:solidFill>
                  <a:schemeClr val="accent5">
                    <a:lumMod val="50000"/>
                  </a:schemeClr>
                </a:solidFill>
              </a:rPr>
              <a:t>Instead of using a parametric model</a:t>
            </a:r>
            <a:r>
              <a:rPr lang="pl-PL" sz="2400" dirty="0">
                <a:solidFill>
                  <a:schemeClr val="accent5">
                    <a:lumMod val="50000"/>
                  </a:schemeClr>
                </a:solidFill>
              </a:rPr>
              <a:t> (</a:t>
            </a:r>
            <a:r>
              <a:rPr lang="pl-PL" sz="2400" dirty="0" err="1">
                <a:solidFill>
                  <a:schemeClr val="accent5">
                    <a:lumMod val="50000"/>
                  </a:schemeClr>
                </a:solidFill>
              </a:rPr>
              <a:t>econometrics</a:t>
            </a:r>
            <a:r>
              <a:rPr lang="pl-PL" sz="2400" dirty="0">
                <a:solidFill>
                  <a:schemeClr val="accent5">
                    <a:lumMod val="50000"/>
                  </a:schemeClr>
                </a:solidFill>
              </a:rPr>
              <a:t>)</a:t>
            </a:r>
            <a:r>
              <a:rPr lang="en-US" sz="2400" dirty="0">
                <a:solidFill>
                  <a:schemeClr val="accent5">
                    <a:lumMod val="50000"/>
                  </a:schemeClr>
                </a:solidFill>
              </a:rPr>
              <a:t>, you will employ uninterpreted forecasting models. However, you must remain aware of the factors that influence demand and how these factors can shape demand characteristics.</a:t>
            </a:r>
          </a:p>
        </p:txBody>
      </p:sp>
    </p:spTree>
    <p:extLst>
      <p:ext uri="{BB962C8B-B14F-4D97-AF65-F5344CB8AC3E}">
        <p14:creationId xmlns:p14="http://schemas.microsoft.com/office/powerpoint/2010/main" val="9592254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E1BFB-6114-1B2A-A517-FDF7DFC9623D}"/>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CC00EC38-BF4A-3DBB-EE96-7E77D4F865DF}"/>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b="1" i="1" dirty="0">
                <a:solidFill>
                  <a:schemeClr val="accent5">
                    <a:lumMod val="50000"/>
                  </a:schemeClr>
                </a:solidFill>
              </a:rPr>
              <a:t>My </a:t>
            </a:r>
            <a:r>
              <a:rPr lang="pl-PL" sz="3600" b="1" i="1" dirty="0" err="1">
                <a:solidFill>
                  <a:schemeClr val="accent5">
                    <a:lumMod val="50000"/>
                  </a:schemeClr>
                </a:solidFill>
              </a:rPr>
              <a:t>goal</a:t>
            </a:r>
            <a:r>
              <a:rPr lang="pl-PL" sz="3600" b="1" i="1" dirty="0">
                <a:solidFill>
                  <a:schemeClr val="accent5">
                    <a:lumMod val="50000"/>
                  </a:schemeClr>
                </a:solidFill>
              </a:rPr>
              <a:t> as DS? </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6381C0CA-B3EF-BA98-FC48-3C08178FFAD8}"/>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B1F95121-37E8-DABD-827C-68DF13CD3831}"/>
              </a:ext>
            </a:extLst>
          </p:cNvPr>
          <p:cNvSpPr txBox="1"/>
          <p:nvPr/>
        </p:nvSpPr>
        <p:spPr>
          <a:xfrm>
            <a:off x="210259" y="1329140"/>
            <a:ext cx="8658227" cy="5262979"/>
          </a:xfrm>
          <a:prstGeom prst="rect">
            <a:avLst/>
          </a:prstGeom>
          <a:noFill/>
        </p:spPr>
        <p:txBody>
          <a:bodyPr wrap="square">
            <a:spAutoFit/>
          </a:bodyPr>
          <a:lstStyle/>
          <a:p>
            <a:pPr algn="just"/>
            <a:r>
              <a:rPr lang="en-US" sz="2400" dirty="0">
                <a:solidFill>
                  <a:schemeClr val="accent5">
                    <a:lumMod val="50000"/>
                  </a:schemeClr>
                </a:solidFill>
              </a:rPr>
              <a:t>Our last experiment is a very primitive way of obtaining such information. Of course, no one gives their WTP in real life, but you will reveal it yourself through your behavior. You generate a lot of data to estimate these values.</a:t>
            </a:r>
            <a:r>
              <a:rPr lang="pl-PL" sz="2400" dirty="0">
                <a:solidFill>
                  <a:schemeClr val="accent5">
                    <a:lumMod val="50000"/>
                  </a:schemeClr>
                </a:solidFill>
              </a:rPr>
              <a:t> Be </a:t>
            </a:r>
            <a:r>
              <a:rPr lang="pl-PL" sz="2400" dirty="0" err="1">
                <a:solidFill>
                  <a:schemeClr val="accent5">
                    <a:lumMod val="50000"/>
                  </a:schemeClr>
                </a:solidFill>
              </a:rPr>
              <a:t>aware</a:t>
            </a:r>
            <a:r>
              <a:rPr lang="pl-PL" sz="2400" dirty="0">
                <a:solidFill>
                  <a:schemeClr val="accent5">
                    <a:lumMod val="50000"/>
                  </a:schemeClr>
                </a:solidFill>
              </a:rPr>
              <a:t> </a:t>
            </a:r>
            <a:r>
              <a:rPr lang="pl-PL" sz="2400" dirty="0">
                <a:solidFill>
                  <a:schemeClr val="accent5">
                    <a:lumMod val="50000"/>
                  </a:schemeClr>
                </a:solidFill>
                <a:sym typeface="Wingdings" panose="05000000000000000000" pitchFamily="2" charset="2"/>
              </a:rPr>
              <a:t> </a:t>
            </a:r>
            <a:r>
              <a:rPr lang="pl-PL" sz="2400" dirty="0">
                <a:solidFill>
                  <a:schemeClr val="accent5">
                    <a:lumMod val="50000"/>
                  </a:schemeClr>
                </a:solidFill>
              </a:rPr>
              <a:t> </a:t>
            </a:r>
          </a:p>
          <a:p>
            <a:pPr algn="just"/>
            <a:endParaRPr lang="pl-PL" sz="2400" dirty="0">
              <a:solidFill>
                <a:schemeClr val="accent5">
                  <a:lumMod val="50000"/>
                </a:schemeClr>
              </a:solidFill>
            </a:endParaRPr>
          </a:p>
          <a:p>
            <a:pPr algn="just"/>
            <a:r>
              <a:rPr lang="en-US" sz="2400" dirty="0">
                <a:solidFill>
                  <a:schemeClr val="accent5">
                    <a:lumMod val="50000"/>
                  </a:schemeClr>
                </a:solidFill>
              </a:rPr>
              <a:t>My questions were intended to determine WTP of three products </a:t>
            </a:r>
            <a:r>
              <a:rPr lang="pl-PL" sz="2400" dirty="0">
                <a:solidFill>
                  <a:schemeClr val="accent5">
                    <a:lumMod val="50000"/>
                  </a:schemeClr>
                </a:solidFill>
              </a:rPr>
              <a:t>and </a:t>
            </a:r>
            <a:r>
              <a:rPr lang="en-US" sz="2400" dirty="0">
                <a:solidFill>
                  <a:schemeClr val="accent5">
                    <a:lumMod val="50000"/>
                  </a:schemeClr>
                </a:solidFill>
              </a:rPr>
              <a:t>they gave information about your attributes: working, not working / being transported to the UW / how and what type of consumption you follow / i.e. the influence of the cultural and social environment.</a:t>
            </a:r>
          </a:p>
          <a:p>
            <a:pPr algn="just"/>
            <a:endParaRPr lang="en-US" sz="2400" dirty="0">
              <a:solidFill>
                <a:schemeClr val="accent5">
                  <a:lumMod val="50000"/>
                </a:schemeClr>
              </a:solidFill>
            </a:endParaRPr>
          </a:p>
          <a:p>
            <a:pPr algn="just"/>
            <a:r>
              <a:rPr lang="en-US" sz="2400" dirty="0">
                <a:solidFill>
                  <a:schemeClr val="accent5">
                    <a:lumMod val="50000"/>
                  </a:schemeClr>
                </a:solidFill>
              </a:rPr>
              <a:t>In December, I will use the obtained WTPs to show how companies create pricing strategies having an approximate empirical demand function. We will start with a simple price-quantity relationship.</a:t>
            </a:r>
          </a:p>
        </p:txBody>
      </p:sp>
      <p:pic>
        <p:nvPicPr>
          <p:cNvPr id="2" name="Picture 1">
            <a:extLst>
              <a:ext uri="{FF2B5EF4-FFF2-40B4-BE49-F238E27FC236}">
                <a16:creationId xmlns:a16="http://schemas.microsoft.com/office/drawing/2014/main" id="{3C76B4CA-3263-D333-0247-28313258083C}"/>
              </a:ext>
            </a:extLst>
          </p:cNvPr>
          <p:cNvPicPr>
            <a:picLocks noChangeAspect="1"/>
          </p:cNvPicPr>
          <p:nvPr/>
        </p:nvPicPr>
        <p:blipFill>
          <a:blip r:embed="rId3"/>
          <a:stretch>
            <a:fillRect/>
          </a:stretch>
        </p:blipFill>
        <p:spPr>
          <a:xfrm>
            <a:off x="9098640" y="1714141"/>
            <a:ext cx="2788208" cy="2325511"/>
          </a:xfrm>
          <a:prstGeom prst="rect">
            <a:avLst/>
          </a:prstGeom>
        </p:spPr>
      </p:pic>
      <p:pic>
        <p:nvPicPr>
          <p:cNvPr id="3" name="Picture 2" descr="A chart with different colored squares">
            <a:extLst>
              <a:ext uri="{FF2B5EF4-FFF2-40B4-BE49-F238E27FC236}">
                <a16:creationId xmlns:a16="http://schemas.microsoft.com/office/drawing/2014/main" id="{84CE14D7-324C-FBBD-28DD-884C4C80B7B9}"/>
              </a:ext>
            </a:extLst>
          </p:cNvPr>
          <p:cNvPicPr>
            <a:picLocks noChangeAspect="1"/>
          </p:cNvPicPr>
          <p:nvPr/>
        </p:nvPicPr>
        <p:blipFill>
          <a:blip r:embed="rId4">
            <a:extLst>
              <a:ext uri="{28A0092B-C50C-407E-A947-70E740481C1C}">
                <a14:useLocalDpi xmlns:a14="http://schemas.microsoft.com/office/drawing/2010/main" val="0"/>
              </a:ext>
            </a:extLst>
          </a:blip>
          <a:srcRect l="6731" t="3937" r="12098" b="2439"/>
          <a:stretch/>
        </p:blipFill>
        <p:spPr>
          <a:xfrm>
            <a:off x="9008532" y="4274677"/>
            <a:ext cx="3045663" cy="1731012"/>
          </a:xfrm>
          <a:prstGeom prst="rect">
            <a:avLst/>
          </a:prstGeom>
        </p:spPr>
      </p:pic>
    </p:spTree>
    <p:extLst>
      <p:ext uri="{BB962C8B-B14F-4D97-AF65-F5344CB8AC3E}">
        <p14:creationId xmlns:p14="http://schemas.microsoft.com/office/powerpoint/2010/main" val="31290835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57199-8FA3-3909-BAE5-9E5D027EBF55}"/>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0F3861C3-F542-106E-7BE3-A079253C7AF0}"/>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b="1" i="1" dirty="0">
                <a:solidFill>
                  <a:schemeClr val="accent5">
                    <a:lumMod val="50000"/>
                  </a:schemeClr>
                </a:solidFill>
              </a:rPr>
              <a:t>My </a:t>
            </a:r>
            <a:r>
              <a:rPr lang="pl-PL" sz="3600" b="1" i="1" dirty="0" err="1">
                <a:solidFill>
                  <a:schemeClr val="accent5">
                    <a:lumMod val="50000"/>
                  </a:schemeClr>
                </a:solidFill>
              </a:rPr>
              <a:t>goal</a:t>
            </a:r>
            <a:r>
              <a:rPr lang="pl-PL" sz="3600" b="1" i="1" dirty="0">
                <a:solidFill>
                  <a:schemeClr val="accent5">
                    <a:lumMod val="50000"/>
                  </a:schemeClr>
                </a:solidFill>
              </a:rPr>
              <a:t> as DS? </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B8CB211E-0358-5D49-2782-8F7DB471C521}"/>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12308A59-0F9E-4E7B-44E8-E14B8F76FE18}"/>
              </a:ext>
            </a:extLst>
          </p:cNvPr>
          <p:cNvPicPr>
            <a:picLocks noChangeAspect="1"/>
          </p:cNvPicPr>
          <p:nvPr/>
        </p:nvPicPr>
        <p:blipFill>
          <a:blip r:embed="rId3"/>
          <a:stretch>
            <a:fillRect/>
          </a:stretch>
        </p:blipFill>
        <p:spPr>
          <a:xfrm>
            <a:off x="3667760" y="1445357"/>
            <a:ext cx="7801815" cy="4926764"/>
          </a:xfrm>
          <a:prstGeom prst="rect">
            <a:avLst/>
          </a:prstGeom>
        </p:spPr>
      </p:pic>
      <p:sp>
        <p:nvSpPr>
          <p:cNvPr id="7" name="TextBox 6">
            <a:extLst>
              <a:ext uri="{FF2B5EF4-FFF2-40B4-BE49-F238E27FC236}">
                <a16:creationId xmlns:a16="http://schemas.microsoft.com/office/drawing/2014/main" id="{089CD771-FC80-98F5-01C0-9735B2F9977E}"/>
              </a:ext>
            </a:extLst>
          </p:cNvPr>
          <p:cNvSpPr txBox="1"/>
          <p:nvPr/>
        </p:nvSpPr>
        <p:spPr>
          <a:xfrm>
            <a:off x="150493" y="1329140"/>
            <a:ext cx="3236173" cy="4801314"/>
          </a:xfrm>
          <a:prstGeom prst="rect">
            <a:avLst/>
          </a:prstGeom>
          <a:noFill/>
        </p:spPr>
        <p:txBody>
          <a:bodyPr wrap="square">
            <a:spAutoFit/>
          </a:bodyPr>
          <a:lstStyle/>
          <a:p>
            <a:pPr algn="just"/>
            <a:r>
              <a:rPr lang="en-US" dirty="0">
                <a:solidFill>
                  <a:schemeClr val="accent5">
                    <a:lumMod val="50000"/>
                  </a:schemeClr>
                </a:solidFill>
              </a:rPr>
              <a:t>What do you think about these demand functions?</a:t>
            </a:r>
          </a:p>
          <a:p>
            <a:pPr algn="just"/>
            <a:r>
              <a:rPr lang="en-US" dirty="0">
                <a:solidFill>
                  <a:schemeClr val="accent5">
                    <a:lumMod val="50000"/>
                  </a:schemeClr>
                </a:solidFill>
              </a:rPr>
              <a:t>How will a perfectly competitive market set the price?</a:t>
            </a:r>
          </a:p>
          <a:p>
            <a:pPr algn="just"/>
            <a:r>
              <a:rPr lang="en-US" dirty="0">
                <a:solidFill>
                  <a:schemeClr val="accent5">
                    <a:lumMod val="50000"/>
                  </a:schemeClr>
                </a:solidFill>
              </a:rPr>
              <a:t>What price will a monopolist set?</a:t>
            </a:r>
          </a:p>
          <a:p>
            <a:pPr algn="just"/>
            <a:r>
              <a:rPr lang="en-US" dirty="0">
                <a:solidFill>
                  <a:schemeClr val="accent5">
                    <a:lumMod val="50000"/>
                  </a:schemeClr>
                </a:solidFill>
              </a:rPr>
              <a:t>How can we use this information to create an appropriate pricing strategy?</a:t>
            </a:r>
          </a:p>
          <a:p>
            <a:pPr algn="just"/>
            <a:r>
              <a:rPr lang="en-US" dirty="0">
                <a:solidFill>
                  <a:schemeClr val="accent5">
                    <a:lumMod val="50000"/>
                  </a:schemeClr>
                </a:solidFill>
              </a:rPr>
              <a:t>How to apply price discrimination  based on your revealed attributes?</a:t>
            </a:r>
          </a:p>
          <a:p>
            <a:pPr algn="just"/>
            <a:r>
              <a:rPr lang="en-US" dirty="0">
                <a:solidFill>
                  <a:schemeClr val="accent5">
                    <a:lumMod val="50000"/>
                  </a:schemeClr>
                </a:solidFill>
              </a:rPr>
              <a:t>Sell separately or in sets?</a:t>
            </a:r>
          </a:p>
          <a:p>
            <a:pPr algn="just"/>
            <a:r>
              <a:rPr lang="en-US" dirty="0">
                <a:solidFill>
                  <a:schemeClr val="accent5">
                    <a:lumMod val="50000"/>
                  </a:schemeClr>
                </a:solidFill>
              </a:rPr>
              <a:t>Or maybe introduce an auction sales system?</a:t>
            </a:r>
          </a:p>
          <a:p>
            <a:pPr algn="just"/>
            <a:r>
              <a:rPr lang="en-US" dirty="0">
                <a:solidFill>
                  <a:schemeClr val="accent5">
                    <a:lumMod val="50000"/>
                  </a:schemeClr>
                </a:solidFill>
              </a:rPr>
              <a:t>All about it on December and January. </a:t>
            </a:r>
            <a:endParaRPr lang="pl-PL" dirty="0">
              <a:solidFill>
                <a:schemeClr val="accent5">
                  <a:lumMod val="50000"/>
                </a:schemeClr>
              </a:solidFill>
            </a:endParaRPr>
          </a:p>
        </p:txBody>
      </p:sp>
    </p:spTree>
    <p:extLst>
      <p:ext uri="{BB962C8B-B14F-4D97-AF65-F5344CB8AC3E}">
        <p14:creationId xmlns:p14="http://schemas.microsoft.com/office/powerpoint/2010/main" val="3942312500"/>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5141</TotalTime>
  <Words>6540</Words>
  <Application>Microsoft Office PowerPoint</Application>
  <PresentationFormat>Widescreen</PresentationFormat>
  <Paragraphs>472</Paragraphs>
  <Slides>47</Slides>
  <Notes>8</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47</vt:i4>
      </vt:variant>
    </vt:vector>
  </HeadingPairs>
  <TitlesOfParts>
    <vt:vector size="57" baseType="lpstr">
      <vt:lpstr>Arial</vt:lpstr>
      <vt:lpstr>Calibri</vt:lpstr>
      <vt:lpstr>Calibri Light</vt:lpstr>
      <vt:lpstr>Cambria Math</vt:lpstr>
      <vt:lpstr>Symbol</vt:lpstr>
      <vt:lpstr>Wingdings</vt:lpstr>
      <vt:lpstr>Motyw pakietu Office</vt:lpstr>
      <vt:lpstr>2_Motyw pakietu Office</vt:lpstr>
      <vt:lpstr>3_Motyw pakietu Office</vt:lpstr>
      <vt:lpstr>Równanie</vt:lpstr>
      <vt:lpstr>PowerPoint Presentation</vt:lpstr>
      <vt:lpstr>Escape from the Arrow-Debreu world</vt:lpstr>
      <vt:lpstr>Report 3 (3 parts) </vt:lpstr>
      <vt:lpstr>Report 3 (the first part) </vt:lpstr>
      <vt:lpstr>Report 3 (the second topic) </vt:lpstr>
      <vt:lpstr>Report 3 (the third topic) </vt:lpstr>
      <vt:lpstr>The maximization problem </vt:lpstr>
      <vt:lpstr>Marshallian Demand </vt:lpstr>
      <vt:lpstr>Change of price</vt:lpstr>
      <vt:lpstr>Law of demand</vt:lpstr>
      <vt:lpstr>Price elasticity</vt:lpstr>
      <vt:lpstr>Price elasticity</vt:lpstr>
      <vt:lpstr>Change of income </vt:lpstr>
      <vt:lpstr>Income elasticity / taxonomy</vt:lpstr>
      <vt:lpstr>Income elasticity</vt:lpstr>
      <vt:lpstr>Cross-price elasticity / taxonomy</vt:lpstr>
      <vt:lpstr>Cross-price elasticity</vt:lpstr>
      <vt:lpstr>Cross-price elasticity / taxonomy</vt:lpstr>
      <vt:lpstr>Properties of the demand function </vt:lpstr>
      <vt:lpstr>Properties of the demand function</vt:lpstr>
      <vt:lpstr>Properties of the demand function</vt:lpstr>
      <vt:lpstr>Properties of the demand function</vt:lpstr>
      <vt:lpstr>Play with the model</vt:lpstr>
      <vt:lpstr>Becker's hypothesis of random demand</vt:lpstr>
      <vt:lpstr>Becker's hypothesis of random demand</vt:lpstr>
      <vt:lpstr>Preparing simulation – ZI-C Zero inteligents agents  with constrain </vt:lpstr>
      <vt:lpstr>Preparing simulation – Zero inteligents agents  with constrain ZI-C </vt:lpstr>
      <vt:lpstr>ZI-C agents</vt:lpstr>
      <vt:lpstr>Veblen’s goods</vt:lpstr>
      <vt:lpstr>Veblen’s goods</vt:lpstr>
      <vt:lpstr>Veblen’s goods</vt:lpstr>
      <vt:lpstr>Veblen’s goods</vt:lpstr>
      <vt:lpstr>Veblen’s goods</vt:lpstr>
      <vt:lpstr>Veblen’s goods</vt:lpstr>
      <vt:lpstr>Veblen’s goods</vt:lpstr>
      <vt:lpstr>Veblen’s goods</vt:lpstr>
      <vt:lpstr>Veblen’s goods</vt:lpstr>
      <vt:lpstr>Becker's hypothesis of random demand</vt:lpstr>
      <vt:lpstr>Veblen’s goods</vt:lpstr>
      <vt:lpstr>Veblen’s goods</vt:lpstr>
      <vt:lpstr>Random Utility Model </vt:lpstr>
      <vt:lpstr>Choice Experiment</vt:lpstr>
      <vt:lpstr>Choice Experiment</vt:lpstr>
      <vt:lpstr>Our </vt:lpstr>
      <vt:lpstr>Your goal as DS? </vt:lpstr>
      <vt:lpstr>My goal as DS? </vt:lpstr>
      <vt:lpstr>My goal as DS?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Tomasz Kopczewski</dc:creator>
  <cp:lastModifiedBy>Tomasz Kopczewski</cp:lastModifiedBy>
  <cp:revision>62</cp:revision>
  <dcterms:created xsi:type="dcterms:W3CDTF">2019-12-05T17:05:41Z</dcterms:created>
  <dcterms:modified xsi:type="dcterms:W3CDTF">2025-11-21T15:39:07Z</dcterms:modified>
</cp:coreProperties>
</file>